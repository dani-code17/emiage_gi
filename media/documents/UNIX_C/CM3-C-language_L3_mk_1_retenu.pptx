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63" r:id="rId3"/>
    <p:sldMasterId id="2147483675" r:id="rId4"/>
  </p:sldMasterIdLst>
  <p:notesMasterIdLst>
    <p:notesMasterId r:id="rId11"/>
  </p:notesMasterIdLst>
  <p:handoutMasterIdLst>
    <p:handoutMasterId r:id="rId104"/>
  </p:handoutMasterIdLst>
  <p:sldIdLst>
    <p:sldId id="1326" r:id="rId5"/>
    <p:sldId id="1335" r:id="rId6"/>
    <p:sldId id="1720" r:id="rId7"/>
    <p:sldId id="1336" r:id="rId8"/>
    <p:sldId id="1447" r:id="rId9"/>
    <p:sldId id="1337" r:id="rId10"/>
    <p:sldId id="1448" r:id="rId12"/>
    <p:sldId id="1528" r:id="rId13"/>
    <p:sldId id="1552" r:id="rId14"/>
    <p:sldId id="1551" r:id="rId15"/>
    <p:sldId id="1555" r:id="rId16"/>
    <p:sldId id="1864" r:id="rId17"/>
    <p:sldId id="1865" r:id="rId18"/>
    <p:sldId id="1866" r:id="rId19"/>
    <p:sldId id="1919" r:id="rId20"/>
    <p:sldId id="1529" r:id="rId21"/>
    <p:sldId id="1553" r:id="rId22"/>
    <p:sldId id="1836" r:id="rId23"/>
    <p:sldId id="1837" r:id="rId24"/>
    <p:sldId id="1339" r:id="rId25"/>
    <p:sldId id="1526" r:id="rId26"/>
    <p:sldId id="1525" r:id="rId27"/>
    <p:sldId id="1893" r:id="rId28"/>
    <p:sldId id="1527" r:id="rId29"/>
    <p:sldId id="1539" r:id="rId30"/>
    <p:sldId id="1540" r:id="rId31"/>
    <p:sldId id="1863" r:id="rId32"/>
    <p:sldId id="1454" r:id="rId33"/>
    <p:sldId id="1543" r:id="rId34"/>
    <p:sldId id="1556" r:id="rId35"/>
    <p:sldId id="1920" r:id="rId36"/>
    <p:sldId id="1921" r:id="rId37"/>
    <p:sldId id="1455" r:id="rId38"/>
    <p:sldId id="1547" r:id="rId39"/>
    <p:sldId id="1922" r:id="rId40"/>
    <p:sldId id="1923" r:id="rId41"/>
    <p:sldId id="1924" r:id="rId42"/>
    <p:sldId id="1456" r:id="rId43"/>
    <p:sldId id="1530" r:id="rId44"/>
    <p:sldId id="1462" r:id="rId45"/>
    <p:sldId id="1532" r:id="rId46"/>
    <p:sldId id="1533" r:id="rId47"/>
    <p:sldId id="1534" r:id="rId48"/>
    <p:sldId id="1535" r:id="rId49"/>
    <p:sldId id="1564" r:id="rId50"/>
    <p:sldId id="1463" r:id="rId51"/>
    <p:sldId id="1565" r:id="rId52"/>
    <p:sldId id="1593" r:id="rId53"/>
    <p:sldId id="1953" r:id="rId54"/>
    <p:sldId id="1959" r:id="rId55"/>
    <p:sldId id="1894" r:id="rId56"/>
    <p:sldId id="1930" r:id="rId57"/>
    <p:sldId id="1944" r:id="rId58"/>
    <p:sldId id="1945" r:id="rId59"/>
    <p:sldId id="1960" r:id="rId60"/>
    <p:sldId id="1954" r:id="rId61"/>
    <p:sldId id="1972" r:id="rId62"/>
    <p:sldId id="1967" r:id="rId63"/>
    <p:sldId id="1968" r:id="rId64"/>
    <p:sldId id="1970" r:id="rId65"/>
    <p:sldId id="1971" r:id="rId66"/>
    <p:sldId id="1974" r:id="rId67"/>
    <p:sldId id="1982" r:id="rId68"/>
    <p:sldId id="1934" r:id="rId69"/>
    <p:sldId id="1947" r:id="rId70"/>
    <p:sldId id="1928" r:id="rId71"/>
    <p:sldId id="1936" r:id="rId72"/>
    <p:sldId id="1961" r:id="rId73"/>
    <p:sldId id="1964" r:id="rId74"/>
    <p:sldId id="1937" r:id="rId75"/>
    <p:sldId id="1946" r:id="rId76"/>
    <p:sldId id="1965" r:id="rId77"/>
    <p:sldId id="1966" r:id="rId78"/>
    <p:sldId id="2055" r:id="rId79"/>
    <p:sldId id="2056" r:id="rId80"/>
    <p:sldId id="2057" r:id="rId81"/>
    <p:sldId id="1925" r:id="rId82"/>
    <p:sldId id="1847" r:id="rId83"/>
    <p:sldId id="1980" r:id="rId84"/>
    <p:sldId id="1872" r:id="rId85"/>
    <p:sldId id="1873" r:id="rId86"/>
    <p:sldId id="1874" r:id="rId87"/>
    <p:sldId id="1875" r:id="rId88"/>
    <p:sldId id="1876" r:id="rId89"/>
    <p:sldId id="1877" r:id="rId90"/>
    <p:sldId id="1878" r:id="rId91"/>
    <p:sldId id="1879" r:id="rId92"/>
    <p:sldId id="1831" r:id="rId93"/>
    <p:sldId id="1981" r:id="rId94"/>
    <p:sldId id="1979" r:id="rId95"/>
    <p:sldId id="1606" r:id="rId96"/>
    <p:sldId id="1624" r:id="rId97"/>
    <p:sldId id="1630" r:id="rId98"/>
    <p:sldId id="1627" r:id="rId99"/>
    <p:sldId id="1609" r:id="rId100"/>
    <p:sldId id="1626" r:id="rId101"/>
    <p:sldId id="1976" r:id="rId102"/>
    <p:sldId id="1599" r:id="rId103"/>
  </p:sldIdLst>
  <p:sldSz cx="9144000" cy="6858000" type="screen4x3"/>
  <p:notesSz cx="9931400" cy="6794500"/>
  <p:custDataLst>
    <p:tags r:id="rId108"/>
  </p:custDataLst>
  <p:defaultTextStyle>
    <a:defPPr>
      <a:defRPr lang="en-US"/>
    </a:defPPr>
    <a:lvl1pPr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1pPr>
    <a:lvl2pPr marL="4572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2pPr>
    <a:lvl3pPr marL="9144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3pPr>
    <a:lvl4pPr marL="13716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4pPr>
    <a:lvl5pPr marL="18288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5pPr>
    <a:lvl6pPr marL="2286000" algn="l" defTabSz="457200" rtl="0" eaLnBrk="1" latinLnBrk="0" hangingPunct="1">
      <a:defRPr sz="800" kern="1200">
        <a:solidFill>
          <a:srgbClr val="010507"/>
        </a:solidFill>
        <a:latin typeface="Arial" panose="020B0604020202020204" pitchFamily="34" charset="0"/>
        <a:ea typeface="MS PGothic" panose="020B0600070205080204" charset="-128"/>
        <a:cs typeface="+mn-cs"/>
      </a:defRPr>
    </a:lvl6pPr>
    <a:lvl7pPr marL="2743200" algn="l" defTabSz="457200" rtl="0" eaLnBrk="1" latinLnBrk="0" hangingPunct="1">
      <a:defRPr sz="800" kern="1200">
        <a:solidFill>
          <a:srgbClr val="010507"/>
        </a:solidFill>
        <a:latin typeface="Arial" panose="020B0604020202020204" pitchFamily="34" charset="0"/>
        <a:ea typeface="MS PGothic" panose="020B0600070205080204" charset="-128"/>
        <a:cs typeface="+mn-cs"/>
      </a:defRPr>
    </a:lvl7pPr>
    <a:lvl8pPr marL="3200400" algn="l" defTabSz="457200" rtl="0" eaLnBrk="1" latinLnBrk="0" hangingPunct="1">
      <a:defRPr sz="800" kern="1200">
        <a:solidFill>
          <a:srgbClr val="010507"/>
        </a:solidFill>
        <a:latin typeface="Arial" panose="020B0604020202020204" pitchFamily="34" charset="0"/>
        <a:ea typeface="MS PGothic" panose="020B0600070205080204" charset="-128"/>
        <a:cs typeface="+mn-cs"/>
      </a:defRPr>
    </a:lvl8pPr>
    <a:lvl9pPr marL="3657600" algn="l" defTabSz="457200" rtl="0" eaLnBrk="1" latinLnBrk="0" hangingPunct="1">
      <a:defRPr sz="800" kern="1200">
        <a:solidFill>
          <a:srgbClr val="010507"/>
        </a:solidFill>
        <a:latin typeface="Arial" panose="020B0604020202020204" pitchFamily="34" charset="0"/>
        <a:ea typeface="MS PGothic" panose="020B0600070205080204" charset="-128"/>
        <a:cs typeface="+mn-cs"/>
      </a:defRPr>
    </a:lvl9pPr>
  </p:defaultTextStyle>
  <p:extLst>
    <p:ext uri="{EFAFB233-063F-42B5-8137-9DF3F51BA10A}">
      <p15:sldGuideLst xmlns:p15="http://schemas.microsoft.com/office/powerpoint/2012/main">
        <p15:guide id="1" orient="horz" pos="4319" userDrawn="1">
          <p15:clr>
            <a:srgbClr val="A4A3A4"/>
          </p15:clr>
        </p15:guide>
        <p15:guide id="2" pos="57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FFCC66"/>
    <a:srgbClr val="FF00FF"/>
    <a:srgbClr val="79F7FF"/>
    <a:srgbClr val="99CCFF"/>
    <a:srgbClr val="A70524"/>
    <a:srgbClr val="EAEAEA"/>
    <a:srgbClr val="FFCC00"/>
    <a:srgbClr val="FF9933"/>
    <a:srgbClr val="08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34" autoAdjust="0"/>
    <p:restoredTop sz="89593" autoAdjust="0"/>
  </p:normalViewPr>
  <p:slideViewPr>
    <p:cSldViewPr showGuides="1">
      <p:cViewPr varScale="1">
        <p:scale>
          <a:sx n="63" d="100"/>
          <a:sy n="63" d="100"/>
        </p:scale>
        <p:origin x="1632" y="66"/>
      </p:cViewPr>
      <p:guideLst>
        <p:guide orient="horz" pos="4319"/>
        <p:guide pos="575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0"/>
    </p:cViewPr>
  </p:sorterViewPr>
  <p:notesViewPr>
    <p:cSldViewPr>
      <p:cViewPr>
        <p:scale>
          <a:sx n="100" d="100"/>
          <a:sy n="100" d="100"/>
        </p:scale>
        <p:origin x="-990" y="-270"/>
      </p:cViewPr>
      <p:guideLst>
        <p:guide orient="horz" pos="1605"/>
        <p:guide pos="4173"/>
      </p:guideLst>
    </p:cSldViewPr>
  </p:notesViewPr>
  <p:gridSpacing cx="36004" cy="36004"/>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5.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4.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notesMaster" Target="notesMasters/notesMaster1.xml"/><Relationship Id="rId108" Type="http://schemas.openxmlformats.org/officeDocument/2006/relationships/tags" Target="tags/tag1.xml"/><Relationship Id="rId107" Type="http://schemas.openxmlformats.org/officeDocument/2006/relationships/tableStyles" Target="tableStyles.xml"/><Relationship Id="rId106" Type="http://schemas.openxmlformats.org/officeDocument/2006/relationships/viewProps" Target="viewProps.xml"/><Relationship Id="rId105" Type="http://schemas.openxmlformats.org/officeDocument/2006/relationships/presProps" Target="presProps.xml"/><Relationship Id="rId104" Type="http://schemas.openxmlformats.org/officeDocument/2006/relationships/handoutMaster" Target="handoutMasters/handoutMaster1.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4302125" cy="341313"/>
          </a:xfrm>
          <a:prstGeom prst="rect">
            <a:avLst/>
          </a:prstGeom>
          <a:noFill/>
          <a:ln>
            <a:noFill/>
          </a:ln>
          <a:effectLst/>
        </p:spPr>
        <p:txBody>
          <a:bodyPr vert="horz" wrap="square" lIns="19242" tIns="0" rIns="19242" bIns="0" numCol="1" anchor="t" anchorCtr="0" compatLnSpc="1"/>
          <a:lstStyle>
            <a:lvl1pPr algn="l" defTabSz="925830">
              <a:spcBef>
                <a:spcPct val="0"/>
              </a:spcBef>
              <a:buClrTx/>
              <a:buSzTx/>
              <a:buFontTx/>
              <a:buNone/>
              <a:defRPr sz="1100" i="1">
                <a:solidFill>
                  <a:schemeClr val="tx1"/>
                </a:solidFill>
                <a:latin typeface="Times New Roman" panose="02020603050405020304" charset="0"/>
                <a:ea typeface="+mn-ea"/>
              </a:defRPr>
            </a:lvl1pPr>
          </a:lstStyle>
          <a:p>
            <a:pPr>
              <a:defRPr/>
            </a:pPr>
            <a:endParaRPr lang="fr-FR"/>
          </a:p>
        </p:txBody>
      </p:sp>
      <p:sp>
        <p:nvSpPr>
          <p:cNvPr id="3075" name="Rectangle 3"/>
          <p:cNvSpPr>
            <a:spLocks noGrp="1" noChangeArrowheads="1"/>
          </p:cNvSpPr>
          <p:nvPr>
            <p:ph type="dt" sz="quarter" idx="1"/>
          </p:nvPr>
        </p:nvSpPr>
        <p:spPr bwMode="auto">
          <a:xfrm>
            <a:off x="5629275" y="0"/>
            <a:ext cx="4302125" cy="341313"/>
          </a:xfrm>
          <a:prstGeom prst="rect">
            <a:avLst/>
          </a:prstGeom>
          <a:noFill/>
          <a:ln>
            <a:noFill/>
          </a:ln>
          <a:effectLst/>
        </p:spPr>
        <p:txBody>
          <a:bodyPr vert="horz" wrap="square" lIns="19242" tIns="0" rIns="19242" bIns="0" numCol="1" anchor="t" anchorCtr="0" compatLnSpc="1"/>
          <a:lstStyle>
            <a:lvl1pPr algn="r" defTabSz="925830">
              <a:spcBef>
                <a:spcPct val="0"/>
              </a:spcBef>
              <a:buClrTx/>
              <a:buSzTx/>
              <a:buFontTx/>
              <a:buNone/>
              <a:defRPr sz="1100" i="1">
                <a:solidFill>
                  <a:schemeClr val="tx1"/>
                </a:solidFill>
                <a:latin typeface="Times New Roman" panose="02020603050405020304" charset="0"/>
                <a:ea typeface="+mn-ea"/>
              </a:defRPr>
            </a:lvl1pPr>
          </a:lstStyle>
          <a:p>
            <a:pPr>
              <a:defRPr/>
            </a:pPr>
            <a:endParaRPr lang="fr-FR"/>
          </a:p>
        </p:txBody>
      </p:sp>
      <p:sp>
        <p:nvSpPr>
          <p:cNvPr id="3076" name="Rectangle 4"/>
          <p:cNvSpPr>
            <a:spLocks noGrp="1" noChangeArrowheads="1"/>
          </p:cNvSpPr>
          <p:nvPr>
            <p:ph type="ftr" sz="quarter" idx="2"/>
          </p:nvPr>
        </p:nvSpPr>
        <p:spPr bwMode="auto">
          <a:xfrm>
            <a:off x="0" y="6453188"/>
            <a:ext cx="4302125" cy="341312"/>
          </a:xfrm>
          <a:prstGeom prst="rect">
            <a:avLst/>
          </a:prstGeom>
          <a:noFill/>
          <a:ln>
            <a:noFill/>
          </a:ln>
          <a:effectLst/>
        </p:spPr>
        <p:txBody>
          <a:bodyPr vert="horz" wrap="square" lIns="19242" tIns="0" rIns="19242" bIns="0" numCol="1" anchor="b" anchorCtr="0" compatLnSpc="1"/>
          <a:lstStyle>
            <a:lvl1pPr algn="l" defTabSz="925830">
              <a:spcBef>
                <a:spcPct val="0"/>
              </a:spcBef>
              <a:buClrTx/>
              <a:buSzTx/>
              <a:buFontTx/>
              <a:buNone/>
              <a:defRPr sz="1100" i="1">
                <a:solidFill>
                  <a:schemeClr val="tx1"/>
                </a:solidFill>
                <a:latin typeface="Times New Roman" panose="02020603050405020304" charset="0"/>
                <a:ea typeface="+mn-ea"/>
              </a:defRPr>
            </a:lvl1pPr>
          </a:lstStyle>
          <a:p>
            <a:pPr>
              <a:defRPr/>
            </a:pPr>
            <a:endParaRPr lang="fr-FR"/>
          </a:p>
        </p:txBody>
      </p:sp>
      <p:sp>
        <p:nvSpPr>
          <p:cNvPr id="3077" name="Rectangle 5"/>
          <p:cNvSpPr>
            <a:spLocks noGrp="1" noChangeArrowheads="1"/>
          </p:cNvSpPr>
          <p:nvPr>
            <p:ph type="sldNum" sz="quarter" idx="3"/>
          </p:nvPr>
        </p:nvSpPr>
        <p:spPr bwMode="auto">
          <a:xfrm>
            <a:off x="5629275" y="6453188"/>
            <a:ext cx="4302125" cy="341312"/>
          </a:xfrm>
          <a:prstGeom prst="rect">
            <a:avLst/>
          </a:prstGeom>
          <a:noFill/>
          <a:ln>
            <a:noFill/>
          </a:ln>
          <a:effectLst/>
        </p:spPr>
        <p:txBody>
          <a:bodyPr vert="horz" wrap="square" lIns="19242" tIns="0" rIns="19242" bIns="0" numCol="1" anchor="b" anchorCtr="0" compatLnSpc="1"/>
          <a:lstStyle>
            <a:lvl1pPr algn="r" defTabSz="925830">
              <a:spcBef>
                <a:spcPct val="0"/>
              </a:spcBef>
              <a:buClrTx/>
              <a:buSzTx/>
              <a:buFontTx/>
              <a:buNone/>
              <a:defRPr sz="1100" i="1">
                <a:solidFill>
                  <a:schemeClr val="tx1"/>
                </a:solidFill>
                <a:latin typeface="Times New Roman" panose="02020603050405020304" charset="0"/>
              </a:defRPr>
            </a:lvl1pPr>
          </a:lstStyle>
          <a:p>
            <a:fld id="{AF383F6B-18B0-1542-A614-EC775359FC3F}" type="slidenum">
              <a:rPr lang="fr-FR"/>
            </a:fld>
            <a:endParaRPr lang="fr-F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4302125" cy="341313"/>
          </a:xfrm>
          <a:prstGeom prst="rect">
            <a:avLst/>
          </a:prstGeom>
          <a:noFill/>
          <a:ln>
            <a:noFill/>
          </a:ln>
          <a:effectLst/>
        </p:spPr>
        <p:txBody>
          <a:bodyPr vert="horz" wrap="square" lIns="19242" tIns="0" rIns="19242" bIns="0" numCol="1" anchor="t" anchorCtr="0" compatLnSpc="1"/>
          <a:lstStyle>
            <a:lvl1pPr algn="l" defTabSz="925830">
              <a:spcBef>
                <a:spcPct val="0"/>
              </a:spcBef>
              <a:buClrTx/>
              <a:buSzTx/>
              <a:buFontTx/>
              <a:buNone/>
              <a:defRPr sz="1100" i="1">
                <a:solidFill>
                  <a:schemeClr val="tx1"/>
                </a:solidFill>
                <a:latin typeface="Times New Roman" panose="02020603050405020304" charset="0"/>
                <a:ea typeface="+mn-ea"/>
              </a:defRPr>
            </a:lvl1pPr>
          </a:lstStyle>
          <a:p>
            <a:pPr>
              <a:defRPr/>
            </a:pPr>
            <a:endParaRPr lang="fr-FR"/>
          </a:p>
        </p:txBody>
      </p:sp>
      <p:sp>
        <p:nvSpPr>
          <p:cNvPr id="2051" name="Rectangle 3"/>
          <p:cNvSpPr>
            <a:spLocks noGrp="1" noChangeArrowheads="1"/>
          </p:cNvSpPr>
          <p:nvPr>
            <p:ph type="dt" idx="1"/>
          </p:nvPr>
        </p:nvSpPr>
        <p:spPr bwMode="auto">
          <a:xfrm>
            <a:off x="5629275" y="0"/>
            <a:ext cx="4302125" cy="341313"/>
          </a:xfrm>
          <a:prstGeom prst="rect">
            <a:avLst/>
          </a:prstGeom>
          <a:noFill/>
          <a:ln>
            <a:noFill/>
          </a:ln>
          <a:effectLst/>
        </p:spPr>
        <p:txBody>
          <a:bodyPr vert="horz" wrap="square" lIns="19242" tIns="0" rIns="19242" bIns="0" numCol="1" anchor="t" anchorCtr="0" compatLnSpc="1"/>
          <a:lstStyle>
            <a:lvl1pPr algn="r" defTabSz="925830">
              <a:spcBef>
                <a:spcPct val="0"/>
              </a:spcBef>
              <a:buClrTx/>
              <a:buSzTx/>
              <a:buFontTx/>
              <a:buNone/>
              <a:defRPr sz="1100" i="1">
                <a:solidFill>
                  <a:schemeClr val="tx1"/>
                </a:solidFill>
                <a:latin typeface="Times New Roman" panose="02020603050405020304" charset="0"/>
                <a:ea typeface="+mn-ea"/>
              </a:defRPr>
            </a:lvl1pPr>
          </a:lstStyle>
          <a:p>
            <a:pPr>
              <a:defRPr/>
            </a:pPr>
            <a:endParaRPr lang="fr-FR"/>
          </a:p>
        </p:txBody>
      </p:sp>
      <p:sp>
        <p:nvSpPr>
          <p:cNvPr id="41988" name="Rectangle 4"/>
          <p:cNvSpPr>
            <a:spLocks noGrp="1" noRot="1" noChangeAspect="1" noChangeArrowheads="1" noTextEdit="1"/>
          </p:cNvSpPr>
          <p:nvPr>
            <p:ph type="sldImg" idx="2"/>
          </p:nvPr>
        </p:nvSpPr>
        <p:spPr bwMode="auto">
          <a:xfrm>
            <a:off x="3278188" y="512763"/>
            <a:ext cx="3386137" cy="2540000"/>
          </a:xfrm>
          <a:prstGeom prst="rect">
            <a:avLst/>
          </a:prstGeom>
          <a:noFill/>
          <a:ln w="12700">
            <a:solidFill>
              <a:schemeClr val="tx1"/>
            </a:solidFill>
            <a:miter lim="800000"/>
          </a:ln>
          <a:effectLst/>
        </p:spPr>
      </p:sp>
      <p:sp>
        <p:nvSpPr>
          <p:cNvPr id="2053" name="Rectangle 5"/>
          <p:cNvSpPr>
            <a:spLocks noGrp="1" noChangeArrowheads="1"/>
          </p:cNvSpPr>
          <p:nvPr>
            <p:ph type="body" sz="quarter" idx="3"/>
          </p:nvPr>
        </p:nvSpPr>
        <p:spPr bwMode="auto">
          <a:xfrm>
            <a:off x="1325563" y="3227388"/>
            <a:ext cx="7280275" cy="3060700"/>
          </a:xfrm>
          <a:prstGeom prst="rect">
            <a:avLst/>
          </a:prstGeom>
          <a:noFill/>
          <a:ln>
            <a:noFill/>
          </a:ln>
          <a:effectLst/>
        </p:spPr>
        <p:txBody>
          <a:bodyPr vert="horz" wrap="square" lIns="93006" tIns="46503" rIns="93006" bIns="46503" numCol="1" anchor="t" anchorCtr="0" compatLnSpc="1"/>
          <a:lstStyle/>
          <a:p>
            <a:pPr lvl="0"/>
            <a:r>
              <a:rPr lang="en-US"/>
              <a:t>Cliquez pour modifier les styles du texte du masque</a:t>
            </a:r>
            <a:endParaRPr lang="en-US"/>
          </a:p>
          <a:p>
            <a:pPr lvl="1"/>
            <a:r>
              <a:rPr lang="en-US"/>
              <a:t>Deuxième niveau</a:t>
            </a:r>
            <a:endParaRPr lang="en-US"/>
          </a:p>
          <a:p>
            <a:pPr lvl="2"/>
            <a:r>
              <a:rPr lang="en-US"/>
              <a:t>Troisième niveau</a:t>
            </a:r>
            <a:endParaRPr lang="en-US"/>
          </a:p>
          <a:p>
            <a:pPr lvl="3"/>
            <a:r>
              <a:rPr lang="en-US"/>
              <a:t>Quatrième niveau</a:t>
            </a:r>
            <a:endParaRPr lang="en-US"/>
          </a:p>
          <a:p>
            <a:pPr lvl="4"/>
            <a:r>
              <a:rPr lang="en-US"/>
              <a:t>Cinquième niveau</a:t>
            </a:r>
            <a:endParaRPr lang="en-US"/>
          </a:p>
        </p:txBody>
      </p:sp>
      <p:sp>
        <p:nvSpPr>
          <p:cNvPr id="2054" name="Rectangle 6"/>
          <p:cNvSpPr>
            <a:spLocks noGrp="1" noChangeArrowheads="1"/>
          </p:cNvSpPr>
          <p:nvPr>
            <p:ph type="ftr" sz="quarter" idx="4"/>
          </p:nvPr>
        </p:nvSpPr>
        <p:spPr bwMode="auto">
          <a:xfrm>
            <a:off x="0" y="6453188"/>
            <a:ext cx="4302125" cy="341312"/>
          </a:xfrm>
          <a:prstGeom prst="rect">
            <a:avLst/>
          </a:prstGeom>
          <a:noFill/>
          <a:ln>
            <a:noFill/>
          </a:ln>
          <a:effectLst/>
        </p:spPr>
        <p:txBody>
          <a:bodyPr vert="horz" wrap="square" lIns="19242" tIns="0" rIns="19242" bIns="0" numCol="1" anchor="b" anchorCtr="0" compatLnSpc="1"/>
          <a:lstStyle>
            <a:lvl1pPr algn="l" defTabSz="925830">
              <a:spcBef>
                <a:spcPct val="0"/>
              </a:spcBef>
              <a:buClrTx/>
              <a:buSzTx/>
              <a:buFontTx/>
              <a:buNone/>
              <a:defRPr sz="1100" i="1">
                <a:solidFill>
                  <a:schemeClr val="tx1"/>
                </a:solidFill>
                <a:latin typeface="Times New Roman" panose="02020603050405020304" charset="0"/>
                <a:ea typeface="+mn-ea"/>
              </a:defRPr>
            </a:lvl1pPr>
          </a:lstStyle>
          <a:p>
            <a:pPr>
              <a:defRPr/>
            </a:pPr>
            <a:endParaRPr lang="fr-FR"/>
          </a:p>
        </p:txBody>
      </p:sp>
      <p:sp>
        <p:nvSpPr>
          <p:cNvPr id="2055" name="Rectangle 7"/>
          <p:cNvSpPr>
            <a:spLocks noGrp="1" noChangeArrowheads="1"/>
          </p:cNvSpPr>
          <p:nvPr>
            <p:ph type="sldNum" sz="quarter" idx="5"/>
          </p:nvPr>
        </p:nvSpPr>
        <p:spPr bwMode="auto">
          <a:xfrm>
            <a:off x="5629275" y="6453188"/>
            <a:ext cx="4302125" cy="341312"/>
          </a:xfrm>
          <a:prstGeom prst="rect">
            <a:avLst/>
          </a:prstGeom>
          <a:noFill/>
          <a:ln>
            <a:noFill/>
          </a:ln>
          <a:effectLst/>
        </p:spPr>
        <p:txBody>
          <a:bodyPr vert="horz" wrap="square" lIns="19242" tIns="0" rIns="19242" bIns="0" numCol="1" anchor="b" anchorCtr="0" compatLnSpc="1"/>
          <a:lstStyle>
            <a:lvl1pPr algn="r" defTabSz="925830">
              <a:spcBef>
                <a:spcPct val="0"/>
              </a:spcBef>
              <a:buClrTx/>
              <a:buSzTx/>
              <a:buFontTx/>
              <a:buNone/>
              <a:defRPr sz="1100" i="1">
                <a:solidFill>
                  <a:schemeClr val="tx1"/>
                </a:solidFill>
                <a:latin typeface="Times New Roman" panose="02020603050405020304" charset="0"/>
              </a:defRPr>
            </a:lvl1pPr>
          </a:lstStyle>
          <a:p>
            <a:fld id="{B4E1F8BA-42AC-4F4D-A3C8-1DE9704DC2C9}" type="slidenum">
              <a:rPr lang="fr-FR"/>
            </a:fld>
            <a:endParaRPr lang="fr-F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charset="0"/>
        <a:ea typeface="MS PGothic" panose="020B0600070205080204" charset="-128"/>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charset="0"/>
        <a:ea typeface="MS PGothic" panose="020B060007020508020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charset="0"/>
        <a:ea typeface="MS PGothic" panose="020B060007020508020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charset="0"/>
        <a:ea typeface="MS PGothic" panose="020B060007020508020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charset="0"/>
        <a:ea typeface="MS PGothic" panose="020B060007020508020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Langage faiblement typé : l'argument passé dans un appel de fonction ne correspond pas au type attendu, ce qui produit des résultats imprévisibles ou peut entraîner une conversion de type implicite (le type fort refuse de compiler).</a:t>
            </a:r>
            <a:endParaRPr lang="fr-FR" dirty="0" smtClean="0"/>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Une variable est déclarée lorsque le compilateur est informé de l'existence d'une variable (et de son type) ; il n'alloue pas le stockage de la variable à ce moment-là.</a:t>
            </a:r>
            <a:br>
              <a:rPr lang="fr-FR" dirty="0" smtClean="0"/>
            </a:br>
            <a:r>
              <a:rPr lang="fr-FR" dirty="0" smtClean="0"/>
              <a:t>Une variable est définie lorsque le compilateur alloue le stockage de la variable.</a:t>
            </a:r>
            <a:br>
              <a:rPr lang="fr-FR" dirty="0" smtClean="0"/>
            </a:br>
            <a:br>
              <a:rPr lang="fr-FR" dirty="0" smtClean="0"/>
            </a:br>
            <a:r>
              <a:rPr lang="fr-FR" dirty="0" smtClean="0"/>
              <a:t>Variables : il ne s'agit d'une déclaration que si elle comporte </a:t>
            </a:r>
            <a:r>
              <a:rPr lang="fr-FR" dirty="0" err="1" smtClean="0"/>
              <a:t>extern</a:t>
            </a:r>
            <a:r>
              <a:rPr lang="fr-FR" dirty="0" smtClean="0"/>
              <a:t>, sinon définition de variable.</a:t>
            </a:r>
            <a:br>
              <a:rPr lang="fr-FR" dirty="0" smtClean="0"/>
            </a:br>
            <a:r>
              <a:rPr lang="fr-FR" dirty="0" smtClean="0"/>
              <a:t>Fonctions : le prototype de fonction est une déclaration, sinon le corps de la fonction.</a:t>
            </a:r>
            <a:br>
              <a:rPr lang="fr-FR" dirty="0" smtClean="0"/>
            </a:br>
            <a:br>
              <a:rPr lang="fr-FR" dirty="0" smtClean="0"/>
            </a:br>
            <a:endParaRPr lang="en-US" baseline="0"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Une variable est </a:t>
            </a:r>
            <a:r>
              <a:rPr lang="fr-FR" b="1" dirty="0" smtClean="0"/>
              <a:t>déclarée </a:t>
            </a:r>
            <a:r>
              <a:rPr lang="fr-FR" dirty="0" smtClean="0"/>
              <a:t>lorsque le compilateur </a:t>
            </a:r>
            <a:r>
              <a:rPr lang="fr-FR" b="1" dirty="0" smtClean="0"/>
              <a:t>est informé de l'existence d'une variable (et de son type) </a:t>
            </a:r>
            <a:r>
              <a:rPr lang="fr-FR" dirty="0" smtClean="0"/>
              <a:t>; </a:t>
            </a:r>
            <a:r>
              <a:rPr lang="fr-FR" b="1" dirty="0" smtClean="0"/>
              <a:t>il n'alloue pas le stockage</a:t>
            </a:r>
            <a:r>
              <a:rPr lang="fr-FR" dirty="0" smtClean="0"/>
              <a:t> de la variable à ce moment-là.</a:t>
            </a:r>
            <a:endParaRPr lang="fr-FR" dirty="0" smtClean="0"/>
          </a:p>
          <a:p>
            <a:r>
              <a:rPr lang="fr-FR" dirty="0" smtClean="0"/>
              <a:t>Une variable est </a:t>
            </a:r>
            <a:r>
              <a:rPr lang="fr-FR" b="1" dirty="0" smtClean="0"/>
              <a:t>définie</a:t>
            </a:r>
            <a:r>
              <a:rPr lang="fr-FR" dirty="0" smtClean="0"/>
              <a:t> lorsque le </a:t>
            </a:r>
            <a:r>
              <a:rPr lang="fr-FR" b="1" dirty="0" smtClean="0"/>
              <a:t>compilateur alloue le stockage de la variable</a:t>
            </a:r>
            <a:r>
              <a:rPr lang="fr-FR" dirty="0" smtClean="0"/>
              <a:t>.</a:t>
            </a:r>
            <a:endParaRPr lang="en-US" dirty="0"/>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Espace réservé de l'image des diapositives 1"/>
          <p:cNvSpPr>
            <a:spLocks noGrp="1" noRot="1" noChangeAspect="1"/>
          </p:cNvSpPr>
          <p:nvPr>
            <p:ph type="sldImg"/>
          </p:nvPr>
        </p:nvSpPr>
        <p:spPr/>
      </p:sp>
      <p:sp>
        <p:nvSpPr>
          <p:cNvPr id="65538" name="Espace réservé des commentaires 2"/>
          <p:cNvSpPr>
            <a:spLocks noGrp="1"/>
          </p:cNvSpPr>
          <p:nvPr>
            <p:ph type="body" idx="1"/>
          </p:nvPr>
        </p:nvSpPr>
        <p:spPr>
          <a:noFill/>
          <a:ln w="9525"/>
        </p:spPr>
        <p:txBody>
          <a:bodyPr/>
          <a:lstStyle/>
          <a:p>
            <a:r>
              <a:rPr lang="fr-FR" dirty="0">
                <a:ea typeface="MS PGothic" panose="020B0600070205080204" charset="-128"/>
                <a:cs typeface="MS PGothic" panose="020B0600070205080204" charset="-128"/>
              </a:rPr>
              <a:t>#include « </a:t>
            </a:r>
            <a:r>
              <a:rPr lang="fr-FR" dirty="0" err="1">
                <a:ea typeface="MS PGothic" panose="020B0600070205080204" charset="-128"/>
                <a:cs typeface="MS PGothic" panose="020B0600070205080204" charset="-128"/>
              </a:rPr>
              <a:t>ppcm.h</a:t>
            </a:r>
            <a:r>
              <a:rPr lang="fr-FR" dirty="0">
                <a:ea typeface="MS PGothic" panose="020B0600070205080204" charset="-128"/>
                <a:cs typeface="MS PGothic" panose="020B0600070205080204" charset="-128"/>
              </a:rPr>
              <a:t> »</a:t>
            </a:r>
            <a:endParaRPr lang="fr-FR" dirty="0">
              <a:ea typeface="MS PGothic" panose="020B0600070205080204" charset="-128"/>
              <a:cs typeface="MS PGothic" panose="020B0600070205080204" charset="-128"/>
            </a:endParaRPr>
          </a:p>
          <a:p>
            <a:r>
              <a:rPr lang="fr-FR" dirty="0" err="1">
                <a:ea typeface="MS PGothic" panose="020B0600070205080204" charset="-128"/>
                <a:cs typeface="MS PGothic" panose="020B0600070205080204" charset="-128"/>
              </a:rPr>
              <a:t>Extern</a:t>
            </a:r>
            <a:r>
              <a:rPr lang="fr-FR" dirty="0">
                <a:ea typeface="MS PGothic" panose="020B0600070205080204" charset="-128"/>
                <a:cs typeface="MS PGothic" panose="020B0600070205080204" charset="-128"/>
              </a:rPr>
              <a:t> enlever</a:t>
            </a:r>
            <a:endParaRPr lang="fr-FR" dirty="0">
              <a:ea typeface="MS PGothic" panose="020B0600070205080204" charset="-128"/>
              <a:cs typeface="MS PGothic" panose="020B0600070205080204" charset="-128"/>
            </a:endParaRPr>
          </a:p>
          <a:p>
            <a:endParaRPr lang="fr-FR" dirty="0">
              <a:ea typeface="MS PGothic" panose="020B0600070205080204" charset="-128"/>
              <a:cs typeface="MS PGothic" panose="020B0600070205080204" charset="-128"/>
            </a:endParaRPr>
          </a:p>
          <a:p>
            <a:r>
              <a:rPr lang="fr-FR" dirty="0">
                <a:ea typeface="MS PGothic" panose="020B0600070205080204" charset="-128"/>
                <a:cs typeface="MS PGothic" panose="020B0600070205080204" charset="-128"/>
              </a:rPr>
              <a:t>problème de doubles définitions</a:t>
            </a:r>
            <a:endParaRPr lang="fr-FR" dirty="0">
              <a:ea typeface="MS PGothic" panose="020B0600070205080204" charset="-128"/>
              <a:cs typeface="MS PGothic" panose="020B0600070205080204" charset="-128"/>
            </a:endParaRPr>
          </a:p>
          <a:p>
            <a:r>
              <a:rPr lang="fr-FR" dirty="0">
                <a:ea typeface="MS PGothic" panose="020B0600070205080204" charset="-128"/>
                <a:cs typeface="MS PGothic" panose="020B0600070205080204" charset="-128"/>
              </a:rPr>
              <a:t>⇒ protection avec des macros</a:t>
            </a:r>
            <a:endParaRPr lang="fr-FR" dirty="0">
              <a:ea typeface="MS PGothic" panose="020B0600070205080204" charset="-128"/>
              <a:cs typeface="MS PGothic" panose="020B0600070205080204" charset="-128"/>
            </a:endParaRPr>
          </a:p>
          <a:p>
            <a:endParaRPr lang="fr-FR" dirty="0">
              <a:ea typeface="MS PGothic" panose="020B0600070205080204" charset="-128"/>
              <a:cs typeface="MS PGothic" panose="020B0600070205080204" charset="-128"/>
            </a:endParaRPr>
          </a:p>
          <a:p>
            <a:r>
              <a:rPr lang="fr-FR" sz="2400" b="1" dirty="0">
                <a:cs typeface="MS PGothic" panose="020B0600070205080204" charset="-128"/>
              </a:rPr>
              <a:t>Exercice A FAIRE : makefile !!!</a:t>
            </a:r>
            <a:endParaRPr lang="fr-FR" sz="2400" b="1" dirty="0">
              <a:cs typeface="MS PGothic" panose="020B0600070205080204" charset="-128"/>
            </a:endParaRPr>
          </a:p>
          <a:p>
            <a:endParaRPr lang="fr-FR" dirty="0">
              <a:ea typeface="MS PGothic" panose="020B0600070205080204" charset="-128"/>
              <a:cs typeface="MS PGothic" panose="020B0600070205080204" charset="-128"/>
            </a:endParaRPr>
          </a:p>
        </p:txBody>
      </p:sp>
      <p:sp>
        <p:nvSpPr>
          <p:cNvPr id="65539" name="Espace réservé du numéro de diapositive 3"/>
          <p:cNvSpPr>
            <a:spLocks noGrp="1"/>
          </p:cNvSpPr>
          <p:nvPr>
            <p:ph type="sldNum" sz="quarter" idx="5"/>
          </p:nvPr>
        </p:nvSpPr>
        <p:spPr>
          <a:noFill/>
          <a:ln w="9525"/>
        </p:spPr>
        <p:txBody>
          <a:bodyPr/>
          <a:lstStyle>
            <a:lvl1pPr defTabSz="920115" eaLnBrk="0" hangingPunct="0">
              <a:defRPr sz="2400">
                <a:solidFill>
                  <a:schemeClr val="tx1"/>
                </a:solidFill>
                <a:latin typeface="Arial" panose="020B0604020202020204" pitchFamily="34" charset="0"/>
                <a:ea typeface="MS PGothic" panose="020B0600070205080204" charset="-128"/>
                <a:cs typeface="MS PGothic" panose="020B0600070205080204" charset="-128"/>
              </a:defRPr>
            </a:lvl1pPr>
            <a:lvl2pPr marL="749300" indent="-288290" defTabSz="920115" eaLnBrk="0" hangingPunct="0">
              <a:defRPr sz="2400">
                <a:solidFill>
                  <a:schemeClr val="tx1"/>
                </a:solidFill>
                <a:latin typeface="Arial" panose="020B0604020202020204" pitchFamily="34" charset="0"/>
                <a:ea typeface="MS PGothic" panose="020B0600070205080204" charset="-128"/>
              </a:defRPr>
            </a:lvl2pPr>
            <a:lvl3pPr marL="1152525" indent="-230505" defTabSz="920115" eaLnBrk="0" hangingPunct="0">
              <a:defRPr sz="2400">
                <a:solidFill>
                  <a:schemeClr val="tx1"/>
                </a:solidFill>
                <a:latin typeface="Arial" panose="020B0604020202020204" pitchFamily="34" charset="0"/>
                <a:ea typeface="MS PGothic" panose="020B0600070205080204" charset="-128"/>
              </a:defRPr>
            </a:lvl3pPr>
            <a:lvl4pPr marL="1613535" indent="-230505" defTabSz="920115" eaLnBrk="0" hangingPunct="0">
              <a:defRPr sz="2400">
                <a:solidFill>
                  <a:schemeClr val="tx1"/>
                </a:solidFill>
                <a:latin typeface="Arial" panose="020B0604020202020204" pitchFamily="34" charset="0"/>
                <a:ea typeface="MS PGothic" panose="020B0600070205080204" charset="-128"/>
              </a:defRPr>
            </a:lvl4pPr>
            <a:lvl5pPr marL="2074545" indent="-230505" defTabSz="920115" eaLnBrk="0" hangingPunct="0">
              <a:defRPr sz="2400">
                <a:solidFill>
                  <a:schemeClr val="tx1"/>
                </a:solidFill>
                <a:latin typeface="Arial" panose="020B0604020202020204" pitchFamily="34" charset="0"/>
                <a:ea typeface="MS PGothic" panose="020B0600070205080204" charset="-128"/>
              </a:defRPr>
            </a:lvl5pPr>
            <a:lvl6pPr marL="2535555" indent="-230505" defTabSz="92011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96565" indent="-230505" defTabSz="92011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57575" indent="-230505" defTabSz="92011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918585" indent="-230505" defTabSz="92011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fld id="{22297F50-7D0A-7143-8219-A1FB098AC07B}" type="slidenum">
              <a:rPr lang="fr-FR" sz="1200">
                <a:latin typeface="Times New Roman" panose="02020603050405020304" charset="0"/>
              </a:rPr>
            </a:fld>
            <a:endParaRPr lang="fr-FR" sz="1200">
              <a:latin typeface="Times New Roman" panose="0202060305040502030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defRPr/>
            </a:pPr>
            <a:r>
              <a:rPr lang="en-US" dirty="0"/>
              <a:t>More portable</a:t>
            </a:r>
            <a:r>
              <a:rPr lang="en-US" baseline="0" dirty="0"/>
              <a:t> as everything is copies into one file (no need for </a:t>
            </a:r>
            <a:r>
              <a:rPr lang="en-US" baseline="0" dirty="0" err="1"/>
              <a:t>libraris</a:t>
            </a:r>
            <a:r>
              <a:rPr lang="en-US" baseline="0" dirty="0"/>
              <a:t>)</a:t>
            </a:r>
            <a:endParaRPr lang="en-US" baseline="0" dirty="0"/>
          </a:p>
          <a:p>
            <a:pPr marL="0" marR="0" lvl="1" indent="0" algn="l" defTabSz="914400" rtl="0" eaLnBrk="0" fontAlgn="base" latinLnBrk="0" hangingPunct="0">
              <a:lnSpc>
                <a:spcPct val="100000"/>
              </a:lnSpc>
              <a:spcBef>
                <a:spcPct val="30000"/>
              </a:spcBef>
              <a:spcAft>
                <a:spcPct val="0"/>
              </a:spcAft>
              <a:buClrTx/>
              <a:buSzTx/>
              <a:buFontTx/>
              <a:buNone/>
              <a:defRPr/>
            </a:pPr>
            <a:r>
              <a:rPr lang="en-US" baseline="0" dirty="0"/>
              <a:t>Less portable as it wants the same system</a:t>
            </a:r>
            <a:endParaRPr lang="en-US" baseline="0" dirty="0"/>
          </a:p>
          <a:p>
            <a:pPr marL="0" marR="0" lvl="1" indent="0" algn="l" defTabSz="914400" rtl="0" eaLnBrk="0" fontAlgn="base" latinLnBrk="0" hangingPunct="0">
              <a:lnSpc>
                <a:spcPct val="100000"/>
              </a:lnSpc>
              <a:spcBef>
                <a:spcPct val="30000"/>
              </a:spcBef>
              <a:spcAft>
                <a:spcPct val="0"/>
              </a:spcAft>
              <a:buClrTx/>
              <a:buSzTx/>
              <a:buFontTx/>
              <a:buNone/>
              <a:defRPr/>
            </a:pPr>
            <a:r>
              <a:rPr lang="en-US" baseline="0" dirty="0"/>
              <a:t>Faster</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defRPr/>
            </a:pPr>
            <a:r>
              <a:rPr lang="en-US" dirty="0"/>
              <a:t>More portable</a:t>
            </a:r>
            <a:r>
              <a:rPr lang="en-US" baseline="0" dirty="0"/>
              <a:t> as everything is copies into one file (no need for </a:t>
            </a:r>
            <a:r>
              <a:rPr lang="en-US" baseline="0" dirty="0" err="1"/>
              <a:t>libraris</a:t>
            </a:r>
            <a:r>
              <a:rPr lang="en-US" baseline="0" dirty="0"/>
              <a:t>)</a:t>
            </a:r>
            <a:endParaRPr lang="en-US" baseline="0" dirty="0"/>
          </a:p>
          <a:p>
            <a:pPr marL="0" marR="0" lvl="1" indent="0" algn="l" defTabSz="914400" rtl="0" eaLnBrk="0" fontAlgn="base" latinLnBrk="0" hangingPunct="0">
              <a:lnSpc>
                <a:spcPct val="100000"/>
              </a:lnSpc>
              <a:spcBef>
                <a:spcPct val="30000"/>
              </a:spcBef>
              <a:spcAft>
                <a:spcPct val="0"/>
              </a:spcAft>
              <a:buClrTx/>
              <a:buSzTx/>
              <a:buFontTx/>
              <a:buNone/>
              <a:defRPr/>
            </a:pPr>
            <a:r>
              <a:rPr lang="en-US" baseline="0" dirty="0"/>
              <a:t>Less portable as it wants the same system</a:t>
            </a:r>
            <a:endParaRPr lang="en-US" baseline="0" dirty="0"/>
          </a:p>
          <a:p>
            <a:pPr marL="0" marR="0" lvl="1" indent="0" algn="l" defTabSz="914400" rtl="0" eaLnBrk="0" fontAlgn="base" latinLnBrk="0" hangingPunct="0">
              <a:lnSpc>
                <a:spcPct val="100000"/>
              </a:lnSpc>
              <a:spcBef>
                <a:spcPct val="30000"/>
              </a:spcBef>
              <a:spcAft>
                <a:spcPct val="0"/>
              </a:spcAft>
              <a:buClrTx/>
              <a:buSzTx/>
              <a:buFontTx/>
              <a:buNone/>
              <a:defRPr/>
            </a:pPr>
            <a:r>
              <a:rPr lang="en-US" baseline="0" dirty="0"/>
              <a:t>Faster</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statique : le fichier objet et la bibliothèque sont </a:t>
            </a:r>
            <a:r>
              <a:rPr lang="en-US" dirty="0" err="1"/>
              <a:t>liés</a:t>
            </a:r>
            <a:r>
              <a:rPr lang="en-US" dirty="0"/>
              <a:t> dans le même fichier exécutable ;</a:t>
            </a:r>
            <a:endParaRPr lang="en-US" dirty="0"/>
          </a:p>
          <a:p>
            <a:r>
              <a:rPr lang="en-US" dirty="0"/>
              <a:t> dynamique : le fichier objet est </a:t>
            </a:r>
            <a:r>
              <a:rPr lang="en-US" dirty="0" err="1"/>
              <a:t>lié</a:t>
            </a:r>
            <a:r>
              <a:rPr lang="en-US" dirty="0"/>
              <a:t> avec la bibliothèque, mais pas dans le même fichier exécutable ; les liens </a:t>
            </a:r>
            <a:r>
              <a:rPr lang="en-US" dirty="0" err="1"/>
              <a:t>dynamiques</a:t>
            </a:r>
            <a:r>
              <a:rPr lang="en-US" dirty="0"/>
              <a:t> sont </a:t>
            </a:r>
            <a:r>
              <a:rPr lang="en-US" dirty="0" err="1"/>
              <a:t>établis</a:t>
            </a:r>
            <a:r>
              <a:rPr lang="en-US" dirty="0"/>
              <a:t> pendant l'exécution du fichier exécutable, </a:t>
            </a:r>
            <a:r>
              <a:rPr lang="en-US" dirty="0" err="1"/>
              <a:t>c'est</a:t>
            </a:r>
            <a:r>
              <a:rPr lang="en-US" dirty="0"/>
              <a:t>-à-dire du programme exécutable.</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Espace réservé de l'image des diapositives 1"/>
          <p:cNvSpPr>
            <a:spLocks noGrp="1" noRot="1" noChangeAspect="1"/>
          </p:cNvSpPr>
          <p:nvPr>
            <p:ph type="sldImg"/>
          </p:nvPr>
        </p:nvSpPr>
        <p:spPr/>
      </p:sp>
      <p:sp>
        <p:nvSpPr>
          <p:cNvPr id="59394" name="Espace réservé des commentaires 2"/>
          <p:cNvSpPr>
            <a:spLocks noGrp="1"/>
          </p:cNvSpPr>
          <p:nvPr>
            <p:ph type="body" idx="1"/>
          </p:nvPr>
        </p:nvSpPr>
        <p:spPr>
          <a:noFill/>
          <a:ln w="9525"/>
        </p:spPr>
        <p:txBody>
          <a:bodyPr/>
          <a:lstStyle/>
          <a:p>
            <a:r>
              <a:rPr lang="fr-FR" dirty="0">
                <a:ea typeface="MS PGothic" panose="020B0600070205080204" charset="-128"/>
                <a:cs typeface="MS PGothic" panose="020B0600070205080204" charset="-128"/>
              </a:rPr>
              <a:t>$@ Le nom de la cible </a:t>
            </a:r>
            <a:endParaRPr lang="fr-FR" dirty="0">
              <a:ea typeface="MS PGothic" panose="020B0600070205080204" charset="-128"/>
              <a:cs typeface="MS PGothic" panose="020B0600070205080204" charset="-128"/>
            </a:endParaRPr>
          </a:p>
          <a:p>
            <a:r>
              <a:rPr lang="fr-FR" dirty="0">
                <a:ea typeface="MS PGothic" panose="020B0600070205080204" charset="-128"/>
                <a:cs typeface="MS PGothic" panose="020B0600070205080204" charset="-128"/>
              </a:rPr>
              <a:t>$&lt; Le nom de la première dépendance </a:t>
            </a:r>
            <a:endParaRPr lang="fr-FR" dirty="0">
              <a:ea typeface="MS PGothic" panose="020B0600070205080204" charset="-128"/>
              <a:cs typeface="MS PGothic" panose="020B0600070205080204" charset="-128"/>
            </a:endParaRPr>
          </a:p>
          <a:p>
            <a:r>
              <a:rPr lang="fr-FR" dirty="0">
                <a:ea typeface="MS PGothic" panose="020B0600070205080204" charset="-128"/>
                <a:cs typeface="MS PGothic" panose="020B0600070205080204" charset="-128"/>
              </a:rPr>
              <a:t>$^ La liste des dépendances </a:t>
            </a:r>
            <a:endParaRPr lang="fr-FR" dirty="0">
              <a:ea typeface="MS PGothic" panose="020B0600070205080204" charset="-128"/>
              <a:cs typeface="MS PGothic" panose="020B0600070205080204" charset="-128"/>
            </a:endParaRPr>
          </a:p>
          <a:p>
            <a:r>
              <a:rPr lang="fr-FR" dirty="0">
                <a:ea typeface="MS PGothic" panose="020B0600070205080204" charset="-128"/>
                <a:cs typeface="MS PGothic" panose="020B0600070205080204" charset="-128"/>
              </a:rPr>
              <a:t>$? La liste des dépendances plus récentes que la cible </a:t>
            </a:r>
            <a:endParaRPr lang="fr-FR" dirty="0">
              <a:ea typeface="MS PGothic" panose="020B0600070205080204" charset="-128"/>
              <a:cs typeface="MS PGothic" panose="020B0600070205080204" charset="-128"/>
            </a:endParaRPr>
          </a:p>
          <a:p>
            <a:r>
              <a:rPr lang="fr-FR" dirty="0">
                <a:ea typeface="MS PGothic" panose="020B0600070205080204" charset="-128"/>
                <a:cs typeface="MS PGothic" panose="020B0600070205080204" charset="-128"/>
              </a:rPr>
              <a:t>$* Le nom du fichier sans suffixe</a:t>
            </a:r>
            <a:endParaRPr lang="fr-FR" dirty="0">
              <a:ea typeface="MS PGothic" panose="020B0600070205080204" charset="-128"/>
              <a:cs typeface="MS PGothic" panose="020B0600070205080204" charset="-128"/>
            </a:endParaRPr>
          </a:p>
          <a:p>
            <a:endParaRPr lang="fr-FR" dirty="0">
              <a:ea typeface="MS PGothic" panose="020B0600070205080204" charset="-128"/>
              <a:cs typeface="MS PGothic" panose="020B0600070205080204" charset="-128"/>
            </a:endParaRPr>
          </a:p>
          <a:p>
            <a:r>
              <a:rPr lang="fr-FR" b="1" dirty="0">
                <a:ea typeface="MS PGothic" panose="020B0600070205080204" charset="-128"/>
                <a:cs typeface="MS PGothic" panose="020B0600070205080204" charset="-128"/>
              </a:rPr>
              <a:t>-</a:t>
            </a:r>
            <a:r>
              <a:rPr lang="fr-FR" b="1" dirty="0" err="1">
                <a:ea typeface="MS PGothic" panose="020B0600070205080204" charset="-128"/>
                <a:cs typeface="MS PGothic" panose="020B0600070205080204" charset="-128"/>
              </a:rPr>
              <a:t>ansi</a:t>
            </a:r>
            <a:r>
              <a:rPr lang="fr-FR" b="1" dirty="0">
                <a:ea typeface="MS PGothic" panose="020B0600070205080204" charset="-128"/>
                <a:cs typeface="MS PGothic" panose="020B0600070205080204" charset="-128"/>
              </a:rPr>
              <a:t> </a:t>
            </a:r>
            <a:r>
              <a:rPr lang="fr-FR" dirty="0">
                <a:ea typeface="MS PGothic" panose="020B0600070205080204" charset="-128"/>
                <a:cs typeface="MS PGothic" panose="020B0600070205080204" charset="-128"/>
              </a:rPr>
              <a:t>: norme qui garantie la portabilité</a:t>
            </a:r>
            <a:endParaRPr lang="fr-FR" dirty="0">
              <a:ea typeface="MS PGothic" panose="020B0600070205080204" charset="-128"/>
              <a:cs typeface="MS PGothic" panose="020B0600070205080204" charset="-128"/>
            </a:endParaRPr>
          </a:p>
          <a:p>
            <a:r>
              <a:rPr lang="fr-FR" b="1" dirty="0">
                <a:ea typeface="MS PGothic" panose="020B0600070205080204" charset="-128"/>
                <a:cs typeface="MS PGothic" panose="020B0600070205080204" charset="-128"/>
              </a:rPr>
              <a:t>-Wall </a:t>
            </a:r>
            <a:r>
              <a:rPr lang="fr-FR" dirty="0">
                <a:ea typeface="MS PGothic" panose="020B0600070205080204" charset="-128"/>
                <a:cs typeface="MS PGothic" panose="020B0600070205080204" charset="-128"/>
              </a:rPr>
              <a:t>: affiche des avertissements</a:t>
            </a:r>
            <a:endParaRPr lang="fr-FR" dirty="0">
              <a:ea typeface="MS PGothic" panose="020B0600070205080204" charset="-128"/>
              <a:cs typeface="MS PGothic" panose="020B0600070205080204" charset="-128"/>
            </a:endParaRPr>
          </a:p>
        </p:txBody>
      </p:sp>
      <p:sp>
        <p:nvSpPr>
          <p:cNvPr id="59395" name="Espace réservé du numéro de diapositive 3"/>
          <p:cNvSpPr>
            <a:spLocks noGrp="1"/>
          </p:cNvSpPr>
          <p:nvPr>
            <p:ph type="sldNum" sz="quarter" idx="5"/>
          </p:nvPr>
        </p:nvSpPr>
        <p:spPr>
          <a:noFill/>
          <a:ln w="9525"/>
        </p:spPr>
        <p:txBody>
          <a:bodyPr/>
          <a:lstStyle>
            <a:lvl1pPr defTabSz="920115" eaLnBrk="0" hangingPunct="0">
              <a:defRPr sz="2400">
                <a:solidFill>
                  <a:schemeClr val="tx1"/>
                </a:solidFill>
                <a:latin typeface="Arial" panose="020B0604020202020204" pitchFamily="34" charset="0"/>
                <a:ea typeface="MS PGothic" panose="020B0600070205080204" charset="-128"/>
                <a:cs typeface="MS PGothic" panose="020B0600070205080204" charset="-128"/>
              </a:defRPr>
            </a:lvl1pPr>
            <a:lvl2pPr marL="749300" indent="-288290" defTabSz="920115" eaLnBrk="0" hangingPunct="0">
              <a:defRPr sz="2400">
                <a:solidFill>
                  <a:schemeClr val="tx1"/>
                </a:solidFill>
                <a:latin typeface="Arial" panose="020B0604020202020204" pitchFamily="34" charset="0"/>
                <a:ea typeface="MS PGothic" panose="020B0600070205080204" charset="-128"/>
              </a:defRPr>
            </a:lvl2pPr>
            <a:lvl3pPr marL="1152525" indent="-230505" defTabSz="920115" eaLnBrk="0" hangingPunct="0">
              <a:defRPr sz="2400">
                <a:solidFill>
                  <a:schemeClr val="tx1"/>
                </a:solidFill>
                <a:latin typeface="Arial" panose="020B0604020202020204" pitchFamily="34" charset="0"/>
                <a:ea typeface="MS PGothic" panose="020B0600070205080204" charset="-128"/>
              </a:defRPr>
            </a:lvl3pPr>
            <a:lvl4pPr marL="1613535" indent="-230505" defTabSz="920115" eaLnBrk="0" hangingPunct="0">
              <a:defRPr sz="2400">
                <a:solidFill>
                  <a:schemeClr val="tx1"/>
                </a:solidFill>
                <a:latin typeface="Arial" panose="020B0604020202020204" pitchFamily="34" charset="0"/>
                <a:ea typeface="MS PGothic" panose="020B0600070205080204" charset="-128"/>
              </a:defRPr>
            </a:lvl4pPr>
            <a:lvl5pPr marL="2074545" indent="-230505" defTabSz="920115" eaLnBrk="0" hangingPunct="0">
              <a:defRPr sz="2400">
                <a:solidFill>
                  <a:schemeClr val="tx1"/>
                </a:solidFill>
                <a:latin typeface="Arial" panose="020B0604020202020204" pitchFamily="34" charset="0"/>
                <a:ea typeface="MS PGothic" panose="020B0600070205080204" charset="-128"/>
              </a:defRPr>
            </a:lvl5pPr>
            <a:lvl6pPr marL="2535555" indent="-230505" defTabSz="92011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96565" indent="-230505" defTabSz="92011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57575" indent="-230505" defTabSz="92011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918585" indent="-230505" defTabSz="92011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fld id="{4991435A-8A41-1A4D-984F-01122D4CA528}" type="slidenum">
              <a:rPr lang="fr-FR" sz="1200">
                <a:latin typeface="Times New Roman" panose="02020603050405020304" charset="0"/>
              </a:rPr>
            </a:fld>
            <a:endParaRPr lang="fr-FR" sz="1200">
              <a:latin typeface="Times New Roman" panose="0202060305040502030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Espace réservé de l'image des diapositives 1"/>
          <p:cNvSpPr>
            <a:spLocks noGrp="1" noRot="1" noChangeAspect="1"/>
          </p:cNvSpPr>
          <p:nvPr>
            <p:ph type="sldImg"/>
          </p:nvPr>
        </p:nvSpPr>
        <p:spPr/>
      </p:sp>
      <p:sp>
        <p:nvSpPr>
          <p:cNvPr id="59394" name="Espace réservé des commentaires 2"/>
          <p:cNvSpPr>
            <a:spLocks noGrp="1"/>
          </p:cNvSpPr>
          <p:nvPr>
            <p:ph type="body" idx="1"/>
          </p:nvPr>
        </p:nvSpPr>
        <p:spPr>
          <a:noFill/>
          <a:ln w="9525"/>
        </p:spPr>
        <p:txBody>
          <a:bodyPr/>
          <a:lstStyle/>
          <a:p>
            <a:r>
              <a:rPr lang="fr-FR" dirty="0">
                <a:ea typeface="MS PGothic" panose="020B0600070205080204" charset="-128"/>
                <a:cs typeface="MS PGothic" panose="020B0600070205080204" charset="-128"/>
              </a:rPr>
              <a:t>$@ Le nom de la cible (</a:t>
            </a:r>
            <a:r>
              <a:rPr lang="fr-FR" dirty="0" err="1">
                <a:ea typeface="MS PGothic" panose="020B0600070205080204" charset="-128"/>
                <a:cs typeface="MS PGothic" panose="020B0600070205080204" charset="-128"/>
              </a:rPr>
              <a:t>left</a:t>
            </a:r>
            <a:r>
              <a:rPr lang="fr-FR" dirty="0">
                <a:ea typeface="MS PGothic" panose="020B0600070205080204" charset="-128"/>
                <a:cs typeface="MS PGothic" panose="020B0600070205080204" charset="-128"/>
              </a:rPr>
              <a:t> </a:t>
            </a:r>
            <a:r>
              <a:rPr lang="fr-FR" dirty="0" err="1">
                <a:ea typeface="MS PGothic" panose="020B0600070205080204" charset="-128"/>
                <a:cs typeface="MS PGothic" panose="020B0600070205080204" charset="-128"/>
              </a:rPr>
              <a:t>side</a:t>
            </a:r>
            <a:r>
              <a:rPr lang="fr-FR" dirty="0">
                <a:ea typeface="MS PGothic" panose="020B0600070205080204" charset="-128"/>
                <a:cs typeface="MS PGothic" panose="020B0600070205080204" charset="-128"/>
              </a:rPr>
              <a:t> of : </a:t>
            </a:r>
            <a:r>
              <a:rPr lang="fr-FR" dirty="0">
                <a:ea typeface="MS PGothic" panose="020B0600070205080204" charset="-128"/>
                <a:cs typeface="MS PGothic" panose="020B0600070205080204" charset="-128"/>
                <a:sym typeface="Wingdings" panose="05000000000000000000"/>
              </a:rPr>
              <a:t>)</a:t>
            </a:r>
            <a:endParaRPr lang="fr-FR" dirty="0">
              <a:ea typeface="MS PGothic" panose="020B0600070205080204" charset="-128"/>
              <a:cs typeface="MS PGothic" panose="020B0600070205080204" charset="-128"/>
            </a:endParaRPr>
          </a:p>
          <a:p>
            <a:r>
              <a:rPr lang="fr-FR" dirty="0">
                <a:ea typeface="MS PGothic" panose="020B0600070205080204" charset="-128"/>
                <a:cs typeface="MS PGothic" panose="020B0600070205080204" charset="-128"/>
              </a:rPr>
              <a:t>$&lt; Le nom de la première dépendance </a:t>
            </a:r>
            <a:r>
              <a:rPr lang="fr-FR" dirty="0" err="1">
                <a:ea typeface="MS PGothic" panose="020B0600070205080204" charset="-128"/>
                <a:cs typeface="MS PGothic" panose="020B0600070205080204" charset="-128"/>
              </a:rPr>
              <a:t>usually</a:t>
            </a:r>
            <a:r>
              <a:rPr lang="fr-FR" dirty="0">
                <a:ea typeface="MS PGothic" panose="020B0600070205080204" charset="-128"/>
                <a:cs typeface="MS PGothic" panose="020B0600070205080204" charset="-128"/>
              </a:rPr>
              <a:t> the source file</a:t>
            </a:r>
            <a:endParaRPr lang="fr-FR" dirty="0">
              <a:ea typeface="MS PGothic" panose="020B0600070205080204" charset="-128"/>
              <a:cs typeface="MS PGothic" panose="020B0600070205080204" charset="-128"/>
            </a:endParaRPr>
          </a:p>
          <a:p>
            <a:r>
              <a:rPr lang="fr-FR" dirty="0">
                <a:ea typeface="MS PGothic" panose="020B0600070205080204" charset="-128"/>
                <a:cs typeface="MS PGothic" panose="020B0600070205080204" charset="-128"/>
              </a:rPr>
              <a:t>$^ La liste des dépendances (right </a:t>
            </a:r>
            <a:r>
              <a:rPr lang="fr-FR" dirty="0" err="1">
                <a:ea typeface="MS PGothic" panose="020B0600070205080204" charset="-128"/>
                <a:cs typeface="MS PGothic" panose="020B0600070205080204" charset="-128"/>
              </a:rPr>
              <a:t>side</a:t>
            </a:r>
            <a:r>
              <a:rPr lang="fr-FR" dirty="0">
                <a:ea typeface="MS PGothic" panose="020B0600070205080204" charset="-128"/>
                <a:cs typeface="MS PGothic" panose="020B0600070205080204" charset="-128"/>
              </a:rPr>
              <a:t> of : )</a:t>
            </a:r>
            <a:endParaRPr lang="fr-FR" dirty="0">
              <a:ea typeface="MS PGothic" panose="020B0600070205080204" charset="-128"/>
              <a:cs typeface="MS PGothic" panose="020B0600070205080204" charset="-128"/>
            </a:endParaRPr>
          </a:p>
          <a:p>
            <a:r>
              <a:rPr lang="fr-FR" dirty="0">
                <a:ea typeface="MS PGothic" panose="020B0600070205080204" charset="-128"/>
                <a:cs typeface="MS PGothic" panose="020B0600070205080204" charset="-128"/>
              </a:rPr>
              <a:t>$? La liste des dépendances plus récentes que la cible </a:t>
            </a:r>
            <a:endParaRPr lang="fr-FR" dirty="0">
              <a:ea typeface="MS PGothic" panose="020B0600070205080204" charset="-128"/>
              <a:cs typeface="MS PGothic" panose="020B0600070205080204" charset="-128"/>
            </a:endParaRPr>
          </a:p>
          <a:p>
            <a:r>
              <a:rPr lang="fr-FR" dirty="0">
                <a:ea typeface="MS PGothic" panose="020B0600070205080204" charset="-128"/>
                <a:cs typeface="MS PGothic" panose="020B0600070205080204" charset="-128"/>
              </a:rPr>
              <a:t>$* Le nom du fichier sans suffixe</a:t>
            </a:r>
            <a:endParaRPr lang="fr-FR" dirty="0">
              <a:ea typeface="MS PGothic" panose="020B0600070205080204" charset="-128"/>
              <a:cs typeface="MS PGothic" panose="020B0600070205080204" charset="-128"/>
            </a:endParaRPr>
          </a:p>
          <a:p>
            <a:endParaRPr lang="fr-FR" dirty="0">
              <a:ea typeface="MS PGothic" panose="020B0600070205080204" charset="-128"/>
              <a:cs typeface="MS PGothic" panose="020B0600070205080204" charset="-128"/>
            </a:endParaRPr>
          </a:p>
          <a:p>
            <a:r>
              <a:rPr lang="fr-FR" dirty="0">
                <a:ea typeface="MS PGothic" panose="020B0600070205080204" charset="-128"/>
                <a:cs typeface="MS PGothic" panose="020B0600070205080204" charset="-128"/>
              </a:rPr>
              <a:t>PHONY: to </a:t>
            </a:r>
            <a:r>
              <a:rPr lang="fr-FR" dirty="0" err="1">
                <a:ea typeface="MS PGothic" panose="020B0600070205080204" charset="-128"/>
                <a:cs typeface="MS PGothic" panose="020B0600070205080204" charset="-128"/>
              </a:rPr>
              <a:t>indicate</a:t>
            </a:r>
            <a:r>
              <a:rPr lang="fr-FR" dirty="0">
                <a:ea typeface="MS PGothic" panose="020B0600070205080204" charset="-128"/>
                <a:cs typeface="MS PGothic" panose="020B0600070205080204" charset="-128"/>
              </a:rPr>
              <a:t> </a:t>
            </a:r>
            <a:r>
              <a:rPr lang="fr-FR" dirty="0" err="1">
                <a:ea typeface="MS PGothic" panose="020B0600070205080204" charset="-128"/>
                <a:cs typeface="MS PGothic" panose="020B0600070205080204" charset="-128"/>
              </a:rPr>
              <a:t>that</a:t>
            </a:r>
            <a:r>
              <a:rPr lang="fr-FR" dirty="0">
                <a:ea typeface="MS PGothic" panose="020B0600070205080204" charset="-128"/>
                <a:cs typeface="MS PGothic" panose="020B0600070205080204" charset="-128"/>
              </a:rPr>
              <a:t> </a:t>
            </a:r>
            <a:r>
              <a:rPr lang="fr-FR" dirty="0" err="1">
                <a:ea typeface="MS PGothic" panose="020B0600070205080204" charset="-128"/>
                <a:cs typeface="MS PGothic" panose="020B0600070205080204" charset="-128"/>
              </a:rPr>
              <a:t>they</a:t>
            </a:r>
            <a:r>
              <a:rPr lang="fr-FR" baseline="0" dirty="0">
                <a:ea typeface="MS PGothic" panose="020B0600070205080204" charset="-128"/>
                <a:cs typeface="MS PGothic" panose="020B0600070205080204" charset="-128"/>
              </a:rPr>
              <a:t> are not </a:t>
            </a:r>
            <a:r>
              <a:rPr lang="fr-FR" baseline="0" dirty="0" err="1">
                <a:ea typeface="MS PGothic" panose="020B0600070205080204" charset="-128"/>
                <a:cs typeface="MS PGothic" panose="020B0600070205080204" charset="-128"/>
              </a:rPr>
              <a:t>targets</a:t>
            </a:r>
            <a:r>
              <a:rPr lang="fr-FR" baseline="0" dirty="0">
                <a:ea typeface="MS PGothic" panose="020B0600070205080204" charset="-128"/>
                <a:cs typeface="MS PGothic" panose="020B0600070205080204" charset="-128"/>
              </a:rPr>
              <a:t> </a:t>
            </a:r>
            <a:r>
              <a:rPr lang="fr-FR" baseline="0" dirty="0" err="1">
                <a:ea typeface="MS PGothic" panose="020B0600070205080204" charset="-128"/>
                <a:cs typeface="MS PGothic" panose="020B0600070205080204" charset="-128"/>
              </a:rPr>
              <a:t>so</a:t>
            </a:r>
            <a:r>
              <a:rPr lang="fr-FR" baseline="0" dirty="0">
                <a:ea typeface="MS PGothic" panose="020B0600070205080204" charset="-128"/>
                <a:cs typeface="MS PGothic" panose="020B0600070205080204" charset="-128"/>
              </a:rPr>
              <a:t> </a:t>
            </a:r>
            <a:r>
              <a:rPr lang="fr-FR" baseline="0" dirty="0" err="1">
                <a:ea typeface="MS PGothic" panose="020B0600070205080204" charset="-128"/>
                <a:cs typeface="MS PGothic" panose="020B0600070205080204" charset="-128"/>
              </a:rPr>
              <a:t>they</a:t>
            </a:r>
            <a:r>
              <a:rPr lang="fr-FR" baseline="0" dirty="0">
                <a:ea typeface="MS PGothic" panose="020B0600070205080204" charset="-128"/>
                <a:cs typeface="MS PGothic" panose="020B0600070205080204" charset="-128"/>
              </a:rPr>
              <a:t> </a:t>
            </a:r>
            <a:r>
              <a:rPr lang="fr-FR" baseline="0" dirty="0" err="1">
                <a:ea typeface="MS PGothic" panose="020B0600070205080204" charset="-128"/>
                <a:cs typeface="MS PGothic" panose="020B0600070205080204" charset="-128"/>
              </a:rPr>
              <a:t>run</a:t>
            </a:r>
            <a:r>
              <a:rPr lang="fr-FR" baseline="0" dirty="0">
                <a:ea typeface="MS PGothic" panose="020B0600070205080204" charset="-128"/>
                <a:cs typeface="MS PGothic" panose="020B0600070205080204" charset="-128"/>
              </a:rPr>
              <a:t> </a:t>
            </a:r>
            <a:r>
              <a:rPr lang="fr-FR" baseline="0" dirty="0" err="1">
                <a:ea typeface="MS PGothic" panose="020B0600070205080204" charset="-128"/>
                <a:cs typeface="MS PGothic" panose="020B0600070205080204" charset="-128"/>
              </a:rPr>
              <a:t>commands</a:t>
            </a:r>
            <a:r>
              <a:rPr lang="fr-FR" baseline="0" dirty="0">
                <a:ea typeface="MS PGothic" panose="020B0600070205080204" charset="-128"/>
                <a:cs typeface="MS PGothic" panose="020B0600070205080204" charset="-128"/>
              </a:rPr>
              <a:t>, no </a:t>
            </a:r>
            <a:r>
              <a:rPr lang="fr-FR" baseline="0" dirty="0" err="1">
                <a:ea typeface="MS PGothic" panose="020B0600070205080204" charset="-128"/>
                <a:cs typeface="MS PGothic" panose="020B0600070205080204" charset="-128"/>
              </a:rPr>
              <a:t>dependencis</a:t>
            </a:r>
            <a:endParaRPr lang="fr-FR" baseline="0" dirty="0">
              <a:ea typeface="MS PGothic" panose="020B0600070205080204" charset="-128"/>
              <a:cs typeface="MS PGothic" panose="020B0600070205080204" charset="-128"/>
            </a:endParaRPr>
          </a:p>
          <a:p>
            <a:endParaRPr lang="fr-FR" dirty="0">
              <a:ea typeface="MS PGothic" panose="020B0600070205080204" charset="-128"/>
              <a:cs typeface="MS PGothic" panose="020B0600070205080204" charset="-128"/>
            </a:endParaRPr>
          </a:p>
          <a:p>
            <a:r>
              <a:rPr lang="fr-FR" dirty="0">
                <a:ea typeface="MS PGothic" panose="020B0600070205080204" charset="-128"/>
                <a:cs typeface="MS PGothic" panose="020B0600070205080204" charset="-128"/>
              </a:rPr>
              <a:t>% match </a:t>
            </a:r>
            <a:r>
              <a:rPr lang="fr-FR" dirty="0" err="1">
                <a:ea typeface="MS PGothic" panose="020B0600070205080204" charset="-128"/>
                <a:cs typeface="MS PGothic" panose="020B0600070205080204" charset="-128"/>
              </a:rPr>
              <a:t>any</a:t>
            </a:r>
            <a:r>
              <a:rPr lang="fr-FR" dirty="0">
                <a:ea typeface="MS PGothic" panose="020B0600070205080204" charset="-128"/>
                <a:cs typeface="MS PGothic" panose="020B0600070205080204" charset="-128"/>
              </a:rPr>
              <a:t> not </a:t>
            </a:r>
            <a:r>
              <a:rPr lang="fr-FR" dirty="0" err="1">
                <a:ea typeface="MS PGothic" panose="020B0600070205080204" charset="-128"/>
                <a:cs typeface="MS PGothic" panose="020B0600070205080204" charset="-128"/>
              </a:rPr>
              <a:t>empty</a:t>
            </a:r>
            <a:r>
              <a:rPr lang="fr-FR" dirty="0">
                <a:ea typeface="MS PGothic" panose="020B0600070205080204" charset="-128"/>
                <a:cs typeface="MS PGothic" panose="020B0600070205080204" charset="-128"/>
              </a:rPr>
              <a:t> string</a:t>
            </a:r>
            <a:endParaRPr lang="fr-FR" dirty="0">
              <a:ea typeface="MS PGothic" panose="020B0600070205080204" charset="-128"/>
              <a:cs typeface="MS PGothic" panose="020B0600070205080204" charset="-128"/>
            </a:endParaRPr>
          </a:p>
          <a:p>
            <a:r>
              <a:rPr lang="fr-FR" b="1" dirty="0">
                <a:ea typeface="MS PGothic" panose="020B0600070205080204" charset="-128"/>
                <a:cs typeface="MS PGothic" panose="020B0600070205080204" charset="-128"/>
              </a:rPr>
              <a:t>-</a:t>
            </a:r>
            <a:r>
              <a:rPr lang="fr-FR" b="1" dirty="0" err="1">
                <a:ea typeface="MS PGothic" panose="020B0600070205080204" charset="-128"/>
                <a:cs typeface="MS PGothic" panose="020B0600070205080204" charset="-128"/>
              </a:rPr>
              <a:t>ansi</a:t>
            </a:r>
            <a:r>
              <a:rPr lang="fr-FR" b="1" dirty="0">
                <a:ea typeface="MS PGothic" panose="020B0600070205080204" charset="-128"/>
                <a:cs typeface="MS PGothic" panose="020B0600070205080204" charset="-128"/>
              </a:rPr>
              <a:t> </a:t>
            </a:r>
            <a:r>
              <a:rPr lang="fr-FR" dirty="0">
                <a:ea typeface="MS PGothic" panose="020B0600070205080204" charset="-128"/>
                <a:cs typeface="MS PGothic" panose="020B0600070205080204" charset="-128"/>
              </a:rPr>
              <a:t>: norme qui garantie la portabilité</a:t>
            </a:r>
            <a:endParaRPr lang="fr-FR" dirty="0">
              <a:ea typeface="MS PGothic" panose="020B0600070205080204" charset="-128"/>
              <a:cs typeface="MS PGothic" panose="020B0600070205080204" charset="-128"/>
            </a:endParaRPr>
          </a:p>
          <a:p>
            <a:r>
              <a:rPr lang="fr-FR" b="1" dirty="0">
                <a:ea typeface="MS PGothic" panose="020B0600070205080204" charset="-128"/>
                <a:cs typeface="MS PGothic" panose="020B0600070205080204" charset="-128"/>
              </a:rPr>
              <a:t>-Wall </a:t>
            </a:r>
            <a:r>
              <a:rPr lang="fr-FR" dirty="0">
                <a:ea typeface="MS PGothic" panose="020B0600070205080204" charset="-128"/>
                <a:cs typeface="MS PGothic" panose="020B0600070205080204" charset="-128"/>
              </a:rPr>
              <a:t>: affiche des avertissements</a:t>
            </a:r>
            <a:endParaRPr lang="fr-FR" dirty="0">
              <a:ea typeface="MS PGothic" panose="020B0600070205080204" charset="-128"/>
              <a:cs typeface="MS PGothic" panose="020B0600070205080204" charset="-128"/>
            </a:endParaRPr>
          </a:p>
        </p:txBody>
      </p:sp>
      <p:sp>
        <p:nvSpPr>
          <p:cNvPr id="59395" name="Espace réservé du numéro de diapositive 3"/>
          <p:cNvSpPr>
            <a:spLocks noGrp="1"/>
          </p:cNvSpPr>
          <p:nvPr>
            <p:ph type="sldNum" sz="quarter" idx="5"/>
          </p:nvPr>
        </p:nvSpPr>
        <p:spPr>
          <a:noFill/>
          <a:ln w="9525"/>
        </p:spPr>
        <p:txBody>
          <a:bodyPr/>
          <a:lstStyle>
            <a:lvl1pPr defTabSz="920115" eaLnBrk="0" hangingPunct="0">
              <a:defRPr sz="2400">
                <a:solidFill>
                  <a:schemeClr val="tx1"/>
                </a:solidFill>
                <a:latin typeface="Arial" panose="020B0604020202020204" pitchFamily="34" charset="0"/>
                <a:ea typeface="MS PGothic" panose="020B0600070205080204" charset="-128"/>
                <a:cs typeface="MS PGothic" panose="020B0600070205080204" charset="-128"/>
              </a:defRPr>
            </a:lvl1pPr>
            <a:lvl2pPr marL="749300" indent="-288290" defTabSz="920115" eaLnBrk="0" hangingPunct="0">
              <a:defRPr sz="2400">
                <a:solidFill>
                  <a:schemeClr val="tx1"/>
                </a:solidFill>
                <a:latin typeface="Arial" panose="020B0604020202020204" pitchFamily="34" charset="0"/>
                <a:ea typeface="MS PGothic" panose="020B0600070205080204" charset="-128"/>
              </a:defRPr>
            </a:lvl2pPr>
            <a:lvl3pPr marL="1152525" indent="-230505" defTabSz="920115" eaLnBrk="0" hangingPunct="0">
              <a:defRPr sz="2400">
                <a:solidFill>
                  <a:schemeClr val="tx1"/>
                </a:solidFill>
                <a:latin typeface="Arial" panose="020B0604020202020204" pitchFamily="34" charset="0"/>
                <a:ea typeface="MS PGothic" panose="020B0600070205080204" charset="-128"/>
              </a:defRPr>
            </a:lvl3pPr>
            <a:lvl4pPr marL="1613535" indent="-230505" defTabSz="920115" eaLnBrk="0" hangingPunct="0">
              <a:defRPr sz="2400">
                <a:solidFill>
                  <a:schemeClr val="tx1"/>
                </a:solidFill>
                <a:latin typeface="Arial" panose="020B0604020202020204" pitchFamily="34" charset="0"/>
                <a:ea typeface="MS PGothic" panose="020B0600070205080204" charset="-128"/>
              </a:defRPr>
            </a:lvl4pPr>
            <a:lvl5pPr marL="2074545" indent="-230505" defTabSz="920115" eaLnBrk="0" hangingPunct="0">
              <a:defRPr sz="2400">
                <a:solidFill>
                  <a:schemeClr val="tx1"/>
                </a:solidFill>
                <a:latin typeface="Arial" panose="020B0604020202020204" pitchFamily="34" charset="0"/>
                <a:ea typeface="MS PGothic" panose="020B0600070205080204" charset="-128"/>
              </a:defRPr>
            </a:lvl5pPr>
            <a:lvl6pPr marL="2535555" indent="-230505" defTabSz="92011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96565" indent="-230505" defTabSz="92011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57575" indent="-230505" defTabSz="92011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918585" indent="-230505" defTabSz="92011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fld id="{4991435A-8A41-1A4D-984F-01122D4CA528}" type="slidenum">
              <a:rPr lang="fr-FR" sz="1200">
                <a:latin typeface="Times New Roman" panose="02020603050405020304" charset="0"/>
              </a:rPr>
            </a:fld>
            <a:endParaRPr lang="fr-FR" sz="1200">
              <a:latin typeface="Times New Roman" panose="0202060305040502030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Espace réservé de l'image des diapositives 1"/>
          <p:cNvSpPr>
            <a:spLocks noGrp="1" noRot="1" noChangeAspect="1"/>
          </p:cNvSpPr>
          <p:nvPr>
            <p:ph type="sldImg"/>
          </p:nvPr>
        </p:nvSpPr>
        <p:spPr/>
      </p:sp>
      <p:sp>
        <p:nvSpPr>
          <p:cNvPr id="133122" name="Espace réservé des commentaires 2"/>
          <p:cNvSpPr>
            <a:spLocks noGrp="1"/>
          </p:cNvSpPr>
          <p:nvPr>
            <p:ph type="body" idx="1"/>
          </p:nvPr>
        </p:nvSpPr>
        <p:spPr>
          <a:noFill/>
          <a:ln w="9525"/>
        </p:spPr>
        <p:txBody>
          <a:bodyPr/>
          <a:lstStyle/>
          <a:p>
            <a:r>
              <a:rPr lang="fr-FR">
                <a:ea typeface="MS PGothic" panose="020B0600070205080204" charset="-128"/>
                <a:cs typeface="MS PGothic" panose="020B0600070205080204" charset="-128"/>
              </a:rPr>
              <a:t>Fuites mémoire</a:t>
            </a:r>
            <a:endParaRPr lang="fr-FR">
              <a:ea typeface="MS PGothic" panose="020B0600070205080204" charset="-128"/>
              <a:cs typeface="MS PGothic" panose="020B0600070205080204" charset="-128"/>
            </a:endParaRPr>
          </a:p>
        </p:txBody>
      </p:sp>
      <p:sp>
        <p:nvSpPr>
          <p:cNvPr id="133123" name="Espace réservé du numéro de diapositive 3"/>
          <p:cNvSpPr>
            <a:spLocks noGrp="1"/>
          </p:cNvSpPr>
          <p:nvPr>
            <p:ph type="sldNum" sz="quarter" idx="5"/>
          </p:nvPr>
        </p:nvSpPr>
        <p:spPr>
          <a:noFill/>
          <a:ln w="9525"/>
        </p:spPr>
        <p:txBody>
          <a:bodyPr/>
          <a:lstStyle>
            <a:lvl1pPr defTabSz="920115" eaLnBrk="0" hangingPunct="0">
              <a:defRPr sz="2400">
                <a:solidFill>
                  <a:schemeClr val="tx1"/>
                </a:solidFill>
                <a:latin typeface="Arial" panose="020B0604020202020204" pitchFamily="34" charset="0"/>
                <a:ea typeface="MS PGothic" panose="020B0600070205080204" charset="-128"/>
                <a:cs typeface="MS PGothic" panose="020B0600070205080204" charset="-128"/>
              </a:defRPr>
            </a:lvl1pPr>
            <a:lvl2pPr marL="749300" indent="-288290" defTabSz="920115" eaLnBrk="0" hangingPunct="0">
              <a:defRPr sz="2400">
                <a:solidFill>
                  <a:schemeClr val="tx1"/>
                </a:solidFill>
                <a:latin typeface="Arial" panose="020B0604020202020204" pitchFamily="34" charset="0"/>
                <a:ea typeface="MS PGothic" panose="020B0600070205080204" charset="-128"/>
              </a:defRPr>
            </a:lvl2pPr>
            <a:lvl3pPr marL="1152525" indent="-230505" defTabSz="920115" eaLnBrk="0" hangingPunct="0">
              <a:defRPr sz="2400">
                <a:solidFill>
                  <a:schemeClr val="tx1"/>
                </a:solidFill>
                <a:latin typeface="Arial" panose="020B0604020202020204" pitchFamily="34" charset="0"/>
                <a:ea typeface="MS PGothic" panose="020B0600070205080204" charset="-128"/>
              </a:defRPr>
            </a:lvl3pPr>
            <a:lvl4pPr marL="1613535" indent="-230505" defTabSz="920115" eaLnBrk="0" hangingPunct="0">
              <a:defRPr sz="2400">
                <a:solidFill>
                  <a:schemeClr val="tx1"/>
                </a:solidFill>
                <a:latin typeface="Arial" panose="020B0604020202020204" pitchFamily="34" charset="0"/>
                <a:ea typeface="MS PGothic" panose="020B0600070205080204" charset="-128"/>
              </a:defRPr>
            </a:lvl4pPr>
            <a:lvl5pPr marL="2074545" indent="-230505" defTabSz="920115" eaLnBrk="0" hangingPunct="0">
              <a:defRPr sz="2400">
                <a:solidFill>
                  <a:schemeClr val="tx1"/>
                </a:solidFill>
                <a:latin typeface="Arial" panose="020B0604020202020204" pitchFamily="34" charset="0"/>
                <a:ea typeface="MS PGothic" panose="020B0600070205080204" charset="-128"/>
              </a:defRPr>
            </a:lvl5pPr>
            <a:lvl6pPr marL="2535555" indent="-230505" defTabSz="92011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96565" indent="-230505" defTabSz="92011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57575" indent="-230505" defTabSz="92011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918585" indent="-230505" defTabSz="920115"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fld id="{AD907178-4C4F-F347-8EB8-4793A4D08356}" type="slidenum">
              <a:rPr lang="fr-FR" sz="1200">
                <a:latin typeface="Times New Roman" panose="02020603050405020304" charset="0"/>
              </a:rPr>
            </a:fld>
            <a:endParaRPr lang="fr-FR" sz="1200">
              <a:latin typeface="Times New Roman" panose="0202060305040502030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 produce debugging information in the operating system’s native format</a:t>
            </a:r>
            <a:endParaRPr lang="en-US" dirty="0"/>
          </a:p>
          <a:p>
            <a:r>
              <a:rPr lang="en-US" dirty="0"/>
              <a:t>-</a:t>
            </a:r>
            <a:r>
              <a:rPr lang="en-US" dirty="0" err="1"/>
              <a:t>ggdb</a:t>
            </a:r>
            <a:r>
              <a:rPr lang="en-US" dirty="0"/>
              <a:t>: produce debugging information for use by GDB. This means to use the most expressive format available (DWARF, stabs, or the native format if neither of those are supported), including GDB extensions if at all possible. </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solidFill>
                  <a:srgbClr val="000000"/>
                </a:solidFill>
                <a:latin typeface="Courier"/>
                <a:cs typeface="Courier"/>
              </a:rPr>
              <a:t>gcc</a:t>
            </a:r>
            <a:r>
              <a:rPr lang="en-US" dirty="0">
                <a:solidFill>
                  <a:srgbClr val="000000"/>
                </a:solidFill>
              </a:rPr>
              <a:t> </a:t>
            </a:r>
            <a:r>
              <a:rPr lang="en-US" dirty="0"/>
              <a:t>compiler:</a:t>
            </a:r>
            <a:endParaRPr lang="en-US" dirty="0"/>
          </a:p>
          <a:p>
            <a:pPr lvl="1"/>
            <a:r>
              <a:rPr lang="en-US" dirty="0"/>
              <a:t>converts these numbers to Unsigned Binary or Two’s Complement</a:t>
            </a:r>
            <a:endParaRPr lang="en-US" dirty="0"/>
          </a:p>
          <a:p>
            <a:pPr lvl="1"/>
            <a:r>
              <a:rPr lang="en-US" dirty="0"/>
              <a:t>doesn't record how the numbers were originally represented.</a:t>
            </a:r>
            <a:endParaRPr lang="en-US" dirty="0"/>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Character *</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smtClean="0"/>
              <a:t>Représentation en virgule flottante 32 bits simple précision : </a:t>
            </a:r>
            <a:endParaRPr lang="fr-FR" b="1" dirty="0" smtClean="0"/>
          </a:p>
          <a:p>
            <a:pPr marL="285750" indent="-285750">
              <a:buAutoNum type="romanLcParenR"/>
            </a:pPr>
            <a:r>
              <a:rPr lang="fr-FR" b="1" dirty="0" smtClean="0"/>
              <a:t>Signe - 1 </a:t>
            </a:r>
            <a:endParaRPr lang="fr-FR" b="1" dirty="0" smtClean="0"/>
          </a:p>
          <a:p>
            <a:pPr marL="285750" indent="-285750">
              <a:buAutoNum type="romanLcParenR"/>
            </a:pPr>
            <a:r>
              <a:rPr lang="fr-FR" b="1" dirty="0" smtClean="0"/>
              <a:t>ii) Exposant - 8 </a:t>
            </a:r>
            <a:endParaRPr lang="fr-FR" b="1" dirty="0" smtClean="0"/>
          </a:p>
          <a:p>
            <a:pPr marL="285750" indent="-285750">
              <a:buAutoNum type="romanLcParenR"/>
            </a:pPr>
            <a:r>
              <a:rPr lang="fr-FR" b="1" dirty="0" smtClean="0"/>
              <a:t>iii) Mantisse - 23</a:t>
            </a:r>
            <a:endParaRPr lang="x-none" dirty="0"/>
          </a:p>
        </p:txBody>
      </p:sp>
      <p:sp>
        <p:nvSpPr>
          <p:cNvPr id="4" name="Slide Number Placeholder 3"/>
          <p:cNvSpPr>
            <a:spLocks noGrp="1"/>
          </p:cNvSpPr>
          <p:nvPr>
            <p:ph type="sldNum" sz="quarter" idx="5"/>
          </p:nvPr>
        </p:nvSpPr>
        <p:spPr/>
        <p:txBody>
          <a:bodyPr/>
          <a:lstStyle/>
          <a:p>
            <a:fld id="{B4E1F8BA-42AC-4F4D-A3C8-1DE9704DC2C9}" type="slidenum">
              <a:rPr lang="fr-FR" smtClean="0"/>
            </a:fld>
            <a:endParaRPr lang="fr-F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Character *</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Implicite : </a:t>
            </a:r>
            <a:endParaRPr lang="en-US" dirty="0"/>
          </a:p>
          <a:p>
            <a:r>
              <a:rPr lang="en-US" dirty="0"/>
              <a:t>1.5+1.6 = 3.1 </a:t>
            </a:r>
            <a:r>
              <a:rPr lang="en-US" dirty="0">
                <a:sym typeface="Wingdings" panose="05000000000000000000"/>
              </a:rPr>
              <a:t> </a:t>
            </a:r>
            <a:r>
              <a:rPr lang="fr-FR" dirty="0" smtClean="0">
                <a:sym typeface="Wingdings" panose="05000000000000000000"/>
              </a:rPr>
              <a:t>converti par troncature (</a:t>
            </a:r>
            <a:r>
              <a:rPr lang="fr-FR" dirty="0" err="1" smtClean="0">
                <a:sym typeface="Wingdings" panose="05000000000000000000"/>
              </a:rPr>
              <a:t>int</a:t>
            </a:r>
            <a:r>
              <a:rPr lang="fr-FR" dirty="0" smtClean="0">
                <a:sym typeface="Wingdings" panose="05000000000000000000"/>
              </a:rPr>
              <a:t> inférieur) en 3 </a:t>
            </a:r>
            <a:endParaRPr lang="en-US" dirty="0">
              <a:sym typeface="Wingdings" panose="05000000000000000000"/>
            </a:endParaRPr>
          </a:p>
          <a:p>
            <a:endParaRPr lang="en-US" dirty="0">
              <a:sym typeface="Wingdings" panose="05000000000000000000"/>
            </a:endParaRPr>
          </a:p>
          <a:p>
            <a:r>
              <a:rPr lang="en-US" dirty="0" err="1" smtClean="0"/>
              <a:t>Explicite</a:t>
            </a:r>
            <a:r>
              <a:rPr lang="en-US" dirty="0" smtClean="0"/>
              <a:t> :</a:t>
            </a:r>
            <a:endParaRPr lang="en-US" dirty="0"/>
          </a:p>
          <a:p>
            <a:r>
              <a:rPr lang="en-US" dirty="0"/>
              <a:t>1.5 </a:t>
            </a:r>
            <a:r>
              <a:rPr lang="en-US" dirty="0">
                <a:sym typeface="Wingdings" panose="05000000000000000000"/>
              </a:rPr>
              <a:t> casting</a:t>
            </a:r>
            <a:r>
              <a:rPr lang="en-US" baseline="0" dirty="0">
                <a:sym typeface="Wingdings" panose="05000000000000000000"/>
              </a:rPr>
              <a:t> converted to 1</a:t>
            </a:r>
            <a:endParaRPr lang="en-US" baseline="0" dirty="0">
              <a:sym typeface="Wingdings" panose="05000000000000000000"/>
            </a:endParaRPr>
          </a:p>
          <a:p>
            <a:r>
              <a:rPr lang="en-US" baseline="0" dirty="0">
                <a:sym typeface="Wingdings" panose="05000000000000000000"/>
              </a:rPr>
              <a:t>1.6  casting converted to 1</a:t>
            </a:r>
            <a:endParaRPr lang="en-US" baseline="0" dirty="0">
              <a:sym typeface="Wingdings" panose="05000000000000000000"/>
            </a:endParaRPr>
          </a:p>
          <a:p>
            <a:r>
              <a:rPr lang="en-US" dirty="0"/>
              <a:t>Addition, so x</a:t>
            </a:r>
            <a:r>
              <a:rPr lang="en-US" baseline="0" dirty="0"/>
              <a:t> =2</a:t>
            </a:r>
            <a:endParaRPr lang="en-US" baseline="0" dirty="0"/>
          </a:p>
          <a:p>
            <a:endParaRPr lang="en-US" baseline="0" dirty="0"/>
          </a:p>
          <a:p>
            <a:r>
              <a:rPr lang="en-US" baseline="0" dirty="0"/>
              <a:t>Implicit: 0 the division of int is considered int, so it ignores the remainder</a:t>
            </a:r>
            <a:endParaRPr lang="en-US" baseline="0" dirty="0"/>
          </a:p>
          <a:p>
            <a:r>
              <a:rPr lang="en-US" baseline="0" dirty="0"/>
              <a:t>Explicit: 0.6, as one of the values is casted to float</a:t>
            </a:r>
            <a:endParaRPr lang="en-US" baseline="0" dirty="0"/>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Implicite : </a:t>
            </a:r>
            <a:endParaRPr lang="en-US" dirty="0"/>
          </a:p>
          <a:p>
            <a:r>
              <a:rPr lang="en-US" dirty="0" smtClean="0"/>
              <a:t>1.5+1.6 = 3.1 </a:t>
            </a:r>
            <a:r>
              <a:rPr lang="en-US" dirty="0" smtClean="0">
                <a:sym typeface="Wingdings" panose="05000000000000000000"/>
              </a:rPr>
              <a:t> converti par troncature (int inférieur) en 3 </a:t>
            </a:r>
            <a:endParaRPr lang="en-US" dirty="0">
              <a:sym typeface="Wingdings" panose="05000000000000000000"/>
            </a:endParaRPr>
          </a:p>
          <a:p>
            <a:endParaRPr lang="en-US" dirty="0">
              <a:sym typeface="Wingdings" panose="05000000000000000000"/>
            </a:endParaRPr>
          </a:p>
          <a:p>
            <a:r>
              <a:rPr lang="en-US" dirty="0" err="1" smtClean="0"/>
              <a:t>Explicite</a:t>
            </a:r>
            <a:r>
              <a:rPr lang="en-US" dirty="0" smtClean="0"/>
              <a:t> :</a:t>
            </a:r>
            <a:endParaRPr lang="en-US" dirty="0"/>
          </a:p>
          <a:p>
            <a:r>
              <a:rPr lang="en-US" dirty="0"/>
              <a:t>1.5 </a:t>
            </a:r>
            <a:r>
              <a:rPr lang="en-US" dirty="0">
                <a:sym typeface="Wingdings" panose="05000000000000000000"/>
              </a:rPr>
              <a:t> casting</a:t>
            </a:r>
            <a:r>
              <a:rPr lang="en-US" baseline="0" dirty="0">
                <a:sym typeface="Wingdings" panose="05000000000000000000"/>
              </a:rPr>
              <a:t> </a:t>
            </a:r>
            <a:r>
              <a:rPr lang="en-US" baseline="0" dirty="0" smtClean="0">
                <a:sym typeface="Wingdings" panose="05000000000000000000"/>
              </a:rPr>
              <a:t>converti en </a:t>
            </a:r>
            <a:r>
              <a:rPr lang="en-US" baseline="0" dirty="0">
                <a:sym typeface="Wingdings" panose="05000000000000000000"/>
              </a:rPr>
              <a:t>1</a:t>
            </a:r>
            <a:endParaRPr lang="en-US" baseline="0" dirty="0">
              <a:sym typeface="Wingdings" panose="05000000000000000000"/>
            </a:endParaRPr>
          </a:p>
          <a:p>
            <a:r>
              <a:rPr lang="en-US" baseline="0" dirty="0">
                <a:sym typeface="Wingdings" panose="05000000000000000000"/>
              </a:rPr>
              <a:t>1.6  casting </a:t>
            </a:r>
            <a:r>
              <a:rPr lang="en-US" baseline="0" dirty="0" smtClean="0">
                <a:sym typeface="Wingdings" panose="05000000000000000000"/>
              </a:rPr>
              <a:t>converti en </a:t>
            </a:r>
            <a:r>
              <a:rPr lang="en-US" baseline="0" dirty="0">
                <a:sym typeface="Wingdings" panose="05000000000000000000"/>
              </a:rPr>
              <a:t>1</a:t>
            </a:r>
            <a:endParaRPr lang="en-US" baseline="0" dirty="0">
              <a:sym typeface="Wingdings" panose="05000000000000000000"/>
            </a:endParaRPr>
          </a:p>
          <a:p>
            <a:r>
              <a:rPr lang="en-US" dirty="0"/>
              <a:t>Addition, </a:t>
            </a:r>
            <a:r>
              <a:rPr lang="en-US" dirty="0" smtClean="0"/>
              <a:t>donc </a:t>
            </a:r>
            <a:r>
              <a:rPr lang="en-US" dirty="0"/>
              <a:t>x</a:t>
            </a:r>
            <a:r>
              <a:rPr lang="en-US" baseline="0" dirty="0"/>
              <a:t> =2</a:t>
            </a:r>
            <a:endParaRPr lang="en-US" baseline="0" dirty="0"/>
          </a:p>
          <a:p>
            <a:endParaRPr lang="en-US" baseline="0" dirty="0"/>
          </a:p>
          <a:p>
            <a:r>
              <a:rPr lang="en-US" baseline="0" dirty="0" smtClean="0"/>
              <a:t>Implicite : </a:t>
            </a:r>
            <a:r>
              <a:rPr lang="en-US" baseline="0" dirty="0"/>
              <a:t>0 </a:t>
            </a:r>
            <a:r>
              <a:rPr lang="en-US" baseline="0" dirty="0" smtClean="0"/>
              <a:t>la division de </a:t>
            </a:r>
            <a:r>
              <a:rPr lang="en-US" baseline="0" dirty="0"/>
              <a:t>int </a:t>
            </a:r>
            <a:r>
              <a:rPr lang="en-US" baseline="0" dirty="0" err="1" smtClean="0"/>
              <a:t>entiers</a:t>
            </a:r>
            <a:r>
              <a:rPr lang="en-US" baseline="0" dirty="0" smtClean="0"/>
              <a:t>) est considérée </a:t>
            </a:r>
            <a:r>
              <a:rPr lang="en-US" baseline="0" dirty="0" err="1" smtClean="0"/>
              <a:t>comme</a:t>
            </a:r>
            <a:r>
              <a:rPr lang="en-US" baseline="0" dirty="0" smtClean="0"/>
              <a:t> entire (int), donc </a:t>
            </a:r>
            <a:r>
              <a:rPr lang="en-US" baseline="0" dirty="0" err="1" smtClean="0"/>
              <a:t>elle</a:t>
            </a:r>
            <a:r>
              <a:rPr lang="en-US" baseline="0" dirty="0" smtClean="0"/>
              <a:t> ignore le </a:t>
            </a:r>
            <a:r>
              <a:rPr lang="en-US" baseline="0" dirty="0" err="1" smtClean="0"/>
              <a:t>reste</a:t>
            </a:r>
            <a:endParaRPr lang="en-US" baseline="0" dirty="0"/>
          </a:p>
          <a:p>
            <a:r>
              <a:rPr lang="en-US" baseline="0" dirty="0" err="1" smtClean="0"/>
              <a:t>Explicite</a:t>
            </a:r>
            <a:r>
              <a:rPr lang="en-US" baseline="0" dirty="0" smtClean="0"/>
              <a:t> : </a:t>
            </a:r>
            <a:r>
              <a:rPr lang="en-US" baseline="0" dirty="0"/>
              <a:t>0.6, </a:t>
            </a:r>
            <a:r>
              <a:rPr lang="en-US" baseline="0" dirty="0" smtClean="0"/>
              <a:t>car </a:t>
            </a:r>
            <a:r>
              <a:rPr lang="en-US" baseline="0" dirty="0" err="1" smtClean="0"/>
              <a:t>l’une</a:t>
            </a:r>
            <a:r>
              <a:rPr lang="en-US" baseline="0" dirty="0" smtClean="0"/>
              <a:t> des </a:t>
            </a:r>
            <a:r>
              <a:rPr lang="en-US" baseline="0" dirty="0" err="1" smtClean="0"/>
              <a:t>valeurs</a:t>
            </a:r>
            <a:r>
              <a:rPr lang="en-US" baseline="0" dirty="0" smtClean="0"/>
              <a:t> est </a:t>
            </a:r>
            <a:r>
              <a:rPr lang="en-US" baseline="0" dirty="0" err="1" smtClean="0"/>
              <a:t>convertie</a:t>
            </a:r>
            <a:r>
              <a:rPr lang="en-US" baseline="0" dirty="0" smtClean="0"/>
              <a:t> en reel (float)</a:t>
            </a:r>
            <a:endParaRPr lang="en-US" baseline="0" dirty="0"/>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Unsigned char a = -1</a:t>
            </a:r>
            <a:endParaRPr lang="en-US" dirty="0"/>
          </a:p>
          <a:p>
            <a:r>
              <a:rPr lang="en-US" dirty="0"/>
              <a:t>Promote: Int 0xFFFF FFFF </a:t>
            </a:r>
            <a:endParaRPr lang="en-US" dirty="0"/>
          </a:p>
          <a:p>
            <a:r>
              <a:rPr lang="en-US" dirty="0"/>
              <a:t>Demote: 0xFF</a:t>
            </a:r>
            <a:endParaRPr lang="en-US" dirty="0"/>
          </a:p>
          <a:p>
            <a:r>
              <a:rPr lang="en-US" dirty="0"/>
              <a:t>A= -1 + </a:t>
            </a:r>
            <a:r>
              <a:rPr lang="fr-FR" dirty="0" smtClean="0"/>
              <a:t>nombre maximum pouvant être représenté + 1 (modulo N bits pour représenter le type) </a:t>
            </a:r>
            <a:r>
              <a:rPr lang="en-US" dirty="0" smtClean="0"/>
              <a:t>A</a:t>
            </a:r>
            <a:r>
              <a:rPr lang="en-US" dirty="0"/>
              <a:t>= -1 + 15 +1 = 15 (FF)</a:t>
            </a:r>
            <a:endParaRPr lang="en-US" dirty="0"/>
          </a:p>
          <a:p>
            <a:endParaRPr lang="en-US" dirty="0"/>
          </a:p>
          <a:p>
            <a:endParaRPr lang="en-US" baseline="0" dirty="0">
              <a:sym typeface="Wingdings" panose="05000000000000000000"/>
            </a:endParaRPr>
          </a:p>
          <a:p>
            <a:pPr marL="228600" indent="-228600">
              <a:buAutoNum type="arabicParenR"/>
            </a:pPr>
            <a:r>
              <a:rPr lang="fr-FR" dirty="0" smtClean="0"/>
              <a:t>Les utilisateurs malveillants peuvent souvent spécifier des entiers négatifs par le biais de diverses interfaces de programme et miner la logique d'une application. </a:t>
            </a:r>
            <a:endParaRPr lang="fr-FR" dirty="0" smtClean="0"/>
          </a:p>
          <a:p>
            <a:pPr marL="228600" indent="-228600">
              <a:buAutoNum type="arabicParenR"/>
            </a:pPr>
            <a:endParaRPr lang="fr-FR" dirty="0" smtClean="0"/>
          </a:p>
          <a:p>
            <a:pPr marL="228600" indent="-228600">
              <a:buAutoNum type="arabicParenR"/>
            </a:pPr>
            <a:r>
              <a:rPr lang="fr-FR" dirty="0" err="1" smtClean="0"/>
              <a:t>While</a:t>
            </a:r>
            <a:r>
              <a:rPr lang="fr-FR" dirty="0" smtClean="0"/>
              <a:t> (</a:t>
            </a:r>
            <a:r>
              <a:rPr lang="fr-FR" dirty="0" err="1" smtClean="0"/>
              <a:t>length</a:t>
            </a:r>
            <a:r>
              <a:rPr lang="fr-FR" dirty="0" smtClean="0"/>
              <a:t> --) fait </a:t>
            </a:r>
            <a:r>
              <a:rPr lang="fr-FR" dirty="0" err="1" smtClean="0"/>
              <a:t>qqch</a:t>
            </a:r>
            <a:r>
              <a:rPr lang="fr-FR" dirty="0" smtClean="0"/>
              <a:t> et vous passez une longueur non signée et pendant l'appel de la fonction cela devient un nombre très positif ! Vérifiez si l'argument passé est &gt;</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TRONCATION :</a:t>
            </a:r>
            <a:endParaRPr lang="en-US" dirty="0"/>
          </a:p>
          <a:p>
            <a:r>
              <a:rPr lang="en-US" dirty="0"/>
              <a:t>The 16</a:t>
            </a:r>
            <a:r>
              <a:rPr lang="en-US" baseline="0" dirty="0"/>
              <a:t> MSD of f are truncated </a:t>
            </a:r>
            <a:r>
              <a:rPr lang="en-US" baseline="0" dirty="0">
                <a:sym typeface="Wingdings" panose="05000000000000000000"/>
              </a:rPr>
              <a:t> g = 0x5678</a:t>
            </a:r>
            <a:endParaRPr lang="en-US" baseline="0" dirty="0">
              <a:sym typeface="Wingdings" panose="05000000000000000000"/>
            </a:endParaRPr>
          </a:p>
          <a:p>
            <a:endParaRPr lang="en-US" baseline="0" dirty="0">
              <a:sym typeface="Wingdings" panose="05000000000000000000"/>
            </a:endParaRPr>
          </a:p>
          <a:p>
            <a:pPr marL="228600" indent="-228600">
              <a:buAutoNum type="arabicParenR"/>
            </a:pPr>
            <a:r>
              <a:rPr lang="fr-FR" dirty="0" smtClean="0"/>
              <a:t>Les utilisateurs malveillants peuvent souvent spécifier des nombres entiers négatifs par le biais de diverses interfaces de programme et miner la logique d'une application. </a:t>
            </a:r>
            <a:endParaRPr lang="fr-FR" dirty="0" smtClean="0"/>
          </a:p>
          <a:p>
            <a:pPr marL="0" indent="0">
              <a:buNone/>
            </a:pPr>
            <a:endParaRPr lang="en-US" dirty="0"/>
          </a:p>
          <a:p>
            <a:pPr marL="0" indent="0">
              <a:buNone/>
            </a:pPr>
            <a:r>
              <a:rPr lang="fr-FR" dirty="0" smtClean="0"/>
              <a:t>2) </a:t>
            </a:r>
            <a:r>
              <a:rPr lang="fr-FR" dirty="0" err="1" smtClean="0"/>
              <a:t>While</a:t>
            </a:r>
            <a:r>
              <a:rPr lang="fr-FR" dirty="0" smtClean="0"/>
              <a:t> (</a:t>
            </a:r>
            <a:r>
              <a:rPr lang="fr-FR" dirty="0" err="1" smtClean="0"/>
              <a:t>length</a:t>
            </a:r>
            <a:r>
              <a:rPr lang="fr-FR" dirty="0" smtClean="0"/>
              <a:t> --) fait </a:t>
            </a:r>
            <a:r>
              <a:rPr lang="fr-FR" dirty="0" err="1" smtClean="0"/>
              <a:t>qqch</a:t>
            </a:r>
            <a:r>
              <a:rPr lang="fr-FR" dirty="0" smtClean="0"/>
              <a:t> et vous passez une longueur non signée et pendant l'appel de la fonction cela devient un nombre très positif ! Vérifier si l'argument passé est &gt;</a:t>
            </a:r>
            <a:endParaRPr lang="en-US" baseline="0" dirty="0"/>
          </a:p>
          <a:p>
            <a:pPr algn="l"/>
            <a:endParaRPr lang="en-GB" sz="1200" b="1" dirty="0">
              <a:latin typeface="Courier"/>
              <a:cs typeface="Courier"/>
            </a:endParaRPr>
          </a:p>
          <a:p>
            <a:pPr algn="l"/>
            <a:r>
              <a:rPr lang="en-GB" sz="1200" b="1" dirty="0">
                <a:latin typeface="Courier"/>
                <a:cs typeface="Courier"/>
              </a:rPr>
              <a:t>Execute CONVERSION 2</a:t>
            </a:r>
            <a:endParaRPr lang="en-GB" sz="1200" b="1" dirty="0">
              <a:latin typeface="Courier"/>
              <a:cs typeface="Courier"/>
            </a:endParaRPr>
          </a:p>
          <a:p>
            <a:pPr algn="l"/>
            <a:r>
              <a:rPr lang="en-GB" sz="1200" b="1" dirty="0">
                <a:latin typeface="Courier"/>
                <a:cs typeface="Courier"/>
              </a:rPr>
              <a:t>Unsigned SHORT </a:t>
            </a:r>
            <a:r>
              <a:rPr lang="en-GB" sz="1200" b="1" dirty="0">
                <a:latin typeface="Courier"/>
                <a:cs typeface="Courier"/>
                <a:sym typeface="Wingdings" panose="05000000000000000000" pitchFamily="2" charset="2"/>
              </a:rPr>
              <a:t> int</a:t>
            </a:r>
            <a:endParaRPr lang="en-GB" sz="1200" b="1" dirty="0">
              <a:latin typeface="Courier"/>
              <a:cs typeface="Courier"/>
            </a:endParaRPr>
          </a:p>
          <a:p>
            <a:pPr algn="l"/>
            <a:r>
              <a:rPr lang="en-GB" sz="1200" b="1" dirty="0">
                <a:latin typeface="Courier"/>
                <a:cs typeface="Courier"/>
              </a:rPr>
              <a:t>(</a:t>
            </a:r>
            <a:r>
              <a:rPr lang="en-GB" sz="1200" b="1" dirty="0" err="1">
                <a:latin typeface="Courier"/>
                <a:cs typeface="Courier"/>
              </a:rPr>
              <a:t>uc</a:t>
            </a:r>
            <a:r>
              <a:rPr lang="en-GB" sz="1200" b="1" dirty="0">
                <a:latin typeface="Courier"/>
                <a:cs typeface="Courier"/>
              </a:rPr>
              <a:t> &gt; -1 )</a:t>
            </a:r>
            <a:endParaRPr lang="en-GB" sz="1200" b="1" dirty="0">
              <a:latin typeface="Courier"/>
              <a:cs typeface="Courier"/>
            </a:endParaRPr>
          </a:p>
          <a:p>
            <a:pPr algn="l"/>
            <a:r>
              <a:rPr lang="en-GB" sz="1200" b="1" dirty="0">
                <a:latin typeface="Courier"/>
                <a:cs typeface="Courier"/>
              </a:rPr>
              <a:t>(int 0x0000 0000 &gt; -1)</a:t>
            </a:r>
            <a:endParaRPr lang="en-GB" sz="1200" b="1" dirty="0">
              <a:latin typeface="Courier"/>
              <a:cs typeface="Courier"/>
            </a:endParaRPr>
          </a:p>
          <a:p>
            <a:pPr algn="l"/>
            <a:r>
              <a:rPr lang="en-GB" sz="1200" b="1" dirty="0">
                <a:latin typeface="Courier"/>
                <a:cs typeface="Courier"/>
              </a:rPr>
              <a:t>TRUE</a:t>
            </a:r>
            <a:endParaRPr lang="en-GB" sz="1200" b="1" dirty="0">
              <a:latin typeface="Courier"/>
              <a:cs typeface="Courier"/>
            </a:endParaRPr>
          </a:p>
          <a:p>
            <a:pPr algn="l"/>
            <a:endParaRPr lang="en-GB" sz="1200" b="1" dirty="0">
              <a:latin typeface="Courier"/>
              <a:cs typeface="Courier"/>
            </a:endParaRPr>
          </a:p>
          <a:p>
            <a:pPr algn="l"/>
            <a:r>
              <a:rPr lang="en-GB" sz="1200" b="1" dirty="0">
                <a:latin typeface="Courier"/>
                <a:cs typeface="Courier"/>
              </a:rPr>
              <a:t>INTEGERS</a:t>
            </a:r>
            <a:endParaRPr lang="en-GB" sz="1200" b="1" dirty="0">
              <a:latin typeface="Courier"/>
              <a:cs typeface="Courier"/>
            </a:endParaRPr>
          </a:p>
          <a:p>
            <a:pPr algn="l"/>
            <a:r>
              <a:rPr lang="en-GB" sz="1200" b="1" dirty="0">
                <a:latin typeface="Courier"/>
                <a:cs typeface="Courier"/>
              </a:rPr>
              <a:t>(</a:t>
            </a:r>
            <a:r>
              <a:rPr lang="en-GB" sz="1200" b="1" dirty="0" err="1">
                <a:latin typeface="Courier"/>
                <a:cs typeface="Courier"/>
              </a:rPr>
              <a:t>ui</a:t>
            </a:r>
            <a:r>
              <a:rPr lang="en-GB" sz="1200" b="1" dirty="0">
                <a:latin typeface="Courier"/>
                <a:cs typeface="Courier"/>
              </a:rPr>
              <a:t> &gt; -1 )</a:t>
            </a:r>
            <a:endParaRPr lang="en-GB" sz="1200" b="1" dirty="0">
              <a:latin typeface="Courier"/>
              <a:cs typeface="Courier"/>
            </a:endParaRPr>
          </a:p>
          <a:p>
            <a:pPr algn="l"/>
            <a:r>
              <a:rPr lang="en-GB" sz="1200" b="1" dirty="0">
                <a:latin typeface="Courier"/>
                <a:cs typeface="Courier"/>
              </a:rPr>
              <a:t>(</a:t>
            </a:r>
            <a:r>
              <a:rPr lang="en-GB" sz="1200" b="1" dirty="0" err="1">
                <a:latin typeface="Courier"/>
                <a:cs typeface="Courier"/>
              </a:rPr>
              <a:t>ui</a:t>
            </a:r>
            <a:r>
              <a:rPr lang="en-GB" sz="1200" b="1" dirty="0">
                <a:latin typeface="Courier"/>
                <a:cs typeface="Courier"/>
              </a:rPr>
              <a:t> &gt; unsigned int (-1))</a:t>
            </a:r>
            <a:endParaRPr lang="en-GB" sz="1200" b="1" dirty="0">
              <a:latin typeface="Courier"/>
              <a:cs typeface="Courier"/>
            </a:endParaRPr>
          </a:p>
          <a:p>
            <a:pPr algn="l"/>
            <a:r>
              <a:rPr lang="en-GB" sz="1200" b="1" dirty="0">
                <a:latin typeface="Courier"/>
                <a:cs typeface="Courier"/>
              </a:rPr>
              <a:t>(</a:t>
            </a:r>
            <a:r>
              <a:rPr lang="en-GB" sz="1200" b="1" dirty="0" err="1">
                <a:latin typeface="Courier"/>
                <a:cs typeface="Courier"/>
              </a:rPr>
              <a:t>ui</a:t>
            </a:r>
            <a:r>
              <a:rPr lang="en-GB" sz="1200" b="1" dirty="0">
                <a:latin typeface="Courier"/>
                <a:cs typeface="Courier"/>
              </a:rPr>
              <a:t> &gt; 0xFFFF FFFF)</a:t>
            </a:r>
            <a:endParaRPr lang="en-GB" sz="1200" b="1" dirty="0">
              <a:latin typeface="Courier"/>
              <a:cs typeface="Courier"/>
            </a:endParaRPr>
          </a:p>
          <a:p>
            <a:pPr algn="l"/>
            <a:r>
              <a:rPr lang="en-GB" sz="1200" kern="1200" dirty="0">
                <a:solidFill>
                  <a:schemeClr val="tx1"/>
                </a:solidFill>
                <a:latin typeface="Times New Roman" panose="02020603050405020304" charset="0"/>
                <a:ea typeface="MS PGothic" panose="020B0600070205080204" charset="-128"/>
                <a:cs typeface="Courier"/>
              </a:rPr>
              <a:t>Result: False = 0</a:t>
            </a:r>
            <a:endParaRPr lang="en-GB" sz="1200" kern="1200" dirty="0">
              <a:solidFill>
                <a:schemeClr val="tx1"/>
              </a:solidFill>
              <a:latin typeface="Times New Roman" panose="02020603050405020304" charset="0"/>
              <a:ea typeface="MS PGothic" panose="020B0600070205080204" charset="-128"/>
              <a:cs typeface="Courier"/>
            </a:endParaRPr>
          </a:p>
          <a:p>
            <a:pPr marL="228600" indent="-228600">
              <a:buAutoNum type="arabicParenR"/>
            </a:pP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smtClean="0"/>
              <a:t>Static</a:t>
            </a:r>
            <a:r>
              <a:rPr lang="fr-FR" dirty="0" smtClean="0"/>
              <a:t> est un mot-clé utilisé dans le langage de programmation C. Il peut être utilisé avec les variables et les fonctions. Il peut être utilisé à la fois avec les variables et les fonctions, c'est-à-dire que nous pouvons déclarer une variable statique et une fonction statique également. Une variable ordinaire est limitée à la portée dans laquelle elle est définie, tandis que la portée de la variable statique est dans tout le programme. Initialisée UNE FOIS</a:t>
            </a:r>
            <a:br>
              <a:rPr lang="fr-FR" dirty="0" smtClean="0"/>
            </a:br>
            <a:br>
              <a:rPr lang="fr-FR" dirty="0" smtClean="0"/>
            </a:br>
            <a:r>
              <a:rPr lang="en-GB" dirty="0" smtClean="0"/>
              <a:t>#</a:t>
            </a:r>
            <a:r>
              <a:rPr lang="en-GB" dirty="0"/>
              <a:t>include&lt;</a:t>
            </a:r>
            <a:r>
              <a:rPr lang="en-GB" dirty="0" err="1"/>
              <a:t>stdio.h</a:t>
            </a:r>
            <a:r>
              <a:rPr lang="en-GB" dirty="0"/>
              <a:t>&gt;</a:t>
            </a:r>
            <a:endParaRPr lang="en-GB" dirty="0"/>
          </a:p>
          <a:p>
            <a:r>
              <a:rPr lang="en-GB" dirty="0"/>
              <a:t>int fun()</a:t>
            </a:r>
            <a:endParaRPr lang="en-GB" dirty="0"/>
          </a:p>
          <a:p>
            <a:r>
              <a:rPr lang="en-GB" dirty="0"/>
              <a:t>{</a:t>
            </a:r>
            <a:endParaRPr lang="en-GB" dirty="0"/>
          </a:p>
          <a:p>
            <a:r>
              <a:rPr lang="en-GB" dirty="0"/>
              <a:t>  static int count = 0;</a:t>
            </a:r>
            <a:endParaRPr lang="en-GB" dirty="0"/>
          </a:p>
          <a:p>
            <a:r>
              <a:rPr lang="en-GB" dirty="0"/>
              <a:t>  count++;</a:t>
            </a:r>
            <a:endParaRPr lang="en-GB" dirty="0"/>
          </a:p>
          <a:p>
            <a:r>
              <a:rPr lang="en-GB" dirty="0"/>
              <a:t>  return count;</a:t>
            </a:r>
            <a:endParaRPr lang="en-GB" dirty="0"/>
          </a:p>
          <a:p>
            <a:r>
              <a:rPr lang="en-GB" dirty="0"/>
              <a:t>}</a:t>
            </a:r>
            <a:endParaRPr lang="en-GB" dirty="0"/>
          </a:p>
          <a:p>
            <a:r>
              <a:rPr lang="en-GB" dirty="0"/>
              <a:t>  </a:t>
            </a:r>
            <a:endParaRPr lang="en-GB" dirty="0"/>
          </a:p>
          <a:p>
            <a:r>
              <a:rPr lang="en-GB" dirty="0"/>
              <a:t>int main()</a:t>
            </a:r>
            <a:endParaRPr lang="en-GB" dirty="0"/>
          </a:p>
          <a:p>
            <a:r>
              <a:rPr lang="en-GB" dirty="0"/>
              <a:t>{</a:t>
            </a:r>
            <a:endParaRPr lang="en-GB" dirty="0"/>
          </a:p>
          <a:p>
            <a:r>
              <a:rPr lang="en-GB" dirty="0"/>
              <a:t>  </a:t>
            </a:r>
            <a:r>
              <a:rPr lang="en-GB" dirty="0" err="1"/>
              <a:t>printf</a:t>
            </a:r>
            <a:r>
              <a:rPr lang="en-GB" dirty="0"/>
              <a:t>("%d ", fun());</a:t>
            </a:r>
            <a:endParaRPr lang="en-GB" dirty="0"/>
          </a:p>
          <a:p>
            <a:r>
              <a:rPr lang="en-GB" dirty="0"/>
              <a:t>  </a:t>
            </a:r>
            <a:r>
              <a:rPr lang="en-GB" dirty="0" err="1"/>
              <a:t>printf</a:t>
            </a:r>
            <a:r>
              <a:rPr lang="en-GB" dirty="0"/>
              <a:t>("%d ", fun());</a:t>
            </a:r>
            <a:endParaRPr lang="en-GB" dirty="0"/>
          </a:p>
          <a:p>
            <a:r>
              <a:rPr lang="en-GB" dirty="0"/>
              <a:t>  return 0;</a:t>
            </a:r>
            <a:endParaRPr lang="en-GB" dirty="0"/>
          </a:p>
          <a:p>
            <a:r>
              <a:rPr lang="en-GB" dirty="0"/>
              <a:t>}</a:t>
            </a:r>
            <a:endParaRPr lang="en-GB" dirty="0"/>
          </a:p>
          <a:p>
            <a:endParaRPr lang="x-none" dirty="0"/>
          </a:p>
        </p:txBody>
      </p:sp>
      <p:sp>
        <p:nvSpPr>
          <p:cNvPr id="4" name="Slide Number Placeholder 3"/>
          <p:cNvSpPr>
            <a:spLocks noGrp="1"/>
          </p:cNvSpPr>
          <p:nvPr>
            <p:ph type="sldNum" sz="quarter" idx="5"/>
          </p:nvPr>
        </p:nvSpPr>
        <p:spPr/>
        <p:txBody>
          <a:bodyPr/>
          <a:lstStyle/>
          <a:p>
            <a:fld id="{B4E1F8BA-42AC-4F4D-A3C8-1DE9704DC2C9}" type="slidenum">
              <a:rPr lang="fr-FR" smtClean="0"/>
            </a:fld>
            <a:endParaRPr lang="fr-F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Avertissement du compilateur, langage faible</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TRUNCATION:</a:t>
            </a:r>
            <a:endParaRPr lang="en-US" dirty="0"/>
          </a:p>
          <a:p>
            <a:r>
              <a:rPr lang="en-US" dirty="0"/>
              <a:t>The 16</a:t>
            </a:r>
            <a:r>
              <a:rPr lang="en-US" baseline="0" dirty="0"/>
              <a:t> MSD of f are truncated </a:t>
            </a:r>
            <a:r>
              <a:rPr lang="en-US" baseline="0" dirty="0">
                <a:sym typeface="Wingdings" panose="05000000000000000000"/>
              </a:rPr>
              <a:t> g = 0x5678</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type is converted to the same type </a:t>
            </a:r>
            <a:r>
              <a:rPr lang="en-US" dirty="0">
                <a:sym typeface="Wingdings" panose="05000000000000000000"/>
              </a:rPr>
              <a:t> The higher size!</a:t>
            </a:r>
            <a:endParaRPr lang="en-US" dirty="0">
              <a:sym typeface="Wingdings" panose="05000000000000000000"/>
            </a:endParaRPr>
          </a:p>
          <a:p>
            <a:endParaRPr lang="en-US" dirty="0">
              <a:sym typeface="Wingdings" panose="05000000000000000000"/>
            </a:endParaRPr>
          </a:p>
          <a:p>
            <a:r>
              <a:rPr lang="en-US" dirty="0">
                <a:sym typeface="Wingdings" panose="05000000000000000000"/>
              </a:rPr>
              <a:t>-- Small integers are always converted to INT</a:t>
            </a:r>
            <a:endParaRPr lang="en-US" dirty="0">
              <a:sym typeface="Wingdings" panose="05000000000000000000"/>
            </a:endParaRPr>
          </a:p>
          <a:p>
            <a:r>
              <a:rPr lang="en-US" dirty="0">
                <a:sym typeface="Wingdings" panose="05000000000000000000"/>
              </a:rPr>
              <a:t>-5 </a:t>
            </a:r>
            <a:r>
              <a:rPr lang="en-US" dirty="0">
                <a:sym typeface="Wingdings" panose="05000000000000000000" pitchFamily="2" charset="2"/>
              </a:rPr>
              <a:t></a:t>
            </a:r>
            <a:r>
              <a:rPr lang="en-US" dirty="0">
                <a:sym typeface="Wingdings" panose="05000000000000000000"/>
              </a:rPr>
              <a:t> 1111 1011 (2s complement)</a:t>
            </a:r>
            <a:endParaRPr lang="en-US" dirty="0">
              <a:sym typeface="Wingdings" panose="05000000000000000000"/>
            </a:endParaRPr>
          </a:p>
          <a:p>
            <a:r>
              <a:rPr lang="en-US" dirty="0">
                <a:sym typeface="Wingdings" panose="05000000000000000000"/>
              </a:rPr>
              <a:t>A = 0xFB</a:t>
            </a:r>
            <a:endParaRPr lang="en-US" dirty="0">
              <a:sym typeface="Wingdings" panose="05000000000000000000"/>
            </a:endParaRPr>
          </a:p>
          <a:p>
            <a:r>
              <a:rPr lang="en-US" dirty="0">
                <a:sym typeface="Wingdings" panose="05000000000000000000"/>
              </a:rPr>
              <a:t>B = 0xFB</a:t>
            </a:r>
            <a:endParaRPr lang="en-US" dirty="0">
              <a:sym typeface="Wingdings" panose="05000000000000000000"/>
            </a:endParaRPr>
          </a:p>
          <a:p>
            <a:r>
              <a:rPr lang="en-US" dirty="0">
                <a:sym typeface="Wingdings" panose="05000000000000000000"/>
              </a:rPr>
              <a:t>INTEGERS</a:t>
            </a:r>
            <a:endParaRPr lang="en-US" dirty="0">
              <a:sym typeface="Wingdings" panose="05000000000000000000"/>
            </a:endParaRPr>
          </a:p>
          <a:p>
            <a:r>
              <a:rPr lang="en-US" dirty="0">
                <a:sym typeface="Wingdings" panose="05000000000000000000"/>
              </a:rPr>
              <a:t>A=0xFFFF FFFB</a:t>
            </a:r>
            <a:endParaRPr lang="en-US" dirty="0">
              <a:sym typeface="Wingdings" panose="05000000000000000000"/>
            </a:endParaRPr>
          </a:p>
          <a:p>
            <a:r>
              <a:rPr lang="en-US" dirty="0">
                <a:sym typeface="Wingdings" panose="05000000000000000000"/>
              </a:rPr>
              <a:t>B=0x0000 00FB</a:t>
            </a:r>
            <a:endParaRPr lang="en-US" dirty="0">
              <a:sym typeface="Wingdings" panose="05000000000000000000"/>
            </a:endParaRPr>
          </a:p>
          <a:p>
            <a:endParaRPr lang="en-US" dirty="0">
              <a:sym typeface="Wingdings" panose="05000000000000000000"/>
            </a:endParaRPr>
          </a:p>
          <a:p>
            <a:r>
              <a:rPr lang="en-US" dirty="0">
                <a:sym typeface="Wingdings" panose="05000000000000000000"/>
              </a:rPr>
              <a:t>-- Signed integers will be converted to unsigned INT (larger)</a:t>
            </a:r>
            <a:endParaRPr lang="en-US" dirty="0">
              <a:sym typeface="Wingdings" panose="05000000000000000000"/>
            </a:endParaRPr>
          </a:p>
          <a:p>
            <a:r>
              <a:rPr lang="en-US" dirty="0">
                <a:sym typeface="Wingdings" panose="05000000000000000000"/>
              </a:rPr>
              <a:t>-5 </a:t>
            </a:r>
            <a:r>
              <a:rPr lang="en-US" dirty="0">
                <a:sym typeface="Wingdings" panose="05000000000000000000" pitchFamily="2" charset="2"/>
              </a:rPr>
              <a:t></a:t>
            </a:r>
            <a:r>
              <a:rPr lang="en-US" dirty="0">
                <a:sym typeface="Wingdings" panose="05000000000000000000"/>
              </a:rPr>
              <a:t> 1111 1011 (2s complement)</a:t>
            </a:r>
            <a:endParaRPr lang="en-US" dirty="0">
              <a:sym typeface="Wingdings" panose="05000000000000000000"/>
            </a:endParaRPr>
          </a:p>
          <a:p>
            <a:r>
              <a:rPr lang="en-US" dirty="0">
                <a:sym typeface="Wingdings" panose="05000000000000000000"/>
              </a:rPr>
              <a:t>A = FFFF FFFB</a:t>
            </a:r>
            <a:endParaRPr lang="en-US" dirty="0">
              <a:sym typeface="Wingdings" panose="05000000000000000000"/>
            </a:endParaRPr>
          </a:p>
          <a:p>
            <a:r>
              <a:rPr lang="en-US" dirty="0">
                <a:sym typeface="Wingdings" panose="05000000000000000000"/>
              </a:rPr>
              <a:t>B = FFFF FFFB</a:t>
            </a:r>
            <a:endParaRPr lang="en-US" dirty="0">
              <a:sym typeface="Wingdings" panose="05000000000000000000"/>
            </a:endParaRPr>
          </a:p>
          <a:p>
            <a:r>
              <a:rPr lang="en-US" dirty="0">
                <a:sym typeface="Wingdings" panose="05000000000000000000"/>
              </a:rPr>
              <a:t>INT -- &gt; Unsigned so sign is interpreted as 1 so big value</a:t>
            </a:r>
            <a:endParaRPr lang="en-US" dirty="0">
              <a:sym typeface="Wingdings" panose="05000000000000000000"/>
            </a:endParaRPr>
          </a:p>
          <a:p>
            <a:r>
              <a:rPr lang="en-US" dirty="0">
                <a:sym typeface="Wingdings" panose="05000000000000000000"/>
              </a:rPr>
              <a:t>A=0xFFFF FFFB</a:t>
            </a:r>
            <a:endParaRPr lang="en-US" dirty="0">
              <a:sym typeface="Wingdings" panose="05000000000000000000"/>
            </a:endParaRPr>
          </a:p>
          <a:p>
            <a:r>
              <a:rPr lang="en-US" dirty="0">
                <a:sym typeface="Wingdings" panose="05000000000000000000"/>
              </a:rPr>
              <a:t>B=0xFFFF FFFB</a:t>
            </a:r>
            <a:endParaRPr lang="en-US" dirty="0">
              <a:sym typeface="Wingdings" panose="05000000000000000000"/>
            </a:endParaRPr>
          </a:p>
          <a:p>
            <a:endParaRPr lang="en-US" dirty="0">
              <a:sym typeface="Wingdings" panose="05000000000000000000"/>
            </a:endParaRPr>
          </a:p>
          <a:p>
            <a:endParaRPr lang="en-US" dirty="0">
              <a:sym typeface="Wingdings" panose="05000000000000000000"/>
            </a:endParaRPr>
          </a:p>
          <a:p>
            <a:r>
              <a:rPr lang="en-US" dirty="0" err="1">
                <a:sym typeface="Wingdings" panose="05000000000000000000"/>
              </a:rPr>
              <a:t>Ints</a:t>
            </a:r>
            <a:r>
              <a:rPr lang="en-US" dirty="0">
                <a:sym typeface="Wingdings" panose="05000000000000000000"/>
              </a:rPr>
              <a:t> (4B)</a:t>
            </a:r>
            <a:r>
              <a:rPr lang="en-US" baseline="0" dirty="0">
                <a:sym typeface="Wingdings" panose="05000000000000000000"/>
              </a:rPr>
              <a:t> and characters (1B) are promoted to Floats (4B) IMPLICITLY</a:t>
            </a:r>
            <a:endParaRPr lang="en-US" baseline="0" dirty="0">
              <a:sym typeface="Wingdings" panose="05000000000000000000"/>
            </a:endParaRPr>
          </a:p>
          <a:p>
            <a:endParaRPr lang="en-US" baseline="0" dirty="0">
              <a:sym typeface="Wingdings" panose="05000000000000000000"/>
            </a:endParaRPr>
          </a:p>
          <a:p>
            <a:r>
              <a:rPr lang="en-US" baseline="0" dirty="0">
                <a:sym typeface="Wingdings" panose="05000000000000000000"/>
              </a:rPr>
              <a:t>A=65 (</a:t>
            </a:r>
            <a:r>
              <a:rPr lang="en-US" baseline="0" dirty="0" err="1">
                <a:sym typeface="Wingdings" panose="05000000000000000000"/>
              </a:rPr>
              <a:t>dec</a:t>
            </a:r>
            <a:r>
              <a:rPr lang="en-US" baseline="0" dirty="0">
                <a:sym typeface="Wingdings" panose="05000000000000000000"/>
              </a:rPr>
              <a:t>)</a:t>
            </a:r>
            <a:endParaRPr lang="en-US" baseline="0" dirty="0">
              <a:sym typeface="Wingdings" panose="05000000000000000000"/>
            </a:endParaRPr>
          </a:p>
          <a:p>
            <a:r>
              <a:rPr lang="en-US" baseline="0" dirty="0">
                <a:sym typeface="Wingdings" panose="05000000000000000000"/>
              </a:rPr>
              <a:t>B=66 (</a:t>
            </a:r>
            <a:r>
              <a:rPr lang="en-US" baseline="0" dirty="0" err="1">
                <a:sym typeface="Wingdings" panose="05000000000000000000"/>
              </a:rPr>
              <a:t>dec</a:t>
            </a:r>
            <a:r>
              <a:rPr lang="en-US" baseline="0" dirty="0">
                <a:sym typeface="Wingdings" panose="05000000000000000000"/>
              </a:rPr>
              <a:t>)</a:t>
            </a:r>
            <a:endParaRPr lang="en-US" baseline="0" dirty="0">
              <a:sym typeface="Wingdings" panose="05000000000000000000"/>
            </a:endParaRPr>
          </a:p>
          <a:p>
            <a:r>
              <a:rPr lang="en-US" dirty="0"/>
              <a:t>2+12870 = 12872(</a:t>
            </a:r>
            <a:r>
              <a:rPr lang="en-US" dirty="0" err="1"/>
              <a:t>dec</a:t>
            </a:r>
            <a:r>
              <a:rPr lang="en-US" dirty="0"/>
              <a:t>)</a:t>
            </a:r>
            <a:endParaRPr lang="en-US" dirty="0"/>
          </a:p>
          <a:p>
            <a:endParaRPr lang="en-US" dirty="0"/>
          </a:p>
          <a:p>
            <a:r>
              <a:rPr lang="en-US" dirty="0"/>
              <a:t>Now,</a:t>
            </a:r>
            <a:r>
              <a:rPr lang="en-US" baseline="0" dirty="0"/>
              <a:t> the final result is demoted to character (1B) which cannot hold a value more than 255, so 872 </a:t>
            </a:r>
            <a:r>
              <a:rPr lang="en-US" baseline="0" dirty="0">
                <a:sym typeface="Wingdings" panose="05000000000000000000"/>
              </a:rPr>
              <a:t> 72  in character this is H</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lvl1pPr algn="ctr">
              <a:defRPr/>
            </a:lvl1pPr>
          </a:lstStyle>
          <a:p>
            <a:r>
              <a:rPr lang="fr-FR"/>
              <a:t>Modifiez le style du titre</a:t>
            </a:r>
            <a:endParaRPr lang="en-US"/>
          </a:p>
        </p:txBody>
      </p:sp>
      <p:sp>
        <p:nvSpPr>
          <p:cNvPr id="3" name="Sous-titre 2"/>
          <p:cNvSpPr>
            <a:spLocks noGrp="1"/>
          </p:cNvSpPr>
          <p:nvPr>
            <p:ph type="subTitle" idx="1" hasCustomPrompt="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Modifiez le style des sous-titres du masque</a:t>
            </a:r>
            <a:endParaRPr lang="en-US"/>
          </a:p>
        </p:txBody>
      </p:sp>
      <p:sp>
        <p:nvSpPr>
          <p:cNvPr id="4" name="Espace réservé du pied de page 3"/>
          <p:cNvSpPr>
            <a:spLocks noGrp="1"/>
          </p:cNvSpPr>
          <p:nvPr>
            <p:ph type="ftr" sz="quarter" idx="10"/>
          </p:nvPr>
        </p:nvSpPr>
        <p:spPr/>
        <p:txBody>
          <a:bodyPr/>
          <a:lstStyle>
            <a:lvl1pPr>
              <a:defRPr>
                <a:ea typeface="MS PGothic" panose="020B0600070205080204" charset="-128"/>
              </a:defRPr>
            </a:lvl1pPr>
          </a:lstStyle>
          <a:p>
            <a:pPr>
              <a:defRPr/>
            </a:pPr>
            <a:r>
              <a:rPr lang="fr-FR" dirty="0"/>
              <a:t>A. Kritikakou		 L3Info – C/Unix</a:t>
            </a:r>
            <a:endParaRPr lang="fr-FR" dirty="0"/>
          </a:p>
        </p:txBody>
      </p:sp>
      <p:sp>
        <p:nvSpPr>
          <p:cNvPr id="5" name="Espace réservé du numéro de diapositive 4"/>
          <p:cNvSpPr>
            <a:spLocks noGrp="1"/>
          </p:cNvSpPr>
          <p:nvPr>
            <p:ph type="sldNum" sz="quarter" idx="11"/>
          </p:nvPr>
        </p:nvSpPr>
        <p:spPr/>
        <p:txBody>
          <a:bodyPr/>
          <a:lstStyle>
            <a:lvl3pPr lvl="2">
              <a:defRPr/>
            </a:lvl3pPr>
          </a:lstStyle>
          <a:p>
            <a:pPr lvl="2"/>
            <a:fld id="{CA38BD18-D798-534D-9B89-0B66A0BD44A9}" type="slidenum">
              <a:rPr lang="fr-FR"/>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idx="1" hasCustomPrompt="1"/>
          </p:nvPr>
        </p:nvSpPr>
        <p:spPr/>
        <p:txBody>
          <a:body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Espace réservé du pied de page 3"/>
          <p:cNvSpPr>
            <a:spLocks noGrp="1"/>
          </p:cNvSpPr>
          <p:nvPr>
            <p:ph type="ftr" sz="quarter" idx="10"/>
          </p:nvPr>
        </p:nvSpPr>
        <p:spPr/>
        <p:txBody>
          <a:bodyPr/>
          <a:lstStyle>
            <a:lvl1pPr>
              <a:defRPr>
                <a:ea typeface="MS PGothic" panose="020B0600070205080204" charset="-128"/>
              </a:defRPr>
            </a:lvl1pPr>
          </a:lstStyle>
          <a:p>
            <a:pPr>
              <a:defRPr/>
            </a:pPr>
            <a:r>
              <a:rPr lang="fr-FR" dirty="0"/>
              <a:t>A. Kritikakou		 L3Info – C/Unix</a:t>
            </a:r>
            <a:endParaRPr lang="fr-FR" dirty="0"/>
          </a:p>
        </p:txBody>
      </p:sp>
      <p:sp>
        <p:nvSpPr>
          <p:cNvPr id="5" name="Espace réservé du numéro de diapositive 4"/>
          <p:cNvSpPr>
            <a:spLocks noGrp="1"/>
          </p:cNvSpPr>
          <p:nvPr>
            <p:ph type="sldNum" sz="quarter" idx="11"/>
          </p:nvPr>
        </p:nvSpPr>
        <p:spPr/>
        <p:txBody>
          <a:bodyPr/>
          <a:lstStyle>
            <a:lvl3pPr lvl="2">
              <a:defRPr/>
            </a:lvl3pPr>
          </a:lstStyle>
          <a:p>
            <a:pPr lvl="2"/>
            <a:fld id="{28BEB0BA-EEE4-5F45-9179-3BC54B76BCCF}" type="slidenum">
              <a:rPr lang="fr-FR"/>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endParaRPr lang="en-US"/>
          </a:p>
        </p:txBody>
      </p:sp>
      <p:sp>
        <p:nvSpPr>
          <p:cNvPr id="3" name="Espace réservé du texte 2"/>
          <p:cNvSpPr>
            <a:spLocks noGrp="1"/>
          </p:cNvSpPr>
          <p:nvPr>
            <p:ph type="body" idx="1" hasCustomPrompt="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Modifiez les styles du texte du masque</a:t>
            </a:r>
            <a:endParaRPr lang="fr-FR"/>
          </a:p>
        </p:txBody>
      </p:sp>
      <p:sp>
        <p:nvSpPr>
          <p:cNvPr id="4" name="Rectangle 3"/>
          <p:cNvSpPr>
            <a:spLocks noGrp="1" noChangeArrowheads="1"/>
          </p:cNvSpPr>
          <p:nvPr>
            <p:ph type="ftr" sz="quarter" idx="10"/>
          </p:nvPr>
        </p:nvSpPr>
        <p:spPr/>
        <p:txBody>
          <a:bodyPr/>
          <a:lstStyle>
            <a:lvl1pPr>
              <a:defRPr/>
            </a:lvl1pPr>
          </a:lstStyle>
          <a:p>
            <a:pPr>
              <a:defRPr/>
            </a:pPr>
            <a:r>
              <a:rPr lang="fr-FR" dirty="0"/>
              <a:t>A. Kritikakou		 L3Info – C/Unix</a:t>
            </a:r>
            <a:endParaRPr lang="fr-FR" dirty="0"/>
          </a:p>
        </p:txBody>
      </p:sp>
      <p:sp>
        <p:nvSpPr>
          <p:cNvPr id="5" name="Rectangle 4"/>
          <p:cNvSpPr>
            <a:spLocks noGrp="1" noChangeArrowheads="1"/>
          </p:cNvSpPr>
          <p:nvPr>
            <p:ph type="sldNum" sz="quarter" idx="11"/>
          </p:nvPr>
        </p:nvSpPr>
        <p:spPr/>
        <p:txBody>
          <a:bodyPr/>
          <a:lstStyle>
            <a:lvl3pPr lvl="2">
              <a:defRPr/>
            </a:lvl3pPr>
          </a:lstStyle>
          <a:p>
            <a:pPr lvl="2"/>
            <a:fld id="{3E774EF3-E5C1-9947-94FD-7ED4E25DF744}" type="slidenum">
              <a:rPr lang="fr-FR"/>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sz="half" idx="1" hasCustomPrompt="1"/>
          </p:nvPr>
        </p:nvSpPr>
        <p:spPr>
          <a:xfrm>
            <a:off x="457200" y="914400"/>
            <a:ext cx="4054475"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Espace réservé du contenu 3"/>
          <p:cNvSpPr>
            <a:spLocks noGrp="1"/>
          </p:cNvSpPr>
          <p:nvPr>
            <p:ph sz="half" idx="2" hasCustomPrompt="1"/>
          </p:nvPr>
        </p:nvSpPr>
        <p:spPr>
          <a:xfrm>
            <a:off x="4664075" y="914400"/>
            <a:ext cx="4054475"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5" name="Rectangle 3"/>
          <p:cNvSpPr>
            <a:spLocks noGrp="1" noChangeArrowheads="1"/>
          </p:cNvSpPr>
          <p:nvPr>
            <p:ph type="ftr" sz="quarter" idx="10"/>
          </p:nvPr>
        </p:nvSpPr>
        <p:spPr/>
        <p:txBody>
          <a:bodyPr/>
          <a:lstStyle>
            <a:lvl1pPr>
              <a:defRPr/>
            </a:lvl1pPr>
          </a:lstStyle>
          <a:p>
            <a:pPr>
              <a:defRPr/>
            </a:pPr>
            <a:r>
              <a:rPr lang="fr-FR" dirty="0"/>
              <a:t>A. Kritikakou		 L3Info – C/Unix</a:t>
            </a:r>
            <a:endParaRPr lang="fr-FR" dirty="0"/>
          </a:p>
        </p:txBody>
      </p:sp>
      <p:sp>
        <p:nvSpPr>
          <p:cNvPr id="6" name="Rectangle 4"/>
          <p:cNvSpPr>
            <a:spLocks noGrp="1" noChangeArrowheads="1"/>
          </p:cNvSpPr>
          <p:nvPr>
            <p:ph type="sldNum" sz="quarter" idx="11"/>
          </p:nvPr>
        </p:nvSpPr>
        <p:spPr/>
        <p:txBody>
          <a:bodyPr/>
          <a:lstStyle>
            <a:lvl3pPr lvl="2">
              <a:defRPr/>
            </a:lvl3pPr>
          </a:lstStyle>
          <a:p>
            <a:pPr lvl="2"/>
            <a:fld id="{C42D0CE1-2123-814B-AF4A-593A8946C394}" type="slidenum">
              <a:rPr lang="fr-FR"/>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Modifiez le style du titre</a:t>
            </a:r>
            <a:endParaRPr lang="en-US"/>
          </a:p>
        </p:txBody>
      </p:sp>
      <p:sp>
        <p:nvSpPr>
          <p:cNvPr id="3" name="Espace réservé du texte 2"/>
          <p:cNvSpPr>
            <a:spLocks noGrp="1"/>
          </p:cNvSpPr>
          <p:nvPr>
            <p:ph type="body" idx="1" hasCustomPrompt="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endParaRPr lang="fr-FR"/>
          </a:p>
        </p:txBody>
      </p:sp>
      <p:sp>
        <p:nvSpPr>
          <p:cNvPr id="4" name="Espace réservé du contenu 3"/>
          <p:cNvSpPr>
            <a:spLocks noGrp="1"/>
          </p:cNvSpPr>
          <p:nvPr>
            <p:ph sz="half" idx="2" hasCustomPrompt="1"/>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5" name="Espace réservé du texte 4"/>
          <p:cNvSpPr>
            <a:spLocks noGrp="1"/>
          </p:cNvSpPr>
          <p:nvPr>
            <p:ph type="body" sz="quarter" idx="3" hasCustomPrompt="1"/>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endParaRPr lang="fr-FR"/>
          </a:p>
        </p:txBody>
      </p:sp>
      <p:sp>
        <p:nvSpPr>
          <p:cNvPr id="6" name="Espace réservé du contenu 5"/>
          <p:cNvSpPr>
            <a:spLocks noGrp="1"/>
          </p:cNvSpPr>
          <p:nvPr>
            <p:ph sz="quarter" idx="4" hasCustomPrompt="1"/>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7" name="Rectangle 3"/>
          <p:cNvSpPr>
            <a:spLocks noGrp="1" noChangeArrowheads="1"/>
          </p:cNvSpPr>
          <p:nvPr>
            <p:ph type="ftr" sz="quarter" idx="10"/>
          </p:nvPr>
        </p:nvSpPr>
        <p:spPr/>
        <p:txBody>
          <a:bodyPr/>
          <a:lstStyle>
            <a:lvl1pPr>
              <a:defRPr/>
            </a:lvl1pPr>
          </a:lstStyle>
          <a:p>
            <a:pPr>
              <a:defRPr/>
            </a:pPr>
            <a:r>
              <a:rPr lang="fr-FR" dirty="0"/>
              <a:t>A. Kritikakou		 L3Info – C/Unix</a:t>
            </a:r>
            <a:endParaRPr lang="fr-FR" dirty="0"/>
          </a:p>
        </p:txBody>
      </p:sp>
      <p:sp>
        <p:nvSpPr>
          <p:cNvPr id="8" name="Rectangle 4"/>
          <p:cNvSpPr>
            <a:spLocks noGrp="1" noChangeArrowheads="1"/>
          </p:cNvSpPr>
          <p:nvPr>
            <p:ph type="sldNum" sz="quarter" idx="11"/>
          </p:nvPr>
        </p:nvSpPr>
        <p:spPr/>
        <p:txBody>
          <a:bodyPr/>
          <a:lstStyle>
            <a:lvl3pPr lvl="2">
              <a:defRPr/>
            </a:lvl3pPr>
          </a:lstStyle>
          <a:p>
            <a:pPr lvl="2"/>
            <a:fld id="{D368282F-3455-474C-BCD6-6333CCA985B1}" type="slidenum">
              <a:rPr lang="fr-FR"/>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Rectangle 3"/>
          <p:cNvSpPr>
            <a:spLocks noGrp="1" noChangeArrowheads="1"/>
          </p:cNvSpPr>
          <p:nvPr>
            <p:ph type="ftr" sz="quarter" idx="10"/>
          </p:nvPr>
        </p:nvSpPr>
        <p:spPr/>
        <p:txBody>
          <a:bodyPr/>
          <a:lstStyle>
            <a:lvl1pPr>
              <a:defRPr/>
            </a:lvl1pPr>
          </a:lstStyle>
          <a:p>
            <a:pPr>
              <a:defRPr/>
            </a:pPr>
            <a:r>
              <a:rPr lang="fr-FR" dirty="0"/>
              <a:t>A. Kritikakou		 L3Info – C/Unix</a:t>
            </a:r>
            <a:endParaRPr lang="fr-FR" dirty="0"/>
          </a:p>
        </p:txBody>
      </p:sp>
      <p:sp>
        <p:nvSpPr>
          <p:cNvPr id="4" name="Rectangle 4"/>
          <p:cNvSpPr>
            <a:spLocks noGrp="1" noChangeArrowheads="1"/>
          </p:cNvSpPr>
          <p:nvPr>
            <p:ph type="sldNum" sz="quarter" idx="11"/>
          </p:nvPr>
        </p:nvSpPr>
        <p:spPr/>
        <p:txBody>
          <a:bodyPr/>
          <a:lstStyle>
            <a:lvl3pPr lvl="2">
              <a:defRPr/>
            </a:lvl3pPr>
          </a:lstStyle>
          <a:p>
            <a:pPr lvl="2"/>
            <a:fld id="{FC95157D-BEDD-8742-A6E7-50239084E47D}" type="slidenum">
              <a:rPr lang="fr-FR"/>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3"/>
          <p:cNvSpPr>
            <a:spLocks noGrp="1" noChangeArrowheads="1"/>
          </p:cNvSpPr>
          <p:nvPr>
            <p:ph type="ftr" sz="quarter" idx="10"/>
          </p:nvPr>
        </p:nvSpPr>
        <p:spPr/>
        <p:txBody>
          <a:bodyPr/>
          <a:lstStyle>
            <a:lvl1pPr>
              <a:defRPr/>
            </a:lvl1pPr>
          </a:lstStyle>
          <a:p>
            <a:pPr>
              <a:defRPr/>
            </a:pPr>
            <a:r>
              <a:rPr lang="fr-FR" dirty="0"/>
              <a:t>A. Kritikakou		 L3Info – C/Unix</a:t>
            </a:r>
            <a:endParaRPr lang="fr-FR" dirty="0"/>
          </a:p>
        </p:txBody>
      </p:sp>
      <p:sp>
        <p:nvSpPr>
          <p:cNvPr id="3" name="Rectangle 4"/>
          <p:cNvSpPr>
            <a:spLocks noGrp="1" noChangeArrowheads="1"/>
          </p:cNvSpPr>
          <p:nvPr>
            <p:ph type="sldNum" sz="quarter" idx="11"/>
          </p:nvPr>
        </p:nvSpPr>
        <p:spPr/>
        <p:txBody>
          <a:bodyPr/>
          <a:lstStyle>
            <a:lvl3pPr lvl="2">
              <a:defRPr/>
            </a:lvl3pPr>
          </a:lstStyle>
          <a:p>
            <a:pPr lvl="2"/>
            <a:fld id="{727894EC-6C46-9F44-A76B-25ED247F1F1D}" type="slidenum">
              <a:rPr lang="fr-FR"/>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lstStyle>
            <a:lvl1pPr algn="l">
              <a:defRPr sz="2000" b="1"/>
            </a:lvl1pPr>
          </a:lstStyle>
          <a:p>
            <a:r>
              <a:rPr lang="fr-FR"/>
              <a:t>Modifiez le style du titre</a:t>
            </a:r>
            <a:endParaRPr lang="en-US"/>
          </a:p>
        </p:txBody>
      </p:sp>
      <p:sp>
        <p:nvSpPr>
          <p:cNvPr id="3" name="Espace réservé du contenu 2"/>
          <p:cNvSpPr>
            <a:spLocks noGrp="1"/>
          </p:cNvSpPr>
          <p:nvPr>
            <p:ph idx="1" hasCustomPrompt="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Espace réservé du texte 3"/>
          <p:cNvSpPr>
            <a:spLocks noGrp="1"/>
          </p:cNvSpPr>
          <p:nvPr>
            <p:ph type="body" sz="half" idx="2" hasCustomPrompt="1"/>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endParaRPr lang="fr-FR"/>
          </a:p>
        </p:txBody>
      </p:sp>
      <p:sp>
        <p:nvSpPr>
          <p:cNvPr id="5" name="Rectangle 3"/>
          <p:cNvSpPr>
            <a:spLocks noGrp="1" noChangeArrowheads="1"/>
          </p:cNvSpPr>
          <p:nvPr>
            <p:ph type="ftr" sz="quarter" idx="10"/>
          </p:nvPr>
        </p:nvSpPr>
        <p:spPr/>
        <p:txBody>
          <a:bodyPr/>
          <a:lstStyle>
            <a:lvl1pPr>
              <a:defRPr/>
            </a:lvl1pPr>
          </a:lstStyle>
          <a:p>
            <a:pPr>
              <a:defRPr/>
            </a:pPr>
            <a:r>
              <a:rPr lang="fr-FR" dirty="0"/>
              <a:t>A. Kritikakou		 L3Info – C/Unix</a:t>
            </a:r>
            <a:endParaRPr lang="fr-FR" dirty="0"/>
          </a:p>
        </p:txBody>
      </p:sp>
      <p:sp>
        <p:nvSpPr>
          <p:cNvPr id="6" name="Rectangle 4"/>
          <p:cNvSpPr>
            <a:spLocks noGrp="1" noChangeArrowheads="1"/>
          </p:cNvSpPr>
          <p:nvPr>
            <p:ph type="sldNum" sz="quarter" idx="11"/>
          </p:nvPr>
        </p:nvSpPr>
        <p:spPr/>
        <p:txBody>
          <a:bodyPr/>
          <a:lstStyle>
            <a:lvl3pPr lvl="2">
              <a:defRPr/>
            </a:lvl3pPr>
          </a:lstStyle>
          <a:p>
            <a:pPr lvl="2"/>
            <a:fld id="{785B45ED-D439-C14C-910A-9C7162D5B3CF}" type="slidenum">
              <a:rPr lang="fr-FR"/>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lstStyle>
            <a:lvl1pPr algn="l">
              <a:defRPr sz="2000" b="1"/>
            </a:lvl1pPr>
          </a:lstStyle>
          <a:p>
            <a:r>
              <a:rPr lang="fr-FR"/>
              <a:t>Modifiez le style du titre</a:t>
            </a:r>
            <a:endParaRPr lang="en-US"/>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Espace réservé du texte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endParaRPr lang="fr-FR"/>
          </a:p>
        </p:txBody>
      </p:sp>
      <p:sp>
        <p:nvSpPr>
          <p:cNvPr id="5" name="Rectangle 3"/>
          <p:cNvSpPr>
            <a:spLocks noGrp="1" noChangeArrowheads="1"/>
          </p:cNvSpPr>
          <p:nvPr>
            <p:ph type="ftr" sz="quarter" idx="10"/>
          </p:nvPr>
        </p:nvSpPr>
        <p:spPr/>
        <p:txBody>
          <a:bodyPr/>
          <a:lstStyle>
            <a:lvl1pPr>
              <a:defRPr/>
            </a:lvl1pPr>
          </a:lstStyle>
          <a:p>
            <a:pPr>
              <a:defRPr/>
            </a:pPr>
            <a:r>
              <a:rPr lang="fr-FR" dirty="0"/>
              <a:t>A. Kritikakou		 L3Info – C/Unix</a:t>
            </a:r>
            <a:endParaRPr lang="fr-FR" dirty="0"/>
          </a:p>
        </p:txBody>
      </p:sp>
      <p:sp>
        <p:nvSpPr>
          <p:cNvPr id="6" name="Rectangle 4"/>
          <p:cNvSpPr>
            <a:spLocks noGrp="1" noChangeArrowheads="1"/>
          </p:cNvSpPr>
          <p:nvPr>
            <p:ph type="sldNum" sz="quarter" idx="11"/>
          </p:nvPr>
        </p:nvSpPr>
        <p:spPr/>
        <p:txBody>
          <a:bodyPr/>
          <a:lstStyle>
            <a:lvl3pPr lvl="2">
              <a:defRPr/>
            </a:lvl3pPr>
          </a:lstStyle>
          <a:p>
            <a:pPr lvl="2"/>
            <a:fld id="{D0463F5A-E913-544D-A518-8145CC7103A2}" type="slidenum">
              <a:rPr lang="fr-FR"/>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texte vertical 2"/>
          <p:cNvSpPr>
            <a:spLocks noGrp="1"/>
          </p:cNvSpPr>
          <p:nvPr>
            <p:ph type="body" orient="vert" idx="1" hasCustomPrompt="1"/>
          </p:nvPr>
        </p:nvSpPr>
        <p:spPr/>
        <p:txBody>
          <a:bodyPr vert="eaVert"/>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Rectangle 3"/>
          <p:cNvSpPr>
            <a:spLocks noGrp="1" noChangeArrowheads="1"/>
          </p:cNvSpPr>
          <p:nvPr>
            <p:ph type="ftr" sz="quarter" idx="10"/>
          </p:nvPr>
        </p:nvSpPr>
        <p:spPr/>
        <p:txBody>
          <a:bodyPr/>
          <a:lstStyle>
            <a:lvl1pPr>
              <a:defRPr/>
            </a:lvl1pPr>
          </a:lstStyle>
          <a:p>
            <a:pPr>
              <a:defRPr/>
            </a:pPr>
            <a:r>
              <a:rPr lang="fr-FR" dirty="0"/>
              <a:t>A. Kritikakou		 L3Info – C/Unix</a:t>
            </a:r>
            <a:endParaRPr lang="fr-FR" dirty="0"/>
          </a:p>
        </p:txBody>
      </p:sp>
      <p:sp>
        <p:nvSpPr>
          <p:cNvPr id="5" name="Rectangle 4"/>
          <p:cNvSpPr>
            <a:spLocks noGrp="1" noChangeArrowheads="1"/>
          </p:cNvSpPr>
          <p:nvPr>
            <p:ph type="sldNum" sz="quarter" idx="11"/>
          </p:nvPr>
        </p:nvSpPr>
        <p:spPr/>
        <p:txBody>
          <a:bodyPr/>
          <a:lstStyle>
            <a:lvl3pPr lvl="2">
              <a:defRPr/>
            </a:lvl3pPr>
          </a:lstStyle>
          <a:p>
            <a:pPr lvl="2"/>
            <a:fld id="{FA077D25-1380-2842-B79B-713DA2B8138B}" type="slidenum">
              <a:rPr lang="fr-FR"/>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15113" y="152400"/>
            <a:ext cx="2103437" cy="6019800"/>
          </a:xfrm>
        </p:spPr>
        <p:txBody>
          <a:bodyPr vert="eaVert"/>
          <a:lstStyle/>
          <a:p>
            <a:r>
              <a:rPr lang="fr-FR"/>
              <a:t>Modifiez le style du titre</a:t>
            </a:r>
            <a:endParaRPr lang="en-US"/>
          </a:p>
        </p:txBody>
      </p:sp>
      <p:sp>
        <p:nvSpPr>
          <p:cNvPr id="3" name="Espace réservé du texte vertical 2"/>
          <p:cNvSpPr>
            <a:spLocks noGrp="1"/>
          </p:cNvSpPr>
          <p:nvPr>
            <p:ph type="body" orient="vert" idx="1" hasCustomPrompt="1"/>
          </p:nvPr>
        </p:nvSpPr>
        <p:spPr>
          <a:xfrm>
            <a:off x="304800" y="152400"/>
            <a:ext cx="6157913" cy="6019800"/>
          </a:xfrm>
        </p:spPr>
        <p:txBody>
          <a:bodyPr vert="eaVert"/>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Rectangle 3"/>
          <p:cNvSpPr>
            <a:spLocks noGrp="1" noChangeArrowheads="1"/>
          </p:cNvSpPr>
          <p:nvPr>
            <p:ph type="ftr" sz="quarter" idx="10"/>
          </p:nvPr>
        </p:nvSpPr>
        <p:spPr/>
        <p:txBody>
          <a:bodyPr/>
          <a:lstStyle>
            <a:lvl1pPr>
              <a:defRPr/>
            </a:lvl1pPr>
          </a:lstStyle>
          <a:p>
            <a:pPr>
              <a:defRPr/>
            </a:pPr>
            <a:r>
              <a:rPr lang="fr-FR" dirty="0"/>
              <a:t>A. Kritikakou		 L3Info – C/Unix</a:t>
            </a:r>
            <a:endParaRPr lang="fr-FR" dirty="0"/>
          </a:p>
        </p:txBody>
      </p:sp>
      <p:sp>
        <p:nvSpPr>
          <p:cNvPr id="5" name="Rectangle 4"/>
          <p:cNvSpPr>
            <a:spLocks noGrp="1" noChangeArrowheads="1"/>
          </p:cNvSpPr>
          <p:nvPr>
            <p:ph type="sldNum" sz="quarter" idx="11"/>
          </p:nvPr>
        </p:nvSpPr>
        <p:spPr/>
        <p:txBody>
          <a:bodyPr/>
          <a:lstStyle>
            <a:lvl3pPr lvl="2">
              <a:defRPr/>
            </a:lvl3pPr>
          </a:lstStyle>
          <a:p>
            <a:pPr lvl="2"/>
            <a:fld id="{D3C5E950-4BE6-EB49-86D7-C3A8A1B3C51F}" type="slidenum">
              <a:rPr lang="fr-FR"/>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304800" y="152400"/>
            <a:ext cx="7772400" cy="533400"/>
          </a:xfrm>
        </p:spPr>
        <p:txBody>
          <a:bodyPr/>
          <a:lstStyle/>
          <a:p>
            <a:r>
              <a:rPr lang="fr-FR"/>
              <a:t>Modifiez le style du titre</a:t>
            </a:r>
            <a:endParaRPr lang="en-US"/>
          </a:p>
        </p:txBody>
      </p:sp>
      <p:sp>
        <p:nvSpPr>
          <p:cNvPr id="3" name="Espace réservé du texte 2"/>
          <p:cNvSpPr>
            <a:spLocks noGrp="1"/>
          </p:cNvSpPr>
          <p:nvPr>
            <p:ph type="body" sz="half" idx="1" hasCustomPrompt="1"/>
          </p:nvPr>
        </p:nvSpPr>
        <p:spPr>
          <a:xfrm>
            <a:off x="457200" y="914400"/>
            <a:ext cx="4054475" cy="5257800"/>
          </a:xfrm>
        </p:spPr>
        <p:txBody>
          <a:body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Espace réservé du contenu 3"/>
          <p:cNvSpPr>
            <a:spLocks noGrp="1"/>
          </p:cNvSpPr>
          <p:nvPr>
            <p:ph sz="half" idx="2" hasCustomPrompt="1"/>
          </p:nvPr>
        </p:nvSpPr>
        <p:spPr>
          <a:xfrm>
            <a:off x="4664075" y="914400"/>
            <a:ext cx="4054475" cy="5257800"/>
          </a:xfrm>
        </p:spPr>
        <p:txBody>
          <a:body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5" name="Rectangle 3"/>
          <p:cNvSpPr>
            <a:spLocks noGrp="1" noChangeArrowheads="1"/>
          </p:cNvSpPr>
          <p:nvPr>
            <p:ph type="ftr" sz="quarter" idx="10"/>
          </p:nvPr>
        </p:nvSpPr>
        <p:spPr/>
        <p:txBody>
          <a:bodyPr/>
          <a:lstStyle>
            <a:lvl1pPr>
              <a:defRPr/>
            </a:lvl1pPr>
          </a:lstStyle>
          <a:p>
            <a:pPr>
              <a:defRPr/>
            </a:pPr>
            <a:r>
              <a:rPr lang="fr-FR" dirty="0"/>
              <a:t>A. Kritikakou		 L3Info – C/Unix</a:t>
            </a:r>
            <a:endParaRPr lang="fr-FR" dirty="0"/>
          </a:p>
        </p:txBody>
      </p:sp>
      <p:sp>
        <p:nvSpPr>
          <p:cNvPr id="6" name="Rectangle 4"/>
          <p:cNvSpPr>
            <a:spLocks noGrp="1" noChangeArrowheads="1"/>
          </p:cNvSpPr>
          <p:nvPr>
            <p:ph type="sldNum" sz="quarter" idx="11"/>
          </p:nvPr>
        </p:nvSpPr>
        <p:spPr/>
        <p:txBody>
          <a:bodyPr/>
          <a:lstStyle>
            <a:lvl3pPr lvl="2">
              <a:defRPr/>
            </a:lvl3pPr>
          </a:lstStyle>
          <a:p>
            <a:pPr lvl="2"/>
            <a:fld id="{E4FB2761-C727-EF42-A217-0A71038DF1A9}" type="slidenum">
              <a:rPr lang="fr-FR"/>
            </a:fld>
            <a:endParaRPr lang="fr-F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re. Texte et 2 contenus">
    <p:spTree>
      <p:nvGrpSpPr>
        <p:cNvPr id="1" name=""/>
        <p:cNvGrpSpPr/>
        <p:nvPr/>
      </p:nvGrpSpPr>
      <p:grpSpPr>
        <a:xfrm>
          <a:off x="0" y="0"/>
          <a:ext cx="0" cy="0"/>
          <a:chOff x="0" y="0"/>
          <a:chExt cx="0" cy="0"/>
        </a:xfrm>
      </p:grpSpPr>
      <p:sp>
        <p:nvSpPr>
          <p:cNvPr id="2" name="Titre 1"/>
          <p:cNvSpPr>
            <a:spLocks noGrp="1"/>
          </p:cNvSpPr>
          <p:nvPr>
            <p:ph type="title"/>
          </p:nvPr>
        </p:nvSpPr>
        <p:spPr>
          <a:xfrm>
            <a:off x="304800" y="152400"/>
            <a:ext cx="7772400" cy="533400"/>
          </a:xfrm>
        </p:spPr>
        <p:txBody>
          <a:bodyPr/>
          <a:lstStyle/>
          <a:p>
            <a:r>
              <a:rPr lang="fr-FR"/>
              <a:t>Modifiez le style du titre</a:t>
            </a:r>
            <a:endParaRPr lang="en-US"/>
          </a:p>
        </p:txBody>
      </p:sp>
      <p:sp>
        <p:nvSpPr>
          <p:cNvPr id="3" name="Espace réservé du texte 2"/>
          <p:cNvSpPr>
            <a:spLocks noGrp="1"/>
          </p:cNvSpPr>
          <p:nvPr>
            <p:ph type="body" sz="half" idx="1" hasCustomPrompt="1"/>
          </p:nvPr>
        </p:nvSpPr>
        <p:spPr>
          <a:xfrm>
            <a:off x="457200" y="914400"/>
            <a:ext cx="4054475" cy="5257800"/>
          </a:xfrm>
        </p:spPr>
        <p:txBody>
          <a:body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Espace réservé du contenu 3"/>
          <p:cNvSpPr>
            <a:spLocks noGrp="1"/>
          </p:cNvSpPr>
          <p:nvPr>
            <p:ph sz="quarter" idx="2" hasCustomPrompt="1"/>
          </p:nvPr>
        </p:nvSpPr>
        <p:spPr>
          <a:xfrm>
            <a:off x="4664075" y="914400"/>
            <a:ext cx="4054475" cy="2552700"/>
          </a:xfrm>
        </p:spPr>
        <p:txBody>
          <a:body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5" name="Espace réservé du contenu 4"/>
          <p:cNvSpPr>
            <a:spLocks noGrp="1"/>
          </p:cNvSpPr>
          <p:nvPr>
            <p:ph sz="quarter" idx="3" hasCustomPrompt="1"/>
          </p:nvPr>
        </p:nvSpPr>
        <p:spPr>
          <a:xfrm>
            <a:off x="4664075" y="3619500"/>
            <a:ext cx="4054475" cy="2552700"/>
          </a:xfrm>
        </p:spPr>
        <p:txBody>
          <a:body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6" name="Rectangle 3"/>
          <p:cNvSpPr>
            <a:spLocks noGrp="1" noChangeArrowheads="1"/>
          </p:cNvSpPr>
          <p:nvPr>
            <p:ph type="ftr" sz="quarter" idx="10"/>
          </p:nvPr>
        </p:nvSpPr>
        <p:spPr/>
        <p:txBody>
          <a:bodyPr/>
          <a:lstStyle>
            <a:lvl1pPr>
              <a:defRPr/>
            </a:lvl1pPr>
          </a:lstStyle>
          <a:p>
            <a:pPr>
              <a:defRPr/>
            </a:pPr>
            <a:r>
              <a:rPr lang="fr-FR" dirty="0"/>
              <a:t>A. Kritikakou		 L3Info – C/Unix</a:t>
            </a:r>
            <a:endParaRPr lang="fr-FR" dirty="0"/>
          </a:p>
        </p:txBody>
      </p:sp>
      <p:sp>
        <p:nvSpPr>
          <p:cNvPr id="7" name="Rectangle 4"/>
          <p:cNvSpPr>
            <a:spLocks noGrp="1" noChangeArrowheads="1"/>
          </p:cNvSpPr>
          <p:nvPr>
            <p:ph type="sldNum" sz="quarter" idx="11"/>
          </p:nvPr>
        </p:nvSpPr>
        <p:spPr/>
        <p:txBody>
          <a:bodyPr/>
          <a:lstStyle>
            <a:lvl3pPr lvl="2">
              <a:defRPr/>
            </a:lvl3pPr>
          </a:lstStyle>
          <a:p>
            <a:pPr lvl="2"/>
            <a:fld id="{BEC507FD-B07A-F442-8813-F7DE140A1B64}" type="slidenum">
              <a:rPr lang="fr-FR"/>
            </a:fld>
            <a:endParaRPr lang="fr-F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304493" y="-501309"/>
            <a:ext cx="7772501" cy="1185505"/>
          </a:xfrm>
          <a:prstGeom prst="rect">
            <a:avLst/>
          </a:prstGeom>
        </p:spPr>
        <p:txBody>
          <a:bodyPr wrap="none" lIns="92070" tIns="46035" rIns="92070" bIns="46035" anchor="b"/>
          <a:lstStyle/>
          <a:p/>
        </p:txBody>
      </p:sp>
      <p:sp>
        <p:nvSpPr>
          <p:cNvPr id="21" name="PlaceHolder 2"/>
          <p:cNvSpPr>
            <a:spLocks noGrp="1"/>
          </p:cNvSpPr>
          <p:nvPr>
            <p:ph type="body"/>
          </p:nvPr>
        </p:nvSpPr>
        <p:spPr>
          <a:xfrm>
            <a:off x="456273" y="914439"/>
            <a:ext cx="4031810" cy="3977811"/>
          </a:xfrm>
          <a:prstGeom prst="rect">
            <a:avLst/>
          </a:prstGeom>
        </p:spPr>
        <p:txBody>
          <a:bodyPr wrap="none" lIns="92070" tIns="46035" rIns="92070" bIns="46035"/>
          <a:lstStyle/>
          <a:p/>
        </p:txBody>
      </p:sp>
      <p:sp>
        <p:nvSpPr>
          <p:cNvPr id="22" name="PlaceHolder 3"/>
          <p:cNvSpPr>
            <a:spLocks noGrp="1"/>
          </p:cNvSpPr>
          <p:nvPr>
            <p:ph type="body"/>
          </p:nvPr>
        </p:nvSpPr>
        <p:spPr>
          <a:xfrm>
            <a:off x="4689937" y="914439"/>
            <a:ext cx="4031810" cy="1897135"/>
          </a:xfrm>
          <a:prstGeom prst="rect">
            <a:avLst/>
          </a:prstGeom>
        </p:spPr>
        <p:txBody>
          <a:bodyPr wrap="none" lIns="92070" tIns="46035" rIns="92070" bIns="46035"/>
          <a:lstStyle/>
          <a:p/>
        </p:txBody>
      </p:sp>
      <p:sp>
        <p:nvSpPr>
          <p:cNvPr id="23" name="PlaceHolder 4"/>
          <p:cNvSpPr>
            <a:spLocks noGrp="1"/>
          </p:cNvSpPr>
          <p:nvPr>
            <p:ph type="body"/>
          </p:nvPr>
        </p:nvSpPr>
        <p:spPr>
          <a:xfrm>
            <a:off x="4689937" y="2991849"/>
            <a:ext cx="4031810" cy="1897135"/>
          </a:xfrm>
          <a:prstGeom prst="rect">
            <a:avLst/>
          </a:prstGeom>
        </p:spPr>
        <p:txBody>
          <a:bodyPr wrap="none" lIns="92070" tIns="46035" rIns="92070" bIns="46035"/>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endParaRPr lang="en-US"/>
          </a:p>
        </p:txBody>
      </p:sp>
      <p:sp>
        <p:nvSpPr>
          <p:cNvPr id="3" name="Sous-titre 2"/>
          <p:cNvSpPr>
            <a:spLocks noGrp="1"/>
          </p:cNvSpPr>
          <p:nvPr>
            <p:ph type="subTitle" idx="1" hasCustomPrompt="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a:p>
        </p:txBody>
      </p:sp>
      <p:sp>
        <p:nvSpPr>
          <p:cNvPr id="4" name="Espace réservé de la date 3"/>
          <p:cNvSpPr>
            <a:spLocks noGrp="1"/>
          </p:cNvSpPr>
          <p:nvPr>
            <p:ph type="dt" sz="half" idx="10"/>
          </p:nvPr>
        </p:nvSpPr>
        <p:spPr/>
        <p:txBody>
          <a:bodyPr/>
          <a:lstStyle>
            <a:lvl1pPr>
              <a:defRPr/>
            </a:lvl1pPr>
          </a:lstStyle>
          <a:p>
            <a:fld id="{50D6E0A6-7E03-9643-B122-B1594F3D766E}" type="datetimeFigureOut">
              <a:rPr lang="en-US"/>
            </a:fld>
            <a:endParaRPr lang="en-US"/>
          </a:p>
        </p:txBody>
      </p:sp>
      <p:sp>
        <p:nvSpPr>
          <p:cNvPr id="5" name="Espace réservé du pied de page 4"/>
          <p:cNvSpPr>
            <a:spLocks noGrp="1"/>
          </p:cNvSpPr>
          <p:nvPr>
            <p:ph type="ftr" sz="quarter" idx="11"/>
          </p:nvPr>
        </p:nvSpPr>
        <p:spPr/>
        <p:txBody>
          <a:bodyPr/>
          <a:lstStyle>
            <a:lvl1pPr>
              <a:defRPr/>
            </a:lvl1pPr>
          </a:lstStyle>
          <a:p>
            <a:pPr>
              <a:defRPr/>
            </a:pPr>
            <a:endParaRPr lang="en-US"/>
          </a:p>
        </p:txBody>
      </p:sp>
      <p:sp>
        <p:nvSpPr>
          <p:cNvPr id="6" name="Espace réservé du numéro de diapositive 5"/>
          <p:cNvSpPr>
            <a:spLocks noGrp="1"/>
          </p:cNvSpPr>
          <p:nvPr>
            <p:ph type="sldNum" sz="quarter" idx="12"/>
          </p:nvPr>
        </p:nvSpPr>
        <p:spPr/>
        <p:txBody>
          <a:bodyPr/>
          <a:lstStyle>
            <a:lvl1pPr>
              <a:defRPr/>
            </a:lvl1pPr>
          </a:lstStyle>
          <a:p>
            <a:fld id="{CF829AC0-0BDF-1D49-B938-F7B5BF9DF18E}" type="slidenum">
              <a:rPr lang="en-US"/>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idx="1" hasCustomPrompt="1"/>
          </p:nvPr>
        </p:nvSpPr>
        <p:spPr/>
        <p:txBody>
          <a:body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Espace réservé de la date 3"/>
          <p:cNvSpPr>
            <a:spLocks noGrp="1"/>
          </p:cNvSpPr>
          <p:nvPr>
            <p:ph type="dt" sz="half" idx="10"/>
          </p:nvPr>
        </p:nvSpPr>
        <p:spPr/>
        <p:txBody>
          <a:bodyPr/>
          <a:lstStyle>
            <a:lvl1pPr>
              <a:defRPr/>
            </a:lvl1pPr>
          </a:lstStyle>
          <a:p>
            <a:fld id="{9E96D771-1DEC-D04C-9850-57DD09633CB6}" type="datetimeFigureOut">
              <a:rPr lang="en-US"/>
            </a:fld>
            <a:endParaRPr lang="en-US"/>
          </a:p>
        </p:txBody>
      </p:sp>
      <p:sp>
        <p:nvSpPr>
          <p:cNvPr id="5" name="Espace réservé du pied de page 4"/>
          <p:cNvSpPr>
            <a:spLocks noGrp="1"/>
          </p:cNvSpPr>
          <p:nvPr>
            <p:ph type="ftr" sz="quarter" idx="11"/>
          </p:nvPr>
        </p:nvSpPr>
        <p:spPr/>
        <p:txBody>
          <a:bodyPr/>
          <a:lstStyle>
            <a:lvl1pPr>
              <a:defRPr/>
            </a:lvl1pPr>
          </a:lstStyle>
          <a:p>
            <a:pPr>
              <a:defRPr/>
            </a:pPr>
            <a:endParaRPr lang="en-US"/>
          </a:p>
        </p:txBody>
      </p:sp>
      <p:sp>
        <p:nvSpPr>
          <p:cNvPr id="6" name="Espace réservé du numéro de diapositive 5"/>
          <p:cNvSpPr>
            <a:spLocks noGrp="1"/>
          </p:cNvSpPr>
          <p:nvPr>
            <p:ph type="sldNum" sz="quarter" idx="12"/>
          </p:nvPr>
        </p:nvSpPr>
        <p:spPr/>
        <p:txBody>
          <a:bodyPr/>
          <a:lstStyle>
            <a:lvl1pPr>
              <a:defRPr/>
            </a:lvl1pPr>
          </a:lstStyle>
          <a:p>
            <a:fld id="{477DA547-AA4F-6E4D-B9E8-819232868B88}" type="slidenum">
              <a:rPr lang="en-US"/>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endParaRPr lang="en-US"/>
          </a:p>
        </p:txBody>
      </p:sp>
      <p:sp>
        <p:nvSpPr>
          <p:cNvPr id="3" name="Espace réservé du texte 2"/>
          <p:cNvSpPr>
            <a:spLocks noGrp="1"/>
          </p:cNvSpPr>
          <p:nvPr>
            <p:ph type="body" idx="1" hasCustomPrompt="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endParaRPr lang="fr-FR"/>
          </a:p>
        </p:txBody>
      </p:sp>
      <p:sp>
        <p:nvSpPr>
          <p:cNvPr id="4" name="Espace réservé de la date 3"/>
          <p:cNvSpPr>
            <a:spLocks noGrp="1"/>
          </p:cNvSpPr>
          <p:nvPr>
            <p:ph type="dt" sz="half" idx="10"/>
          </p:nvPr>
        </p:nvSpPr>
        <p:spPr/>
        <p:txBody>
          <a:bodyPr/>
          <a:lstStyle>
            <a:lvl1pPr>
              <a:defRPr/>
            </a:lvl1pPr>
          </a:lstStyle>
          <a:p>
            <a:fld id="{ECF83084-D87B-2545-8E8F-C0DFA794576E}" type="datetimeFigureOut">
              <a:rPr lang="en-US"/>
            </a:fld>
            <a:endParaRPr lang="en-US"/>
          </a:p>
        </p:txBody>
      </p:sp>
      <p:sp>
        <p:nvSpPr>
          <p:cNvPr id="5" name="Espace réservé du pied de page 4"/>
          <p:cNvSpPr>
            <a:spLocks noGrp="1"/>
          </p:cNvSpPr>
          <p:nvPr>
            <p:ph type="ftr" sz="quarter" idx="11"/>
          </p:nvPr>
        </p:nvSpPr>
        <p:spPr/>
        <p:txBody>
          <a:bodyPr/>
          <a:lstStyle>
            <a:lvl1pPr>
              <a:defRPr/>
            </a:lvl1pPr>
          </a:lstStyle>
          <a:p>
            <a:pPr>
              <a:defRPr/>
            </a:pPr>
            <a:endParaRPr lang="en-US"/>
          </a:p>
        </p:txBody>
      </p:sp>
      <p:sp>
        <p:nvSpPr>
          <p:cNvPr id="6" name="Espace réservé du numéro de diapositive 5"/>
          <p:cNvSpPr>
            <a:spLocks noGrp="1"/>
          </p:cNvSpPr>
          <p:nvPr>
            <p:ph type="sldNum" sz="quarter" idx="12"/>
          </p:nvPr>
        </p:nvSpPr>
        <p:spPr/>
        <p:txBody>
          <a:bodyPr/>
          <a:lstStyle>
            <a:lvl1pPr>
              <a:defRPr/>
            </a:lvl1pPr>
          </a:lstStyle>
          <a:p>
            <a:fld id="{02FFB5A7-CC74-544B-8272-4F01AE294B49}" type="slidenum">
              <a:rPr lang="en-US"/>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sz="half" idx="1" hasCustomPrompt="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Espace réservé du contenu 3"/>
          <p:cNvSpPr>
            <a:spLocks noGrp="1"/>
          </p:cNvSpPr>
          <p:nvPr>
            <p:ph sz="half" idx="2" hasCustomPrompt="1"/>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5" name="Espace réservé de la date 3"/>
          <p:cNvSpPr>
            <a:spLocks noGrp="1"/>
          </p:cNvSpPr>
          <p:nvPr>
            <p:ph type="dt" sz="half" idx="10"/>
          </p:nvPr>
        </p:nvSpPr>
        <p:spPr/>
        <p:txBody>
          <a:bodyPr/>
          <a:lstStyle>
            <a:lvl1pPr>
              <a:defRPr/>
            </a:lvl1pPr>
          </a:lstStyle>
          <a:p>
            <a:fld id="{C0A69613-4798-D341-B2F3-724BE2791C0B}" type="datetimeFigureOut">
              <a:rPr lang="en-US"/>
            </a:fld>
            <a:endParaRPr lang="en-US"/>
          </a:p>
        </p:txBody>
      </p:sp>
      <p:sp>
        <p:nvSpPr>
          <p:cNvPr id="6" name="Espace réservé du pied de page 4"/>
          <p:cNvSpPr>
            <a:spLocks noGrp="1"/>
          </p:cNvSpPr>
          <p:nvPr>
            <p:ph type="ftr" sz="quarter" idx="11"/>
          </p:nvPr>
        </p:nvSpPr>
        <p:spPr/>
        <p:txBody>
          <a:bodyPr/>
          <a:lstStyle>
            <a:lvl1pPr>
              <a:defRPr/>
            </a:lvl1pPr>
          </a:lstStyle>
          <a:p>
            <a:pPr>
              <a:defRPr/>
            </a:pPr>
            <a:endParaRPr lang="en-US"/>
          </a:p>
        </p:txBody>
      </p:sp>
      <p:sp>
        <p:nvSpPr>
          <p:cNvPr id="7" name="Espace réservé du numéro de diapositive 5"/>
          <p:cNvSpPr>
            <a:spLocks noGrp="1"/>
          </p:cNvSpPr>
          <p:nvPr>
            <p:ph type="sldNum" sz="quarter" idx="12"/>
          </p:nvPr>
        </p:nvSpPr>
        <p:spPr/>
        <p:txBody>
          <a:bodyPr/>
          <a:lstStyle>
            <a:lvl1pPr>
              <a:defRPr/>
            </a:lvl1pPr>
          </a:lstStyle>
          <a:p>
            <a:fld id="{34FE8FD7-01FB-6047-91F3-A8DC4EAC9DAA}" type="slidenum">
              <a:rPr lang="en-US"/>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endParaRPr lang="en-US"/>
          </a:p>
        </p:txBody>
      </p:sp>
      <p:sp>
        <p:nvSpPr>
          <p:cNvPr id="3" name="Espace réservé du texte 2"/>
          <p:cNvSpPr>
            <a:spLocks noGrp="1"/>
          </p:cNvSpPr>
          <p:nvPr>
            <p:ph type="body" idx="1" hasCustomPrompt="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endParaRPr lang="fr-FR"/>
          </a:p>
        </p:txBody>
      </p:sp>
      <p:sp>
        <p:nvSpPr>
          <p:cNvPr id="4" name="Espace réservé du contenu 3"/>
          <p:cNvSpPr>
            <a:spLocks noGrp="1"/>
          </p:cNvSpPr>
          <p:nvPr>
            <p:ph sz="half" idx="2" hasCustomPrompt="1"/>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5" name="Espace réservé du texte 4"/>
          <p:cNvSpPr>
            <a:spLocks noGrp="1"/>
          </p:cNvSpPr>
          <p:nvPr>
            <p:ph type="body" sz="quarter" idx="3" hasCustomPrompt="1"/>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endParaRPr lang="fr-FR"/>
          </a:p>
        </p:txBody>
      </p:sp>
      <p:sp>
        <p:nvSpPr>
          <p:cNvPr id="6" name="Espace réservé du contenu 5"/>
          <p:cNvSpPr>
            <a:spLocks noGrp="1"/>
          </p:cNvSpPr>
          <p:nvPr>
            <p:ph sz="quarter" idx="4" hasCustomPrompt="1"/>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7" name="Espace réservé de la date 3"/>
          <p:cNvSpPr>
            <a:spLocks noGrp="1"/>
          </p:cNvSpPr>
          <p:nvPr>
            <p:ph type="dt" sz="half" idx="10"/>
          </p:nvPr>
        </p:nvSpPr>
        <p:spPr/>
        <p:txBody>
          <a:bodyPr/>
          <a:lstStyle>
            <a:lvl1pPr>
              <a:defRPr/>
            </a:lvl1pPr>
          </a:lstStyle>
          <a:p>
            <a:fld id="{EEE24EC2-FDA0-DB45-8A80-298D598D3EDA}" type="datetimeFigureOut">
              <a:rPr lang="en-US"/>
            </a:fld>
            <a:endParaRPr lang="en-US"/>
          </a:p>
        </p:txBody>
      </p:sp>
      <p:sp>
        <p:nvSpPr>
          <p:cNvPr id="8" name="Espace réservé du pied de page 4"/>
          <p:cNvSpPr>
            <a:spLocks noGrp="1"/>
          </p:cNvSpPr>
          <p:nvPr>
            <p:ph type="ftr" sz="quarter" idx="11"/>
          </p:nvPr>
        </p:nvSpPr>
        <p:spPr/>
        <p:txBody>
          <a:bodyPr/>
          <a:lstStyle>
            <a:lvl1pPr>
              <a:defRPr/>
            </a:lvl1pPr>
          </a:lstStyle>
          <a:p>
            <a:pPr>
              <a:defRPr/>
            </a:pPr>
            <a:endParaRPr lang="en-US"/>
          </a:p>
        </p:txBody>
      </p:sp>
      <p:sp>
        <p:nvSpPr>
          <p:cNvPr id="9" name="Espace réservé du numéro de diapositive 5"/>
          <p:cNvSpPr>
            <a:spLocks noGrp="1"/>
          </p:cNvSpPr>
          <p:nvPr>
            <p:ph type="sldNum" sz="quarter" idx="12"/>
          </p:nvPr>
        </p:nvSpPr>
        <p:spPr/>
        <p:txBody>
          <a:bodyPr/>
          <a:lstStyle>
            <a:lvl1pPr>
              <a:defRPr/>
            </a:lvl1pPr>
          </a:lstStyle>
          <a:p>
            <a:fld id="{43216B5A-6C24-3243-8012-2A20830DC083}" type="slidenum">
              <a:rPr lang="en-US"/>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e la date 3"/>
          <p:cNvSpPr>
            <a:spLocks noGrp="1"/>
          </p:cNvSpPr>
          <p:nvPr>
            <p:ph type="dt" sz="half" idx="10"/>
          </p:nvPr>
        </p:nvSpPr>
        <p:spPr/>
        <p:txBody>
          <a:bodyPr/>
          <a:lstStyle>
            <a:lvl1pPr>
              <a:defRPr/>
            </a:lvl1pPr>
          </a:lstStyle>
          <a:p>
            <a:fld id="{BA6B1265-9658-E340-AB67-6B26F6BAC30A}" type="datetimeFigureOut">
              <a:rPr lang="en-US"/>
            </a:fld>
            <a:endParaRPr lang="en-US"/>
          </a:p>
        </p:txBody>
      </p:sp>
      <p:sp>
        <p:nvSpPr>
          <p:cNvPr id="4" name="Espace réservé du pied de page 4"/>
          <p:cNvSpPr>
            <a:spLocks noGrp="1"/>
          </p:cNvSpPr>
          <p:nvPr>
            <p:ph type="ftr" sz="quarter" idx="11"/>
          </p:nvPr>
        </p:nvSpPr>
        <p:spPr/>
        <p:txBody>
          <a:bodyPr/>
          <a:lstStyle>
            <a:lvl1pPr>
              <a:defRPr/>
            </a:lvl1pPr>
          </a:lstStyle>
          <a:p>
            <a:pPr>
              <a:defRPr/>
            </a:pPr>
            <a:endParaRPr lang="en-US"/>
          </a:p>
        </p:txBody>
      </p:sp>
      <p:sp>
        <p:nvSpPr>
          <p:cNvPr id="5" name="Espace réservé du numéro de diapositive 5"/>
          <p:cNvSpPr>
            <a:spLocks noGrp="1"/>
          </p:cNvSpPr>
          <p:nvPr>
            <p:ph type="sldNum" sz="quarter" idx="12"/>
          </p:nvPr>
        </p:nvSpPr>
        <p:spPr/>
        <p:txBody>
          <a:bodyPr/>
          <a:lstStyle>
            <a:lvl1pPr>
              <a:defRPr/>
            </a:lvl1pPr>
          </a:lstStyle>
          <a:p>
            <a:fld id="{D51139FF-F582-7E4E-A88B-3ECDC8AAB745}" type="slidenum">
              <a:rPr lang="en-US"/>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fld id="{4192B714-ACBF-8149-AA1B-9AE1DA7A42B0}" type="datetimeFigureOut">
              <a:rPr lang="en-US"/>
            </a:fld>
            <a:endParaRPr lang="en-US"/>
          </a:p>
        </p:txBody>
      </p:sp>
      <p:sp>
        <p:nvSpPr>
          <p:cNvPr id="3" name="Espace réservé du pied de page 4"/>
          <p:cNvSpPr>
            <a:spLocks noGrp="1"/>
          </p:cNvSpPr>
          <p:nvPr>
            <p:ph type="ftr" sz="quarter" idx="11"/>
          </p:nvPr>
        </p:nvSpPr>
        <p:spPr/>
        <p:txBody>
          <a:bodyPr/>
          <a:lstStyle>
            <a:lvl1pPr>
              <a:defRPr/>
            </a:lvl1pPr>
          </a:lstStyle>
          <a:p>
            <a:pPr>
              <a:defRPr/>
            </a:pPr>
            <a:endParaRPr lang="en-US"/>
          </a:p>
        </p:txBody>
      </p:sp>
      <p:sp>
        <p:nvSpPr>
          <p:cNvPr id="4" name="Espace réservé du numéro de diapositive 5"/>
          <p:cNvSpPr>
            <a:spLocks noGrp="1"/>
          </p:cNvSpPr>
          <p:nvPr>
            <p:ph type="sldNum" sz="quarter" idx="12"/>
          </p:nvPr>
        </p:nvSpPr>
        <p:spPr/>
        <p:txBody>
          <a:bodyPr/>
          <a:lstStyle>
            <a:lvl1pPr>
              <a:defRPr/>
            </a:lvl1pPr>
          </a:lstStyle>
          <a:p>
            <a:fld id="{A56F0691-4F01-E740-8155-005A50D59D17}" type="slidenum">
              <a:rPr lang="en-US"/>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endParaRPr lang="en-US"/>
          </a:p>
        </p:txBody>
      </p:sp>
      <p:sp>
        <p:nvSpPr>
          <p:cNvPr id="3" name="Espace réservé du contenu 2"/>
          <p:cNvSpPr>
            <a:spLocks noGrp="1"/>
          </p:cNvSpPr>
          <p:nvPr>
            <p:ph idx="1" hasCustomPrompt="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Espace réservé du texte 3"/>
          <p:cNvSpPr>
            <a:spLocks noGrp="1"/>
          </p:cNvSpPr>
          <p:nvPr>
            <p:ph type="body" sz="half" idx="2" hasCustomPrompt="1"/>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endParaRPr lang="fr-FR"/>
          </a:p>
        </p:txBody>
      </p:sp>
      <p:sp>
        <p:nvSpPr>
          <p:cNvPr id="5" name="Espace réservé de la date 3"/>
          <p:cNvSpPr>
            <a:spLocks noGrp="1"/>
          </p:cNvSpPr>
          <p:nvPr>
            <p:ph type="dt" sz="half" idx="10"/>
          </p:nvPr>
        </p:nvSpPr>
        <p:spPr/>
        <p:txBody>
          <a:bodyPr/>
          <a:lstStyle>
            <a:lvl1pPr>
              <a:defRPr/>
            </a:lvl1pPr>
          </a:lstStyle>
          <a:p>
            <a:fld id="{9213C23E-5389-6E4F-885D-7EDC88F1556A}" type="datetimeFigureOut">
              <a:rPr lang="en-US"/>
            </a:fld>
            <a:endParaRPr lang="en-US"/>
          </a:p>
        </p:txBody>
      </p:sp>
      <p:sp>
        <p:nvSpPr>
          <p:cNvPr id="6" name="Espace réservé du pied de page 4"/>
          <p:cNvSpPr>
            <a:spLocks noGrp="1"/>
          </p:cNvSpPr>
          <p:nvPr>
            <p:ph type="ftr" sz="quarter" idx="11"/>
          </p:nvPr>
        </p:nvSpPr>
        <p:spPr/>
        <p:txBody>
          <a:bodyPr/>
          <a:lstStyle>
            <a:lvl1pPr>
              <a:defRPr/>
            </a:lvl1pPr>
          </a:lstStyle>
          <a:p>
            <a:pPr>
              <a:defRPr/>
            </a:pPr>
            <a:endParaRPr lang="en-US"/>
          </a:p>
        </p:txBody>
      </p:sp>
      <p:sp>
        <p:nvSpPr>
          <p:cNvPr id="7" name="Espace réservé du numéro de diapositive 5"/>
          <p:cNvSpPr>
            <a:spLocks noGrp="1"/>
          </p:cNvSpPr>
          <p:nvPr>
            <p:ph type="sldNum" sz="quarter" idx="12"/>
          </p:nvPr>
        </p:nvSpPr>
        <p:spPr/>
        <p:txBody>
          <a:bodyPr/>
          <a:lstStyle>
            <a:lvl1pPr>
              <a:defRPr/>
            </a:lvl1pPr>
          </a:lstStyle>
          <a:p>
            <a:fld id="{45ADC215-532A-C149-8BA5-DC08A4E0256E}" type="slidenum">
              <a:rPr lang="en-US"/>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endParaRPr lang="en-US"/>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Espace réservé du texte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endParaRPr lang="fr-FR"/>
          </a:p>
        </p:txBody>
      </p:sp>
      <p:sp>
        <p:nvSpPr>
          <p:cNvPr id="5" name="Espace réservé de la date 3"/>
          <p:cNvSpPr>
            <a:spLocks noGrp="1"/>
          </p:cNvSpPr>
          <p:nvPr>
            <p:ph type="dt" sz="half" idx="10"/>
          </p:nvPr>
        </p:nvSpPr>
        <p:spPr/>
        <p:txBody>
          <a:bodyPr/>
          <a:lstStyle>
            <a:lvl1pPr>
              <a:defRPr/>
            </a:lvl1pPr>
          </a:lstStyle>
          <a:p>
            <a:fld id="{2687159B-683E-824E-878A-7E16ED9F12FE}" type="datetimeFigureOut">
              <a:rPr lang="en-US"/>
            </a:fld>
            <a:endParaRPr lang="en-US"/>
          </a:p>
        </p:txBody>
      </p:sp>
      <p:sp>
        <p:nvSpPr>
          <p:cNvPr id="6" name="Espace réservé du pied de page 4"/>
          <p:cNvSpPr>
            <a:spLocks noGrp="1"/>
          </p:cNvSpPr>
          <p:nvPr>
            <p:ph type="ftr" sz="quarter" idx="11"/>
          </p:nvPr>
        </p:nvSpPr>
        <p:spPr/>
        <p:txBody>
          <a:bodyPr/>
          <a:lstStyle>
            <a:lvl1pPr>
              <a:defRPr/>
            </a:lvl1pPr>
          </a:lstStyle>
          <a:p>
            <a:pPr>
              <a:defRPr/>
            </a:pPr>
            <a:endParaRPr lang="en-US"/>
          </a:p>
        </p:txBody>
      </p:sp>
      <p:sp>
        <p:nvSpPr>
          <p:cNvPr id="7" name="Espace réservé du numéro de diapositive 5"/>
          <p:cNvSpPr>
            <a:spLocks noGrp="1"/>
          </p:cNvSpPr>
          <p:nvPr>
            <p:ph type="sldNum" sz="quarter" idx="12"/>
          </p:nvPr>
        </p:nvSpPr>
        <p:spPr/>
        <p:txBody>
          <a:bodyPr/>
          <a:lstStyle>
            <a:lvl1pPr>
              <a:defRPr/>
            </a:lvl1pPr>
          </a:lstStyle>
          <a:p>
            <a:fld id="{FBCBA679-7A7F-AC4E-B107-217FE90787D2}" type="slidenum">
              <a:rPr lang="en-US"/>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texte vertical 2"/>
          <p:cNvSpPr>
            <a:spLocks noGrp="1"/>
          </p:cNvSpPr>
          <p:nvPr>
            <p:ph type="body" orient="vert" idx="1" hasCustomPrompt="1"/>
          </p:nvPr>
        </p:nvSpPr>
        <p:spPr/>
        <p:txBody>
          <a:bodyPr vert="eaVert"/>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Espace réservé de la date 3"/>
          <p:cNvSpPr>
            <a:spLocks noGrp="1"/>
          </p:cNvSpPr>
          <p:nvPr>
            <p:ph type="dt" sz="half" idx="10"/>
          </p:nvPr>
        </p:nvSpPr>
        <p:spPr/>
        <p:txBody>
          <a:bodyPr/>
          <a:lstStyle>
            <a:lvl1pPr>
              <a:defRPr/>
            </a:lvl1pPr>
          </a:lstStyle>
          <a:p>
            <a:fld id="{76AB4631-698C-0045-86A9-E85B8D0AEAD9}" type="datetimeFigureOut">
              <a:rPr lang="en-US"/>
            </a:fld>
            <a:endParaRPr lang="en-US"/>
          </a:p>
        </p:txBody>
      </p:sp>
      <p:sp>
        <p:nvSpPr>
          <p:cNvPr id="5" name="Espace réservé du pied de page 4"/>
          <p:cNvSpPr>
            <a:spLocks noGrp="1"/>
          </p:cNvSpPr>
          <p:nvPr>
            <p:ph type="ftr" sz="quarter" idx="11"/>
          </p:nvPr>
        </p:nvSpPr>
        <p:spPr/>
        <p:txBody>
          <a:bodyPr/>
          <a:lstStyle>
            <a:lvl1pPr>
              <a:defRPr/>
            </a:lvl1pPr>
          </a:lstStyle>
          <a:p>
            <a:pPr>
              <a:defRPr/>
            </a:pPr>
            <a:endParaRPr lang="en-US"/>
          </a:p>
        </p:txBody>
      </p:sp>
      <p:sp>
        <p:nvSpPr>
          <p:cNvPr id="6" name="Espace réservé du numéro de diapositive 5"/>
          <p:cNvSpPr>
            <a:spLocks noGrp="1"/>
          </p:cNvSpPr>
          <p:nvPr>
            <p:ph type="sldNum" sz="quarter" idx="12"/>
          </p:nvPr>
        </p:nvSpPr>
        <p:spPr/>
        <p:txBody>
          <a:bodyPr/>
          <a:lstStyle>
            <a:lvl1pPr>
              <a:defRPr/>
            </a:lvl1pPr>
          </a:lstStyle>
          <a:p>
            <a:fld id="{D3FB07FF-AFC7-3E46-8DD2-ACF8BB5D852E}" type="slidenum">
              <a:rPr lang="en-US"/>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endParaRPr lang="en-US"/>
          </a:p>
        </p:txBody>
      </p:sp>
      <p:sp>
        <p:nvSpPr>
          <p:cNvPr id="3" name="Espace réservé du texte vertical 2"/>
          <p:cNvSpPr>
            <a:spLocks noGrp="1"/>
          </p:cNvSpPr>
          <p:nvPr>
            <p:ph type="body" orient="vert" idx="1" hasCustomPrompt="1"/>
          </p:nvPr>
        </p:nvSpPr>
        <p:spPr>
          <a:xfrm>
            <a:off x="457200" y="274638"/>
            <a:ext cx="6019800" cy="5851525"/>
          </a:xfrm>
        </p:spPr>
        <p:txBody>
          <a:bodyPr vert="eaVert"/>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Espace réservé de la date 3"/>
          <p:cNvSpPr>
            <a:spLocks noGrp="1"/>
          </p:cNvSpPr>
          <p:nvPr>
            <p:ph type="dt" sz="half" idx="10"/>
          </p:nvPr>
        </p:nvSpPr>
        <p:spPr/>
        <p:txBody>
          <a:bodyPr/>
          <a:lstStyle>
            <a:lvl1pPr>
              <a:defRPr/>
            </a:lvl1pPr>
          </a:lstStyle>
          <a:p>
            <a:fld id="{CD9F744F-A4BF-8346-BDC9-EF7FC1323B21}" type="datetimeFigureOut">
              <a:rPr lang="en-US"/>
            </a:fld>
            <a:endParaRPr lang="en-US"/>
          </a:p>
        </p:txBody>
      </p:sp>
      <p:sp>
        <p:nvSpPr>
          <p:cNvPr id="5" name="Espace réservé du pied de page 4"/>
          <p:cNvSpPr>
            <a:spLocks noGrp="1"/>
          </p:cNvSpPr>
          <p:nvPr>
            <p:ph type="ftr" sz="quarter" idx="11"/>
          </p:nvPr>
        </p:nvSpPr>
        <p:spPr/>
        <p:txBody>
          <a:bodyPr/>
          <a:lstStyle>
            <a:lvl1pPr>
              <a:defRPr/>
            </a:lvl1pPr>
          </a:lstStyle>
          <a:p>
            <a:pPr>
              <a:defRPr/>
            </a:pPr>
            <a:endParaRPr lang="en-US"/>
          </a:p>
        </p:txBody>
      </p:sp>
      <p:sp>
        <p:nvSpPr>
          <p:cNvPr id="6" name="Espace réservé du numéro de diapositive 5"/>
          <p:cNvSpPr>
            <a:spLocks noGrp="1"/>
          </p:cNvSpPr>
          <p:nvPr>
            <p:ph type="sldNum" sz="quarter" idx="12"/>
          </p:nvPr>
        </p:nvSpPr>
        <p:spPr/>
        <p:txBody>
          <a:bodyPr/>
          <a:lstStyle>
            <a:lvl1pPr>
              <a:defRPr/>
            </a:lvl1pPr>
          </a:lstStyle>
          <a:p>
            <a:fld id="{9CDDCA8E-D198-AF49-B55C-7966A8C8E1EC}" type="slidenum">
              <a:rPr lang="en-US"/>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showMasterSp="0">
  <p:cSld name="Diapositive de titre">
    <p:spTree>
      <p:nvGrpSpPr>
        <p:cNvPr id="1" name=""/>
        <p:cNvGrpSpPr/>
        <p:nvPr/>
      </p:nvGrpSpPr>
      <p:grpSpPr>
        <a:xfrm>
          <a:off x="0" y="0"/>
          <a:ext cx="0" cy="0"/>
          <a:chOff x="0" y="0"/>
          <a:chExt cx="0" cy="0"/>
        </a:xfrm>
      </p:grpSpPr>
      <p:grpSp>
        <p:nvGrpSpPr>
          <p:cNvPr id="4" name="Group 2"/>
          <p:cNvGrpSpPr/>
          <p:nvPr/>
        </p:nvGrpSpPr>
        <p:grpSpPr bwMode="auto">
          <a:xfrm>
            <a:off x="0" y="0"/>
            <a:ext cx="5867400" cy="6858000"/>
            <a:chOff x="0" y="0"/>
            <a:chExt cx="3696" cy="4320"/>
          </a:xfrm>
        </p:grpSpPr>
        <p:sp>
          <p:nvSpPr>
            <p:cNvPr id="5" name="Rectangle 3"/>
            <p:cNvSpPr>
              <a:spLocks noChangeArrowheads="1"/>
            </p:cNvSpPr>
            <p:nvPr/>
          </p:nvSpPr>
          <p:spPr bwMode="auto">
            <a:xfrm>
              <a:off x="0" y="0"/>
              <a:ext cx="2880" cy="4320"/>
            </a:xfrm>
            <a:prstGeom prst="rect">
              <a:avLst/>
            </a:prstGeom>
            <a:solidFill>
              <a:schemeClr val="accent2"/>
            </a:solidFill>
            <a:ln>
              <a:noFill/>
            </a:ln>
            <a:effectLst/>
          </p:spPr>
          <p:txBody>
            <a:bodyPr wrap="none" anchor="ctr"/>
            <a:lstStyle>
              <a:lvl1pPr>
                <a:defRPr sz="800">
                  <a:solidFill>
                    <a:srgbClr val="010507"/>
                  </a:solidFill>
                  <a:latin typeface="Arial" panose="020B0604020202020204" pitchFamily="34" charset="0"/>
                </a:defRPr>
              </a:lvl1pPr>
              <a:lvl2pPr marL="742950" indent="-285750">
                <a:defRPr sz="800">
                  <a:solidFill>
                    <a:srgbClr val="010507"/>
                  </a:solidFill>
                  <a:latin typeface="Arial" panose="020B0604020202020204" pitchFamily="34" charset="0"/>
                </a:defRPr>
              </a:lvl2pPr>
              <a:lvl3pPr marL="1143000" indent="-228600">
                <a:defRPr sz="800">
                  <a:solidFill>
                    <a:srgbClr val="010507"/>
                  </a:solidFill>
                  <a:latin typeface="Arial" panose="020B0604020202020204" pitchFamily="34" charset="0"/>
                </a:defRPr>
              </a:lvl3pPr>
              <a:lvl4pPr marL="1600200" indent="-228600">
                <a:defRPr sz="800">
                  <a:solidFill>
                    <a:srgbClr val="010507"/>
                  </a:solidFill>
                  <a:latin typeface="Arial" panose="020B0604020202020204" pitchFamily="34" charset="0"/>
                </a:defRPr>
              </a:lvl4pPr>
              <a:lvl5pPr marL="2057400" indent="-228600">
                <a:defRPr sz="800">
                  <a:solidFill>
                    <a:srgbClr val="010507"/>
                  </a:solidFill>
                  <a:latin typeface="Arial" panose="020B0604020202020204" pitchFamily="34" charset="0"/>
                </a:defRPr>
              </a:lvl5pPr>
              <a:lvl6pPr marL="25146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6pPr>
              <a:lvl7pPr marL="29718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7pPr>
              <a:lvl8pPr marL="34290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8pPr>
              <a:lvl9pPr marL="38862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9pPr>
            </a:lstStyle>
            <a:p>
              <a:pPr eaLnBrk="1" hangingPunct="1">
                <a:spcBef>
                  <a:spcPct val="0"/>
                </a:spcBef>
                <a:buClrTx/>
                <a:buSzTx/>
                <a:buFontTx/>
                <a:buNone/>
                <a:defRPr/>
              </a:pPr>
              <a:endParaRPr kumimoji="1" lang="en-GB" altLang="en-US" sz="2400">
                <a:solidFill>
                  <a:schemeClr val="tx1"/>
                </a:solidFill>
                <a:latin typeface="Times New Roman" panose="02020603050405020304" charset="0"/>
                <a:ea typeface="+mn-ea"/>
              </a:endParaRPr>
            </a:p>
          </p:txBody>
        </p:sp>
        <p:sp>
          <p:nvSpPr>
            <p:cNvPr id="6" name="AutoShape 4"/>
            <p:cNvSpPr>
              <a:spLocks noChangeArrowheads="1"/>
            </p:cNvSpPr>
            <p:nvPr/>
          </p:nvSpPr>
          <p:spPr bwMode="white">
            <a:xfrm>
              <a:off x="432" y="624"/>
              <a:ext cx="3264" cy="1200"/>
            </a:xfrm>
            <a:prstGeom prst="roundRect">
              <a:avLst>
                <a:gd name="adj" fmla="val 50000"/>
              </a:avLst>
            </a:prstGeom>
            <a:solidFill>
              <a:schemeClr val="bg1"/>
            </a:solidFill>
            <a:ln>
              <a:noFill/>
            </a:ln>
            <a:effectLst/>
          </p:spPr>
          <p:txBody>
            <a:bodyPr wrap="none" anchor="ctr"/>
            <a:lstStyle>
              <a:lvl1pPr>
                <a:defRPr sz="800">
                  <a:solidFill>
                    <a:srgbClr val="010507"/>
                  </a:solidFill>
                  <a:latin typeface="Arial" panose="020B0604020202020204" pitchFamily="34" charset="0"/>
                </a:defRPr>
              </a:lvl1pPr>
              <a:lvl2pPr marL="742950" indent="-285750">
                <a:defRPr sz="800">
                  <a:solidFill>
                    <a:srgbClr val="010507"/>
                  </a:solidFill>
                  <a:latin typeface="Arial" panose="020B0604020202020204" pitchFamily="34" charset="0"/>
                </a:defRPr>
              </a:lvl2pPr>
              <a:lvl3pPr marL="1143000" indent="-228600">
                <a:defRPr sz="800">
                  <a:solidFill>
                    <a:srgbClr val="010507"/>
                  </a:solidFill>
                  <a:latin typeface="Arial" panose="020B0604020202020204" pitchFamily="34" charset="0"/>
                </a:defRPr>
              </a:lvl3pPr>
              <a:lvl4pPr marL="1600200" indent="-228600">
                <a:defRPr sz="800">
                  <a:solidFill>
                    <a:srgbClr val="010507"/>
                  </a:solidFill>
                  <a:latin typeface="Arial" panose="020B0604020202020204" pitchFamily="34" charset="0"/>
                </a:defRPr>
              </a:lvl4pPr>
              <a:lvl5pPr marL="2057400" indent="-228600">
                <a:defRPr sz="800">
                  <a:solidFill>
                    <a:srgbClr val="010507"/>
                  </a:solidFill>
                  <a:latin typeface="Arial" panose="020B0604020202020204" pitchFamily="34" charset="0"/>
                </a:defRPr>
              </a:lvl5pPr>
              <a:lvl6pPr marL="25146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6pPr>
              <a:lvl7pPr marL="29718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7pPr>
              <a:lvl8pPr marL="34290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8pPr>
              <a:lvl9pPr marL="38862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9pPr>
            </a:lstStyle>
            <a:p>
              <a:pPr eaLnBrk="1" hangingPunct="1">
                <a:spcBef>
                  <a:spcPct val="0"/>
                </a:spcBef>
                <a:buClrTx/>
                <a:buSzTx/>
                <a:buFontTx/>
                <a:buNone/>
                <a:defRPr/>
              </a:pPr>
              <a:endParaRPr kumimoji="1" lang="en-GB" altLang="en-US" sz="2400">
                <a:solidFill>
                  <a:schemeClr val="tx1"/>
                </a:solidFill>
                <a:latin typeface="Times New Roman" panose="02020603050405020304" charset="0"/>
                <a:ea typeface="+mn-ea"/>
              </a:endParaRPr>
            </a:p>
          </p:txBody>
        </p:sp>
      </p:grpSp>
      <p:grpSp>
        <p:nvGrpSpPr>
          <p:cNvPr id="7" name="Group 5"/>
          <p:cNvGrpSpPr/>
          <p:nvPr/>
        </p:nvGrpSpPr>
        <p:grpSpPr bwMode="auto">
          <a:xfrm>
            <a:off x="3632200" y="4889500"/>
            <a:ext cx="4876800" cy="319088"/>
            <a:chOff x="2288" y="3080"/>
            <a:chExt cx="3072" cy="201"/>
          </a:xfrm>
        </p:grpSpPr>
        <p:sp>
          <p:nvSpPr>
            <p:cNvPr id="8" name="AutoShape 6"/>
            <p:cNvSpPr>
              <a:spLocks noChangeArrowheads="1"/>
            </p:cNvSpPr>
            <p:nvPr/>
          </p:nvSpPr>
          <p:spPr bwMode="auto">
            <a:xfrm flipH="1">
              <a:off x="2288" y="3080"/>
              <a:ext cx="2914" cy="200"/>
            </a:xfrm>
            <a:prstGeom prst="roundRect">
              <a:avLst>
                <a:gd name="adj" fmla="val 0"/>
              </a:avLst>
            </a:prstGeom>
            <a:solidFill>
              <a:schemeClr val="hlink"/>
            </a:solidFill>
            <a:ln>
              <a:noFill/>
            </a:ln>
            <a:effectLst/>
          </p:spPr>
          <p:txBody>
            <a:bodyPr wrap="none" anchor="ctr"/>
            <a:lstStyle>
              <a:lvl1pPr>
                <a:defRPr sz="800">
                  <a:solidFill>
                    <a:srgbClr val="010507"/>
                  </a:solidFill>
                  <a:latin typeface="Arial" panose="020B0604020202020204" pitchFamily="34" charset="0"/>
                </a:defRPr>
              </a:lvl1pPr>
              <a:lvl2pPr marL="742950" indent="-285750">
                <a:defRPr sz="800">
                  <a:solidFill>
                    <a:srgbClr val="010507"/>
                  </a:solidFill>
                  <a:latin typeface="Arial" panose="020B0604020202020204" pitchFamily="34" charset="0"/>
                </a:defRPr>
              </a:lvl2pPr>
              <a:lvl3pPr marL="1143000" indent="-228600">
                <a:defRPr sz="800">
                  <a:solidFill>
                    <a:srgbClr val="010507"/>
                  </a:solidFill>
                  <a:latin typeface="Arial" panose="020B0604020202020204" pitchFamily="34" charset="0"/>
                </a:defRPr>
              </a:lvl3pPr>
              <a:lvl4pPr marL="1600200" indent="-228600">
                <a:defRPr sz="800">
                  <a:solidFill>
                    <a:srgbClr val="010507"/>
                  </a:solidFill>
                  <a:latin typeface="Arial" panose="020B0604020202020204" pitchFamily="34" charset="0"/>
                </a:defRPr>
              </a:lvl4pPr>
              <a:lvl5pPr marL="2057400" indent="-228600">
                <a:defRPr sz="800">
                  <a:solidFill>
                    <a:srgbClr val="010507"/>
                  </a:solidFill>
                  <a:latin typeface="Arial" panose="020B0604020202020204" pitchFamily="34" charset="0"/>
                </a:defRPr>
              </a:lvl5pPr>
              <a:lvl6pPr marL="25146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6pPr>
              <a:lvl7pPr marL="29718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7pPr>
              <a:lvl8pPr marL="34290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8pPr>
              <a:lvl9pPr marL="38862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9pPr>
            </a:lstStyle>
            <a:p>
              <a:pPr>
                <a:buFont typeface="Monotype Sorts" pitchFamily="2" charset="2"/>
                <a:buNone/>
                <a:defRPr/>
              </a:pPr>
              <a:endParaRPr lang="en-US" altLang="en-US">
                <a:ea typeface="+mn-ea"/>
              </a:endParaRPr>
            </a:p>
          </p:txBody>
        </p:sp>
        <p:sp>
          <p:nvSpPr>
            <p:cNvPr id="9" name="AutoShape 7"/>
            <p:cNvSpPr>
              <a:spLocks noChangeArrowheads="1"/>
            </p:cNvSpPr>
            <p:nvPr/>
          </p:nvSpPr>
          <p:spPr bwMode="auto">
            <a:xfrm>
              <a:off x="5196" y="3080"/>
              <a:ext cx="164" cy="201"/>
            </a:xfrm>
            <a:prstGeom prst="flowChartDelay">
              <a:avLst/>
            </a:prstGeom>
            <a:solidFill>
              <a:schemeClr val="hlink"/>
            </a:solidFill>
            <a:ln>
              <a:noFill/>
            </a:ln>
            <a:effectLst/>
          </p:spPr>
          <p:txBody>
            <a:bodyPr wrap="none" anchor="ctr"/>
            <a:lstStyle>
              <a:lvl1pPr>
                <a:defRPr sz="800">
                  <a:solidFill>
                    <a:srgbClr val="010507"/>
                  </a:solidFill>
                  <a:latin typeface="Arial" panose="020B0604020202020204" pitchFamily="34" charset="0"/>
                </a:defRPr>
              </a:lvl1pPr>
              <a:lvl2pPr marL="742950" indent="-285750">
                <a:defRPr sz="800">
                  <a:solidFill>
                    <a:srgbClr val="010507"/>
                  </a:solidFill>
                  <a:latin typeface="Arial" panose="020B0604020202020204" pitchFamily="34" charset="0"/>
                </a:defRPr>
              </a:lvl2pPr>
              <a:lvl3pPr marL="1143000" indent="-228600">
                <a:defRPr sz="800">
                  <a:solidFill>
                    <a:srgbClr val="010507"/>
                  </a:solidFill>
                  <a:latin typeface="Arial" panose="020B0604020202020204" pitchFamily="34" charset="0"/>
                </a:defRPr>
              </a:lvl3pPr>
              <a:lvl4pPr marL="1600200" indent="-228600">
                <a:defRPr sz="800">
                  <a:solidFill>
                    <a:srgbClr val="010507"/>
                  </a:solidFill>
                  <a:latin typeface="Arial" panose="020B0604020202020204" pitchFamily="34" charset="0"/>
                </a:defRPr>
              </a:lvl4pPr>
              <a:lvl5pPr marL="2057400" indent="-228600">
                <a:defRPr sz="800">
                  <a:solidFill>
                    <a:srgbClr val="010507"/>
                  </a:solidFill>
                  <a:latin typeface="Arial" panose="020B0604020202020204" pitchFamily="34" charset="0"/>
                </a:defRPr>
              </a:lvl5pPr>
              <a:lvl6pPr marL="25146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6pPr>
              <a:lvl7pPr marL="29718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7pPr>
              <a:lvl8pPr marL="34290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8pPr>
              <a:lvl9pPr marL="38862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9pPr>
            </a:lstStyle>
            <a:p>
              <a:pPr>
                <a:buFont typeface="Monotype Sorts" pitchFamily="2" charset="2"/>
                <a:buNone/>
                <a:defRPr/>
              </a:pPr>
              <a:endParaRPr lang="en-US" altLang="en-US">
                <a:ea typeface="+mn-ea"/>
              </a:endParaRPr>
            </a:p>
          </p:txBody>
        </p:sp>
      </p:grpSp>
      <p:sp>
        <p:nvSpPr>
          <p:cNvPr id="535560" name="Rectangle 8"/>
          <p:cNvSpPr>
            <a:spLocks noGrp="1" noChangeArrowheads="1"/>
          </p:cNvSpPr>
          <p:nvPr>
            <p:ph type="subTitle" idx="1" hasCustomPrompt="1"/>
          </p:nvPr>
        </p:nvSpPr>
        <p:spPr>
          <a:xfrm>
            <a:off x="4673600" y="2927350"/>
            <a:ext cx="4013200" cy="1822450"/>
          </a:xfrm>
        </p:spPr>
        <p:txBody>
          <a:bodyPr anchor="b"/>
          <a:lstStyle>
            <a:lvl1pPr marL="0" indent="0">
              <a:buFont typeface="Wingdings" panose="05000000000000000000" pitchFamily="2" charset="2"/>
              <a:buNone/>
              <a:defRPr>
                <a:solidFill>
                  <a:schemeClr val="tx2"/>
                </a:solidFill>
              </a:defRPr>
            </a:lvl1pPr>
          </a:lstStyle>
          <a:p>
            <a:pPr lvl="0"/>
            <a:r>
              <a:rPr lang="fr-FR" noProof="0"/>
              <a:t>Cliquez pour modifier le style des sous-titres du masque</a:t>
            </a:r>
            <a:endParaRPr lang="fr-FR" noProof="0"/>
          </a:p>
        </p:txBody>
      </p:sp>
      <p:sp>
        <p:nvSpPr>
          <p:cNvPr id="535564" name="AutoShape 12"/>
          <p:cNvSpPr>
            <a:spLocks noGrp="1" noChangeArrowheads="1"/>
          </p:cNvSpPr>
          <p:nvPr>
            <p:ph type="ctrTitle" sz="quarter" hasCustomPrompt="1"/>
          </p:nvPr>
        </p:nvSpPr>
        <p:spPr>
          <a:xfrm>
            <a:off x="685800" y="990600"/>
            <a:ext cx="8229600" cy="1905000"/>
          </a:xfrm>
          <a:prstGeom prst="roundRect">
            <a:avLst>
              <a:gd name="adj" fmla="val 50000"/>
            </a:avLst>
          </a:prstGeom>
        </p:spPr>
        <p:txBody>
          <a:bodyPr anchor="ctr"/>
          <a:lstStyle>
            <a:lvl1pPr algn="ctr">
              <a:defRPr>
                <a:solidFill>
                  <a:schemeClr val="tx1"/>
                </a:solidFill>
              </a:defRPr>
            </a:lvl1pPr>
          </a:lstStyle>
          <a:p>
            <a:pPr lvl="0"/>
            <a:r>
              <a:rPr lang="fr-FR" noProof="0"/>
              <a:t>Cliquez pour modifier le style du titre</a:t>
            </a:r>
            <a:endParaRPr lang="fr-FR" noProof="0"/>
          </a:p>
        </p:txBody>
      </p:sp>
      <p:sp>
        <p:nvSpPr>
          <p:cNvPr id="10" name="Rectangle 9"/>
          <p:cNvSpPr>
            <a:spLocks noGrp="1" noChangeArrowheads="1"/>
          </p:cNvSpPr>
          <p:nvPr>
            <p:ph type="dt" sz="quarter" idx="10"/>
          </p:nvPr>
        </p:nvSpPr>
        <p:spPr/>
        <p:txBody>
          <a:bodyPr/>
          <a:lstStyle>
            <a:lvl1pPr>
              <a:defRPr>
                <a:solidFill>
                  <a:schemeClr val="bg1"/>
                </a:solidFill>
              </a:defRPr>
            </a:lvl1pPr>
          </a:lstStyle>
          <a:p>
            <a:pPr>
              <a:defRPr/>
            </a:pPr>
            <a:endParaRPr lang="fr-FR"/>
          </a:p>
        </p:txBody>
      </p:sp>
      <p:sp>
        <p:nvSpPr>
          <p:cNvPr id="11" name="Rectangle 10"/>
          <p:cNvSpPr>
            <a:spLocks noGrp="1" noChangeArrowheads="1"/>
          </p:cNvSpPr>
          <p:nvPr>
            <p:ph type="ftr" sz="quarter" idx="11"/>
          </p:nvPr>
        </p:nvSpPr>
        <p:spPr/>
        <p:txBody>
          <a:bodyPr/>
          <a:lstStyle>
            <a:lvl1pPr algn="r">
              <a:defRPr/>
            </a:lvl1pPr>
          </a:lstStyle>
          <a:p>
            <a:pPr>
              <a:defRPr/>
            </a:pPr>
            <a:endParaRPr lang="fr-FR"/>
          </a:p>
        </p:txBody>
      </p:sp>
      <p:sp>
        <p:nvSpPr>
          <p:cNvPr id="12" name="Rectangle 11"/>
          <p:cNvSpPr>
            <a:spLocks noGrp="1" noChangeArrowheads="1"/>
          </p:cNvSpPr>
          <p:nvPr>
            <p:ph type="sldNum" sz="quarter" idx="12"/>
          </p:nvPr>
        </p:nvSpPr>
        <p:spPr>
          <a:xfrm>
            <a:off x="76200" y="6248400"/>
            <a:ext cx="587375" cy="488950"/>
          </a:xfrm>
        </p:spPr>
        <p:txBody>
          <a:bodyPr anchorCtr="0"/>
          <a:lstStyle>
            <a:lvl1pPr>
              <a:defRPr/>
            </a:lvl1pPr>
          </a:lstStyle>
          <a:p>
            <a:fld id="{AD49E8A2-2A82-7B43-BA81-67F909C48401}" type="slidenum">
              <a:rPr lang="fr-FR"/>
            </a:fld>
            <a:endParaRPr lang="fr-F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idx="1" hasCustomPrompt="1"/>
          </p:nvPr>
        </p:nvSpPr>
        <p:spPr/>
        <p:txBody>
          <a:body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Rectangle 11"/>
          <p:cNvSpPr>
            <a:spLocks noGrp="1" noChangeArrowheads="1"/>
          </p:cNvSpPr>
          <p:nvPr>
            <p:ph type="dt" sz="half" idx="10"/>
          </p:nvPr>
        </p:nvSpPr>
        <p:spPr/>
        <p:txBody>
          <a:bodyPr/>
          <a:lstStyle>
            <a:lvl1pPr>
              <a:defRPr/>
            </a:lvl1pPr>
          </a:lstStyle>
          <a:p>
            <a:pPr>
              <a:defRPr/>
            </a:pPr>
            <a:endParaRPr lang="fr-FR"/>
          </a:p>
        </p:txBody>
      </p:sp>
      <p:sp>
        <p:nvSpPr>
          <p:cNvPr id="5" name="Rectangle 12"/>
          <p:cNvSpPr>
            <a:spLocks noGrp="1" noChangeArrowheads="1"/>
          </p:cNvSpPr>
          <p:nvPr>
            <p:ph type="ftr" sz="quarter" idx="11"/>
          </p:nvPr>
        </p:nvSpPr>
        <p:spPr/>
        <p:txBody>
          <a:bodyPr/>
          <a:lstStyle>
            <a:lvl1pPr>
              <a:defRPr/>
            </a:lvl1pPr>
          </a:lstStyle>
          <a:p>
            <a:pPr>
              <a:defRPr/>
            </a:pPr>
            <a:endParaRPr lang="fr-FR"/>
          </a:p>
        </p:txBody>
      </p:sp>
      <p:sp>
        <p:nvSpPr>
          <p:cNvPr id="6" name="Rectangle 13"/>
          <p:cNvSpPr>
            <a:spLocks noGrp="1" noChangeArrowheads="1"/>
          </p:cNvSpPr>
          <p:nvPr>
            <p:ph type="sldNum" sz="quarter" idx="12"/>
          </p:nvPr>
        </p:nvSpPr>
        <p:spPr/>
        <p:txBody>
          <a:bodyPr/>
          <a:lstStyle>
            <a:lvl1pPr>
              <a:defRPr/>
            </a:lvl1pPr>
          </a:lstStyle>
          <a:p>
            <a:fld id="{F14FC8E9-CE98-E749-AE4F-C557F5F21765}" type="slidenum">
              <a:rPr lang="fr-FR"/>
            </a:fld>
            <a:endParaRPr lang="fr-F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endParaRPr lang="en-US"/>
          </a:p>
        </p:txBody>
      </p:sp>
      <p:sp>
        <p:nvSpPr>
          <p:cNvPr id="3" name="Espace réservé du texte 2"/>
          <p:cNvSpPr>
            <a:spLocks noGrp="1"/>
          </p:cNvSpPr>
          <p:nvPr>
            <p:ph type="body" idx="1" hasCustomPrompt="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Modifiez les styles du texte du masque</a:t>
            </a:r>
            <a:endParaRPr lang="fr-FR"/>
          </a:p>
        </p:txBody>
      </p:sp>
      <p:sp>
        <p:nvSpPr>
          <p:cNvPr id="4" name="Rectangle 11"/>
          <p:cNvSpPr>
            <a:spLocks noGrp="1" noChangeArrowheads="1"/>
          </p:cNvSpPr>
          <p:nvPr>
            <p:ph type="dt" sz="half" idx="10"/>
          </p:nvPr>
        </p:nvSpPr>
        <p:spPr/>
        <p:txBody>
          <a:bodyPr/>
          <a:lstStyle>
            <a:lvl1pPr>
              <a:defRPr/>
            </a:lvl1pPr>
          </a:lstStyle>
          <a:p>
            <a:pPr>
              <a:defRPr/>
            </a:pPr>
            <a:endParaRPr lang="fr-FR"/>
          </a:p>
        </p:txBody>
      </p:sp>
      <p:sp>
        <p:nvSpPr>
          <p:cNvPr id="5" name="Rectangle 12"/>
          <p:cNvSpPr>
            <a:spLocks noGrp="1" noChangeArrowheads="1"/>
          </p:cNvSpPr>
          <p:nvPr>
            <p:ph type="ftr" sz="quarter" idx="11"/>
          </p:nvPr>
        </p:nvSpPr>
        <p:spPr/>
        <p:txBody>
          <a:bodyPr/>
          <a:lstStyle>
            <a:lvl1pPr>
              <a:defRPr/>
            </a:lvl1pPr>
          </a:lstStyle>
          <a:p>
            <a:pPr>
              <a:defRPr/>
            </a:pPr>
            <a:endParaRPr lang="fr-FR"/>
          </a:p>
        </p:txBody>
      </p:sp>
      <p:sp>
        <p:nvSpPr>
          <p:cNvPr id="6" name="Rectangle 13"/>
          <p:cNvSpPr>
            <a:spLocks noGrp="1" noChangeArrowheads="1"/>
          </p:cNvSpPr>
          <p:nvPr>
            <p:ph type="sldNum" sz="quarter" idx="12"/>
          </p:nvPr>
        </p:nvSpPr>
        <p:spPr/>
        <p:txBody>
          <a:bodyPr/>
          <a:lstStyle>
            <a:lvl1pPr>
              <a:defRPr/>
            </a:lvl1pPr>
          </a:lstStyle>
          <a:p>
            <a:fld id="{F3DA2C21-717B-EA49-BCB0-D5EA71619B58}" type="slidenum">
              <a:rPr lang="fr-FR"/>
            </a:fld>
            <a:endParaRPr lang="fr-F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sz="half" idx="1" hasCustomPrompt="1"/>
          </p:nvPr>
        </p:nvSpPr>
        <p:spPr>
          <a:xfrm>
            <a:off x="838200" y="2362200"/>
            <a:ext cx="3770313"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Espace réservé du contenu 3"/>
          <p:cNvSpPr>
            <a:spLocks noGrp="1"/>
          </p:cNvSpPr>
          <p:nvPr>
            <p:ph sz="half" idx="2" hasCustomPrompt="1"/>
          </p:nvPr>
        </p:nvSpPr>
        <p:spPr>
          <a:xfrm>
            <a:off x="4760913" y="2362200"/>
            <a:ext cx="3770312"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5" name="Rectangle 11"/>
          <p:cNvSpPr>
            <a:spLocks noGrp="1" noChangeArrowheads="1"/>
          </p:cNvSpPr>
          <p:nvPr>
            <p:ph type="dt" sz="half" idx="10"/>
          </p:nvPr>
        </p:nvSpPr>
        <p:spPr/>
        <p:txBody>
          <a:bodyPr/>
          <a:lstStyle>
            <a:lvl1pPr>
              <a:defRPr/>
            </a:lvl1pPr>
          </a:lstStyle>
          <a:p>
            <a:pPr>
              <a:defRPr/>
            </a:pPr>
            <a:endParaRPr lang="fr-FR"/>
          </a:p>
        </p:txBody>
      </p:sp>
      <p:sp>
        <p:nvSpPr>
          <p:cNvPr id="6" name="Rectangle 12"/>
          <p:cNvSpPr>
            <a:spLocks noGrp="1" noChangeArrowheads="1"/>
          </p:cNvSpPr>
          <p:nvPr>
            <p:ph type="ftr" sz="quarter" idx="11"/>
          </p:nvPr>
        </p:nvSpPr>
        <p:spPr/>
        <p:txBody>
          <a:bodyPr/>
          <a:lstStyle>
            <a:lvl1pPr>
              <a:defRPr/>
            </a:lvl1pPr>
          </a:lstStyle>
          <a:p>
            <a:pPr>
              <a:defRPr/>
            </a:pPr>
            <a:endParaRPr lang="fr-FR"/>
          </a:p>
        </p:txBody>
      </p:sp>
      <p:sp>
        <p:nvSpPr>
          <p:cNvPr id="7" name="Rectangle 13"/>
          <p:cNvSpPr>
            <a:spLocks noGrp="1" noChangeArrowheads="1"/>
          </p:cNvSpPr>
          <p:nvPr>
            <p:ph type="sldNum" sz="quarter" idx="12"/>
          </p:nvPr>
        </p:nvSpPr>
        <p:spPr/>
        <p:txBody>
          <a:bodyPr/>
          <a:lstStyle>
            <a:lvl1pPr>
              <a:defRPr/>
            </a:lvl1pPr>
          </a:lstStyle>
          <a:p>
            <a:fld id="{C610EC4E-EE35-C047-9F98-1371F8059A21}" type="slidenum">
              <a:rPr lang="fr-FR"/>
            </a:fld>
            <a:endParaRPr lang="fr-F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Modifiez le style du titre</a:t>
            </a:r>
            <a:endParaRPr lang="en-US"/>
          </a:p>
        </p:txBody>
      </p:sp>
      <p:sp>
        <p:nvSpPr>
          <p:cNvPr id="3" name="Espace réservé du texte 2"/>
          <p:cNvSpPr>
            <a:spLocks noGrp="1"/>
          </p:cNvSpPr>
          <p:nvPr>
            <p:ph type="body" idx="1" hasCustomPrompt="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endParaRPr lang="fr-FR"/>
          </a:p>
        </p:txBody>
      </p:sp>
      <p:sp>
        <p:nvSpPr>
          <p:cNvPr id="4" name="Espace réservé du contenu 3"/>
          <p:cNvSpPr>
            <a:spLocks noGrp="1"/>
          </p:cNvSpPr>
          <p:nvPr>
            <p:ph sz="half" idx="2" hasCustomPrompt="1"/>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5" name="Espace réservé du texte 4"/>
          <p:cNvSpPr>
            <a:spLocks noGrp="1"/>
          </p:cNvSpPr>
          <p:nvPr>
            <p:ph type="body" sz="quarter" idx="3" hasCustomPrompt="1"/>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endParaRPr lang="fr-FR"/>
          </a:p>
        </p:txBody>
      </p:sp>
      <p:sp>
        <p:nvSpPr>
          <p:cNvPr id="6" name="Espace réservé du contenu 5"/>
          <p:cNvSpPr>
            <a:spLocks noGrp="1"/>
          </p:cNvSpPr>
          <p:nvPr>
            <p:ph sz="quarter" idx="4" hasCustomPrompt="1"/>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7" name="Rectangle 11"/>
          <p:cNvSpPr>
            <a:spLocks noGrp="1" noChangeArrowheads="1"/>
          </p:cNvSpPr>
          <p:nvPr>
            <p:ph type="dt" sz="half" idx="10"/>
          </p:nvPr>
        </p:nvSpPr>
        <p:spPr/>
        <p:txBody>
          <a:bodyPr/>
          <a:lstStyle>
            <a:lvl1pPr>
              <a:defRPr/>
            </a:lvl1pPr>
          </a:lstStyle>
          <a:p>
            <a:pPr>
              <a:defRPr/>
            </a:pPr>
            <a:endParaRPr lang="fr-FR"/>
          </a:p>
        </p:txBody>
      </p:sp>
      <p:sp>
        <p:nvSpPr>
          <p:cNvPr id="8" name="Rectangle 12"/>
          <p:cNvSpPr>
            <a:spLocks noGrp="1" noChangeArrowheads="1"/>
          </p:cNvSpPr>
          <p:nvPr>
            <p:ph type="ftr" sz="quarter" idx="11"/>
          </p:nvPr>
        </p:nvSpPr>
        <p:spPr/>
        <p:txBody>
          <a:bodyPr/>
          <a:lstStyle>
            <a:lvl1pPr>
              <a:defRPr/>
            </a:lvl1pPr>
          </a:lstStyle>
          <a:p>
            <a:pPr>
              <a:defRPr/>
            </a:pPr>
            <a:endParaRPr lang="fr-FR"/>
          </a:p>
        </p:txBody>
      </p:sp>
      <p:sp>
        <p:nvSpPr>
          <p:cNvPr id="9" name="Rectangle 13"/>
          <p:cNvSpPr>
            <a:spLocks noGrp="1" noChangeArrowheads="1"/>
          </p:cNvSpPr>
          <p:nvPr>
            <p:ph type="sldNum" sz="quarter" idx="12"/>
          </p:nvPr>
        </p:nvSpPr>
        <p:spPr/>
        <p:txBody>
          <a:bodyPr/>
          <a:lstStyle>
            <a:lvl1pPr>
              <a:defRPr/>
            </a:lvl1pPr>
          </a:lstStyle>
          <a:p>
            <a:fld id="{4155590F-C747-9441-B5B8-8BF11ED4D7DF}" type="slidenum">
              <a:rPr lang="fr-FR"/>
            </a:fld>
            <a:endParaRPr lang="fr-F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Rectangle 11"/>
          <p:cNvSpPr>
            <a:spLocks noGrp="1" noChangeArrowheads="1"/>
          </p:cNvSpPr>
          <p:nvPr>
            <p:ph type="dt" sz="half" idx="10"/>
          </p:nvPr>
        </p:nvSpPr>
        <p:spPr/>
        <p:txBody>
          <a:bodyPr/>
          <a:lstStyle>
            <a:lvl1pPr>
              <a:defRPr/>
            </a:lvl1pPr>
          </a:lstStyle>
          <a:p>
            <a:pPr>
              <a:defRPr/>
            </a:pPr>
            <a:endParaRPr lang="fr-FR"/>
          </a:p>
        </p:txBody>
      </p:sp>
      <p:sp>
        <p:nvSpPr>
          <p:cNvPr id="4" name="Rectangle 12"/>
          <p:cNvSpPr>
            <a:spLocks noGrp="1" noChangeArrowheads="1"/>
          </p:cNvSpPr>
          <p:nvPr>
            <p:ph type="ftr" sz="quarter" idx="11"/>
          </p:nvPr>
        </p:nvSpPr>
        <p:spPr/>
        <p:txBody>
          <a:bodyPr/>
          <a:lstStyle>
            <a:lvl1pPr>
              <a:defRPr/>
            </a:lvl1pPr>
          </a:lstStyle>
          <a:p>
            <a:pPr>
              <a:defRPr/>
            </a:pPr>
            <a:endParaRPr lang="fr-FR"/>
          </a:p>
        </p:txBody>
      </p:sp>
      <p:sp>
        <p:nvSpPr>
          <p:cNvPr id="5" name="Rectangle 13"/>
          <p:cNvSpPr>
            <a:spLocks noGrp="1" noChangeArrowheads="1"/>
          </p:cNvSpPr>
          <p:nvPr>
            <p:ph type="sldNum" sz="quarter" idx="12"/>
          </p:nvPr>
        </p:nvSpPr>
        <p:spPr/>
        <p:txBody>
          <a:bodyPr/>
          <a:lstStyle>
            <a:lvl1pPr>
              <a:defRPr/>
            </a:lvl1pPr>
          </a:lstStyle>
          <a:p>
            <a:fld id="{6F562F5A-EA7A-0141-838B-4883AF1D3239}" type="slidenum">
              <a:rPr lang="fr-FR"/>
            </a:fld>
            <a:endParaRPr lang="fr-F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fr-FR"/>
          </a:p>
        </p:txBody>
      </p:sp>
      <p:sp>
        <p:nvSpPr>
          <p:cNvPr id="3" name="Rectangle 12"/>
          <p:cNvSpPr>
            <a:spLocks noGrp="1" noChangeArrowheads="1"/>
          </p:cNvSpPr>
          <p:nvPr>
            <p:ph type="ftr" sz="quarter" idx="11"/>
          </p:nvPr>
        </p:nvSpPr>
        <p:spPr/>
        <p:txBody>
          <a:bodyPr/>
          <a:lstStyle>
            <a:lvl1pPr>
              <a:defRPr/>
            </a:lvl1pPr>
          </a:lstStyle>
          <a:p>
            <a:pPr>
              <a:defRPr/>
            </a:pPr>
            <a:endParaRPr lang="fr-FR"/>
          </a:p>
        </p:txBody>
      </p:sp>
      <p:sp>
        <p:nvSpPr>
          <p:cNvPr id="4" name="Rectangle 13"/>
          <p:cNvSpPr>
            <a:spLocks noGrp="1" noChangeArrowheads="1"/>
          </p:cNvSpPr>
          <p:nvPr>
            <p:ph type="sldNum" sz="quarter" idx="12"/>
          </p:nvPr>
        </p:nvSpPr>
        <p:spPr/>
        <p:txBody>
          <a:bodyPr/>
          <a:lstStyle>
            <a:lvl1pPr>
              <a:defRPr/>
            </a:lvl1pPr>
          </a:lstStyle>
          <a:p>
            <a:fld id="{AF505768-23CE-3C4F-921A-DD84EC280084}" type="slidenum">
              <a:rPr lang="fr-FR"/>
            </a:fld>
            <a:endParaRPr lang="fr-F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lstStyle>
            <a:lvl1pPr algn="l">
              <a:defRPr sz="2000" b="1"/>
            </a:lvl1pPr>
          </a:lstStyle>
          <a:p>
            <a:r>
              <a:rPr lang="fr-FR"/>
              <a:t>Modifiez le style du titre</a:t>
            </a:r>
            <a:endParaRPr lang="en-US"/>
          </a:p>
        </p:txBody>
      </p:sp>
      <p:sp>
        <p:nvSpPr>
          <p:cNvPr id="3" name="Espace réservé du contenu 2"/>
          <p:cNvSpPr>
            <a:spLocks noGrp="1"/>
          </p:cNvSpPr>
          <p:nvPr>
            <p:ph idx="1" hasCustomPrompt="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Espace réservé du texte 3"/>
          <p:cNvSpPr>
            <a:spLocks noGrp="1"/>
          </p:cNvSpPr>
          <p:nvPr>
            <p:ph type="body" sz="half" idx="2" hasCustomPrompt="1"/>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endParaRPr lang="fr-FR"/>
          </a:p>
        </p:txBody>
      </p:sp>
      <p:sp>
        <p:nvSpPr>
          <p:cNvPr id="5" name="Rectangle 11"/>
          <p:cNvSpPr>
            <a:spLocks noGrp="1" noChangeArrowheads="1"/>
          </p:cNvSpPr>
          <p:nvPr>
            <p:ph type="dt" sz="half" idx="10"/>
          </p:nvPr>
        </p:nvSpPr>
        <p:spPr/>
        <p:txBody>
          <a:bodyPr/>
          <a:lstStyle>
            <a:lvl1pPr>
              <a:defRPr/>
            </a:lvl1pPr>
          </a:lstStyle>
          <a:p>
            <a:pPr>
              <a:defRPr/>
            </a:pPr>
            <a:endParaRPr lang="fr-FR"/>
          </a:p>
        </p:txBody>
      </p:sp>
      <p:sp>
        <p:nvSpPr>
          <p:cNvPr id="6" name="Rectangle 12"/>
          <p:cNvSpPr>
            <a:spLocks noGrp="1" noChangeArrowheads="1"/>
          </p:cNvSpPr>
          <p:nvPr>
            <p:ph type="ftr" sz="quarter" idx="11"/>
          </p:nvPr>
        </p:nvSpPr>
        <p:spPr/>
        <p:txBody>
          <a:bodyPr/>
          <a:lstStyle>
            <a:lvl1pPr>
              <a:defRPr/>
            </a:lvl1pPr>
          </a:lstStyle>
          <a:p>
            <a:pPr>
              <a:defRPr/>
            </a:pPr>
            <a:endParaRPr lang="fr-FR"/>
          </a:p>
        </p:txBody>
      </p:sp>
      <p:sp>
        <p:nvSpPr>
          <p:cNvPr id="7" name="Rectangle 13"/>
          <p:cNvSpPr>
            <a:spLocks noGrp="1" noChangeArrowheads="1"/>
          </p:cNvSpPr>
          <p:nvPr>
            <p:ph type="sldNum" sz="quarter" idx="12"/>
          </p:nvPr>
        </p:nvSpPr>
        <p:spPr/>
        <p:txBody>
          <a:bodyPr/>
          <a:lstStyle>
            <a:lvl1pPr>
              <a:defRPr/>
            </a:lvl1pPr>
          </a:lstStyle>
          <a:p>
            <a:fld id="{2E627622-34AE-8942-B2FF-1A554E759B0A}" type="slidenum">
              <a:rPr lang="fr-FR"/>
            </a:fld>
            <a:endParaRPr lang="fr-F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lstStyle>
            <a:lvl1pPr algn="l">
              <a:defRPr sz="2000" b="1"/>
            </a:lvl1pPr>
          </a:lstStyle>
          <a:p>
            <a:r>
              <a:rPr lang="fr-FR"/>
              <a:t>Modifiez le style du titre</a:t>
            </a:r>
            <a:endParaRPr lang="en-US"/>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Espace réservé du texte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endParaRPr lang="fr-FR"/>
          </a:p>
        </p:txBody>
      </p:sp>
      <p:sp>
        <p:nvSpPr>
          <p:cNvPr id="5" name="Rectangle 11"/>
          <p:cNvSpPr>
            <a:spLocks noGrp="1" noChangeArrowheads="1"/>
          </p:cNvSpPr>
          <p:nvPr>
            <p:ph type="dt" sz="half" idx="10"/>
          </p:nvPr>
        </p:nvSpPr>
        <p:spPr/>
        <p:txBody>
          <a:bodyPr/>
          <a:lstStyle>
            <a:lvl1pPr>
              <a:defRPr/>
            </a:lvl1pPr>
          </a:lstStyle>
          <a:p>
            <a:pPr>
              <a:defRPr/>
            </a:pPr>
            <a:endParaRPr lang="fr-FR"/>
          </a:p>
        </p:txBody>
      </p:sp>
      <p:sp>
        <p:nvSpPr>
          <p:cNvPr id="6" name="Rectangle 12"/>
          <p:cNvSpPr>
            <a:spLocks noGrp="1" noChangeArrowheads="1"/>
          </p:cNvSpPr>
          <p:nvPr>
            <p:ph type="ftr" sz="quarter" idx="11"/>
          </p:nvPr>
        </p:nvSpPr>
        <p:spPr/>
        <p:txBody>
          <a:bodyPr/>
          <a:lstStyle>
            <a:lvl1pPr>
              <a:defRPr/>
            </a:lvl1pPr>
          </a:lstStyle>
          <a:p>
            <a:pPr>
              <a:defRPr/>
            </a:pPr>
            <a:endParaRPr lang="fr-FR"/>
          </a:p>
        </p:txBody>
      </p:sp>
      <p:sp>
        <p:nvSpPr>
          <p:cNvPr id="7" name="Rectangle 13"/>
          <p:cNvSpPr>
            <a:spLocks noGrp="1" noChangeArrowheads="1"/>
          </p:cNvSpPr>
          <p:nvPr>
            <p:ph type="sldNum" sz="quarter" idx="12"/>
          </p:nvPr>
        </p:nvSpPr>
        <p:spPr/>
        <p:txBody>
          <a:bodyPr/>
          <a:lstStyle>
            <a:lvl1pPr>
              <a:defRPr/>
            </a:lvl1pPr>
          </a:lstStyle>
          <a:p>
            <a:fld id="{F6D24310-F2A9-9C46-89F2-75A2512C81F8}" type="slidenum">
              <a:rPr lang="fr-FR"/>
            </a:fld>
            <a:endParaRPr lang="fr-F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texte vertical 2"/>
          <p:cNvSpPr>
            <a:spLocks noGrp="1"/>
          </p:cNvSpPr>
          <p:nvPr>
            <p:ph type="body" orient="vert" idx="1" hasCustomPrompt="1"/>
          </p:nvPr>
        </p:nvSpPr>
        <p:spPr/>
        <p:txBody>
          <a:bodyPr vert="eaVert"/>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Rectangle 11"/>
          <p:cNvSpPr>
            <a:spLocks noGrp="1" noChangeArrowheads="1"/>
          </p:cNvSpPr>
          <p:nvPr>
            <p:ph type="dt" sz="half" idx="10"/>
          </p:nvPr>
        </p:nvSpPr>
        <p:spPr/>
        <p:txBody>
          <a:bodyPr/>
          <a:lstStyle>
            <a:lvl1pPr>
              <a:defRPr/>
            </a:lvl1pPr>
          </a:lstStyle>
          <a:p>
            <a:pPr>
              <a:defRPr/>
            </a:pPr>
            <a:endParaRPr lang="fr-FR"/>
          </a:p>
        </p:txBody>
      </p:sp>
      <p:sp>
        <p:nvSpPr>
          <p:cNvPr id="5" name="Rectangle 12"/>
          <p:cNvSpPr>
            <a:spLocks noGrp="1" noChangeArrowheads="1"/>
          </p:cNvSpPr>
          <p:nvPr>
            <p:ph type="ftr" sz="quarter" idx="11"/>
          </p:nvPr>
        </p:nvSpPr>
        <p:spPr/>
        <p:txBody>
          <a:bodyPr/>
          <a:lstStyle>
            <a:lvl1pPr>
              <a:defRPr/>
            </a:lvl1pPr>
          </a:lstStyle>
          <a:p>
            <a:pPr>
              <a:defRPr/>
            </a:pPr>
            <a:endParaRPr lang="fr-FR"/>
          </a:p>
        </p:txBody>
      </p:sp>
      <p:sp>
        <p:nvSpPr>
          <p:cNvPr id="6" name="Rectangle 13"/>
          <p:cNvSpPr>
            <a:spLocks noGrp="1" noChangeArrowheads="1"/>
          </p:cNvSpPr>
          <p:nvPr>
            <p:ph type="sldNum" sz="quarter" idx="12"/>
          </p:nvPr>
        </p:nvSpPr>
        <p:spPr/>
        <p:txBody>
          <a:bodyPr/>
          <a:lstStyle>
            <a:lvl1pPr>
              <a:defRPr/>
            </a:lvl1pPr>
          </a:lstStyle>
          <a:p>
            <a:fld id="{A8788FF4-34FB-1249-9028-D320382708C7}" type="slidenum">
              <a:rPr lang="fr-FR"/>
            </a:fld>
            <a:endParaRPr lang="fr-F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705600" y="762000"/>
            <a:ext cx="1981200" cy="5324475"/>
          </a:xfrm>
        </p:spPr>
        <p:txBody>
          <a:bodyPr vert="eaVert"/>
          <a:lstStyle/>
          <a:p>
            <a:r>
              <a:rPr lang="fr-FR"/>
              <a:t>Modifiez le style du titre</a:t>
            </a:r>
            <a:endParaRPr lang="en-US"/>
          </a:p>
        </p:txBody>
      </p:sp>
      <p:sp>
        <p:nvSpPr>
          <p:cNvPr id="3" name="Espace réservé du texte vertical 2"/>
          <p:cNvSpPr>
            <a:spLocks noGrp="1"/>
          </p:cNvSpPr>
          <p:nvPr>
            <p:ph type="body" orient="vert" idx="1" hasCustomPrompt="1"/>
          </p:nvPr>
        </p:nvSpPr>
        <p:spPr>
          <a:xfrm>
            <a:off x="762000" y="762000"/>
            <a:ext cx="5791200" cy="5324475"/>
          </a:xfrm>
        </p:spPr>
        <p:txBody>
          <a:bodyPr vert="eaVert"/>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Rectangle 11"/>
          <p:cNvSpPr>
            <a:spLocks noGrp="1" noChangeArrowheads="1"/>
          </p:cNvSpPr>
          <p:nvPr>
            <p:ph type="dt" sz="half" idx="10"/>
          </p:nvPr>
        </p:nvSpPr>
        <p:spPr/>
        <p:txBody>
          <a:bodyPr/>
          <a:lstStyle>
            <a:lvl1pPr>
              <a:defRPr/>
            </a:lvl1pPr>
          </a:lstStyle>
          <a:p>
            <a:pPr>
              <a:defRPr/>
            </a:pPr>
            <a:endParaRPr lang="fr-FR"/>
          </a:p>
        </p:txBody>
      </p:sp>
      <p:sp>
        <p:nvSpPr>
          <p:cNvPr id="5" name="Rectangle 12"/>
          <p:cNvSpPr>
            <a:spLocks noGrp="1" noChangeArrowheads="1"/>
          </p:cNvSpPr>
          <p:nvPr>
            <p:ph type="ftr" sz="quarter" idx="11"/>
          </p:nvPr>
        </p:nvSpPr>
        <p:spPr/>
        <p:txBody>
          <a:bodyPr/>
          <a:lstStyle>
            <a:lvl1pPr>
              <a:defRPr/>
            </a:lvl1pPr>
          </a:lstStyle>
          <a:p>
            <a:pPr>
              <a:defRPr/>
            </a:pPr>
            <a:endParaRPr lang="fr-FR"/>
          </a:p>
        </p:txBody>
      </p:sp>
      <p:sp>
        <p:nvSpPr>
          <p:cNvPr id="6" name="Rectangle 13"/>
          <p:cNvSpPr>
            <a:spLocks noGrp="1" noChangeArrowheads="1"/>
          </p:cNvSpPr>
          <p:nvPr>
            <p:ph type="sldNum" sz="quarter" idx="12"/>
          </p:nvPr>
        </p:nvSpPr>
        <p:spPr/>
        <p:txBody>
          <a:bodyPr/>
          <a:lstStyle>
            <a:lvl1pPr>
              <a:defRPr/>
            </a:lvl1pPr>
          </a:lstStyle>
          <a:p>
            <a:fld id="{15C925F8-BDA7-5F4E-9AC0-E145D47AE9C6}" type="slidenum">
              <a:rPr lang="fr-FR"/>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4.png"/><Relationship Id="rId17" Type="http://schemas.openxmlformats.org/officeDocument/2006/relationships/image" Target="../media/image3.png"/><Relationship Id="rId16" Type="http://schemas.openxmlformats.org/officeDocument/2006/relationships/image" Target="../media/image2.png"/><Relationship Id="rId15" Type="http://schemas.openxmlformats.org/officeDocument/2006/relationships/image" Target="../media/image1.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2" Type="http://schemas.openxmlformats.org/officeDocument/2006/relationships/theme" Target="../theme/theme2.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4.xml"/><Relationship Id="rId8" Type="http://schemas.openxmlformats.org/officeDocument/2006/relationships/slideLayout" Target="../slideLayouts/slideLayout33.xml"/><Relationship Id="rId7" Type="http://schemas.openxmlformats.org/officeDocument/2006/relationships/slideLayout" Target="../slideLayouts/slideLayout32.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 Type="http://schemas.openxmlformats.org/officeDocument/2006/relationships/slideLayout" Target="../slideLayouts/slideLayout27.xml"/><Relationship Id="rId12" Type="http://schemas.openxmlformats.org/officeDocument/2006/relationships/theme" Target="../theme/theme3.xml"/><Relationship Id="rId11" Type="http://schemas.openxmlformats.org/officeDocument/2006/relationships/slideLayout" Target="../slideLayouts/slideLayout36.xml"/><Relationship Id="rId10" Type="http://schemas.openxmlformats.org/officeDocument/2006/relationships/slideLayout" Target="../slideLayouts/slideLayout35.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ftr" sz="quarter" idx="3"/>
          </p:nvPr>
        </p:nvSpPr>
        <p:spPr bwMode="auto">
          <a:xfrm>
            <a:off x="143508" y="6400800"/>
            <a:ext cx="5876292" cy="457200"/>
          </a:xfrm>
          <a:prstGeom prst="rect">
            <a:avLst/>
          </a:prstGeom>
          <a:noFill/>
          <a:ln>
            <a:noFill/>
          </a:ln>
          <a:effectLst/>
        </p:spPr>
        <p:txBody>
          <a:bodyPr vert="horz" wrap="none" lIns="92075" tIns="46038" rIns="92075" bIns="46038" numCol="1" anchor="ctr" anchorCtr="0" compatLnSpc="1"/>
          <a:lstStyle>
            <a:lvl1pPr>
              <a:spcBef>
                <a:spcPct val="0"/>
              </a:spcBef>
              <a:buClrTx/>
              <a:buSzTx/>
              <a:buFontTx/>
              <a:buNone/>
              <a:defRPr sz="1800" b="0">
                <a:solidFill>
                  <a:srgbClr val="000208"/>
                </a:solidFill>
                <a:ea typeface="+mn-ea"/>
                <a:cs typeface="Arial" panose="020B0604020202020204" pitchFamily="34" charset="0"/>
              </a:defRPr>
            </a:lvl1pPr>
          </a:lstStyle>
          <a:p>
            <a:pPr>
              <a:defRPr/>
            </a:pPr>
            <a:r>
              <a:rPr lang="fr-FR" dirty="0"/>
              <a:t>A. Kritikakou		 L3Info – C/Unix</a:t>
            </a:r>
            <a:endParaRPr lang="fr-FR" dirty="0"/>
          </a:p>
        </p:txBody>
      </p:sp>
      <p:sp>
        <p:nvSpPr>
          <p:cNvPr id="1028" name="Rectangle 4"/>
          <p:cNvSpPr>
            <a:spLocks noGrp="1" noChangeArrowheads="1"/>
          </p:cNvSpPr>
          <p:nvPr>
            <p:ph type="sldNum" sz="quarter" idx="4"/>
          </p:nvPr>
        </p:nvSpPr>
        <p:spPr bwMode="auto">
          <a:xfrm>
            <a:off x="6336196" y="6400800"/>
            <a:ext cx="1511188" cy="381000"/>
          </a:xfrm>
          <a:prstGeom prst="rect">
            <a:avLst/>
          </a:prstGeom>
          <a:noFill/>
          <a:ln>
            <a:noFill/>
          </a:ln>
          <a:effectLst/>
        </p:spPr>
        <p:txBody>
          <a:bodyPr vert="horz" wrap="none" lIns="92075" tIns="46038" rIns="92075" bIns="46038" numCol="1" anchor="ctr" anchorCtr="0" compatLnSpc="1"/>
          <a:lstStyle>
            <a:lvl3pPr lvl="2" algn="r">
              <a:spcBef>
                <a:spcPct val="0"/>
              </a:spcBef>
              <a:buClrTx/>
              <a:buSzTx/>
              <a:buFontTx/>
              <a:buNone/>
              <a:defRPr sz="1400">
                <a:solidFill>
                  <a:srgbClr val="000208"/>
                </a:solidFill>
                <a:latin typeface="Times New Roman" panose="02020603050405020304" charset="0"/>
              </a:defRPr>
            </a:lvl3pPr>
          </a:lstStyle>
          <a:p>
            <a:pPr lvl="2"/>
            <a:fld id="{F69A22CF-7763-DA45-8E98-D5D81C05D40E}" type="slidenum">
              <a:rPr lang="fr-FR" smtClean="0"/>
            </a:fld>
            <a:endParaRPr lang="fr-FR" dirty="0"/>
          </a:p>
        </p:txBody>
      </p:sp>
      <p:sp>
        <p:nvSpPr>
          <p:cNvPr id="2" name="Line 5"/>
          <p:cNvSpPr>
            <a:spLocks noChangeShapeType="1"/>
          </p:cNvSpPr>
          <p:nvPr/>
        </p:nvSpPr>
        <p:spPr bwMode="auto">
          <a:xfrm>
            <a:off x="0" y="685800"/>
            <a:ext cx="7696200" cy="0"/>
          </a:xfrm>
          <a:prstGeom prst="line">
            <a:avLst/>
          </a:prstGeom>
          <a:noFill/>
          <a:ln w="28575">
            <a:solidFill>
              <a:srgbClr val="730B03"/>
            </a:solidFill>
            <a:round/>
            <a:headEnd type="none" w="sm" len="sm"/>
            <a:tailEnd type="none" w="sm" len="sm"/>
          </a:ln>
          <a:effectLst/>
        </p:spPr>
        <p:txBody>
          <a:bodyPr wrap="none" anchor="ctr"/>
          <a:lstStyle/>
          <a:p>
            <a:endParaRPr lang="fr-FR"/>
          </a:p>
        </p:txBody>
      </p:sp>
      <p:sp>
        <p:nvSpPr>
          <p:cNvPr id="1029" name="Rectangle 6"/>
          <p:cNvSpPr>
            <a:spLocks noGrp="1" noChangeArrowheads="1"/>
          </p:cNvSpPr>
          <p:nvPr>
            <p:ph type="title"/>
          </p:nvPr>
        </p:nvSpPr>
        <p:spPr bwMode="auto">
          <a:xfrm>
            <a:off x="304800" y="152400"/>
            <a:ext cx="7772400" cy="533400"/>
          </a:xfrm>
          <a:prstGeom prst="rect">
            <a:avLst/>
          </a:prstGeom>
          <a:noFill/>
          <a:ln>
            <a:noFill/>
          </a:ln>
          <a:effectLst/>
        </p:spPr>
        <p:txBody>
          <a:bodyPr vert="horz" wrap="square" lIns="92075" tIns="46038" rIns="92075" bIns="46038" numCol="1" anchor="b" anchorCtr="0" compatLnSpc="1"/>
          <a:lstStyle/>
          <a:p>
            <a:pPr lvl="0"/>
            <a:r>
              <a:rPr lang="fr-FR"/>
              <a:t>Cliquez pour modifier le</a:t>
            </a:r>
            <a:endParaRPr lang="fr-FR"/>
          </a:p>
        </p:txBody>
      </p:sp>
      <p:sp>
        <p:nvSpPr>
          <p:cNvPr id="1030" name="Rectangle 7"/>
          <p:cNvSpPr>
            <a:spLocks noGrp="1" noChangeArrowheads="1"/>
          </p:cNvSpPr>
          <p:nvPr>
            <p:ph type="body" idx="1"/>
          </p:nvPr>
        </p:nvSpPr>
        <p:spPr bwMode="auto">
          <a:xfrm>
            <a:off x="457200" y="914400"/>
            <a:ext cx="8261350" cy="5257800"/>
          </a:xfrm>
          <a:prstGeom prst="rect">
            <a:avLst/>
          </a:prstGeom>
          <a:noFill/>
          <a:ln>
            <a:noFill/>
          </a:ln>
          <a:effectLst/>
        </p:spPr>
        <p:txBody>
          <a:bodyPr vert="horz" wrap="square" lIns="92075" tIns="46038" rIns="92075" bIns="46038" numCol="1" anchor="t" anchorCtr="0" compatLnSpc="1"/>
          <a:lstStyle/>
          <a:p>
            <a:pPr lvl="0"/>
            <a:r>
              <a:rPr lang="fr-FR" dirty="0"/>
              <a:t>Cliquez pour modifier les styles de texte du masque</a:t>
            </a:r>
            <a:endParaRPr lang="fr-FR" dirty="0"/>
          </a:p>
          <a:p>
            <a:pPr lvl="1"/>
            <a:r>
              <a:rPr lang="fr-FR" dirty="0"/>
              <a:t>Deuxième niveau</a:t>
            </a:r>
            <a:endParaRPr lang="fr-FR" dirty="0"/>
          </a:p>
          <a:p>
            <a:pPr lvl="2"/>
            <a:r>
              <a:rPr lang="fr-FR" dirty="0"/>
              <a:t>Troisième niveau</a:t>
            </a:r>
            <a:endParaRPr lang="fr-FR" dirty="0"/>
          </a:p>
          <a:p>
            <a:pPr lvl="3"/>
            <a:r>
              <a:rPr lang="fr-FR" dirty="0"/>
              <a:t>Quatrième niveau</a:t>
            </a:r>
            <a:endParaRPr lang="fr-FR" dirty="0"/>
          </a:p>
          <a:p>
            <a:pPr lvl="4"/>
            <a:r>
              <a:rPr lang="fr-FR" dirty="0"/>
              <a:t>Cinquième niveau</a:t>
            </a:r>
            <a:endParaRPr lang="fr-FR" dirty="0"/>
          </a:p>
        </p:txBody>
      </p:sp>
      <p:pic>
        <p:nvPicPr>
          <p:cNvPr id="1031" name="Picture 15"/>
          <p:cNvPicPr>
            <a:picLocks noChangeAspect="1" noChangeArrowheads="1"/>
          </p:cNvPicPr>
          <p:nvPr userDrawn="1"/>
        </p:nvPicPr>
        <p:blipFill>
          <a:blip r:embed="rId15" cstate="email">
            <a:extLst>
              <a:ext uri="{28A0092B-C50C-407E-A947-70E740481C1C}">
                <a14:useLocalDpi xmlns:a14="http://schemas.microsoft.com/office/drawing/2010/main" val="0"/>
              </a:ext>
            </a:extLst>
          </a:blip>
          <a:srcRect/>
          <a:stretch>
            <a:fillRect/>
          </a:stretch>
        </p:blipFill>
        <p:spPr bwMode="auto">
          <a:xfrm>
            <a:off x="7239000" y="152400"/>
            <a:ext cx="1676400" cy="684213"/>
          </a:xfrm>
          <a:prstGeom prst="rect">
            <a:avLst/>
          </a:prstGeom>
          <a:noFill/>
          <a:ln>
            <a:noFill/>
          </a:ln>
          <a:effec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dt="0"/>
  <p:txStyles>
    <p:titleStyle>
      <a:lvl1pPr algn="l" rtl="0" eaLnBrk="0" fontAlgn="base" hangingPunct="0">
        <a:spcBef>
          <a:spcPct val="0"/>
        </a:spcBef>
        <a:spcAft>
          <a:spcPct val="0"/>
        </a:spcAft>
        <a:defRPr sz="3200" b="1">
          <a:solidFill>
            <a:srgbClr val="730B03"/>
          </a:solidFill>
          <a:latin typeface="+mj-lt"/>
          <a:ea typeface="MS PGothic" panose="020B0600070205080204" charset="-128"/>
          <a:cs typeface="+mj-cs"/>
        </a:defRPr>
      </a:lvl1pPr>
      <a:lvl2pPr algn="l" rtl="0" eaLnBrk="0" fontAlgn="base" hangingPunct="0">
        <a:spcBef>
          <a:spcPct val="0"/>
        </a:spcBef>
        <a:spcAft>
          <a:spcPct val="0"/>
        </a:spcAft>
        <a:defRPr sz="3200" b="1">
          <a:solidFill>
            <a:srgbClr val="730B03"/>
          </a:solidFill>
          <a:latin typeface="Arial" panose="020B0604020202020204" pitchFamily="34" charset="0"/>
          <a:ea typeface="MS PGothic" panose="020B0600070205080204" charset="-128"/>
        </a:defRPr>
      </a:lvl2pPr>
      <a:lvl3pPr algn="l" rtl="0" eaLnBrk="0" fontAlgn="base" hangingPunct="0">
        <a:spcBef>
          <a:spcPct val="0"/>
        </a:spcBef>
        <a:spcAft>
          <a:spcPct val="0"/>
        </a:spcAft>
        <a:defRPr sz="3200" b="1">
          <a:solidFill>
            <a:srgbClr val="730B03"/>
          </a:solidFill>
          <a:latin typeface="Arial" panose="020B0604020202020204" pitchFamily="34" charset="0"/>
          <a:ea typeface="MS PGothic" panose="020B0600070205080204" charset="-128"/>
        </a:defRPr>
      </a:lvl3pPr>
      <a:lvl4pPr algn="l" rtl="0" eaLnBrk="0" fontAlgn="base" hangingPunct="0">
        <a:spcBef>
          <a:spcPct val="0"/>
        </a:spcBef>
        <a:spcAft>
          <a:spcPct val="0"/>
        </a:spcAft>
        <a:defRPr sz="3200" b="1">
          <a:solidFill>
            <a:srgbClr val="730B03"/>
          </a:solidFill>
          <a:latin typeface="Arial" panose="020B0604020202020204" pitchFamily="34" charset="0"/>
          <a:ea typeface="MS PGothic" panose="020B0600070205080204" charset="-128"/>
        </a:defRPr>
      </a:lvl4pPr>
      <a:lvl5pPr algn="l" rtl="0" eaLnBrk="0" fontAlgn="base" hangingPunct="0">
        <a:spcBef>
          <a:spcPct val="0"/>
        </a:spcBef>
        <a:spcAft>
          <a:spcPct val="0"/>
        </a:spcAft>
        <a:defRPr sz="3200" b="1">
          <a:solidFill>
            <a:srgbClr val="730B03"/>
          </a:solidFill>
          <a:latin typeface="Arial" panose="020B0604020202020204" pitchFamily="34" charset="0"/>
          <a:ea typeface="MS PGothic" panose="020B0600070205080204" charset="-128"/>
        </a:defRPr>
      </a:lvl5pPr>
      <a:lvl6pPr marL="457200" algn="l" rtl="0" eaLnBrk="0" fontAlgn="base" hangingPunct="0">
        <a:spcBef>
          <a:spcPct val="0"/>
        </a:spcBef>
        <a:spcAft>
          <a:spcPct val="0"/>
        </a:spcAft>
        <a:defRPr sz="3200" b="1">
          <a:solidFill>
            <a:srgbClr val="730B03"/>
          </a:solidFill>
          <a:latin typeface="Arial" panose="020B0604020202020204" pitchFamily="34" charset="0"/>
        </a:defRPr>
      </a:lvl6pPr>
      <a:lvl7pPr marL="914400" algn="l" rtl="0" eaLnBrk="0" fontAlgn="base" hangingPunct="0">
        <a:spcBef>
          <a:spcPct val="0"/>
        </a:spcBef>
        <a:spcAft>
          <a:spcPct val="0"/>
        </a:spcAft>
        <a:defRPr sz="3200" b="1">
          <a:solidFill>
            <a:srgbClr val="730B03"/>
          </a:solidFill>
          <a:latin typeface="Arial" panose="020B0604020202020204" pitchFamily="34" charset="0"/>
        </a:defRPr>
      </a:lvl7pPr>
      <a:lvl8pPr marL="1371600" algn="l" rtl="0" eaLnBrk="0" fontAlgn="base" hangingPunct="0">
        <a:spcBef>
          <a:spcPct val="0"/>
        </a:spcBef>
        <a:spcAft>
          <a:spcPct val="0"/>
        </a:spcAft>
        <a:defRPr sz="3200" b="1">
          <a:solidFill>
            <a:srgbClr val="730B03"/>
          </a:solidFill>
          <a:latin typeface="Arial" panose="020B0604020202020204" pitchFamily="34" charset="0"/>
        </a:defRPr>
      </a:lvl8pPr>
      <a:lvl9pPr marL="1828800" algn="l" rtl="0" eaLnBrk="0" fontAlgn="base" hangingPunct="0">
        <a:spcBef>
          <a:spcPct val="0"/>
        </a:spcBef>
        <a:spcAft>
          <a:spcPct val="0"/>
        </a:spcAft>
        <a:defRPr sz="3200" b="1">
          <a:solidFill>
            <a:srgbClr val="730B03"/>
          </a:solidFill>
          <a:latin typeface="Arial" panose="020B0604020202020204" pitchFamily="34" charset="0"/>
        </a:defRPr>
      </a:lvl9pPr>
    </p:titleStyle>
    <p:bodyStyle>
      <a:lvl1pPr marL="363855" indent="-363855" algn="l" rtl="0" eaLnBrk="0" fontAlgn="base" hangingPunct="0">
        <a:spcBef>
          <a:spcPct val="20000"/>
        </a:spcBef>
        <a:spcAft>
          <a:spcPct val="0"/>
        </a:spcAft>
        <a:buClr>
          <a:schemeClr val="bg2"/>
        </a:buClr>
        <a:buFont typeface="Monotype Sorts" charset="0"/>
        <a:buBlip>
          <a:blip r:embed="rId16"/>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17"/>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18"/>
        </a:buBlip>
        <a:defRPr sz="2000">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Espace réservé du titre 1"/>
          <p:cNvSpPr>
            <a:spLocks noGrp="1"/>
          </p:cNvSpPr>
          <p:nvPr>
            <p:ph type="title"/>
          </p:nvPr>
        </p:nvSpPr>
        <p:spPr bwMode="auto">
          <a:xfrm>
            <a:off x="457200" y="274638"/>
            <a:ext cx="8229600" cy="1143000"/>
          </a:xfrm>
          <a:prstGeom prst="rect">
            <a:avLst/>
          </a:prstGeom>
          <a:noFill/>
          <a:ln>
            <a:noFill/>
          </a:ln>
        </p:spPr>
        <p:txBody>
          <a:bodyPr vert="horz" wrap="square" lIns="91440" tIns="45720" rIns="91440" bIns="45720" numCol="1" anchor="ctr" anchorCtr="0" compatLnSpc="1"/>
          <a:lstStyle/>
          <a:p>
            <a:pPr lvl="0"/>
            <a:r>
              <a:rPr lang="fr-FR"/>
              <a:t>Modifiez le style du titre</a:t>
            </a:r>
            <a:endParaRPr lang="en-US"/>
          </a:p>
        </p:txBody>
      </p:sp>
      <p:sp>
        <p:nvSpPr>
          <p:cNvPr id="2051" name="Espace réservé du texte 2"/>
          <p:cNvSpPr>
            <a:spLocks noGrp="1"/>
          </p:cNvSpPr>
          <p:nvPr>
            <p:ph type="body" idx="1"/>
          </p:nvPr>
        </p:nvSpPr>
        <p:spPr bwMode="auto">
          <a:xfrm>
            <a:off x="457200" y="1600200"/>
            <a:ext cx="8229600" cy="4525963"/>
          </a:xfrm>
          <a:prstGeom prst="rect">
            <a:avLst/>
          </a:prstGeom>
          <a:noFill/>
          <a:ln>
            <a:noFill/>
          </a:ln>
        </p:spPr>
        <p:txBody>
          <a:bodyPr vert="horz" wrap="square" lIns="91440" tIns="45720" rIns="91440" bIns="45720" numCol="1" anchor="t" anchorCtr="0" compatLnSpc="1"/>
          <a:lstStyle/>
          <a:p>
            <a:pPr lvl="0"/>
            <a:r>
              <a:rPr lang="fr-FR"/>
              <a:t>Modifiez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lstStyle>
            <a:lvl1pPr algn="l">
              <a:defRPr sz="1200">
                <a:solidFill>
                  <a:srgbClr val="898989"/>
                </a:solidFill>
              </a:defRPr>
            </a:lvl1pPr>
          </a:lstStyle>
          <a:p>
            <a:fld id="{500C9A84-E95E-E74F-BEE3-A84D0E621150}" type="datetimeFigureOut">
              <a:rPr lang="en-US"/>
            </a:fld>
            <a:endParaRPr lang="en-US"/>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buFont typeface="Monotype Sorts" pitchFamily="2" charset="2"/>
              <a:buNone/>
              <a:defRPr sz="1200">
                <a:solidFill>
                  <a:schemeClr val="tx1">
                    <a:tint val="75000"/>
                  </a:schemeClr>
                </a:solidFill>
                <a:ea typeface="+mn-ea"/>
              </a:defRPr>
            </a:lvl1pPr>
          </a:lstStyle>
          <a:p>
            <a:pPr>
              <a:defRPr/>
            </a:pPr>
            <a:endParaRPr lang="en-US"/>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fld id="{FE4E8B71-4F0B-6542-919C-2A19F27CD69B}" type="slidenum">
              <a:rPr lang="en-US"/>
            </a:fld>
            <a:endParaRPr 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ctr" rtl="0" eaLnBrk="0" fontAlgn="base" hangingPunct="0">
        <a:spcBef>
          <a:spcPct val="0"/>
        </a:spcBef>
        <a:spcAft>
          <a:spcPct val="0"/>
        </a:spcAft>
        <a:defRPr sz="4400" kern="1200">
          <a:solidFill>
            <a:schemeClr val="tx1"/>
          </a:solidFill>
          <a:latin typeface="+mj-lt"/>
          <a:ea typeface="MS PGothic" panose="020B0600070205080204" charset="-128"/>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MS PGothic" panose="020B0600070205080204" charset="-128"/>
        </a:defRPr>
      </a:lvl2pPr>
      <a:lvl3pPr algn="ctr" rtl="0" eaLnBrk="0" fontAlgn="base" hangingPunct="0">
        <a:spcBef>
          <a:spcPct val="0"/>
        </a:spcBef>
        <a:spcAft>
          <a:spcPct val="0"/>
        </a:spcAft>
        <a:defRPr sz="4400">
          <a:solidFill>
            <a:schemeClr val="tx1"/>
          </a:solidFill>
          <a:latin typeface="Calibri" panose="020F0502020204030204" pitchFamily="34" charset="0"/>
          <a:ea typeface="MS PGothic" panose="020B0600070205080204" charset="-128"/>
        </a:defRPr>
      </a:lvl3pPr>
      <a:lvl4pPr algn="ctr" rtl="0" eaLnBrk="0" fontAlgn="base" hangingPunct="0">
        <a:spcBef>
          <a:spcPct val="0"/>
        </a:spcBef>
        <a:spcAft>
          <a:spcPct val="0"/>
        </a:spcAft>
        <a:defRPr sz="4400">
          <a:solidFill>
            <a:schemeClr val="tx1"/>
          </a:solidFill>
          <a:latin typeface="Calibri" panose="020F0502020204030204" pitchFamily="34" charset="0"/>
          <a:ea typeface="MS PGothic" panose="020B0600070205080204" charset="-128"/>
        </a:defRPr>
      </a:lvl4pPr>
      <a:lvl5pPr algn="ctr" rtl="0" eaLnBrk="0" fontAlgn="base" hangingPunct="0">
        <a:spcBef>
          <a:spcPct val="0"/>
        </a:spcBef>
        <a:spcAft>
          <a:spcPct val="0"/>
        </a:spcAft>
        <a:defRPr sz="4400">
          <a:solidFill>
            <a:schemeClr val="tx1"/>
          </a:solidFill>
          <a:latin typeface="Calibri" panose="020F0502020204030204" pitchFamily="34" charset="0"/>
          <a:ea typeface="MS PGothic" panose="020B0600070205080204" charset="-128"/>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charset="-128"/>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3074" name="Group 2"/>
          <p:cNvGrpSpPr/>
          <p:nvPr/>
        </p:nvGrpSpPr>
        <p:grpSpPr bwMode="auto">
          <a:xfrm>
            <a:off x="0" y="0"/>
            <a:ext cx="7620000" cy="6858000"/>
            <a:chOff x="0" y="0"/>
            <a:chExt cx="4800" cy="4320"/>
          </a:xfrm>
        </p:grpSpPr>
        <p:grpSp>
          <p:nvGrpSpPr>
            <p:cNvPr id="3080" name="Group 3"/>
            <p:cNvGrpSpPr/>
            <p:nvPr userDrawn="1"/>
          </p:nvGrpSpPr>
          <p:grpSpPr bwMode="auto">
            <a:xfrm>
              <a:off x="0" y="0"/>
              <a:ext cx="2016" cy="4320"/>
              <a:chOff x="0" y="0"/>
              <a:chExt cx="2016" cy="4320"/>
            </a:xfrm>
          </p:grpSpPr>
          <p:sp>
            <p:nvSpPr>
              <p:cNvPr id="3084" name="Rectangle 4"/>
              <p:cNvSpPr>
                <a:spLocks noChangeArrowheads="1"/>
              </p:cNvSpPr>
              <p:nvPr userDrawn="1"/>
            </p:nvSpPr>
            <p:spPr bwMode="auto">
              <a:xfrm>
                <a:off x="0" y="0"/>
                <a:ext cx="480" cy="4320"/>
              </a:xfrm>
              <a:prstGeom prst="rect">
                <a:avLst/>
              </a:prstGeom>
              <a:solidFill>
                <a:schemeClr val="accent2"/>
              </a:solidFill>
              <a:ln>
                <a:noFill/>
              </a:ln>
              <a:effectLst/>
            </p:spPr>
            <p:txBody>
              <a:bodyPr wrap="none" anchor="ctr"/>
              <a:lstStyle>
                <a:lvl1pPr>
                  <a:defRPr sz="800">
                    <a:solidFill>
                      <a:srgbClr val="010507"/>
                    </a:solidFill>
                    <a:latin typeface="Arial" panose="020B0604020202020204" pitchFamily="34" charset="0"/>
                  </a:defRPr>
                </a:lvl1pPr>
                <a:lvl2pPr marL="742950" indent="-285750">
                  <a:defRPr sz="800">
                    <a:solidFill>
                      <a:srgbClr val="010507"/>
                    </a:solidFill>
                    <a:latin typeface="Arial" panose="020B0604020202020204" pitchFamily="34" charset="0"/>
                  </a:defRPr>
                </a:lvl2pPr>
                <a:lvl3pPr marL="1143000" indent="-228600">
                  <a:defRPr sz="800">
                    <a:solidFill>
                      <a:srgbClr val="010507"/>
                    </a:solidFill>
                    <a:latin typeface="Arial" panose="020B0604020202020204" pitchFamily="34" charset="0"/>
                  </a:defRPr>
                </a:lvl3pPr>
                <a:lvl4pPr marL="1600200" indent="-228600">
                  <a:defRPr sz="800">
                    <a:solidFill>
                      <a:srgbClr val="010507"/>
                    </a:solidFill>
                    <a:latin typeface="Arial" panose="020B0604020202020204" pitchFamily="34" charset="0"/>
                  </a:defRPr>
                </a:lvl4pPr>
                <a:lvl5pPr marL="2057400" indent="-228600">
                  <a:defRPr sz="800">
                    <a:solidFill>
                      <a:srgbClr val="010507"/>
                    </a:solidFill>
                    <a:latin typeface="Arial" panose="020B0604020202020204" pitchFamily="34" charset="0"/>
                  </a:defRPr>
                </a:lvl5pPr>
                <a:lvl6pPr marL="25146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6pPr>
                <a:lvl7pPr marL="29718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7pPr>
                <a:lvl8pPr marL="34290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8pPr>
                <a:lvl9pPr marL="38862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9pPr>
              </a:lstStyle>
              <a:p>
                <a:pPr>
                  <a:buFont typeface="Monotype Sorts" pitchFamily="2" charset="2"/>
                  <a:buNone/>
                  <a:defRPr/>
                </a:pPr>
                <a:endParaRPr lang="en-US" altLang="en-US">
                  <a:ea typeface="+mn-ea"/>
                </a:endParaRPr>
              </a:p>
            </p:txBody>
          </p:sp>
          <p:sp>
            <p:nvSpPr>
              <p:cNvPr id="3085" name="Freeform 5"/>
              <p:cNvSpPr/>
              <p:nvPr userDrawn="1"/>
            </p:nvSpPr>
            <p:spPr bwMode="auto">
              <a:xfrm>
                <a:off x="288" y="0"/>
                <a:ext cx="1728" cy="735"/>
              </a:xfrm>
              <a:custGeom>
                <a:avLst/>
                <a:gdLst>
                  <a:gd name="T0" fmla="*/ 1728 w 1728"/>
                  <a:gd name="T1" fmla="*/ 0 h 735"/>
                  <a:gd name="T2" fmla="*/ 1728 w 1728"/>
                  <a:gd name="T3" fmla="*/ 480 h 735"/>
                  <a:gd name="T4" fmla="*/ 380 w 1728"/>
                  <a:gd name="T5" fmla="*/ 482 h 735"/>
                  <a:gd name="T6" fmla="*/ 354 w 1728"/>
                  <a:gd name="T7" fmla="*/ 480 h 735"/>
                  <a:gd name="T8" fmla="*/ 308 w 1728"/>
                  <a:gd name="T9" fmla="*/ 489 h 735"/>
                  <a:gd name="T10" fmla="*/ 246 w 1728"/>
                  <a:gd name="T11" fmla="*/ 531 h 735"/>
                  <a:gd name="T12" fmla="*/ 206 w 1728"/>
                  <a:gd name="T13" fmla="*/ 597 h 735"/>
                  <a:gd name="T14" fmla="*/ 192 w 1728"/>
                  <a:gd name="T15" fmla="*/ 666 h 735"/>
                  <a:gd name="T16" fmla="*/ 192 w 1728"/>
                  <a:gd name="T17" fmla="*/ 735 h 735"/>
                  <a:gd name="T18" fmla="*/ 0 w 1728"/>
                  <a:gd name="T19" fmla="*/ 735 h 735"/>
                  <a:gd name="T20" fmla="*/ 0 w 1728"/>
                  <a:gd name="T21" fmla="*/ 480 h 735"/>
                  <a:gd name="T22" fmla="*/ 0 w 1728"/>
                  <a:gd name="T23" fmla="*/ 0 h 735"/>
                  <a:gd name="T24" fmla="*/ 1728 w 1728"/>
                  <a:gd name="T25" fmla="*/ 0 h 7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a:noFill/>
              </a:ln>
              <a:effectLst/>
            </p:spPr>
            <p:txBody>
              <a:bodyPr wrap="none"/>
              <a:lstStyle/>
              <a:p>
                <a:endParaRPr lang="fr-FR"/>
              </a:p>
            </p:txBody>
          </p:sp>
        </p:grpSp>
        <p:grpSp>
          <p:nvGrpSpPr>
            <p:cNvPr id="3081" name="Group 6"/>
            <p:cNvGrpSpPr/>
            <p:nvPr/>
          </p:nvGrpSpPr>
          <p:grpSpPr bwMode="auto">
            <a:xfrm>
              <a:off x="144" y="1248"/>
              <a:ext cx="4656" cy="201"/>
              <a:chOff x="144" y="1248"/>
              <a:chExt cx="4656" cy="201"/>
            </a:xfrm>
          </p:grpSpPr>
          <p:sp>
            <p:nvSpPr>
              <p:cNvPr id="3082" name="AutoShape 7"/>
              <p:cNvSpPr>
                <a:spLocks noChangeArrowheads="1"/>
              </p:cNvSpPr>
              <p:nvPr/>
            </p:nvSpPr>
            <p:spPr bwMode="auto">
              <a:xfrm>
                <a:off x="384" y="1248"/>
                <a:ext cx="4416" cy="200"/>
              </a:xfrm>
              <a:prstGeom prst="roundRect">
                <a:avLst>
                  <a:gd name="adj" fmla="val 0"/>
                </a:avLst>
              </a:prstGeom>
              <a:solidFill>
                <a:schemeClr val="hlink"/>
              </a:solidFill>
              <a:ln>
                <a:noFill/>
              </a:ln>
              <a:effectLst/>
            </p:spPr>
            <p:txBody>
              <a:bodyPr wrap="none" anchor="ctr"/>
              <a:lstStyle>
                <a:lvl1pPr>
                  <a:defRPr sz="800">
                    <a:solidFill>
                      <a:srgbClr val="010507"/>
                    </a:solidFill>
                    <a:latin typeface="Arial" panose="020B0604020202020204" pitchFamily="34" charset="0"/>
                  </a:defRPr>
                </a:lvl1pPr>
                <a:lvl2pPr marL="742950" indent="-285750">
                  <a:defRPr sz="800">
                    <a:solidFill>
                      <a:srgbClr val="010507"/>
                    </a:solidFill>
                    <a:latin typeface="Arial" panose="020B0604020202020204" pitchFamily="34" charset="0"/>
                  </a:defRPr>
                </a:lvl2pPr>
                <a:lvl3pPr marL="1143000" indent="-228600">
                  <a:defRPr sz="800">
                    <a:solidFill>
                      <a:srgbClr val="010507"/>
                    </a:solidFill>
                    <a:latin typeface="Arial" panose="020B0604020202020204" pitchFamily="34" charset="0"/>
                  </a:defRPr>
                </a:lvl3pPr>
                <a:lvl4pPr marL="1600200" indent="-228600">
                  <a:defRPr sz="800">
                    <a:solidFill>
                      <a:srgbClr val="010507"/>
                    </a:solidFill>
                    <a:latin typeface="Arial" panose="020B0604020202020204" pitchFamily="34" charset="0"/>
                  </a:defRPr>
                </a:lvl4pPr>
                <a:lvl5pPr marL="2057400" indent="-228600">
                  <a:defRPr sz="800">
                    <a:solidFill>
                      <a:srgbClr val="010507"/>
                    </a:solidFill>
                    <a:latin typeface="Arial" panose="020B0604020202020204" pitchFamily="34" charset="0"/>
                  </a:defRPr>
                </a:lvl5pPr>
                <a:lvl6pPr marL="25146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6pPr>
                <a:lvl7pPr marL="29718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7pPr>
                <a:lvl8pPr marL="34290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8pPr>
                <a:lvl9pPr marL="38862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9pPr>
              </a:lstStyle>
              <a:p>
                <a:pPr>
                  <a:buFont typeface="Monotype Sorts" pitchFamily="2" charset="2"/>
                  <a:buNone/>
                  <a:defRPr/>
                </a:pPr>
                <a:endParaRPr lang="en-US" altLang="en-US">
                  <a:ea typeface="+mn-ea"/>
                </a:endParaRPr>
              </a:p>
            </p:txBody>
          </p:sp>
          <p:sp>
            <p:nvSpPr>
              <p:cNvPr id="3083" name="AutoShape 8"/>
              <p:cNvSpPr>
                <a:spLocks noChangeArrowheads="1"/>
              </p:cNvSpPr>
              <p:nvPr/>
            </p:nvSpPr>
            <p:spPr bwMode="auto">
              <a:xfrm flipH="1">
                <a:off x="144" y="1248"/>
                <a:ext cx="248" cy="201"/>
              </a:xfrm>
              <a:prstGeom prst="flowChartDelay">
                <a:avLst/>
              </a:prstGeom>
              <a:solidFill>
                <a:schemeClr val="hlink"/>
              </a:solidFill>
              <a:ln>
                <a:noFill/>
              </a:ln>
              <a:effectLst/>
            </p:spPr>
            <p:txBody>
              <a:bodyPr wrap="none" anchor="ctr"/>
              <a:lstStyle>
                <a:lvl1pPr>
                  <a:defRPr sz="800">
                    <a:solidFill>
                      <a:srgbClr val="010507"/>
                    </a:solidFill>
                    <a:latin typeface="Arial" panose="020B0604020202020204" pitchFamily="34" charset="0"/>
                  </a:defRPr>
                </a:lvl1pPr>
                <a:lvl2pPr marL="742950" indent="-285750">
                  <a:defRPr sz="800">
                    <a:solidFill>
                      <a:srgbClr val="010507"/>
                    </a:solidFill>
                    <a:latin typeface="Arial" panose="020B0604020202020204" pitchFamily="34" charset="0"/>
                  </a:defRPr>
                </a:lvl2pPr>
                <a:lvl3pPr marL="1143000" indent="-228600">
                  <a:defRPr sz="800">
                    <a:solidFill>
                      <a:srgbClr val="010507"/>
                    </a:solidFill>
                    <a:latin typeface="Arial" panose="020B0604020202020204" pitchFamily="34" charset="0"/>
                  </a:defRPr>
                </a:lvl3pPr>
                <a:lvl4pPr marL="1600200" indent="-228600">
                  <a:defRPr sz="800">
                    <a:solidFill>
                      <a:srgbClr val="010507"/>
                    </a:solidFill>
                    <a:latin typeface="Arial" panose="020B0604020202020204" pitchFamily="34" charset="0"/>
                  </a:defRPr>
                </a:lvl4pPr>
                <a:lvl5pPr marL="2057400" indent="-228600">
                  <a:defRPr sz="800">
                    <a:solidFill>
                      <a:srgbClr val="010507"/>
                    </a:solidFill>
                    <a:latin typeface="Arial" panose="020B0604020202020204" pitchFamily="34" charset="0"/>
                  </a:defRPr>
                </a:lvl5pPr>
                <a:lvl6pPr marL="25146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6pPr>
                <a:lvl7pPr marL="29718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7pPr>
                <a:lvl8pPr marL="34290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8pPr>
                <a:lvl9pPr marL="38862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panose="020B0604020202020204" pitchFamily="34" charset="0"/>
                  </a:defRPr>
                </a:lvl9pPr>
              </a:lstStyle>
              <a:p>
                <a:pPr>
                  <a:buFont typeface="Monotype Sorts" pitchFamily="2" charset="2"/>
                  <a:buNone/>
                  <a:defRPr/>
                </a:pPr>
                <a:endParaRPr lang="en-US" altLang="en-US">
                  <a:ea typeface="+mn-ea"/>
                </a:endParaRPr>
              </a:p>
            </p:txBody>
          </p:sp>
        </p:grpSp>
      </p:grpSp>
      <p:sp>
        <p:nvSpPr>
          <p:cNvPr id="3075" name="AutoShape 9"/>
          <p:cNvSpPr>
            <a:spLocks noGrp="1" noChangeArrowheads="1"/>
          </p:cNvSpPr>
          <p:nvPr>
            <p:ph type="title"/>
          </p:nvPr>
        </p:nvSpPr>
        <p:spPr bwMode="auto">
          <a:xfrm>
            <a:off x="762000" y="762000"/>
            <a:ext cx="7924800" cy="1143000"/>
          </a:xfrm>
          <a:prstGeom prst="roundRect">
            <a:avLst>
              <a:gd name="adj" fmla="val 21667"/>
            </a:avLst>
          </a:prstGeom>
          <a:noFill/>
          <a:ln>
            <a:noFill/>
          </a:ln>
          <a:effectLst/>
        </p:spPr>
        <p:txBody>
          <a:bodyPr vert="horz" wrap="square" lIns="91440" tIns="45720" rIns="91440" bIns="45720" numCol="1" anchor="b" anchorCtr="0" compatLnSpc="1"/>
          <a:lstStyle/>
          <a:p>
            <a:pPr lvl="0"/>
            <a:r>
              <a:rPr lang="fr-FR"/>
              <a:t>Cliquez pour modifier le style du titre</a:t>
            </a:r>
            <a:endParaRPr lang="fr-FR"/>
          </a:p>
        </p:txBody>
      </p:sp>
      <p:sp>
        <p:nvSpPr>
          <p:cNvPr id="3076" name="Rectangle 10"/>
          <p:cNvSpPr>
            <a:spLocks noGrp="1" noChangeArrowheads="1"/>
          </p:cNvSpPr>
          <p:nvPr>
            <p:ph type="body" idx="1"/>
          </p:nvPr>
        </p:nvSpPr>
        <p:spPr bwMode="auto">
          <a:xfrm>
            <a:off x="838200" y="2362200"/>
            <a:ext cx="7693025" cy="3724275"/>
          </a:xfrm>
          <a:prstGeom prst="rect">
            <a:avLst/>
          </a:prstGeom>
          <a:noFill/>
          <a:ln>
            <a:noFill/>
          </a:ln>
          <a:effectLst/>
        </p:spPr>
        <p:txBody>
          <a:bodyPr vert="horz" wrap="square" lIns="91440" tIns="45720" rIns="91440" bIns="45720" numCol="1" anchor="t" anchorCtr="0" compatLnSpc="1"/>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fr-FR"/>
          </a:p>
        </p:txBody>
      </p:sp>
      <p:sp>
        <p:nvSpPr>
          <p:cNvPr id="534539" name="Rectangle 11"/>
          <p:cNvSpPr>
            <a:spLocks noGrp="1" noChangeArrowheads="1"/>
          </p:cNvSpPr>
          <p:nvPr>
            <p:ph type="dt" sz="half" idx="2"/>
          </p:nvPr>
        </p:nvSpPr>
        <p:spPr bwMode="auto">
          <a:xfrm>
            <a:off x="2438400" y="6248400"/>
            <a:ext cx="2130425" cy="474663"/>
          </a:xfrm>
          <a:prstGeom prst="rect">
            <a:avLst/>
          </a:prstGeom>
          <a:noFill/>
          <a:ln>
            <a:noFill/>
          </a:ln>
          <a:effectLst/>
        </p:spPr>
        <p:txBody>
          <a:bodyPr vert="horz" wrap="square" lIns="91440" tIns="45720" rIns="91440" bIns="45720" numCol="1" anchor="b" anchorCtr="0" compatLnSpc="1"/>
          <a:lstStyle>
            <a:lvl1pPr algn="r" eaLnBrk="1" hangingPunct="1">
              <a:spcBef>
                <a:spcPct val="0"/>
              </a:spcBef>
              <a:buClrTx/>
              <a:buSzTx/>
              <a:buFontTx/>
              <a:buNone/>
              <a:defRPr sz="1400">
                <a:solidFill>
                  <a:schemeClr val="tx1"/>
                </a:solidFill>
                <a:ea typeface="+mn-ea"/>
              </a:defRPr>
            </a:lvl1pPr>
          </a:lstStyle>
          <a:p>
            <a:pPr>
              <a:defRPr/>
            </a:pPr>
            <a:endParaRPr lang="fr-FR"/>
          </a:p>
        </p:txBody>
      </p:sp>
      <p:sp>
        <p:nvSpPr>
          <p:cNvPr id="534540" name="Rectangle 12"/>
          <p:cNvSpPr>
            <a:spLocks noGrp="1" noChangeArrowheads="1"/>
          </p:cNvSpPr>
          <p:nvPr>
            <p:ph type="ftr" sz="quarter" idx="3"/>
          </p:nvPr>
        </p:nvSpPr>
        <p:spPr bwMode="auto">
          <a:xfrm>
            <a:off x="5791200" y="6248400"/>
            <a:ext cx="2897188" cy="474663"/>
          </a:xfrm>
          <a:prstGeom prst="rect">
            <a:avLst/>
          </a:prstGeom>
          <a:noFill/>
          <a:ln>
            <a:noFill/>
          </a:ln>
          <a:effectLst/>
        </p:spPr>
        <p:txBody>
          <a:bodyPr vert="horz" wrap="square" lIns="91440" tIns="45720" rIns="91440" bIns="45720" numCol="1" anchor="b" anchorCtr="0" compatLnSpc="1"/>
          <a:lstStyle>
            <a:lvl1pPr eaLnBrk="1" hangingPunct="1">
              <a:spcBef>
                <a:spcPct val="0"/>
              </a:spcBef>
              <a:buClrTx/>
              <a:buSzTx/>
              <a:buFontTx/>
              <a:buNone/>
              <a:defRPr sz="1400">
                <a:solidFill>
                  <a:schemeClr val="tx1"/>
                </a:solidFill>
                <a:ea typeface="+mn-ea"/>
              </a:defRPr>
            </a:lvl1pPr>
          </a:lstStyle>
          <a:p>
            <a:pPr>
              <a:defRPr/>
            </a:pPr>
            <a:endParaRPr lang="fr-FR"/>
          </a:p>
        </p:txBody>
      </p:sp>
      <p:sp>
        <p:nvSpPr>
          <p:cNvPr id="534541" name="Rectangle 13"/>
          <p:cNvSpPr>
            <a:spLocks noGrp="1" noChangeArrowheads="1"/>
          </p:cNvSpPr>
          <p:nvPr>
            <p:ph type="sldNum" sz="quarter" idx="4"/>
          </p:nvPr>
        </p:nvSpPr>
        <p:spPr bwMode="auto">
          <a:xfrm>
            <a:off x="84138" y="6242050"/>
            <a:ext cx="587375" cy="488950"/>
          </a:xfrm>
          <a:prstGeom prst="rect">
            <a:avLst/>
          </a:prstGeom>
          <a:noFill/>
          <a:ln>
            <a:noFill/>
          </a:ln>
          <a:effectLst/>
        </p:spPr>
        <p:txBody>
          <a:bodyPr vert="horz" wrap="square" lIns="91440" tIns="45720" rIns="91440" bIns="45720" numCol="1" anchor="b" anchorCtr="1" compatLnSpc="1"/>
          <a:lstStyle>
            <a:lvl1pPr algn="l" eaLnBrk="1" hangingPunct="1">
              <a:spcBef>
                <a:spcPct val="0"/>
              </a:spcBef>
              <a:buClrTx/>
              <a:buSzTx/>
              <a:buFontTx/>
              <a:buNone/>
              <a:defRPr sz="2600" b="1">
                <a:solidFill>
                  <a:schemeClr val="bg1"/>
                </a:solidFill>
              </a:defRPr>
            </a:lvl1pPr>
          </a:lstStyle>
          <a:p>
            <a:fld id="{264356B5-DC53-A34E-89F3-96436E855D76}" type="slidenum">
              <a:rPr lang="fr-FR"/>
            </a:fld>
            <a:endParaRPr lang="fr-F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hdr="0" ftr="0" dt="0"/>
  <p:txStyles>
    <p:titleStyle>
      <a:lvl1pPr algn="l" rtl="0" eaLnBrk="0" fontAlgn="base" hangingPunct="0">
        <a:lnSpc>
          <a:spcPct val="90000"/>
        </a:lnSpc>
        <a:spcBef>
          <a:spcPct val="0"/>
        </a:spcBef>
        <a:spcAft>
          <a:spcPct val="0"/>
        </a:spcAft>
        <a:defRPr sz="3600" b="1">
          <a:solidFill>
            <a:schemeClr val="tx2"/>
          </a:solidFill>
          <a:latin typeface="+mj-lt"/>
          <a:ea typeface="MS PGothic" panose="020B0600070205080204" charset="-128"/>
          <a:cs typeface="+mj-cs"/>
        </a:defRPr>
      </a:lvl1pPr>
      <a:lvl2pPr algn="l" rtl="0" eaLnBrk="0" fontAlgn="base" hangingPunct="0">
        <a:lnSpc>
          <a:spcPct val="90000"/>
        </a:lnSpc>
        <a:spcBef>
          <a:spcPct val="0"/>
        </a:spcBef>
        <a:spcAft>
          <a:spcPct val="0"/>
        </a:spcAft>
        <a:defRPr sz="3600" b="1">
          <a:solidFill>
            <a:schemeClr val="tx2"/>
          </a:solidFill>
          <a:latin typeface="Arial" panose="020B0604020202020204" pitchFamily="34" charset="0"/>
          <a:ea typeface="MS PGothic" panose="020B0600070205080204" charset="-128"/>
        </a:defRPr>
      </a:lvl2pPr>
      <a:lvl3pPr algn="l" rtl="0" eaLnBrk="0" fontAlgn="base" hangingPunct="0">
        <a:lnSpc>
          <a:spcPct val="90000"/>
        </a:lnSpc>
        <a:spcBef>
          <a:spcPct val="0"/>
        </a:spcBef>
        <a:spcAft>
          <a:spcPct val="0"/>
        </a:spcAft>
        <a:defRPr sz="3600" b="1">
          <a:solidFill>
            <a:schemeClr val="tx2"/>
          </a:solidFill>
          <a:latin typeface="Arial" panose="020B0604020202020204" pitchFamily="34" charset="0"/>
          <a:ea typeface="MS PGothic" panose="020B0600070205080204" charset="-128"/>
        </a:defRPr>
      </a:lvl3pPr>
      <a:lvl4pPr algn="l" rtl="0" eaLnBrk="0" fontAlgn="base" hangingPunct="0">
        <a:lnSpc>
          <a:spcPct val="90000"/>
        </a:lnSpc>
        <a:spcBef>
          <a:spcPct val="0"/>
        </a:spcBef>
        <a:spcAft>
          <a:spcPct val="0"/>
        </a:spcAft>
        <a:defRPr sz="3600" b="1">
          <a:solidFill>
            <a:schemeClr val="tx2"/>
          </a:solidFill>
          <a:latin typeface="Arial" panose="020B0604020202020204" pitchFamily="34" charset="0"/>
          <a:ea typeface="MS PGothic" panose="020B0600070205080204" charset="-128"/>
        </a:defRPr>
      </a:lvl4pPr>
      <a:lvl5pPr algn="l" rtl="0" eaLnBrk="0" fontAlgn="base" hangingPunct="0">
        <a:lnSpc>
          <a:spcPct val="90000"/>
        </a:lnSpc>
        <a:spcBef>
          <a:spcPct val="0"/>
        </a:spcBef>
        <a:spcAft>
          <a:spcPct val="0"/>
        </a:spcAft>
        <a:defRPr sz="3600" b="1">
          <a:solidFill>
            <a:schemeClr val="tx2"/>
          </a:solidFill>
          <a:latin typeface="Arial" panose="020B0604020202020204" pitchFamily="34" charset="0"/>
          <a:ea typeface="MS PGothic" panose="020B0600070205080204" charset="-128"/>
        </a:defRPr>
      </a:lvl5pPr>
      <a:lvl6pPr marL="457200" algn="l" rtl="0" fontAlgn="base">
        <a:lnSpc>
          <a:spcPct val="90000"/>
        </a:lnSpc>
        <a:spcBef>
          <a:spcPct val="0"/>
        </a:spcBef>
        <a:spcAft>
          <a:spcPct val="0"/>
        </a:spcAft>
        <a:defRPr sz="3600" b="1">
          <a:solidFill>
            <a:schemeClr val="tx2"/>
          </a:solidFill>
          <a:latin typeface="Arial" panose="020B0604020202020204" pitchFamily="34" charset="0"/>
        </a:defRPr>
      </a:lvl6pPr>
      <a:lvl7pPr marL="914400" algn="l" rtl="0" fontAlgn="base">
        <a:lnSpc>
          <a:spcPct val="90000"/>
        </a:lnSpc>
        <a:spcBef>
          <a:spcPct val="0"/>
        </a:spcBef>
        <a:spcAft>
          <a:spcPct val="0"/>
        </a:spcAft>
        <a:defRPr sz="3600" b="1">
          <a:solidFill>
            <a:schemeClr val="tx2"/>
          </a:solidFill>
          <a:latin typeface="Arial" panose="020B0604020202020204" pitchFamily="34" charset="0"/>
        </a:defRPr>
      </a:lvl7pPr>
      <a:lvl8pPr marL="1371600" algn="l" rtl="0" fontAlgn="base">
        <a:lnSpc>
          <a:spcPct val="90000"/>
        </a:lnSpc>
        <a:spcBef>
          <a:spcPct val="0"/>
        </a:spcBef>
        <a:spcAft>
          <a:spcPct val="0"/>
        </a:spcAft>
        <a:defRPr sz="3600" b="1">
          <a:solidFill>
            <a:schemeClr val="tx2"/>
          </a:solidFill>
          <a:latin typeface="Arial" panose="020B0604020202020204" pitchFamily="34" charset="0"/>
        </a:defRPr>
      </a:lvl8pPr>
      <a:lvl9pPr marL="1828800" algn="l" rtl="0" fontAlgn="base">
        <a:lnSpc>
          <a:spcPct val="90000"/>
        </a:lnSpc>
        <a:spcBef>
          <a:spcPct val="0"/>
        </a:spcBef>
        <a:spcAft>
          <a:spcPct val="0"/>
        </a:spcAft>
        <a:defRPr sz="3600" b="1">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1"/>
        </a:buClr>
        <a:buSzPct val="75000"/>
        <a:buFont typeface="Wingdings" panose="05000000000000000000" charset="0"/>
        <a:buChar char="l"/>
        <a:defRPr sz="2800">
          <a:solidFill>
            <a:schemeClr val="tx1"/>
          </a:solidFill>
          <a:latin typeface="+mn-lt"/>
          <a:ea typeface="MS PGothic" panose="020B0600070205080204" charset="-128"/>
          <a:cs typeface="+mn-cs"/>
        </a:defRPr>
      </a:lvl1pPr>
      <a:lvl2pPr marL="742950" indent="-285750" algn="l" rtl="0" eaLnBrk="0" fontAlgn="base" hangingPunct="0">
        <a:spcBef>
          <a:spcPct val="20000"/>
        </a:spcBef>
        <a:spcAft>
          <a:spcPct val="0"/>
        </a:spcAft>
        <a:buClr>
          <a:schemeClr val="tx1"/>
        </a:buClr>
        <a:buSzPct val="75000"/>
        <a:buChar char="–"/>
        <a:defRPr sz="2400">
          <a:solidFill>
            <a:schemeClr val="tx1"/>
          </a:solidFill>
          <a:latin typeface="+mn-lt"/>
          <a:ea typeface="MS PGothic" panose="020B0600070205080204" charset="-128"/>
        </a:defRPr>
      </a:lvl2pPr>
      <a:lvl3pPr marL="1143000" indent="-228600" algn="l" rtl="0" eaLnBrk="0" fontAlgn="base" hangingPunct="0">
        <a:spcBef>
          <a:spcPct val="20000"/>
        </a:spcBef>
        <a:spcAft>
          <a:spcPct val="0"/>
        </a:spcAft>
        <a:buClr>
          <a:schemeClr val="tx1"/>
        </a:buClr>
        <a:buSzPct val="75000"/>
        <a:buFont typeface="Wingdings" panose="05000000000000000000" charset="0"/>
        <a:buChar char="l"/>
        <a:defRPr sz="2000">
          <a:solidFill>
            <a:schemeClr val="tx1"/>
          </a:solidFill>
          <a:latin typeface="+mn-lt"/>
          <a:ea typeface="MS PGothic" panose="020B0600070205080204" charset="-128"/>
        </a:defRPr>
      </a:lvl3pPr>
      <a:lvl4pPr marL="1600200" indent="-228600" algn="l" rtl="0" eaLnBrk="0" fontAlgn="base" hangingPunct="0">
        <a:spcBef>
          <a:spcPct val="20000"/>
        </a:spcBef>
        <a:spcAft>
          <a:spcPct val="0"/>
        </a:spcAft>
        <a:buClr>
          <a:schemeClr val="tx1"/>
        </a:buClr>
        <a:buSzPct val="80000"/>
        <a:buChar char="–"/>
        <a:defRPr>
          <a:solidFill>
            <a:schemeClr val="tx1"/>
          </a:solidFill>
          <a:latin typeface="+mn-lt"/>
          <a:ea typeface="MS PGothic" panose="020B0600070205080204" charset="-128"/>
        </a:defRPr>
      </a:lvl4pPr>
      <a:lvl5pPr marL="2057400" indent="-228600" algn="l" rtl="0" eaLnBrk="0" fontAlgn="base" hangingPunct="0">
        <a:spcBef>
          <a:spcPct val="20000"/>
        </a:spcBef>
        <a:spcAft>
          <a:spcPct val="0"/>
        </a:spcAft>
        <a:buClr>
          <a:schemeClr val="tx1"/>
        </a:buClr>
        <a:buSzPct val="65000"/>
        <a:buFont typeface="Wingdings" panose="05000000000000000000" charset="0"/>
        <a:buChar char="l"/>
        <a:defRPr>
          <a:solidFill>
            <a:schemeClr val="tx1"/>
          </a:solidFill>
          <a:latin typeface="+mn-lt"/>
          <a:ea typeface="MS PGothic" panose="020B0600070205080204" charset="-128"/>
        </a:defRPr>
      </a:lvl5pPr>
      <a:lvl6pPr marL="2514600" indent="-228600" algn="l" rtl="0" fontAlgn="base">
        <a:spcBef>
          <a:spcPct val="20000"/>
        </a:spcBef>
        <a:spcAft>
          <a:spcPct val="0"/>
        </a:spcAft>
        <a:buClr>
          <a:schemeClr val="tx1"/>
        </a:buClr>
        <a:buSzPct val="65000"/>
        <a:buFont typeface="Wingdings" panose="05000000000000000000" pitchFamily="2" charset="2"/>
        <a:buChar char="l"/>
        <a:defRPr>
          <a:solidFill>
            <a:schemeClr val="tx1"/>
          </a:solidFill>
          <a:latin typeface="+mn-lt"/>
        </a:defRPr>
      </a:lvl6pPr>
      <a:lvl7pPr marL="2971800" indent="-228600" algn="l" rtl="0" fontAlgn="base">
        <a:spcBef>
          <a:spcPct val="20000"/>
        </a:spcBef>
        <a:spcAft>
          <a:spcPct val="0"/>
        </a:spcAft>
        <a:buClr>
          <a:schemeClr val="tx1"/>
        </a:buClr>
        <a:buSzPct val="65000"/>
        <a:buFont typeface="Wingdings" panose="05000000000000000000" pitchFamily="2" charset="2"/>
        <a:buChar char="l"/>
        <a:defRPr>
          <a:solidFill>
            <a:schemeClr val="tx1"/>
          </a:solidFill>
          <a:latin typeface="+mn-lt"/>
        </a:defRPr>
      </a:lvl7pPr>
      <a:lvl8pPr marL="3429000" indent="-228600" algn="l" rtl="0" fontAlgn="base">
        <a:spcBef>
          <a:spcPct val="20000"/>
        </a:spcBef>
        <a:spcAft>
          <a:spcPct val="0"/>
        </a:spcAft>
        <a:buClr>
          <a:schemeClr val="tx1"/>
        </a:buClr>
        <a:buSzPct val="65000"/>
        <a:buFont typeface="Wingdings" panose="05000000000000000000" pitchFamily="2" charset="2"/>
        <a:buChar char="l"/>
        <a:defRPr>
          <a:solidFill>
            <a:schemeClr val="tx1"/>
          </a:solidFill>
          <a:latin typeface="+mn-lt"/>
        </a:defRPr>
      </a:lvl8pPr>
      <a:lvl9pPr marL="3886200" indent="-228600" algn="l" rtl="0" fontAlgn="base">
        <a:spcBef>
          <a:spcPct val="20000"/>
        </a:spcBef>
        <a:spcAft>
          <a:spcPct val="0"/>
        </a:spcAft>
        <a:buClr>
          <a:schemeClr val="tx1"/>
        </a:buClr>
        <a:buSzPct val="65000"/>
        <a:buFont typeface="Wingdings" panose="05000000000000000000" pitchFamily="2" charset="2"/>
        <a:buChar char="l"/>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hyperlink" Target="http://fr.wikipedia.org/wiki/Dennis_Ritchie" TargetMode="External"/><Relationship Id="rId4" Type="http://schemas.openxmlformats.org/officeDocument/2006/relationships/hyperlink" Target="http://fr.wikipedia.org/wiki/Ken_Thompson" TargetMode="Externa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dirty="0">
              <a:solidFill>
                <a:srgbClr val="000208"/>
              </a:solidFill>
              <a:latin typeface="Times New Roman" panose="02020603050405020304" charset="0"/>
            </a:endParaRPr>
          </a:p>
        </p:txBody>
      </p:sp>
      <p:sp>
        <p:nvSpPr>
          <p:cNvPr id="7172" name="Rectangle 2"/>
          <p:cNvSpPr>
            <a:spLocks noGrp="1" noChangeArrowheads="1"/>
          </p:cNvSpPr>
          <p:nvPr>
            <p:ph type="ctrTitle"/>
          </p:nvPr>
        </p:nvSpPr>
        <p:spPr>
          <a:xfrm>
            <a:off x="467544" y="2886509"/>
            <a:ext cx="7846640" cy="614499"/>
          </a:xfrm>
        </p:spPr>
        <p:txBody>
          <a:bodyPr/>
          <a:lstStyle/>
          <a:p>
            <a:r>
              <a:rPr lang="en-GB" dirty="0" smtClean="0">
                <a:latin typeface="Arial" panose="020B0604020202020204" pitchFamily="34" charset="0"/>
              </a:rPr>
              <a:t>Partie 2 :</a:t>
            </a:r>
            <a:r>
              <a:rPr lang="en-GB" dirty="0">
                <a:latin typeface="Arial" panose="020B0604020202020204" pitchFamily="34" charset="0"/>
              </a:rPr>
              <a:t> </a:t>
            </a:r>
            <a:r>
              <a:rPr lang="en-GB" dirty="0" smtClean="0">
                <a:latin typeface="Arial" panose="020B0604020202020204" pitchFamily="34" charset="0"/>
              </a:rPr>
              <a:t>Langage C</a:t>
            </a:r>
            <a:endParaRPr lang="en-GB" dirty="0">
              <a:latin typeface="Arial" panose="020B0604020202020204" pitchFamily="34" charset="0"/>
            </a:endParaRPr>
          </a:p>
        </p:txBody>
      </p:sp>
      <p:sp>
        <p:nvSpPr>
          <p:cNvPr id="5"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dirty="0">
              <a:solidFill>
                <a:srgbClr val="000208"/>
              </a:solidFill>
              <a:latin typeface="Times New Roman" panose="02020603050405020304" charset="0"/>
            </a:endParaRPr>
          </a:p>
        </p:txBody>
      </p:sp>
      <p:sp>
        <p:nvSpPr>
          <p:cNvPr id="25605" name="Rectangle 2"/>
          <p:cNvSpPr>
            <a:spLocks noGrp="1" noChangeArrowheads="1"/>
          </p:cNvSpPr>
          <p:nvPr>
            <p:ph type="title"/>
          </p:nvPr>
        </p:nvSpPr>
        <p:spPr/>
        <p:txBody>
          <a:bodyPr/>
          <a:lstStyle/>
          <a:p>
            <a:r>
              <a:rPr lang="en-US" sz="2800" dirty="0" smtClean="0">
                <a:latin typeface="Arial" panose="020B0604020202020204" pitchFamily="34" charset="0"/>
              </a:rPr>
              <a:t>Grandes lignes</a:t>
            </a:r>
            <a:endParaRPr lang="fr-FR" sz="2800" dirty="0">
              <a:latin typeface="Arial" panose="020B0604020202020204" pitchFamily="34" charset="0"/>
            </a:endParaRPr>
          </a:p>
        </p:txBody>
      </p:sp>
      <p:sp>
        <p:nvSpPr>
          <p:cNvPr id="19" name="Rectangle 3"/>
          <p:cNvSpPr txBox="1">
            <a:spLocks noChangeArrowheads="1"/>
          </p:cNvSpPr>
          <p:nvPr/>
        </p:nvSpPr>
        <p:spPr bwMode="auto">
          <a:xfrm>
            <a:off x="493712" y="1088740"/>
            <a:ext cx="8686800"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r>
              <a:rPr lang="en-GB" sz="2800" dirty="0">
                <a:solidFill>
                  <a:srgbClr val="040001"/>
                </a:solidFill>
              </a:rPr>
              <a:t>Introduction</a:t>
            </a:r>
            <a:endParaRPr lang="en-GB" sz="2800" dirty="0"/>
          </a:p>
          <a:p>
            <a:r>
              <a:rPr lang="fr-FR" sz="2800" dirty="0">
                <a:solidFill>
                  <a:srgbClr val="040001"/>
                </a:solidFill>
              </a:rPr>
              <a:t>Structure du programme C et </a:t>
            </a:r>
            <a:r>
              <a:rPr lang="fr-FR" sz="2800" dirty="0" smtClean="0">
                <a:solidFill>
                  <a:srgbClr val="040001"/>
                </a:solidFill>
              </a:rPr>
              <a:t>compilation</a:t>
            </a:r>
            <a:endParaRPr lang="fr-FR" sz="2800" dirty="0" smtClean="0">
              <a:solidFill>
                <a:srgbClr val="040001"/>
              </a:solidFill>
            </a:endParaRPr>
          </a:p>
          <a:p>
            <a:r>
              <a:rPr lang="fr-FR" sz="2800" dirty="0">
                <a:solidFill>
                  <a:srgbClr val="040001"/>
                </a:solidFill>
              </a:rPr>
              <a:t>Composants de base du langage </a:t>
            </a:r>
            <a:r>
              <a:rPr lang="fr-FR" sz="2800" dirty="0" smtClean="0">
                <a:solidFill>
                  <a:srgbClr val="040001"/>
                </a:solidFill>
              </a:rPr>
              <a:t>C</a:t>
            </a:r>
            <a:endParaRPr lang="fr-FR" sz="2800" dirty="0" smtClean="0">
              <a:solidFill>
                <a:srgbClr val="040001"/>
              </a:solidFill>
            </a:endParaRPr>
          </a:p>
          <a:p>
            <a:r>
              <a:rPr lang="en-GB" sz="2800" dirty="0">
                <a:solidFill>
                  <a:srgbClr val="040001"/>
                </a:solidFill>
              </a:rPr>
              <a:t>Pointeurs et tableaux</a:t>
            </a:r>
            <a:endParaRPr lang="en-GB" sz="2800" dirty="0">
              <a:solidFill>
                <a:srgbClr val="040001"/>
              </a:solidFill>
            </a:endParaRPr>
          </a:p>
          <a:p>
            <a:r>
              <a:rPr lang="en-GB" sz="2800" dirty="0">
                <a:solidFill>
                  <a:srgbClr val="040001"/>
                </a:solidFill>
              </a:rPr>
              <a:t>Fonctions et </a:t>
            </a:r>
            <a:r>
              <a:rPr lang="en-GB" sz="2800" dirty="0" smtClean="0">
                <a:solidFill>
                  <a:srgbClr val="040001"/>
                </a:solidFill>
              </a:rPr>
              <a:t>paramètres</a:t>
            </a:r>
            <a:endParaRPr lang="en-GB" sz="2800" dirty="0" smtClean="0">
              <a:solidFill>
                <a:srgbClr val="040001"/>
              </a:solidFill>
            </a:endParaRPr>
          </a:p>
          <a:p>
            <a:r>
              <a:rPr lang="fr-FR" sz="2800" dirty="0">
                <a:solidFill>
                  <a:srgbClr val="040001"/>
                </a:solidFill>
              </a:rPr>
              <a:t>Allocation dynamique de la mémoire </a:t>
            </a:r>
            <a:endParaRPr lang="fr-FR" sz="2800" dirty="0" smtClean="0">
              <a:solidFill>
                <a:srgbClr val="040001"/>
              </a:solidFill>
            </a:endParaRPr>
          </a:p>
          <a:p>
            <a:r>
              <a:rPr lang="fr-FR" sz="2800" dirty="0">
                <a:solidFill>
                  <a:srgbClr val="040001"/>
                </a:solidFill>
              </a:rPr>
              <a:t>Structures, listes et tables de </a:t>
            </a:r>
            <a:r>
              <a:rPr lang="fr-FR" sz="2800" dirty="0" smtClean="0">
                <a:solidFill>
                  <a:srgbClr val="040001"/>
                </a:solidFill>
              </a:rPr>
              <a:t>hachage</a:t>
            </a:r>
            <a:endParaRPr lang="fr-FR" sz="2800" dirty="0" smtClean="0">
              <a:solidFill>
                <a:srgbClr val="040001"/>
              </a:solidFill>
            </a:endParaRPr>
          </a:p>
          <a:p>
            <a:r>
              <a:rPr lang="en-GB" sz="2800" dirty="0" smtClean="0">
                <a:solidFill>
                  <a:srgbClr val="040001"/>
                </a:solidFill>
              </a:rPr>
              <a:t>Chaîne de caractères</a:t>
            </a:r>
            <a:endParaRPr lang="en-GB" sz="2800" dirty="0">
              <a:solidFill>
                <a:srgbClr val="040001"/>
              </a:solidFill>
            </a:endParaRPr>
          </a:p>
          <a:p>
            <a:r>
              <a:rPr lang="en-GB" sz="2800" dirty="0" smtClean="0">
                <a:solidFill>
                  <a:srgbClr val="040001"/>
                </a:solidFill>
              </a:rPr>
              <a:t>Entrée/Sortie</a:t>
            </a:r>
            <a:endParaRPr lang="en-GB" sz="2800" dirty="0">
              <a:solidFill>
                <a:srgbClr val="040001"/>
              </a:solidFill>
            </a:endParaRPr>
          </a:p>
        </p:txBody>
      </p:sp>
      <p:sp>
        <p:nvSpPr>
          <p:cNvPr id="6"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dirty="0">
              <a:solidFill>
                <a:srgbClr val="000208"/>
              </a:solidFill>
              <a:latin typeface="Times New Roman" panose="02020603050405020304" charset="0"/>
            </a:endParaRPr>
          </a:p>
        </p:txBody>
      </p:sp>
      <p:sp>
        <p:nvSpPr>
          <p:cNvPr id="7172" name="Rectangle 2"/>
          <p:cNvSpPr>
            <a:spLocks noGrp="1" noChangeArrowheads="1"/>
          </p:cNvSpPr>
          <p:nvPr>
            <p:ph type="ctrTitle"/>
          </p:nvPr>
        </p:nvSpPr>
        <p:spPr/>
        <p:txBody>
          <a:bodyPr/>
          <a:lstStyle/>
          <a:p>
            <a:r>
              <a:rPr lang="en-GB" dirty="0">
                <a:latin typeface="Arial" panose="020B0604020202020204" pitchFamily="34" charset="0"/>
              </a:rPr>
              <a:t>CM </a:t>
            </a:r>
            <a:r>
              <a:rPr lang="en-GB" dirty="0" smtClean="0">
                <a:latin typeface="Arial" panose="020B0604020202020204" pitchFamily="34" charset="0"/>
              </a:rPr>
              <a:t>3 :</a:t>
            </a:r>
            <a:br>
              <a:rPr lang="en-GB" dirty="0">
                <a:latin typeface="Arial" panose="020B0604020202020204" pitchFamily="34" charset="0"/>
              </a:rPr>
            </a:br>
            <a:r>
              <a:rPr lang="en-GB" dirty="0">
                <a:latin typeface="Arial" panose="020B0604020202020204" pitchFamily="34" charset="0"/>
              </a:rPr>
              <a:t>Introduction, Structure et outils</a:t>
            </a:r>
            <a:endParaRPr lang="en-GB" dirty="0">
              <a:latin typeface="Arial" panose="020B0604020202020204" pitchFamily="34" charset="0"/>
            </a:endParaRPr>
          </a:p>
        </p:txBody>
      </p:sp>
      <p:sp>
        <p:nvSpPr>
          <p:cNvPr id="6"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dirty="0">
              <a:solidFill>
                <a:srgbClr val="000208"/>
              </a:solidFill>
              <a:latin typeface="Times New Roman" panose="02020603050405020304" charset="0"/>
            </a:endParaRPr>
          </a:p>
        </p:txBody>
      </p:sp>
      <p:sp>
        <p:nvSpPr>
          <p:cNvPr id="25605" name="Rectangle 2"/>
          <p:cNvSpPr>
            <a:spLocks noGrp="1" noChangeArrowheads="1"/>
          </p:cNvSpPr>
          <p:nvPr>
            <p:ph type="title"/>
          </p:nvPr>
        </p:nvSpPr>
        <p:spPr/>
        <p:txBody>
          <a:bodyPr/>
          <a:lstStyle/>
          <a:p>
            <a:r>
              <a:rPr lang="fr-FR" sz="2800" dirty="0" smtClean="0">
                <a:latin typeface="Arial" panose="020B0604020202020204" pitchFamily="34" charset="0"/>
              </a:rPr>
              <a:t>Pourquoi </a:t>
            </a:r>
            <a:r>
              <a:rPr lang="fr-FR" sz="2800" dirty="0">
                <a:latin typeface="Arial" panose="020B0604020202020204" pitchFamily="34" charset="0"/>
              </a:rPr>
              <a:t>C ?</a:t>
            </a:r>
            <a:endParaRPr lang="fr-FR" sz="2800" dirty="0">
              <a:latin typeface="Arial" panose="020B0604020202020204" pitchFamily="34" charset="0"/>
            </a:endParaRPr>
          </a:p>
        </p:txBody>
      </p:sp>
      <p:sp>
        <p:nvSpPr>
          <p:cNvPr id="19" name="Rectangle 3"/>
          <p:cNvSpPr txBox="1">
            <a:spLocks noChangeArrowheads="1"/>
          </p:cNvSpPr>
          <p:nvPr/>
        </p:nvSpPr>
        <p:spPr bwMode="auto">
          <a:xfrm>
            <a:off x="457200" y="908720"/>
            <a:ext cx="8686800"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t>JAVA est un langage évolué</a:t>
            </a:r>
            <a:endParaRPr lang="en-GB" dirty="0" smtClean="0"/>
          </a:p>
          <a:p>
            <a:pPr lvl="1"/>
            <a:r>
              <a:rPr lang="fr-FR" dirty="0"/>
              <a:t>Haute abstraction loin des objets physiques</a:t>
            </a:r>
            <a:endParaRPr lang="en-GB" dirty="0" smtClean="0"/>
          </a:p>
          <a:p>
            <a:pPr lvl="1"/>
            <a:r>
              <a:rPr lang="fr-FR" dirty="0" smtClean="0"/>
              <a:t>Utile </a:t>
            </a:r>
            <a:r>
              <a:rPr lang="fr-FR" dirty="0"/>
              <a:t>lorsque l'on veut s'abstraire du </a:t>
            </a:r>
            <a:r>
              <a:rPr lang="fr-FR" dirty="0" smtClean="0"/>
              <a:t>matériel </a:t>
            </a:r>
            <a:endParaRPr lang="en-GB" dirty="0"/>
          </a:p>
          <a:p>
            <a:pPr lvl="2"/>
            <a:r>
              <a:rPr lang="en-GB" sz="2000" dirty="0"/>
              <a:t>Ingénierie logicielle</a:t>
            </a:r>
            <a:endParaRPr lang="en-GB" sz="2000" dirty="0"/>
          </a:p>
          <a:p>
            <a:pPr lvl="2"/>
            <a:endParaRPr lang="en-GB" dirty="0"/>
          </a:p>
          <a:p>
            <a:r>
              <a:rPr lang="fr-FR" dirty="0"/>
              <a:t>C est plus proche du matériel</a:t>
            </a:r>
            <a:endParaRPr lang="en-GB" dirty="0"/>
          </a:p>
          <a:p>
            <a:pPr lvl="1"/>
            <a:r>
              <a:rPr lang="fr-FR" dirty="0"/>
              <a:t>Contrôle relativement ce qui se passe dans la </a:t>
            </a:r>
            <a:r>
              <a:rPr lang="fr-FR" dirty="0" smtClean="0"/>
              <a:t>mémoire</a:t>
            </a:r>
            <a:endParaRPr lang="fr-FR" dirty="0" smtClean="0"/>
          </a:p>
          <a:p>
            <a:pPr lvl="1"/>
            <a:r>
              <a:rPr lang="fr-FR" dirty="0"/>
              <a:t>Manipulation des objets physiques du matériel.</a:t>
            </a:r>
            <a:endParaRPr lang="en-GB" dirty="0"/>
          </a:p>
          <a:p>
            <a:pPr lvl="2"/>
            <a:r>
              <a:rPr lang="en-GB" sz="2000" dirty="0"/>
              <a:t>Ingénierie des systèmes</a:t>
            </a:r>
            <a:endParaRPr lang="en-GB" sz="2000" dirty="0"/>
          </a:p>
          <a:p>
            <a:pPr lvl="2" indent="0">
              <a:buNone/>
            </a:pPr>
            <a:endParaRPr lang="en-GB" dirty="0"/>
          </a:p>
          <a:p>
            <a:r>
              <a:rPr lang="fr-FR" dirty="0"/>
              <a:t>Les principaux systèmes d'exploitation sont écrits en C</a:t>
            </a:r>
            <a:endParaRPr lang="en-GB" dirty="0"/>
          </a:p>
          <a:p>
            <a:pPr lvl="1"/>
            <a:r>
              <a:rPr lang="en-GB" dirty="0"/>
              <a:t>Unix, GNU/Linux, etc.</a:t>
            </a:r>
            <a:endParaRPr lang="en-GB" dirty="0"/>
          </a:p>
          <a:p>
            <a:pPr marL="542925" lvl="1" indent="0">
              <a:buNone/>
            </a:pPr>
            <a:endParaRPr lang="en-GB" sz="800" dirty="0"/>
          </a:p>
        </p:txBody>
      </p:sp>
      <p:sp>
        <p:nvSpPr>
          <p:cNvPr id="6"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9">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dirty="0">
              <a:solidFill>
                <a:srgbClr val="000208"/>
              </a:solidFill>
              <a:latin typeface="Times New Roman" panose="02020603050405020304" charset="0"/>
            </a:endParaRPr>
          </a:p>
        </p:txBody>
      </p:sp>
      <p:sp>
        <p:nvSpPr>
          <p:cNvPr id="25605" name="Rectangle 2"/>
          <p:cNvSpPr>
            <a:spLocks noGrp="1" noChangeArrowheads="1"/>
          </p:cNvSpPr>
          <p:nvPr>
            <p:ph type="title"/>
          </p:nvPr>
        </p:nvSpPr>
        <p:spPr/>
        <p:txBody>
          <a:bodyPr/>
          <a:lstStyle/>
          <a:p>
            <a:r>
              <a:rPr lang="en-GB" sz="2800" dirty="0">
                <a:latin typeface="Arial" panose="020B0604020202020204" pitchFamily="34" charset="0"/>
              </a:rPr>
              <a:t>What this course covers?</a:t>
            </a:r>
            <a:endParaRPr lang="en-GB" sz="2800" dirty="0">
              <a:latin typeface="Arial" panose="020B0604020202020204" pitchFamily="34" charset="0"/>
            </a:endParaRPr>
          </a:p>
        </p:txBody>
      </p:sp>
      <p:sp>
        <p:nvSpPr>
          <p:cNvPr id="19" name="Rectangle 3"/>
          <p:cNvSpPr txBox="1">
            <a:spLocks noChangeArrowheads="1"/>
          </p:cNvSpPr>
          <p:nvPr/>
        </p:nvSpPr>
        <p:spPr bwMode="auto">
          <a:xfrm>
            <a:off x="457200" y="908720"/>
            <a:ext cx="8686800" cy="1872208"/>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latin typeface="Arial" panose="020B0604020202020204" pitchFamily="34" charset="0"/>
              </a:rPr>
              <a:t>Il ne s'agit PAS d'un énième cours de programmation avec une présentation étendue de la syntaxe du langage, </a:t>
            </a:r>
            <a:endParaRPr lang="fr-FR" dirty="0" smtClean="0">
              <a:latin typeface="Arial" panose="020B0604020202020204" pitchFamily="34" charset="0"/>
            </a:endParaRPr>
          </a:p>
          <a:p>
            <a:pPr lvl="1"/>
            <a:r>
              <a:rPr lang="fr-FR" dirty="0">
                <a:latin typeface="Arial" panose="020B0604020202020204" pitchFamily="34" charset="0"/>
              </a:rPr>
              <a:t>Différences avec JAVA, syntaxes similaires mais toujours très différentes </a:t>
            </a:r>
            <a:r>
              <a:rPr lang="en-GB" dirty="0" smtClean="0">
                <a:latin typeface="Arial" panose="020B0604020202020204" pitchFamily="34" charset="0"/>
              </a:rPr>
              <a:t>!</a:t>
            </a:r>
            <a:endParaRPr lang="en-GB" dirty="0" smtClean="0">
              <a:latin typeface="Arial" panose="020B0604020202020204" pitchFamily="34" charset="0"/>
            </a:endParaRPr>
          </a:p>
          <a:p>
            <a:pPr lvl="1"/>
            <a:r>
              <a:rPr lang="fr-FR" dirty="0">
                <a:latin typeface="Arial" panose="020B0604020202020204" pitchFamily="34" charset="0"/>
              </a:rPr>
              <a:t>Principalement les parties "délicates" du langage </a:t>
            </a:r>
            <a:r>
              <a:rPr lang="fr-FR" dirty="0" smtClean="0">
                <a:latin typeface="Arial" panose="020B0604020202020204" pitchFamily="34" charset="0"/>
              </a:rPr>
              <a:t>C </a:t>
            </a:r>
            <a:r>
              <a:rPr lang="en-GB" dirty="0" smtClean="0">
                <a:latin typeface="Arial" panose="020B0604020202020204" pitchFamily="34" charset="0"/>
              </a:rPr>
              <a:t>!</a:t>
            </a:r>
            <a:endParaRPr lang="en-GB" dirty="0" smtClean="0"/>
          </a:p>
          <a:p>
            <a:pPr marL="542925" lvl="1" indent="0">
              <a:buNone/>
            </a:pPr>
            <a:endParaRPr lang="en-GB" sz="800" dirty="0" smtClean="0"/>
          </a:p>
          <a:p>
            <a:pPr marL="542925" lvl="1" indent="0">
              <a:buNone/>
            </a:pPr>
            <a:endParaRPr lang="en-GB" sz="800" dirty="0" smtClean="0"/>
          </a:p>
          <a:p>
            <a:r>
              <a:rPr lang="fr-FR" dirty="0"/>
              <a:t>Être un maître de la force C est long et difficile</a:t>
            </a:r>
            <a:endParaRPr lang="en-GB" dirty="0" smtClean="0"/>
          </a:p>
          <a:p>
            <a:pPr lvl="1"/>
            <a:r>
              <a:rPr lang="fr-FR" dirty="0"/>
              <a:t>Il faut s'entraîner, s'entraîner et s'entraîner.</a:t>
            </a:r>
            <a:endParaRPr lang="en-GB" dirty="0" smtClean="0"/>
          </a:p>
          <a:p>
            <a:pPr lvl="1"/>
            <a:endParaRPr lang="en-GB" sz="800" dirty="0"/>
          </a:p>
          <a:p>
            <a:r>
              <a:rPr lang="fr-FR" dirty="0"/>
              <a:t>Mais, il y a beaucoup de documentation </a:t>
            </a:r>
            <a:r>
              <a:rPr lang="en-GB" dirty="0" smtClean="0"/>
              <a:t>!</a:t>
            </a:r>
            <a:endParaRPr lang="en-GB" dirty="0" smtClean="0"/>
          </a:p>
          <a:p>
            <a:pPr lvl="1"/>
            <a:r>
              <a:rPr lang="fr-FR" dirty="0" smtClean="0"/>
              <a:t>Les </a:t>
            </a:r>
            <a:r>
              <a:rPr lang="fr-FR" dirty="0"/>
              <a:t>fonctions des bibliothèques sont documentées</a:t>
            </a:r>
            <a:endParaRPr lang="en-GB" dirty="0"/>
          </a:p>
          <a:p>
            <a:pPr lvl="2"/>
            <a:r>
              <a:rPr lang="en-GB" sz="2000" dirty="0" smtClean="0"/>
              <a:t>Exemple </a:t>
            </a:r>
            <a:r>
              <a:rPr lang="en-GB" sz="2000" dirty="0"/>
              <a:t>: </a:t>
            </a:r>
            <a:r>
              <a:rPr lang="en-GB" sz="2000" b="1" dirty="0">
                <a:latin typeface="Courier New" panose="02070309020205020404"/>
                <a:ea typeface="Courier New" panose="02070309020205020404"/>
              </a:rPr>
              <a:t>man fprintf</a:t>
            </a:r>
            <a:endParaRPr lang="en-GB" sz="2000" dirty="0"/>
          </a:p>
          <a:p>
            <a:pPr lvl="1"/>
            <a:r>
              <a:rPr lang="fr-FR" dirty="0"/>
              <a:t>Google est votre meilleur ami... pas pour copier - coller, mais pour lire et comprendre ! </a:t>
            </a:r>
            <a:endParaRPr lang="en-GB" dirty="0"/>
          </a:p>
        </p:txBody>
      </p:sp>
      <p:sp>
        <p:nvSpPr>
          <p:cNvPr id="6" name="Espace réservé du pied de page 3"/>
          <p:cNvSpPr>
            <a:spLocks noGrp="1"/>
          </p:cNvSpPr>
          <p:nvPr>
            <p:ph type="ftr" sz="quarter" idx="10"/>
          </p:nvPr>
        </p:nvSpPr>
        <p:spPr>
          <a:xfrm>
            <a:off x="2876854" y="6431280"/>
            <a:ext cx="2628292"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dirty="0">
              <a:solidFill>
                <a:srgbClr val="000208"/>
              </a:solidFill>
              <a:latin typeface="Times New Roman" panose="02020603050405020304" charset="0"/>
            </a:endParaRPr>
          </a:p>
        </p:txBody>
      </p:sp>
      <p:sp>
        <p:nvSpPr>
          <p:cNvPr id="25605" name="Rectangle 2"/>
          <p:cNvSpPr>
            <a:spLocks noGrp="1" noChangeArrowheads="1"/>
          </p:cNvSpPr>
          <p:nvPr>
            <p:ph type="title"/>
          </p:nvPr>
        </p:nvSpPr>
        <p:spPr/>
        <p:txBody>
          <a:bodyPr/>
          <a:lstStyle/>
          <a:p>
            <a:r>
              <a:rPr lang="en-US" sz="2800" dirty="0">
                <a:latin typeface="Arial" panose="020B0604020202020204" pitchFamily="34" charset="0"/>
              </a:rPr>
              <a:t>C language</a:t>
            </a:r>
            <a:endParaRPr lang="en-US" sz="2800" dirty="0">
              <a:latin typeface="Arial" panose="020B0604020202020204" pitchFamily="34" charset="0"/>
            </a:endParaRPr>
          </a:p>
        </p:txBody>
      </p:sp>
      <p:sp>
        <p:nvSpPr>
          <p:cNvPr id="19" name="Rectangle 3"/>
          <p:cNvSpPr txBox="1">
            <a:spLocks noChangeArrowheads="1"/>
          </p:cNvSpPr>
          <p:nvPr/>
        </p:nvSpPr>
        <p:spPr bwMode="auto">
          <a:xfrm>
            <a:off x="251520" y="908720"/>
            <a:ext cx="8939336"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smtClean="0"/>
              <a:t>Développé par </a:t>
            </a:r>
            <a:r>
              <a:rPr lang="en-GB" dirty="0">
                <a:solidFill>
                  <a:srgbClr val="CCCCFF"/>
                </a:solidFill>
                <a:hlinkClick r:id="rId4"/>
              </a:rPr>
              <a:t>Thompson</a:t>
            </a:r>
            <a:r>
              <a:rPr lang="en-GB" dirty="0"/>
              <a:t> &amp; </a:t>
            </a:r>
            <a:r>
              <a:rPr lang="en-GB" dirty="0">
                <a:solidFill>
                  <a:srgbClr val="CCCCFF"/>
                </a:solidFill>
                <a:hlinkClick r:id="rId5"/>
              </a:rPr>
              <a:t>Ritchie</a:t>
            </a:r>
            <a:r>
              <a:rPr lang="en-GB" dirty="0"/>
              <a:t> in 1972</a:t>
            </a:r>
            <a:endParaRPr lang="en-GB" dirty="0"/>
          </a:p>
          <a:p>
            <a:r>
              <a:rPr lang="fr-FR" dirty="0"/>
              <a:t>Développé à l'origine : 90-95% du noyau Unix</a:t>
            </a:r>
            <a:endParaRPr lang="en-GB" dirty="0"/>
          </a:p>
          <a:p>
            <a:endParaRPr lang="en-GB" dirty="0"/>
          </a:p>
          <a:p>
            <a:endParaRPr lang="en-GB" dirty="0"/>
          </a:p>
          <a:p>
            <a:endParaRPr lang="en-GB" dirty="0"/>
          </a:p>
          <a:p>
            <a:pPr marL="0" indent="0">
              <a:buNone/>
            </a:pPr>
            <a:endParaRPr lang="en-GB" dirty="0"/>
          </a:p>
          <a:p>
            <a:endParaRPr lang="en-GB" dirty="0"/>
          </a:p>
          <a:p>
            <a:endParaRPr lang="en-GB" dirty="0"/>
          </a:p>
          <a:p>
            <a:pPr marL="0" indent="0">
              <a:buNone/>
            </a:pPr>
            <a:endParaRPr lang="en-GB" sz="1800" dirty="0"/>
          </a:p>
          <a:p>
            <a:r>
              <a:rPr lang="fr-FR" dirty="0"/>
              <a:t>Il a été normalisé par l'American National Standards Institute (ANSI) en 1989 (C ANSI</a:t>
            </a:r>
            <a:r>
              <a:rPr lang="fr-FR" dirty="0" smtClean="0"/>
              <a:t>).</a:t>
            </a:r>
            <a:endParaRPr lang="en-GB" dirty="0"/>
          </a:p>
          <a:p>
            <a:r>
              <a:rPr lang="fr-FR" dirty="0"/>
              <a:t>Langage peu ou pas </a:t>
            </a:r>
            <a:r>
              <a:rPr lang="fr-FR" dirty="0" smtClean="0"/>
              <a:t>typographié </a:t>
            </a:r>
            <a:r>
              <a:rPr lang="en-GB" dirty="0" smtClean="0"/>
              <a:t>(donc</a:t>
            </a:r>
            <a:r>
              <a:rPr lang="en-GB" dirty="0"/>
              <a:t>, les avertissements sont importants</a:t>
            </a:r>
            <a:r>
              <a:rPr lang="en-GB" dirty="0" smtClean="0">
                <a:solidFill>
                  <a:srgbClr val="FF0000"/>
                </a:solidFill>
              </a:rPr>
              <a:t> </a:t>
            </a:r>
            <a:r>
              <a:rPr lang="en-GB" dirty="0">
                <a:solidFill>
                  <a:srgbClr val="FF0000"/>
                </a:solidFill>
              </a:rPr>
              <a:t>!</a:t>
            </a:r>
            <a:r>
              <a:rPr lang="en-GB" dirty="0"/>
              <a:t>)</a:t>
            </a:r>
            <a:endParaRPr lang="en-GB" dirty="0"/>
          </a:p>
        </p:txBody>
      </p:sp>
      <p:pic>
        <p:nvPicPr>
          <p:cNvPr id="6" name="Picture 5"/>
          <p:cNvPicPr/>
          <p:nvPr/>
        </p:nvPicPr>
        <p:blipFill>
          <a:blip r:embed="rId6"/>
          <a:stretch>
            <a:fillRect/>
          </a:stretch>
        </p:blipFill>
        <p:spPr>
          <a:xfrm>
            <a:off x="2303748" y="1880828"/>
            <a:ext cx="4434796" cy="2664296"/>
          </a:xfrm>
          <a:prstGeom prst="rect">
            <a:avLst/>
          </a:prstGeom>
        </p:spPr>
      </p:pic>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dirty="0">
              <a:solidFill>
                <a:srgbClr val="000208"/>
              </a:solidFill>
              <a:latin typeface="Times New Roman" panose="02020603050405020304" charset="0"/>
            </a:endParaRPr>
          </a:p>
        </p:txBody>
      </p:sp>
      <p:sp>
        <p:nvSpPr>
          <p:cNvPr id="7172" name="Rectangle 2"/>
          <p:cNvSpPr>
            <a:spLocks noGrp="1" noChangeArrowheads="1"/>
          </p:cNvSpPr>
          <p:nvPr>
            <p:ph type="ctrTitle"/>
          </p:nvPr>
        </p:nvSpPr>
        <p:spPr/>
        <p:txBody>
          <a:bodyPr/>
          <a:lstStyle/>
          <a:p>
            <a:r>
              <a:rPr lang="en-GB" dirty="0">
                <a:latin typeface="Arial" panose="020B0604020202020204" pitchFamily="34" charset="0"/>
              </a:rPr>
              <a:t>Structure </a:t>
            </a:r>
            <a:r>
              <a:rPr lang="en-GB" dirty="0" smtClean="0">
                <a:latin typeface="Arial" panose="020B0604020202020204" pitchFamily="34" charset="0"/>
              </a:rPr>
              <a:t>du programme C </a:t>
            </a:r>
            <a:br>
              <a:rPr lang="en-GB" dirty="0">
                <a:latin typeface="Arial" panose="020B0604020202020204" pitchFamily="34" charset="0"/>
              </a:rPr>
            </a:br>
            <a:r>
              <a:rPr lang="en-GB" dirty="0" smtClean="0">
                <a:latin typeface="Arial" panose="020B0604020202020204" pitchFamily="34" charset="0"/>
              </a:rPr>
              <a:t>et </a:t>
            </a:r>
            <a:r>
              <a:rPr lang="en-GB" dirty="0">
                <a:latin typeface="Arial" panose="020B0604020202020204" pitchFamily="34" charset="0"/>
              </a:rPr>
              <a:t>compilation</a:t>
            </a:r>
            <a:endParaRPr lang="en-GB" dirty="0">
              <a:latin typeface="Arial" panose="020B0604020202020204" pitchFamily="34" charset="0"/>
            </a:endParaRPr>
          </a:p>
        </p:txBody>
      </p:sp>
      <p:sp>
        <p:nvSpPr>
          <p:cNvPr id="6"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dirty="0">
              <a:solidFill>
                <a:srgbClr val="000208"/>
              </a:solidFill>
              <a:latin typeface="Times New Roman" panose="02020603050405020304" charset="0"/>
            </a:endParaRPr>
          </a:p>
        </p:txBody>
      </p:sp>
      <p:sp>
        <p:nvSpPr>
          <p:cNvPr id="25605" name="Rectangle 2"/>
          <p:cNvSpPr>
            <a:spLocks noGrp="1" noChangeArrowheads="1"/>
          </p:cNvSpPr>
          <p:nvPr>
            <p:ph type="title"/>
          </p:nvPr>
        </p:nvSpPr>
        <p:spPr/>
        <p:txBody>
          <a:bodyPr/>
          <a:lstStyle/>
          <a:p>
            <a:r>
              <a:rPr lang="en-US" sz="2800" dirty="0">
                <a:latin typeface="Arial" panose="020B0604020202020204" pitchFamily="34" charset="0"/>
              </a:rPr>
              <a:t>Structure du programme C</a:t>
            </a:r>
            <a:endParaRPr lang="en-US" sz="2800" dirty="0">
              <a:latin typeface="Arial" panose="020B0604020202020204" pitchFamily="34" charset="0"/>
            </a:endParaRPr>
          </a:p>
        </p:txBody>
      </p:sp>
      <p:sp>
        <p:nvSpPr>
          <p:cNvPr id="19" name="Rectangle 3"/>
          <p:cNvSpPr txBox="1">
            <a:spLocks noChangeArrowheads="1"/>
          </p:cNvSpPr>
          <p:nvPr/>
        </p:nvSpPr>
        <p:spPr bwMode="auto">
          <a:xfrm>
            <a:off x="457200" y="908720"/>
            <a:ext cx="8686800"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panose="020B0604020202020204" pitchFamily="34" charset="0"/>
            </a:endParaRPr>
          </a:p>
        </p:txBody>
      </p:sp>
      <p:sp>
        <p:nvSpPr>
          <p:cNvPr id="6" name="Rectangle 3"/>
          <p:cNvSpPr txBox="1">
            <a:spLocks noChangeArrowheads="1"/>
          </p:cNvSpPr>
          <p:nvPr/>
        </p:nvSpPr>
        <p:spPr bwMode="auto">
          <a:xfrm>
            <a:off x="359532" y="872716"/>
            <a:ext cx="8534400"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t>Un programme est enregistré dans un ou plusieurs fichiers de compilation C</a:t>
            </a:r>
            <a:endParaRPr lang="en-US" sz="800" dirty="0"/>
          </a:p>
          <a:p>
            <a:r>
              <a:rPr lang="fr-FR" dirty="0">
                <a:latin typeface="Arial" panose="020B0604020202020204" pitchFamily="34" charset="0"/>
                <a:cs typeface="MS PGothic" panose="020B0600070205080204" charset="-128"/>
              </a:rPr>
              <a:t>Un fichier de compilation est constitué d'un fichier source ou d'un fichier d'en-tête.</a:t>
            </a:r>
            <a:endParaRPr lang="fr-FR" dirty="0">
              <a:latin typeface="Arial" panose="020B0604020202020204" pitchFamily="34" charset="0"/>
              <a:cs typeface="MS PGothic" panose="020B0600070205080204" charset="-128"/>
            </a:endParaRPr>
          </a:p>
          <a:p>
            <a:pPr marL="0" indent="0">
              <a:buNone/>
            </a:pPr>
            <a:endParaRPr lang="en-US" sz="800" dirty="0">
              <a:latin typeface="Arial" panose="020B0604020202020204" pitchFamily="34" charset="0"/>
              <a:cs typeface="MS PGothic" panose="020B0600070205080204" charset="-128"/>
            </a:endParaRPr>
          </a:p>
          <a:p>
            <a:pPr lvl="1"/>
            <a:r>
              <a:rPr lang="en-US" dirty="0" smtClean="0">
                <a:latin typeface="Arial" panose="020B0604020202020204" pitchFamily="34" charset="0"/>
                <a:cs typeface="MS PGothic" panose="020B0600070205080204" charset="-128"/>
              </a:rPr>
              <a:t>Fichier Source </a:t>
            </a:r>
            <a:r>
              <a:rPr lang="en-US" b="1" dirty="0" smtClean="0">
                <a:latin typeface="Courier"/>
                <a:cs typeface="MS PGothic" panose="020B0600070205080204" charset="-128"/>
              </a:rPr>
              <a:t>.</a:t>
            </a:r>
            <a:r>
              <a:rPr lang="en-US" b="1" dirty="0" smtClean="0">
                <a:latin typeface="Courier"/>
                <a:cs typeface="Courier"/>
              </a:rPr>
              <a:t>c </a:t>
            </a:r>
            <a:r>
              <a:rPr lang="en-US" dirty="0">
                <a:cs typeface="Courier"/>
                <a:sym typeface="Wingdings" panose="05000000000000000000"/>
              </a:rPr>
              <a:t> </a:t>
            </a:r>
            <a:r>
              <a:rPr lang="en-US" dirty="0" smtClean="0">
                <a:cs typeface="Courier"/>
                <a:sym typeface="Wingdings" panose="05000000000000000000"/>
              </a:rPr>
              <a:t>      code</a:t>
            </a:r>
            <a:endParaRPr lang="en-US" dirty="0">
              <a:cs typeface="Courier"/>
            </a:endParaRPr>
          </a:p>
          <a:p>
            <a:pPr lvl="1"/>
            <a:r>
              <a:rPr lang="en-US" dirty="0" smtClean="0">
                <a:latin typeface="Arial" panose="020B0604020202020204" pitchFamily="34" charset="0"/>
                <a:cs typeface="MS PGothic" panose="020B0600070205080204" charset="-128"/>
              </a:rPr>
              <a:t>Fichier en-tête </a:t>
            </a:r>
            <a:r>
              <a:rPr lang="en-US" b="1" dirty="0">
                <a:latin typeface="Courier"/>
                <a:cs typeface="Courier"/>
              </a:rPr>
              <a:t>.h </a:t>
            </a:r>
            <a:r>
              <a:rPr lang="en-US" dirty="0" smtClean="0">
                <a:cs typeface="Courier"/>
                <a:sym typeface="Wingdings" panose="05000000000000000000"/>
              </a:rPr>
              <a:t>       déclarations</a:t>
            </a:r>
            <a:endParaRPr lang="en-US" dirty="0">
              <a:sym typeface="Wingdings" panose="05000000000000000000"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cxnSp>
        <p:nvCxnSpPr>
          <p:cNvPr id="3" name="Connecteur droit avec flèche 2"/>
          <p:cNvCxnSpPr/>
          <p:nvPr/>
        </p:nvCxnSpPr>
        <p:spPr bwMode="auto">
          <a:xfrm>
            <a:off x="3383868" y="3176972"/>
            <a:ext cx="468052" cy="0"/>
          </a:xfrm>
          <a:prstGeom prst="straightConnector1">
            <a:avLst/>
          </a:prstGeom>
          <a:noFill/>
          <a:ln w="28575" cap="flat" cmpd="sng" algn="ctr">
            <a:solidFill>
              <a:srgbClr val="000208"/>
            </a:solidFill>
            <a:prstDash val="solid"/>
            <a:round/>
            <a:headEnd type="none" w="lg" len="lg"/>
            <a:tailEnd type="triangle"/>
          </a:ln>
          <a:effectLst/>
        </p:spPr>
      </p:cxnSp>
      <p:cxnSp>
        <p:nvCxnSpPr>
          <p:cNvPr id="9" name="Connecteur droit avec flèche 8"/>
          <p:cNvCxnSpPr/>
          <p:nvPr/>
        </p:nvCxnSpPr>
        <p:spPr bwMode="auto">
          <a:xfrm>
            <a:off x="3399108" y="2852936"/>
            <a:ext cx="468052" cy="0"/>
          </a:xfrm>
          <a:prstGeom prst="straightConnector1">
            <a:avLst/>
          </a:prstGeom>
          <a:noFill/>
          <a:ln w="28575" cap="flat" cmpd="sng" algn="ctr">
            <a:solidFill>
              <a:srgbClr val="000208"/>
            </a:solidFill>
            <a:prstDash val="solid"/>
            <a:round/>
            <a:headEnd type="none" w="lg" len="lg"/>
            <a:tailEnd type="triangle"/>
          </a:ln>
          <a:effectLst/>
        </p:spPr>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dirty="0">
              <a:solidFill>
                <a:srgbClr val="000208"/>
              </a:solidFill>
              <a:latin typeface="Times New Roman" panose="02020603050405020304" charset="0"/>
            </a:endParaRPr>
          </a:p>
        </p:txBody>
      </p:sp>
      <p:sp>
        <p:nvSpPr>
          <p:cNvPr id="25605" name="Rectangle 2"/>
          <p:cNvSpPr>
            <a:spLocks noGrp="1" noChangeArrowheads="1"/>
          </p:cNvSpPr>
          <p:nvPr>
            <p:ph type="title"/>
          </p:nvPr>
        </p:nvSpPr>
        <p:spPr/>
        <p:txBody>
          <a:bodyPr/>
          <a:lstStyle/>
          <a:p>
            <a:r>
              <a:rPr lang="en-US" sz="2800" dirty="0">
                <a:latin typeface="Arial" panose="020B0604020202020204" pitchFamily="34" charset="0"/>
              </a:rPr>
              <a:t>Communication </a:t>
            </a:r>
            <a:r>
              <a:rPr lang="en-US" sz="2800" dirty="0" smtClean="0">
                <a:latin typeface="Arial" panose="020B0604020202020204" pitchFamily="34" charset="0"/>
              </a:rPr>
              <a:t>entre les fichiers</a:t>
            </a:r>
            <a:r>
              <a:rPr lang="en-US" sz="2800" dirty="0">
                <a:latin typeface="Arial" panose="020B0604020202020204" pitchFamily="34" charset="0"/>
              </a:rPr>
              <a:t> .c </a:t>
            </a:r>
            <a:endParaRPr lang="en-US" sz="2800" dirty="0">
              <a:latin typeface="Arial" panose="020B0604020202020204" pitchFamily="34" charset="0"/>
            </a:endParaRPr>
          </a:p>
        </p:txBody>
      </p:sp>
      <p:sp>
        <p:nvSpPr>
          <p:cNvPr id="19" name="Rectangle 3"/>
          <p:cNvSpPr txBox="1">
            <a:spLocks noChangeArrowheads="1"/>
          </p:cNvSpPr>
          <p:nvPr/>
        </p:nvSpPr>
        <p:spPr bwMode="auto">
          <a:xfrm>
            <a:off x="457200" y="908720"/>
            <a:ext cx="8686800"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panose="020B0604020202020204" pitchFamily="34" charset="0"/>
            </a:endParaRPr>
          </a:p>
        </p:txBody>
      </p:sp>
      <p:sp>
        <p:nvSpPr>
          <p:cNvPr id="6" name="Rectangle 3"/>
          <p:cNvSpPr txBox="1">
            <a:spLocks noChangeArrowheads="1"/>
          </p:cNvSpPr>
          <p:nvPr/>
        </p:nvSpPr>
        <p:spPr bwMode="auto">
          <a:xfrm>
            <a:off x="359532" y="800708"/>
            <a:ext cx="8534400" cy="1827820"/>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r>
              <a:rPr lang="en-US" b="1" dirty="0">
                <a:latin typeface="Courier"/>
                <a:cs typeface="Courier"/>
              </a:rPr>
              <a:t>code2.c </a:t>
            </a:r>
            <a:r>
              <a:rPr lang="en-US" dirty="0" smtClean="0">
                <a:latin typeface="Arial" panose="020B0604020202020204" pitchFamily="34" charset="0"/>
                <a:cs typeface="Courier"/>
              </a:rPr>
              <a:t>peut</a:t>
            </a:r>
            <a:r>
              <a:rPr lang="en-US" dirty="0" smtClean="0">
                <a:latin typeface="Arial" panose="020B0604020202020204" pitchFamily="34" charset="0"/>
                <a:cs typeface="MS PGothic" panose="020B0600070205080204" charset="-128"/>
              </a:rPr>
              <a:t> </a:t>
            </a:r>
            <a:r>
              <a:rPr lang="en-US" b="1" dirty="0" smtClean="0">
                <a:latin typeface="Arial" panose="020B0604020202020204" pitchFamily="34" charset="0"/>
                <a:cs typeface="MS PGothic" panose="020B0600070205080204" charset="-128"/>
              </a:rPr>
              <a:t>utiliser</a:t>
            </a:r>
            <a:r>
              <a:rPr lang="en-US" dirty="0" smtClean="0">
                <a:latin typeface="Arial" panose="020B0604020202020204" pitchFamily="34" charset="0"/>
                <a:cs typeface="MS PGothic" panose="020B0600070205080204" charset="-128"/>
              </a:rPr>
              <a:t> </a:t>
            </a:r>
            <a:r>
              <a:rPr lang="fr-FR" dirty="0">
                <a:latin typeface="Arial" panose="020B0604020202020204" pitchFamily="34" charset="0"/>
                <a:cs typeface="MS PGothic" panose="020B0600070205080204" charset="-128"/>
              </a:rPr>
              <a:t>les fonctions et les variables globales définies </a:t>
            </a:r>
            <a:r>
              <a:rPr lang="fr-FR" dirty="0" smtClean="0">
                <a:latin typeface="Arial" panose="020B0604020202020204" pitchFamily="34" charset="0"/>
                <a:cs typeface="MS PGothic" panose="020B0600070205080204" charset="-128"/>
              </a:rPr>
              <a:t>:</a:t>
            </a:r>
            <a:endParaRPr lang="en-US" dirty="0" smtClean="0">
              <a:latin typeface="Arial" panose="020B0604020202020204" pitchFamily="34" charset="0"/>
              <a:cs typeface="MS PGothic" panose="020B0600070205080204" charset="-128"/>
            </a:endParaRPr>
          </a:p>
          <a:p>
            <a:pPr lvl="1"/>
            <a:r>
              <a:rPr lang="fr-FR" dirty="0">
                <a:latin typeface="Arial" panose="020B0604020202020204" pitchFamily="34" charset="0"/>
                <a:cs typeface="MS PGothic" panose="020B0600070205080204" charset="-128"/>
              </a:rPr>
              <a:t>localement dans ce fichier de compilation</a:t>
            </a:r>
            <a:r>
              <a:rPr lang="en-US" dirty="0" smtClean="0">
                <a:latin typeface="Arial" panose="020B0604020202020204" pitchFamily="34" charset="0"/>
                <a:cs typeface="MS PGothic" panose="020B0600070205080204" charset="-128"/>
              </a:rPr>
              <a:t> </a:t>
            </a:r>
            <a:r>
              <a:rPr lang="en-US" b="1" dirty="0" smtClean="0">
                <a:latin typeface="Courier"/>
                <a:cs typeface="Courier"/>
              </a:rPr>
              <a:t>code2.c </a:t>
            </a:r>
            <a:endParaRPr lang="en-US" dirty="0" smtClean="0">
              <a:latin typeface="Arial" panose="020B0604020202020204" pitchFamily="34" charset="0"/>
              <a:cs typeface="MS PGothic" panose="020B0600070205080204" charset="-128"/>
            </a:endParaRPr>
          </a:p>
          <a:p>
            <a:pPr lvl="1"/>
            <a:r>
              <a:rPr lang="fr-FR" dirty="0">
                <a:latin typeface="Arial" panose="020B0604020202020204" pitchFamily="34" charset="0"/>
                <a:cs typeface="MS PGothic" panose="020B0600070205080204" charset="-128"/>
              </a:rPr>
              <a:t>dans un autre fichier de compilation </a:t>
            </a:r>
            <a:r>
              <a:rPr lang="en-US" b="1" dirty="0" smtClean="0">
                <a:latin typeface="Courier"/>
                <a:cs typeface="Courier"/>
              </a:rPr>
              <a:t>code1.c </a:t>
            </a:r>
            <a:r>
              <a:rPr lang="en-US" dirty="0">
                <a:latin typeface="Arial" panose="020B0604020202020204" pitchFamily="34" charset="0"/>
                <a:cs typeface="MS PGothic" panose="020B0600070205080204" charset="-128"/>
              </a:rPr>
              <a:t>(</a:t>
            </a:r>
            <a:r>
              <a:rPr lang="en-US" b="1" dirty="0">
                <a:latin typeface="Courier"/>
                <a:cs typeface="Courier"/>
              </a:rPr>
              <a:t>code1.c</a:t>
            </a:r>
            <a:r>
              <a:rPr lang="en-US" dirty="0">
                <a:latin typeface="Arial" panose="020B0604020202020204" pitchFamily="34" charset="0"/>
                <a:cs typeface="MS PGothic" panose="020B0600070205080204" charset="-128"/>
              </a:rPr>
              <a:t> </a:t>
            </a:r>
            <a:r>
              <a:rPr lang="en-US" dirty="0" smtClean="0">
                <a:latin typeface="Arial" panose="020B0604020202020204" pitchFamily="34" charset="0"/>
                <a:cs typeface="MS PGothic" panose="020B0600070205080204" charset="-128"/>
              </a:rPr>
              <a:t>les exporte)</a:t>
            </a:r>
            <a:endParaRPr lang="en-US" dirty="0">
              <a:latin typeface="Arial" panose="020B0604020202020204" pitchFamily="34" charset="0"/>
              <a:cs typeface="MS PGothic" panose="020B0600070205080204" charset="-128"/>
            </a:endParaRPr>
          </a:p>
          <a:p>
            <a:endParaRPr lang="en-US" sz="800" dirty="0">
              <a:latin typeface="Arial" panose="020B0604020202020204" pitchFamily="34" charset="0"/>
              <a:cs typeface="MS PGothic" panose="020B0600070205080204" charset="-128"/>
            </a:endParaRPr>
          </a:p>
          <a:p>
            <a:r>
              <a:rPr lang="en-US" b="1" dirty="0">
                <a:latin typeface="Courier"/>
                <a:cs typeface="Courier"/>
              </a:rPr>
              <a:t>code1.c </a:t>
            </a:r>
            <a:r>
              <a:rPr lang="fr-FR" sz="2200" b="1" dirty="0">
                <a:latin typeface="Arial" panose="020B0604020202020204" pitchFamily="34" charset="0"/>
                <a:cs typeface="MS PGothic" panose="020B0600070205080204" charset="-128"/>
              </a:rPr>
              <a:t>définit les fonctions et les variables globales </a:t>
            </a:r>
            <a:r>
              <a:rPr lang="fr-FR" sz="2200" b="1" dirty="0" smtClean="0">
                <a:latin typeface="Arial" panose="020B0604020202020204" pitchFamily="34" charset="0"/>
                <a:cs typeface="MS PGothic" panose="020B0600070205080204" charset="-128"/>
              </a:rPr>
              <a:t>:</a:t>
            </a:r>
            <a:endParaRPr lang="en-US" sz="2200" dirty="0">
              <a:latin typeface="Arial" panose="020B0604020202020204" pitchFamily="34" charset="0"/>
              <a:cs typeface="MS PGothic" panose="020B0600070205080204" charset="-128"/>
            </a:endParaRPr>
          </a:p>
          <a:p>
            <a:pPr marL="716280" lvl="1" indent="-173355" defTabSz="925830"/>
            <a:r>
              <a:rPr lang="en-US" dirty="0" smtClean="0">
                <a:latin typeface="Arial" panose="020B0604020202020204" pitchFamily="34" charset="0"/>
                <a:cs typeface="MS PGothic" panose="020B0600070205080204" charset="-128"/>
              </a:rPr>
              <a:t>exporté par </a:t>
            </a:r>
            <a:r>
              <a:rPr lang="en-US" b="1" dirty="0">
                <a:latin typeface="Courier"/>
                <a:cs typeface="Courier"/>
              </a:rPr>
              <a:t>code1.c</a:t>
            </a:r>
            <a:r>
              <a:rPr lang="en-US" dirty="0">
                <a:latin typeface="Arial" panose="020B0604020202020204" pitchFamily="34" charset="0"/>
                <a:cs typeface="MS PGothic" panose="020B0600070205080204" charset="-128"/>
              </a:rPr>
              <a:t> </a:t>
            </a:r>
            <a:r>
              <a:rPr lang="fr-FR" dirty="0">
                <a:latin typeface="Arial" panose="020B0604020202020204" pitchFamily="34" charset="0"/>
                <a:cs typeface="MS PGothic" panose="020B0600070205080204" charset="-128"/>
              </a:rPr>
              <a:t>pour être utilisé par un autre </a:t>
            </a:r>
            <a:r>
              <a:rPr lang="fr-FR" dirty="0" smtClean="0">
                <a:latin typeface="Arial" panose="020B0604020202020204" pitchFamily="34" charset="0"/>
                <a:cs typeface="MS PGothic" panose="020B0600070205080204" charset="-128"/>
              </a:rPr>
              <a:t>fichier  </a:t>
            </a:r>
            <a:r>
              <a:rPr lang="en-US" b="1" dirty="0" smtClean="0">
                <a:latin typeface="Courier"/>
                <a:cs typeface="Courier"/>
              </a:rPr>
              <a:t>code2.c </a:t>
            </a:r>
            <a:endParaRPr lang="en-US" dirty="0">
              <a:latin typeface="Arial" panose="020B0604020202020204" pitchFamily="34" charset="0"/>
              <a:cs typeface="MS PGothic" panose="020B0600070205080204" charset="-128"/>
            </a:endParaRPr>
          </a:p>
          <a:p>
            <a:pPr lvl="1"/>
            <a:r>
              <a:rPr lang="en-US" dirty="0" smtClean="0">
                <a:latin typeface="Arial" panose="020B0604020202020204" pitchFamily="34" charset="0"/>
                <a:cs typeface="MS PGothic" panose="020B0600070205080204" charset="-128"/>
              </a:rPr>
              <a:t>Utilisé localement dans </a:t>
            </a:r>
            <a:r>
              <a:rPr lang="en-US" b="1" dirty="0">
                <a:latin typeface="Courier"/>
                <a:cs typeface="Courier"/>
              </a:rPr>
              <a:t>code1.c</a:t>
            </a:r>
            <a:endParaRPr lang="en-US" b="1" dirty="0">
              <a:latin typeface="Courier"/>
              <a:cs typeface="Courier"/>
            </a:endParaRPr>
          </a:p>
          <a:p>
            <a:pPr marL="0" indent="0">
              <a:buNone/>
            </a:pPr>
            <a:endParaRPr lang="en-US" dirty="0">
              <a:latin typeface="Arial" panose="020B0604020202020204" pitchFamily="34" charset="0"/>
              <a:cs typeface="MS PGothic" panose="020B0600070205080204" charset="-128"/>
            </a:endParaRPr>
          </a:p>
        </p:txBody>
      </p:sp>
      <p:sp>
        <p:nvSpPr>
          <p:cNvPr id="2" name="Rectangle 1"/>
          <p:cNvSpPr/>
          <p:nvPr/>
        </p:nvSpPr>
        <p:spPr bwMode="auto">
          <a:xfrm>
            <a:off x="5904148" y="4246044"/>
            <a:ext cx="2972428" cy="2088232"/>
          </a:xfrm>
          <a:prstGeom prst="rect">
            <a:avLst/>
          </a:prstGeom>
          <a:no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3" name="TextBox 2"/>
          <p:cNvSpPr txBox="1"/>
          <p:nvPr/>
        </p:nvSpPr>
        <p:spPr>
          <a:xfrm>
            <a:off x="5838566" y="4617132"/>
            <a:ext cx="3050835" cy="369332"/>
          </a:xfrm>
          <a:prstGeom prst="rect">
            <a:avLst/>
          </a:prstGeom>
          <a:noFill/>
        </p:spPr>
        <p:txBody>
          <a:bodyPr wrap="none" rtlCol="0">
            <a:spAutoFit/>
          </a:bodyPr>
          <a:lstStyle/>
          <a:p>
            <a:r>
              <a:rPr lang="en-US" sz="1800" dirty="0" smtClean="0">
                <a:solidFill>
                  <a:srgbClr val="FF0000"/>
                </a:solidFill>
              </a:rPr>
              <a:t>Définition de  la </a:t>
            </a:r>
            <a:r>
              <a:rPr lang="en-US" sz="1800" dirty="0">
                <a:solidFill>
                  <a:srgbClr val="FF0000"/>
                </a:solidFill>
              </a:rPr>
              <a:t>variable </a:t>
            </a:r>
            <a:r>
              <a:rPr lang="en-US" sz="1800" b="1" dirty="0" smtClean="0">
                <a:solidFill>
                  <a:srgbClr val="FF0000"/>
                </a:solidFill>
                <a:latin typeface="Courier New" panose="02070309020205020404"/>
                <a:cs typeface="Courier New" panose="02070309020205020404"/>
              </a:rPr>
              <a:t>a </a:t>
            </a:r>
            <a:r>
              <a:rPr lang="en-US" sz="1800" dirty="0" smtClean="0">
                <a:solidFill>
                  <a:srgbClr val="FF0000"/>
                </a:solidFill>
              </a:rPr>
              <a:t>;</a:t>
            </a:r>
            <a:endParaRPr lang="en-US" sz="1800" dirty="0">
              <a:solidFill>
                <a:srgbClr val="FF0000"/>
              </a:solidFill>
            </a:endParaRPr>
          </a:p>
        </p:txBody>
      </p:sp>
      <p:sp>
        <p:nvSpPr>
          <p:cNvPr id="9" name="Rectangle 8"/>
          <p:cNvSpPr/>
          <p:nvPr/>
        </p:nvSpPr>
        <p:spPr bwMode="auto">
          <a:xfrm>
            <a:off x="1275740" y="4301480"/>
            <a:ext cx="2936220" cy="2088232"/>
          </a:xfrm>
          <a:prstGeom prst="rect">
            <a:avLst/>
          </a:prstGeom>
          <a:no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10" name="TextBox 9"/>
          <p:cNvSpPr txBox="1"/>
          <p:nvPr/>
        </p:nvSpPr>
        <p:spPr>
          <a:xfrm>
            <a:off x="1258767" y="5121188"/>
            <a:ext cx="3025187" cy="369332"/>
          </a:xfrm>
          <a:prstGeom prst="rect">
            <a:avLst/>
          </a:prstGeom>
          <a:noFill/>
        </p:spPr>
        <p:txBody>
          <a:bodyPr wrap="none" rtlCol="0">
            <a:spAutoFit/>
          </a:bodyPr>
          <a:lstStyle/>
          <a:p>
            <a:r>
              <a:rPr lang="en-US" sz="1800" dirty="0" smtClean="0"/>
              <a:t>Utilisation de la </a:t>
            </a:r>
            <a:r>
              <a:rPr lang="en-US" sz="1800" dirty="0"/>
              <a:t>variable </a:t>
            </a:r>
            <a:r>
              <a:rPr lang="en-US" sz="1800" b="1" dirty="0" smtClean="0">
                <a:latin typeface="Courier New" panose="02070309020205020404"/>
                <a:cs typeface="Courier New" panose="02070309020205020404"/>
              </a:rPr>
              <a:t>b </a:t>
            </a:r>
            <a:r>
              <a:rPr lang="en-US" sz="1800" dirty="0" smtClean="0"/>
              <a:t>;</a:t>
            </a:r>
            <a:endParaRPr lang="en-US" sz="1800" dirty="0"/>
          </a:p>
        </p:txBody>
      </p:sp>
      <p:sp>
        <p:nvSpPr>
          <p:cNvPr id="4" name="Rectangle 3"/>
          <p:cNvSpPr/>
          <p:nvPr/>
        </p:nvSpPr>
        <p:spPr>
          <a:xfrm>
            <a:off x="6606636" y="3825044"/>
            <a:ext cx="1262059" cy="400110"/>
          </a:xfrm>
          <a:prstGeom prst="rect">
            <a:avLst/>
          </a:prstGeom>
        </p:spPr>
        <p:txBody>
          <a:bodyPr wrap="none">
            <a:spAutoFit/>
          </a:bodyPr>
          <a:lstStyle/>
          <a:p>
            <a:r>
              <a:rPr lang="en-US" sz="2000" b="1" dirty="0">
                <a:latin typeface="Courier"/>
                <a:cs typeface="Courier"/>
              </a:rPr>
              <a:t>code1.c</a:t>
            </a:r>
            <a:endParaRPr lang="en-US" sz="2000" dirty="0"/>
          </a:p>
        </p:txBody>
      </p:sp>
      <p:sp>
        <p:nvSpPr>
          <p:cNvPr id="12" name="Rectangle 11"/>
          <p:cNvSpPr/>
          <p:nvPr/>
        </p:nvSpPr>
        <p:spPr>
          <a:xfrm>
            <a:off x="2159732" y="3944230"/>
            <a:ext cx="1262059" cy="400110"/>
          </a:xfrm>
          <a:prstGeom prst="rect">
            <a:avLst/>
          </a:prstGeom>
        </p:spPr>
        <p:txBody>
          <a:bodyPr wrap="none">
            <a:spAutoFit/>
          </a:bodyPr>
          <a:lstStyle/>
          <a:p>
            <a:r>
              <a:rPr lang="en-US" sz="2000" b="1" dirty="0">
                <a:latin typeface="Courier"/>
                <a:cs typeface="Courier"/>
              </a:rPr>
              <a:t>code2.c</a:t>
            </a:r>
            <a:endParaRPr lang="en-US" sz="2000" dirty="0"/>
          </a:p>
        </p:txBody>
      </p:sp>
      <p:sp>
        <p:nvSpPr>
          <p:cNvPr id="7" name="Rectangle 6"/>
          <p:cNvSpPr/>
          <p:nvPr/>
        </p:nvSpPr>
        <p:spPr>
          <a:xfrm>
            <a:off x="1366183" y="4535832"/>
            <a:ext cx="2986715" cy="369332"/>
          </a:xfrm>
          <a:prstGeom prst="rect">
            <a:avLst/>
          </a:prstGeom>
        </p:spPr>
        <p:txBody>
          <a:bodyPr wrap="none">
            <a:spAutoFit/>
          </a:bodyPr>
          <a:lstStyle/>
          <a:p>
            <a:r>
              <a:rPr lang="en-US" sz="1800" dirty="0" smtClean="0"/>
              <a:t>Définition de la variable </a:t>
            </a:r>
            <a:r>
              <a:rPr lang="en-US" sz="1800" b="1" dirty="0" smtClean="0">
                <a:latin typeface="Courier New" panose="02070309020205020404"/>
                <a:cs typeface="Courier New" panose="02070309020205020404"/>
              </a:rPr>
              <a:t>b;</a:t>
            </a:r>
            <a:endParaRPr lang="en-US" sz="1800" dirty="0"/>
          </a:p>
        </p:txBody>
      </p:sp>
      <p:sp>
        <p:nvSpPr>
          <p:cNvPr id="15" name="TextBox 14"/>
          <p:cNvSpPr txBox="1"/>
          <p:nvPr/>
        </p:nvSpPr>
        <p:spPr>
          <a:xfrm>
            <a:off x="1259632" y="5728568"/>
            <a:ext cx="3025188" cy="369332"/>
          </a:xfrm>
          <a:prstGeom prst="rect">
            <a:avLst/>
          </a:prstGeom>
          <a:noFill/>
        </p:spPr>
        <p:txBody>
          <a:bodyPr wrap="none" rtlCol="0">
            <a:spAutoFit/>
          </a:bodyPr>
          <a:lstStyle/>
          <a:p>
            <a:r>
              <a:rPr lang="en-US" sz="1800" dirty="0" smtClean="0">
                <a:solidFill>
                  <a:srgbClr val="FF0000"/>
                </a:solidFill>
              </a:rPr>
              <a:t>Utilisation de la variable </a:t>
            </a:r>
            <a:r>
              <a:rPr lang="en-US" sz="1800" b="1" dirty="0" smtClean="0">
                <a:solidFill>
                  <a:srgbClr val="FF0000"/>
                </a:solidFill>
                <a:latin typeface="Courier New" panose="02070309020205020404"/>
                <a:cs typeface="Courier New" panose="02070309020205020404"/>
              </a:rPr>
              <a:t>a </a:t>
            </a:r>
            <a:r>
              <a:rPr lang="en-US" sz="1800" dirty="0" smtClean="0">
                <a:solidFill>
                  <a:srgbClr val="FF0000"/>
                </a:solidFill>
              </a:rPr>
              <a:t>;</a:t>
            </a:r>
            <a:endParaRPr lang="en-US" sz="1800" dirty="0">
              <a:solidFill>
                <a:srgbClr val="FF0000"/>
              </a:solidFill>
            </a:endParaRPr>
          </a:p>
        </p:txBody>
      </p:sp>
      <p:sp>
        <p:nvSpPr>
          <p:cNvPr id="16" name="TextBox 15"/>
          <p:cNvSpPr txBox="1"/>
          <p:nvPr/>
        </p:nvSpPr>
        <p:spPr>
          <a:xfrm>
            <a:off x="5851389" y="5098984"/>
            <a:ext cx="3025187" cy="369332"/>
          </a:xfrm>
          <a:prstGeom prst="rect">
            <a:avLst/>
          </a:prstGeom>
          <a:noFill/>
        </p:spPr>
        <p:txBody>
          <a:bodyPr wrap="none" rtlCol="0">
            <a:spAutoFit/>
          </a:bodyPr>
          <a:lstStyle/>
          <a:p>
            <a:r>
              <a:rPr lang="en-US" sz="1800" dirty="0" smtClean="0">
                <a:solidFill>
                  <a:srgbClr val="FF0000"/>
                </a:solidFill>
              </a:rPr>
              <a:t>Utilisation de la variable </a:t>
            </a:r>
            <a:r>
              <a:rPr lang="en-US" sz="1800" b="1" dirty="0" smtClean="0">
                <a:solidFill>
                  <a:srgbClr val="FF0000"/>
                </a:solidFill>
                <a:latin typeface="Courier New" panose="02070309020205020404"/>
                <a:cs typeface="Courier New" panose="02070309020205020404"/>
              </a:rPr>
              <a:t>a </a:t>
            </a:r>
            <a:r>
              <a:rPr lang="en-US" sz="1800" dirty="0" smtClean="0">
                <a:solidFill>
                  <a:srgbClr val="FF0000"/>
                </a:solidFill>
              </a:rPr>
              <a:t>;</a:t>
            </a:r>
            <a:endParaRPr lang="en-US" sz="1800" dirty="0">
              <a:solidFill>
                <a:srgbClr val="FF0000"/>
              </a:solidFill>
            </a:endParaRPr>
          </a:p>
        </p:txBody>
      </p:sp>
      <p:sp>
        <p:nvSpPr>
          <p:cNvPr id="17" name="Espace réservé du pied de page 3"/>
          <p:cNvSpPr>
            <a:spLocks noGrp="1"/>
          </p:cNvSpPr>
          <p:nvPr>
            <p:ph type="ftr" sz="quarter" idx="10"/>
          </p:nvPr>
        </p:nvSpPr>
        <p:spPr>
          <a:xfrm>
            <a:off x="395536" y="6417332"/>
            <a:ext cx="5624264" cy="3810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16"/>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6">
                                            <p:txEl>
                                              <p:pRg st="6" end="6"/>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15"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25605" name="Rectangle 2"/>
          <p:cNvSpPr>
            <a:spLocks noGrp="1" noChangeArrowheads="1"/>
          </p:cNvSpPr>
          <p:nvPr>
            <p:ph type="title"/>
          </p:nvPr>
        </p:nvSpPr>
        <p:spPr>
          <a:xfrm>
            <a:off x="304800" y="152400"/>
            <a:ext cx="8515672" cy="533400"/>
          </a:xfrm>
        </p:spPr>
        <p:txBody>
          <a:bodyPr/>
          <a:lstStyle/>
          <a:p>
            <a:r>
              <a:rPr lang="en-US" sz="2800" dirty="0">
                <a:latin typeface="Arial" panose="020B0604020202020204" pitchFamily="34" charset="0"/>
              </a:rPr>
              <a:t>Communication entre </a:t>
            </a:r>
            <a:r>
              <a:rPr lang="en-US" sz="2800" dirty="0" smtClean="0">
                <a:latin typeface="Arial" panose="020B0604020202020204" pitchFamily="34" charset="0"/>
              </a:rPr>
              <a:t>les fichiers .c</a:t>
            </a:r>
            <a:endParaRPr lang="en-US" sz="2800" dirty="0">
              <a:latin typeface="Arial" panose="020B0604020202020204" pitchFamily="34" charset="0"/>
            </a:endParaRPr>
          </a:p>
        </p:txBody>
      </p:sp>
      <p:sp>
        <p:nvSpPr>
          <p:cNvPr id="19" name="Rectangle 3"/>
          <p:cNvSpPr txBox="1">
            <a:spLocks noChangeArrowheads="1"/>
          </p:cNvSpPr>
          <p:nvPr/>
        </p:nvSpPr>
        <p:spPr bwMode="auto">
          <a:xfrm>
            <a:off x="457200" y="908720"/>
            <a:ext cx="8686800"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panose="020B0604020202020204" pitchFamily="34" charset="0"/>
            </a:endParaRPr>
          </a:p>
        </p:txBody>
      </p:sp>
      <p:sp>
        <p:nvSpPr>
          <p:cNvPr id="6" name="Rectangle 3"/>
          <p:cNvSpPr txBox="1">
            <a:spLocks noChangeArrowheads="1"/>
          </p:cNvSpPr>
          <p:nvPr/>
        </p:nvSpPr>
        <p:spPr bwMode="auto">
          <a:xfrm>
            <a:off x="609600" y="872716"/>
            <a:ext cx="8534400"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t>La définition des variables et constantes globales est par défaut locale </a:t>
            </a:r>
            <a:r>
              <a:rPr lang="en-GB" dirty="0" smtClean="0"/>
              <a:t>:</a:t>
            </a:r>
            <a:endParaRPr lang="en-GB" dirty="0"/>
          </a:p>
          <a:p>
            <a:pPr lvl="1"/>
            <a:r>
              <a:rPr lang="en-GB" dirty="0" smtClean="0"/>
              <a:t>Défini dans </a:t>
            </a:r>
            <a:r>
              <a:rPr lang="en-GB" b="1" dirty="0" smtClean="0">
                <a:latin typeface="Courier"/>
                <a:cs typeface="Courier"/>
              </a:rPr>
              <a:t>code1.c  </a:t>
            </a:r>
            <a:r>
              <a:rPr lang="en-GB" dirty="0" smtClean="0"/>
              <a:t>    “vu” </a:t>
            </a:r>
            <a:r>
              <a:rPr lang="en-GB" dirty="0"/>
              <a:t>uniquement par </a:t>
            </a:r>
            <a:r>
              <a:rPr lang="en-GB" b="1" dirty="0">
                <a:latin typeface="Courier"/>
                <a:cs typeface="Courier"/>
              </a:rPr>
              <a:t>code1.c</a:t>
            </a:r>
            <a:endParaRPr lang="en-GB" dirty="0"/>
          </a:p>
          <a:p>
            <a:pPr marL="0" indent="0">
              <a:buNone/>
            </a:pPr>
            <a:endParaRPr lang="en-GB" sz="2000" b="1" dirty="0">
              <a:latin typeface="Courier"/>
              <a:cs typeface="Courier"/>
            </a:endParaRPr>
          </a:p>
          <a:p>
            <a:r>
              <a:rPr lang="en-US" dirty="0" smtClean="0"/>
              <a:t>Pour être </a:t>
            </a:r>
            <a:r>
              <a:rPr lang="en-GB" dirty="0" smtClean="0"/>
              <a:t>“vu” </a:t>
            </a:r>
            <a:r>
              <a:rPr lang="en-GB" dirty="0"/>
              <a:t>par </a:t>
            </a:r>
            <a:r>
              <a:rPr lang="en-GB" dirty="0" smtClean="0"/>
              <a:t>le fichier </a:t>
            </a:r>
            <a:r>
              <a:rPr lang="en-GB" b="1" dirty="0" smtClean="0">
                <a:latin typeface="Courier"/>
                <a:cs typeface="Courier"/>
              </a:rPr>
              <a:t>code2.c</a:t>
            </a:r>
            <a:r>
              <a:rPr lang="en-GB" dirty="0" smtClean="0">
                <a:cs typeface="Courier"/>
              </a:rPr>
              <a:t>   </a:t>
            </a:r>
            <a:r>
              <a:rPr lang="en-GB" dirty="0" smtClean="0">
                <a:cs typeface="Courier"/>
                <a:sym typeface="Wingdings" panose="05000000000000000000"/>
              </a:rPr>
              <a:t>   </a:t>
            </a:r>
            <a:r>
              <a:rPr lang="fr-FR" dirty="0" smtClean="0">
                <a:cs typeface="Courier"/>
                <a:sym typeface="Wingdings" panose="05000000000000000000"/>
              </a:rPr>
              <a:t>la </a:t>
            </a:r>
            <a:r>
              <a:rPr lang="fr-FR" dirty="0">
                <a:cs typeface="Courier"/>
                <a:sym typeface="Wingdings" panose="05000000000000000000"/>
              </a:rPr>
              <a:t>variable globale doit être exportée </a:t>
            </a:r>
            <a:r>
              <a:rPr lang="en-GB" dirty="0" smtClean="0"/>
              <a:t>:</a:t>
            </a:r>
            <a:endParaRPr lang="en-GB" dirty="0" smtClean="0"/>
          </a:p>
          <a:p>
            <a:pPr lvl="1"/>
            <a:r>
              <a:rPr lang="en-GB" b="1" dirty="0"/>
              <a:t>l</a:t>
            </a:r>
            <a:r>
              <a:rPr lang="en-GB" b="1" dirty="0" smtClean="0"/>
              <a:t>es déclarations</a:t>
            </a:r>
            <a:r>
              <a:rPr lang="en-GB" dirty="0" smtClean="0"/>
              <a:t> placées dans le fichier d’en-tête </a:t>
            </a:r>
            <a:r>
              <a:rPr lang="en-GB" b="1" dirty="0" smtClean="0">
                <a:latin typeface="Courier"/>
                <a:cs typeface="Courier"/>
              </a:rPr>
              <a:t>code1.h</a:t>
            </a:r>
            <a:endParaRPr lang="en-GB" b="1" dirty="0" smtClean="0">
              <a:latin typeface="Courier"/>
              <a:cs typeface="Courier"/>
            </a:endParaRPr>
          </a:p>
          <a:p>
            <a:pPr lvl="2"/>
            <a:r>
              <a:rPr lang="en-GB" sz="2000" b="1" dirty="0" smtClean="0">
                <a:solidFill>
                  <a:schemeClr val="tx2"/>
                </a:solidFill>
                <a:latin typeface="Courier New" panose="02070309020205020404"/>
                <a:cs typeface="Courier New" panose="02070309020205020404"/>
              </a:rPr>
              <a:t>E</a:t>
            </a:r>
            <a:r>
              <a:rPr lang="en-US" sz="2000" b="1" dirty="0" smtClean="0">
                <a:solidFill>
                  <a:schemeClr val="tx2"/>
                </a:solidFill>
                <a:latin typeface="Courier New" panose="02070309020205020404"/>
                <a:cs typeface="Courier New" panose="02070309020205020404"/>
              </a:rPr>
              <a:t>xterne</a:t>
            </a:r>
            <a:r>
              <a:rPr lang="en-US" sz="2000" dirty="0" smtClean="0">
                <a:solidFill>
                  <a:schemeClr val="tx2"/>
                </a:solidFill>
                <a:cs typeface="Courier New" panose="02070309020205020404"/>
              </a:rPr>
              <a:t>: </a:t>
            </a:r>
            <a:r>
              <a:rPr lang="fr-FR" sz="2000" dirty="0">
                <a:solidFill>
                  <a:schemeClr val="tx2"/>
                </a:solidFill>
                <a:cs typeface="Courier New" panose="02070309020205020404"/>
              </a:rPr>
              <a:t>Pour que la variable globale soit vue par les autres fichiers </a:t>
            </a:r>
            <a:r>
              <a:rPr lang="fr-FR" sz="2000" b="1" dirty="0">
                <a:solidFill>
                  <a:schemeClr val="tx2"/>
                </a:solidFill>
                <a:cs typeface="Courier New" panose="02070309020205020404"/>
              </a:rPr>
              <a:t>.c</a:t>
            </a:r>
            <a:endParaRPr lang="fr-FR" sz="2000" b="1" dirty="0">
              <a:solidFill>
                <a:schemeClr val="tx2"/>
              </a:solidFill>
              <a:cs typeface="Courier New" panose="02070309020205020404"/>
            </a:endParaRPr>
          </a:p>
          <a:p>
            <a:pPr lvl="1"/>
            <a:r>
              <a:rPr lang="en-US" b="1" dirty="0" smtClean="0">
                <a:latin typeface="Arial" panose="020B0604020202020204" pitchFamily="34" charset="0"/>
                <a:cs typeface="MS PGothic" panose="020B0600070205080204" charset="-128"/>
              </a:rPr>
              <a:t>Definitions</a:t>
            </a:r>
            <a:r>
              <a:rPr lang="en-US" dirty="0" smtClean="0">
                <a:latin typeface="Arial" panose="020B0604020202020204" pitchFamily="34" charset="0"/>
                <a:cs typeface="MS PGothic" panose="020B0600070205080204" charset="-128"/>
              </a:rPr>
              <a:t> </a:t>
            </a:r>
            <a:r>
              <a:rPr lang="fr-FR" dirty="0">
                <a:latin typeface="Arial" panose="020B0604020202020204" pitchFamily="34" charset="0"/>
                <a:cs typeface="MS PGothic" panose="020B0600070205080204" charset="-128"/>
              </a:rPr>
              <a:t>se trouvent dans le fichier source</a:t>
            </a:r>
            <a:r>
              <a:rPr lang="en-US" dirty="0" smtClean="0">
                <a:latin typeface="Arial" panose="020B0604020202020204" pitchFamily="34" charset="0"/>
                <a:cs typeface="MS PGothic" panose="020B0600070205080204" charset="-128"/>
              </a:rPr>
              <a:t> </a:t>
            </a:r>
            <a:r>
              <a:rPr lang="en-US" b="1" dirty="0" smtClean="0">
                <a:latin typeface="Courier"/>
                <a:cs typeface="Courier"/>
              </a:rPr>
              <a:t>code1.c </a:t>
            </a:r>
            <a:endParaRPr lang="en-US" b="1" dirty="0">
              <a:latin typeface="Courier"/>
              <a:cs typeface="Courier"/>
            </a:endParaRPr>
          </a:p>
          <a:p>
            <a:pPr lvl="1"/>
            <a:r>
              <a:rPr lang="en-US" b="1" dirty="0">
                <a:latin typeface="Courier"/>
                <a:cs typeface="Courier"/>
              </a:rPr>
              <a:t>code2.c</a:t>
            </a:r>
            <a:r>
              <a:rPr lang="en-US" dirty="0">
                <a:latin typeface="Arial" panose="020B0604020202020204" pitchFamily="34" charset="0"/>
                <a:cs typeface="MS PGothic" panose="020B0600070205080204" charset="-128"/>
              </a:rPr>
              <a:t> comprend l'en-tête </a:t>
            </a:r>
            <a:r>
              <a:rPr lang="en-GB" b="1" dirty="0" smtClean="0">
                <a:latin typeface="Courier"/>
                <a:cs typeface="Courier"/>
              </a:rPr>
              <a:t>code1.h </a:t>
            </a:r>
            <a:r>
              <a:rPr lang="en-US" dirty="0" smtClean="0">
                <a:latin typeface="Arial" panose="020B0604020202020204" pitchFamily="34" charset="0"/>
                <a:cs typeface="Courier"/>
              </a:rPr>
              <a:t>de</a:t>
            </a:r>
            <a:r>
              <a:rPr lang="en-US" sz="2000" dirty="0" smtClean="0">
                <a:latin typeface="Arial" panose="020B0604020202020204" pitchFamily="34" charset="0"/>
                <a:cs typeface="MS PGothic" panose="020B0600070205080204" charset="-128"/>
              </a:rPr>
              <a:t> </a:t>
            </a:r>
            <a:r>
              <a:rPr lang="en-US" sz="2000" b="1" dirty="0">
                <a:latin typeface="Courier"/>
                <a:cs typeface="Courier"/>
              </a:rPr>
              <a:t>code1.c</a:t>
            </a:r>
            <a:r>
              <a:rPr lang="en-US" sz="2000" dirty="0">
                <a:latin typeface="Arial" panose="020B0604020202020204" pitchFamily="34" charset="0"/>
                <a:cs typeface="MS PGothic" panose="020B0600070205080204" charset="-128"/>
              </a:rPr>
              <a:t> </a:t>
            </a:r>
            <a:r>
              <a:rPr lang="fr-FR" dirty="0">
                <a:latin typeface="Arial" panose="020B0604020202020204" pitchFamily="34" charset="0"/>
                <a:cs typeface="MS PGothic" panose="020B0600070205080204" charset="-128"/>
              </a:rPr>
              <a:t>par le biais de la directive</a:t>
            </a:r>
            <a:r>
              <a:rPr lang="en-US" sz="2000" dirty="0" smtClean="0">
                <a:latin typeface="Arial" panose="020B0604020202020204" pitchFamily="34" charset="0"/>
                <a:cs typeface="MS PGothic" panose="020B0600070205080204" charset="-128"/>
              </a:rPr>
              <a:t> </a:t>
            </a:r>
            <a:r>
              <a:rPr lang="en-US" sz="2000" b="1" dirty="0">
                <a:latin typeface="Courier"/>
                <a:cs typeface="Courier"/>
              </a:rPr>
              <a:t>#include</a:t>
            </a:r>
            <a:endParaRPr lang="en-US" sz="2000" b="1" dirty="0">
              <a:latin typeface="Courier"/>
              <a:cs typeface="Courier"/>
            </a:endParaRPr>
          </a:p>
          <a:p>
            <a:pPr lvl="2" indent="0">
              <a:buNone/>
            </a:pPr>
            <a:endParaRPr lang="en-US" sz="2000" b="1" dirty="0">
              <a:latin typeface="Courier"/>
              <a:cs typeface="Courier"/>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cxnSp>
        <p:nvCxnSpPr>
          <p:cNvPr id="3" name="Connecteur droit avec flèche 2"/>
          <p:cNvCxnSpPr/>
          <p:nvPr/>
        </p:nvCxnSpPr>
        <p:spPr bwMode="auto">
          <a:xfrm>
            <a:off x="4067944" y="1880828"/>
            <a:ext cx="396044" cy="0"/>
          </a:xfrm>
          <a:prstGeom prst="straightConnector1">
            <a:avLst/>
          </a:prstGeom>
          <a:noFill/>
          <a:ln w="38100" cap="flat" cmpd="sng" algn="ctr">
            <a:solidFill>
              <a:srgbClr val="000208"/>
            </a:solidFill>
            <a:prstDash val="solid"/>
            <a:round/>
            <a:headEnd type="none" w="lg" len="lg"/>
            <a:tailEnd type="triangle"/>
          </a:ln>
          <a:effectLst/>
        </p:spPr>
      </p:cxnSp>
      <p:cxnSp>
        <p:nvCxnSpPr>
          <p:cNvPr id="9" name="Connecteur droit avec flèche 8"/>
          <p:cNvCxnSpPr/>
          <p:nvPr/>
        </p:nvCxnSpPr>
        <p:spPr bwMode="auto">
          <a:xfrm>
            <a:off x="6114424" y="2661041"/>
            <a:ext cx="396044" cy="0"/>
          </a:xfrm>
          <a:prstGeom prst="straightConnector1">
            <a:avLst/>
          </a:prstGeom>
          <a:noFill/>
          <a:ln w="38100" cap="flat" cmpd="sng" algn="ctr">
            <a:solidFill>
              <a:srgbClr val="000208"/>
            </a:solidFill>
            <a:prstDash val="solid"/>
            <a:round/>
            <a:headEnd type="none" w="lg" len="lg"/>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25605" name="Rectangle 2"/>
          <p:cNvSpPr>
            <a:spLocks noGrp="1" noChangeArrowheads="1"/>
          </p:cNvSpPr>
          <p:nvPr>
            <p:ph type="title"/>
          </p:nvPr>
        </p:nvSpPr>
        <p:spPr/>
        <p:txBody>
          <a:bodyPr/>
          <a:lstStyle/>
          <a:p>
            <a:r>
              <a:rPr lang="en-US" sz="2800" dirty="0">
                <a:latin typeface="Arial" panose="020B0604020202020204" pitchFamily="34" charset="0"/>
              </a:rPr>
              <a:t>Directive #include</a:t>
            </a:r>
            <a:endParaRPr lang="en-US" sz="2800" dirty="0">
              <a:latin typeface="Arial" panose="020B0604020202020204" pitchFamily="34" charset="0"/>
            </a:endParaRPr>
          </a:p>
        </p:txBody>
      </p:sp>
      <p:sp>
        <p:nvSpPr>
          <p:cNvPr id="19" name="Rectangle 3"/>
          <p:cNvSpPr txBox="1">
            <a:spLocks noChangeArrowheads="1"/>
          </p:cNvSpPr>
          <p:nvPr/>
        </p:nvSpPr>
        <p:spPr bwMode="auto">
          <a:xfrm>
            <a:off x="457200" y="908720"/>
            <a:ext cx="8686800"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panose="020B0604020202020204" pitchFamily="34" charset="0"/>
            </a:endParaRPr>
          </a:p>
        </p:txBody>
      </p:sp>
      <p:sp>
        <p:nvSpPr>
          <p:cNvPr id="6" name="Rectangle 3"/>
          <p:cNvSpPr txBox="1">
            <a:spLocks noChangeArrowheads="1"/>
          </p:cNvSpPr>
          <p:nvPr/>
        </p:nvSpPr>
        <p:spPr bwMode="auto">
          <a:xfrm>
            <a:off x="609600" y="872716"/>
            <a:ext cx="8390892"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err="1" smtClean="0">
                <a:latin typeface="Arial" panose="020B0604020202020204" pitchFamily="34" charset="0"/>
                <a:cs typeface="MS PGothic" panose="020B0600070205080204" charset="-128"/>
              </a:rPr>
              <a:t>Syntaxe</a:t>
            </a:r>
            <a:r>
              <a:rPr lang="en-GB" dirty="0" smtClean="0">
                <a:latin typeface="Arial" panose="020B0604020202020204" pitchFamily="34" charset="0"/>
                <a:cs typeface="MS PGothic" panose="020B0600070205080204" charset="-128"/>
              </a:rPr>
              <a:t>:</a:t>
            </a:r>
            <a:endParaRPr lang="en-GB" sz="2000" b="1" dirty="0">
              <a:latin typeface="Arial" panose="020B0604020202020204" pitchFamily="34" charset="0"/>
              <a:ea typeface="Courier New" panose="02070309020205020404"/>
              <a:cs typeface="MS PGothic" panose="020B0600070205080204" charset="-128"/>
            </a:endParaRPr>
          </a:p>
          <a:p>
            <a:pPr marL="0" indent="0">
              <a:buNone/>
            </a:pPr>
            <a:r>
              <a:rPr lang="en-GB" sz="2000" b="1" dirty="0">
                <a:latin typeface="Courier New" panose="02070309020205020404"/>
                <a:ea typeface="Courier New" panose="02070309020205020404"/>
              </a:rPr>
              <a:t>#include &lt;</a:t>
            </a:r>
            <a:r>
              <a:rPr lang="en-GB" sz="2000" b="1" dirty="0" err="1">
                <a:latin typeface="Courier New" panose="02070309020205020404"/>
                <a:ea typeface="Courier New" panose="02070309020205020404"/>
              </a:rPr>
              <a:t>filename.h</a:t>
            </a:r>
            <a:r>
              <a:rPr lang="en-GB" sz="2000" b="1" dirty="0">
                <a:latin typeface="Courier New" panose="02070309020205020404"/>
                <a:ea typeface="Courier New" panose="02070309020205020404"/>
              </a:rPr>
              <a:t>&gt;</a:t>
            </a:r>
            <a:r>
              <a:rPr lang="en-GB" sz="2000" dirty="0"/>
              <a:t>   </a:t>
            </a:r>
            <a:r>
              <a:rPr lang="en-GB" sz="2000" b="1" dirty="0"/>
              <a:t>(1)</a:t>
            </a:r>
            <a:endParaRPr lang="en-GB" sz="900" dirty="0"/>
          </a:p>
          <a:p>
            <a:pPr marL="0" indent="0">
              <a:buNone/>
            </a:pPr>
            <a:r>
              <a:rPr lang="en-GB" sz="2000" b="1" dirty="0">
                <a:latin typeface="Courier New" panose="02070309020205020404"/>
                <a:ea typeface="Courier New" panose="02070309020205020404"/>
              </a:rPr>
              <a:t>#include "</a:t>
            </a:r>
            <a:r>
              <a:rPr lang="en-GB" sz="2000" b="1" dirty="0" err="1">
                <a:latin typeface="Courier New" panose="02070309020205020404"/>
                <a:ea typeface="Courier New" panose="02070309020205020404"/>
              </a:rPr>
              <a:t>filename.h</a:t>
            </a:r>
            <a:r>
              <a:rPr lang="en-GB" sz="2000" b="1" dirty="0">
                <a:latin typeface="Courier New" panose="02070309020205020404"/>
                <a:ea typeface="Courier New" panose="02070309020205020404"/>
              </a:rPr>
              <a:t>"</a:t>
            </a:r>
            <a:r>
              <a:rPr lang="en-GB" sz="2000" dirty="0"/>
              <a:t>   </a:t>
            </a:r>
            <a:r>
              <a:rPr lang="en-GB" sz="2000" b="1" dirty="0"/>
              <a:t>(2)</a:t>
            </a:r>
            <a:endParaRPr lang="en-GB" sz="900" dirty="0"/>
          </a:p>
          <a:p>
            <a:r>
              <a:rPr lang="en-GB" dirty="0" smtClean="0"/>
              <a:t>Description </a:t>
            </a:r>
            <a:endParaRPr lang="en-GB" dirty="0"/>
          </a:p>
          <a:p>
            <a:pPr lvl="1"/>
            <a:r>
              <a:rPr lang="en-GB" dirty="0"/>
              <a:t>(1) </a:t>
            </a:r>
            <a:r>
              <a:rPr lang="en-GB" dirty="0" smtClean="0"/>
              <a:t>et </a:t>
            </a:r>
            <a:r>
              <a:rPr lang="en-GB" dirty="0"/>
              <a:t>(2</a:t>
            </a:r>
            <a:r>
              <a:rPr lang="en-GB" dirty="0" smtClean="0"/>
              <a:t>): </a:t>
            </a:r>
            <a:r>
              <a:rPr lang="fr-FR" dirty="0"/>
              <a:t>Inclure le fichier appelé nom de fichier qui est stocké dans le dossier </a:t>
            </a:r>
            <a:endParaRPr lang="en-GB" dirty="0"/>
          </a:p>
          <a:p>
            <a:pPr marL="542925" lvl="1" indent="0">
              <a:buNone/>
            </a:pPr>
            <a:r>
              <a:rPr lang="en-GB" b="1" dirty="0">
                <a:latin typeface="Courier New" panose="02070309020205020404"/>
                <a:ea typeface="Courier New" panose="02070309020205020404"/>
              </a:rPr>
              <a:t>/</a:t>
            </a:r>
            <a:r>
              <a:rPr lang="en-GB" b="1" dirty="0" err="1">
                <a:latin typeface="Courier New" panose="02070309020205020404"/>
                <a:ea typeface="Courier New" panose="02070309020205020404"/>
              </a:rPr>
              <a:t>usr</a:t>
            </a:r>
            <a:r>
              <a:rPr lang="en-GB" b="1" dirty="0">
                <a:latin typeface="Courier New" panose="02070309020205020404"/>
                <a:ea typeface="Courier New" panose="02070309020205020404"/>
              </a:rPr>
              <a:t>/include</a:t>
            </a:r>
            <a:endParaRPr lang="en-GB" dirty="0"/>
          </a:p>
          <a:p>
            <a:pPr lvl="1"/>
            <a:r>
              <a:rPr lang="en-GB" dirty="0" smtClean="0"/>
              <a:t>seulement </a:t>
            </a:r>
            <a:r>
              <a:rPr lang="en-GB" dirty="0"/>
              <a:t>(2): </a:t>
            </a:r>
            <a:r>
              <a:rPr lang="fr-FR" dirty="0"/>
              <a:t>Rechercher le fichier appelé </a:t>
            </a:r>
            <a:r>
              <a:rPr lang="fr-FR" b="1" dirty="0" smtClean="0"/>
              <a:t>filename</a:t>
            </a:r>
            <a:r>
              <a:rPr lang="fr-FR" dirty="0" smtClean="0"/>
              <a:t> </a:t>
            </a:r>
            <a:r>
              <a:rPr lang="fr-FR" dirty="0"/>
              <a:t>dans le </a:t>
            </a:r>
            <a:r>
              <a:rPr lang="fr-FR" b="1" dirty="0"/>
              <a:t>répertoire de travail</a:t>
            </a:r>
            <a:endParaRPr lang="en-GB" b="1" dirty="0" smtClean="0"/>
          </a:p>
          <a:p>
            <a:pPr lvl="2"/>
            <a:r>
              <a:rPr lang="fr-FR" sz="2000" dirty="0"/>
              <a:t>si le fichier est sauvegardé dans un autre répertoire, vous devez donner </a:t>
            </a:r>
            <a:r>
              <a:rPr lang="fr-FR" sz="2000" dirty="0" smtClean="0"/>
              <a:t>le chemin d’accès</a:t>
            </a:r>
            <a:r>
              <a:rPr lang="en-GB" sz="2000" dirty="0" smtClean="0"/>
              <a:t> </a:t>
            </a:r>
            <a:r>
              <a:rPr lang="en-GB" sz="2000" b="1" dirty="0" smtClean="0">
                <a:latin typeface="Courier New" panose="02070309020205020404"/>
                <a:ea typeface="Courier New" panose="02070309020205020404"/>
              </a:rPr>
              <a:t>”path/filename”</a:t>
            </a:r>
            <a:endParaRPr lang="en-GB" dirty="0" smtClean="0"/>
          </a:p>
          <a:p>
            <a:r>
              <a:rPr lang="en-GB" dirty="0" smtClean="0"/>
              <a:t>Fonctionnalité :</a:t>
            </a:r>
            <a:endParaRPr lang="en-GB" dirty="0"/>
          </a:p>
          <a:p>
            <a:pPr lvl="1"/>
            <a:r>
              <a:rPr lang="fr-FR" dirty="0"/>
              <a:t>Inclut (avant la compilation) le contenu de </a:t>
            </a:r>
            <a:r>
              <a:rPr lang="fr-FR" b="1" dirty="0" smtClean="0"/>
              <a:t>filename</a:t>
            </a:r>
            <a:r>
              <a:rPr lang="fr-FR" dirty="0" smtClean="0"/>
              <a:t>. </a:t>
            </a:r>
            <a:r>
              <a:rPr lang="fr-FR" dirty="0"/>
              <a:t>Ce texte est traité comme s'il faisait partie du fichier courant</a:t>
            </a:r>
            <a:r>
              <a:rPr lang="en-GB" dirty="0" smtClean="0"/>
              <a:t> </a:t>
            </a:r>
            <a:r>
              <a:rPr lang="en-GB" b="1" dirty="0" smtClean="0">
                <a:latin typeface="Courier"/>
                <a:cs typeface="Courier"/>
              </a:rPr>
              <a:t>.c</a:t>
            </a:r>
            <a:endParaRPr lang="en-GB" sz="2000" b="1" dirty="0">
              <a:latin typeface="Courier"/>
              <a:cs typeface="Courier"/>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25605" name="Rectangle 2"/>
          <p:cNvSpPr>
            <a:spLocks noGrp="1" noChangeArrowheads="1"/>
          </p:cNvSpPr>
          <p:nvPr>
            <p:ph type="title"/>
          </p:nvPr>
        </p:nvSpPr>
        <p:spPr>
          <a:xfrm>
            <a:off x="304800" y="152400"/>
            <a:ext cx="8515672" cy="533400"/>
          </a:xfrm>
        </p:spPr>
        <p:txBody>
          <a:bodyPr/>
          <a:lstStyle/>
          <a:p>
            <a:r>
              <a:rPr lang="en-US" sz="2800" dirty="0">
                <a:latin typeface="Arial" panose="020B0604020202020204" pitchFamily="34" charset="0"/>
              </a:rPr>
              <a:t>Communication </a:t>
            </a:r>
            <a:r>
              <a:rPr lang="en-US" sz="2800" dirty="0" smtClean="0">
                <a:latin typeface="Arial" panose="020B0604020202020204" pitchFamily="34" charset="0"/>
              </a:rPr>
              <a:t>entre les fichiers .c : Exemple</a:t>
            </a:r>
            <a:endParaRPr lang="en-US" sz="2800" dirty="0">
              <a:latin typeface="Arial" panose="020B0604020202020204" pitchFamily="34" charset="0"/>
            </a:endParaRPr>
          </a:p>
        </p:txBody>
      </p:sp>
      <p:sp>
        <p:nvSpPr>
          <p:cNvPr id="19" name="Rectangle 3"/>
          <p:cNvSpPr txBox="1">
            <a:spLocks noChangeArrowheads="1"/>
          </p:cNvSpPr>
          <p:nvPr/>
        </p:nvSpPr>
        <p:spPr bwMode="auto">
          <a:xfrm>
            <a:off x="457200" y="980728"/>
            <a:ext cx="8686800"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solidFill>
                <a:schemeClr val="tx2"/>
              </a:solidFill>
              <a:latin typeface="Arial" panose="020B0604020202020204" pitchFamily="34" charset="0"/>
            </a:endParaRPr>
          </a:p>
        </p:txBody>
      </p:sp>
      <p:sp>
        <p:nvSpPr>
          <p:cNvPr id="2" name="Rectangle 1"/>
          <p:cNvSpPr/>
          <p:nvPr/>
        </p:nvSpPr>
        <p:spPr>
          <a:xfrm>
            <a:off x="143508" y="908720"/>
            <a:ext cx="9901100" cy="1760482"/>
          </a:xfrm>
          <a:prstGeom prst="rect">
            <a:avLst/>
          </a:prstGeom>
        </p:spPr>
        <p:txBody>
          <a:bodyPr wrap="square">
            <a:spAutoFit/>
          </a:bodyPr>
          <a:lstStyle/>
          <a:p>
            <a:pPr algn="l"/>
            <a:r>
              <a:rPr lang="en-US" sz="1600" b="1" dirty="0">
                <a:solidFill>
                  <a:srgbClr val="000000"/>
                </a:solidFill>
                <a:latin typeface="Courier New" panose="02070309020205020404"/>
                <a:cs typeface="Courier New" panose="02070309020205020404"/>
              </a:rPr>
              <a:t>#include </a:t>
            </a:r>
            <a:r>
              <a:rPr lang="en-US" sz="1600" b="1" dirty="0">
                <a:solidFill>
                  <a:schemeClr val="tx2"/>
                </a:solidFill>
                <a:latin typeface="Courier New" panose="02070309020205020404"/>
                <a:cs typeface="Courier New" panose="02070309020205020404"/>
              </a:rPr>
              <a:t>"</a:t>
            </a:r>
            <a:r>
              <a:rPr lang="en-US" sz="1600" b="1" dirty="0">
                <a:solidFill>
                  <a:srgbClr val="FF0000"/>
                </a:solidFill>
                <a:latin typeface="Courier New" panose="02070309020205020404"/>
                <a:cs typeface="Courier New" panose="02070309020205020404"/>
              </a:rPr>
              <a:t>code1.h</a:t>
            </a:r>
            <a:r>
              <a:rPr lang="en-US" sz="1600" b="1" dirty="0">
                <a:solidFill>
                  <a:srgbClr val="000000"/>
                </a:solidFill>
                <a:latin typeface="Courier New" panose="02070309020205020404"/>
                <a:cs typeface="Courier New" panose="02070309020205020404"/>
              </a:rPr>
              <a:t>"  </a:t>
            </a:r>
            <a:r>
              <a:rPr lang="en-US" sz="1600" dirty="0">
                <a:solidFill>
                  <a:srgbClr val="000000"/>
                </a:solidFill>
                <a:latin typeface="Courier New" panose="02070309020205020404"/>
                <a:cs typeface="Courier New" panose="02070309020205020404"/>
              </a:rPr>
              <a:t>/* </a:t>
            </a:r>
            <a:r>
              <a:rPr lang="fr-FR" sz="1600" dirty="0">
                <a:solidFill>
                  <a:srgbClr val="000000"/>
                </a:solidFill>
                <a:latin typeface="Courier New" panose="02070309020205020404"/>
                <a:cs typeface="Courier New" panose="02070309020205020404"/>
              </a:rPr>
              <a:t>La déclaration est disponible ici </a:t>
            </a:r>
            <a:r>
              <a:rPr lang="en-US" sz="1600" dirty="0" smtClean="0">
                <a:solidFill>
                  <a:srgbClr val="000000"/>
                </a:solidFill>
                <a:latin typeface="Courier New" panose="02070309020205020404"/>
                <a:cs typeface="Courier New" panose="02070309020205020404"/>
              </a:rPr>
              <a:t>*/</a:t>
            </a:r>
            <a:endParaRPr lang="en-US" sz="1600" dirty="0">
              <a:solidFill>
                <a:srgbClr val="000000"/>
              </a:solidFill>
              <a:latin typeface="Courier New" panose="02070309020205020404"/>
              <a:cs typeface="Courier New" panose="02070309020205020404"/>
            </a:endParaRPr>
          </a:p>
          <a:p>
            <a:pPr algn="l"/>
            <a:endParaRPr lang="en-US" sz="700" b="1" dirty="0">
              <a:solidFill>
                <a:srgbClr val="000000"/>
              </a:solidFill>
              <a:latin typeface="Courier New" panose="02070309020205020404"/>
              <a:cs typeface="Courier New" panose="02070309020205020404"/>
            </a:endParaRPr>
          </a:p>
          <a:p>
            <a:pPr algn="l"/>
            <a:r>
              <a:rPr lang="en-US" sz="1600" dirty="0">
                <a:solidFill>
                  <a:srgbClr val="000000"/>
                </a:solidFill>
                <a:latin typeface="Courier New" panose="02070309020205020404"/>
                <a:cs typeface="Courier New" panose="02070309020205020404"/>
              </a:rPr>
              <a:t>/* </a:t>
            </a:r>
            <a:r>
              <a:rPr lang="fr-FR" sz="1600" dirty="0">
                <a:solidFill>
                  <a:srgbClr val="000000"/>
                </a:solidFill>
                <a:latin typeface="Courier New" panose="02070309020205020404"/>
                <a:cs typeface="Courier New" panose="02070309020205020404"/>
              </a:rPr>
              <a:t>Variable définie et initialisée ici </a:t>
            </a:r>
            <a:r>
              <a:rPr lang="en-US" sz="1600" dirty="0" smtClean="0">
                <a:solidFill>
                  <a:srgbClr val="000000"/>
                </a:solidFill>
                <a:latin typeface="Courier New" panose="02070309020205020404"/>
                <a:cs typeface="Courier New" panose="02070309020205020404"/>
              </a:rPr>
              <a:t>*/</a:t>
            </a:r>
            <a:endParaRPr lang="en-US" sz="1600" dirty="0">
              <a:solidFill>
                <a:srgbClr val="000000"/>
              </a:solidFill>
              <a:latin typeface="Courier New" panose="02070309020205020404"/>
              <a:cs typeface="Courier New" panose="02070309020205020404"/>
            </a:endParaRPr>
          </a:p>
          <a:p>
            <a:pPr algn="l"/>
            <a:r>
              <a:rPr lang="en-US" sz="1600" b="1" dirty="0">
                <a:solidFill>
                  <a:srgbClr val="000000"/>
                </a:solidFill>
                <a:latin typeface="Courier New" panose="02070309020205020404"/>
                <a:cs typeface="Courier New" panose="02070309020205020404"/>
              </a:rPr>
              <a:t>int </a:t>
            </a:r>
            <a:r>
              <a:rPr lang="en-US" sz="1600" b="1" dirty="0" smtClean="0">
                <a:solidFill>
                  <a:srgbClr val="FF0000"/>
                </a:solidFill>
                <a:latin typeface="Courier New" panose="02070309020205020404"/>
                <a:cs typeface="Courier New" panose="02070309020205020404"/>
              </a:rPr>
              <a:t>variable_globale</a:t>
            </a:r>
            <a:r>
              <a:rPr lang="en-US" sz="1600" b="1" dirty="0" smtClean="0">
                <a:solidFill>
                  <a:srgbClr val="000000"/>
                </a:solidFill>
                <a:latin typeface="Courier New" panose="02070309020205020404"/>
                <a:cs typeface="Courier New" panose="02070309020205020404"/>
              </a:rPr>
              <a:t> </a:t>
            </a:r>
            <a:r>
              <a:rPr lang="en-US" sz="1600" b="1" dirty="0">
                <a:solidFill>
                  <a:srgbClr val="000000"/>
                </a:solidFill>
                <a:latin typeface="Courier New" panose="02070309020205020404"/>
                <a:cs typeface="Courier New" panose="02070309020205020404"/>
              </a:rPr>
              <a:t>= 1; </a:t>
            </a:r>
            <a:r>
              <a:rPr lang="en-US" sz="1600" dirty="0" smtClean="0">
                <a:solidFill>
                  <a:srgbClr val="000000"/>
                </a:solidFill>
                <a:latin typeface="Courier New" panose="02070309020205020404"/>
                <a:cs typeface="Courier New" panose="02070309020205020404"/>
              </a:rPr>
              <a:t>/* </a:t>
            </a:r>
            <a:r>
              <a:rPr lang="fr-FR" sz="1600" dirty="0" smtClean="0">
                <a:solidFill>
                  <a:srgbClr val="000000"/>
                </a:solidFill>
                <a:latin typeface="Courier New" panose="02070309020205020404"/>
                <a:cs typeface="Courier New" panose="02070309020205020404"/>
              </a:rPr>
              <a:t>Définition </a:t>
            </a:r>
            <a:r>
              <a:rPr lang="fr-FR" sz="1600" dirty="0">
                <a:solidFill>
                  <a:srgbClr val="000000"/>
                </a:solidFill>
                <a:latin typeface="Courier New" panose="02070309020205020404"/>
                <a:cs typeface="Courier New" panose="02070309020205020404"/>
              </a:rPr>
              <a:t>vérifiée par rapport à </a:t>
            </a:r>
            <a:r>
              <a:rPr lang="fr-FR" sz="1600" dirty="0" smtClean="0">
                <a:solidFill>
                  <a:srgbClr val="000000"/>
                </a:solidFill>
                <a:latin typeface="Courier New" panose="02070309020205020404"/>
                <a:cs typeface="Courier New" panose="02070309020205020404"/>
              </a:rPr>
              <a:t>la</a:t>
            </a:r>
            <a:endParaRPr lang="fr-FR" sz="1600" dirty="0" smtClean="0">
              <a:solidFill>
                <a:srgbClr val="000000"/>
              </a:solidFill>
              <a:latin typeface="Courier New" panose="02070309020205020404"/>
              <a:cs typeface="Courier New" panose="02070309020205020404"/>
            </a:endParaRPr>
          </a:p>
          <a:p>
            <a:pPr algn="l"/>
            <a:r>
              <a:rPr lang="fr-FR" sz="1600" dirty="0" smtClean="0">
                <a:solidFill>
                  <a:srgbClr val="000000"/>
                </a:solidFill>
                <a:latin typeface="Courier New" panose="02070309020205020404"/>
                <a:cs typeface="Courier New" panose="02070309020205020404"/>
              </a:rPr>
              <a:t>déclaration </a:t>
            </a:r>
            <a:r>
              <a:rPr lang="en-US" sz="1600" dirty="0" smtClean="0">
                <a:solidFill>
                  <a:srgbClr val="000000"/>
                </a:solidFill>
                <a:latin typeface="Courier New" panose="02070309020205020404"/>
                <a:cs typeface="Courier New" panose="02070309020205020404"/>
              </a:rPr>
              <a:t>*/</a:t>
            </a:r>
            <a:endParaRPr lang="en-US" sz="1600" dirty="0">
              <a:solidFill>
                <a:srgbClr val="000000"/>
              </a:solidFill>
              <a:latin typeface="Courier New" panose="02070309020205020404"/>
              <a:cs typeface="Courier New" panose="02070309020205020404"/>
            </a:endParaRPr>
          </a:p>
          <a:p>
            <a:pPr algn="l"/>
            <a:endParaRPr lang="en-US" sz="600" b="1" dirty="0">
              <a:solidFill>
                <a:srgbClr val="000000"/>
              </a:solidFill>
              <a:latin typeface="Courier New" panose="02070309020205020404"/>
              <a:cs typeface="Courier New" panose="02070309020205020404"/>
            </a:endParaRPr>
          </a:p>
          <a:p>
            <a:pPr algn="l"/>
            <a:r>
              <a:rPr lang="en-US" sz="1600" b="1" dirty="0">
                <a:solidFill>
                  <a:srgbClr val="000000"/>
                </a:solidFill>
                <a:latin typeface="Courier New" panose="02070309020205020404"/>
                <a:cs typeface="Courier New" panose="02070309020205020404"/>
              </a:rPr>
              <a:t>int increment(void) { </a:t>
            </a:r>
            <a:r>
              <a:rPr lang="en-US" sz="1600" b="1" dirty="0" smtClean="0">
                <a:solidFill>
                  <a:srgbClr val="000000"/>
                </a:solidFill>
                <a:latin typeface="Courier New" panose="02070309020205020404"/>
                <a:cs typeface="Courier New" panose="02070309020205020404"/>
              </a:rPr>
              <a:t>return </a:t>
            </a:r>
            <a:r>
              <a:rPr lang="en-US" sz="1600" b="1" dirty="0" smtClean="0">
                <a:solidFill>
                  <a:srgbClr val="FF0000"/>
                </a:solidFill>
                <a:latin typeface="Courier New" panose="02070309020205020404"/>
                <a:cs typeface="Courier New" panose="02070309020205020404"/>
              </a:rPr>
              <a:t>variable_globale</a:t>
            </a:r>
            <a:r>
              <a:rPr lang="en-US" sz="1600" b="1" dirty="0" smtClean="0">
                <a:solidFill>
                  <a:srgbClr val="000000"/>
                </a:solidFill>
                <a:latin typeface="Courier New" panose="02070309020205020404"/>
                <a:cs typeface="Courier New" panose="02070309020205020404"/>
              </a:rPr>
              <a:t>++; </a:t>
            </a:r>
            <a:r>
              <a:rPr lang="en-US" sz="1600" b="1" dirty="0">
                <a:solidFill>
                  <a:srgbClr val="000000"/>
                </a:solidFill>
                <a:latin typeface="Courier New" panose="02070309020205020404"/>
                <a:cs typeface="Courier New" panose="02070309020205020404"/>
              </a:rPr>
              <a:t>}</a:t>
            </a:r>
            <a:endParaRPr lang="en-US" sz="1600" b="1" dirty="0">
              <a:solidFill>
                <a:srgbClr val="000000"/>
              </a:solidFill>
              <a:latin typeface="Courier New" panose="02070309020205020404"/>
              <a:cs typeface="Courier New" panose="02070309020205020404"/>
            </a:endParaRPr>
          </a:p>
        </p:txBody>
      </p:sp>
      <p:sp>
        <p:nvSpPr>
          <p:cNvPr id="3" name="Rectangle 2"/>
          <p:cNvSpPr/>
          <p:nvPr/>
        </p:nvSpPr>
        <p:spPr bwMode="auto">
          <a:xfrm>
            <a:off x="72008" y="872716"/>
            <a:ext cx="9036496" cy="1836204"/>
          </a:xfrm>
          <a:prstGeom prst="rect">
            <a:avLst/>
          </a:prstGeom>
          <a:no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chemeClr val="tx2"/>
              </a:solidFill>
              <a:effectLst/>
              <a:latin typeface="Arial" panose="020B0604020202020204" pitchFamily="34" charset="0"/>
            </a:endParaRPr>
          </a:p>
        </p:txBody>
      </p:sp>
      <p:sp>
        <p:nvSpPr>
          <p:cNvPr id="4" name="TextBox 3"/>
          <p:cNvSpPr txBox="1"/>
          <p:nvPr/>
        </p:nvSpPr>
        <p:spPr>
          <a:xfrm>
            <a:off x="8097419" y="908720"/>
            <a:ext cx="1046581" cy="338554"/>
          </a:xfrm>
          <a:prstGeom prst="rect">
            <a:avLst/>
          </a:prstGeom>
          <a:noFill/>
        </p:spPr>
        <p:txBody>
          <a:bodyPr wrap="none" rtlCol="0">
            <a:spAutoFit/>
          </a:bodyPr>
          <a:lstStyle/>
          <a:p>
            <a:r>
              <a:rPr lang="en-US" sz="1600" b="1" dirty="0">
                <a:solidFill>
                  <a:schemeClr val="tx2"/>
                </a:solidFill>
                <a:latin typeface="Courier New" panose="02070309020205020404"/>
                <a:cs typeface="Courier New" panose="02070309020205020404"/>
              </a:rPr>
              <a:t>code1.c</a:t>
            </a:r>
            <a:endParaRPr lang="en-US" sz="1600" b="1" dirty="0">
              <a:solidFill>
                <a:schemeClr val="tx2"/>
              </a:solidFill>
              <a:latin typeface="Courier New" panose="02070309020205020404"/>
              <a:cs typeface="Courier New" panose="02070309020205020404"/>
            </a:endParaRPr>
          </a:p>
        </p:txBody>
      </p:sp>
      <p:grpSp>
        <p:nvGrpSpPr>
          <p:cNvPr id="11" name="Group 10"/>
          <p:cNvGrpSpPr/>
          <p:nvPr/>
        </p:nvGrpSpPr>
        <p:grpSpPr>
          <a:xfrm>
            <a:off x="94998" y="2600908"/>
            <a:ext cx="9057374" cy="720080"/>
            <a:chOff x="94998" y="2708920"/>
            <a:chExt cx="9057374" cy="720080"/>
          </a:xfrm>
        </p:grpSpPr>
        <p:sp>
          <p:nvSpPr>
            <p:cNvPr id="5" name="Rectangle 4"/>
            <p:cNvSpPr/>
            <p:nvPr/>
          </p:nvSpPr>
          <p:spPr>
            <a:xfrm>
              <a:off x="107504" y="2708920"/>
              <a:ext cx="9036496" cy="634020"/>
            </a:xfrm>
            <a:prstGeom prst="rect">
              <a:avLst/>
            </a:prstGeom>
          </p:spPr>
          <p:txBody>
            <a:bodyPr wrap="square">
              <a:spAutoFit/>
            </a:bodyPr>
            <a:lstStyle/>
            <a:p>
              <a:pPr algn="l"/>
              <a:endParaRPr lang="en-US" sz="1600" b="1" dirty="0">
                <a:solidFill>
                  <a:schemeClr val="tx2"/>
                </a:solidFill>
                <a:latin typeface="Courier New" panose="02070309020205020404"/>
                <a:cs typeface="Courier New" panose="02070309020205020404"/>
              </a:endParaRPr>
            </a:p>
            <a:p>
              <a:pPr algn="l"/>
              <a:r>
                <a:rPr lang="en-US" sz="1600" b="1" dirty="0">
                  <a:solidFill>
                    <a:schemeClr val="tx2"/>
                  </a:solidFill>
                  <a:latin typeface="Courier New" panose="02070309020205020404"/>
                  <a:cs typeface="Courier New" panose="02070309020205020404"/>
                </a:rPr>
                <a:t>extern int </a:t>
              </a:r>
              <a:r>
                <a:rPr lang="en-US" sz="1600" b="1" dirty="0">
                  <a:solidFill>
                    <a:srgbClr val="FF0000"/>
                  </a:solidFill>
                  <a:latin typeface="Courier New" panose="02070309020205020404"/>
                  <a:cs typeface="Courier New" panose="02070309020205020404"/>
                </a:rPr>
                <a:t>global_variable</a:t>
              </a:r>
              <a:r>
                <a:rPr lang="en-US" sz="1600" b="1" dirty="0">
                  <a:solidFill>
                    <a:schemeClr val="tx2"/>
                  </a:solidFill>
                  <a:latin typeface="Courier New" panose="02070309020205020404"/>
                  <a:cs typeface="Courier New" panose="02070309020205020404"/>
                </a:rPr>
                <a:t>;  </a:t>
              </a:r>
              <a:r>
                <a:rPr lang="en-US" sz="1600" dirty="0">
                  <a:solidFill>
                    <a:schemeClr val="tx2"/>
                  </a:solidFill>
                  <a:latin typeface="Courier New" panose="02070309020205020404"/>
                  <a:cs typeface="Courier New" panose="02070309020205020404"/>
                </a:rPr>
                <a:t>/* </a:t>
              </a:r>
              <a:r>
                <a:rPr lang="en-US" sz="1600" b="1" dirty="0">
                  <a:solidFill>
                    <a:schemeClr val="tx2"/>
                  </a:solidFill>
                  <a:latin typeface="Courier New" panose="02070309020205020404"/>
                  <a:cs typeface="Courier New" panose="02070309020205020404"/>
                </a:rPr>
                <a:t>Déclaration de la variable </a:t>
              </a:r>
              <a:r>
                <a:rPr lang="en-US" sz="1600" dirty="0" smtClean="0">
                  <a:solidFill>
                    <a:schemeClr val="tx2"/>
                  </a:solidFill>
                  <a:latin typeface="Courier New" panose="02070309020205020404"/>
                  <a:cs typeface="Courier New" panose="02070309020205020404"/>
                </a:rPr>
                <a:t>*/</a:t>
              </a:r>
              <a:endParaRPr lang="en-US" sz="1600" dirty="0">
                <a:solidFill>
                  <a:schemeClr val="tx2"/>
                </a:solidFill>
                <a:latin typeface="Courier New" panose="02070309020205020404"/>
                <a:cs typeface="Courier New" panose="02070309020205020404"/>
              </a:endParaRPr>
            </a:p>
          </p:txBody>
        </p:sp>
        <p:sp>
          <p:nvSpPr>
            <p:cNvPr id="7" name="Rectangle 6"/>
            <p:cNvSpPr/>
            <p:nvPr/>
          </p:nvSpPr>
          <p:spPr>
            <a:xfrm>
              <a:off x="8105791" y="2960948"/>
              <a:ext cx="1046581" cy="338554"/>
            </a:xfrm>
            <a:prstGeom prst="rect">
              <a:avLst/>
            </a:prstGeom>
          </p:spPr>
          <p:txBody>
            <a:bodyPr wrap="none">
              <a:spAutoFit/>
            </a:bodyPr>
            <a:lstStyle/>
            <a:p>
              <a:pPr algn="l"/>
              <a:r>
                <a:rPr lang="en-US" sz="1600" b="1" dirty="0">
                  <a:solidFill>
                    <a:schemeClr val="tx2"/>
                  </a:solidFill>
                  <a:latin typeface="Courier New" panose="02070309020205020404"/>
                  <a:cs typeface="Courier New" panose="02070309020205020404"/>
                </a:rPr>
                <a:t>code1.h</a:t>
              </a:r>
              <a:endParaRPr lang="en-US" sz="1600" b="1" dirty="0">
                <a:solidFill>
                  <a:schemeClr val="tx2"/>
                </a:solidFill>
                <a:latin typeface="Courier New" panose="02070309020205020404"/>
                <a:cs typeface="Courier New" panose="02070309020205020404"/>
              </a:endParaRPr>
            </a:p>
          </p:txBody>
        </p:sp>
        <p:sp>
          <p:nvSpPr>
            <p:cNvPr id="12" name="Rectangle 11"/>
            <p:cNvSpPr/>
            <p:nvPr/>
          </p:nvSpPr>
          <p:spPr bwMode="auto">
            <a:xfrm>
              <a:off x="94998" y="2960948"/>
              <a:ext cx="9049002" cy="468052"/>
            </a:xfrm>
            <a:prstGeom prst="rect">
              <a:avLst/>
            </a:prstGeom>
            <a:no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1" i="0" u="none" strike="noStrike" cap="none" normalizeH="0" baseline="0" dirty="0">
                <a:ln>
                  <a:noFill/>
                </a:ln>
                <a:solidFill>
                  <a:schemeClr val="tx2"/>
                </a:solidFill>
                <a:effectLst/>
                <a:latin typeface="Arial" panose="020B0604020202020204" pitchFamily="34" charset="0"/>
              </a:endParaRPr>
            </a:p>
          </p:txBody>
        </p:sp>
      </p:grpSp>
      <p:sp>
        <p:nvSpPr>
          <p:cNvPr id="14" name="Rectangle 13"/>
          <p:cNvSpPr/>
          <p:nvPr/>
        </p:nvSpPr>
        <p:spPr bwMode="auto">
          <a:xfrm>
            <a:off x="107504" y="3501008"/>
            <a:ext cx="9036496" cy="2160240"/>
          </a:xfrm>
          <a:prstGeom prst="rect">
            <a:avLst/>
          </a:prstGeom>
          <a:no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chemeClr val="tx2"/>
              </a:solidFill>
              <a:effectLst/>
              <a:latin typeface="Arial" panose="020B0604020202020204" pitchFamily="34" charset="0"/>
            </a:endParaRPr>
          </a:p>
        </p:txBody>
      </p:sp>
      <p:sp>
        <p:nvSpPr>
          <p:cNvPr id="8" name="Rectangle 7"/>
          <p:cNvSpPr/>
          <p:nvPr/>
        </p:nvSpPr>
        <p:spPr>
          <a:xfrm>
            <a:off x="143508" y="3465004"/>
            <a:ext cx="9000492" cy="1926681"/>
          </a:xfrm>
          <a:prstGeom prst="rect">
            <a:avLst/>
          </a:prstGeom>
        </p:spPr>
        <p:txBody>
          <a:bodyPr wrap="square">
            <a:spAutoFit/>
          </a:bodyPr>
          <a:lstStyle/>
          <a:p>
            <a:pPr algn="l"/>
            <a:r>
              <a:rPr lang="en-US" sz="1600" b="1" dirty="0">
                <a:solidFill>
                  <a:schemeClr val="tx2"/>
                </a:solidFill>
                <a:latin typeface="Courier New" panose="02070309020205020404"/>
                <a:cs typeface="Courier New" panose="02070309020205020404"/>
              </a:rPr>
              <a:t>#include "</a:t>
            </a:r>
            <a:r>
              <a:rPr lang="en-US" sz="1600" b="1" dirty="0">
                <a:solidFill>
                  <a:srgbClr val="FF0000"/>
                </a:solidFill>
                <a:latin typeface="Courier New" panose="02070309020205020404"/>
                <a:cs typeface="Courier New" panose="02070309020205020404"/>
              </a:rPr>
              <a:t>code1.h</a:t>
            </a:r>
            <a:r>
              <a:rPr lang="en-US" sz="1600" b="1" dirty="0">
                <a:solidFill>
                  <a:srgbClr val="000000"/>
                </a:solidFill>
                <a:latin typeface="Courier New" panose="02070309020205020404"/>
                <a:cs typeface="Courier New" panose="02070309020205020404"/>
              </a:rPr>
              <a:t>"</a:t>
            </a:r>
            <a:endParaRPr lang="en-US" sz="1600" b="1" dirty="0">
              <a:solidFill>
                <a:schemeClr val="tx2"/>
              </a:solidFill>
              <a:latin typeface="Courier New" panose="02070309020205020404"/>
              <a:cs typeface="Courier New" panose="02070309020205020404"/>
            </a:endParaRPr>
          </a:p>
          <a:p>
            <a:pPr algn="l"/>
            <a:r>
              <a:rPr lang="en-US" sz="1600" b="1" dirty="0">
                <a:solidFill>
                  <a:schemeClr val="tx2"/>
                </a:solidFill>
                <a:latin typeface="Courier New" panose="02070309020205020404"/>
                <a:cs typeface="Courier New" panose="02070309020205020404"/>
              </a:rPr>
              <a:t>#include &lt;stdio.h&gt;</a:t>
            </a:r>
            <a:endParaRPr lang="en-US" sz="1600" b="1" dirty="0">
              <a:solidFill>
                <a:schemeClr val="tx2"/>
              </a:solidFill>
              <a:latin typeface="Courier New" panose="02070309020205020404"/>
              <a:cs typeface="Courier New" panose="02070309020205020404"/>
            </a:endParaRPr>
          </a:p>
          <a:p>
            <a:pPr algn="l"/>
            <a:endParaRPr lang="en-US" sz="600" b="1" dirty="0">
              <a:solidFill>
                <a:schemeClr val="tx2"/>
              </a:solidFill>
              <a:latin typeface="Courier New" panose="02070309020205020404"/>
              <a:cs typeface="Courier New" panose="02070309020205020404"/>
            </a:endParaRPr>
          </a:p>
          <a:p>
            <a:pPr algn="l"/>
            <a:r>
              <a:rPr lang="en-US" sz="1600" b="1" dirty="0">
                <a:solidFill>
                  <a:schemeClr val="tx2"/>
                </a:solidFill>
                <a:latin typeface="Courier New" panose="02070309020205020404"/>
                <a:cs typeface="Courier New" panose="02070309020205020404"/>
              </a:rPr>
              <a:t>void use_it(void)</a:t>
            </a:r>
            <a:endParaRPr lang="en-US" sz="1600" b="1" dirty="0">
              <a:solidFill>
                <a:schemeClr val="tx2"/>
              </a:solidFill>
              <a:latin typeface="Courier New" panose="02070309020205020404"/>
              <a:cs typeface="Courier New" panose="02070309020205020404"/>
            </a:endParaRPr>
          </a:p>
          <a:p>
            <a:pPr algn="l"/>
            <a:r>
              <a:rPr lang="en-US" sz="1600" b="1" dirty="0">
                <a:solidFill>
                  <a:schemeClr val="tx2"/>
                </a:solidFill>
                <a:latin typeface="Courier New" panose="02070309020205020404"/>
                <a:cs typeface="Courier New" panose="02070309020205020404"/>
              </a:rPr>
              <a:t>{</a:t>
            </a:r>
            <a:endParaRPr lang="en-US" sz="1600" b="1" dirty="0">
              <a:solidFill>
                <a:schemeClr val="tx2"/>
              </a:solidFill>
              <a:latin typeface="Courier New" panose="02070309020205020404"/>
              <a:cs typeface="Courier New" panose="02070309020205020404"/>
            </a:endParaRPr>
          </a:p>
          <a:p>
            <a:pPr algn="l"/>
            <a:r>
              <a:rPr lang="en-US" sz="1600" b="1" dirty="0">
                <a:solidFill>
                  <a:schemeClr val="tx2"/>
                </a:solidFill>
                <a:latin typeface="Courier New" panose="02070309020205020404"/>
                <a:cs typeface="Courier New" panose="02070309020205020404"/>
              </a:rPr>
              <a:t>    printf</a:t>
            </a:r>
            <a:r>
              <a:rPr lang="en-US" sz="1600" b="1" dirty="0" smtClean="0">
                <a:solidFill>
                  <a:schemeClr val="tx2"/>
                </a:solidFill>
                <a:latin typeface="Courier New" panose="02070309020205020404"/>
                <a:cs typeface="Courier New" panose="02070309020205020404"/>
              </a:rPr>
              <a:t>("variable globale: </a:t>
            </a:r>
            <a:r>
              <a:rPr lang="en-US" sz="1600" b="1" dirty="0">
                <a:solidFill>
                  <a:schemeClr val="tx2"/>
                </a:solidFill>
                <a:latin typeface="Courier New" panose="02070309020205020404"/>
                <a:cs typeface="Courier New" panose="02070309020205020404"/>
              </a:rPr>
              <a:t>%d\n", </a:t>
            </a:r>
            <a:r>
              <a:rPr lang="en-US" sz="1600" b="1" dirty="0" smtClean="0">
                <a:solidFill>
                  <a:srgbClr val="FF0000"/>
                </a:solidFill>
                <a:latin typeface="Courier New" panose="02070309020205020404"/>
                <a:cs typeface="Courier New" panose="02070309020205020404"/>
              </a:rPr>
              <a:t>variable_globale</a:t>
            </a:r>
            <a:r>
              <a:rPr lang="en-US" sz="1600" b="1" dirty="0" smtClean="0">
                <a:solidFill>
                  <a:schemeClr val="tx2"/>
                </a:solidFill>
                <a:latin typeface="Courier New" panose="02070309020205020404"/>
                <a:cs typeface="Courier New" panose="02070309020205020404"/>
              </a:rPr>
              <a:t>);</a:t>
            </a:r>
            <a:endParaRPr lang="en-US" sz="1600" b="1" dirty="0">
              <a:solidFill>
                <a:schemeClr val="tx2"/>
              </a:solidFill>
              <a:latin typeface="Courier New" panose="02070309020205020404"/>
              <a:cs typeface="Courier New" panose="02070309020205020404"/>
            </a:endParaRPr>
          </a:p>
          <a:p>
            <a:pPr algn="l"/>
            <a:r>
              <a:rPr lang="en-US" sz="1600" b="1" dirty="0">
                <a:solidFill>
                  <a:schemeClr val="tx2"/>
                </a:solidFill>
                <a:latin typeface="Courier New" panose="02070309020205020404"/>
                <a:cs typeface="Courier New" panose="02070309020205020404"/>
              </a:rPr>
              <a:t>}</a:t>
            </a:r>
            <a:endParaRPr lang="en-US" sz="1600" b="1" dirty="0">
              <a:solidFill>
                <a:schemeClr val="tx2"/>
              </a:solidFill>
              <a:latin typeface="Courier New" panose="02070309020205020404"/>
              <a:cs typeface="Courier New" panose="02070309020205020404"/>
            </a:endParaRPr>
          </a:p>
        </p:txBody>
      </p:sp>
      <p:sp>
        <p:nvSpPr>
          <p:cNvPr id="15" name="Rectangle 14"/>
          <p:cNvSpPr/>
          <p:nvPr/>
        </p:nvSpPr>
        <p:spPr>
          <a:xfrm>
            <a:off x="8097419" y="3501008"/>
            <a:ext cx="1046581" cy="338554"/>
          </a:xfrm>
          <a:prstGeom prst="rect">
            <a:avLst/>
          </a:prstGeom>
        </p:spPr>
        <p:txBody>
          <a:bodyPr wrap="none">
            <a:spAutoFit/>
          </a:bodyPr>
          <a:lstStyle/>
          <a:p>
            <a:pPr algn="l"/>
            <a:r>
              <a:rPr lang="en-US" sz="1600" b="1" dirty="0">
                <a:solidFill>
                  <a:schemeClr val="tx2"/>
                </a:solidFill>
                <a:latin typeface="Courier New" panose="02070309020205020404"/>
                <a:cs typeface="Courier New" panose="02070309020205020404"/>
              </a:rPr>
              <a:t>code2.c</a:t>
            </a:r>
            <a:endParaRPr lang="en-US" sz="1600" b="1" dirty="0">
              <a:solidFill>
                <a:schemeClr val="tx2"/>
              </a:solidFill>
              <a:latin typeface="Courier New" panose="02070309020205020404"/>
              <a:cs typeface="Courier New" panose="02070309020205020404"/>
            </a:endParaRPr>
          </a:p>
        </p:txBody>
      </p:sp>
      <p:sp>
        <p:nvSpPr>
          <p:cNvPr id="16"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25605" name="Rectangle 2"/>
          <p:cNvSpPr>
            <a:spLocks noGrp="1" noChangeArrowheads="1"/>
          </p:cNvSpPr>
          <p:nvPr>
            <p:ph type="title"/>
          </p:nvPr>
        </p:nvSpPr>
        <p:spPr>
          <a:xfrm>
            <a:off x="304800" y="152400"/>
            <a:ext cx="8515672" cy="533400"/>
          </a:xfrm>
        </p:spPr>
        <p:txBody>
          <a:bodyPr/>
          <a:lstStyle/>
          <a:p>
            <a:r>
              <a:rPr lang="en-US" sz="2800" dirty="0">
                <a:latin typeface="Arial" panose="020B0604020202020204" pitchFamily="34" charset="0"/>
              </a:rPr>
              <a:t>Communication among .c files: Example</a:t>
            </a:r>
            <a:endParaRPr lang="en-US" sz="2800" dirty="0">
              <a:latin typeface="Arial" panose="020B0604020202020204" pitchFamily="34" charset="0"/>
            </a:endParaRPr>
          </a:p>
        </p:txBody>
      </p:sp>
      <p:sp>
        <p:nvSpPr>
          <p:cNvPr id="19" name="Rectangle 3"/>
          <p:cNvSpPr txBox="1">
            <a:spLocks noChangeArrowheads="1"/>
          </p:cNvSpPr>
          <p:nvPr/>
        </p:nvSpPr>
        <p:spPr bwMode="auto">
          <a:xfrm>
            <a:off x="457200" y="980728"/>
            <a:ext cx="8686800"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panose="020B0604020202020204" pitchFamily="34" charset="0"/>
            </a:endParaRPr>
          </a:p>
        </p:txBody>
      </p:sp>
      <p:grpSp>
        <p:nvGrpSpPr>
          <p:cNvPr id="10" name="Group 9"/>
          <p:cNvGrpSpPr/>
          <p:nvPr/>
        </p:nvGrpSpPr>
        <p:grpSpPr>
          <a:xfrm>
            <a:off x="72008" y="872716"/>
            <a:ext cx="9972600" cy="792088"/>
            <a:chOff x="72008" y="872716"/>
            <a:chExt cx="9972600" cy="792088"/>
          </a:xfrm>
        </p:grpSpPr>
        <p:sp>
          <p:nvSpPr>
            <p:cNvPr id="2" name="Rectangle 1"/>
            <p:cNvSpPr/>
            <p:nvPr/>
          </p:nvSpPr>
          <p:spPr>
            <a:xfrm>
              <a:off x="143508" y="908720"/>
              <a:ext cx="9901100" cy="634020"/>
            </a:xfrm>
            <a:prstGeom prst="rect">
              <a:avLst/>
            </a:prstGeom>
          </p:spPr>
          <p:txBody>
            <a:bodyPr wrap="square">
              <a:spAutoFit/>
            </a:bodyPr>
            <a:lstStyle/>
            <a:p>
              <a:pPr algn="l"/>
              <a:r>
                <a:rPr lang="en-US" sz="1600" b="1" dirty="0">
                  <a:latin typeface="Courier New" panose="02070309020205020404"/>
                  <a:cs typeface="Courier New" panose="02070309020205020404"/>
                </a:rPr>
                <a:t>extern void </a:t>
              </a:r>
              <a:r>
                <a:rPr lang="en-US" sz="1600" b="1" dirty="0" err="1">
                  <a:solidFill>
                    <a:srgbClr val="3366FF"/>
                  </a:solidFill>
                  <a:latin typeface="Courier New" panose="02070309020205020404"/>
                  <a:cs typeface="Courier New" panose="02070309020205020404"/>
                </a:rPr>
                <a:t>use_it</a:t>
              </a:r>
              <a:r>
                <a:rPr lang="en-US" sz="1600" b="1" dirty="0">
                  <a:latin typeface="Courier New" panose="02070309020205020404"/>
                  <a:cs typeface="Courier New" panose="02070309020205020404"/>
                </a:rPr>
                <a:t>(void); </a:t>
              </a:r>
              <a:endParaRPr lang="en-US" sz="1600" b="1" dirty="0">
                <a:latin typeface="Courier New" panose="02070309020205020404"/>
                <a:cs typeface="Courier New" panose="02070309020205020404"/>
              </a:endParaRPr>
            </a:p>
            <a:p>
              <a:pPr algn="l"/>
              <a:r>
                <a:rPr lang="en-US" sz="1600" b="1" dirty="0">
                  <a:latin typeface="Courier New" panose="02070309020205020404"/>
                  <a:cs typeface="Courier New" panose="02070309020205020404"/>
                </a:rPr>
                <a:t>extern int </a:t>
              </a:r>
              <a:r>
                <a:rPr lang="en-US" sz="1600" b="1" dirty="0">
                  <a:solidFill>
                    <a:srgbClr val="3366FF"/>
                  </a:solidFill>
                  <a:latin typeface="Courier New" panose="02070309020205020404"/>
                  <a:cs typeface="Courier New" panose="02070309020205020404"/>
                </a:rPr>
                <a:t>increment</a:t>
              </a:r>
              <a:r>
                <a:rPr lang="en-US" sz="1600" b="1" dirty="0">
                  <a:latin typeface="Courier New" panose="02070309020205020404"/>
                  <a:cs typeface="Courier New" panose="02070309020205020404"/>
                </a:rPr>
                <a:t>(void);</a:t>
              </a:r>
              <a:endParaRPr lang="en-US" sz="1600" b="1" dirty="0">
                <a:latin typeface="Courier New" panose="02070309020205020404"/>
                <a:cs typeface="Courier New" panose="02070309020205020404"/>
              </a:endParaRPr>
            </a:p>
          </p:txBody>
        </p:sp>
        <p:sp>
          <p:nvSpPr>
            <p:cNvPr id="3" name="Rectangle 2"/>
            <p:cNvSpPr/>
            <p:nvPr/>
          </p:nvSpPr>
          <p:spPr bwMode="auto">
            <a:xfrm>
              <a:off x="72008" y="872716"/>
              <a:ext cx="9036496" cy="792088"/>
            </a:xfrm>
            <a:prstGeom prst="rect">
              <a:avLst/>
            </a:prstGeom>
            <a:no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Courier New" panose="02070309020205020404"/>
                <a:cs typeface="Courier New" panose="02070309020205020404"/>
              </a:endParaRPr>
            </a:p>
          </p:txBody>
        </p:sp>
        <p:sp>
          <p:nvSpPr>
            <p:cNvPr id="4" name="TextBox 3"/>
            <p:cNvSpPr txBox="1"/>
            <p:nvPr/>
          </p:nvSpPr>
          <p:spPr>
            <a:xfrm>
              <a:off x="8158984" y="908720"/>
              <a:ext cx="923450" cy="338554"/>
            </a:xfrm>
            <a:prstGeom prst="rect">
              <a:avLst/>
            </a:prstGeom>
            <a:noFill/>
          </p:spPr>
          <p:txBody>
            <a:bodyPr wrap="none" rtlCol="0">
              <a:spAutoFit/>
            </a:bodyPr>
            <a:lstStyle/>
            <a:p>
              <a:r>
                <a:rPr lang="en-US" sz="1600" b="1" dirty="0">
                  <a:latin typeface="Courier New" panose="02070309020205020404"/>
                  <a:cs typeface="Courier New" panose="02070309020205020404"/>
                </a:rPr>
                <a:t>prog.h</a:t>
              </a:r>
              <a:endParaRPr lang="en-US" sz="1600" b="1" dirty="0">
                <a:latin typeface="Courier New" panose="02070309020205020404"/>
                <a:cs typeface="Courier New" panose="02070309020205020404"/>
              </a:endParaRPr>
            </a:p>
          </p:txBody>
        </p:sp>
      </p:grpSp>
      <p:sp>
        <p:nvSpPr>
          <p:cNvPr id="14" name="Rectangle 13"/>
          <p:cNvSpPr/>
          <p:nvPr/>
        </p:nvSpPr>
        <p:spPr bwMode="auto">
          <a:xfrm>
            <a:off x="35496" y="2276872"/>
            <a:ext cx="9036496" cy="3852428"/>
          </a:xfrm>
          <a:prstGeom prst="rect">
            <a:avLst/>
          </a:prstGeom>
          <a:no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grpSp>
        <p:nvGrpSpPr>
          <p:cNvPr id="9" name="Group 8"/>
          <p:cNvGrpSpPr/>
          <p:nvPr/>
        </p:nvGrpSpPr>
        <p:grpSpPr>
          <a:xfrm>
            <a:off x="143508" y="2240868"/>
            <a:ext cx="9000492" cy="554578"/>
            <a:chOff x="143508" y="3537012"/>
            <a:chExt cx="9000492" cy="554578"/>
          </a:xfrm>
        </p:grpSpPr>
        <p:sp>
          <p:nvSpPr>
            <p:cNvPr id="8" name="Rectangle 7"/>
            <p:cNvSpPr/>
            <p:nvPr/>
          </p:nvSpPr>
          <p:spPr>
            <a:xfrm>
              <a:off x="143508" y="3753036"/>
              <a:ext cx="9000492" cy="338554"/>
            </a:xfrm>
            <a:prstGeom prst="rect">
              <a:avLst/>
            </a:prstGeom>
          </p:spPr>
          <p:txBody>
            <a:bodyPr wrap="square">
              <a:spAutoFit/>
            </a:bodyPr>
            <a:lstStyle/>
            <a:p>
              <a:pPr algn="l"/>
              <a:endParaRPr lang="en-US" sz="1600" b="1" dirty="0">
                <a:latin typeface="Courier New" panose="02070309020205020404"/>
                <a:cs typeface="Courier New" panose="02070309020205020404"/>
              </a:endParaRPr>
            </a:p>
          </p:txBody>
        </p:sp>
        <p:sp>
          <p:nvSpPr>
            <p:cNvPr id="15" name="Rectangle 14"/>
            <p:cNvSpPr/>
            <p:nvPr/>
          </p:nvSpPr>
          <p:spPr>
            <a:xfrm>
              <a:off x="8097419" y="3537012"/>
              <a:ext cx="923450" cy="338554"/>
            </a:xfrm>
            <a:prstGeom prst="rect">
              <a:avLst/>
            </a:prstGeom>
          </p:spPr>
          <p:txBody>
            <a:bodyPr wrap="none">
              <a:spAutoFit/>
            </a:bodyPr>
            <a:lstStyle/>
            <a:p>
              <a:pPr algn="l"/>
              <a:r>
                <a:rPr lang="en-US" sz="1600" b="1" dirty="0">
                  <a:latin typeface="Courier New" panose="02070309020205020404"/>
                  <a:cs typeface="Courier New" panose="02070309020205020404"/>
                </a:rPr>
                <a:t>prog.c</a:t>
              </a:r>
              <a:endParaRPr lang="en-US" sz="1600" b="1" dirty="0">
                <a:latin typeface="Courier New" panose="02070309020205020404"/>
                <a:cs typeface="Courier New" panose="02070309020205020404"/>
              </a:endParaRPr>
            </a:p>
          </p:txBody>
        </p:sp>
      </p:grpSp>
      <p:sp>
        <p:nvSpPr>
          <p:cNvPr id="6" name="Rectangle 5"/>
          <p:cNvSpPr/>
          <p:nvPr/>
        </p:nvSpPr>
        <p:spPr>
          <a:xfrm>
            <a:off x="0" y="2324602"/>
            <a:ext cx="9324528" cy="3717941"/>
          </a:xfrm>
          <a:prstGeom prst="rect">
            <a:avLst/>
          </a:prstGeom>
        </p:spPr>
        <p:txBody>
          <a:bodyPr wrap="square">
            <a:spAutoFit/>
          </a:bodyPr>
          <a:lstStyle/>
          <a:p>
            <a:pPr algn="just"/>
            <a:r>
              <a:rPr lang="en-US" sz="1600" b="1" dirty="0">
                <a:latin typeface="Courier New" panose="02070309020205020404"/>
                <a:cs typeface="Courier New" panose="02070309020205020404"/>
              </a:rPr>
              <a:t>#include "</a:t>
            </a:r>
            <a:r>
              <a:rPr lang="en-US" sz="1600" b="1" dirty="0">
                <a:solidFill>
                  <a:srgbClr val="FF0000"/>
                </a:solidFill>
                <a:latin typeface="Courier New" panose="02070309020205020404"/>
                <a:cs typeface="Courier New" panose="02070309020205020404"/>
              </a:rPr>
              <a:t>code1.h</a:t>
            </a:r>
            <a:r>
              <a:rPr lang="en-US" sz="1600" b="1" dirty="0">
                <a:latin typeface="Courier New" panose="02070309020205020404"/>
                <a:cs typeface="Courier New" panose="02070309020205020404"/>
              </a:rPr>
              <a:t>"</a:t>
            </a:r>
            <a:endParaRPr lang="en-US" sz="1600" b="1" dirty="0">
              <a:latin typeface="Courier New" panose="02070309020205020404"/>
              <a:cs typeface="Courier New" panose="02070309020205020404"/>
            </a:endParaRPr>
          </a:p>
          <a:p>
            <a:pPr algn="just"/>
            <a:r>
              <a:rPr lang="en-US" sz="1600" b="1" dirty="0">
                <a:latin typeface="Courier New" panose="02070309020205020404"/>
                <a:cs typeface="Courier New" panose="02070309020205020404"/>
              </a:rPr>
              <a:t>#include "</a:t>
            </a:r>
            <a:r>
              <a:rPr lang="en-US" sz="1600" b="1" dirty="0">
                <a:solidFill>
                  <a:schemeClr val="accent1"/>
                </a:solidFill>
                <a:latin typeface="Courier New" panose="02070309020205020404"/>
                <a:cs typeface="Courier New" panose="02070309020205020404"/>
              </a:rPr>
              <a:t>prog.h</a:t>
            </a:r>
            <a:r>
              <a:rPr lang="en-US" sz="1600" b="1" dirty="0">
                <a:latin typeface="Courier New" panose="02070309020205020404"/>
                <a:cs typeface="Courier New" panose="02070309020205020404"/>
              </a:rPr>
              <a:t>"</a:t>
            </a:r>
            <a:endParaRPr lang="en-US" sz="1600" b="1" dirty="0">
              <a:latin typeface="Courier New" panose="02070309020205020404"/>
              <a:cs typeface="Courier New" panose="02070309020205020404"/>
            </a:endParaRPr>
          </a:p>
          <a:p>
            <a:pPr algn="just"/>
            <a:r>
              <a:rPr lang="en-US" sz="1600" b="1" dirty="0">
                <a:latin typeface="Courier New" panose="02070309020205020404"/>
                <a:cs typeface="Courier New" panose="02070309020205020404"/>
              </a:rPr>
              <a:t>#include &lt;stdio.h&gt;</a:t>
            </a:r>
            <a:endParaRPr lang="en-US" sz="1600" b="1" dirty="0">
              <a:latin typeface="Courier New" panose="02070309020205020404"/>
              <a:cs typeface="Courier New" panose="02070309020205020404"/>
            </a:endParaRPr>
          </a:p>
          <a:p>
            <a:pPr algn="just"/>
            <a:endParaRPr lang="en-US" sz="700" b="1" dirty="0">
              <a:latin typeface="Courier New" panose="02070309020205020404"/>
              <a:cs typeface="Courier New" panose="02070309020205020404"/>
            </a:endParaRPr>
          </a:p>
          <a:p>
            <a:pPr algn="just"/>
            <a:r>
              <a:rPr lang="en-US" sz="1600" b="1" dirty="0">
                <a:latin typeface="Courier New" panose="02070309020205020404"/>
                <a:cs typeface="Courier New" panose="02070309020205020404"/>
              </a:rPr>
              <a:t>int main(void)</a:t>
            </a:r>
            <a:endParaRPr lang="en-US" sz="1600" b="1" dirty="0">
              <a:latin typeface="Courier New" panose="02070309020205020404"/>
              <a:cs typeface="Courier New" panose="02070309020205020404"/>
            </a:endParaRPr>
          </a:p>
          <a:p>
            <a:pPr algn="just"/>
            <a:r>
              <a:rPr lang="en-US" sz="1600" b="1" dirty="0">
                <a:latin typeface="Courier New" panose="02070309020205020404"/>
                <a:cs typeface="Courier New" panose="02070309020205020404"/>
              </a:rPr>
              <a:t>{</a:t>
            </a:r>
            <a:endParaRPr lang="en-US" sz="1600" b="1" dirty="0">
              <a:latin typeface="Courier New" panose="02070309020205020404"/>
              <a:cs typeface="Courier New" panose="02070309020205020404"/>
            </a:endParaRPr>
          </a:p>
          <a:p>
            <a:pPr algn="just"/>
            <a:r>
              <a:rPr lang="en-US" sz="1600" b="1" dirty="0">
                <a:latin typeface="Courier New" panose="02070309020205020404"/>
                <a:cs typeface="Courier New" panose="02070309020205020404"/>
              </a:rPr>
              <a:t>    </a:t>
            </a:r>
            <a:r>
              <a:rPr lang="en-US" sz="1600" b="1" dirty="0">
                <a:solidFill>
                  <a:schemeClr val="accent1"/>
                </a:solidFill>
                <a:latin typeface="Courier New" panose="02070309020205020404"/>
                <a:cs typeface="Courier New" panose="02070309020205020404"/>
              </a:rPr>
              <a:t>use_it</a:t>
            </a:r>
            <a:r>
              <a:rPr lang="en-US" sz="1600" b="1" dirty="0">
                <a:latin typeface="Courier New" panose="02070309020205020404"/>
                <a:cs typeface="Courier New" panose="02070309020205020404"/>
              </a:rPr>
              <a:t>();</a:t>
            </a:r>
            <a:endParaRPr lang="en-US" sz="1600" b="1" dirty="0">
              <a:latin typeface="Courier New" panose="02070309020205020404"/>
              <a:cs typeface="Courier New" panose="02070309020205020404"/>
            </a:endParaRPr>
          </a:p>
          <a:p>
            <a:pPr algn="just"/>
            <a:r>
              <a:rPr lang="en-US" sz="1600" b="1" dirty="0">
                <a:latin typeface="Courier New" panose="02070309020205020404"/>
                <a:cs typeface="Courier New" panose="02070309020205020404"/>
              </a:rPr>
              <a:t>    </a:t>
            </a:r>
            <a:r>
              <a:rPr lang="en-US" sz="1600" b="1" dirty="0">
                <a:solidFill>
                  <a:srgbClr val="FF0000"/>
                </a:solidFill>
                <a:latin typeface="Courier New" panose="02070309020205020404"/>
                <a:cs typeface="Courier New" panose="02070309020205020404"/>
              </a:rPr>
              <a:t>global_variable</a:t>
            </a:r>
            <a:r>
              <a:rPr lang="en-US" sz="1600" b="1" dirty="0">
                <a:latin typeface="Courier New" panose="02070309020205020404"/>
                <a:cs typeface="Courier New" panose="02070309020205020404"/>
              </a:rPr>
              <a:t> += 10;</a:t>
            </a:r>
            <a:endParaRPr lang="en-US" sz="1600" b="1" dirty="0">
              <a:latin typeface="Courier New" panose="02070309020205020404"/>
              <a:cs typeface="Courier New" panose="02070309020205020404"/>
            </a:endParaRPr>
          </a:p>
          <a:p>
            <a:pPr algn="just"/>
            <a:r>
              <a:rPr lang="en-US" sz="1600" b="1" dirty="0">
                <a:latin typeface="Courier New" panose="02070309020205020404"/>
                <a:cs typeface="Courier New" panose="02070309020205020404"/>
              </a:rPr>
              <a:t>    </a:t>
            </a:r>
            <a:r>
              <a:rPr lang="en-US" sz="1600" b="1" dirty="0">
                <a:solidFill>
                  <a:schemeClr val="accent1"/>
                </a:solidFill>
                <a:latin typeface="Courier New" panose="02070309020205020404"/>
                <a:cs typeface="Courier New" panose="02070309020205020404"/>
              </a:rPr>
              <a:t>use_it</a:t>
            </a:r>
            <a:r>
              <a:rPr lang="en-US" sz="1600" b="1" dirty="0">
                <a:latin typeface="Courier New" panose="02070309020205020404"/>
                <a:cs typeface="Courier New" panose="02070309020205020404"/>
              </a:rPr>
              <a:t>();</a:t>
            </a:r>
            <a:endParaRPr lang="en-US" sz="1600" b="1" dirty="0">
              <a:latin typeface="Courier New" panose="02070309020205020404"/>
              <a:cs typeface="Courier New" panose="02070309020205020404"/>
            </a:endParaRPr>
          </a:p>
          <a:p>
            <a:pPr algn="just"/>
            <a:r>
              <a:rPr lang="en-US" sz="1600" b="1" dirty="0">
                <a:solidFill>
                  <a:srgbClr val="3366FF"/>
                </a:solidFill>
                <a:latin typeface="Courier New" panose="02070309020205020404"/>
                <a:cs typeface="Courier New" panose="02070309020205020404"/>
              </a:rPr>
              <a:t>    increment</a:t>
            </a:r>
            <a:r>
              <a:rPr lang="en-US" sz="1600" b="1" dirty="0">
                <a:latin typeface="Courier New" panose="02070309020205020404"/>
                <a:cs typeface="Courier New" panose="02070309020205020404"/>
              </a:rPr>
              <a:t>();</a:t>
            </a:r>
            <a:endParaRPr lang="en-US" sz="1600" b="1" dirty="0">
              <a:latin typeface="Courier New" panose="02070309020205020404"/>
              <a:cs typeface="Courier New" panose="02070309020205020404"/>
            </a:endParaRPr>
          </a:p>
          <a:p>
            <a:pPr algn="just"/>
            <a:r>
              <a:rPr lang="en-US" sz="1600" b="1" dirty="0">
                <a:latin typeface="Courier New" panose="02070309020205020404"/>
                <a:cs typeface="Courier New" panose="02070309020205020404"/>
              </a:rPr>
              <a:t>    </a:t>
            </a:r>
            <a:r>
              <a:rPr lang="en-US" sz="1600" b="1" dirty="0">
                <a:solidFill>
                  <a:schemeClr val="accent1"/>
                </a:solidFill>
                <a:latin typeface="Courier New" panose="02070309020205020404"/>
                <a:cs typeface="Courier New" panose="02070309020205020404"/>
              </a:rPr>
              <a:t>use_it</a:t>
            </a:r>
            <a:r>
              <a:rPr lang="en-US" sz="1600" b="1" dirty="0">
                <a:latin typeface="Courier New" panose="02070309020205020404"/>
                <a:cs typeface="Courier New" panose="02070309020205020404"/>
              </a:rPr>
              <a:t>();</a:t>
            </a:r>
            <a:endParaRPr lang="en-US" sz="1600" b="1" dirty="0">
              <a:latin typeface="Courier New" panose="02070309020205020404"/>
              <a:cs typeface="Courier New" panose="02070309020205020404"/>
            </a:endParaRPr>
          </a:p>
          <a:p>
            <a:pPr algn="just"/>
            <a:r>
              <a:rPr lang="en-US" sz="1600" b="1" dirty="0">
                <a:latin typeface="Courier New" panose="02070309020205020404"/>
                <a:cs typeface="Courier New" panose="02070309020205020404"/>
              </a:rPr>
              <a:t>    return 0;</a:t>
            </a:r>
            <a:endParaRPr lang="en-US" sz="1600" b="1" dirty="0">
              <a:latin typeface="Courier New" panose="02070309020205020404"/>
              <a:cs typeface="Courier New" panose="02070309020205020404"/>
            </a:endParaRPr>
          </a:p>
          <a:p>
            <a:pPr algn="just"/>
            <a:r>
              <a:rPr lang="en-US" sz="1600" b="1" dirty="0">
                <a:latin typeface="Courier New" panose="02070309020205020404"/>
                <a:cs typeface="Courier New" panose="02070309020205020404"/>
              </a:rPr>
              <a:t>}</a:t>
            </a:r>
            <a:endParaRPr lang="en-US" sz="1600" b="1" dirty="0">
              <a:latin typeface="Courier New" panose="02070309020205020404"/>
              <a:cs typeface="Courier New" panose="02070309020205020404"/>
            </a:endParaRPr>
          </a:p>
        </p:txBody>
      </p:sp>
      <p:sp>
        <p:nvSpPr>
          <p:cNvPr id="16"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25605" name="Rectangle 2"/>
          <p:cNvSpPr>
            <a:spLocks noGrp="1" noChangeArrowheads="1"/>
          </p:cNvSpPr>
          <p:nvPr>
            <p:ph type="title"/>
          </p:nvPr>
        </p:nvSpPr>
        <p:spPr>
          <a:xfrm>
            <a:off x="304800" y="152400"/>
            <a:ext cx="8515672" cy="533400"/>
          </a:xfrm>
        </p:spPr>
        <p:txBody>
          <a:bodyPr/>
          <a:lstStyle/>
          <a:p>
            <a:r>
              <a:rPr lang="en-US" sz="2800" dirty="0">
                <a:latin typeface="Arial" panose="020B0604020202020204" pitchFamily="34" charset="0"/>
              </a:rPr>
              <a:t>Communication </a:t>
            </a:r>
            <a:r>
              <a:rPr lang="en-US" sz="2800" dirty="0" smtClean="0">
                <a:latin typeface="Arial" panose="020B0604020202020204" pitchFamily="34" charset="0"/>
              </a:rPr>
              <a:t>entre fichiers </a:t>
            </a:r>
            <a:r>
              <a:rPr lang="en-US" sz="2800" dirty="0">
                <a:latin typeface="Arial" panose="020B0604020202020204" pitchFamily="34" charset="0"/>
              </a:rPr>
              <a:t>.c </a:t>
            </a:r>
            <a:r>
              <a:rPr lang="en-US" sz="2800" dirty="0" smtClean="0">
                <a:latin typeface="Arial" panose="020B0604020202020204" pitchFamily="34" charset="0"/>
              </a:rPr>
              <a:t>: Exemple</a:t>
            </a:r>
            <a:endParaRPr lang="en-US" sz="2800" dirty="0">
              <a:latin typeface="Arial" panose="020B0604020202020204" pitchFamily="34" charset="0"/>
            </a:endParaRPr>
          </a:p>
        </p:txBody>
      </p:sp>
      <p:sp>
        <p:nvSpPr>
          <p:cNvPr id="2" name="Rectangle 1"/>
          <p:cNvSpPr/>
          <p:nvPr/>
        </p:nvSpPr>
        <p:spPr>
          <a:xfrm>
            <a:off x="108520" y="810229"/>
            <a:ext cx="9035988" cy="2006703"/>
          </a:xfrm>
          <a:prstGeom prst="rect">
            <a:avLst/>
          </a:prstGeom>
        </p:spPr>
        <p:txBody>
          <a:bodyPr wrap="square">
            <a:spAutoFit/>
          </a:bodyPr>
          <a:lstStyle/>
          <a:p>
            <a:pPr algn="l"/>
            <a:r>
              <a:rPr lang="en-US" sz="1600" b="1" dirty="0">
                <a:solidFill>
                  <a:srgbClr val="000000"/>
                </a:solidFill>
                <a:latin typeface="Courier New" panose="02070309020205020404"/>
                <a:cs typeface="Courier New" panose="02070309020205020404"/>
              </a:rPr>
              <a:t>#include </a:t>
            </a:r>
            <a:r>
              <a:rPr lang="en-US" sz="1600" b="1" dirty="0">
                <a:solidFill>
                  <a:schemeClr val="tx2"/>
                </a:solidFill>
                <a:latin typeface="Courier New" panose="02070309020205020404"/>
                <a:cs typeface="Courier New" panose="02070309020205020404"/>
              </a:rPr>
              <a:t>"</a:t>
            </a:r>
            <a:r>
              <a:rPr lang="en-US" sz="1600" b="1" dirty="0">
                <a:solidFill>
                  <a:srgbClr val="FF0000"/>
                </a:solidFill>
                <a:latin typeface="Courier New" panose="02070309020205020404"/>
                <a:cs typeface="Courier New" panose="02070309020205020404"/>
              </a:rPr>
              <a:t>code1.h</a:t>
            </a:r>
            <a:r>
              <a:rPr lang="en-US" sz="1600" b="1" dirty="0">
                <a:solidFill>
                  <a:srgbClr val="000000"/>
                </a:solidFill>
                <a:latin typeface="Courier New" panose="02070309020205020404"/>
                <a:cs typeface="Courier New" panose="02070309020205020404"/>
              </a:rPr>
              <a:t>"  </a:t>
            </a:r>
            <a:r>
              <a:rPr lang="en-US" sz="1600" dirty="0">
                <a:solidFill>
                  <a:srgbClr val="000000"/>
                </a:solidFill>
                <a:latin typeface="Courier New" panose="02070309020205020404"/>
                <a:cs typeface="Courier New" panose="02070309020205020404"/>
              </a:rPr>
              <a:t>/* Déclaration disponible ici */</a:t>
            </a:r>
            <a:endParaRPr lang="en-US" sz="1600" dirty="0">
              <a:solidFill>
                <a:srgbClr val="000000"/>
              </a:solidFill>
              <a:latin typeface="Courier New" panose="02070309020205020404"/>
              <a:cs typeface="Courier New" panose="02070309020205020404"/>
            </a:endParaRPr>
          </a:p>
          <a:p>
            <a:pPr algn="l"/>
            <a:r>
              <a:rPr lang="en-US" sz="1600" b="1" dirty="0">
                <a:solidFill>
                  <a:srgbClr val="000000"/>
                </a:solidFill>
                <a:latin typeface="Courier New" panose="02070309020205020404"/>
                <a:cs typeface="Courier New" panose="02070309020205020404"/>
              </a:rPr>
              <a:t>#include </a:t>
            </a:r>
            <a:r>
              <a:rPr lang="en-US" sz="1600" b="1" dirty="0">
                <a:solidFill>
                  <a:schemeClr val="tx2"/>
                </a:solidFill>
                <a:latin typeface="Courier New" panose="02070309020205020404"/>
                <a:cs typeface="Courier New" panose="02070309020205020404"/>
              </a:rPr>
              <a:t>"</a:t>
            </a:r>
            <a:r>
              <a:rPr lang="en-US" sz="1600" b="1" dirty="0">
                <a:solidFill>
                  <a:srgbClr val="3366FF"/>
                </a:solidFill>
                <a:latin typeface="Courier New" panose="02070309020205020404"/>
                <a:cs typeface="Courier New" panose="02070309020205020404"/>
              </a:rPr>
              <a:t>prog</a:t>
            </a:r>
            <a:r>
              <a:rPr lang="en-US" sz="1600" b="1" dirty="0">
                <a:solidFill>
                  <a:srgbClr val="000000"/>
                </a:solidFill>
                <a:latin typeface="Courier New" panose="02070309020205020404"/>
                <a:cs typeface="Courier New" panose="02070309020205020404"/>
              </a:rPr>
              <a:t>.h"</a:t>
            </a:r>
            <a:endParaRPr lang="en-US" sz="1600" dirty="0">
              <a:solidFill>
                <a:srgbClr val="000000"/>
              </a:solidFill>
              <a:latin typeface="Courier New" panose="02070309020205020404"/>
              <a:cs typeface="Courier New" panose="02070309020205020404"/>
            </a:endParaRPr>
          </a:p>
          <a:p>
            <a:pPr algn="l"/>
            <a:endParaRPr lang="en-US" sz="500" b="1" dirty="0">
              <a:solidFill>
                <a:srgbClr val="000000"/>
              </a:solidFill>
              <a:latin typeface="Courier New" panose="02070309020205020404"/>
              <a:cs typeface="Courier New" panose="02070309020205020404"/>
            </a:endParaRPr>
          </a:p>
          <a:p>
            <a:pPr algn="l"/>
            <a:r>
              <a:rPr lang="en-US" sz="1600" dirty="0">
                <a:solidFill>
                  <a:srgbClr val="000000"/>
                </a:solidFill>
                <a:latin typeface="Courier New" panose="02070309020205020404"/>
                <a:cs typeface="Courier New" panose="02070309020205020404"/>
              </a:rPr>
              <a:t>/* Variable définie ici */</a:t>
            </a:r>
            <a:endParaRPr lang="en-US" sz="1600" dirty="0">
              <a:solidFill>
                <a:srgbClr val="000000"/>
              </a:solidFill>
              <a:latin typeface="Courier New" panose="02070309020205020404"/>
              <a:cs typeface="Courier New" panose="02070309020205020404"/>
            </a:endParaRPr>
          </a:p>
          <a:p>
            <a:pPr algn="l"/>
            <a:r>
              <a:rPr lang="en-US" sz="1600" b="1" dirty="0">
                <a:solidFill>
                  <a:srgbClr val="000000"/>
                </a:solidFill>
                <a:latin typeface="Courier New" panose="02070309020205020404"/>
                <a:cs typeface="Courier New" panose="02070309020205020404"/>
              </a:rPr>
              <a:t>int </a:t>
            </a:r>
            <a:r>
              <a:rPr lang="en-US" sz="1600" b="1" dirty="0" smtClean="0">
                <a:solidFill>
                  <a:srgbClr val="FF0000"/>
                </a:solidFill>
                <a:latin typeface="Courier New" panose="02070309020205020404"/>
                <a:cs typeface="Courier New" panose="02070309020205020404"/>
              </a:rPr>
              <a:t>variable_lobale</a:t>
            </a:r>
            <a:r>
              <a:rPr lang="en-US" sz="1600" b="1" dirty="0" smtClean="0">
                <a:solidFill>
                  <a:srgbClr val="000000"/>
                </a:solidFill>
                <a:latin typeface="Courier New" panose="02070309020205020404"/>
                <a:cs typeface="Courier New" panose="02070309020205020404"/>
              </a:rPr>
              <a:t> </a:t>
            </a:r>
            <a:r>
              <a:rPr lang="en-US" sz="1600" b="1" dirty="0">
                <a:solidFill>
                  <a:srgbClr val="000000"/>
                </a:solidFill>
                <a:latin typeface="Courier New" panose="02070309020205020404"/>
                <a:cs typeface="Courier New" panose="02070309020205020404"/>
              </a:rPr>
              <a:t>= 1; </a:t>
            </a:r>
            <a:r>
              <a:rPr lang="en-US" sz="1600" dirty="0">
                <a:solidFill>
                  <a:srgbClr val="000000"/>
                </a:solidFill>
                <a:latin typeface="Courier New" panose="02070309020205020404"/>
                <a:cs typeface="Courier New" panose="02070309020205020404"/>
              </a:rPr>
              <a:t>/* </a:t>
            </a:r>
            <a:r>
              <a:rPr lang="fr-FR" sz="1600" dirty="0">
                <a:solidFill>
                  <a:srgbClr val="000000"/>
                </a:solidFill>
                <a:latin typeface="Courier New" panose="02070309020205020404"/>
                <a:cs typeface="Courier New" panose="02070309020205020404"/>
              </a:rPr>
              <a:t>Définition vérifiée par rapport à la déclaration </a:t>
            </a:r>
            <a:r>
              <a:rPr lang="en-US" sz="1600" dirty="0" smtClean="0">
                <a:solidFill>
                  <a:srgbClr val="000000"/>
                </a:solidFill>
                <a:latin typeface="Courier New" panose="02070309020205020404"/>
                <a:cs typeface="Courier New" panose="02070309020205020404"/>
              </a:rPr>
              <a:t>*/</a:t>
            </a:r>
            <a:endParaRPr lang="en-US" sz="1600" dirty="0">
              <a:solidFill>
                <a:srgbClr val="000000"/>
              </a:solidFill>
              <a:latin typeface="Courier New" panose="02070309020205020404"/>
              <a:cs typeface="Courier New" panose="02070309020205020404"/>
            </a:endParaRPr>
          </a:p>
          <a:p>
            <a:pPr algn="l"/>
            <a:endParaRPr lang="en-US" sz="500" b="1" dirty="0">
              <a:solidFill>
                <a:srgbClr val="000000"/>
              </a:solidFill>
              <a:latin typeface="Courier New" panose="02070309020205020404"/>
              <a:cs typeface="Courier New" panose="02070309020205020404"/>
            </a:endParaRPr>
          </a:p>
          <a:p>
            <a:pPr algn="l"/>
            <a:r>
              <a:rPr lang="en-US" sz="1600" b="1" dirty="0">
                <a:solidFill>
                  <a:srgbClr val="000000"/>
                </a:solidFill>
                <a:latin typeface="Courier New" panose="02070309020205020404"/>
                <a:cs typeface="Courier New" panose="02070309020205020404"/>
              </a:rPr>
              <a:t>int increment(void) { return </a:t>
            </a:r>
            <a:r>
              <a:rPr lang="en-US" sz="1600" b="1" dirty="0" smtClean="0">
                <a:solidFill>
                  <a:srgbClr val="FF0000"/>
                </a:solidFill>
                <a:latin typeface="Courier New" panose="02070309020205020404"/>
                <a:cs typeface="Courier New" panose="02070309020205020404"/>
              </a:rPr>
              <a:t>variable	_globale</a:t>
            </a:r>
            <a:r>
              <a:rPr lang="en-US" sz="1600" b="1" dirty="0" smtClean="0">
                <a:solidFill>
                  <a:srgbClr val="000000"/>
                </a:solidFill>
                <a:latin typeface="Courier New" panose="02070309020205020404"/>
                <a:cs typeface="Courier New" panose="02070309020205020404"/>
              </a:rPr>
              <a:t>++; </a:t>
            </a:r>
            <a:r>
              <a:rPr lang="en-US" sz="1600" b="1" dirty="0">
                <a:solidFill>
                  <a:srgbClr val="000000"/>
                </a:solidFill>
                <a:latin typeface="Courier New" panose="02070309020205020404"/>
                <a:cs typeface="Courier New" panose="02070309020205020404"/>
              </a:rPr>
              <a:t>}</a:t>
            </a:r>
            <a:endParaRPr lang="en-US" sz="1600" b="1" dirty="0">
              <a:solidFill>
                <a:srgbClr val="000000"/>
              </a:solidFill>
              <a:latin typeface="Courier New" panose="02070309020205020404"/>
              <a:cs typeface="Courier New" panose="02070309020205020404"/>
            </a:endParaRPr>
          </a:p>
        </p:txBody>
      </p:sp>
      <p:sp>
        <p:nvSpPr>
          <p:cNvPr id="3" name="Rectangle 2"/>
          <p:cNvSpPr/>
          <p:nvPr/>
        </p:nvSpPr>
        <p:spPr bwMode="auto">
          <a:xfrm>
            <a:off x="72008" y="872716"/>
            <a:ext cx="9036496" cy="1836204"/>
          </a:xfrm>
          <a:prstGeom prst="rect">
            <a:avLst/>
          </a:prstGeom>
          <a:no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chemeClr val="tx2"/>
              </a:solidFill>
              <a:effectLst/>
              <a:latin typeface="Arial" panose="020B0604020202020204" pitchFamily="34" charset="0"/>
            </a:endParaRPr>
          </a:p>
        </p:txBody>
      </p:sp>
      <p:sp>
        <p:nvSpPr>
          <p:cNvPr id="4" name="TextBox 3"/>
          <p:cNvSpPr txBox="1"/>
          <p:nvPr/>
        </p:nvSpPr>
        <p:spPr>
          <a:xfrm>
            <a:off x="8097419" y="872716"/>
            <a:ext cx="1046581" cy="338554"/>
          </a:xfrm>
          <a:prstGeom prst="rect">
            <a:avLst/>
          </a:prstGeom>
          <a:noFill/>
        </p:spPr>
        <p:txBody>
          <a:bodyPr wrap="none" rtlCol="0">
            <a:spAutoFit/>
          </a:bodyPr>
          <a:lstStyle/>
          <a:p>
            <a:r>
              <a:rPr lang="en-US" sz="1600" b="1" dirty="0">
                <a:solidFill>
                  <a:schemeClr val="tx2"/>
                </a:solidFill>
                <a:latin typeface="Courier New" panose="02070309020205020404"/>
                <a:cs typeface="Courier New" panose="02070309020205020404"/>
              </a:rPr>
              <a:t>code1.c</a:t>
            </a:r>
            <a:endParaRPr lang="en-US" sz="1600" b="1" dirty="0">
              <a:solidFill>
                <a:schemeClr val="tx2"/>
              </a:solidFill>
              <a:latin typeface="Courier New" panose="02070309020205020404"/>
              <a:cs typeface="Courier New" panose="02070309020205020404"/>
            </a:endParaRPr>
          </a:p>
        </p:txBody>
      </p:sp>
      <p:grpSp>
        <p:nvGrpSpPr>
          <p:cNvPr id="11" name="Group 10"/>
          <p:cNvGrpSpPr/>
          <p:nvPr/>
        </p:nvGrpSpPr>
        <p:grpSpPr>
          <a:xfrm>
            <a:off x="94998" y="2600908"/>
            <a:ext cx="9057374" cy="720080"/>
            <a:chOff x="94998" y="2708920"/>
            <a:chExt cx="9057374" cy="720080"/>
          </a:xfrm>
        </p:grpSpPr>
        <p:sp>
          <p:nvSpPr>
            <p:cNvPr id="5" name="Rectangle 4"/>
            <p:cNvSpPr/>
            <p:nvPr/>
          </p:nvSpPr>
          <p:spPr>
            <a:xfrm>
              <a:off x="107504" y="2708920"/>
              <a:ext cx="9036496" cy="634020"/>
            </a:xfrm>
            <a:prstGeom prst="rect">
              <a:avLst/>
            </a:prstGeom>
          </p:spPr>
          <p:txBody>
            <a:bodyPr wrap="square">
              <a:spAutoFit/>
            </a:bodyPr>
            <a:lstStyle/>
            <a:p>
              <a:pPr algn="l"/>
              <a:endParaRPr lang="en-US" sz="1600" b="1" dirty="0">
                <a:solidFill>
                  <a:schemeClr val="tx2"/>
                </a:solidFill>
                <a:latin typeface="Courier New" panose="02070309020205020404"/>
                <a:cs typeface="Courier New" panose="02070309020205020404"/>
              </a:endParaRPr>
            </a:p>
            <a:p>
              <a:pPr algn="l"/>
              <a:r>
                <a:rPr lang="en-US" sz="1600" b="1" dirty="0">
                  <a:solidFill>
                    <a:schemeClr val="tx2"/>
                  </a:solidFill>
                  <a:latin typeface="Courier New" panose="02070309020205020404"/>
                  <a:cs typeface="Courier New" panose="02070309020205020404"/>
                </a:rPr>
                <a:t>extern int global_variable;  </a:t>
              </a:r>
              <a:r>
                <a:rPr lang="en-US" sz="1600" dirty="0">
                  <a:solidFill>
                    <a:schemeClr val="tx2"/>
                  </a:solidFill>
                  <a:latin typeface="Courier New" panose="02070309020205020404"/>
                  <a:cs typeface="Courier New" panose="02070309020205020404"/>
                </a:rPr>
                <a:t>/* </a:t>
              </a:r>
              <a:r>
                <a:rPr lang="en-US" sz="1600" dirty="0" smtClean="0">
                  <a:solidFill>
                    <a:schemeClr val="tx2"/>
                  </a:solidFill>
                  <a:latin typeface="Courier New" panose="02070309020205020404"/>
                  <a:cs typeface="Courier New" panose="02070309020205020404"/>
                </a:rPr>
                <a:t>Déclaration de la variable </a:t>
              </a:r>
              <a:r>
                <a:rPr lang="en-US" sz="1600" dirty="0">
                  <a:solidFill>
                    <a:schemeClr val="tx2"/>
                  </a:solidFill>
                  <a:latin typeface="Courier New" panose="02070309020205020404"/>
                  <a:cs typeface="Courier New" panose="02070309020205020404"/>
                </a:rPr>
                <a:t>*/</a:t>
              </a:r>
              <a:endParaRPr lang="en-US" sz="1600" dirty="0">
                <a:solidFill>
                  <a:schemeClr val="tx2"/>
                </a:solidFill>
                <a:latin typeface="Courier New" panose="02070309020205020404"/>
                <a:cs typeface="Courier New" panose="02070309020205020404"/>
              </a:endParaRPr>
            </a:p>
          </p:txBody>
        </p:sp>
        <p:sp>
          <p:nvSpPr>
            <p:cNvPr id="7" name="Rectangle 6"/>
            <p:cNvSpPr/>
            <p:nvPr/>
          </p:nvSpPr>
          <p:spPr>
            <a:xfrm>
              <a:off x="8105791" y="2960948"/>
              <a:ext cx="1046581" cy="338554"/>
            </a:xfrm>
            <a:prstGeom prst="rect">
              <a:avLst/>
            </a:prstGeom>
          </p:spPr>
          <p:txBody>
            <a:bodyPr wrap="none">
              <a:spAutoFit/>
            </a:bodyPr>
            <a:lstStyle/>
            <a:p>
              <a:pPr algn="l"/>
              <a:r>
                <a:rPr lang="en-US" sz="1600" b="1" dirty="0">
                  <a:solidFill>
                    <a:schemeClr val="tx2"/>
                  </a:solidFill>
                  <a:latin typeface="Courier New" panose="02070309020205020404"/>
                  <a:cs typeface="Courier New" panose="02070309020205020404"/>
                </a:rPr>
                <a:t>code1.h</a:t>
              </a:r>
              <a:endParaRPr lang="en-US" sz="1600" b="1" dirty="0">
                <a:solidFill>
                  <a:schemeClr val="tx2"/>
                </a:solidFill>
                <a:latin typeface="Courier New" panose="02070309020205020404"/>
                <a:cs typeface="Courier New" panose="02070309020205020404"/>
              </a:endParaRPr>
            </a:p>
          </p:txBody>
        </p:sp>
        <p:sp>
          <p:nvSpPr>
            <p:cNvPr id="12" name="Rectangle 11"/>
            <p:cNvSpPr/>
            <p:nvPr/>
          </p:nvSpPr>
          <p:spPr bwMode="auto">
            <a:xfrm>
              <a:off x="94998" y="2960948"/>
              <a:ext cx="9049002" cy="468052"/>
            </a:xfrm>
            <a:prstGeom prst="rect">
              <a:avLst/>
            </a:prstGeom>
            <a:no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1" i="0" u="none" strike="noStrike" cap="none" normalizeH="0" baseline="0" dirty="0">
                <a:ln>
                  <a:noFill/>
                </a:ln>
                <a:solidFill>
                  <a:schemeClr val="tx2"/>
                </a:solidFill>
                <a:effectLst/>
                <a:latin typeface="Arial" panose="020B0604020202020204" pitchFamily="34" charset="0"/>
              </a:endParaRPr>
            </a:p>
          </p:txBody>
        </p:sp>
      </p:grpSp>
      <p:sp>
        <p:nvSpPr>
          <p:cNvPr id="14" name="Rectangle 13"/>
          <p:cNvSpPr/>
          <p:nvPr/>
        </p:nvSpPr>
        <p:spPr bwMode="auto">
          <a:xfrm>
            <a:off x="107504" y="3501008"/>
            <a:ext cx="9036496" cy="2160240"/>
          </a:xfrm>
          <a:prstGeom prst="rect">
            <a:avLst/>
          </a:prstGeom>
          <a:no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chemeClr val="tx2"/>
              </a:solidFill>
              <a:effectLst/>
              <a:latin typeface="Arial" panose="020B0604020202020204" pitchFamily="34" charset="0"/>
            </a:endParaRPr>
          </a:p>
        </p:txBody>
      </p:sp>
      <p:sp>
        <p:nvSpPr>
          <p:cNvPr id="8" name="Rectangle 7"/>
          <p:cNvSpPr/>
          <p:nvPr/>
        </p:nvSpPr>
        <p:spPr>
          <a:xfrm>
            <a:off x="143508" y="3465004"/>
            <a:ext cx="9000492" cy="2222147"/>
          </a:xfrm>
          <a:prstGeom prst="rect">
            <a:avLst/>
          </a:prstGeom>
        </p:spPr>
        <p:txBody>
          <a:bodyPr wrap="square">
            <a:spAutoFit/>
          </a:bodyPr>
          <a:lstStyle/>
          <a:p>
            <a:pPr algn="l"/>
            <a:r>
              <a:rPr lang="en-US" sz="1600" b="1" dirty="0">
                <a:solidFill>
                  <a:schemeClr val="tx2"/>
                </a:solidFill>
                <a:latin typeface="Courier New" panose="02070309020205020404"/>
                <a:cs typeface="Courier New" panose="02070309020205020404"/>
              </a:rPr>
              <a:t>#include "</a:t>
            </a:r>
            <a:r>
              <a:rPr lang="en-US" sz="1600" b="1" dirty="0">
                <a:solidFill>
                  <a:srgbClr val="FF0000"/>
                </a:solidFill>
                <a:latin typeface="Courier New" panose="02070309020205020404"/>
                <a:cs typeface="Courier New" panose="02070309020205020404"/>
              </a:rPr>
              <a:t>code1.h</a:t>
            </a:r>
            <a:r>
              <a:rPr lang="en-US" sz="1600" b="1" dirty="0">
                <a:solidFill>
                  <a:srgbClr val="000000"/>
                </a:solidFill>
                <a:latin typeface="Courier New" panose="02070309020205020404"/>
                <a:cs typeface="Courier New" panose="02070309020205020404"/>
              </a:rPr>
              <a:t>"</a:t>
            </a:r>
            <a:endParaRPr lang="en-US" sz="1600" b="1" dirty="0">
              <a:solidFill>
                <a:schemeClr val="tx2"/>
              </a:solidFill>
              <a:latin typeface="Courier New" panose="02070309020205020404"/>
              <a:cs typeface="Courier New" panose="02070309020205020404"/>
            </a:endParaRPr>
          </a:p>
          <a:p>
            <a:pPr algn="l"/>
            <a:r>
              <a:rPr lang="en-US" sz="1600" b="1" dirty="0">
                <a:solidFill>
                  <a:srgbClr val="000000"/>
                </a:solidFill>
                <a:latin typeface="Courier New" panose="02070309020205020404"/>
                <a:cs typeface="Courier New" panose="02070309020205020404"/>
              </a:rPr>
              <a:t>#include </a:t>
            </a:r>
            <a:r>
              <a:rPr lang="en-US" sz="1600" b="1" dirty="0">
                <a:solidFill>
                  <a:schemeClr val="tx2"/>
                </a:solidFill>
                <a:latin typeface="Courier New" panose="02070309020205020404"/>
                <a:cs typeface="Courier New" panose="02070309020205020404"/>
              </a:rPr>
              <a:t>"</a:t>
            </a:r>
            <a:r>
              <a:rPr lang="en-US" sz="1600" b="1" dirty="0">
                <a:solidFill>
                  <a:srgbClr val="3366FF"/>
                </a:solidFill>
                <a:latin typeface="Courier New" panose="02070309020205020404"/>
                <a:cs typeface="Courier New" panose="02070309020205020404"/>
              </a:rPr>
              <a:t>prog.h</a:t>
            </a:r>
            <a:r>
              <a:rPr lang="en-US" sz="1600" b="1" dirty="0">
                <a:solidFill>
                  <a:srgbClr val="000000"/>
                </a:solidFill>
                <a:latin typeface="Courier New" panose="02070309020205020404"/>
                <a:cs typeface="Courier New" panose="02070309020205020404"/>
              </a:rPr>
              <a:t>"</a:t>
            </a:r>
            <a:endParaRPr lang="en-US" sz="1600" b="1" dirty="0">
              <a:solidFill>
                <a:schemeClr val="tx2"/>
              </a:solidFill>
              <a:latin typeface="Courier New" panose="02070309020205020404"/>
              <a:cs typeface="Courier New" panose="02070309020205020404"/>
            </a:endParaRPr>
          </a:p>
          <a:p>
            <a:pPr algn="l"/>
            <a:r>
              <a:rPr lang="en-US" sz="1600" b="1" dirty="0">
                <a:solidFill>
                  <a:schemeClr val="tx2"/>
                </a:solidFill>
                <a:latin typeface="Courier New" panose="02070309020205020404"/>
                <a:cs typeface="Courier New" panose="02070309020205020404"/>
              </a:rPr>
              <a:t>#include &lt;stdio.h&gt;</a:t>
            </a:r>
            <a:endParaRPr lang="en-US" sz="1600" b="1" dirty="0">
              <a:solidFill>
                <a:schemeClr val="tx2"/>
              </a:solidFill>
              <a:latin typeface="Courier New" panose="02070309020205020404"/>
              <a:cs typeface="Courier New" panose="02070309020205020404"/>
            </a:endParaRPr>
          </a:p>
          <a:p>
            <a:pPr algn="l"/>
            <a:endParaRPr lang="en-US" sz="600" b="1" dirty="0">
              <a:solidFill>
                <a:schemeClr val="tx2"/>
              </a:solidFill>
              <a:latin typeface="Courier New" panose="02070309020205020404"/>
              <a:cs typeface="Courier New" panose="02070309020205020404"/>
            </a:endParaRPr>
          </a:p>
          <a:p>
            <a:pPr algn="l"/>
            <a:r>
              <a:rPr lang="en-US" sz="1600" b="1" dirty="0">
                <a:solidFill>
                  <a:schemeClr val="tx2"/>
                </a:solidFill>
                <a:latin typeface="Courier New" panose="02070309020205020404"/>
                <a:cs typeface="Courier New" panose="02070309020205020404"/>
              </a:rPr>
              <a:t>void use_it(void)</a:t>
            </a:r>
            <a:endParaRPr lang="en-US" sz="1600" b="1" dirty="0">
              <a:solidFill>
                <a:schemeClr val="tx2"/>
              </a:solidFill>
              <a:latin typeface="Courier New" panose="02070309020205020404"/>
              <a:cs typeface="Courier New" panose="02070309020205020404"/>
            </a:endParaRPr>
          </a:p>
          <a:p>
            <a:pPr algn="l"/>
            <a:r>
              <a:rPr lang="en-US" sz="1600" b="1" dirty="0">
                <a:solidFill>
                  <a:schemeClr val="tx2"/>
                </a:solidFill>
                <a:latin typeface="Courier New" panose="02070309020205020404"/>
                <a:cs typeface="Courier New" panose="02070309020205020404"/>
              </a:rPr>
              <a:t>{</a:t>
            </a:r>
            <a:endParaRPr lang="en-US" sz="1600" b="1" dirty="0">
              <a:solidFill>
                <a:schemeClr val="tx2"/>
              </a:solidFill>
              <a:latin typeface="Courier New" panose="02070309020205020404"/>
              <a:cs typeface="Courier New" panose="02070309020205020404"/>
            </a:endParaRPr>
          </a:p>
          <a:p>
            <a:pPr algn="l"/>
            <a:r>
              <a:rPr lang="en-US" sz="1600" b="1" dirty="0">
                <a:solidFill>
                  <a:schemeClr val="tx2"/>
                </a:solidFill>
                <a:latin typeface="Courier New" panose="02070309020205020404"/>
                <a:cs typeface="Courier New" panose="02070309020205020404"/>
              </a:rPr>
              <a:t>    printf</a:t>
            </a:r>
            <a:r>
              <a:rPr lang="en-US" sz="1600" b="1" dirty="0" smtClean="0">
                <a:solidFill>
                  <a:schemeClr val="tx2"/>
                </a:solidFill>
                <a:latin typeface="Courier New" panose="02070309020205020404"/>
                <a:cs typeface="Courier New" panose="02070309020205020404"/>
              </a:rPr>
              <a:t>("variable globale: </a:t>
            </a:r>
            <a:r>
              <a:rPr lang="en-US" sz="1600" b="1" dirty="0">
                <a:solidFill>
                  <a:schemeClr val="tx2"/>
                </a:solidFill>
                <a:latin typeface="Courier New" panose="02070309020205020404"/>
                <a:cs typeface="Courier New" panose="02070309020205020404"/>
              </a:rPr>
              <a:t>%d\n", </a:t>
            </a:r>
            <a:r>
              <a:rPr lang="en-US" sz="1600" b="1" dirty="0">
                <a:solidFill>
                  <a:srgbClr val="FF0000"/>
                </a:solidFill>
                <a:latin typeface="Courier New" panose="02070309020205020404"/>
                <a:cs typeface="Courier New" panose="02070309020205020404"/>
              </a:rPr>
              <a:t>global_variable</a:t>
            </a:r>
            <a:r>
              <a:rPr lang="en-US" sz="1600" b="1" dirty="0">
                <a:solidFill>
                  <a:schemeClr val="tx2"/>
                </a:solidFill>
                <a:latin typeface="Courier New" panose="02070309020205020404"/>
                <a:cs typeface="Courier New" panose="02070309020205020404"/>
              </a:rPr>
              <a:t>++);</a:t>
            </a:r>
            <a:endParaRPr lang="en-US" sz="1600" b="1" dirty="0">
              <a:solidFill>
                <a:schemeClr val="tx2"/>
              </a:solidFill>
              <a:latin typeface="Courier New" panose="02070309020205020404"/>
              <a:cs typeface="Courier New" panose="02070309020205020404"/>
            </a:endParaRPr>
          </a:p>
          <a:p>
            <a:pPr algn="l"/>
            <a:r>
              <a:rPr lang="en-US" sz="1600" b="1" dirty="0">
                <a:solidFill>
                  <a:schemeClr val="tx2"/>
                </a:solidFill>
                <a:latin typeface="Courier New" panose="02070309020205020404"/>
                <a:cs typeface="Courier New" panose="02070309020205020404"/>
              </a:rPr>
              <a:t>}</a:t>
            </a:r>
            <a:endParaRPr lang="en-US" sz="1600" b="1" dirty="0">
              <a:solidFill>
                <a:schemeClr val="tx2"/>
              </a:solidFill>
              <a:latin typeface="Courier New" panose="02070309020205020404"/>
              <a:cs typeface="Courier New" panose="02070309020205020404"/>
            </a:endParaRPr>
          </a:p>
        </p:txBody>
      </p:sp>
      <p:sp>
        <p:nvSpPr>
          <p:cNvPr id="15" name="Rectangle 14"/>
          <p:cNvSpPr/>
          <p:nvPr/>
        </p:nvSpPr>
        <p:spPr>
          <a:xfrm>
            <a:off x="8097419" y="3501008"/>
            <a:ext cx="1046581" cy="338554"/>
          </a:xfrm>
          <a:prstGeom prst="rect">
            <a:avLst/>
          </a:prstGeom>
        </p:spPr>
        <p:txBody>
          <a:bodyPr wrap="none">
            <a:spAutoFit/>
          </a:bodyPr>
          <a:lstStyle/>
          <a:p>
            <a:pPr algn="l"/>
            <a:r>
              <a:rPr lang="en-US" sz="1600" b="1" dirty="0">
                <a:solidFill>
                  <a:schemeClr val="tx2"/>
                </a:solidFill>
                <a:latin typeface="Courier New" panose="02070309020205020404"/>
                <a:cs typeface="Courier New" panose="02070309020205020404"/>
              </a:rPr>
              <a:t>code2.c</a:t>
            </a:r>
            <a:endParaRPr lang="en-US" sz="1600" b="1" dirty="0">
              <a:solidFill>
                <a:schemeClr val="tx2"/>
              </a:solidFill>
              <a:latin typeface="Courier New" panose="02070309020205020404"/>
              <a:cs typeface="Courier New" panose="02070309020205020404"/>
            </a:endParaRPr>
          </a:p>
        </p:txBody>
      </p:sp>
      <p:sp>
        <p:nvSpPr>
          <p:cNvPr id="16"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Règles générales </a:t>
            </a:r>
            <a:endParaRPr lang="en-US" dirty="0"/>
          </a:p>
        </p:txBody>
      </p:sp>
      <p:sp>
        <p:nvSpPr>
          <p:cNvPr id="3" name="Content Placeholder 2"/>
          <p:cNvSpPr>
            <a:spLocks noGrp="1"/>
          </p:cNvSpPr>
          <p:nvPr>
            <p:ph idx="1"/>
          </p:nvPr>
        </p:nvSpPr>
        <p:spPr>
          <a:xfrm>
            <a:off x="457200" y="914400"/>
            <a:ext cx="8686800" cy="5257800"/>
          </a:xfrm>
        </p:spPr>
        <p:txBody>
          <a:bodyPr/>
          <a:lstStyle/>
          <a:p>
            <a:r>
              <a:rPr lang="fr-FR" dirty="0"/>
              <a:t>Pour toute variable globale donnée</a:t>
            </a:r>
            <a:endParaRPr lang="en-US" dirty="0" smtClean="0"/>
          </a:p>
          <a:p>
            <a:pPr lvl="1"/>
            <a:r>
              <a:rPr lang="fr-FR" dirty="0"/>
              <a:t>exactement 1 fichier d'en-tête le déclare</a:t>
            </a:r>
            <a:endParaRPr lang="en-US" dirty="0" smtClean="0"/>
          </a:p>
          <a:p>
            <a:pPr lvl="1"/>
            <a:r>
              <a:rPr lang="fr-FR" dirty="0"/>
              <a:t>exactement 1 fichier source le définit et de préférence l'initialise aussi</a:t>
            </a:r>
            <a:r>
              <a:rPr lang="fr-FR" dirty="0" smtClean="0"/>
              <a:t>.</a:t>
            </a:r>
            <a:r>
              <a:rPr lang="en-US" dirty="0"/>
              <a:t> (</a:t>
            </a:r>
            <a:r>
              <a:rPr lang="en-US" dirty="0">
                <a:solidFill>
                  <a:srgbClr val="FF0000"/>
                </a:solidFill>
              </a:rPr>
              <a:t>sinon comportement indéfini</a:t>
            </a:r>
            <a:r>
              <a:rPr lang="en-US" dirty="0" smtClean="0">
                <a:solidFill>
                  <a:srgbClr val="FF0000"/>
                </a:solidFill>
              </a:rPr>
              <a:t> </a:t>
            </a:r>
            <a:r>
              <a:rPr lang="en-US" dirty="0">
                <a:solidFill>
                  <a:srgbClr val="FF0000"/>
                </a:solidFill>
                <a:sym typeface="Wingdings" panose="05000000000000000000"/>
              </a:rPr>
              <a:t> </a:t>
            </a:r>
            <a:r>
              <a:rPr lang="en-US" dirty="0" smtClean="0">
                <a:solidFill>
                  <a:srgbClr val="FF0000"/>
                </a:solidFill>
                <a:sym typeface="Wingdings" panose="05000000000000000000"/>
              </a:rPr>
              <a:t>tout peut arriver </a:t>
            </a:r>
            <a:r>
              <a:rPr lang="en-US" dirty="0">
                <a:solidFill>
                  <a:srgbClr val="FF0000"/>
                </a:solidFill>
                <a:sym typeface="Wingdings" panose="05000000000000000000"/>
              </a:rPr>
              <a:t>! </a:t>
            </a:r>
            <a:r>
              <a:rPr lang="en-US" dirty="0">
                <a:sym typeface="Wingdings" panose="05000000000000000000"/>
              </a:rPr>
              <a:t>)</a:t>
            </a:r>
            <a:endParaRPr lang="en-US" dirty="0"/>
          </a:p>
          <a:p>
            <a:pPr lvl="1"/>
            <a:r>
              <a:rPr lang="fr-FR" dirty="0"/>
              <a:t>Le fichier source qui définit la variable comprend également </a:t>
            </a:r>
            <a:r>
              <a:rPr lang="fr-FR" dirty="0" smtClean="0"/>
              <a:t>l'en-tête </a:t>
            </a:r>
            <a:r>
              <a:rPr lang="en-US" dirty="0" smtClean="0"/>
              <a:t>(</a:t>
            </a:r>
            <a:r>
              <a:rPr lang="fr-FR" dirty="0">
                <a:solidFill>
                  <a:srgbClr val="FF0000"/>
                </a:solidFill>
              </a:rPr>
              <a:t>ce qui garantit la cohérence entre la définition et la déclaration</a:t>
            </a:r>
            <a:r>
              <a:rPr lang="en-US" dirty="0" smtClean="0"/>
              <a:t>)</a:t>
            </a:r>
            <a:endParaRPr lang="en-US" dirty="0"/>
          </a:p>
          <a:p>
            <a:pPr marL="542925" lvl="1" indent="0">
              <a:buNone/>
            </a:pPr>
            <a:endParaRPr lang="en-US" sz="1000" b="1" dirty="0"/>
          </a:p>
          <a:p>
            <a:r>
              <a:rPr lang="en-US" dirty="0" smtClean="0"/>
              <a:t>Un fichier source  </a:t>
            </a:r>
            <a:endParaRPr lang="en-US" dirty="0"/>
          </a:p>
          <a:p>
            <a:pPr lvl="1"/>
            <a:r>
              <a:rPr lang="fr-FR" dirty="0"/>
              <a:t>ne contient </a:t>
            </a:r>
            <a:r>
              <a:rPr lang="fr-FR" b="1" dirty="0"/>
              <a:t>jamais </a:t>
            </a:r>
            <a:r>
              <a:rPr lang="fr-FR" dirty="0"/>
              <a:t>de déclarations </a:t>
            </a:r>
            <a:r>
              <a:rPr lang="fr-FR" b="1" dirty="0"/>
              <a:t>externes</a:t>
            </a:r>
            <a:r>
              <a:rPr lang="fr-FR" dirty="0"/>
              <a:t> de variables </a:t>
            </a:r>
            <a:r>
              <a:rPr lang="en-US" dirty="0" smtClean="0"/>
              <a:t> </a:t>
            </a:r>
            <a:endParaRPr lang="en-US" dirty="0"/>
          </a:p>
          <a:p>
            <a:pPr lvl="1"/>
            <a:r>
              <a:rPr lang="fr-FR" dirty="0"/>
              <a:t>incluent </a:t>
            </a:r>
            <a:r>
              <a:rPr lang="fr-FR" b="1" dirty="0"/>
              <a:t>toujours </a:t>
            </a:r>
            <a:r>
              <a:rPr lang="fr-FR" dirty="0"/>
              <a:t>le (seul) </a:t>
            </a:r>
            <a:r>
              <a:rPr lang="fr-FR" b="1" dirty="0"/>
              <a:t>en-tête </a:t>
            </a:r>
            <a:r>
              <a:rPr lang="fr-FR" dirty="0"/>
              <a:t>qui les </a:t>
            </a:r>
            <a:r>
              <a:rPr lang="fr-FR" dirty="0" smtClean="0"/>
              <a:t>déclare</a:t>
            </a:r>
            <a:endParaRPr lang="fr-FR" dirty="0" smtClean="0"/>
          </a:p>
          <a:p>
            <a:pPr marL="542925" lvl="1" indent="0">
              <a:buNone/>
            </a:pPr>
            <a:endParaRPr lang="en-US" sz="1000" dirty="0" smtClean="0"/>
          </a:p>
          <a:p>
            <a:r>
              <a:rPr lang="fr-FR" dirty="0"/>
              <a:t>Un fichier d'en-tête ne contient que des déclarations </a:t>
            </a:r>
            <a:r>
              <a:rPr lang="fr-FR" b="1" dirty="0"/>
              <a:t>externes</a:t>
            </a:r>
            <a:r>
              <a:rPr lang="fr-FR" dirty="0"/>
              <a:t> de variables. </a:t>
            </a:r>
            <a:r>
              <a:rPr lang="en-US" dirty="0" smtClean="0"/>
              <a:t> </a:t>
            </a:r>
            <a:endParaRPr lang="en-US" dirty="0" smtClean="0"/>
          </a:p>
          <a:p>
            <a:pPr lvl="1"/>
            <a:r>
              <a:rPr lang="en-US" dirty="0"/>
              <a:t>jamais statique </a:t>
            </a:r>
            <a:endParaRPr lang="en-US" dirty="0" smtClean="0"/>
          </a:p>
          <a:p>
            <a:pPr lvl="1"/>
            <a:r>
              <a:rPr lang="en-US" dirty="0" smtClean="0"/>
              <a:t>(</a:t>
            </a:r>
            <a:r>
              <a:rPr lang="fr-FR" dirty="0"/>
              <a:t>chaque fichier source crée sa propre version de la variable globale</a:t>
            </a:r>
            <a:r>
              <a:rPr lang="en-US" dirty="0" smtClean="0"/>
              <a:t>)</a:t>
            </a:r>
            <a:endParaRPr lang="en-US" dirty="0"/>
          </a:p>
        </p:txBody>
      </p:sp>
      <p:sp>
        <p:nvSpPr>
          <p:cNvPr id="5" name="Slide Number Placeholder 4"/>
          <p:cNvSpPr>
            <a:spLocks noGrp="1"/>
          </p:cNvSpPr>
          <p:nvPr>
            <p:ph type="sldNum" sz="quarter" idx="11"/>
          </p:nvPr>
        </p:nvSpPr>
        <p:spPr/>
        <p:txBody>
          <a:bodyPr/>
          <a:lstStyle/>
          <a:p>
            <a:pPr lvl="2"/>
            <a:fld id="{28BEB0BA-EEE4-5F45-9179-3BC54B76BCCF}" type="slidenum">
              <a:rPr lang="fr-FR" smtClean="0"/>
            </a:fld>
            <a:endParaRPr lang="fr-F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25605" name="Rectangle 2"/>
          <p:cNvSpPr>
            <a:spLocks noGrp="1" noChangeArrowheads="1"/>
          </p:cNvSpPr>
          <p:nvPr>
            <p:ph type="title"/>
          </p:nvPr>
        </p:nvSpPr>
        <p:spPr/>
        <p:txBody>
          <a:bodyPr/>
          <a:lstStyle/>
          <a:p>
            <a:r>
              <a:rPr lang="en-US" sz="2800" dirty="0">
                <a:latin typeface="Arial" panose="020B0604020202020204" pitchFamily="34" charset="0"/>
              </a:rPr>
              <a:t>Structure </a:t>
            </a:r>
            <a:r>
              <a:rPr lang="en-US" sz="2800" dirty="0" smtClean="0">
                <a:latin typeface="Arial" panose="020B0604020202020204" pitchFamily="34" charset="0"/>
              </a:rPr>
              <a:t>du fichier .c </a:t>
            </a:r>
            <a:endParaRPr lang="en-US" sz="2800" dirty="0">
              <a:latin typeface="Arial" panose="020B0604020202020204" pitchFamily="34" charset="0"/>
            </a:endParaRPr>
          </a:p>
        </p:txBody>
      </p:sp>
      <p:sp>
        <p:nvSpPr>
          <p:cNvPr id="19" name="Rectangle 3"/>
          <p:cNvSpPr txBox="1">
            <a:spLocks noChangeArrowheads="1"/>
          </p:cNvSpPr>
          <p:nvPr/>
        </p:nvSpPr>
        <p:spPr bwMode="auto">
          <a:xfrm>
            <a:off x="457200" y="908720"/>
            <a:ext cx="8686800"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panose="020B0604020202020204" pitchFamily="34" charset="0"/>
            </a:endParaRPr>
          </a:p>
        </p:txBody>
      </p:sp>
      <p:sp>
        <p:nvSpPr>
          <p:cNvPr id="6" name="Rectangle 3"/>
          <p:cNvSpPr txBox="1">
            <a:spLocks noChangeArrowheads="1"/>
          </p:cNvSpPr>
          <p:nvPr/>
        </p:nvSpPr>
        <p:spPr bwMode="auto">
          <a:xfrm>
            <a:off x="107504" y="872716"/>
            <a:ext cx="9146976"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latin typeface="Arial" panose="020B0604020202020204" pitchFamily="34" charset="0"/>
              </a:rPr>
              <a:t>Description de la fonctionnalité et de l'utilisation (</a:t>
            </a:r>
            <a:r>
              <a:rPr lang="fr-FR" dirty="0" smtClean="0">
                <a:latin typeface="Arial" panose="020B0604020202020204" pitchFamily="34" charset="0"/>
              </a:rPr>
              <a:t>commentaires</a:t>
            </a:r>
            <a:r>
              <a:rPr lang="en-US" dirty="0" smtClean="0">
                <a:latin typeface="Arial" panose="020B0604020202020204" pitchFamily="34" charset="0"/>
              </a:rPr>
              <a:t> </a:t>
            </a:r>
            <a:r>
              <a:rPr lang="en-US" dirty="0">
                <a:latin typeface="Arial" panose="020B0604020202020204" pitchFamily="34" charset="0"/>
                <a:sym typeface="Wingdings" panose="05000000000000000000" charset="0"/>
              </a:rPr>
              <a:t>)</a:t>
            </a:r>
            <a:endParaRPr lang="en-US" dirty="0">
              <a:latin typeface="Arial" panose="020B0604020202020204" pitchFamily="34" charset="0"/>
              <a:sym typeface="Wingdings" panose="05000000000000000000" charset="0"/>
            </a:endParaRPr>
          </a:p>
          <a:p>
            <a:endParaRPr lang="en-GB" dirty="0">
              <a:latin typeface="Arial" panose="020B0604020202020204" pitchFamily="34" charset="0"/>
              <a:cs typeface="MS PGothic" panose="020B0600070205080204" charset="-128"/>
            </a:endParaRPr>
          </a:p>
          <a:p>
            <a:r>
              <a:rPr lang="fr-FR" dirty="0">
                <a:latin typeface="Arial" panose="020B0604020202020204" pitchFamily="34" charset="0"/>
                <a:cs typeface="MS PGothic" panose="020B0600070205080204" charset="-128"/>
              </a:rPr>
              <a:t>Les directives pour le </a:t>
            </a:r>
            <a:r>
              <a:rPr lang="fr-FR" dirty="0" err="1">
                <a:latin typeface="Arial" panose="020B0604020202020204" pitchFamily="34" charset="0"/>
                <a:cs typeface="MS PGothic" panose="020B0600070205080204" charset="-128"/>
              </a:rPr>
              <a:t>pré-processeur</a:t>
            </a:r>
            <a:endParaRPr lang="en-GB" dirty="0">
              <a:latin typeface="Arial" panose="020B0604020202020204" pitchFamily="34" charset="0"/>
              <a:cs typeface="MS PGothic" panose="020B0600070205080204" charset="-128"/>
            </a:endParaRPr>
          </a:p>
          <a:p>
            <a:pPr lvl="1"/>
            <a:r>
              <a:rPr lang="fr-FR" dirty="0">
                <a:latin typeface="Arial" panose="020B0604020202020204" pitchFamily="34" charset="0"/>
                <a:cs typeface="MS PGothic" panose="020B0600070205080204" charset="-128"/>
              </a:rPr>
              <a:t>Fichiers include, Macros, Compilation conditionnelle, ...</a:t>
            </a:r>
            <a:endParaRPr lang="en-GB" dirty="0">
              <a:latin typeface="Arial" panose="020B0604020202020204" pitchFamily="34" charset="0"/>
              <a:cs typeface="MS PGothic" panose="020B0600070205080204" charset="-128"/>
            </a:endParaRPr>
          </a:p>
          <a:p>
            <a:pPr marL="0" indent="0">
              <a:buNone/>
            </a:pPr>
            <a:endParaRPr lang="en-GB" sz="800" dirty="0">
              <a:latin typeface="Arial" panose="020B0604020202020204" pitchFamily="34" charset="0"/>
              <a:cs typeface="MS PGothic" panose="020B0600070205080204" charset="-128"/>
            </a:endParaRPr>
          </a:p>
          <a:p>
            <a:r>
              <a:rPr lang="fr-FR" dirty="0">
                <a:latin typeface="Arial" panose="020B0604020202020204" pitchFamily="34" charset="0"/>
                <a:cs typeface="MS PGothic" panose="020B0600070205080204" charset="-128"/>
              </a:rPr>
              <a:t>Variables globales utilisées uniquement par ce fichier </a:t>
            </a:r>
            <a:r>
              <a:rPr lang="en-GB" dirty="0" smtClean="0">
                <a:latin typeface="Arial" panose="020B0604020202020204" pitchFamily="34" charset="0"/>
                <a:cs typeface="MS PGothic" panose="020B0600070205080204" charset="-128"/>
              </a:rPr>
              <a:t> </a:t>
            </a:r>
            <a:endParaRPr lang="en-GB" dirty="0">
              <a:latin typeface="Arial" panose="020B0604020202020204" pitchFamily="34" charset="0"/>
              <a:cs typeface="MS PGothic" panose="020B0600070205080204" charset="-128"/>
            </a:endParaRPr>
          </a:p>
          <a:p>
            <a:pPr lvl="1"/>
            <a:r>
              <a:rPr lang="fr-FR" dirty="0">
                <a:latin typeface="Arial" panose="020B0604020202020204" pitchFamily="34" charset="0"/>
                <a:cs typeface="MS PGothic" panose="020B0600070205080204" charset="-128"/>
              </a:rPr>
              <a:t>si elles ne sont pas initialisées, elles sont par défaut à 0</a:t>
            </a:r>
            <a:endParaRPr lang="en-GB" dirty="0">
              <a:latin typeface="Arial" panose="020B0604020202020204" pitchFamily="34" charset="0"/>
              <a:cs typeface="MS PGothic" panose="020B0600070205080204" charset="-128"/>
            </a:endParaRPr>
          </a:p>
          <a:p>
            <a:endParaRPr lang="en-GB" sz="800" dirty="0">
              <a:latin typeface="Arial" panose="020B0604020202020204" pitchFamily="34" charset="0"/>
              <a:cs typeface="MS PGothic" panose="020B0600070205080204" charset="-128"/>
            </a:endParaRPr>
          </a:p>
          <a:p>
            <a:r>
              <a:rPr lang="fr-FR" dirty="0">
                <a:latin typeface="Arial" panose="020B0604020202020204" pitchFamily="34" charset="0"/>
                <a:cs typeface="MS PGothic" panose="020B0600070205080204" charset="-128"/>
              </a:rPr>
              <a:t>Les fonctions qui agissent sur les variables</a:t>
            </a:r>
            <a:endParaRPr lang="en-GB" dirty="0">
              <a:latin typeface="Arial" panose="020B0604020202020204" pitchFamily="34" charset="0"/>
              <a:cs typeface="MS PGothic" panose="020B0600070205080204" charset="-128"/>
            </a:endParaRPr>
          </a:p>
          <a:p>
            <a:pPr lvl="1"/>
            <a:r>
              <a:rPr lang="en-GB" dirty="0">
                <a:latin typeface="Arial" panose="020B0604020202020204" pitchFamily="34" charset="0"/>
                <a:cs typeface="MS PGothic" panose="020B0600070205080204" charset="-128"/>
              </a:rPr>
              <a:t>Prototype de </a:t>
            </a:r>
            <a:r>
              <a:rPr lang="en-GB" dirty="0" err="1">
                <a:latin typeface="Arial" panose="020B0604020202020204" pitchFamily="34" charset="0"/>
                <a:cs typeface="MS PGothic" panose="020B0600070205080204" charset="-128"/>
              </a:rPr>
              <a:t>fonction</a:t>
            </a:r>
            <a:endParaRPr lang="en-GB" dirty="0">
              <a:latin typeface="Arial" panose="020B0604020202020204" pitchFamily="34" charset="0"/>
              <a:cs typeface="MS PGothic" panose="020B0600070205080204" charset="-128"/>
            </a:endParaRPr>
          </a:p>
          <a:p>
            <a:pPr lvl="1"/>
            <a:r>
              <a:rPr lang="en-GB" dirty="0">
                <a:latin typeface="Arial" panose="020B0604020202020204" pitchFamily="34" charset="0"/>
                <a:cs typeface="MS PGothic" panose="020B0600070205080204" charset="-128"/>
              </a:rPr>
              <a:t>Corps de la </a:t>
            </a:r>
            <a:r>
              <a:rPr lang="en-GB" dirty="0" err="1">
                <a:latin typeface="Arial" panose="020B0604020202020204" pitchFamily="34" charset="0"/>
                <a:cs typeface="MS PGothic" panose="020B0600070205080204" charset="-128"/>
              </a:rPr>
              <a:t>fonction</a:t>
            </a:r>
            <a:endParaRPr lang="en-GB" dirty="0">
              <a:latin typeface="Arial" panose="020B0604020202020204" pitchFamily="34" charset="0"/>
              <a:cs typeface="MS PGothic" panose="020B0600070205080204" charset="-128"/>
            </a:endParaRPr>
          </a:p>
          <a:p>
            <a:endParaRPr lang="en-GB" sz="800" dirty="0">
              <a:latin typeface="Arial" panose="020B0604020202020204" pitchFamily="34" charset="0"/>
              <a:cs typeface="MS PGothic" panose="020B0600070205080204" charset="-128"/>
            </a:endParaRPr>
          </a:p>
          <a:p>
            <a:r>
              <a:rPr lang="fr-FR" dirty="0">
                <a:latin typeface="Arial" panose="020B0604020202020204" pitchFamily="34" charset="0"/>
                <a:cs typeface="MS PGothic" panose="020B0600070205080204" charset="-128"/>
              </a:rPr>
              <a:t>Aucun ordre n'est imposé aux définitions, MAIS tout élément doit être déclaré AVANT son utilisation.</a:t>
            </a:r>
            <a:endParaRPr lang="en-GB" dirty="0">
              <a:solidFill>
                <a:srgbClr val="FF0000"/>
              </a:solidFill>
              <a:latin typeface="Arial" panose="020B0604020202020204" pitchFamily="3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25605" name="Rectangle 2"/>
          <p:cNvSpPr>
            <a:spLocks noGrp="1" noChangeArrowheads="1"/>
          </p:cNvSpPr>
          <p:nvPr>
            <p:ph type="title"/>
          </p:nvPr>
        </p:nvSpPr>
        <p:spPr/>
        <p:txBody>
          <a:bodyPr/>
          <a:lstStyle/>
          <a:p>
            <a:r>
              <a:rPr lang="en-US" sz="2800" dirty="0">
                <a:latin typeface="Arial" panose="020B0604020202020204" pitchFamily="34" charset="0"/>
              </a:rPr>
              <a:t>Structure </a:t>
            </a:r>
            <a:r>
              <a:rPr lang="en-US" sz="2800" dirty="0" smtClean="0">
                <a:latin typeface="Arial" panose="020B0604020202020204" pitchFamily="34" charset="0"/>
              </a:rPr>
              <a:t>du fichier </a:t>
            </a:r>
            <a:r>
              <a:rPr lang="en-US" sz="2800" dirty="0">
                <a:latin typeface="Arial" panose="020B0604020202020204" pitchFamily="34" charset="0"/>
              </a:rPr>
              <a:t>.h </a:t>
            </a:r>
            <a:endParaRPr lang="en-US" sz="2800" dirty="0">
              <a:latin typeface="Arial" panose="020B0604020202020204" pitchFamily="34" charset="0"/>
            </a:endParaRPr>
          </a:p>
        </p:txBody>
      </p:sp>
      <p:sp>
        <p:nvSpPr>
          <p:cNvPr id="19" name="Rectangle 3"/>
          <p:cNvSpPr txBox="1">
            <a:spLocks noChangeArrowheads="1"/>
          </p:cNvSpPr>
          <p:nvPr/>
        </p:nvSpPr>
        <p:spPr bwMode="auto">
          <a:xfrm>
            <a:off x="457200" y="908720"/>
            <a:ext cx="8686800"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panose="020B0604020202020204" pitchFamily="34" charset="0"/>
            </a:endParaRPr>
          </a:p>
        </p:txBody>
      </p:sp>
      <p:sp>
        <p:nvSpPr>
          <p:cNvPr id="6" name="Rectangle 3"/>
          <p:cNvSpPr txBox="1">
            <a:spLocks noChangeArrowheads="1"/>
          </p:cNvSpPr>
          <p:nvPr/>
        </p:nvSpPr>
        <p:spPr bwMode="auto">
          <a:xfrm>
            <a:off x="609600" y="872716"/>
            <a:ext cx="8390892"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US" sz="800" dirty="0">
              <a:latin typeface="Arial" panose="020B0604020202020204" pitchFamily="34" charset="0"/>
            </a:endParaRPr>
          </a:p>
          <a:p>
            <a:r>
              <a:rPr lang="fr-FR" dirty="0">
                <a:latin typeface="Arial" panose="020B0604020202020204" pitchFamily="34" charset="0"/>
              </a:rPr>
              <a:t>Déclaration de ce qui est autorisé à être "vu" en dehors du </a:t>
            </a:r>
            <a:r>
              <a:rPr lang="fr-FR" dirty="0" smtClean="0">
                <a:latin typeface="Arial" panose="020B0604020202020204" pitchFamily="34" charset="0"/>
              </a:rPr>
              <a:t>fichier .c Fonctions  </a:t>
            </a:r>
            <a:r>
              <a:rPr lang="en-US" dirty="0" smtClean="0">
                <a:latin typeface="Arial" panose="020B0604020202020204" pitchFamily="34" charset="0"/>
              </a:rPr>
              <a:t> </a:t>
            </a:r>
            <a:endParaRPr lang="en-US" dirty="0" smtClean="0">
              <a:latin typeface="Arial" panose="020B0604020202020204" pitchFamily="34" charset="0"/>
            </a:endParaRPr>
          </a:p>
          <a:p>
            <a:pPr lvl="1"/>
            <a:r>
              <a:rPr lang="en-US" dirty="0">
                <a:latin typeface="Arial" panose="020B0604020202020204" pitchFamily="34" charset="0"/>
              </a:rPr>
              <a:t>Variables </a:t>
            </a:r>
            <a:r>
              <a:rPr lang="en-US" dirty="0" smtClean="0">
                <a:latin typeface="Arial" panose="020B0604020202020204" pitchFamily="34" charset="0"/>
              </a:rPr>
              <a:t>Globales </a:t>
            </a:r>
            <a:endParaRPr lang="en-US" dirty="0" smtClean="0">
              <a:latin typeface="Arial" panose="020B0604020202020204" pitchFamily="34" charset="0"/>
            </a:endParaRPr>
          </a:p>
          <a:p>
            <a:pPr lvl="1"/>
            <a:r>
              <a:rPr lang="en-US" dirty="0" smtClean="0">
                <a:latin typeface="Arial" panose="020B0604020202020204" pitchFamily="34" charset="0"/>
              </a:rPr>
              <a:t>Structures de Données</a:t>
            </a:r>
            <a:endParaRPr lang="en-US" dirty="0">
              <a:latin typeface="Arial" panose="020B0604020202020204" pitchFamily="34" charset="0"/>
            </a:endParaRPr>
          </a:p>
          <a:p>
            <a:pPr lvl="1"/>
            <a:r>
              <a:rPr lang="en-US" dirty="0" smtClean="0">
                <a:latin typeface="Arial" panose="020B0604020202020204" pitchFamily="34" charset="0"/>
              </a:rPr>
              <a:t>…</a:t>
            </a:r>
            <a:endParaRPr lang="en-US" dirty="0">
              <a:latin typeface="Arial" panose="020B0604020202020204" pitchFamily="34" charset="0"/>
            </a:endParaRPr>
          </a:p>
          <a:p>
            <a:pPr lvl="1"/>
            <a:endParaRPr lang="en-US" dirty="0">
              <a:latin typeface="Arial" panose="020B0604020202020204" pitchFamily="34" charset="0"/>
            </a:endParaRPr>
          </a:p>
          <a:p>
            <a:r>
              <a:rPr lang="fr-FR" dirty="0">
                <a:latin typeface="Arial" panose="020B0604020202020204" pitchFamily="34" charset="0"/>
              </a:rPr>
              <a:t>C'est l'interface du fichier source .c avec le monde extérieur.</a:t>
            </a:r>
            <a:endParaRPr lang="en-US" sz="800" dirty="0">
              <a:latin typeface="Arial" panose="020B0604020202020204" pitchFamily="3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re 1"/>
          <p:cNvSpPr>
            <a:spLocks noGrp="1"/>
          </p:cNvSpPr>
          <p:nvPr>
            <p:ph type="title"/>
          </p:nvPr>
        </p:nvSpPr>
        <p:spPr/>
        <p:txBody>
          <a:bodyPr/>
          <a:lstStyle/>
          <a:p>
            <a:r>
              <a:rPr lang="en-US" sz="2800" dirty="0">
                <a:latin typeface="Arial" panose="020B0604020202020204" pitchFamily="34" charset="0"/>
              </a:rPr>
              <a:t>Structure </a:t>
            </a:r>
            <a:r>
              <a:rPr lang="en-US" sz="2800" dirty="0" smtClean="0">
                <a:latin typeface="Arial" panose="020B0604020202020204" pitchFamily="34" charset="0"/>
              </a:rPr>
              <a:t>du fichier </a:t>
            </a:r>
            <a:r>
              <a:rPr lang="en-US" sz="2800" dirty="0">
                <a:latin typeface="Arial" panose="020B0604020202020204" pitchFamily="34" charset="0"/>
              </a:rPr>
              <a:t>.c </a:t>
            </a:r>
            <a:r>
              <a:rPr lang="fr-FR" sz="2800" dirty="0" smtClean="0">
                <a:latin typeface="Arial" panose="020B0604020202020204" pitchFamily="34" charset="0"/>
                <a:ea typeface="MS PGothic" panose="020B0600070205080204" charset="-128"/>
                <a:cs typeface="MS PGothic" panose="020B0600070205080204" charset="-128"/>
              </a:rPr>
              <a:t>: Exemple</a:t>
            </a:r>
            <a:endParaRPr lang="fr-FR" sz="2800" dirty="0">
              <a:latin typeface="Arial" panose="020B0604020202020204" pitchFamily="34" charset="0"/>
              <a:ea typeface="MS PGothic" panose="020B0600070205080204" charset="-128"/>
              <a:cs typeface="MS PGothic" panose="020B0600070205080204" charset="-128"/>
            </a:endParaRPr>
          </a:p>
        </p:txBody>
      </p:sp>
      <p:pic>
        <p:nvPicPr>
          <p:cNvPr id="63491" name="Image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5496" y="800708"/>
            <a:ext cx="6084676" cy="6057292"/>
          </a:xfrm>
          <a:prstGeom prst="rect">
            <a:avLst/>
          </a:prstGeom>
          <a:noFill/>
          <a:ln w="9525">
            <a:solidFill>
              <a:schemeClr val="tx2"/>
            </a:solidFill>
            <a:miter lim="800000"/>
            <a:headEnd/>
            <a:tailEnd/>
          </a:ln>
        </p:spPr>
      </p:pic>
      <p:pic>
        <p:nvPicPr>
          <p:cNvPr id="63492" name="Image 5" descr="Capture d’écran 2014-08-25 à 14.44.43.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86132" y="0"/>
            <a:ext cx="2827122" cy="2672916"/>
          </a:xfrm>
          <a:prstGeom prst="rect">
            <a:avLst/>
          </a:prstGeom>
          <a:noFill/>
          <a:ln w="9525">
            <a:solidFill>
              <a:schemeClr val="tx2"/>
            </a:solidFill>
            <a:miter lim="800000"/>
            <a:headEnd/>
            <a:tailEnd/>
          </a:ln>
        </p:spPr>
      </p:pic>
      <p:sp>
        <p:nvSpPr>
          <p:cNvPr id="63493" name="ZoneTexte 6"/>
          <p:cNvSpPr txBox="1">
            <a:spLocks noChangeArrowheads="1"/>
          </p:cNvSpPr>
          <p:nvPr/>
        </p:nvSpPr>
        <p:spPr bwMode="auto">
          <a:xfrm>
            <a:off x="2938077" y="1531123"/>
            <a:ext cx="3248055" cy="1034129"/>
          </a:xfrm>
          <a:prstGeom prst="rect">
            <a:avLst/>
          </a:prstGeom>
          <a:solidFill>
            <a:schemeClr val="bg1"/>
          </a:solidFill>
          <a:ln w="9525">
            <a:solidFill>
              <a:srgbClr val="000000"/>
            </a:solidFill>
            <a:miter lim="800000"/>
          </a:ln>
        </p:spPr>
        <p:txBody>
          <a:bodyPr wrap="square">
            <a:spAutoFit/>
          </a:bodyPr>
          <a:lstStyle>
            <a:lvl1pPr eaLnBrk="0" hangingPunct="0">
              <a:defRPr sz="2400">
                <a:solidFill>
                  <a:schemeClr val="tx1"/>
                </a:solidFill>
                <a:latin typeface="Arial" panose="020B0604020202020204" pitchFamily="34" charset="0"/>
                <a:ea typeface="MS PGothic" panose="020B0600070205080204" charset="-128"/>
                <a:cs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l" eaLnBrk="1" hangingPunct="1"/>
            <a:r>
              <a:rPr lang="fr-FR" sz="1800" dirty="0" smtClean="0"/>
              <a:t>Directives du Pre-processeur </a:t>
            </a:r>
            <a:endParaRPr lang="fr-FR" sz="1800" dirty="0" smtClean="0"/>
          </a:p>
          <a:p>
            <a:pPr algn="l" eaLnBrk="1" hangingPunct="1"/>
            <a:r>
              <a:rPr lang="fr-FR" sz="1800" dirty="0"/>
              <a:t>-  </a:t>
            </a:r>
            <a:r>
              <a:rPr lang="fr-FR" sz="1800" dirty="0" smtClean="0"/>
              <a:t>Fichier Include </a:t>
            </a:r>
            <a:endParaRPr lang="fr-FR" sz="1800" dirty="0"/>
          </a:p>
          <a:p>
            <a:pPr algn="l" eaLnBrk="1" hangingPunct="1"/>
            <a:r>
              <a:rPr lang="fr-FR" sz="1800" dirty="0" smtClean="0"/>
              <a:t>- </a:t>
            </a:r>
            <a:r>
              <a:rPr lang="fr-FR" sz="1800" dirty="0"/>
              <a:t>Macros</a:t>
            </a:r>
            <a:endParaRPr lang="fr-FR" sz="1800" dirty="0"/>
          </a:p>
        </p:txBody>
      </p:sp>
      <p:sp>
        <p:nvSpPr>
          <p:cNvPr id="63494" name="ZoneTexte 10"/>
          <p:cNvSpPr txBox="1">
            <a:spLocks noChangeArrowheads="1"/>
          </p:cNvSpPr>
          <p:nvPr/>
        </p:nvSpPr>
        <p:spPr bwMode="auto">
          <a:xfrm>
            <a:off x="3743908" y="2951656"/>
            <a:ext cx="4333292" cy="369332"/>
          </a:xfrm>
          <a:prstGeom prst="rect">
            <a:avLst/>
          </a:prstGeom>
          <a:solidFill>
            <a:schemeClr val="bg1"/>
          </a:solidFill>
          <a:ln w="9525">
            <a:solidFill>
              <a:srgbClr val="000000"/>
            </a:solidFill>
            <a:miter lim="800000"/>
          </a:ln>
        </p:spPr>
        <p:txBody>
          <a:bodyPr wrap="square">
            <a:spAutoFit/>
          </a:bodyPr>
          <a:lstStyle>
            <a:lvl1pPr eaLnBrk="0" hangingPunct="0">
              <a:defRPr sz="2400">
                <a:solidFill>
                  <a:schemeClr val="tx1"/>
                </a:solidFill>
                <a:latin typeface="Arial" panose="020B0604020202020204" pitchFamily="34" charset="0"/>
                <a:ea typeface="MS PGothic" panose="020B0600070205080204" charset="-128"/>
                <a:cs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1" hangingPunct="1"/>
            <a:r>
              <a:rPr lang="fr-FR" sz="1800" dirty="0"/>
              <a:t>Variable globale définie dans ce fichier</a:t>
            </a:r>
            <a:endParaRPr lang="fr-FR" sz="1800" dirty="0"/>
          </a:p>
        </p:txBody>
      </p:sp>
      <p:sp>
        <p:nvSpPr>
          <p:cNvPr id="63495" name="ZoneTexte 11"/>
          <p:cNvSpPr txBox="1">
            <a:spLocks noChangeArrowheads="1"/>
          </p:cNvSpPr>
          <p:nvPr/>
        </p:nvSpPr>
        <p:spPr bwMode="auto">
          <a:xfrm>
            <a:off x="3743908" y="3356992"/>
            <a:ext cx="4333292" cy="646331"/>
          </a:xfrm>
          <a:prstGeom prst="rect">
            <a:avLst/>
          </a:prstGeom>
          <a:solidFill>
            <a:schemeClr val="bg1"/>
          </a:solidFill>
          <a:ln w="9525">
            <a:solidFill>
              <a:srgbClr val="000000"/>
            </a:solidFill>
            <a:miter lim="800000"/>
          </a:ln>
        </p:spPr>
        <p:txBody>
          <a:bodyPr wrap="square">
            <a:spAutoFit/>
          </a:bodyPr>
          <a:lstStyle>
            <a:lvl1pPr eaLnBrk="0" hangingPunct="0">
              <a:defRPr sz="2400">
                <a:solidFill>
                  <a:schemeClr val="tx1"/>
                </a:solidFill>
                <a:latin typeface="Arial" panose="020B0604020202020204" pitchFamily="34" charset="0"/>
                <a:ea typeface="MS PGothic" panose="020B0600070205080204" charset="-128"/>
                <a:cs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l" eaLnBrk="1" hangingPunct="1"/>
            <a:r>
              <a:rPr lang="fr-FR" sz="1800" dirty="0"/>
              <a:t>Déclaration de fonction : est définie dans un autre fichier</a:t>
            </a:r>
            <a:endParaRPr lang="en-GB" sz="1800" dirty="0"/>
          </a:p>
        </p:txBody>
      </p:sp>
      <p:sp>
        <p:nvSpPr>
          <p:cNvPr id="63497" name="ZoneTexte 13"/>
          <p:cNvSpPr txBox="1">
            <a:spLocks noChangeArrowheads="1"/>
          </p:cNvSpPr>
          <p:nvPr/>
        </p:nvSpPr>
        <p:spPr bwMode="auto">
          <a:xfrm>
            <a:off x="6156176" y="5191582"/>
            <a:ext cx="2634340" cy="1255728"/>
          </a:xfrm>
          <a:prstGeom prst="rect">
            <a:avLst/>
          </a:prstGeom>
          <a:solidFill>
            <a:schemeClr val="bg1"/>
          </a:solidFill>
          <a:ln w="9525">
            <a:solidFill>
              <a:srgbClr val="000000"/>
            </a:solidFill>
            <a:miter lim="800000"/>
          </a:ln>
        </p:spPr>
        <p:txBody>
          <a:bodyPr wrap="square">
            <a:spAutoFit/>
          </a:bodyPr>
          <a:lstStyle>
            <a:lvl1pPr eaLnBrk="0" hangingPunct="0">
              <a:defRPr sz="2400">
                <a:solidFill>
                  <a:schemeClr val="tx1"/>
                </a:solidFill>
                <a:latin typeface="Arial" panose="020B0604020202020204" pitchFamily="34" charset="0"/>
                <a:ea typeface="MS PGothic" panose="020B0600070205080204" charset="-128"/>
                <a:cs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l" eaLnBrk="1" hangingPunct="1"/>
            <a:r>
              <a:rPr lang="fr-FR" sz="1800" dirty="0"/>
              <a:t>La fonction principale est le point de </a:t>
            </a:r>
            <a:r>
              <a:rPr lang="fr-FR" sz="1800" b="1" dirty="0" smtClean="0"/>
              <a:t>départ.</a:t>
            </a:r>
            <a:endParaRPr lang="fr-FR" sz="1800" b="1" dirty="0"/>
          </a:p>
          <a:p>
            <a:pPr algn="l" eaLnBrk="1" hangingPunct="1"/>
            <a:r>
              <a:rPr lang="fr-FR" sz="1800" dirty="0"/>
              <a:t>Une seule fonction principale </a:t>
            </a:r>
            <a:endParaRPr lang="fr-FR" sz="1800" dirty="0"/>
          </a:p>
        </p:txBody>
      </p:sp>
      <p:cxnSp>
        <p:nvCxnSpPr>
          <p:cNvPr id="63502" name="Connecteur droit 23"/>
          <p:cNvCxnSpPr>
            <a:cxnSpLocks noChangeShapeType="1"/>
          </p:cNvCxnSpPr>
          <p:nvPr/>
        </p:nvCxnSpPr>
        <p:spPr bwMode="auto">
          <a:xfrm>
            <a:off x="35496" y="5084763"/>
            <a:ext cx="5929467" cy="36425"/>
          </a:xfrm>
          <a:prstGeom prst="line">
            <a:avLst/>
          </a:prstGeom>
          <a:noFill/>
          <a:ln w="19050" cap="sq">
            <a:solidFill>
              <a:srgbClr val="FF0000"/>
            </a:solidFill>
            <a:prstDash val="dash"/>
            <a:round/>
          </a:ln>
        </p:spPr>
      </p:cxnSp>
      <p:cxnSp>
        <p:nvCxnSpPr>
          <p:cNvPr id="19" name="Connecteur droit 19"/>
          <p:cNvCxnSpPr>
            <a:cxnSpLocks noChangeShapeType="1"/>
          </p:cNvCxnSpPr>
          <p:nvPr/>
        </p:nvCxnSpPr>
        <p:spPr bwMode="auto">
          <a:xfrm>
            <a:off x="35496" y="3428802"/>
            <a:ext cx="6084676" cy="198"/>
          </a:xfrm>
          <a:prstGeom prst="line">
            <a:avLst/>
          </a:prstGeom>
          <a:noFill/>
          <a:ln w="19050" cap="sq">
            <a:solidFill>
              <a:srgbClr val="FF0000"/>
            </a:solidFill>
            <a:prstDash val="dash"/>
            <a:round/>
          </a:ln>
        </p:spPr>
      </p:cxnSp>
      <p:sp>
        <p:nvSpPr>
          <p:cNvPr id="21" name="ZoneTexte 11"/>
          <p:cNvSpPr txBox="1">
            <a:spLocks noChangeArrowheads="1"/>
          </p:cNvSpPr>
          <p:nvPr/>
        </p:nvSpPr>
        <p:spPr bwMode="auto">
          <a:xfrm>
            <a:off x="3743908" y="4103377"/>
            <a:ext cx="4333292" cy="646331"/>
          </a:xfrm>
          <a:prstGeom prst="rect">
            <a:avLst/>
          </a:prstGeom>
          <a:solidFill>
            <a:schemeClr val="bg1"/>
          </a:solidFill>
          <a:ln w="9525">
            <a:solidFill>
              <a:srgbClr val="000000"/>
            </a:solidFill>
            <a:miter lim="800000"/>
          </a:ln>
        </p:spPr>
        <p:txBody>
          <a:bodyPr wrap="square">
            <a:spAutoFit/>
          </a:bodyPr>
          <a:lstStyle>
            <a:lvl1pPr eaLnBrk="0" hangingPunct="0">
              <a:defRPr sz="2400">
                <a:solidFill>
                  <a:schemeClr val="tx1"/>
                </a:solidFill>
                <a:latin typeface="Arial" panose="020B0604020202020204" pitchFamily="34" charset="0"/>
                <a:ea typeface="MS PGothic" panose="020B0600070205080204" charset="-128"/>
                <a:cs typeface="MS PGothic" panose="020B0600070205080204" charset="-128"/>
              </a:defRPr>
            </a:lvl1pPr>
            <a:lvl2pPr marL="742950" indent="-285750" eaLnBrk="0" hangingPunct="0">
              <a:defRPr sz="2400">
                <a:solidFill>
                  <a:schemeClr val="tx1"/>
                </a:solidFill>
                <a:latin typeface="Arial" panose="020B0604020202020204" pitchFamily="34" charset="0"/>
                <a:ea typeface="MS PGothic" panose="020B0600070205080204" charset="-128"/>
              </a:defRPr>
            </a:lvl2pPr>
            <a:lvl3pPr marL="1143000" indent="-228600" eaLnBrk="0" hangingPunct="0">
              <a:defRPr sz="2400">
                <a:solidFill>
                  <a:schemeClr val="tx1"/>
                </a:solidFill>
                <a:latin typeface="Arial" panose="020B0604020202020204" pitchFamily="34" charset="0"/>
                <a:ea typeface="MS PGothic" panose="020B0600070205080204" charset="-128"/>
              </a:defRPr>
            </a:lvl3pPr>
            <a:lvl4pPr marL="1600200" indent="-228600" eaLnBrk="0" hangingPunct="0">
              <a:defRPr sz="2400">
                <a:solidFill>
                  <a:schemeClr val="tx1"/>
                </a:solidFill>
                <a:latin typeface="Arial" panose="020B0604020202020204" pitchFamily="34" charset="0"/>
                <a:ea typeface="MS PGothic" panose="020B0600070205080204" charset="-128"/>
              </a:defRPr>
            </a:lvl4pPr>
            <a:lvl5pPr marL="2057400" indent="-228600" eaLnBrk="0" hangingPunct="0">
              <a:defRPr sz="2400">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l" eaLnBrk="1" hangingPunct="1"/>
            <a:r>
              <a:rPr lang="fr-FR" sz="1800" dirty="0"/>
              <a:t>Fonction définie dans ce fichier (peut être exportée)</a:t>
            </a:r>
            <a:endParaRPr lang="en-GB" sz="1800" dirty="0"/>
          </a:p>
        </p:txBody>
      </p:sp>
      <p:sp>
        <p:nvSpPr>
          <p:cNvPr id="22"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cxnSp>
        <p:nvCxnSpPr>
          <p:cNvPr id="17" name="Connecteur droit 19"/>
          <p:cNvCxnSpPr>
            <a:cxnSpLocks noChangeShapeType="1"/>
          </p:cNvCxnSpPr>
          <p:nvPr/>
        </p:nvCxnSpPr>
        <p:spPr bwMode="auto">
          <a:xfrm>
            <a:off x="35496" y="2888940"/>
            <a:ext cx="6084676" cy="198"/>
          </a:xfrm>
          <a:prstGeom prst="line">
            <a:avLst/>
          </a:prstGeom>
          <a:noFill/>
          <a:ln w="19050" cap="sq">
            <a:solidFill>
              <a:srgbClr val="FF0000"/>
            </a:solidFill>
            <a:prstDash val="dash"/>
            <a:round/>
          </a:ln>
        </p:spPr>
      </p:cxnSp>
      <p:cxnSp>
        <p:nvCxnSpPr>
          <p:cNvPr id="18" name="Connecteur droit 19"/>
          <p:cNvCxnSpPr>
            <a:cxnSpLocks noChangeShapeType="1"/>
          </p:cNvCxnSpPr>
          <p:nvPr/>
        </p:nvCxnSpPr>
        <p:spPr bwMode="auto">
          <a:xfrm>
            <a:off x="4680" y="3969060"/>
            <a:ext cx="6084676" cy="198"/>
          </a:xfrm>
          <a:prstGeom prst="line">
            <a:avLst/>
          </a:prstGeom>
          <a:noFill/>
          <a:ln w="19050" cap="sq">
            <a:solidFill>
              <a:srgbClr val="FF0000"/>
            </a:solidFill>
            <a:prstDash val="dash"/>
            <a:roun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4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4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349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349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34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3" grpId="0" animBg="1"/>
      <p:bldP spid="63494" grpId="0" animBg="1"/>
      <p:bldP spid="63495" grpId="0" animBg="1"/>
      <p:bldP spid="63497" grpId="0" animBg="1"/>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re 1"/>
          <p:cNvSpPr>
            <a:spLocks noGrp="1"/>
          </p:cNvSpPr>
          <p:nvPr>
            <p:ph type="title"/>
          </p:nvPr>
        </p:nvSpPr>
        <p:spPr/>
        <p:txBody>
          <a:bodyPr/>
          <a:lstStyle/>
          <a:p>
            <a:r>
              <a:rPr lang="fr-FR" sz="2800" dirty="0">
                <a:latin typeface="Arial" panose="020B0604020202020204" pitchFamily="34" charset="0"/>
                <a:cs typeface="MS PGothic" panose="020B0600070205080204" charset="-128"/>
              </a:rPr>
              <a:t>Même exemple divisé en 3 fichiers</a:t>
            </a:r>
            <a:endParaRPr lang="fr-FR" sz="2800" dirty="0">
              <a:latin typeface="Arial" panose="020B0604020202020204" pitchFamily="34" charset="0"/>
              <a:cs typeface="MS PGothic" panose="020B0600070205080204" charset="-128"/>
            </a:endParaRPr>
          </a:p>
        </p:txBody>
      </p:sp>
      <p:pic>
        <p:nvPicPr>
          <p:cNvPr id="64515" name="Image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0" y="678807"/>
            <a:ext cx="5148064" cy="5759735"/>
          </a:xfrm>
          <a:prstGeom prst="rect">
            <a:avLst/>
          </a:prstGeom>
          <a:noFill/>
          <a:ln w="9525">
            <a:solidFill>
              <a:schemeClr val="tx2"/>
            </a:solidFill>
            <a:miter lim="800000"/>
            <a:headEnd/>
            <a:tailEnd/>
          </a:ln>
        </p:spPr>
      </p:pic>
      <p:pic>
        <p:nvPicPr>
          <p:cNvPr id="64516" name="Image 5" descr="Capture d’écran 2014-08-25 à 14.44.43.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56076" y="3176972"/>
            <a:ext cx="3744416" cy="3240360"/>
          </a:xfrm>
          <a:prstGeom prst="rect">
            <a:avLst/>
          </a:prstGeom>
          <a:noFill/>
          <a:ln w="9525">
            <a:solidFill>
              <a:schemeClr val="tx2"/>
            </a:solidFill>
            <a:miter lim="800000"/>
            <a:headEnd/>
            <a:tailEnd/>
          </a:ln>
        </p:spPr>
      </p:pic>
      <p:pic>
        <p:nvPicPr>
          <p:cNvPr id="64517" name="Image 2" descr="Capture d’écran 2014-08-25 à 15.05.56.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56076" y="692696"/>
            <a:ext cx="3711279" cy="2408709"/>
          </a:xfrm>
          <a:prstGeom prst="rect">
            <a:avLst/>
          </a:prstGeom>
          <a:noFill/>
          <a:ln w="9525">
            <a:solidFill>
              <a:schemeClr val="tx2"/>
            </a:solidFill>
            <a:miter lim="800000"/>
            <a:headEnd/>
            <a:tailEnd/>
          </a:ln>
        </p:spPr>
      </p:pic>
      <p:sp>
        <p:nvSpPr>
          <p:cNvPr id="2" name="Rectangle 1"/>
          <p:cNvSpPr/>
          <p:nvPr/>
        </p:nvSpPr>
        <p:spPr bwMode="auto">
          <a:xfrm>
            <a:off x="0" y="2096852"/>
            <a:ext cx="2015716" cy="432048"/>
          </a:xfrm>
          <a:prstGeom prst="rect">
            <a:avLst/>
          </a:prstGeom>
          <a:noFill/>
          <a:ln w="38100" cap="flat" cmpd="sng" algn="ctr">
            <a:solidFill>
              <a:srgbClr val="A70524"/>
            </a:solidFill>
            <a:prstDash val="solid"/>
            <a:round/>
            <a:headEnd type="none" w="lg" len="lg"/>
            <a:tailEnd type="none" w="med" len="med"/>
          </a:ln>
          <a:effectLst/>
        </p:spPr>
        <p:txBody>
          <a:bodyPr vert="horz" wrap="none" lIns="92075" tIns="46038" rIns="92075" bIns="46038" numCol="1" rtlCol="0" anchor="ctr" anchorCtr="0" compatLnSpc="1">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8"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10"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25605" name="Rectangle 2"/>
          <p:cNvSpPr>
            <a:spLocks noGrp="1" noChangeArrowheads="1"/>
          </p:cNvSpPr>
          <p:nvPr>
            <p:ph type="title"/>
          </p:nvPr>
        </p:nvSpPr>
        <p:spPr/>
        <p:txBody>
          <a:bodyPr/>
          <a:lstStyle/>
          <a:p>
            <a:r>
              <a:rPr lang="en-US" sz="2800" dirty="0">
                <a:latin typeface="Arial" panose="020B0604020202020204" pitchFamily="34" charset="0"/>
              </a:rPr>
              <a:t>Compilation JAVA </a:t>
            </a:r>
            <a:endParaRPr lang="en-US" sz="2800" dirty="0">
              <a:latin typeface="Arial" panose="020B0604020202020204" pitchFamily="34" charset="0"/>
            </a:endParaRPr>
          </a:p>
        </p:txBody>
      </p:sp>
      <p:sp>
        <p:nvSpPr>
          <p:cNvPr id="19" name="Rectangle 3"/>
          <p:cNvSpPr txBox="1">
            <a:spLocks noChangeArrowheads="1"/>
          </p:cNvSpPr>
          <p:nvPr/>
        </p:nvSpPr>
        <p:spPr bwMode="auto">
          <a:xfrm>
            <a:off x="457200" y="908720"/>
            <a:ext cx="8686800"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panose="020B0604020202020204" pitchFamily="34" charset="0"/>
            </a:endParaRPr>
          </a:p>
        </p:txBody>
      </p:sp>
      <p:sp>
        <p:nvSpPr>
          <p:cNvPr id="6" name="Rectangle 3"/>
          <p:cNvSpPr txBox="1">
            <a:spLocks noChangeArrowheads="1"/>
          </p:cNvSpPr>
          <p:nvPr/>
        </p:nvSpPr>
        <p:spPr bwMode="auto">
          <a:xfrm>
            <a:off x="609600" y="872716"/>
            <a:ext cx="8354888"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t>Les fichiers .j</a:t>
            </a:r>
            <a:r>
              <a:rPr lang="fr-FR" b="1" dirty="0"/>
              <a:t>ava</a:t>
            </a:r>
            <a:r>
              <a:rPr lang="fr-FR" dirty="0"/>
              <a:t> contiennent le code qui sera traduit en fichiers </a:t>
            </a:r>
            <a:r>
              <a:rPr lang="fr-FR" b="1" dirty="0"/>
              <a:t>.class </a:t>
            </a:r>
            <a:r>
              <a:rPr lang="fr-FR" dirty="0"/>
              <a:t>par le compilateur </a:t>
            </a:r>
            <a:r>
              <a:rPr lang="fr-FR" b="1" dirty="0" err="1"/>
              <a:t>javac</a:t>
            </a:r>
            <a:r>
              <a:rPr lang="fr-FR" dirty="0"/>
              <a:t>.</a:t>
            </a:r>
            <a:endParaRPr lang="en-GB" dirty="0"/>
          </a:p>
          <a:p>
            <a:pPr lvl="1"/>
            <a:r>
              <a:rPr lang="fr-FR" dirty="0"/>
              <a:t>Le programme est divisé en classes</a:t>
            </a:r>
            <a:endParaRPr lang="fr-FR" dirty="0"/>
          </a:p>
          <a:p>
            <a:pPr marL="0" indent="0">
              <a:buNone/>
            </a:pPr>
            <a:endParaRPr lang="en-GB" dirty="0"/>
          </a:p>
          <a:p>
            <a:r>
              <a:rPr lang="fr-FR" dirty="0"/>
              <a:t>Les fichiers .class sont constitués du bytecode java : un langage de bas niveau plus proche du langage machine (mais pas un langage machine</a:t>
            </a:r>
            <a:r>
              <a:rPr lang="fr-FR" dirty="0" smtClean="0"/>
              <a:t>)</a:t>
            </a:r>
            <a:endParaRPr lang="fr-FR" dirty="0" smtClean="0"/>
          </a:p>
          <a:p>
            <a:pPr marL="0" indent="0">
              <a:buNone/>
            </a:pPr>
            <a:endParaRPr lang="en-GB" dirty="0"/>
          </a:p>
          <a:p>
            <a:r>
              <a:rPr lang="fr-FR" dirty="0"/>
              <a:t>Le bytecode peut être exécuté dans n'importe quelle machine équipée d'une machine virtuelle Java. La JVM interprète le bytecode en langage machine (portable, mais lent).</a:t>
            </a:r>
            <a:endParaRPr lang="en-GB" dirty="0" smtClean="0"/>
          </a:p>
          <a:p>
            <a:pPr lvl="1"/>
            <a:r>
              <a:rPr lang="fr-FR" dirty="0"/>
              <a:t>Le lien entre les classes est effectué pendant l'exécution (lien dynamique).</a:t>
            </a:r>
            <a:endParaRPr lang="en-GB" dirty="0"/>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latin typeface="Arial" panose="020B0604020202020204" pitchFamily="34" charset="0"/>
              </a:rPr>
              <a:t>Compilation JAVA</a:t>
            </a:r>
            <a:endParaRPr lang="en-US" sz="2800" b="0" dirty="0"/>
          </a:p>
        </p:txBody>
      </p:sp>
      <p:sp>
        <p:nvSpPr>
          <p:cNvPr id="6" name="CustomShape 2"/>
          <p:cNvSpPr/>
          <p:nvPr/>
        </p:nvSpPr>
        <p:spPr>
          <a:xfrm>
            <a:off x="3560252" y="1092240"/>
            <a:ext cx="2905200" cy="755640"/>
          </a:xfrm>
          <a:prstGeom prst="flowChartPunchedCard">
            <a:avLst/>
          </a:prstGeom>
          <a:solidFill>
            <a:srgbClr val="F8F8F8"/>
          </a:solidFill>
          <a:ln w="9360">
            <a:solidFill>
              <a:srgbClr val="040001"/>
            </a:solidFill>
            <a:miter/>
          </a:ln>
        </p:spPr>
        <p:txBody>
          <a:bodyPr wrap="none" lIns="103680" tIns="51840" rIns="103680" bIns="51840" anchor="ctr"/>
          <a:lstStyle/>
          <a:p>
            <a:pPr algn="ctr">
              <a:lnSpc>
                <a:spcPct val="100000"/>
              </a:lnSpc>
            </a:pPr>
            <a:r>
              <a:rPr lang="fr-FR" sz="2000" dirty="0" smtClean="0">
                <a:solidFill>
                  <a:srgbClr val="040001"/>
                </a:solidFill>
                <a:latin typeface="Arial" panose="020B0604020202020204"/>
              </a:rPr>
              <a:t>bibliothèques </a:t>
            </a:r>
            <a:r>
              <a:rPr lang="fr-FR" sz="2000" dirty="0">
                <a:solidFill>
                  <a:srgbClr val="040001"/>
                </a:solidFill>
                <a:latin typeface="Arial" panose="020B0604020202020204"/>
              </a:rPr>
              <a:t>(</a:t>
            </a:r>
            <a:r>
              <a:rPr lang="fr-FR" sz="2000" b="1" dirty="0">
                <a:solidFill>
                  <a:srgbClr val="040001"/>
                </a:solidFill>
                <a:latin typeface="Arial" panose="020B0604020202020204"/>
              </a:rPr>
              <a:t>.</a:t>
            </a:r>
            <a:r>
              <a:rPr lang="fr-FR" sz="2000" dirty="0">
                <a:solidFill>
                  <a:srgbClr val="040001"/>
                </a:solidFill>
                <a:latin typeface="Arial" panose="020B0604020202020204"/>
              </a:rPr>
              <a:t>jar)</a:t>
            </a:r>
            <a:endParaRPr dirty="0"/>
          </a:p>
        </p:txBody>
      </p:sp>
      <p:sp>
        <p:nvSpPr>
          <p:cNvPr id="7" name="CustomShape 3"/>
          <p:cNvSpPr/>
          <p:nvPr/>
        </p:nvSpPr>
        <p:spPr>
          <a:xfrm>
            <a:off x="4041212" y="3424320"/>
            <a:ext cx="1940040" cy="2022480"/>
          </a:xfrm>
          <a:prstGeom prst="flowChartAlternateProcess">
            <a:avLst/>
          </a:prstGeom>
          <a:solidFill>
            <a:srgbClr val="DDDDDD"/>
          </a:solidFill>
          <a:ln w="28440">
            <a:solidFill>
              <a:srgbClr val="040001"/>
            </a:solidFill>
            <a:miter/>
          </a:ln>
        </p:spPr>
        <p:txBody>
          <a:bodyPr wrap="none" lIns="103680" tIns="51840" rIns="103680" bIns="51840" anchor="ctr"/>
          <a:lstStyle/>
          <a:p>
            <a:pPr>
              <a:lnSpc>
                <a:spcPct val="100000"/>
              </a:lnSpc>
            </a:pPr>
            <a:r>
              <a:rPr lang="en-US" sz="2000" dirty="0"/>
              <a:t>JAVA Virtual </a:t>
            </a:r>
            <a:endParaRPr lang="en-US" sz="2000" dirty="0"/>
          </a:p>
          <a:p>
            <a:pPr>
              <a:lnSpc>
                <a:spcPct val="100000"/>
              </a:lnSpc>
            </a:pPr>
            <a:r>
              <a:rPr lang="en-US" sz="2000" dirty="0"/>
              <a:t>Machine</a:t>
            </a:r>
            <a:endParaRPr sz="2000" dirty="0"/>
          </a:p>
        </p:txBody>
      </p:sp>
      <p:sp>
        <p:nvSpPr>
          <p:cNvPr id="8" name="CustomShape 4"/>
          <p:cNvSpPr/>
          <p:nvPr/>
        </p:nvSpPr>
        <p:spPr>
          <a:xfrm>
            <a:off x="6588224" y="4175280"/>
            <a:ext cx="2498760" cy="715680"/>
          </a:xfrm>
          <a:prstGeom prst="flowChartTerminator">
            <a:avLst/>
          </a:prstGeom>
          <a:solidFill>
            <a:srgbClr val="FFFF99"/>
          </a:solidFill>
          <a:ln w="9360">
            <a:solidFill>
              <a:srgbClr val="040001"/>
            </a:solidFill>
            <a:miter/>
          </a:ln>
        </p:spPr>
        <p:txBody>
          <a:bodyPr wrap="none" lIns="103680" tIns="51840" rIns="103680" bIns="51840" anchor="ctr"/>
          <a:lstStyle/>
          <a:p>
            <a:pPr algn="ctr">
              <a:lnSpc>
                <a:spcPct val="100000"/>
              </a:lnSpc>
            </a:pPr>
            <a:r>
              <a:rPr lang="fr-FR" sz="2000" dirty="0" smtClean="0">
                <a:solidFill>
                  <a:srgbClr val="040001"/>
                </a:solidFill>
                <a:latin typeface="Arial" panose="020B0604020202020204"/>
              </a:rPr>
              <a:t>Exécution</a:t>
            </a:r>
            <a:endParaRPr dirty="0"/>
          </a:p>
        </p:txBody>
      </p:sp>
      <p:sp>
        <p:nvSpPr>
          <p:cNvPr id="9" name="CustomShape 5"/>
          <p:cNvSpPr/>
          <p:nvPr/>
        </p:nvSpPr>
        <p:spPr>
          <a:xfrm>
            <a:off x="248612" y="1092240"/>
            <a:ext cx="2833920" cy="477720"/>
          </a:xfrm>
          <a:prstGeom prst="flowChartPunchedCard">
            <a:avLst/>
          </a:prstGeom>
          <a:solidFill>
            <a:srgbClr val="F8F8F8"/>
          </a:solidFill>
          <a:ln w="9360">
            <a:solidFill>
              <a:srgbClr val="040001"/>
            </a:solidFill>
            <a:miter/>
          </a:ln>
        </p:spPr>
        <p:txBody>
          <a:bodyPr wrap="none" lIns="103680" tIns="51840" rIns="103680" bIns="51840" anchor="ctr"/>
          <a:lstStyle/>
          <a:p>
            <a:pPr algn="ctr">
              <a:lnSpc>
                <a:spcPct val="100000"/>
              </a:lnSpc>
            </a:pPr>
            <a:r>
              <a:rPr lang="fr-FR" sz="2000" dirty="0">
                <a:solidFill>
                  <a:srgbClr val="040001"/>
                </a:solidFill>
                <a:latin typeface="Arial" panose="020B0604020202020204"/>
              </a:rPr>
              <a:t>source Java</a:t>
            </a:r>
            <a:endParaRPr dirty="0"/>
          </a:p>
        </p:txBody>
      </p:sp>
      <p:sp>
        <p:nvSpPr>
          <p:cNvPr id="10" name="CustomShape 6"/>
          <p:cNvSpPr/>
          <p:nvPr/>
        </p:nvSpPr>
        <p:spPr>
          <a:xfrm>
            <a:off x="210452" y="2873520"/>
            <a:ext cx="2833920" cy="772920"/>
          </a:xfrm>
          <a:prstGeom prst="flowChartPunchedCard">
            <a:avLst/>
          </a:prstGeom>
          <a:solidFill>
            <a:srgbClr val="F8F8F8"/>
          </a:solidFill>
          <a:ln w="9360">
            <a:solidFill>
              <a:srgbClr val="040001"/>
            </a:solidFill>
            <a:miter/>
          </a:ln>
        </p:spPr>
        <p:txBody>
          <a:bodyPr wrap="none" lIns="103680" tIns="51840" rIns="103680" bIns="51840" anchor="ctr"/>
          <a:lstStyle/>
          <a:p>
            <a:pPr algn="ctr">
              <a:lnSpc>
                <a:spcPct val="100000"/>
              </a:lnSpc>
            </a:pPr>
            <a:r>
              <a:rPr lang="fr-FR" sz="2000" dirty="0" smtClean="0">
                <a:solidFill>
                  <a:srgbClr val="040001"/>
                </a:solidFill>
                <a:latin typeface="Arial" panose="020B0604020202020204"/>
              </a:rPr>
              <a:t>Fichier </a:t>
            </a:r>
            <a:r>
              <a:rPr lang="fr-FR" sz="2000" b="1" dirty="0">
                <a:solidFill>
                  <a:srgbClr val="040001"/>
                </a:solidFill>
                <a:latin typeface="Arial" panose="020B0604020202020204"/>
              </a:rPr>
              <a:t>.</a:t>
            </a:r>
            <a:r>
              <a:rPr lang="fr-FR" sz="2000" dirty="0">
                <a:solidFill>
                  <a:srgbClr val="040001"/>
                </a:solidFill>
                <a:latin typeface="Arial" panose="020B0604020202020204"/>
              </a:rPr>
              <a:t>class</a:t>
            </a:r>
            <a:endParaRPr dirty="0"/>
          </a:p>
          <a:p>
            <a:pPr algn="ctr">
              <a:lnSpc>
                <a:spcPct val="100000"/>
              </a:lnSpc>
            </a:pPr>
            <a:r>
              <a:rPr lang="fr-FR" sz="2000" dirty="0">
                <a:solidFill>
                  <a:srgbClr val="040001"/>
                </a:solidFill>
                <a:latin typeface="Arial" panose="020B0604020202020204"/>
              </a:rPr>
              <a:t>(</a:t>
            </a:r>
            <a:r>
              <a:rPr lang="fr-FR" sz="2000" i="1" dirty="0">
                <a:solidFill>
                  <a:srgbClr val="040001"/>
                </a:solidFill>
                <a:latin typeface="Arial" panose="020B0604020202020204"/>
              </a:rPr>
              <a:t>bytecode)</a:t>
            </a:r>
            <a:endParaRPr dirty="0"/>
          </a:p>
        </p:txBody>
      </p:sp>
      <p:sp>
        <p:nvSpPr>
          <p:cNvPr id="11" name="CustomShape 7"/>
          <p:cNvSpPr/>
          <p:nvPr/>
        </p:nvSpPr>
        <p:spPr>
          <a:xfrm>
            <a:off x="694652" y="1905120"/>
            <a:ext cx="2005140" cy="555480"/>
          </a:xfrm>
          <a:prstGeom prst="flowChartAlternateProcess">
            <a:avLst/>
          </a:prstGeom>
          <a:solidFill>
            <a:srgbClr val="DDDDDD"/>
          </a:solidFill>
          <a:ln w="19080">
            <a:solidFill>
              <a:srgbClr val="040001"/>
            </a:solidFill>
            <a:miter/>
          </a:ln>
        </p:spPr>
        <p:txBody>
          <a:bodyPr wrap="none" lIns="103680" tIns="51840" rIns="103680" bIns="51840" anchor="ctr"/>
          <a:lstStyle/>
          <a:p>
            <a:pPr algn="ctr">
              <a:lnSpc>
                <a:spcPct val="100000"/>
              </a:lnSpc>
            </a:pPr>
            <a:r>
              <a:rPr lang="fr-FR" sz="2000" dirty="0" smtClean="0">
                <a:solidFill>
                  <a:srgbClr val="040001"/>
                </a:solidFill>
                <a:latin typeface="Arial" panose="020B0604020202020204"/>
              </a:rPr>
              <a:t>Compilateur Java</a:t>
            </a:r>
            <a:endParaRPr dirty="0"/>
          </a:p>
        </p:txBody>
      </p:sp>
      <p:cxnSp>
        <p:nvCxnSpPr>
          <p:cNvPr id="12" name="Line 8"/>
          <p:cNvCxnSpPr/>
          <p:nvPr/>
        </p:nvCxnSpPr>
        <p:spPr>
          <a:xfrm flipH="1">
            <a:off x="1627772" y="1642680"/>
            <a:ext cx="5760" cy="253080"/>
          </a:xfrm>
          <a:prstGeom prst="straightConnector1">
            <a:avLst/>
          </a:prstGeom>
          <a:ln w="12600">
            <a:solidFill>
              <a:srgbClr val="040001"/>
            </a:solidFill>
            <a:miter/>
            <a:tailEnd type="triangle" w="med" len="med"/>
          </a:ln>
        </p:spPr>
      </p:cxnSp>
      <p:cxnSp>
        <p:nvCxnSpPr>
          <p:cNvPr id="13" name="Line 9"/>
          <p:cNvCxnSpPr>
            <a:stCxn id="11" idx="2"/>
          </p:cNvCxnSpPr>
          <p:nvPr/>
        </p:nvCxnSpPr>
        <p:spPr>
          <a:xfrm flipH="1">
            <a:off x="1623092" y="2460600"/>
            <a:ext cx="74130" cy="435600"/>
          </a:xfrm>
          <a:prstGeom prst="straightConnector1">
            <a:avLst/>
          </a:prstGeom>
          <a:ln w="12600">
            <a:solidFill>
              <a:srgbClr val="040001"/>
            </a:solidFill>
            <a:miter/>
            <a:tailEnd type="triangle" w="med" len="med"/>
          </a:ln>
        </p:spPr>
      </p:cxnSp>
      <p:cxnSp>
        <p:nvCxnSpPr>
          <p:cNvPr id="14" name="Line 10"/>
          <p:cNvCxnSpPr>
            <a:stCxn id="10" idx="3"/>
            <a:endCxn id="7" idx="1"/>
          </p:cNvCxnSpPr>
          <p:nvPr/>
        </p:nvCxnSpPr>
        <p:spPr>
          <a:xfrm>
            <a:off x="3044372" y="3260160"/>
            <a:ext cx="997200" cy="1175760"/>
          </a:xfrm>
          <a:prstGeom prst="straightConnector1">
            <a:avLst/>
          </a:prstGeom>
          <a:ln w="12600">
            <a:solidFill>
              <a:srgbClr val="040001"/>
            </a:solidFill>
            <a:miter/>
            <a:tailEnd type="triangle" w="med" len="med"/>
          </a:ln>
        </p:spPr>
      </p:cxnSp>
      <p:cxnSp>
        <p:nvCxnSpPr>
          <p:cNvPr id="15" name="Line 11"/>
          <p:cNvCxnSpPr>
            <a:endCxn id="7" idx="1"/>
          </p:cNvCxnSpPr>
          <p:nvPr/>
        </p:nvCxnSpPr>
        <p:spPr>
          <a:xfrm>
            <a:off x="3075692" y="4089240"/>
            <a:ext cx="965880" cy="346680"/>
          </a:xfrm>
          <a:prstGeom prst="straightConnector1">
            <a:avLst/>
          </a:prstGeom>
          <a:ln w="12600">
            <a:solidFill>
              <a:srgbClr val="040001"/>
            </a:solidFill>
            <a:miter/>
            <a:tailEnd type="triangle" w="med" len="med"/>
          </a:ln>
        </p:spPr>
      </p:cxnSp>
      <p:cxnSp>
        <p:nvCxnSpPr>
          <p:cNvPr id="16" name="Line 12"/>
          <p:cNvCxnSpPr>
            <a:stCxn id="6" idx="2"/>
            <a:endCxn id="7" idx="0"/>
          </p:cNvCxnSpPr>
          <p:nvPr/>
        </p:nvCxnSpPr>
        <p:spPr>
          <a:xfrm flipH="1">
            <a:off x="5011412" y="1847880"/>
            <a:ext cx="1800" cy="1576800"/>
          </a:xfrm>
          <a:prstGeom prst="straightConnector1">
            <a:avLst/>
          </a:prstGeom>
          <a:ln w="12600">
            <a:solidFill>
              <a:srgbClr val="040001"/>
            </a:solidFill>
            <a:miter/>
            <a:tailEnd type="triangle" w="med" len="med"/>
          </a:ln>
        </p:spPr>
      </p:cxnSp>
      <p:cxnSp>
        <p:nvCxnSpPr>
          <p:cNvPr id="17" name="Line 13"/>
          <p:cNvCxnSpPr/>
          <p:nvPr/>
        </p:nvCxnSpPr>
        <p:spPr>
          <a:xfrm>
            <a:off x="5976212" y="4481280"/>
            <a:ext cx="624600" cy="5400"/>
          </a:xfrm>
          <a:prstGeom prst="straightConnector1">
            <a:avLst/>
          </a:prstGeom>
          <a:ln w="12600">
            <a:solidFill>
              <a:srgbClr val="040001"/>
            </a:solidFill>
            <a:miter/>
            <a:tailEnd type="triangle" w="med" len="med"/>
          </a:ln>
        </p:spPr>
      </p:cxnSp>
      <p:sp>
        <p:nvSpPr>
          <p:cNvPr id="18" name="CustomShape 14"/>
          <p:cNvSpPr/>
          <p:nvPr/>
        </p:nvSpPr>
        <p:spPr>
          <a:xfrm>
            <a:off x="-508" y="1743120"/>
            <a:ext cx="3352680" cy="885960"/>
          </a:xfrm>
          <a:prstGeom prst="rect">
            <a:avLst/>
          </a:prstGeom>
          <a:ln w="6480">
            <a:solidFill>
              <a:srgbClr val="000208"/>
            </a:solidFill>
            <a:custDash>
              <a:ds d="72000" sp="54000"/>
            </a:custDash>
            <a:miter/>
          </a:ln>
        </p:spPr>
      </p:sp>
      <p:sp>
        <p:nvSpPr>
          <p:cNvPr id="19" name="CustomShape 15"/>
          <p:cNvSpPr/>
          <p:nvPr/>
        </p:nvSpPr>
        <p:spPr>
          <a:xfrm>
            <a:off x="228092" y="3929040"/>
            <a:ext cx="2833560" cy="773280"/>
          </a:xfrm>
          <a:prstGeom prst="flowChartPunchedCard">
            <a:avLst/>
          </a:prstGeom>
          <a:solidFill>
            <a:srgbClr val="F8F8F8"/>
          </a:solidFill>
          <a:ln w="9360">
            <a:solidFill>
              <a:srgbClr val="040001"/>
            </a:solidFill>
            <a:miter/>
          </a:ln>
        </p:spPr>
        <p:txBody>
          <a:bodyPr wrap="none" lIns="103680" tIns="51840" rIns="103680" bIns="51840" anchor="ctr"/>
          <a:lstStyle/>
          <a:p>
            <a:pPr algn="ctr">
              <a:lnSpc>
                <a:spcPct val="100000"/>
              </a:lnSpc>
            </a:pPr>
            <a:r>
              <a:rPr lang="fr-FR" sz="2000" dirty="0" smtClean="0">
                <a:solidFill>
                  <a:srgbClr val="040001"/>
                </a:solidFill>
                <a:latin typeface="Arial" panose="020B0604020202020204"/>
              </a:rPr>
              <a:t>Fichier </a:t>
            </a:r>
            <a:r>
              <a:rPr lang="fr-FR" sz="2000" b="1" dirty="0">
                <a:solidFill>
                  <a:srgbClr val="040001"/>
                </a:solidFill>
                <a:latin typeface="Arial" panose="020B0604020202020204"/>
              </a:rPr>
              <a:t>.</a:t>
            </a:r>
            <a:r>
              <a:rPr lang="fr-FR" sz="2000" dirty="0">
                <a:solidFill>
                  <a:srgbClr val="040001"/>
                </a:solidFill>
                <a:latin typeface="Arial" panose="020B0604020202020204"/>
              </a:rPr>
              <a:t>class</a:t>
            </a:r>
            <a:endParaRPr dirty="0"/>
          </a:p>
          <a:p>
            <a:pPr algn="ctr">
              <a:lnSpc>
                <a:spcPct val="100000"/>
              </a:lnSpc>
            </a:pPr>
            <a:r>
              <a:rPr lang="fr-FR" sz="2000" dirty="0">
                <a:solidFill>
                  <a:srgbClr val="040001"/>
                </a:solidFill>
                <a:latin typeface="Arial" panose="020B0604020202020204"/>
              </a:rPr>
              <a:t>(</a:t>
            </a:r>
            <a:r>
              <a:rPr lang="fr-FR" sz="2000" i="1" dirty="0">
                <a:solidFill>
                  <a:srgbClr val="040001"/>
                </a:solidFill>
                <a:latin typeface="Arial" panose="020B0604020202020204"/>
              </a:rPr>
              <a:t>bytecode)</a:t>
            </a:r>
            <a:endParaRPr dirty="0"/>
          </a:p>
        </p:txBody>
      </p:sp>
      <p:sp>
        <p:nvSpPr>
          <p:cNvPr id="20" name="CustomShape 16"/>
          <p:cNvSpPr/>
          <p:nvPr/>
        </p:nvSpPr>
        <p:spPr>
          <a:xfrm>
            <a:off x="255092" y="4861080"/>
            <a:ext cx="2833560" cy="772920"/>
          </a:xfrm>
          <a:prstGeom prst="flowChartPunchedCard">
            <a:avLst/>
          </a:prstGeom>
          <a:solidFill>
            <a:srgbClr val="F8F8F8"/>
          </a:solidFill>
          <a:ln w="9360">
            <a:solidFill>
              <a:srgbClr val="040001"/>
            </a:solidFill>
            <a:miter/>
          </a:ln>
        </p:spPr>
        <p:txBody>
          <a:bodyPr wrap="none" lIns="103680" tIns="51840" rIns="103680" bIns="51840" anchor="ctr"/>
          <a:lstStyle/>
          <a:p>
            <a:pPr algn="ctr">
              <a:lnSpc>
                <a:spcPct val="100000"/>
              </a:lnSpc>
            </a:pPr>
            <a:r>
              <a:rPr lang="fr-FR" sz="2000" dirty="0" smtClean="0">
                <a:solidFill>
                  <a:srgbClr val="040001"/>
                </a:solidFill>
                <a:latin typeface="Arial" panose="020B0604020202020204"/>
              </a:rPr>
              <a:t>Fichier</a:t>
            </a:r>
            <a:r>
              <a:rPr lang="fr-FR" sz="2000" b="1" dirty="0" smtClean="0">
                <a:solidFill>
                  <a:srgbClr val="040001"/>
                </a:solidFill>
                <a:latin typeface="Arial" panose="020B0604020202020204"/>
              </a:rPr>
              <a:t> .</a:t>
            </a:r>
            <a:r>
              <a:rPr lang="fr-FR" sz="2000" dirty="0" smtClean="0">
                <a:solidFill>
                  <a:srgbClr val="040001"/>
                </a:solidFill>
                <a:latin typeface="Arial" panose="020B0604020202020204"/>
              </a:rPr>
              <a:t>class</a:t>
            </a:r>
            <a:endParaRPr dirty="0"/>
          </a:p>
          <a:p>
            <a:pPr algn="ctr">
              <a:lnSpc>
                <a:spcPct val="100000"/>
              </a:lnSpc>
            </a:pPr>
            <a:r>
              <a:rPr lang="fr-FR" sz="2000" dirty="0">
                <a:solidFill>
                  <a:srgbClr val="040001"/>
                </a:solidFill>
                <a:latin typeface="Arial" panose="020B0604020202020204"/>
              </a:rPr>
              <a:t>(</a:t>
            </a:r>
            <a:r>
              <a:rPr lang="fr-FR" sz="2000" i="1" dirty="0" smtClean="0">
                <a:solidFill>
                  <a:srgbClr val="040001"/>
                </a:solidFill>
                <a:latin typeface="Arial" panose="020B0604020202020204"/>
              </a:rPr>
              <a:t>bytecode</a:t>
            </a:r>
            <a:r>
              <a:rPr lang="fr-FR" sz="2000" i="1" dirty="0">
                <a:solidFill>
                  <a:srgbClr val="040001"/>
                </a:solidFill>
                <a:latin typeface="Arial" panose="020B0604020202020204"/>
              </a:rPr>
              <a:t>)</a:t>
            </a:r>
            <a:endParaRPr dirty="0"/>
          </a:p>
        </p:txBody>
      </p:sp>
      <p:cxnSp>
        <p:nvCxnSpPr>
          <p:cNvPr id="21" name="Line 17"/>
          <p:cNvCxnSpPr>
            <a:endCxn id="7" idx="1"/>
          </p:cNvCxnSpPr>
          <p:nvPr/>
        </p:nvCxnSpPr>
        <p:spPr>
          <a:xfrm flipV="1">
            <a:off x="3074252" y="4435560"/>
            <a:ext cx="967320" cy="597240"/>
          </a:xfrm>
          <a:prstGeom prst="straightConnector1">
            <a:avLst/>
          </a:prstGeom>
          <a:ln w="12600">
            <a:solidFill>
              <a:srgbClr val="040001"/>
            </a:solidFill>
            <a:miter/>
            <a:tailEnd type="triangle" w="med" len="med"/>
          </a:ln>
        </p:spPr>
      </p:cxnSp>
      <p:sp>
        <p:nvSpPr>
          <p:cNvPr id="22"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24"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25605" name="Rectangle 2"/>
          <p:cNvSpPr>
            <a:spLocks noGrp="1" noChangeArrowheads="1"/>
          </p:cNvSpPr>
          <p:nvPr>
            <p:ph type="title"/>
          </p:nvPr>
        </p:nvSpPr>
        <p:spPr/>
        <p:txBody>
          <a:bodyPr/>
          <a:lstStyle/>
          <a:p>
            <a:r>
              <a:rPr lang="en-US" sz="2800" dirty="0" smtClean="0">
                <a:latin typeface="Arial" panose="020B0604020202020204" pitchFamily="34" charset="0"/>
              </a:rPr>
              <a:t>Compilation C</a:t>
            </a:r>
            <a:endParaRPr lang="en-US" sz="2800" dirty="0">
              <a:latin typeface="Arial" panose="020B0604020202020204" pitchFamily="34" charset="0"/>
            </a:endParaRPr>
          </a:p>
        </p:txBody>
      </p:sp>
      <p:sp>
        <p:nvSpPr>
          <p:cNvPr id="19" name="Rectangle 3"/>
          <p:cNvSpPr txBox="1">
            <a:spLocks noChangeArrowheads="1"/>
          </p:cNvSpPr>
          <p:nvPr/>
        </p:nvSpPr>
        <p:spPr bwMode="auto">
          <a:xfrm>
            <a:off x="457200" y="908720"/>
            <a:ext cx="8686800"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panose="020B0604020202020204" pitchFamily="34" charset="0"/>
            </a:endParaRPr>
          </a:p>
        </p:txBody>
      </p:sp>
      <p:sp>
        <p:nvSpPr>
          <p:cNvPr id="6" name="Rectangle 3"/>
          <p:cNvSpPr txBox="1">
            <a:spLocks noChangeArrowheads="1"/>
          </p:cNvSpPr>
          <p:nvPr/>
        </p:nvSpPr>
        <p:spPr bwMode="auto">
          <a:xfrm>
            <a:off x="287524" y="872716"/>
            <a:ext cx="8856476"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latin typeface="Arial" panose="020B0604020202020204" pitchFamily="34" charset="0"/>
                <a:cs typeface="MS PGothic" panose="020B0600070205080204" charset="-128"/>
              </a:rPr>
              <a:t>L'appel du compilateur C est associé à 3 outils</a:t>
            </a:r>
            <a:endParaRPr lang="en-US" sz="1000" dirty="0">
              <a:latin typeface="Arial" panose="020B0604020202020204" pitchFamily="34" charset="0"/>
            </a:endParaRPr>
          </a:p>
          <a:p>
            <a:r>
              <a:rPr lang="en-US" dirty="0">
                <a:latin typeface="Arial" panose="020B0604020202020204" pitchFamily="34" charset="0"/>
              </a:rPr>
              <a:t>1ère étape : Le pré-processeur</a:t>
            </a:r>
            <a:r>
              <a:rPr lang="en-US" dirty="0" smtClean="0">
                <a:latin typeface="Arial" panose="020B0604020202020204" pitchFamily="34" charset="0"/>
              </a:rPr>
              <a:t> </a:t>
            </a:r>
            <a:r>
              <a:rPr lang="en-US" dirty="0">
                <a:latin typeface="Arial" panose="020B0604020202020204" pitchFamily="34" charset="0"/>
              </a:rPr>
              <a:t>(CPP): </a:t>
            </a:r>
            <a:endParaRPr lang="en-US" dirty="0">
              <a:latin typeface="Arial" panose="020B0604020202020204" pitchFamily="34" charset="0"/>
            </a:endParaRPr>
          </a:p>
          <a:p>
            <a:pPr lvl="1"/>
            <a:r>
              <a:rPr lang="en-US" dirty="0" err="1">
                <a:latin typeface="Arial" panose="020B0604020202020204" pitchFamily="34" charset="0"/>
              </a:rPr>
              <a:t>Gère</a:t>
            </a:r>
            <a:r>
              <a:rPr lang="en-US" dirty="0">
                <a:latin typeface="Arial" panose="020B0604020202020204" pitchFamily="34" charset="0"/>
              </a:rPr>
              <a:t> les directives </a:t>
            </a:r>
            <a:r>
              <a:rPr lang="en-US" b="1" dirty="0">
                <a:latin typeface="Courier"/>
                <a:cs typeface="Courier"/>
              </a:rPr>
              <a:t>(#include, #</a:t>
            </a:r>
            <a:r>
              <a:rPr lang="en-US" b="1" dirty="0" smtClean="0">
                <a:latin typeface="Courier"/>
                <a:cs typeface="Courier"/>
              </a:rPr>
              <a:t>define, </a:t>
            </a:r>
            <a:r>
              <a:rPr lang="en-US" dirty="0" smtClean="0">
                <a:latin typeface="Arial" panose="020B0604020202020204" pitchFamily="34" charset="0"/>
              </a:rPr>
              <a:t>etc</a:t>
            </a:r>
            <a:r>
              <a:rPr lang="en-US" dirty="0">
                <a:latin typeface="Arial" panose="020B0604020202020204" pitchFamily="34" charset="0"/>
              </a:rPr>
              <a:t>.)</a:t>
            </a:r>
            <a:endParaRPr lang="en-US" dirty="0">
              <a:latin typeface="Arial" panose="020B0604020202020204" pitchFamily="34" charset="0"/>
            </a:endParaRPr>
          </a:p>
          <a:p>
            <a:r>
              <a:rPr lang="en-US" dirty="0" smtClean="0">
                <a:latin typeface="Arial" panose="020B0604020202020204" pitchFamily="34" charset="0"/>
              </a:rPr>
              <a:t>2</a:t>
            </a:r>
            <a:r>
              <a:rPr lang="en-US" baseline="30000" dirty="0" smtClean="0">
                <a:latin typeface="Arial" panose="020B0604020202020204" pitchFamily="34" charset="0"/>
              </a:rPr>
              <a:t>ème</a:t>
            </a:r>
            <a:r>
              <a:rPr lang="en-US" dirty="0" smtClean="0">
                <a:latin typeface="Arial" panose="020B0604020202020204" pitchFamily="34" charset="0"/>
              </a:rPr>
              <a:t> étape </a:t>
            </a:r>
            <a:r>
              <a:rPr lang="en-US" dirty="0">
                <a:latin typeface="Arial" panose="020B0604020202020204" pitchFamily="34" charset="0"/>
              </a:rPr>
              <a:t>: Compilateur et assembleur C (GCC): </a:t>
            </a:r>
            <a:endParaRPr lang="en-US" dirty="0">
              <a:latin typeface="Arial" panose="020B0604020202020204" pitchFamily="34" charset="0"/>
            </a:endParaRPr>
          </a:p>
          <a:p>
            <a:pPr lvl="1"/>
            <a:r>
              <a:rPr lang="fr-FR" dirty="0">
                <a:solidFill>
                  <a:srgbClr val="000000"/>
                </a:solidFill>
              </a:rPr>
              <a:t>Le compilateur C effectue une traduction </a:t>
            </a:r>
            <a:r>
              <a:rPr lang="fr-FR" dirty="0" smtClean="0">
                <a:solidFill>
                  <a:srgbClr val="000000"/>
                </a:solidFill>
              </a:rPr>
              <a:t>biunivoque (un-à-un) </a:t>
            </a:r>
            <a:r>
              <a:rPr lang="fr-FR" dirty="0">
                <a:solidFill>
                  <a:srgbClr val="000000"/>
                </a:solidFill>
              </a:rPr>
              <a:t>d'un fichier de compilation (</a:t>
            </a:r>
            <a:r>
              <a:rPr lang="fr-FR" b="1" dirty="0">
                <a:solidFill>
                  <a:srgbClr val="000000"/>
                </a:solidFill>
              </a:rPr>
              <a:t>.c et .h</a:t>
            </a:r>
            <a:r>
              <a:rPr lang="fr-FR" dirty="0">
                <a:solidFill>
                  <a:srgbClr val="000000"/>
                </a:solidFill>
              </a:rPr>
              <a:t>) en un fichier d'assemblage (</a:t>
            </a:r>
            <a:r>
              <a:rPr lang="fr-FR" b="1" dirty="0">
                <a:solidFill>
                  <a:srgbClr val="000000"/>
                </a:solidFill>
              </a:rPr>
              <a:t>.s</a:t>
            </a:r>
            <a:r>
              <a:rPr lang="fr-FR" dirty="0" smtClean="0">
                <a:solidFill>
                  <a:srgbClr val="000000"/>
                </a:solidFill>
              </a:rPr>
              <a:t>)</a:t>
            </a:r>
            <a:r>
              <a:rPr lang="en-US" dirty="0" smtClean="0">
                <a:solidFill>
                  <a:srgbClr val="000000"/>
                </a:solidFill>
              </a:rPr>
              <a:t>. </a:t>
            </a:r>
            <a:endParaRPr lang="en-US" dirty="0" smtClean="0">
              <a:solidFill>
                <a:srgbClr val="000000"/>
              </a:solidFill>
            </a:endParaRPr>
          </a:p>
          <a:p>
            <a:pPr lvl="2"/>
            <a:r>
              <a:rPr lang="fr-FR" sz="2000" dirty="0">
                <a:solidFill>
                  <a:srgbClr val="000000"/>
                </a:solidFill>
              </a:rPr>
              <a:t>Cette étape est cachée par défaut (utilisez </a:t>
            </a:r>
            <a:r>
              <a:rPr lang="fr-FR" sz="2000" b="1" dirty="0">
                <a:solidFill>
                  <a:srgbClr val="000000"/>
                </a:solidFill>
              </a:rPr>
              <a:t>gcc -S </a:t>
            </a:r>
            <a:r>
              <a:rPr lang="fr-FR" sz="2000" dirty="0">
                <a:solidFill>
                  <a:srgbClr val="000000"/>
                </a:solidFill>
              </a:rPr>
              <a:t>pour la voir).</a:t>
            </a:r>
            <a:endParaRPr lang="en-US" sz="2000" dirty="0" smtClean="0">
              <a:solidFill>
                <a:srgbClr val="000000"/>
              </a:solidFill>
            </a:endParaRPr>
          </a:p>
          <a:p>
            <a:pPr lvl="1"/>
            <a:r>
              <a:rPr lang="fr-FR" dirty="0"/>
              <a:t>Ensuite, l'assembleur génère un fichier objet (</a:t>
            </a:r>
            <a:r>
              <a:rPr lang="fr-FR" b="1" dirty="0"/>
              <a:t>.o</a:t>
            </a:r>
            <a:r>
              <a:rPr lang="fr-FR" dirty="0"/>
              <a:t>) avec</a:t>
            </a:r>
            <a:endParaRPr lang="en-US" dirty="0"/>
          </a:p>
          <a:p>
            <a:pPr lvl="2"/>
            <a:r>
              <a:rPr lang="fr-FR" sz="2000" dirty="0"/>
              <a:t>les instructions machine des fonctions définies dans ce fichier </a:t>
            </a:r>
            <a:r>
              <a:rPr lang="fr-FR" sz="2000" b="1" dirty="0"/>
              <a:t>.</a:t>
            </a:r>
            <a:r>
              <a:rPr lang="fr-FR" sz="2000" b="1" dirty="0" smtClean="0"/>
              <a:t>c</a:t>
            </a:r>
            <a:endParaRPr lang="en-US" sz="2000" b="1" dirty="0"/>
          </a:p>
          <a:p>
            <a:pPr lvl="2"/>
            <a:r>
              <a:rPr lang="fr-FR" sz="2000" dirty="0" smtClean="0"/>
              <a:t>informations </a:t>
            </a:r>
            <a:r>
              <a:rPr lang="fr-FR" sz="2000" dirty="0"/>
              <a:t>sur les fonctions </a:t>
            </a:r>
            <a:r>
              <a:rPr lang="fr-FR" sz="2000" b="1" dirty="0"/>
              <a:t>utilisées</a:t>
            </a:r>
            <a:r>
              <a:rPr lang="fr-FR" sz="2000" dirty="0"/>
              <a:t> dans ce fichier .c, mais définies dans un autre </a:t>
            </a:r>
            <a:r>
              <a:rPr lang="fr-FR" sz="2000" dirty="0" smtClean="0"/>
              <a:t>fichier.</a:t>
            </a:r>
            <a:endParaRPr lang="fr-FR" sz="2000" dirty="0"/>
          </a:p>
          <a:p>
            <a:pPr lvl="2"/>
            <a:endParaRPr lang="en-US" dirty="0">
              <a:latin typeface="Arial" panose="020B0604020202020204" pitchFamily="34" charset="0"/>
            </a:endParaRPr>
          </a:p>
          <a:p>
            <a:r>
              <a:rPr lang="en-US" dirty="0" smtClean="0">
                <a:latin typeface="Arial" panose="020B0604020202020204" pitchFamily="34" charset="0"/>
              </a:rPr>
              <a:t>3</a:t>
            </a:r>
            <a:r>
              <a:rPr lang="en-US" baseline="30000" dirty="0" smtClean="0">
                <a:latin typeface="Arial" panose="020B0604020202020204" pitchFamily="34" charset="0"/>
              </a:rPr>
              <a:t>ème</a:t>
            </a:r>
            <a:r>
              <a:rPr lang="en-US" dirty="0" smtClean="0">
                <a:latin typeface="Arial" panose="020B0604020202020204" pitchFamily="34" charset="0"/>
              </a:rPr>
              <a:t> étape : </a:t>
            </a:r>
            <a:r>
              <a:rPr lang="en-US" dirty="0">
                <a:latin typeface="Arial" panose="020B0604020202020204" pitchFamily="34" charset="0"/>
              </a:rPr>
              <a:t>L'éditeur de liens (LD/GCC): </a:t>
            </a:r>
            <a:endParaRPr lang="en-US" dirty="0">
              <a:latin typeface="Arial" panose="020B0604020202020204" pitchFamily="34" charset="0"/>
            </a:endParaRPr>
          </a:p>
          <a:p>
            <a:pPr lvl="1"/>
            <a:r>
              <a:rPr lang="fr-FR" dirty="0">
                <a:latin typeface="Arial" panose="020B0604020202020204" pitchFamily="34" charset="0"/>
              </a:rPr>
              <a:t>Effectue le lien (résout les symboles) entre les différents objets du programme (liaison statique) vers un </a:t>
            </a:r>
            <a:r>
              <a:rPr lang="fr-FR" b="1" dirty="0">
                <a:latin typeface="Arial" panose="020B0604020202020204" pitchFamily="34" charset="0"/>
              </a:rPr>
              <a:t>binaire exécutable</a:t>
            </a:r>
            <a:r>
              <a:rPr lang="fr-FR" dirty="0">
                <a:latin typeface="Arial" panose="020B0604020202020204" pitchFamily="34" charset="0"/>
              </a:rPr>
              <a:t>.</a:t>
            </a:r>
            <a:endParaRPr lang="en-US" sz="800" dirty="0"/>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25605" name="Rectangle 2"/>
          <p:cNvSpPr>
            <a:spLocks noGrp="1" noChangeArrowheads="1"/>
          </p:cNvSpPr>
          <p:nvPr>
            <p:ph type="title"/>
          </p:nvPr>
        </p:nvSpPr>
        <p:spPr/>
        <p:txBody>
          <a:bodyPr/>
          <a:lstStyle/>
          <a:p>
            <a:r>
              <a:rPr lang="en-US" sz="2800" dirty="0" smtClean="0">
                <a:latin typeface="Arial" panose="020B0604020202020204" pitchFamily="34" charset="0"/>
              </a:rPr>
              <a:t>Compilation C</a:t>
            </a:r>
            <a:endParaRPr lang="en-US" sz="2800" dirty="0">
              <a:latin typeface="Arial" panose="020B0604020202020204" pitchFamily="34" charset="0"/>
            </a:endParaRPr>
          </a:p>
        </p:txBody>
      </p:sp>
      <p:sp>
        <p:nvSpPr>
          <p:cNvPr id="19" name="Rectangle 3"/>
          <p:cNvSpPr txBox="1">
            <a:spLocks noChangeArrowheads="1"/>
          </p:cNvSpPr>
          <p:nvPr/>
        </p:nvSpPr>
        <p:spPr bwMode="auto">
          <a:xfrm>
            <a:off x="457200" y="908720"/>
            <a:ext cx="8686800"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panose="020B0604020202020204" pitchFamily="34" charset="0"/>
            </a:endParaRPr>
          </a:p>
        </p:txBody>
      </p:sp>
      <p:sp>
        <p:nvSpPr>
          <p:cNvPr id="6" name="Rectangle 3"/>
          <p:cNvSpPr txBox="1">
            <a:spLocks noChangeArrowheads="1"/>
          </p:cNvSpPr>
          <p:nvPr/>
        </p:nvSpPr>
        <p:spPr bwMode="auto">
          <a:xfrm>
            <a:off x="609600" y="872716"/>
            <a:ext cx="8534400" cy="4932548"/>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solidFill>
                  <a:srgbClr val="000000"/>
                </a:solidFill>
              </a:rPr>
              <a:t>Le binaire généré dépend de </a:t>
            </a:r>
            <a:r>
              <a:rPr lang="en-US" dirty="0" smtClean="0">
                <a:solidFill>
                  <a:srgbClr val="000000"/>
                </a:solidFill>
              </a:rPr>
              <a:t> </a:t>
            </a:r>
            <a:endParaRPr lang="en-US" dirty="0">
              <a:solidFill>
                <a:srgbClr val="000000"/>
              </a:solidFill>
            </a:endParaRPr>
          </a:p>
          <a:p>
            <a:pPr lvl="1"/>
            <a:r>
              <a:rPr lang="en-US" b="1" dirty="0">
                <a:solidFill>
                  <a:srgbClr val="000000"/>
                </a:solidFill>
              </a:rPr>
              <a:t>Architecture/</a:t>
            </a:r>
            <a:r>
              <a:rPr lang="en-US" b="1" dirty="0" err="1">
                <a:solidFill>
                  <a:srgbClr val="000000"/>
                </a:solidFill>
              </a:rPr>
              <a:t>processeur</a:t>
            </a:r>
            <a:endParaRPr lang="en-US" b="1" dirty="0">
              <a:solidFill>
                <a:srgbClr val="000000"/>
              </a:solidFill>
            </a:endParaRPr>
          </a:p>
          <a:p>
            <a:pPr marL="542925" lvl="1" indent="0">
              <a:buNone/>
            </a:pPr>
            <a:r>
              <a:rPr lang="en-US" b="1" dirty="0">
                <a:solidFill>
                  <a:srgbClr val="000000"/>
                </a:solidFill>
              </a:rPr>
              <a:t>		</a:t>
            </a:r>
            <a:r>
              <a:rPr lang="en-US" b="1" dirty="0" smtClean="0">
                <a:solidFill>
                  <a:srgbClr val="000000"/>
                </a:solidFill>
              </a:rPr>
              <a:t>ET</a:t>
            </a:r>
            <a:endParaRPr lang="en-US" b="1" dirty="0">
              <a:solidFill>
                <a:srgbClr val="000000"/>
              </a:solidFill>
            </a:endParaRPr>
          </a:p>
          <a:p>
            <a:pPr lvl="1"/>
            <a:r>
              <a:rPr lang="en-US" b="1" dirty="0" smtClean="0">
                <a:solidFill>
                  <a:srgbClr val="000000"/>
                </a:solidFill>
              </a:rPr>
              <a:t>Système d’exploitation</a:t>
            </a:r>
            <a:endParaRPr lang="en-US" b="1" dirty="0">
              <a:solidFill>
                <a:srgbClr val="000000"/>
              </a:solidFill>
            </a:endParaRPr>
          </a:p>
          <a:p>
            <a:pPr lvl="1"/>
            <a:r>
              <a:rPr lang="en-US" dirty="0">
                <a:sym typeface="Wingdings" panose="05000000000000000000"/>
              </a:rPr>
              <a:t> </a:t>
            </a:r>
            <a:r>
              <a:rPr lang="en-US" dirty="0" smtClean="0"/>
              <a:t>Il n’est pas </a:t>
            </a:r>
            <a:r>
              <a:rPr lang="en-US" dirty="0"/>
              <a:t>portable !</a:t>
            </a:r>
            <a:endParaRPr lang="en-US" dirty="0"/>
          </a:p>
          <a:p>
            <a:endParaRPr lang="en-US" dirty="0">
              <a:solidFill>
                <a:srgbClr val="000000"/>
              </a:solidFill>
            </a:endParaRPr>
          </a:p>
          <a:p>
            <a:r>
              <a:rPr lang="fr-FR" dirty="0" smtClean="0">
                <a:solidFill>
                  <a:srgbClr val="000000"/>
                </a:solidFill>
              </a:rPr>
              <a:t>Il </a:t>
            </a:r>
            <a:r>
              <a:rPr lang="fr-FR" dirty="0">
                <a:solidFill>
                  <a:srgbClr val="000000"/>
                </a:solidFill>
              </a:rPr>
              <a:t>est possible d'utiliser la "compilation croisée</a:t>
            </a:r>
            <a:r>
              <a:rPr lang="fr-FR" dirty="0" smtClean="0">
                <a:solidFill>
                  <a:srgbClr val="000000"/>
                </a:solidFill>
              </a:rPr>
              <a:t>".</a:t>
            </a:r>
            <a:endParaRPr lang="en-US" b="1" dirty="0">
              <a:solidFill>
                <a:srgbClr val="000000"/>
              </a:solidFill>
              <a:latin typeface="Courier"/>
              <a:cs typeface="Courier"/>
            </a:endParaRPr>
          </a:p>
          <a:p>
            <a:pPr lvl="1"/>
            <a:r>
              <a:rPr lang="fr-FR" dirty="0">
                <a:solidFill>
                  <a:srgbClr val="000000"/>
                </a:solidFill>
              </a:rPr>
              <a:t>Utiliser une machine pour créer un binaire pour une autre machine</a:t>
            </a:r>
            <a:endParaRPr lang="en-US" dirty="0">
              <a:solidFill>
                <a:srgbClr val="000000"/>
              </a:solidFill>
            </a:endParaRPr>
          </a:p>
          <a:p>
            <a:pPr lvl="1"/>
            <a:r>
              <a:rPr lang="en-US" dirty="0">
                <a:solidFill>
                  <a:srgbClr val="000000"/>
                </a:solidFill>
              </a:rPr>
              <a:t> </a:t>
            </a:r>
            <a:r>
              <a:rPr lang="en-US" b="1" dirty="0">
                <a:solidFill>
                  <a:srgbClr val="000000"/>
                </a:solidFill>
                <a:latin typeface="Courier"/>
                <a:cs typeface="Courier"/>
              </a:rPr>
              <a:t>–march</a:t>
            </a:r>
            <a:endParaRPr lang="en-US" b="1" dirty="0">
              <a:solidFill>
                <a:srgbClr val="000000"/>
              </a:solidFill>
              <a:latin typeface="Courier"/>
              <a:cs typeface="Courier"/>
            </a:endParaRPr>
          </a:p>
          <a:p>
            <a:pPr lvl="2"/>
            <a:r>
              <a:rPr lang="en-US" sz="2000" b="1" dirty="0">
                <a:solidFill>
                  <a:srgbClr val="000000"/>
                </a:solidFill>
                <a:latin typeface="Courier"/>
                <a:cs typeface="Courier"/>
              </a:rPr>
              <a:t>native</a:t>
            </a:r>
            <a:endParaRPr lang="en-US" sz="2000" b="1" dirty="0">
              <a:solidFill>
                <a:srgbClr val="000000"/>
              </a:solidFill>
              <a:latin typeface="Courier"/>
              <a:cs typeface="Courier"/>
            </a:endParaRPr>
          </a:p>
          <a:p>
            <a:pPr lvl="2"/>
            <a:r>
              <a:rPr lang="en-US" sz="2000" b="1" dirty="0">
                <a:solidFill>
                  <a:srgbClr val="000000"/>
                </a:solidFill>
                <a:latin typeface="Courier"/>
                <a:cs typeface="Courier"/>
              </a:rPr>
              <a:t>i386</a:t>
            </a:r>
            <a:endParaRPr lang="en-US" sz="2000" b="1" dirty="0">
              <a:solidFill>
                <a:srgbClr val="000000"/>
              </a:solidFill>
              <a:latin typeface="Courier"/>
              <a:cs typeface="Courier"/>
            </a:endParaRPr>
          </a:p>
          <a:p>
            <a:pPr lvl="1"/>
            <a:endParaRPr lang="en-US" dirty="0">
              <a:solidFill>
                <a:srgbClr val="000000"/>
              </a:solidFill>
            </a:endParaRPr>
          </a:p>
          <a:p>
            <a:endParaRPr lang="en-US" sz="2400" dirty="0">
              <a:solidFill>
                <a:srgbClr val="000000"/>
              </a:solidFill>
              <a:cs typeface="Courier"/>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25605" name="Rectangle 2"/>
          <p:cNvSpPr>
            <a:spLocks noGrp="1" noChangeArrowheads="1"/>
          </p:cNvSpPr>
          <p:nvPr>
            <p:ph type="title"/>
          </p:nvPr>
        </p:nvSpPr>
        <p:spPr/>
        <p:txBody>
          <a:bodyPr/>
          <a:lstStyle/>
          <a:p>
            <a:r>
              <a:rPr lang="en-US" sz="2800" dirty="0" smtClean="0">
                <a:latin typeface="Arial" panose="020B0604020202020204" pitchFamily="34" charset="0"/>
              </a:rPr>
              <a:t>Compilation C</a:t>
            </a:r>
            <a:endParaRPr lang="en-US" sz="2800" dirty="0">
              <a:latin typeface="Arial" panose="020B0604020202020204" pitchFamily="34" charset="0"/>
            </a:endParaRPr>
          </a:p>
        </p:txBody>
      </p:sp>
      <p:sp>
        <p:nvSpPr>
          <p:cNvPr id="19" name="Rectangle 3"/>
          <p:cNvSpPr txBox="1">
            <a:spLocks noChangeArrowheads="1"/>
          </p:cNvSpPr>
          <p:nvPr/>
        </p:nvSpPr>
        <p:spPr bwMode="auto">
          <a:xfrm>
            <a:off x="457200" y="872716"/>
            <a:ext cx="8686800"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panose="020B0604020202020204" pitchFamily="34" charset="0"/>
            </a:endParaRPr>
          </a:p>
        </p:txBody>
      </p:sp>
      <p:sp>
        <p:nvSpPr>
          <p:cNvPr id="7" name="CustomShape 2"/>
          <p:cNvSpPr/>
          <p:nvPr/>
        </p:nvSpPr>
        <p:spPr>
          <a:xfrm>
            <a:off x="3618932" y="4065196"/>
            <a:ext cx="2746440" cy="477720"/>
          </a:xfrm>
          <a:prstGeom prst="flowChartPunchedCard">
            <a:avLst/>
          </a:prstGeom>
          <a:solidFill>
            <a:srgbClr val="F8F8F8"/>
          </a:solidFill>
          <a:ln w="9360">
            <a:solidFill>
              <a:srgbClr val="040001"/>
            </a:solidFill>
            <a:miter/>
          </a:ln>
        </p:spPr>
        <p:txBody>
          <a:bodyPr wrap="none" lIns="103680" tIns="51840" rIns="103680" bIns="51840" anchor="ctr"/>
          <a:lstStyle/>
          <a:p>
            <a:pPr algn="ctr">
              <a:lnSpc>
                <a:spcPct val="100000"/>
              </a:lnSpc>
            </a:pPr>
            <a:r>
              <a:rPr lang="fr-FR" sz="2000" dirty="0" smtClean="0">
                <a:solidFill>
                  <a:srgbClr val="040001"/>
                </a:solidFill>
                <a:latin typeface="Arial" panose="020B0604020202020204"/>
              </a:rPr>
              <a:t>Fichier Exécutable </a:t>
            </a:r>
            <a:endParaRPr dirty="0"/>
          </a:p>
        </p:txBody>
      </p:sp>
      <p:sp>
        <p:nvSpPr>
          <p:cNvPr id="8" name="CustomShape 3"/>
          <p:cNvSpPr/>
          <p:nvPr/>
        </p:nvSpPr>
        <p:spPr>
          <a:xfrm>
            <a:off x="3599892" y="872716"/>
            <a:ext cx="2765480" cy="755640"/>
          </a:xfrm>
          <a:prstGeom prst="flowChartPunchedCard">
            <a:avLst/>
          </a:prstGeom>
          <a:solidFill>
            <a:srgbClr val="F8F8F8"/>
          </a:solidFill>
          <a:ln w="9360">
            <a:solidFill>
              <a:srgbClr val="040001"/>
            </a:solidFill>
            <a:miter/>
          </a:ln>
        </p:spPr>
        <p:txBody>
          <a:bodyPr wrap="none" lIns="103680" tIns="51840" rIns="103680" bIns="51840" anchor="ctr"/>
          <a:lstStyle/>
          <a:p>
            <a:r>
              <a:rPr lang="fr-FR" sz="2000" dirty="0">
                <a:solidFill>
                  <a:srgbClr val="040001"/>
                </a:solidFill>
                <a:latin typeface="Arial" panose="020B0604020202020204"/>
              </a:rPr>
              <a:t>Bibliothèque </a:t>
            </a:r>
            <a:r>
              <a:rPr lang="fr-FR" sz="2000" dirty="0" smtClean="0">
                <a:solidFill>
                  <a:srgbClr val="040001"/>
                </a:solidFill>
                <a:latin typeface="Arial" panose="020B0604020202020204"/>
              </a:rPr>
              <a:t>dynamique</a:t>
            </a:r>
            <a:endParaRPr lang="fr-FR" sz="2000" dirty="0" smtClean="0">
              <a:solidFill>
                <a:srgbClr val="040001"/>
              </a:solidFill>
              <a:latin typeface="Arial" panose="020B0604020202020204"/>
            </a:endParaRPr>
          </a:p>
          <a:p>
            <a:r>
              <a:rPr lang="fr-FR" sz="2000" dirty="0" smtClean="0">
                <a:solidFill>
                  <a:srgbClr val="040001"/>
                </a:solidFill>
                <a:latin typeface="Arial" panose="020B0604020202020204"/>
              </a:rPr>
              <a:t>(</a:t>
            </a:r>
            <a:r>
              <a:rPr lang="fr-FR" sz="2000" dirty="0">
                <a:solidFill>
                  <a:srgbClr val="040001"/>
                </a:solidFill>
                <a:latin typeface="Arial" panose="020B0604020202020204"/>
              </a:rPr>
              <a:t>ex : .dll, .</a:t>
            </a:r>
            <a:r>
              <a:rPr lang="fr-FR" sz="2000" dirty="0" err="1">
                <a:solidFill>
                  <a:srgbClr val="040001"/>
                </a:solidFill>
                <a:latin typeface="Arial" panose="020B0604020202020204"/>
              </a:rPr>
              <a:t>so</a:t>
            </a:r>
            <a:r>
              <a:rPr lang="fr-FR" sz="2000" dirty="0">
                <a:solidFill>
                  <a:srgbClr val="040001"/>
                </a:solidFill>
                <a:latin typeface="Arial" panose="020B0604020202020204"/>
              </a:rPr>
              <a:t>)</a:t>
            </a:r>
            <a:endParaRPr dirty="0"/>
          </a:p>
        </p:txBody>
      </p:sp>
      <p:sp>
        <p:nvSpPr>
          <p:cNvPr id="9" name="CustomShape 4"/>
          <p:cNvSpPr/>
          <p:nvPr/>
        </p:nvSpPr>
        <p:spPr>
          <a:xfrm>
            <a:off x="863588" y="3487028"/>
            <a:ext cx="1587240" cy="554040"/>
          </a:xfrm>
          <a:prstGeom prst="flowChartAlternateProcess">
            <a:avLst/>
          </a:prstGeom>
          <a:solidFill>
            <a:srgbClr val="DDDDDD"/>
          </a:solidFill>
          <a:ln w="28440">
            <a:solidFill>
              <a:srgbClr val="040001"/>
            </a:solidFill>
            <a:miter/>
          </a:ln>
        </p:spPr>
        <p:txBody>
          <a:bodyPr wrap="none" lIns="103680" tIns="51840" rIns="103680" bIns="51840" anchor="ctr"/>
          <a:lstStyle/>
          <a:p>
            <a:pPr algn="ctr">
              <a:lnSpc>
                <a:spcPct val="100000"/>
              </a:lnSpc>
            </a:pPr>
            <a:r>
              <a:rPr lang="fr-FR" sz="2000" dirty="0" smtClean="0">
                <a:solidFill>
                  <a:srgbClr val="040001"/>
                </a:solidFill>
                <a:latin typeface="Arial" panose="020B0604020202020204"/>
              </a:rPr>
              <a:t>Assembleur</a:t>
            </a:r>
            <a:endParaRPr dirty="0"/>
          </a:p>
        </p:txBody>
      </p:sp>
      <p:sp>
        <p:nvSpPr>
          <p:cNvPr id="10" name="CustomShape 5"/>
          <p:cNvSpPr/>
          <p:nvPr/>
        </p:nvSpPr>
        <p:spPr>
          <a:xfrm>
            <a:off x="4060292" y="5157436"/>
            <a:ext cx="1940040" cy="555480"/>
          </a:xfrm>
          <a:prstGeom prst="flowChartAlternateProcess">
            <a:avLst/>
          </a:prstGeom>
          <a:solidFill>
            <a:srgbClr val="DDDDDD"/>
          </a:solidFill>
          <a:ln w="28440">
            <a:solidFill>
              <a:srgbClr val="040001"/>
            </a:solidFill>
            <a:miter/>
          </a:ln>
        </p:spPr>
        <p:txBody>
          <a:bodyPr wrap="none" lIns="103680" tIns="51840" rIns="103680" bIns="51840" anchor="ctr"/>
          <a:lstStyle/>
          <a:p>
            <a:pPr algn="ctr">
              <a:lnSpc>
                <a:spcPct val="100000"/>
              </a:lnSpc>
            </a:pPr>
            <a:r>
              <a:rPr lang="fr-FR" sz="2000" dirty="0">
                <a:solidFill>
                  <a:srgbClr val="040001"/>
                </a:solidFill>
                <a:latin typeface="Arial" panose="020B0604020202020204"/>
              </a:rPr>
              <a:t>Linker</a:t>
            </a:r>
            <a:endParaRPr dirty="0"/>
          </a:p>
        </p:txBody>
      </p:sp>
      <p:sp>
        <p:nvSpPr>
          <p:cNvPr id="11" name="CustomShape 6"/>
          <p:cNvSpPr/>
          <p:nvPr/>
        </p:nvSpPr>
        <p:spPr>
          <a:xfrm>
            <a:off x="4060292" y="2469676"/>
            <a:ext cx="1852560" cy="554040"/>
          </a:xfrm>
          <a:prstGeom prst="flowChartAlternateProcess">
            <a:avLst/>
          </a:prstGeom>
          <a:solidFill>
            <a:srgbClr val="DDDDDD"/>
          </a:solidFill>
          <a:ln w="28440">
            <a:solidFill>
              <a:srgbClr val="040001"/>
            </a:solidFill>
            <a:miter/>
          </a:ln>
        </p:spPr>
        <p:txBody>
          <a:bodyPr wrap="none" lIns="103680" tIns="51840" rIns="103680" bIns="51840" anchor="ctr"/>
          <a:lstStyle/>
          <a:p>
            <a:pPr algn="ctr">
              <a:lnSpc>
                <a:spcPct val="100000"/>
              </a:lnSpc>
            </a:pPr>
            <a:r>
              <a:rPr lang="fr-FR" sz="2000" dirty="0" smtClean="0">
                <a:solidFill>
                  <a:srgbClr val="040001"/>
                </a:solidFill>
                <a:latin typeface="Arial" panose="020B0604020202020204"/>
              </a:rPr>
              <a:t>Chargeur </a:t>
            </a:r>
            <a:r>
              <a:rPr lang="fr-FR" sz="2000" dirty="0">
                <a:solidFill>
                  <a:srgbClr val="040001"/>
                </a:solidFill>
                <a:latin typeface="Arial" panose="020B0604020202020204"/>
              </a:rPr>
              <a:t>(OS)</a:t>
            </a:r>
            <a:endParaRPr dirty="0"/>
          </a:p>
        </p:txBody>
      </p:sp>
      <p:sp>
        <p:nvSpPr>
          <p:cNvPr id="12" name="CustomShape 7"/>
          <p:cNvSpPr/>
          <p:nvPr/>
        </p:nvSpPr>
        <p:spPr>
          <a:xfrm>
            <a:off x="6237500" y="1988396"/>
            <a:ext cx="2835000" cy="1352101"/>
          </a:xfrm>
          <a:prstGeom prst="flowChartPunchedCard">
            <a:avLst/>
          </a:prstGeom>
          <a:solidFill>
            <a:srgbClr val="F8F8F8"/>
          </a:solidFill>
          <a:ln w="9360">
            <a:solidFill>
              <a:srgbClr val="040001"/>
            </a:solidFill>
            <a:miter/>
          </a:ln>
        </p:spPr>
        <p:txBody>
          <a:bodyPr wrap="none" lIns="103680" tIns="0" rIns="103680" bIns="216360" anchor="ctr"/>
          <a:lstStyle/>
          <a:p>
            <a:r>
              <a:rPr lang="fr-FR" sz="2000" dirty="0">
                <a:solidFill>
                  <a:srgbClr val="040001"/>
                </a:solidFill>
                <a:latin typeface="Arial" panose="020B0604020202020204"/>
              </a:rPr>
              <a:t>Programme en langage </a:t>
            </a:r>
            <a:endParaRPr lang="fr-FR" sz="2000" dirty="0" smtClean="0">
              <a:solidFill>
                <a:srgbClr val="040001"/>
              </a:solidFill>
              <a:latin typeface="Arial" panose="020B0604020202020204"/>
            </a:endParaRPr>
          </a:p>
          <a:p>
            <a:r>
              <a:rPr lang="fr-FR" sz="2000" dirty="0" smtClean="0">
                <a:solidFill>
                  <a:srgbClr val="040001"/>
                </a:solidFill>
                <a:latin typeface="Arial" panose="020B0604020202020204"/>
              </a:rPr>
              <a:t>machine </a:t>
            </a:r>
            <a:endParaRPr lang="fr-FR" sz="2000" dirty="0">
              <a:solidFill>
                <a:srgbClr val="040001"/>
              </a:solidFill>
              <a:latin typeface="Arial" panose="020B0604020202020204"/>
            </a:endParaRPr>
          </a:p>
          <a:p>
            <a:r>
              <a:rPr lang="fr-FR" sz="2000" dirty="0">
                <a:solidFill>
                  <a:srgbClr val="040001"/>
                </a:solidFill>
                <a:latin typeface="Arial" panose="020B0604020202020204"/>
              </a:rPr>
              <a:t>stocké dans la RAM</a:t>
            </a:r>
            <a:endParaRPr dirty="0"/>
          </a:p>
        </p:txBody>
      </p:sp>
      <p:sp>
        <p:nvSpPr>
          <p:cNvPr id="13" name="CustomShape 8"/>
          <p:cNvSpPr/>
          <p:nvPr/>
        </p:nvSpPr>
        <p:spPr>
          <a:xfrm>
            <a:off x="6415340" y="5193196"/>
            <a:ext cx="2498400" cy="716040"/>
          </a:xfrm>
          <a:prstGeom prst="flowChartTerminator">
            <a:avLst/>
          </a:prstGeom>
          <a:solidFill>
            <a:srgbClr val="FFFF99"/>
          </a:solidFill>
          <a:ln w="9360">
            <a:solidFill>
              <a:srgbClr val="040001"/>
            </a:solidFill>
            <a:miter/>
          </a:ln>
        </p:spPr>
        <p:txBody>
          <a:bodyPr wrap="none" lIns="103680" tIns="51840" rIns="103680" bIns="51840" anchor="ctr"/>
          <a:lstStyle/>
          <a:p>
            <a:pPr algn="ctr">
              <a:lnSpc>
                <a:spcPct val="100000"/>
              </a:lnSpc>
            </a:pPr>
            <a:r>
              <a:rPr lang="fr-FR" sz="2000" dirty="0" smtClean="0">
                <a:solidFill>
                  <a:srgbClr val="040001"/>
                </a:solidFill>
                <a:latin typeface="Arial" panose="020B0604020202020204"/>
              </a:rPr>
              <a:t>Exécution</a:t>
            </a:r>
            <a:endParaRPr dirty="0"/>
          </a:p>
        </p:txBody>
      </p:sp>
      <p:sp>
        <p:nvSpPr>
          <p:cNvPr id="14" name="CustomShape 9"/>
          <p:cNvSpPr/>
          <p:nvPr/>
        </p:nvSpPr>
        <p:spPr>
          <a:xfrm>
            <a:off x="229532" y="5913076"/>
            <a:ext cx="2694240" cy="757080"/>
          </a:xfrm>
          <a:prstGeom prst="flowChartPunchedCard">
            <a:avLst/>
          </a:prstGeom>
          <a:solidFill>
            <a:srgbClr val="F8F8F8"/>
          </a:solidFill>
          <a:ln w="9360">
            <a:solidFill>
              <a:srgbClr val="040001"/>
            </a:solidFill>
            <a:miter/>
          </a:ln>
        </p:spPr>
        <p:txBody>
          <a:bodyPr wrap="none" lIns="103680" tIns="51840" rIns="103680" bIns="51840" anchor="ctr"/>
          <a:lstStyle/>
          <a:p>
            <a:r>
              <a:rPr lang="fr-FR" sz="2000" dirty="0">
                <a:solidFill>
                  <a:srgbClr val="040001"/>
                </a:solidFill>
                <a:latin typeface="+mn-lt"/>
              </a:rPr>
              <a:t>Fichier de bibliothèque </a:t>
            </a:r>
            <a:endParaRPr lang="fr-FR" sz="2000" dirty="0" smtClean="0">
              <a:solidFill>
                <a:srgbClr val="040001"/>
              </a:solidFill>
              <a:latin typeface="+mn-lt"/>
            </a:endParaRPr>
          </a:p>
          <a:p>
            <a:r>
              <a:rPr lang="fr-FR" sz="2000" dirty="0" smtClean="0">
                <a:solidFill>
                  <a:srgbClr val="040001"/>
                </a:solidFill>
                <a:latin typeface="+mn-lt"/>
              </a:rPr>
              <a:t>Statique (.</a:t>
            </a:r>
            <a:r>
              <a:rPr lang="fr-FR" sz="2000" b="1" dirty="0">
                <a:solidFill>
                  <a:srgbClr val="040001"/>
                </a:solidFill>
                <a:latin typeface="+mn-lt"/>
              </a:rPr>
              <a:t>a</a:t>
            </a:r>
            <a:r>
              <a:rPr lang="fr-FR" sz="2000" dirty="0">
                <a:solidFill>
                  <a:srgbClr val="040001"/>
                </a:solidFill>
                <a:latin typeface="+mn-lt"/>
              </a:rPr>
              <a:t>)</a:t>
            </a:r>
            <a:endParaRPr sz="2000" dirty="0">
              <a:latin typeface="+mn-lt"/>
            </a:endParaRPr>
          </a:p>
        </p:txBody>
      </p:sp>
      <p:sp>
        <p:nvSpPr>
          <p:cNvPr id="15" name="CustomShape 10"/>
          <p:cNvSpPr/>
          <p:nvPr/>
        </p:nvSpPr>
        <p:spPr>
          <a:xfrm>
            <a:off x="444092" y="5241316"/>
            <a:ext cx="2479680" cy="478080"/>
          </a:xfrm>
          <a:prstGeom prst="flowChartPunchedCard">
            <a:avLst/>
          </a:prstGeom>
          <a:solidFill>
            <a:srgbClr val="F8F8F8"/>
          </a:solidFill>
          <a:ln w="9360">
            <a:solidFill>
              <a:srgbClr val="040001"/>
            </a:solidFill>
            <a:miter/>
          </a:ln>
        </p:spPr>
        <p:txBody>
          <a:bodyPr wrap="none" lIns="103680" tIns="51840" rIns="103680" bIns="51840" anchor="ctr"/>
          <a:lstStyle/>
          <a:p>
            <a:r>
              <a:rPr lang="fr-FR" sz="2000" dirty="0" smtClean="0">
                <a:solidFill>
                  <a:srgbClr val="040001"/>
                </a:solidFill>
                <a:latin typeface="Arial" panose="020B0604020202020204"/>
              </a:rPr>
              <a:t>Fichier </a:t>
            </a:r>
            <a:r>
              <a:rPr lang="fr-FR" sz="2000" dirty="0">
                <a:solidFill>
                  <a:srgbClr val="040001"/>
                </a:solidFill>
                <a:latin typeface="Arial" panose="020B0604020202020204"/>
              </a:rPr>
              <a:t>objet2 (.</a:t>
            </a:r>
            <a:r>
              <a:rPr lang="fr-FR" sz="2000" b="1" dirty="0">
                <a:solidFill>
                  <a:srgbClr val="040001"/>
                </a:solidFill>
                <a:latin typeface="Courier New" panose="02070309020205020404"/>
              </a:rPr>
              <a:t>o</a:t>
            </a:r>
            <a:r>
              <a:rPr lang="fr-FR" sz="2000" dirty="0">
                <a:solidFill>
                  <a:srgbClr val="040001"/>
                </a:solidFill>
                <a:latin typeface="Arial" panose="020B0604020202020204"/>
              </a:rPr>
              <a:t>)</a:t>
            </a:r>
            <a:endParaRPr lang="fr-FR" sz="2000" dirty="0"/>
          </a:p>
        </p:txBody>
      </p:sp>
      <p:sp>
        <p:nvSpPr>
          <p:cNvPr id="16" name="CustomShape 11"/>
          <p:cNvSpPr/>
          <p:nvPr/>
        </p:nvSpPr>
        <p:spPr>
          <a:xfrm>
            <a:off x="444092" y="4569916"/>
            <a:ext cx="2479680" cy="477720"/>
          </a:xfrm>
          <a:prstGeom prst="flowChartPunchedCard">
            <a:avLst/>
          </a:prstGeom>
          <a:solidFill>
            <a:srgbClr val="F8F8F8"/>
          </a:solidFill>
          <a:ln w="9360">
            <a:solidFill>
              <a:srgbClr val="040001"/>
            </a:solidFill>
            <a:miter/>
          </a:ln>
        </p:spPr>
        <p:txBody>
          <a:bodyPr wrap="none" lIns="103680" tIns="51840" rIns="103680" bIns="51840" anchor="ctr"/>
          <a:lstStyle/>
          <a:p>
            <a:pPr algn="ctr">
              <a:lnSpc>
                <a:spcPct val="100000"/>
              </a:lnSpc>
            </a:pPr>
            <a:r>
              <a:rPr lang="fr-FR" sz="2000" dirty="0" smtClean="0">
                <a:solidFill>
                  <a:srgbClr val="040001"/>
                </a:solidFill>
                <a:latin typeface="Arial" panose="020B0604020202020204"/>
              </a:rPr>
              <a:t>Fichier </a:t>
            </a:r>
            <a:r>
              <a:rPr lang="fr-FR" sz="2000" dirty="0">
                <a:solidFill>
                  <a:srgbClr val="040001"/>
                </a:solidFill>
                <a:latin typeface="Arial" panose="020B0604020202020204"/>
              </a:rPr>
              <a:t>objet1 (.</a:t>
            </a:r>
            <a:r>
              <a:rPr lang="fr-FR" sz="2000" b="1" dirty="0">
                <a:solidFill>
                  <a:srgbClr val="040001"/>
                </a:solidFill>
                <a:latin typeface="Courier New" panose="02070309020205020404"/>
              </a:rPr>
              <a:t>o</a:t>
            </a:r>
            <a:r>
              <a:rPr lang="fr-FR" sz="2000" dirty="0">
                <a:solidFill>
                  <a:srgbClr val="040001"/>
                </a:solidFill>
                <a:latin typeface="Arial" panose="020B0604020202020204"/>
              </a:rPr>
              <a:t>)</a:t>
            </a:r>
            <a:endParaRPr dirty="0"/>
          </a:p>
        </p:txBody>
      </p:sp>
      <p:sp>
        <p:nvSpPr>
          <p:cNvPr id="17" name="CustomShape 12"/>
          <p:cNvSpPr/>
          <p:nvPr/>
        </p:nvSpPr>
        <p:spPr>
          <a:xfrm>
            <a:off x="0" y="620688"/>
            <a:ext cx="3531812" cy="828092"/>
          </a:xfrm>
          <a:prstGeom prst="flowChartPunchedCard">
            <a:avLst/>
          </a:prstGeom>
          <a:solidFill>
            <a:srgbClr val="F8F8F8"/>
          </a:solidFill>
          <a:ln w="9360">
            <a:solidFill>
              <a:srgbClr val="040001"/>
            </a:solidFill>
            <a:miter/>
          </a:ln>
        </p:spPr>
        <p:txBody>
          <a:bodyPr wrap="none" lIns="103680" tIns="51840" rIns="103680" bIns="51840" anchor="ctr"/>
          <a:lstStyle/>
          <a:p>
            <a:pPr algn="ctr">
              <a:lnSpc>
                <a:spcPct val="100000"/>
              </a:lnSpc>
            </a:pPr>
            <a:r>
              <a:rPr lang="fr-FR" sz="2000" dirty="0" smtClean="0">
                <a:solidFill>
                  <a:srgbClr val="040001"/>
                </a:solidFill>
                <a:latin typeface="Arial" panose="020B0604020202020204"/>
              </a:rPr>
              <a:t>Utilisateur fichier source C </a:t>
            </a:r>
            <a:r>
              <a:rPr lang="fr-FR" sz="2000" dirty="0">
                <a:solidFill>
                  <a:srgbClr val="040001"/>
                </a:solidFill>
                <a:latin typeface="Arial" panose="020B0604020202020204"/>
              </a:rPr>
              <a:t>(.c) </a:t>
            </a:r>
            <a:endParaRPr lang="fr-FR" sz="2000" dirty="0">
              <a:solidFill>
                <a:srgbClr val="040001"/>
              </a:solidFill>
              <a:latin typeface="Arial" panose="020B0604020202020204"/>
            </a:endParaRPr>
          </a:p>
          <a:p>
            <a:pPr algn="ctr">
              <a:lnSpc>
                <a:spcPct val="100000"/>
              </a:lnSpc>
            </a:pPr>
            <a:r>
              <a:rPr lang="fr-FR" sz="2000" dirty="0">
                <a:solidFill>
                  <a:srgbClr val="040001"/>
                </a:solidFill>
                <a:latin typeface="Arial" panose="020B0604020202020204"/>
              </a:rPr>
              <a:t>+ </a:t>
            </a:r>
            <a:r>
              <a:rPr lang="fr-FR" sz="2000" dirty="0" smtClean="0">
                <a:solidFill>
                  <a:srgbClr val="040001"/>
                </a:solidFill>
                <a:latin typeface="Arial" panose="020B0604020202020204"/>
              </a:rPr>
              <a:t>en-têtes </a:t>
            </a:r>
            <a:r>
              <a:rPr lang="fr-FR" sz="2000" dirty="0">
                <a:solidFill>
                  <a:srgbClr val="040001"/>
                </a:solidFill>
                <a:latin typeface="Arial" panose="020B0604020202020204"/>
              </a:rPr>
              <a:t>(.h)</a:t>
            </a:r>
            <a:endParaRPr dirty="0"/>
          </a:p>
        </p:txBody>
      </p:sp>
      <p:sp>
        <p:nvSpPr>
          <p:cNvPr id="18" name="CustomShape 13"/>
          <p:cNvSpPr/>
          <p:nvPr/>
        </p:nvSpPr>
        <p:spPr>
          <a:xfrm>
            <a:off x="229532" y="2653996"/>
            <a:ext cx="2833920" cy="477720"/>
          </a:xfrm>
          <a:prstGeom prst="flowChartPunchedCard">
            <a:avLst/>
          </a:prstGeom>
          <a:solidFill>
            <a:srgbClr val="F8F8F8"/>
          </a:solidFill>
          <a:ln w="9360">
            <a:solidFill>
              <a:srgbClr val="040001"/>
            </a:solidFill>
            <a:miter/>
          </a:ln>
        </p:spPr>
        <p:txBody>
          <a:bodyPr wrap="none" lIns="103680" tIns="51840" rIns="103680" bIns="51840" anchor="ctr"/>
          <a:lstStyle/>
          <a:p>
            <a:pPr algn="ctr">
              <a:lnSpc>
                <a:spcPct val="100000"/>
              </a:lnSpc>
            </a:pPr>
            <a:r>
              <a:rPr lang="fr-FR" sz="2000" dirty="0" smtClean="0">
                <a:solidFill>
                  <a:srgbClr val="040001"/>
                </a:solidFill>
                <a:latin typeface="Arial" panose="020B0604020202020204"/>
              </a:rPr>
              <a:t>Source assemblage</a:t>
            </a:r>
            <a:endParaRPr dirty="0"/>
          </a:p>
        </p:txBody>
      </p:sp>
      <p:sp>
        <p:nvSpPr>
          <p:cNvPr id="20" name="CustomShape 14"/>
          <p:cNvSpPr/>
          <p:nvPr/>
        </p:nvSpPr>
        <p:spPr>
          <a:xfrm>
            <a:off x="656852" y="1685596"/>
            <a:ext cx="1977840" cy="699288"/>
          </a:xfrm>
          <a:prstGeom prst="flowChartAlternateProcess">
            <a:avLst/>
          </a:prstGeom>
          <a:solidFill>
            <a:srgbClr val="DDDDDD"/>
          </a:solidFill>
          <a:ln w="19080">
            <a:solidFill>
              <a:srgbClr val="040001"/>
            </a:solidFill>
            <a:miter/>
          </a:ln>
        </p:spPr>
        <p:txBody>
          <a:bodyPr wrap="none" lIns="103680" tIns="51840" rIns="103680" bIns="51840" anchor="ctr"/>
          <a:lstStyle/>
          <a:p>
            <a:pPr algn="ctr">
              <a:lnSpc>
                <a:spcPct val="100000"/>
              </a:lnSpc>
            </a:pPr>
            <a:r>
              <a:rPr lang="fr-FR" sz="2000" dirty="0" smtClean="0">
                <a:solidFill>
                  <a:srgbClr val="040001"/>
                </a:solidFill>
                <a:latin typeface="Arial" panose="020B0604020202020204"/>
              </a:rPr>
              <a:t>Pre-processeur </a:t>
            </a:r>
            <a:r>
              <a:rPr lang="fr-FR" sz="2000" dirty="0">
                <a:solidFill>
                  <a:srgbClr val="040001"/>
                </a:solidFill>
                <a:latin typeface="Arial" panose="020B0604020202020204"/>
              </a:rPr>
              <a:t>+ </a:t>
            </a:r>
            <a:endParaRPr lang="fr-FR" sz="2000" dirty="0" smtClean="0">
              <a:solidFill>
                <a:srgbClr val="040001"/>
              </a:solidFill>
              <a:latin typeface="Arial" panose="020B0604020202020204"/>
            </a:endParaRPr>
          </a:p>
          <a:p>
            <a:pPr algn="ctr">
              <a:lnSpc>
                <a:spcPct val="100000"/>
              </a:lnSpc>
            </a:pPr>
            <a:r>
              <a:rPr lang="fr-FR" sz="2000" dirty="0" smtClean="0">
                <a:solidFill>
                  <a:srgbClr val="040001"/>
                </a:solidFill>
                <a:latin typeface="Arial" panose="020B0604020202020204"/>
              </a:rPr>
              <a:t>Compilateur C</a:t>
            </a:r>
            <a:endParaRPr dirty="0"/>
          </a:p>
        </p:txBody>
      </p:sp>
      <p:cxnSp>
        <p:nvCxnSpPr>
          <p:cNvPr id="25" name="Line 18"/>
          <p:cNvCxnSpPr/>
          <p:nvPr/>
        </p:nvCxnSpPr>
        <p:spPr>
          <a:xfrm flipH="1">
            <a:off x="1648431" y="4020304"/>
            <a:ext cx="1132" cy="540000"/>
          </a:xfrm>
          <a:prstGeom prst="straightConnector1">
            <a:avLst/>
          </a:prstGeom>
          <a:ln w="12600">
            <a:solidFill>
              <a:srgbClr val="040001"/>
            </a:solidFill>
            <a:miter/>
            <a:tailEnd type="triangle" w="med" len="med"/>
          </a:ln>
        </p:spPr>
      </p:cxnSp>
      <p:cxnSp>
        <p:nvCxnSpPr>
          <p:cNvPr id="26" name="Line 19"/>
          <p:cNvCxnSpPr/>
          <p:nvPr/>
        </p:nvCxnSpPr>
        <p:spPr>
          <a:xfrm>
            <a:off x="2895052" y="4776388"/>
            <a:ext cx="1136520" cy="626400"/>
          </a:xfrm>
          <a:prstGeom prst="straightConnector1">
            <a:avLst/>
          </a:prstGeom>
          <a:ln w="12600">
            <a:solidFill>
              <a:srgbClr val="040001"/>
            </a:solidFill>
            <a:miter/>
            <a:tailEnd type="triangle" w="med" len="med"/>
          </a:ln>
        </p:spPr>
      </p:cxnSp>
      <p:cxnSp>
        <p:nvCxnSpPr>
          <p:cNvPr id="27" name="Line 20"/>
          <p:cNvCxnSpPr/>
          <p:nvPr/>
        </p:nvCxnSpPr>
        <p:spPr>
          <a:xfrm flipV="1">
            <a:off x="2936580" y="5509156"/>
            <a:ext cx="1116000" cy="0"/>
          </a:xfrm>
          <a:prstGeom prst="straightConnector1">
            <a:avLst/>
          </a:prstGeom>
          <a:ln w="12600">
            <a:solidFill>
              <a:srgbClr val="040001"/>
            </a:solidFill>
            <a:miter/>
            <a:tailEnd type="triangle" w="med" len="med"/>
          </a:ln>
        </p:spPr>
      </p:cxnSp>
      <p:cxnSp>
        <p:nvCxnSpPr>
          <p:cNvPr id="28" name="Line 21"/>
          <p:cNvCxnSpPr>
            <a:stCxn id="14" idx="3"/>
          </p:cNvCxnSpPr>
          <p:nvPr/>
        </p:nvCxnSpPr>
        <p:spPr>
          <a:xfrm flipV="1">
            <a:off x="2923772" y="5584036"/>
            <a:ext cx="1052640" cy="707580"/>
          </a:xfrm>
          <a:prstGeom prst="straightConnector1">
            <a:avLst/>
          </a:prstGeom>
          <a:ln w="12600">
            <a:solidFill>
              <a:srgbClr val="040001"/>
            </a:solidFill>
            <a:miter/>
            <a:tailEnd type="triangle" w="med" len="med"/>
          </a:ln>
        </p:spPr>
      </p:cxnSp>
      <p:cxnSp>
        <p:nvCxnSpPr>
          <p:cNvPr id="30" name="Line 23"/>
          <p:cNvCxnSpPr/>
          <p:nvPr/>
        </p:nvCxnSpPr>
        <p:spPr>
          <a:xfrm flipV="1">
            <a:off x="4968044" y="3002476"/>
            <a:ext cx="0" cy="1080000"/>
          </a:xfrm>
          <a:prstGeom prst="straightConnector1">
            <a:avLst/>
          </a:prstGeom>
          <a:ln w="12600">
            <a:solidFill>
              <a:srgbClr val="040001"/>
            </a:solidFill>
            <a:miter/>
            <a:tailEnd type="triangle" w="med" len="med"/>
          </a:ln>
        </p:spPr>
      </p:cxnSp>
      <p:cxnSp>
        <p:nvCxnSpPr>
          <p:cNvPr id="31" name="Line 24"/>
          <p:cNvCxnSpPr/>
          <p:nvPr/>
        </p:nvCxnSpPr>
        <p:spPr>
          <a:xfrm>
            <a:off x="4968044" y="1628800"/>
            <a:ext cx="0" cy="828000"/>
          </a:xfrm>
          <a:prstGeom prst="straightConnector1">
            <a:avLst/>
          </a:prstGeom>
          <a:ln w="12600">
            <a:solidFill>
              <a:srgbClr val="040001"/>
            </a:solidFill>
            <a:miter/>
            <a:tailEnd type="triangle" w="med" len="med"/>
          </a:ln>
        </p:spPr>
      </p:cxnSp>
      <p:cxnSp>
        <p:nvCxnSpPr>
          <p:cNvPr id="32" name="Line 25"/>
          <p:cNvCxnSpPr>
            <a:stCxn id="11" idx="3"/>
          </p:cNvCxnSpPr>
          <p:nvPr/>
        </p:nvCxnSpPr>
        <p:spPr>
          <a:xfrm flipV="1">
            <a:off x="5912852" y="2744036"/>
            <a:ext cx="324648" cy="2660"/>
          </a:xfrm>
          <a:prstGeom prst="straightConnector1">
            <a:avLst/>
          </a:prstGeom>
          <a:ln w="12600">
            <a:solidFill>
              <a:srgbClr val="040001"/>
            </a:solidFill>
            <a:miter/>
            <a:tailEnd type="triangle" w="med" len="med"/>
          </a:ln>
        </p:spPr>
      </p:cxnSp>
      <p:sp>
        <p:nvSpPr>
          <p:cNvPr id="34" name="CustomShape 27"/>
          <p:cNvSpPr/>
          <p:nvPr/>
        </p:nvSpPr>
        <p:spPr>
          <a:xfrm>
            <a:off x="-508" y="1602824"/>
            <a:ext cx="3352680" cy="2762280"/>
          </a:xfrm>
          <a:prstGeom prst="rect">
            <a:avLst/>
          </a:prstGeom>
          <a:ln w="6480">
            <a:solidFill>
              <a:srgbClr val="000208"/>
            </a:solidFill>
            <a:custDash>
              <a:ds d="72000" sp="54000"/>
            </a:custDash>
            <a:miter/>
          </a:ln>
        </p:spPr>
      </p:sp>
      <p:cxnSp>
        <p:nvCxnSpPr>
          <p:cNvPr id="50" name="Line 18"/>
          <p:cNvCxnSpPr/>
          <p:nvPr/>
        </p:nvCxnSpPr>
        <p:spPr>
          <a:xfrm flipH="1">
            <a:off x="1654544" y="3135484"/>
            <a:ext cx="1132" cy="360000"/>
          </a:xfrm>
          <a:prstGeom prst="straightConnector1">
            <a:avLst/>
          </a:prstGeom>
          <a:ln w="12600">
            <a:solidFill>
              <a:srgbClr val="040001"/>
            </a:solidFill>
            <a:miter/>
            <a:tailEnd type="triangle" w="med" len="med"/>
          </a:ln>
        </p:spPr>
      </p:cxnSp>
      <p:cxnSp>
        <p:nvCxnSpPr>
          <p:cNvPr id="51" name="Line 18"/>
          <p:cNvCxnSpPr/>
          <p:nvPr/>
        </p:nvCxnSpPr>
        <p:spPr>
          <a:xfrm flipH="1">
            <a:off x="1655676" y="2389108"/>
            <a:ext cx="1132" cy="252000"/>
          </a:xfrm>
          <a:prstGeom prst="straightConnector1">
            <a:avLst/>
          </a:prstGeom>
          <a:ln w="12600">
            <a:solidFill>
              <a:srgbClr val="040001"/>
            </a:solidFill>
            <a:miter/>
            <a:tailEnd type="triangle" w="med" len="med"/>
          </a:ln>
        </p:spPr>
      </p:cxnSp>
      <p:cxnSp>
        <p:nvCxnSpPr>
          <p:cNvPr id="52" name="Line 18"/>
          <p:cNvCxnSpPr/>
          <p:nvPr/>
        </p:nvCxnSpPr>
        <p:spPr>
          <a:xfrm flipH="1">
            <a:off x="1640436" y="1448780"/>
            <a:ext cx="1132" cy="252000"/>
          </a:xfrm>
          <a:prstGeom prst="straightConnector1">
            <a:avLst/>
          </a:prstGeom>
          <a:ln w="12600">
            <a:solidFill>
              <a:srgbClr val="040001"/>
            </a:solidFill>
            <a:miter/>
            <a:tailEnd type="triangle" w="med" len="med"/>
          </a:ln>
        </p:spPr>
      </p:cxnSp>
      <p:cxnSp>
        <p:nvCxnSpPr>
          <p:cNvPr id="53" name="Line 18"/>
          <p:cNvCxnSpPr/>
          <p:nvPr/>
        </p:nvCxnSpPr>
        <p:spPr>
          <a:xfrm flipH="1">
            <a:off x="7651934" y="3320988"/>
            <a:ext cx="1132" cy="1872000"/>
          </a:xfrm>
          <a:prstGeom prst="straightConnector1">
            <a:avLst/>
          </a:prstGeom>
          <a:ln w="12600">
            <a:solidFill>
              <a:srgbClr val="040001"/>
            </a:solidFill>
            <a:miter/>
            <a:tailEnd type="triangle" w="med" len="med"/>
          </a:ln>
        </p:spPr>
      </p:cxnSp>
      <p:cxnSp>
        <p:nvCxnSpPr>
          <p:cNvPr id="54" name="Line 23"/>
          <p:cNvCxnSpPr/>
          <p:nvPr/>
        </p:nvCxnSpPr>
        <p:spPr>
          <a:xfrm flipV="1">
            <a:off x="4969376" y="4545124"/>
            <a:ext cx="0" cy="612000"/>
          </a:xfrm>
          <a:prstGeom prst="straightConnector1">
            <a:avLst/>
          </a:prstGeom>
          <a:ln w="12600">
            <a:solidFill>
              <a:srgbClr val="040001"/>
            </a:solidFill>
            <a:miter/>
            <a:tailEnd type="triangle" w="med" len="med"/>
          </a:ln>
        </p:spPr>
      </p:cxn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04800" y="152400"/>
            <a:ext cx="7772400" cy="533400"/>
          </a:xfrm>
        </p:spPr>
        <p:txBody>
          <a:bodyPr/>
          <a:lstStyle/>
          <a:p>
            <a:r>
              <a:rPr lang="en-US" sz="2800" dirty="0" smtClean="0">
                <a:latin typeface="Arial" panose="020B0604020202020204" pitchFamily="34" charset="0"/>
              </a:rPr>
              <a:t>Compilation C : </a:t>
            </a:r>
            <a:r>
              <a:rPr lang="en-US" sz="2800" dirty="0">
                <a:latin typeface="Arial" panose="020B0604020202020204" pitchFamily="34" charset="0"/>
              </a:rPr>
              <a:t>GCC</a:t>
            </a:r>
            <a:endParaRPr lang="en-US" sz="2800" b="0" dirty="0"/>
          </a:p>
        </p:txBody>
      </p:sp>
      <p:sp>
        <p:nvSpPr>
          <p:cNvPr id="5" name="Rectangle 3"/>
          <p:cNvSpPr txBox="1">
            <a:spLocks noChangeArrowheads="1"/>
          </p:cNvSpPr>
          <p:nvPr/>
        </p:nvSpPr>
        <p:spPr bwMode="auto">
          <a:xfrm>
            <a:off x="287524" y="800708"/>
            <a:ext cx="8856476"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r>
              <a:rPr lang="en-US" b="1" dirty="0"/>
              <a:t>G</a:t>
            </a:r>
            <a:r>
              <a:rPr lang="en-US" dirty="0"/>
              <a:t>NU (GNU is Not Unix!</a:t>
            </a:r>
            <a:r>
              <a:rPr lang="en-US" i="1" dirty="0"/>
              <a:t>) </a:t>
            </a:r>
            <a:r>
              <a:rPr lang="en-US" b="1" dirty="0"/>
              <a:t>C</a:t>
            </a:r>
            <a:r>
              <a:rPr lang="en-US" dirty="0"/>
              <a:t>ompiler </a:t>
            </a:r>
            <a:r>
              <a:rPr lang="en-US" b="1" dirty="0"/>
              <a:t>C</a:t>
            </a:r>
            <a:r>
              <a:rPr lang="en-US" dirty="0"/>
              <a:t>ollection </a:t>
            </a:r>
            <a:r>
              <a:rPr lang="en-US" dirty="0" err="1" smtClean="0"/>
              <a:t>est</a:t>
            </a:r>
            <a:r>
              <a:rPr lang="en-US" dirty="0" smtClean="0"/>
              <a:t> un </a:t>
            </a:r>
            <a:r>
              <a:rPr lang="en-US" dirty="0" err="1" smtClean="0"/>
              <a:t>logiciel</a:t>
            </a:r>
            <a:r>
              <a:rPr lang="en-US" dirty="0" smtClean="0"/>
              <a:t> libre :</a:t>
            </a:r>
            <a:endParaRPr lang="en-US" dirty="0"/>
          </a:p>
          <a:p>
            <a:pPr lvl="1"/>
            <a:r>
              <a:rPr lang="fr-FR" dirty="0"/>
              <a:t>Conçu pour cibler plusieurs machines</a:t>
            </a:r>
            <a:endParaRPr lang="en-US" dirty="0"/>
          </a:p>
          <a:p>
            <a:pPr lvl="1"/>
            <a:r>
              <a:rPr lang="fr-FR" dirty="0"/>
              <a:t>Existe par défaut sous Linux</a:t>
            </a:r>
            <a:endParaRPr lang="en-US" dirty="0"/>
          </a:p>
          <a:p>
            <a:pPr lvl="1"/>
            <a:endParaRPr lang="en-US" sz="500" dirty="0"/>
          </a:p>
          <a:p>
            <a:r>
              <a:rPr lang="en-US" dirty="0" smtClean="0">
                <a:solidFill>
                  <a:schemeClr val="tx1"/>
                </a:solidFill>
              </a:rPr>
              <a:t>Syntaxe (voir </a:t>
            </a:r>
            <a:r>
              <a:rPr lang="en-US" b="1" dirty="0">
                <a:solidFill>
                  <a:schemeClr val="tx1"/>
                </a:solidFill>
                <a:latin typeface="Courier"/>
                <a:cs typeface="Courier"/>
              </a:rPr>
              <a:t>man gcc</a:t>
            </a:r>
            <a:r>
              <a:rPr lang="en-US" dirty="0" smtClean="0">
                <a:solidFill>
                  <a:schemeClr val="tx1"/>
                </a:solidFill>
              </a:rPr>
              <a:t>) :</a:t>
            </a:r>
            <a:endParaRPr lang="en-US" dirty="0">
              <a:solidFill>
                <a:schemeClr val="tx1"/>
              </a:solidFill>
            </a:endParaRPr>
          </a:p>
          <a:p>
            <a:pPr marL="0" indent="0">
              <a:buNone/>
            </a:pPr>
            <a:r>
              <a:rPr lang="en-US" dirty="0"/>
              <a:t> </a:t>
            </a:r>
            <a:r>
              <a:rPr lang="en-US" b="1" dirty="0">
                <a:latin typeface="Courier New" panose="02070309020205020404"/>
                <a:ea typeface="Courier New" panose="02070309020205020404"/>
              </a:rPr>
              <a:t>gcc [-c] [-g] [-I dir] [-o nom] f1 … </a:t>
            </a:r>
            <a:r>
              <a:rPr lang="en-US" b="1" dirty="0" err="1">
                <a:latin typeface="Courier New" panose="02070309020205020404"/>
                <a:ea typeface="Courier New" panose="02070309020205020404"/>
              </a:rPr>
              <a:t>fn</a:t>
            </a:r>
            <a:endParaRPr lang="en-US" dirty="0"/>
          </a:p>
          <a:p>
            <a:endParaRPr lang="en-US" sz="500" dirty="0"/>
          </a:p>
          <a:p>
            <a:r>
              <a:rPr lang="en-US" dirty="0"/>
              <a:t>Options</a:t>
            </a:r>
            <a:endParaRPr lang="en-US" dirty="0"/>
          </a:p>
          <a:p>
            <a:pPr lvl="1"/>
            <a:r>
              <a:rPr lang="en-US" b="1" dirty="0">
                <a:latin typeface="Courier New" panose="02070309020205020404"/>
                <a:ea typeface="Courier New" panose="02070309020205020404"/>
              </a:rPr>
              <a:t>-c</a:t>
            </a:r>
            <a:r>
              <a:rPr lang="en-US" dirty="0"/>
              <a:t> : </a:t>
            </a:r>
            <a:r>
              <a:rPr lang="fr-FR" dirty="0"/>
              <a:t>Produit un fichier objet </a:t>
            </a:r>
            <a:r>
              <a:rPr lang="fr-FR" b="1" dirty="0"/>
              <a:t>.o</a:t>
            </a:r>
            <a:r>
              <a:rPr lang="fr-FR" dirty="0"/>
              <a:t> à partir du fichier</a:t>
            </a:r>
            <a:r>
              <a:rPr lang="fr-FR" b="1" dirty="0"/>
              <a:t> .c </a:t>
            </a:r>
            <a:r>
              <a:rPr lang="fr-FR" dirty="0"/>
              <a:t>en s'arrêtant avant la liaison </a:t>
            </a:r>
            <a:r>
              <a:rPr lang="en-US" dirty="0" smtClean="0">
                <a:ea typeface="Courier New" panose="02070309020205020404"/>
              </a:rPr>
              <a:t> </a:t>
            </a:r>
            <a:endParaRPr lang="en-US" dirty="0">
              <a:ea typeface="Courier New" panose="02070309020205020404"/>
            </a:endParaRPr>
          </a:p>
          <a:p>
            <a:pPr lvl="1"/>
            <a:r>
              <a:rPr lang="en-US" b="1" dirty="0">
                <a:latin typeface="Courier New" panose="02070309020205020404"/>
                <a:ea typeface="Courier New" panose="02070309020205020404"/>
              </a:rPr>
              <a:t>-I dir</a:t>
            </a:r>
            <a:r>
              <a:rPr lang="en-US" dirty="0"/>
              <a:t> : </a:t>
            </a:r>
            <a:r>
              <a:rPr lang="fr-FR" dirty="0"/>
              <a:t>ajoute </a:t>
            </a:r>
            <a:r>
              <a:rPr lang="fr-FR" b="1" dirty="0"/>
              <a:t>dir </a:t>
            </a:r>
            <a:r>
              <a:rPr lang="fr-FR" dirty="0"/>
              <a:t>dans le chemin </a:t>
            </a:r>
            <a:r>
              <a:rPr lang="fr-FR" dirty="0" smtClean="0"/>
              <a:t>d'inclusion (include) (fichiers </a:t>
            </a:r>
            <a:r>
              <a:rPr lang="fr-FR" dirty="0"/>
              <a:t>d'en-tête utilisés </a:t>
            </a:r>
            <a:r>
              <a:rPr lang="fr-FR" b="1" dirty="0"/>
              <a:t>.h</a:t>
            </a:r>
            <a:r>
              <a:rPr lang="fr-FR" dirty="0"/>
              <a:t>)</a:t>
            </a:r>
            <a:endParaRPr lang="en-US" dirty="0">
              <a:latin typeface="Courier"/>
              <a:cs typeface="Courier"/>
            </a:endParaRPr>
          </a:p>
          <a:p>
            <a:pPr lvl="1"/>
            <a:r>
              <a:rPr lang="en-US" b="1" dirty="0">
                <a:latin typeface="Courier New" panose="02070309020205020404"/>
                <a:ea typeface="Courier New" panose="02070309020205020404"/>
              </a:rPr>
              <a:t>-o nom</a:t>
            </a:r>
            <a:r>
              <a:rPr lang="en-US" dirty="0"/>
              <a:t> : </a:t>
            </a:r>
            <a:r>
              <a:rPr lang="fr-FR" dirty="0"/>
              <a:t>Spécifie le nom du fichier de </a:t>
            </a:r>
            <a:r>
              <a:rPr lang="fr-FR" dirty="0" smtClean="0"/>
              <a:t>sortie</a:t>
            </a:r>
            <a:r>
              <a:rPr lang="en-US" dirty="0"/>
              <a:t>,</a:t>
            </a:r>
            <a:r>
              <a:rPr lang="en-US" dirty="0" smtClean="0"/>
              <a:t> par défaut :</a:t>
            </a:r>
            <a:endParaRPr lang="en-US" dirty="0"/>
          </a:p>
          <a:p>
            <a:pPr lvl="2"/>
            <a:r>
              <a:rPr lang="fr-FR" sz="2000" dirty="0">
                <a:ea typeface="Courier New" panose="02070309020205020404"/>
              </a:rPr>
              <a:t>les fichiers objets ont le même nom que leurs fichiers de code </a:t>
            </a:r>
            <a:endParaRPr lang="en-US" sz="2000" dirty="0"/>
          </a:p>
          <a:p>
            <a:pPr lvl="2"/>
            <a:r>
              <a:rPr lang="en-US" sz="2000" dirty="0" smtClean="0"/>
              <a:t>fichier </a:t>
            </a:r>
            <a:r>
              <a:rPr lang="en-US" sz="2000" dirty="0"/>
              <a:t>exécutable : </a:t>
            </a:r>
            <a:r>
              <a:rPr lang="en-US" sz="2000" b="1" dirty="0">
                <a:latin typeface="Courier New" panose="02070309020205020404"/>
                <a:ea typeface="Courier New" panose="02070309020205020404"/>
              </a:rPr>
              <a:t>a.out</a:t>
            </a:r>
            <a:endParaRPr lang="en-US" sz="2000" dirty="0"/>
          </a:p>
          <a:p>
            <a:pPr lvl="1"/>
            <a:r>
              <a:rPr lang="en-US" b="1" dirty="0">
                <a:latin typeface="Courier New" panose="02070309020205020404"/>
                <a:ea typeface="Courier New" panose="02070309020205020404"/>
              </a:rPr>
              <a:t>-g</a:t>
            </a:r>
            <a:r>
              <a:rPr lang="en-US" dirty="0"/>
              <a:t> : </a:t>
            </a:r>
            <a:r>
              <a:rPr lang="fr-FR" dirty="0"/>
              <a:t>Insère les informations nécessaires au débogueur</a:t>
            </a:r>
            <a:endParaRPr lang="fr-FR" dirty="0"/>
          </a:p>
          <a:p>
            <a:pPr lvl="1"/>
            <a:endParaRPr lang="en-US" dirty="0"/>
          </a:p>
          <a:p>
            <a:pPr lvl="1">
              <a:buSzPct val="25000"/>
              <a:buFont typeface="StarSymbol"/>
              <a:buChar char=""/>
            </a:pPr>
            <a:endParaRPr lang="en-US" dirty="0"/>
          </a:p>
          <a:p>
            <a:pPr>
              <a:buSzPct val="25000"/>
              <a:buFont typeface="StarSymbol"/>
              <a:buChar char=""/>
            </a:pPr>
            <a:endParaRPr lang="en-US" sz="2000" dirty="0"/>
          </a:p>
          <a:p>
            <a:endParaRPr lang="en-US" dirty="0"/>
          </a:p>
          <a:p>
            <a:endParaRPr lang="en-US" dirty="0"/>
          </a:p>
        </p:txBody>
      </p:sp>
      <p:sp>
        <p:nvSpPr>
          <p:cNvPr id="6" name="Espace réservé du numéro de diapositive 4"/>
          <p:cNvSpPr>
            <a:spLocks noGrp="1"/>
          </p:cNvSpPr>
          <p:nvPr>
            <p:ph type="sldNum" sz="quarter" idx="11"/>
          </p:nvPr>
        </p:nvSpPr>
        <p:spPr>
          <a:xfrm>
            <a:off x="6336196" y="6381328"/>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dirty="0">
              <a:solidFill>
                <a:srgbClr val="000208"/>
              </a:solidFill>
              <a:latin typeface="Times New Roman" panose="02020603050405020304" charset="0"/>
            </a:endParaRPr>
          </a:p>
        </p:txBody>
      </p:sp>
      <p:sp>
        <p:nvSpPr>
          <p:cNvPr id="8" name="Espace réservé du pied de page 3"/>
          <p:cNvSpPr>
            <a:spLocks noGrp="1"/>
          </p:cNvSpPr>
          <p:nvPr>
            <p:ph type="ftr" sz="quarter" idx="10"/>
          </p:nvPr>
        </p:nvSpPr>
        <p:spPr>
          <a:xfrm>
            <a:off x="395536" y="6464188"/>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4" name="Title 1"/>
          <p:cNvSpPr>
            <a:spLocks noGrp="1"/>
          </p:cNvSpPr>
          <p:nvPr>
            <p:ph type="title"/>
          </p:nvPr>
        </p:nvSpPr>
        <p:spPr>
          <a:xfrm>
            <a:off x="304800" y="152400"/>
            <a:ext cx="7772400" cy="533400"/>
          </a:xfrm>
        </p:spPr>
        <p:txBody>
          <a:bodyPr/>
          <a:lstStyle/>
          <a:p>
            <a:r>
              <a:rPr lang="en-US" sz="2800" dirty="0" smtClean="0">
                <a:latin typeface="Arial" panose="020B0604020202020204" pitchFamily="34" charset="0"/>
              </a:rPr>
              <a:t>GCC : un fichier de compilation</a:t>
            </a:r>
            <a:endParaRPr lang="en-US" sz="2800" b="0" dirty="0"/>
          </a:p>
        </p:txBody>
      </p:sp>
      <p:sp>
        <p:nvSpPr>
          <p:cNvPr id="5" name="Rectangle 3"/>
          <p:cNvSpPr txBox="1">
            <a:spLocks noChangeArrowheads="1"/>
          </p:cNvSpPr>
          <p:nvPr/>
        </p:nvSpPr>
        <p:spPr bwMode="auto">
          <a:xfrm>
            <a:off x="287524" y="872716"/>
            <a:ext cx="8856476"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t>Produire un exécutable appelé module à partir du fichier</a:t>
            </a:r>
            <a:r>
              <a:rPr lang="en-US" dirty="0" smtClean="0"/>
              <a:t> </a:t>
            </a:r>
            <a:r>
              <a:rPr lang="en-US" b="1" dirty="0">
                <a:latin typeface="Courier New" panose="02070309020205020404"/>
                <a:ea typeface="Courier New" panose="02070309020205020404"/>
              </a:rPr>
              <a:t>module.c</a:t>
            </a:r>
            <a:endParaRPr lang="en-US" dirty="0"/>
          </a:p>
          <a:p>
            <a:pPr marL="0" lvl="1" indent="0">
              <a:buSzPct val="75000"/>
              <a:buNone/>
            </a:pPr>
            <a:r>
              <a:rPr lang="en-US" b="1" dirty="0">
                <a:latin typeface="Courier New" panose="02070309020205020404"/>
                <a:ea typeface="Courier New" panose="02070309020205020404"/>
              </a:rPr>
              <a:t>  gcc module.c -o module</a:t>
            </a:r>
            <a:endParaRPr lang="en-US" dirty="0"/>
          </a:p>
        </p:txBody>
      </p:sp>
      <p:pic>
        <p:nvPicPr>
          <p:cNvPr id="6" name="Imag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87524" y="2384884"/>
            <a:ext cx="3944751" cy="3816424"/>
          </a:xfrm>
          <a:prstGeom prst="rect">
            <a:avLst/>
          </a:prstGeom>
          <a:noFill/>
          <a:ln w="9525">
            <a:solidFill>
              <a:schemeClr val="tx2"/>
            </a:solidFill>
            <a:miter lim="800000"/>
            <a:headEnd/>
            <a:tailEnd/>
          </a:ln>
        </p:spPr>
      </p:pic>
      <p:pic>
        <p:nvPicPr>
          <p:cNvPr id="7" name="Image 6" descr="Capture d’écran 2014-08-25 à 11.50.42.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644008" y="3068960"/>
            <a:ext cx="4060304" cy="2339714"/>
          </a:xfrm>
          <a:prstGeom prst="rect">
            <a:avLst/>
          </a:prstGeom>
          <a:noFill/>
          <a:ln w="9525">
            <a:solidFill>
              <a:schemeClr val="tx2"/>
            </a:solidFill>
            <a:miter lim="800000"/>
            <a:headEnd/>
            <a:tailEnd/>
          </a:ln>
        </p:spPr>
      </p:pic>
      <p:sp>
        <p:nvSpPr>
          <p:cNvPr id="10"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4" name="Title 1"/>
          <p:cNvSpPr>
            <a:spLocks noGrp="1"/>
          </p:cNvSpPr>
          <p:nvPr>
            <p:ph type="title"/>
          </p:nvPr>
        </p:nvSpPr>
        <p:spPr>
          <a:xfrm>
            <a:off x="304800" y="152400"/>
            <a:ext cx="7772400" cy="533400"/>
          </a:xfrm>
        </p:spPr>
        <p:txBody>
          <a:bodyPr/>
          <a:lstStyle/>
          <a:p>
            <a:r>
              <a:rPr lang="en-US" sz="2800" dirty="0" smtClean="0">
                <a:latin typeface="Arial" panose="020B0604020202020204" pitchFamily="34" charset="0"/>
              </a:rPr>
              <a:t>GCC : plusieurs fichiers de </a:t>
            </a:r>
            <a:r>
              <a:rPr lang="en-US" sz="2800" dirty="0">
                <a:latin typeface="Arial" panose="020B0604020202020204" pitchFamily="34" charset="0"/>
              </a:rPr>
              <a:t>compilation </a:t>
            </a:r>
            <a:endParaRPr lang="en-US" sz="2800" b="0" dirty="0"/>
          </a:p>
        </p:txBody>
      </p:sp>
      <p:sp>
        <p:nvSpPr>
          <p:cNvPr id="5" name="Rectangle 3"/>
          <p:cNvSpPr txBox="1">
            <a:spLocks noChangeArrowheads="1"/>
          </p:cNvSpPr>
          <p:nvPr/>
        </p:nvSpPr>
        <p:spPr bwMode="auto">
          <a:xfrm>
            <a:off x="71500" y="872716"/>
            <a:ext cx="8928992"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t>Produire un fichier </a:t>
            </a:r>
            <a:r>
              <a:rPr lang="fr-FR" b="1" dirty="0"/>
              <a:t>objet</a:t>
            </a:r>
            <a:r>
              <a:rPr lang="fr-FR" dirty="0"/>
              <a:t> appelé </a:t>
            </a:r>
            <a:r>
              <a:rPr lang="fr-FR" b="1" dirty="0"/>
              <a:t>module.o</a:t>
            </a:r>
            <a:r>
              <a:rPr lang="fr-FR" dirty="0"/>
              <a:t> à partir d'un fichier de code </a:t>
            </a:r>
            <a:r>
              <a:rPr lang="en-US" b="1" dirty="0" smtClean="0">
                <a:latin typeface="Courier New" panose="02070309020205020404"/>
                <a:ea typeface="Courier New" panose="02070309020205020404"/>
              </a:rPr>
              <a:t>module.c </a:t>
            </a:r>
            <a:r>
              <a:rPr lang="en-US" dirty="0"/>
              <a:t>(</a:t>
            </a:r>
            <a:r>
              <a:rPr lang="en-US" b="1" dirty="0">
                <a:solidFill>
                  <a:srgbClr val="FF0000"/>
                </a:solidFill>
                <a:latin typeface="Courier New" panose="02070309020205020404"/>
                <a:ea typeface="Courier New" panose="02070309020205020404"/>
              </a:rPr>
              <a:t>-</a:t>
            </a:r>
            <a:r>
              <a:rPr lang="en-US" b="1" dirty="0" smtClean="0">
                <a:solidFill>
                  <a:srgbClr val="FF0000"/>
                </a:solidFill>
                <a:latin typeface="Courier New" panose="02070309020205020404"/>
                <a:ea typeface="Courier New" panose="02070309020205020404"/>
              </a:rPr>
              <a:t>c : arrêter </a:t>
            </a:r>
            <a:r>
              <a:rPr lang="en-US" b="1" dirty="0">
                <a:solidFill>
                  <a:srgbClr val="FF0000"/>
                </a:solidFill>
                <a:latin typeface="Courier New" panose="02070309020205020404"/>
                <a:ea typeface="Courier New" panose="02070309020205020404"/>
              </a:rPr>
              <a:t>avant de lier</a:t>
            </a:r>
            <a:r>
              <a:rPr lang="en-US" dirty="0" smtClean="0"/>
              <a:t>) </a:t>
            </a:r>
            <a:endParaRPr lang="en-US" dirty="0"/>
          </a:p>
          <a:p>
            <a:pPr marL="0" lvl="1" indent="0">
              <a:buSzPct val="75000"/>
              <a:buNone/>
            </a:pPr>
            <a:r>
              <a:rPr lang="en-US" b="1" dirty="0" smtClean="0">
                <a:latin typeface="Courier New" panose="02070309020205020404"/>
                <a:ea typeface="Courier New" panose="02070309020205020404"/>
              </a:rPr>
              <a:t>  gcc </a:t>
            </a:r>
            <a:r>
              <a:rPr lang="en-US" b="1" dirty="0">
                <a:latin typeface="Courier New" panose="02070309020205020404"/>
                <a:ea typeface="Courier New" panose="02070309020205020404"/>
              </a:rPr>
              <a:t>-o module.o -c module.c</a:t>
            </a:r>
            <a:endParaRPr lang="en-US" dirty="0"/>
          </a:p>
          <a:p>
            <a:pPr marL="0" lvl="1" indent="0">
              <a:buSzPct val="75000"/>
              <a:buNone/>
            </a:pPr>
            <a:endParaRPr lang="en-US" dirty="0"/>
          </a:p>
          <a:p>
            <a:r>
              <a:rPr lang="fr-FR" dirty="0"/>
              <a:t>Produire un fichier exécutable nommé </a:t>
            </a:r>
            <a:r>
              <a:rPr lang="fr-FR" b="1" dirty="0">
                <a:latin typeface="Courier" pitchFamily="49" charset="0"/>
              </a:rPr>
              <a:t>prog</a:t>
            </a:r>
            <a:r>
              <a:rPr lang="fr-FR" dirty="0"/>
              <a:t> en liant ses fichiers objet(s) à l'aide de </a:t>
            </a:r>
            <a:r>
              <a:rPr lang="fr-FR" dirty="0" smtClean="0"/>
              <a:t>-o</a:t>
            </a:r>
            <a:endParaRPr lang="en-US" dirty="0"/>
          </a:p>
          <a:p>
            <a:pPr marL="0" lvl="1" indent="0">
              <a:buSzPct val="75000"/>
              <a:buNone/>
            </a:pPr>
            <a:r>
              <a:rPr lang="en-US" b="1" dirty="0" smtClean="0">
                <a:latin typeface="Courier New" panose="02070309020205020404"/>
                <a:ea typeface="Courier New" panose="02070309020205020404"/>
              </a:rPr>
              <a:t>  gcc </a:t>
            </a:r>
            <a:r>
              <a:rPr lang="en-US" b="1" dirty="0">
                <a:latin typeface="Courier New" panose="02070309020205020404"/>
                <a:ea typeface="Courier New" panose="02070309020205020404"/>
              </a:rPr>
              <a:t>-o prog module1.o … moduleN.o</a:t>
            </a:r>
            <a:endParaRPr lang="en-US" dirty="0"/>
          </a:p>
          <a:p>
            <a:pPr marL="0" indent="0">
              <a:buNone/>
            </a:pPr>
            <a:endParaRPr lang="en-US" dirty="0"/>
          </a:p>
        </p:txBody>
      </p:sp>
      <p:sp>
        <p:nvSpPr>
          <p:cNvPr id="6"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re 1"/>
          <p:cNvSpPr>
            <a:spLocks noGrp="1"/>
          </p:cNvSpPr>
          <p:nvPr>
            <p:ph type="title"/>
          </p:nvPr>
        </p:nvSpPr>
        <p:spPr/>
        <p:txBody>
          <a:bodyPr/>
          <a:lstStyle/>
          <a:p>
            <a:r>
              <a:rPr lang="fr-FR" sz="2800" dirty="0" smtClean="0">
                <a:latin typeface="Arial" panose="020B0604020202020204" pitchFamily="34" charset="0"/>
                <a:ea typeface="MS PGothic" panose="020B0600070205080204" charset="-128"/>
                <a:cs typeface="MS PGothic" panose="020B0600070205080204" charset="-128"/>
              </a:rPr>
              <a:t>Compilation C : L’outil  </a:t>
            </a:r>
            <a:r>
              <a:rPr lang="fr-FR" sz="2800" dirty="0">
                <a:latin typeface="Courier New" panose="02070309020205020404"/>
                <a:ea typeface="MS PGothic" panose="020B0600070205080204" charset="-128"/>
                <a:cs typeface="Courier New" panose="02070309020205020404"/>
              </a:rPr>
              <a:t>make</a:t>
            </a:r>
            <a:endParaRPr lang="fr-FR" sz="2800" dirty="0">
              <a:latin typeface="Courier New" panose="02070309020205020404"/>
              <a:ea typeface="MS PGothic" panose="020B0600070205080204" charset="-128"/>
              <a:cs typeface="Courier New" panose="02070309020205020404"/>
            </a:endParaRPr>
          </a:p>
        </p:txBody>
      </p:sp>
      <p:sp>
        <p:nvSpPr>
          <p:cNvPr id="56322" name="Espace réservé du contenu 2"/>
          <p:cNvSpPr>
            <a:spLocks noGrp="1"/>
          </p:cNvSpPr>
          <p:nvPr>
            <p:ph idx="1"/>
          </p:nvPr>
        </p:nvSpPr>
        <p:spPr>
          <a:xfrm>
            <a:off x="431540" y="1016732"/>
            <a:ext cx="8172908" cy="4537075"/>
          </a:xfrm>
        </p:spPr>
        <p:txBody>
          <a:bodyPr/>
          <a:lstStyle/>
          <a:p>
            <a:r>
              <a:rPr lang="en-GB" dirty="0" smtClean="0">
                <a:latin typeface="Arial" panose="020B0604020202020204" pitchFamily="34" charset="0"/>
                <a:cs typeface="MS PGothic" panose="020B0600070205080204" charset="-128"/>
              </a:rPr>
              <a:t>Principe</a:t>
            </a:r>
            <a:endParaRPr lang="en-GB" dirty="0">
              <a:latin typeface="Arial" panose="020B0604020202020204" pitchFamily="34" charset="0"/>
              <a:cs typeface="MS PGothic" panose="020B0600070205080204" charset="-128"/>
            </a:endParaRPr>
          </a:p>
          <a:p>
            <a:pPr lvl="1"/>
            <a:r>
              <a:rPr lang="fr-FR" dirty="0">
                <a:solidFill>
                  <a:srgbClr val="000000"/>
                </a:solidFill>
                <a:latin typeface="Arial" panose="020B0604020202020204" pitchFamily="34" charset="0"/>
              </a:rPr>
              <a:t>Utilisation pour automatiser la compilation de (</a:t>
            </a:r>
            <a:r>
              <a:rPr lang="fr-FR" b="1" dirty="0">
                <a:solidFill>
                  <a:srgbClr val="000000"/>
                </a:solidFill>
                <a:latin typeface="Arial" panose="020B0604020202020204" pitchFamily="34" charset="0"/>
              </a:rPr>
              <a:t>gros</a:t>
            </a:r>
            <a:r>
              <a:rPr lang="fr-FR" dirty="0">
                <a:solidFill>
                  <a:srgbClr val="000000"/>
                </a:solidFill>
                <a:latin typeface="Arial" panose="020B0604020202020204" pitchFamily="34" charset="0"/>
              </a:rPr>
              <a:t>) </a:t>
            </a:r>
            <a:r>
              <a:rPr lang="fr-FR" b="1" dirty="0">
                <a:solidFill>
                  <a:srgbClr val="000000"/>
                </a:solidFill>
                <a:latin typeface="Arial" panose="020B0604020202020204" pitchFamily="34" charset="0"/>
              </a:rPr>
              <a:t>projets</a:t>
            </a:r>
            <a:r>
              <a:rPr lang="fr-FR" dirty="0">
                <a:solidFill>
                  <a:srgbClr val="000000"/>
                </a:solidFill>
                <a:latin typeface="Arial" panose="020B0604020202020204" pitchFamily="34" charset="0"/>
              </a:rPr>
              <a:t>, qui se compose de plusieurs fichiers</a:t>
            </a:r>
            <a:endParaRPr lang="en-GB" dirty="0">
              <a:solidFill>
                <a:srgbClr val="000000"/>
              </a:solidFill>
              <a:latin typeface="Arial" panose="020B0604020202020204" pitchFamily="34" charset="0"/>
            </a:endParaRPr>
          </a:p>
          <a:p>
            <a:pPr lvl="1"/>
            <a:r>
              <a:rPr lang="fr-FR" dirty="0">
                <a:solidFill>
                  <a:srgbClr val="000000"/>
                </a:solidFill>
                <a:latin typeface="Arial" panose="020B0604020202020204" pitchFamily="34" charset="0"/>
              </a:rPr>
              <a:t>Gère les dépendances des fichiers (par exemple, </a:t>
            </a:r>
            <a:r>
              <a:rPr lang="fr-FR" b="1" dirty="0">
                <a:solidFill>
                  <a:srgbClr val="000000"/>
                </a:solidFill>
                <a:latin typeface="Arial" panose="020B0604020202020204" pitchFamily="34" charset="0"/>
              </a:rPr>
              <a:t>#includes</a:t>
            </a:r>
            <a:r>
              <a:rPr lang="fr-FR" dirty="0" smtClean="0">
                <a:solidFill>
                  <a:srgbClr val="000000"/>
                </a:solidFill>
                <a:latin typeface="Arial" panose="020B0604020202020204" pitchFamily="34" charset="0"/>
              </a:rPr>
              <a:t>)</a:t>
            </a:r>
            <a:endParaRPr lang="en-GB" dirty="0">
              <a:solidFill>
                <a:srgbClr val="000000"/>
              </a:solidFill>
              <a:latin typeface="Arial" panose="020B0604020202020204" pitchFamily="34" charset="0"/>
            </a:endParaRPr>
          </a:p>
          <a:p>
            <a:pPr lvl="1"/>
            <a:r>
              <a:rPr lang="fr-FR" dirty="0">
                <a:latin typeface="Arial" panose="020B0604020202020204" pitchFamily="34" charset="0"/>
              </a:rPr>
              <a:t>Permet d'automatiser la mise à jour des </a:t>
            </a:r>
            <a:r>
              <a:rPr lang="fr-FR" dirty="0" smtClean="0">
                <a:latin typeface="Arial" panose="020B0604020202020204" pitchFamily="34" charset="0"/>
              </a:rPr>
              <a:t>fichiers</a:t>
            </a:r>
            <a:endParaRPr lang="fr-FR" dirty="0" smtClean="0">
              <a:latin typeface="Arial" panose="020B0604020202020204" pitchFamily="34" charset="0"/>
            </a:endParaRPr>
          </a:p>
          <a:p>
            <a:pPr marL="542925" lvl="1" indent="0">
              <a:buNone/>
            </a:pPr>
            <a:endParaRPr lang="en-GB" dirty="0">
              <a:latin typeface="Arial" panose="020B0604020202020204" pitchFamily="34" charset="0"/>
            </a:endParaRPr>
          </a:p>
          <a:p>
            <a:r>
              <a:rPr lang="fr-FR" dirty="0">
                <a:latin typeface="Arial" panose="020B0604020202020204" pitchFamily="34" charset="0"/>
                <a:cs typeface="MS PGothic" panose="020B0600070205080204" charset="-128"/>
              </a:rPr>
              <a:t>Fonctionnalité : Créer un fichier appelé </a:t>
            </a:r>
            <a:r>
              <a:rPr lang="fr-FR" b="1" dirty="0">
                <a:latin typeface="Courier" pitchFamily="49" charset="0"/>
                <a:cs typeface="MS PGothic" panose="020B0600070205080204" charset="-128"/>
              </a:rPr>
              <a:t>Makefile</a:t>
            </a:r>
            <a:r>
              <a:rPr lang="fr-FR" dirty="0">
                <a:latin typeface="Arial" panose="020B0604020202020204" pitchFamily="34" charset="0"/>
                <a:cs typeface="MS PGothic" panose="020B0600070205080204" charset="-128"/>
              </a:rPr>
              <a:t> qui </a:t>
            </a:r>
            <a:r>
              <a:rPr lang="fr-FR" dirty="0" smtClean="0">
                <a:latin typeface="Arial" panose="020B0604020202020204" pitchFamily="34" charset="0"/>
                <a:cs typeface="MS PGothic" panose="020B0600070205080204" charset="-128"/>
              </a:rPr>
              <a:t>:</a:t>
            </a:r>
            <a:r>
              <a:rPr lang="en-GB" dirty="0" smtClean="0">
                <a:latin typeface="Arial" panose="020B0604020202020204" pitchFamily="34" charset="0"/>
                <a:cs typeface="MS PGothic" panose="020B0600070205080204" charset="-128"/>
              </a:rPr>
              <a:t> </a:t>
            </a:r>
            <a:endParaRPr lang="en-GB" dirty="0" smtClean="0">
              <a:latin typeface="Arial" panose="020B0604020202020204" pitchFamily="34" charset="0"/>
              <a:cs typeface="MS PGothic" panose="020B0600070205080204" charset="-128"/>
            </a:endParaRPr>
          </a:p>
          <a:p>
            <a:pPr lvl="1"/>
            <a:r>
              <a:rPr lang="fr-FR" dirty="0">
                <a:latin typeface="Arial" panose="020B0604020202020204" pitchFamily="34" charset="0"/>
              </a:rPr>
              <a:t>Définit les dépendances entre les cibles</a:t>
            </a:r>
            <a:endParaRPr lang="en-GB" dirty="0" smtClean="0">
              <a:latin typeface="Arial" panose="020B0604020202020204" pitchFamily="34" charset="0"/>
            </a:endParaRPr>
          </a:p>
          <a:p>
            <a:pPr lvl="1"/>
            <a:r>
              <a:rPr lang="fr-FR" dirty="0">
                <a:latin typeface="Arial" panose="020B0604020202020204" pitchFamily="34" charset="0"/>
              </a:rPr>
              <a:t>Définit les dépendances entre chaque cible et les fichiers correspondants</a:t>
            </a:r>
            <a:endParaRPr lang="en-GB" dirty="0">
              <a:latin typeface="Arial" panose="020B0604020202020204" pitchFamily="34" charset="0"/>
            </a:endParaRPr>
          </a:p>
          <a:p>
            <a:pPr lvl="1"/>
            <a:r>
              <a:rPr lang="fr-FR" dirty="0">
                <a:latin typeface="Arial" panose="020B0604020202020204" pitchFamily="34" charset="0"/>
              </a:rPr>
              <a:t>fournit les commandes à exécuter pour créer la cible en fonction des dépendances (fichiers).</a:t>
            </a:r>
            <a:endParaRPr lang="en-GB" dirty="0">
              <a:latin typeface="Arial" panose="020B0604020202020204" pitchFamily="34" charset="0"/>
            </a:endParaRPr>
          </a:p>
          <a:p>
            <a:pPr lvl="1"/>
            <a:endParaRPr lang="en-GB" dirty="0">
              <a:latin typeface="Arial" panose="020B0604020202020204" pitchFamily="34" charset="0"/>
            </a:endParaRPr>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322">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32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 name="CustomShape 3"/>
          <p:cNvSpPr/>
          <p:nvPr/>
        </p:nvSpPr>
        <p:spPr>
          <a:xfrm>
            <a:off x="3131332" y="2564904"/>
            <a:ext cx="1706703" cy="496869"/>
          </a:xfrm>
          <a:prstGeom prst="rect">
            <a:avLst/>
          </a:prstGeom>
        </p:spPr>
        <p:txBody>
          <a:bodyPr lIns="92070" tIns="46035" rIns="92070" bIns="46035"/>
          <a:lstStyle/>
          <a:p>
            <a:pPr algn="ctr">
              <a:lnSpc>
                <a:spcPct val="100000"/>
              </a:lnSpc>
              <a:buSzPct val="25000"/>
            </a:pPr>
            <a:r>
              <a:rPr lang="fr-FR" sz="2000" b="1" dirty="0">
                <a:latin typeface="Courier New" panose="02070309020205020404"/>
                <a:ea typeface="Courier New" panose="02070309020205020404"/>
              </a:rPr>
              <a:t>prog</a:t>
            </a:r>
            <a:endParaRPr dirty="0"/>
          </a:p>
        </p:txBody>
      </p:sp>
      <p:sp>
        <p:nvSpPr>
          <p:cNvPr id="487" name="CustomShape 4"/>
          <p:cNvSpPr/>
          <p:nvPr/>
        </p:nvSpPr>
        <p:spPr>
          <a:xfrm>
            <a:off x="7087779" y="2572091"/>
            <a:ext cx="2128737" cy="496869"/>
          </a:xfrm>
          <a:prstGeom prst="rect">
            <a:avLst/>
          </a:prstGeom>
        </p:spPr>
        <p:txBody>
          <a:bodyPr lIns="92070" tIns="46035" rIns="92070" bIns="46035"/>
          <a:lstStyle/>
          <a:p>
            <a:pPr algn="ctr">
              <a:lnSpc>
                <a:spcPct val="100000"/>
              </a:lnSpc>
              <a:buSzPct val="25000"/>
            </a:pPr>
            <a:r>
              <a:rPr lang="fr-FR" sz="2000" dirty="0" smtClean="0">
                <a:solidFill>
                  <a:srgbClr val="800000"/>
                </a:solidFill>
                <a:latin typeface="Arial" panose="020B0604020202020204"/>
                <a:ea typeface="Arial" panose="020B0604020202020204"/>
              </a:rPr>
              <a:t>(exécutable)</a:t>
            </a:r>
            <a:endParaRPr dirty="0">
              <a:solidFill>
                <a:srgbClr val="800000"/>
              </a:solidFill>
            </a:endParaRPr>
          </a:p>
        </p:txBody>
      </p:sp>
      <p:sp>
        <p:nvSpPr>
          <p:cNvPr id="488" name="CustomShape 5"/>
          <p:cNvSpPr/>
          <p:nvPr/>
        </p:nvSpPr>
        <p:spPr>
          <a:xfrm>
            <a:off x="71500" y="2564906"/>
            <a:ext cx="2051816" cy="496869"/>
          </a:xfrm>
          <a:prstGeom prst="rect">
            <a:avLst/>
          </a:prstGeom>
        </p:spPr>
        <p:txBody>
          <a:bodyPr lIns="92070" tIns="46035" rIns="92070" bIns="46035"/>
          <a:lstStyle/>
          <a:p>
            <a:pPr>
              <a:buSzPct val="25000"/>
            </a:pPr>
            <a:r>
              <a:rPr lang="fr-FR" sz="2000" dirty="0">
                <a:solidFill>
                  <a:srgbClr val="800000"/>
                </a:solidFill>
                <a:latin typeface="Arial" panose="020B0604020202020204"/>
                <a:ea typeface="Arial" panose="020B0604020202020204"/>
              </a:rPr>
              <a:t>Objectif final </a:t>
            </a:r>
            <a:r>
              <a:rPr lang="fr-FR" sz="2000" dirty="0" smtClean="0">
                <a:solidFill>
                  <a:srgbClr val="800000"/>
                </a:solidFill>
                <a:latin typeface="Arial" panose="020B0604020202020204"/>
                <a:ea typeface="Arial" panose="020B0604020202020204"/>
              </a:rPr>
              <a:t>:</a:t>
            </a:r>
            <a:endParaRPr dirty="0">
              <a:solidFill>
                <a:srgbClr val="800000"/>
              </a:solidFill>
            </a:endParaRPr>
          </a:p>
        </p:txBody>
      </p:sp>
      <p:sp>
        <p:nvSpPr>
          <p:cNvPr id="7" name="Titre 1"/>
          <p:cNvSpPr>
            <a:spLocks noGrp="1"/>
          </p:cNvSpPr>
          <p:nvPr>
            <p:ph type="title"/>
          </p:nvPr>
        </p:nvSpPr>
        <p:spPr>
          <a:xfrm>
            <a:off x="304800" y="152400"/>
            <a:ext cx="7772400" cy="533400"/>
          </a:xfrm>
        </p:spPr>
        <p:txBody>
          <a:bodyPr/>
          <a:lstStyle/>
          <a:p>
            <a:r>
              <a:rPr lang="fr-FR" sz="2800" dirty="0" smtClean="0">
                <a:latin typeface="Arial" panose="020B0604020202020204" pitchFamily="34" charset="0"/>
                <a:cs typeface="MS PGothic" panose="020B0600070205080204" charset="-128"/>
              </a:rPr>
              <a:t>L’outil</a:t>
            </a:r>
            <a:r>
              <a:rPr lang="fr-FR" sz="2800" dirty="0" smtClean="0">
                <a:latin typeface="Arial" panose="020B0604020202020204" pitchFamily="34" charset="0"/>
                <a:ea typeface="MS PGothic" panose="020B0600070205080204" charset="-128"/>
                <a:cs typeface="MS PGothic" panose="020B0600070205080204" charset="-128"/>
              </a:rPr>
              <a:t> </a:t>
            </a:r>
            <a:r>
              <a:rPr lang="fr-FR" sz="2800" dirty="0">
                <a:latin typeface="Courier New" panose="02070309020205020404"/>
                <a:ea typeface="MS PGothic" panose="020B0600070205080204" charset="-128"/>
                <a:cs typeface="Courier New" panose="02070309020205020404"/>
              </a:rPr>
              <a:t>make</a:t>
            </a:r>
            <a:r>
              <a:rPr lang="fr-FR" sz="2800" dirty="0">
                <a:latin typeface="+mn-lt"/>
                <a:ea typeface="MS PGothic" panose="020B0600070205080204" charset="-128"/>
                <a:cs typeface="Courier New" panose="02070309020205020404"/>
              </a:rPr>
              <a:t>: </a:t>
            </a:r>
            <a:r>
              <a:rPr lang="fr-FR" sz="2800" dirty="0" smtClean="0">
                <a:latin typeface="+mn-lt"/>
                <a:ea typeface="MS PGothic" panose="020B0600070205080204" charset="-128"/>
                <a:cs typeface="Courier New" panose="02070309020205020404"/>
              </a:rPr>
              <a:t>Exemple</a:t>
            </a:r>
            <a:endParaRPr lang="fr-FR" sz="2800" dirty="0">
              <a:latin typeface="+mn-lt"/>
              <a:ea typeface="MS PGothic" panose="020B0600070205080204" charset="-128"/>
              <a:cs typeface="Courier New" panose="02070309020205020404"/>
            </a:endParaRPr>
          </a:p>
        </p:txBody>
      </p:sp>
      <p:sp>
        <p:nvSpPr>
          <p:cNvPr id="8" name="Espace réservé du contenu 2"/>
          <p:cNvSpPr>
            <a:spLocks noGrp="1"/>
          </p:cNvSpPr>
          <p:nvPr>
            <p:ph idx="1"/>
          </p:nvPr>
        </p:nvSpPr>
        <p:spPr>
          <a:xfrm>
            <a:off x="287524" y="1016733"/>
            <a:ext cx="9073008" cy="1368151"/>
          </a:xfrm>
        </p:spPr>
        <p:txBody>
          <a:bodyPr/>
          <a:lstStyle/>
          <a:p>
            <a:r>
              <a:rPr lang="fr-FR" dirty="0">
                <a:latin typeface="Arial" panose="020B0604020202020204" pitchFamily="34" charset="0"/>
                <a:cs typeface="MS PGothic" panose="020B0600070205080204" charset="-128"/>
              </a:rPr>
              <a:t>Un programme C est composé de 3 fichiers</a:t>
            </a:r>
            <a:r>
              <a:rPr lang="en-US" dirty="0" smtClean="0">
                <a:latin typeface="Arial" panose="020B0604020202020204" pitchFamily="34" charset="0"/>
                <a:cs typeface="MS PGothic" panose="020B0600070205080204" charset="-128"/>
              </a:rPr>
              <a:t> :</a:t>
            </a:r>
            <a:endParaRPr lang="en-US" dirty="0">
              <a:latin typeface="Arial" panose="020B0604020202020204" pitchFamily="34" charset="0"/>
              <a:cs typeface="MS PGothic" panose="020B0600070205080204" charset="-128"/>
            </a:endParaRPr>
          </a:p>
          <a:p>
            <a:pPr marL="0" lvl="1" indent="0">
              <a:buSzTx/>
              <a:buNone/>
            </a:pPr>
            <a:r>
              <a:rPr lang="en-US" sz="2400" b="1" dirty="0">
                <a:latin typeface="Courier New" panose="02070309020205020404"/>
                <a:ea typeface="Courier New" panose="02070309020205020404"/>
              </a:rPr>
              <a:t>prog.c</a:t>
            </a:r>
            <a:r>
              <a:rPr lang="en-US" sz="2400" dirty="0">
                <a:ea typeface="Arial" panose="020B0604020202020204"/>
              </a:rPr>
              <a:t>, </a:t>
            </a:r>
            <a:r>
              <a:rPr lang="en-US" sz="2400" b="1" dirty="0">
                <a:latin typeface="Courier New" panose="02070309020205020404"/>
                <a:ea typeface="Courier New" panose="02070309020205020404"/>
              </a:rPr>
              <a:t>code1.c</a:t>
            </a:r>
            <a:r>
              <a:rPr lang="en-US" sz="2400" dirty="0">
                <a:ea typeface="Arial" panose="020B0604020202020204"/>
              </a:rPr>
              <a:t>,</a:t>
            </a:r>
            <a:r>
              <a:rPr lang="en-US" sz="2400" b="1" dirty="0">
                <a:ea typeface="Arial" panose="020B0604020202020204"/>
              </a:rPr>
              <a:t> </a:t>
            </a:r>
            <a:r>
              <a:rPr lang="en-US" sz="2400" b="1" dirty="0">
                <a:latin typeface="Courier New" panose="02070309020205020404"/>
                <a:ea typeface="Courier New" panose="02070309020205020404"/>
              </a:rPr>
              <a:t>code2.c</a:t>
            </a:r>
            <a:endParaRPr lang="en-US" sz="2400" dirty="0"/>
          </a:p>
          <a:p>
            <a:endParaRPr lang="en-US" sz="800" dirty="0">
              <a:latin typeface="Arial" panose="020B0604020202020204" pitchFamily="34" charset="0"/>
            </a:endParaRPr>
          </a:p>
          <a:p>
            <a:r>
              <a:rPr lang="fr-FR" dirty="0">
                <a:latin typeface="Arial" panose="020B0604020202020204" pitchFamily="34" charset="0"/>
              </a:rPr>
              <a:t>Graphique avec dépendances de fichiers</a:t>
            </a:r>
            <a:endParaRPr lang="en-US" dirty="0">
              <a:latin typeface="Arial" panose="020B0604020202020204" pitchFamily="34" charset="0"/>
            </a:endParaRPr>
          </a:p>
        </p:txBody>
      </p:sp>
      <p:sp>
        <p:nvSpPr>
          <p:cNvPr id="9" name="Espace réservé du numéro de diapositive 4"/>
          <p:cNvSpPr>
            <a:spLocks noGrp="1"/>
          </p:cNvSpPr>
          <p:nvPr>
            <p:ph type="sldNum" sz="quarter" idx="11"/>
          </p:nvPr>
        </p:nvSpPr>
        <p:spPr>
          <a:xfrm>
            <a:off x="6336196" y="6381328"/>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11"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Titre 1"/>
          <p:cNvSpPr>
            <a:spLocks noGrp="1"/>
          </p:cNvSpPr>
          <p:nvPr>
            <p:ph type="title"/>
          </p:nvPr>
        </p:nvSpPr>
        <p:spPr>
          <a:xfrm>
            <a:off x="304800" y="152400"/>
            <a:ext cx="7772400" cy="533400"/>
          </a:xfrm>
        </p:spPr>
        <p:txBody>
          <a:bodyPr/>
          <a:lstStyle/>
          <a:p>
            <a:r>
              <a:rPr lang="fr-FR" sz="2800" dirty="0" smtClean="0">
                <a:latin typeface="Arial" panose="020B0604020202020204" pitchFamily="34" charset="0"/>
                <a:cs typeface="MS PGothic" panose="020B0600070205080204" charset="-128"/>
              </a:rPr>
              <a:t>L’outil</a:t>
            </a:r>
            <a:r>
              <a:rPr lang="fr-FR" sz="2800" dirty="0" smtClean="0">
                <a:latin typeface="Arial" panose="020B0604020202020204" pitchFamily="34" charset="0"/>
                <a:ea typeface="MS PGothic" panose="020B0600070205080204" charset="-128"/>
                <a:cs typeface="MS PGothic" panose="020B0600070205080204" charset="-128"/>
              </a:rPr>
              <a:t> </a:t>
            </a:r>
            <a:r>
              <a:rPr lang="fr-FR" sz="2800" dirty="0">
                <a:latin typeface="Courier New" panose="02070309020205020404"/>
                <a:ea typeface="MS PGothic" panose="020B0600070205080204" charset="-128"/>
                <a:cs typeface="Courier New" panose="02070309020205020404"/>
              </a:rPr>
              <a:t>make</a:t>
            </a:r>
            <a:r>
              <a:rPr lang="fr-FR" sz="2800" dirty="0">
                <a:latin typeface="+mn-lt"/>
                <a:ea typeface="MS PGothic" panose="020B0600070205080204" charset="-128"/>
                <a:cs typeface="Courier New" panose="02070309020205020404"/>
              </a:rPr>
              <a:t>: </a:t>
            </a:r>
            <a:r>
              <a:rPr lang="fr-FR" sz="2800" dirty="0" smtClean="0">
                <a:latin typeface="+mn-lt"/>
                <a:ea typeface="MS PGothic" panose="020B0600070205080204" charset="-128"/>
                <a:cs typeface="Courier New" panose="02070309020205020404"/>
              </a:rPr>
              <a:t>Exemple</a:t>
            </a:r>
            <a:endParaRPr lang="fr-FR" sz="2800" dirty="0">
              <a:latin typeface="+mn-lt"/>
              <a:ea typeface="MS PGothic" panose="020B0600070205080204" charset="-128"/>
              <a:cs typeface="Courier New" panose="02070309020205020404"/>
            </a:endParaRPr>
          </a:p>
        </p:txBody>
      </p:sp>
      <p:sp>
        <p:nvSpPr>
          <p:cNvPr id="8" name="Espace réservé du contenu 2"/>
          <p:cNvSpPr>
            <a:spLocks noGrp="1"/>
          </p:cNvSpPr>
          <p:nvPr>
            <p:ph idx="1"/>
          </p:nvPr>
        </p:nvSpPr>
        <p:spPr>
          <a:xfrm>
            <a:off x="287524" y="1016733"/>
            <a:ext cx="9073008" cy="1368151"/>
          </a:xfrm>
        </p:spPr>
        <p:txBody>
          <a:bodyPr/>
          <a:lstStyle/>
          <a:p>
            <a:r>
              <a:rPr lang="fr-FR" dirty="0">
                <a:latin typeface="Arial" panose="020B0604020202020204" pitchFamily="34" charset="0"/>
                <a:cs typeface="MS PGothic" panose="020B0600070205080204" charset="-128"/>
              </a:rPr>
              <a:t>Un programme C est composé de 3 fichiers</a:t>
            </a:r>
            <a:r>
              <a:rPr lang="en-US" dirty="0">
                <a:latin typeface="Arial" panose="020B0604020202020204" pitchFamily="34" charset="0"/>
                <a:cs typeface="MS PGothic" panose="020B0600070205080204" charset="-128"/>
              </a:rPr>
              <a:t> :</a:t>
            </a:r>
            <a:endParaRPr lang="en-US" dirty="0">
              <a:latin typeface="Arial" panose="020B0604020202020204" pitchFamily="34" charset="0"/>
              <a:cs typeface="MS PGothic" panose="020B0600070205080204" charset="-128"/>
            </a:endParaRPr>
          </a:p>
          <a:p>
            <a:pPr marL="0" lvl="1" indent="0">
              <a:buSzTx/>
              <a:buNone/>
            </a:pPr>
            <a:r>
              <a:rPr lang="en-US" sz="2400" b="1" dirty="0">
                <a:latin typeface="Courier New" panose="02070309020205020404"/>
                <a:ea typeface="Courier New" panose="02070309020205020404"/>
              </a:rPr>
              <a:t>prog.c</a:t>
            </a:r>
            <a:r>
              <a:rPr lang="en-US" sz="2400" dirty="0">
                <a:ea typeface="Arial" panose="020B0604020202020204"/>
              </a:rPr>
              <a:t>, </a:t>
            </a:r>
            <a:r>
              <a:rPr lang="en-US" sz="2400" b="1" dirty="0">
                <a:latin typeface="Courier New" panose="02070309020205020404"/>
                <a:ea typeface="Courier New" panose="02070309020205020404"/>
              </a:rPr>
              <a:t>code1.c</a:t>
            </a:r>
            <a:r>
              <a:rPr lang="en-US" sz="2400" dirty="0">
                <a:ea typeface="Arial" panose="020B0604020202020204"/>
              </a:rPr>
              <a:t>,</a:t>
            </a:r>
            <a:r>
              <a:rPr lang="en-US" sz="2400" b="1" dirty="0">
                <a:ea typeface="Arial" panose="020B0604020202020204"/>
              </a:rPr>
              <a:t> </a:t>
            </a:r>
            <a:r>
              <a:rPr lang="en-US" sz="2400" b="1" dirty="0">
                <a:latin typeface="Courier New" panose="02070309020205020404"/>
                <a:ea typeface="Courier New" panose="02070309020205020404"/>
              </a:rPr>
              <a:t>code2.c</a:t>
            </a:r>
            <a:endParaRPr lang="en-US" sz="2400" dirty="0"/>
          </a:p>
          <a:p>
            <a:endParaRPr lang="en-US" sz="800" dirty="0">
              <a:latin typeface="Arial" panose="020B0604020202020204" pitchFamily="34" charset="0"/>
            </a:endParaRPr>
          </a:p>
          <a:p>
            <a:r>
              <a:rPr lang="fr-FR" dirty="0">
                <a:latin typeface="Arial" panose="020B0604020202020204" pitchFamily="34" charset="0"/>
              </a:rPr>
              <a:t>Graphique avec dépendances de fichiers</a:t>
            </a:r>
            <a:endParaRPr lang="en-US" dirty="0">
              <a:latin typeface="Arial" panose="020B0604020202020204" pitchFamily="34" charset="0"/>
            </a:endParaRPr>
          </a:p>
          <a:p>
            <a:pPr marL="0" indent="0">
              <a:buNone/>
            </a:pPr>
            <a:endParaRPr lang="en-US" dirty="0">
              <a:latin typeface="Arial" panose="020B0604020202020204" pitchFamily="34" charset="0"/>
            </a:endParaRPr>
          </a:p>
        </p:txBody>
      </p:sp>
      <p:sp>
        <p:nvSpPr>
          <p:cNvPr id="9" name="CustomShape 4"/>
          <p:cNvSpPr/>
          <p:nvPr/>
        </p:nvSpPr>
        <p:spPr>
          <a:xfrm>
            <a:off x="2821634" y="3949195"/>
            <a:ext cx="2379648" cy="412804"/>
          </a:xfrm>
          <a:prstGeom prst="rect">
            <a:avLst/>
          </a:prstGeom>
        </p:spPr>
        <p:txBody>
          <a:bodyPr lIns="92070" tIns="46035" rIns="92070" bIns="46035"/>
          <a:lstStyle/>
          <a:p>
            <a:pPr algn="ctr">
              <a:lnSpc>
                <a:spcPct val="100000"/>
              </a:lnSpc>
              <a:buSzPct val="25000"/>
            </a:pPr>
            <a:r>
              <a:rPr lang="fr-FR" sz="2000" b="1" dirty="0">
                <a:latin typeface="Courier New" panose="02070309020205020404"/>
                <a:ea typeface="Courier New" panose="02070309020205020404"/>
              </a:rPr>
              <a:t>code1.o</a:t>
            </a:r>
            <a:endParaRPr dirty="0"/>
          </a:p>
        </p:txBody>
      </p:sp>
      <p:sp>
        <p:nvSpPr>
          <p:cNvPr id="10" name="CustomShape 5"/>
          <p:cNvSpPr/>
          <p:nvPr/>
        </p:nvSpPr>
        <p:spPr>
          <a:xfrm>
            <a:off x="5043593" y="3940704"/>
            <a:ext cx="2380892" cy="412804"/>
          </a:xfrm>
          <a:prstGeom prst="rect">
            <a:avLst/>
          </a:prstGeom>
        </p:spPr>
        <p:txBody>
          <a:bodyPr lIns="92070" tIns="46035" rIns="92070" bIns="46035"/>
          <a:lstStyle/>
          <a:p>
            <a:pPr algn="ctr">
              <a:lnSpc>
                <a:spcPct val="100000"/>
              </a:lnSpc>
              <a:buSzPct val="25000"/>
            </a:pPr>
            <a:r>
              <a:rPr lang="fr-FR" sz="2000" b="1" dirty="0">
                <a:latin typeface="Courier New" panose="02070309020205020404"/>
                <a:ea typeface="Courier New" panose="02070309020205020404"/>
              </a:rPr>
              <a:t>code2.o</a:t>
            </a:r>
            <a:endParaRPr dirty="0"/>
          </a:p>
        </p:txBody>
      </p:sp>
      <p:sp>
        <p:nvSpPr>
          <p:cNvPr id="11" name="CustomShape 6"/>
          <p:cNvSpPr/>
          <p:nvPr/>
        </p:nvSpPr>
        <p:spPr>
          <a:xfrm>
            <a:off x="1324052" y="3959319"/>
            <a:ext cx="1531795" cy="412804"/>
          </a:xfrm>
          <a:prstGeom prst="rect">
            <a:avLst/>
          </a:prstGeom>
        </p:spPr>
        <p:txBody>
          <a:bodyPr lIns="92070" tIns="46035" rIns="92070" bIns="46035"/>
          <a:lstStyle/>
          <a:p>
            <a:pPr algn="ctr">
              <a:lnSpc>
                <a:spcPct val="100000"/>
              </a:lnSpc>
              <a:buSzPct val="25000"/>
            </a:pPr>
            <a:r>
              <a:rPr lang="fr-FR" sz="2000" b="1" dirty="0">
                <a:latin typeface="Courier New" panose="02070309020205020404"/>
                <a:ea typeface="Courier New" panose="02070309020205020404"/>
              </a:rPr>
              <a:t>prog.o</a:t>
            </a:r>
            <a:endParaRPr dirty="0"/>
          </a:p>
        </p:txBody>
      </p:sp>
      <p:sp>
        <p:nvSpPr>
          <p:cNvPr id="12" name="Line 7"/>
          <p:cNvSpPr/>
          <p:nvPr/>
        </p:nvSpPr>
        <p:spPr>
          <a:xfrm flipV="1">
            <a:off x="2111254" y="2977277"/>
            <a:ext cx="1304125" cy="984982"/>
          </a:xfrm>
          <a:prstGeom prst="line">
            <a:avLst/>
          </a:prstGeom>
          <a:ln w="12600">
            <a:solidFill>
              <a:srgbClr val="000208"/>
            </a:solidFill>
            <a:miter/>
            <a:tailEnd type="triangle" w="med" len="med"/>
          </a:ln>
        </p:spPr>
      </p:sp>
      <p:sp>
        <p:nvSpPr>
          <p:cNvPr id="13" name="Line 8"/>
          <p:cNvSpPr/>
          <p:nvPr/>
        </p:nvSpPr>
        <p:spPr>
          <a:xfrm flipH="1" flipV="1">
            <a:off x="4548131" y="2969765"/>
            <a:ext cx="1656827" cy="954936"/>
          </a:xfrm>
          <a:prstGeom prst="line">
            <a:avLst/>
          </a:prstGeom>
          <a:ln w="12600">
            <a:solidFill>
              <a:srgbClr val="000208"/>
            </a:solidFill>
            <a:miter/>
            <a:tailEnd type="triangle" w="med" len="med"/>
          </a:ln>
        </p:spPr>
      </p:sp>
      <p:sp>
        <p:nvSpPr>
          <p:cNvPr id="14" name="Line 9"/>
          <p:cNvSpPr/>
          <p:nvPr/>
        </p:nvSpPr>
        <p:spPr>
          <a:xfrm flipV="1">
            <a:off x="4016279" y="2960948"/>
            <a:ext cx="1244" cy="1008169"/>
          </a:xfrm>
          <a:prstGeom prst="line">
            <a:avLst/>
          </a:prstGeom>
          <a:ln w="12600">
            <a:solidFill>
              <a:srgbClr val="000208"/>
            </a:solidFill>
            <a:miter/>
            <a:tailEnd type="triangle" w="med" len="med"/>
          </a:ln>
        </p:spPr>
      </p:sp>
      <p:sp>
        <p:nvSpPr>
          <p:cNvPr id="15" name="CustomShape 10"/>
          <p:cNvSpPr/>
          <p:nvPr/>
        </p:nvSpPr>
        <p:spPr>
          <a:xfrm>
            <a:off x="7255909" y="3924701"/>
            <a:ext cx="1168519" cy="412804"/>
          </a:xfrm>
          <a:prstGeom prst="rect">
            <a:avLst/>
          </a:prstGeom>
        </p:spPr>
        <p:txBody>
          <a:bodyPr lIns="92070" tIns="46035" rIns="92070" bIns="46035"/>
          <a:lstStyle/>
          <a:p>
            <a:pPr algn="ctr">
              <a:lnSpc>
                <a:spcPct val="100000"/>
              </a:lnSpc>
              <a:buSzPct val="25000"/>
            </a:pPr>
            <a:r>
              <a:rPr lang="fr-FR" sz="2000" dirty="0">
                <a:solidFill>
                  <a:srgbClr val="800000"/>
                </a:solidFill>
                <a:latin typeface="Arial" panose="020B0604020202020204"/>
                <a:ea typeface="Arial" panose="020B0604020202020204"/>
              </a:rPr>
              <a:t>(</a:t>
            </a:r>
            <a:r>
              <a:rPr lang="fr-FR" sz="2000" b="1" dirty="0" smtClean="0">
                <a:solidFill>
                  <a:srgbClr val="800000"/>
                </a:solidFill>
                <a:latin typeface="Arial" panose="020B0604020202020204"/>
                <a:ea typeface="Arial" panose="020B0604020202020204"/>
              </a:rPr>
              <a:t>objet</a:t>
            </a:r>
            <a:r>
              <a:rPr lang="fr-FR" sz="2000" dirty="0">
                <a:solidFill>
                  <a:srgbClr val="800000"/>
                </a:solidFill>
                <a:latin typeface="Arial" panose="020B0604020202020204"/>
                <a:ea typeface="Arial" panose="020B0604020202020204"/>
              </a:rPr>
              <a:t>)</a:t>
            </a:r>
            <a:endParaRPr dirty="0">
              <a:solidFill>
                <a:srgbClr val="800000"/>
              </a:solidFill>
            </a:endParaRPr>
          </a:p>
        </p:txBody>
      </p:sp>
      <p:sp>
        <p:nvSpPr>
          <p:cNvPr id="16" name="CustomShape 13"/>
          <p:cNvSpPr/>
          <p:nvPr/>
        </p:nvSpPr>
        <p:spPr>
          <a:xfrm>
            <a:off x="323528" y="4554841"/>
            <a:ext cx="8498262" cy="1523292"/>
          </a:xfrm>
          <a:prstGeom prst="rect">
            <a:avLst/>
          </a:prstGeom>
          <a:solidFill>
            <a:srgbClr val="EAEAEA"/>
          </a:solidFill>
        </p:spPr>
        <p:txBody>
          <a:bodyPr lIns="92070" tIns="46035" rIns="92070" bIns="46035"/>
          <a:lstStyle/>
          <a:p>
            <a:pPr algn="l">
              <a:lnSpc>
                <a:spcPct val="100000"/>
              </a:lnSpc>
              <a:buSzPct val="100000"/>
            </a:pPr>
            <a:r>
              <a:rPr lang="fr-FR" sz="2000" dirty="0">
                <a:latin typeface="Arial" panose="020B0604020202020204"/>
              </a:rPr>
              <a:t>Pour produire le fichier exécutable prog, il faut exécuter la commande suivante</a:t>
            </a:r>
            <a:r>
              <a:rPr lang="en-US" sz="2000" dirty="0" smtClean="0">
                <a:latin typeface="Arial" panose="020B0604020202020204"/>
              </a:rPr>
              <a:t> </a:t>
            </a:r>
            <a:r>
              <a:rPr lang="en-US" sz="2000" dirty="0">
                <a:latin typeface="Arial" panose="020B0604020202020204"/>
              </a:rPr>
              <a:t>: </a:t>
            </a:r>
            <a:endParaRPr lang="en-US" dirty="0"/>
          </a:p>
          <a:p>
            <a:pPr algn="l">
              <a:lnSpc>
                <a:spcPct val="100000"/>
              </a:lnSpc>
              <a:buSzPct val="25000"/>
            </a:pPr>
            <a:r>
              <a:rPr lang="en-US" sz="2000" b="1" dirty="0">
                <a:latin typeface="Courier New" panose="02070309020205020404"/>
                <a:ea typeface="Courier New" panose="02070309020205020404"/>
              </a:rPr>
              <a:t>	gcc –o prog prog.o code1.o code2.o</a:t>
            </a:r>
            <a:endParaRPr lang="en-US" dirty="0"/>
          </a:p>
          <a:p>
            <a:pPr algn="l">
              <a:lnSpc>
                <a:spcPct val="100000"/>
              </a:lnSpc>
              <a:buSzPct val="25000"/>
            </a:pPr>
            <a:r>
              <a:rPr lang="fr-FR" sz="2000" dirty="0">
                <a:latin typeface="Arial" panose="020B0604020202020204"/>
                <a:ea typeface="Arial" panose="020B0604020202020204"/>
              </a:rPr>
              <a:t>Le fichier prog</a:t>
            </a:r>
            <a:r>
              <a:rPr lang="fr-FR" sz="2000" b="1" dirty="0">
                <a:solidFill>
                  <a:srgbClr val="FF0000"/>
                </a:solidFill>
                <a:latin typeface="Courier" pitchFamily="49" charset="0"/>
                <a:ea typeface="Arial" panose="020B0604020202020204"/>
              </a:rPr>
              <a:t> dépend </a:t>
            </a:r>
            <a:r>
              <a:rPr lang="fr-FR" sz="2000" dirty="0">
                <a:latin typeface="Arial" panose="020B0604020202020204"/>
                <a:ea typeface="Arial" panose="020B0604020202020204"/>
              </a:rPr>
              <a:t>des fichiers objets prog.o, code1.o et code2.o. </a:t>
            </a:r>
            <a:endParaRPr lang="en-US" dirty="0"/>
          </a:p>
        </p:txBody>
      </p:sp>
      <p:sp>
        <p:nvSpPr>
          <p:cNvPr id="17" name="CustomShape 3"/>
          <p:cNvSpPr/>
          <p:nvPr/>
        </p:nvSpPr>
        <p:spPr>
          <a:xfrm>
            <a:off x="3131332" y="2564904"/>
            <a:ext cx="1706703" cy="496869"/>
          </a:xfrm>
          <a:prstGeom prst="rect">
            <a:avLst/>
          </a:prstGeom>
        </p:spPr>
        <p:txBody>
          <a:bodyPr lIns="92070" tIns="46035" rIns="92070" bIns="46035"/>
          <a:lstStyle/>
          <a:p>
            <a:pPr algn="ctr">
              <a:lnSpc>
                <a:spcPct val="100000"/>
              </a:lnSpc>
              <a:buSzPct val="25000"/>
            </a:pPr>
            <a:r>
              <a:rPr lang="fr-FR" sz="2000" b="1" dirty="0">
                <a:latin typeface="Courier New" panose="02070309020205020404"/>
                <a:ea typeface="Courier New" panose="02070309020205020404"/>
              </a:rPr>
              <a:t>prog</a:t>
            </a:r>
            <a:endParaRPr dirty="0"/>
          </a:p>
        </p:txBody>
      </p:sp>
      <p:sp>
        <p:nvSpPr>
          <p:cNvPr id="18" name="CustomShape 4"/>
          <p:cNvSpPr/>
          <p:nvPr/>
        </p:nvSpPr>
        <p:spPr>
          <a:xfrm>
            <a:off x="7087779" y="2572091"/>
            <a:ext cx="2128737" cy="496869"/>
          </a:xfrm>
          <a:prstGeom prst="rect">
            <a:avLst/>
          </a:prstGeom>
        </p:spPr>
        <p:txBody>
          <a:bodyPr lIns="92070" tIns="46035" rIns="92070" bIns="46035"/>
          <a:lstStyle/>
          <a:p>
            <a:pPr algn="ctr">
              <a:lnSpc>
                <a:spcPct val="100000"/>
              </a:lnSpc>
              <a:buSzPct val="25000"/>
            </a:pPr>
            <a:r>
              <a:rPr lang="fr-FR" sz="2000" dirty="0" smtClean="0">
                <a:solidFill>
                  <a:srgbClr val="800000"/>
                </a:solidFill>
                <a:latin typeface="Arial" panose="020B0604020202020204"/>
                <a:ea typeface="Arial" panose="020B0604020202020204"/>
              </a:rPr>
              <a:t>(</a:t>
            </a:r>
            <a:r>
              <a:rPr lang="fr-FR" sz="2000" b="1" dirty="0" smtClean="0">
                <a:solidFill>
                  <a:srgbClr val="800000"/>
                </a:solidFill>
                <a:latin typeface="Arial" panose="020B0604020202020204"/>
                <a:ea typeface="Arial" panose="020B0604020202020204"/>
              </a:rPr>
              <a:t>exécutable</a:t>
            </a:r>
            <a:r>
              <a:rPr lang="fr-FR" sz="2000" dirty="0" smtClean="0">
                <a:solidFill>
                  <a:srgbClr val="800000"/>
                </a:solidFill>
                <a:latin typeface="Arial" panose="020B0604020202020204"/>
                <a:ea typeface="Arial" panose="020B0604020202020204"/>
              </a:rPr>
              <a:t>)</a:t>
            </a:r>
            <a:endParaRPr dirty="0">
              <a:solidFill>
                <a:srgbClr val="800000"/>
              </a:solidFill>
            </a:endParaRPr>
          </a:p>
        </p:txBody>
      </p:sp>
      <p:sp>
        <p:nvSpPr>
          <p:cNvPr id="19" name="CustomShape 5"/>
          <p:cNvSpPr/>
          <p:nvPr/>
        </p:nvSpPr>
        <p:spPr>
          <a:xfrm>
            <a:off x="232367" y="2575856"/>
            <a:ext cx="2051816" cy="496869"/>
          </a:xfrm>
          <a:prstGeom prst="rect">
            <a:avLst/>
          </a:prstGeom>
        </p:spPr>
        <p:txBody>
          <a:bodyPr lIns="92070" tIns="46035" rIns="92070" bIns="46035"/>
          <a:lstStyle/>
          <a:p>
            <a:pPr algn="ctr">
              <a:lnSpc>
                <a:spcPct val="100000"/>
              </a:lnSpc>
              <a:buSzPct val="25000"/>
            </a:pPr>
            <a:r>
              <a:rPr lang="fr-FR" sz="2000" dirty="0" smtClean="0">
                <a:solidFill>
                  <a:srgbClr val="800000"/>
                </a:solidFill>
                <a:latin typeface="Arial" panose="020B0604020202020204"/>
                <a:ea typeface="Arial" panose="020B0604020202020204"/>
              </a:rPr>
              <a:t>Objectif final :</a:t>
            </a:r>
            <a:endParaRPr dirty="0">
              <a:solidFill>
                <a:srgbClr val="800000"/>
              </a:solidFill>
            </a:endParaRPr>
          </a:p>
        </p:txBody>
      </p:sp>
      <p:sp>
        <p:nvSpPr>
          <p:cNvPr id="22"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A. Kritikakou		 L3Info – C/Unix</a:t>
            </a:r>
            <a:endParaRPr lang="fr-FR" sz="18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21" name="Espace réservé du pied de page 3"/>
          <p:cNvSpPr>
            <a:spLocks noGrp="1"/>
          </p:cNvSpPr>
          <p:nvPr>
            <p:ph type="ftr" sz="quarter" idx="10"/>
          </p:nvPr>
        </p:nvSpPr>
        <p:spPr>
          <a:xfrm>
            <a:off x="3124200" y="6400800"/>
            <a:ext cx="2895600" cy="3810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r>
              <a:rPr lang="fr-FR" sz="1800" dirty="0">
                <a:solidFill>
                  <a:srgbClr val="000208"/>
                </a:solidFill>
              </a:rPr>
              <a:t>L3Info – Unix/C</a:t>
            </a:r>
            <a:endParaRPr lang="fr-FR" sz="1800" dirty="0">
              <a:solidFill>
                <a:srgbClr val="000208"/>
              </a:solidFill>
            </a:endParaRPr>
          </a:p>
        </p:txBody>
      </p:sp>
      <p:sp>
        <p:nvSpPr>
          <p:cNvPr id="7" name="Titre 1"/>
          <p:cNvSpPr>
            <a:spLocks noGrp="1"/>
          </p:cNvSpPr>
          <p:nvPr>
            <p:ph type="title"/>
          </p:nvPr>
        </p:nvSpPr>
        <p:spPr>
          <a:xfrm>
            <a:off x="304800" y="152400"/>
            <a:ext cx="7772400" cy="533400"/>
          </a:xfrm>
        </p:spPr>
        <p:txBody>
          <a:bodyPr/>
          <a:lstStyle/>
          <a:p>
            <a:r>
              <a:rPr lang="fr-FR" sz="2800" dirty="0" smtClean="0">
                <a:latin typeface="Arial" panose="020B0604020202020204" pitchFamily="34" charset="0"/>
                <a:cs typeface="MS PGothic" panose="020B0600070205080204" charset="-128"/>
              </a:rPr>
              <a:t>L’outil</a:t>
            </a:r>
            <a:r>
              <a:rPr lang="fr-FR" sz="2800" dirty="0" smtClean="0">
                <a:latin typeface="Arial" panose="020B0604020202020204" pitchFamily="34" charset="0"/>
                <a:ea typeface="MS PGothic" panose="020B0600070205080204" charset="-128"/>
                <a:cs typeface="MS PGothic" panose="020B0600070205080204" charset="-128"/>
              </a:rPr>
              <a:t> </a:t>
            </a:r>
            <a:r>
              <a:rPr lang="fr-FR" sz="2800" dirty="0">
                <a:latin typeface="Courier New" panose="02070309020205020404"/>
                <a:ea typeface="MS PGothic" panose="020B0600070205080204" charset="-128"/>
                <a:cs typeface="Courier New" panose="02070309020205020404"/>
              </a:rPr>
              <a:t>make</a:t>
            </a:r>
            <a:r>
              <a:rPr lang="fr-FR" sz="2800" dirty="0">
                <a:latin typeface="+mn-lt"/>
                <a:ea typeface="MS PGothic" panose="020B0600070205080204" charset="-128"/>
                <a:cs typeface="Courier New" panose="02070309020205020404"/>
              </a:rPr>
              <a:t>: </a:t>
            </a:r>
            <a:r>
              <a:rPr lang="fr-FR" sz="2800" dirty="0" smtClean="0">
                <a:latin typeface="+mn-lt"/>
                <a:ea typeface="MS PGothic" panose="020B0600070205080204" charset="-128"/>
                <a:cs typeface="Courier New" panose="02070309020205020404"/>
              </a:rPr>
              <a:t>Exemple</a:t>
            </a:r>
            <a:endParaRPr lang="fr-FR" sz="2800" dirty="0">
              <a:latin typeface="+mn-lt"/>
              <a:ea typeface="MS PGothic" panose="020B0600070205080204" charset="-128"/>
              <a:cs typeface="Courier New" panose="02070309020205020404"/>
            </a:endParaRPr>
          </a:p>
        </p:txBody>
      </p:sp>
      <p:sp>
        <p:nvSpPr>
          <p:cNvPr id="8" name="Espace réservé du contenu 2"/>
          <p:cNvSpPr>
            <a:spLocks noGrp="1"/>
          </p:cNvSpPr>
          <p:nvPr>
            <p:ph idx="1"/>
          </p:nvPr>
        </p:nvSpPr>
        <p:spPr>
          <a:xfrm>
            <a:off x="287524" y="1016733"/>
            <a:ext cx="9073008" cy="1368151"/>
          </a:xfrm>
        </p:spPr>
        <p:txBody>
          <a:bodyPr/>
          <a:lstStyle/>
          <a:p>
            <a:r>
              <a:rPr lang="en-US" dirty="0">
                <a:latin typeface="Arial" panose="020B0604020202020204" pitchFamily="34" charset="0"/>
                <a:cs typeface="MS PGothic" panose="020B0600070205080204" charset="-128"/>
              </a:rPr>
              <a:t>A C program consist of 3 files:</a:t>
            </a:r>
            <a:endParaRPr lang="en-US" dirty="0">
              <a:latin typeface="Arial" panose="020B0604020202020204" pitchFamily="34" charset="0"/>
              <a:cs typeface="MS PGothic" panose="020B0600070205080204" charset="-128"/>
            </a:endParaRPr>
          </a:p>
          <a:p>
            <a:pPr marL="0" lvl="1" indent="0">
              <a:buSzTx/>
              <a:buNone/>
            </a:pPr>
            <a:r>
              <a:rPr lang="en-US" sz="2400" b="1" dirty="0">
                <a:latin typeface="Courier New" panose="02070309020205020404"/>
                <a:ea typeface="Courier New" panose="02070309020205020404"/>
              </a:rPr>
              <a:t>prog.c</a:t>
            </a:r>
            <a:r>
              <a:rPr lang="en-US" sz="2400" dirty="0">
                <a:ea typeface="Arial" panose="020B0604020202020204"/>
              </a:rPr>
              <a:t>, </a:t>
            </a:r>
            <a:r>
              <a:rPr lang="en-US" sz="2400" b="1" dirty="0">
                <a:latin typeface="Courier New" panose="02070309020205020404"/>
                <a:ea typeface="Courier New" panose="02070309020205020404"/>
              </a:rPr>
              <a:t>code1.c</a:t>
            </a:r>
            <a:r>
              <a:rPr lang="en-US" sz="2400" dirty="0">
                <a:ea typeface="Arial" panose="020B0604020202020204"/>
              </a:rPr>
              <a:t>,</a:t>
            </a:r>
            <a:r>
              <a:rPr lang="en-US" sz="2400" b="1" dirty="0">
                <a:ea typeface="Arial" panose="020B0604020202020204"/>
              </a:rPr>
              <a:t> </a:t>
            </a:r>
            <a:r>
              <a:rPr lang="en-US" sz="2400" b="1" dirty="0">
                <a:latin typeface="Courier New" panose="02070309020205020404"/>
                <a:ea typeface="Courier New" panose="02070309020205020404"/>
              </a:rPr>
              <a:t>code2.c</a:t>
            </a:r>
            <a:endParaRPr lang="en-US" sz="2400" dirty="0"/>
          </a:p>
          <a:p>
            <a:endParaRPr lang="en-US" sz="800" dirty="0">
              <a:latin typeface="Arial" panose="020B0604020202020204" pitchFamily="34" charset="0"/>
            </a:endParaRPr>
          </a:p>
          <a:p>
            <a:r>
              <a:rPr lang="en-US" dirty="0">
                <a:latin typeface="Arial" panose="020B0604020202020204" pitchFamily="34" charset="0"/>
              </a:rPr>
              <a:t>Graph with file dependencies</a:t>
            </a:r>
            <a:endParaRPr lang="en-US" dirty="0">
              <a:latin typeface="Arial" panose="020B0604020202020204" pitchFamily="34" charset="0"/>
            </a:endParaRPr>
          </a:p>
        </p:txBody>
      </p:sp>
      <p:sp>
        <p:nvSpPr>
          <p:cNvPr id="9" name="CustomShape 4"/>
          <p:cNvSpPr/>
          <p:nvPr/>
        </p:nvSpPr>
        <p:spPr>
          <a:xfrm>
            <a:off x="2821634" y="3949195"/>
            <a:ext cx="2379648" cy="412804"/>
          </a:xfrm>
          <a:prstGeom prst="rect">
            <a:avLst/>
          </a:prstGeom>
        </p:spPr>
        <p:txBody>
          <a:bodyPr lIns="92070" tIns="46035" rIns="92070" bIns="46035"/>
          <a:lstStyle/>
          <a:p>
            <a:pPr algn="ctr">
              <a:lnSpc>
                <a:spcPct val="100000"/>
              </a:lnSpc>
              <a:buSzPct val="25000"/>
            </a:pPr>
            <a:r>
              <a:rPr lang="fr-FR" sz="2000" b="1" dirty="0">
                <a:latin typeface="Courier New" panose="02070309020205020404"/>
                <a:ea typeface="Courier New" panose="02070309020205020404"/>
              </a:rPr>
              <a:t>code1.o</a:t>
            </a:r>
            <a:endParaRPr dirty="0"/>
          </a:p>
        </p:txBody>
      </p:sp>
      <p:sp>
        <p:nvSpPr>
          <p:cNvPr id="10" name="CustomShape 5"/>
          <p:cNvSpPr/>
          <p:nvPr/>
        </p:nvSpPr>
        <p:spPr>
          <a:xfrm>
            <a:off x="5043593" y="3940704"/>
            <a:ext cx="2380892" cy="412804"/>
          </a:xfrm>
          <a:prstGeom prst="rect">
            <a:avLst/>
          </a:prstGeom>
        </p:spPr>
        <p:txBody>
          <a:bodyPr lIns="92070" tIns="46035" rIns="92070" bIns="46035"/>
          <a:lstStyle/>
          <a:p>
            <a:pPr algn="ctr">
              <a:lnSpc>
                <a:spcPct val="100000"/>
              </a:lnSpc>
              <a:buSzPct val="25000"/>
            </a:pPr>
            <a:r>
              <a:rPr lang="fr-FR" sz="2000" b="1" dirty="0">
                <a:latin typeface="Courier New" panose="02070309020205020404"/>
                <a:ea typeface="Courier New" panose="02070309020205020404"/>
              </a:rPr>
              <a:t>code2.o</a:t>
            </a:r>
            <a:endParaRPr dirty="0"/>
          </a:p>
        </p:txBody>
      </p:sp>
      <p:sp>
        <p:nvSpPr>
          <p:cNvPr id="11" name="CustomShape 6"/>
          <p:cNvSpPr/>
          <p:nvPr/>
        </p:nvSpPr>
        <p:spPr>
          <a:xfrm>
            <a:off x="1324052" y="3959319"/>
            <a:ext cx="1531795" cy="412804"/>
          </a:xfrm>
          <a:prstGeom prst="rect">
            <a:avLst/>
          </a:prstGeom>
        </p:spPr>
        <p:txBody>
          <a:bodyPr lIns="92070" tIns="46035" rIns="92070" bIns="46035"/>
          <a:lstStyle/>
          <a:p>
            <a:pPr algn="ctr">
              <a:lnSpc>
                <a:spcPct val="100000"/>
              </a:lnSpc>
              <a:buSzPct val="25000"/>
            </a:pPr>
            <a:r>
              <a:rPr lang="fr-FR" sz="2000" b="1" dirty="0">
                <a:latin typeface="Courier New" panose="02070309020205020404"/>
                <a:ea typeface="Courier New" panose="02070309020205020404"/>
              </a:rPr>
              <a:t>prog.o</a:t>
            </a:r>
            <a:endParaRPr dirty="0"/>
          </a:p>
        </p:txBody>
      </p:sp>
      <p:sp>
        <p:nvSpPr>
          <p:cNvPr id="12" name="Line 7"/>
          <p:cNvSpPr/>
          <p:nvPr/>
        </p:nvSpPr>
        <p:spPr>
          <a:xfrm flipV="1">
            <a:off x="2111254" y="2977277"/>
            <a:ext cx="1304125" cy="984982"/>
          </a:xfrm>
          <a:prstGeom prst="line">
            <a:avLst/>
          </a:prstGeom>
          <a:ln w="12600">
            <a:solidFill>
              <a:srgbClr val="000208"/>
            </a:solidFill>
            <a:miter/>
            <a:tailEnd type="triangle" w="med" len="med"/>
          </a:ln>
        </p:spPr>
      </p:sp>
      <p:sp>
        <p:nvSpPr>
          <p:cNvPr id="13" name="Line 8"/>
          <p:cNvSpPr/>
          <p:nvPr/>
        </p:nvSpPr>
        <p:spPr>
          <a:xfrm flipH="1" flipV="1">
            <a:off x="4548131" y="2969765"/>
            <a:ext cx="1656827" cy="954936"/>
          </a:xfrm>
          <a:prstGeom prst="line">
            <a:avLst/>
          </a:prstGeom>
          <a:ln w="12600">
            <a:solidFill>
              <a:srgbClr val="000208"/>
            </a:solidFill>
            <a:miter/>
            <a:tailEnd type="triangle" w="med" len="med"/>
          </a:ln>
        </p:spPr>
      </p:sp>
      <p:sp>
        <p:nvSpPr>
          <p:cNvPr id="14" name="Line 9"/>
          <p:cNvSpPr/>
          <p:nvPr/>
        </p:nvSpPr>
        <p:spPr>
          <a:xfrm flipV="1">
            <a:off x="4016279" y="2960948"/>
            <a:ext cx="1244" cy="1008169"/>
          </a:xfrm>
          <a:prstGeom prst="line">
            <a:avLst/>
          </a:prstGeom>
          <a:ln w="12600">
            <a:solidFill>
              <a:srgbClr val="000208"/>
            </a:solidFill>
            <a:miter/>
            <a:tailEnd type="triangle" w="med" len="med"/>
          </a:ln>
        </p:spPr>
      </p:sp>
      <p:sp>
        <p:nvSpPr>
          <p:cNvPr id="15" name="CustomShape 10"/>
          <p:cNvSpPr/>
          <p:nvPr/>
        </p:nvSpPr>
        <p:spPr>
          <a:xfrm>
            <a:off x="7255909" y="3924701"/>
            <a:ext cx="1168519" cy="412804"/>
          </a:xfrm>
          <a:prstGeom prst="rect">
            <a:avLst/>
          </a:prstGeom>
        </p:spPr>
        <p:txBody>
          <a:bodyPr lIns="92070" tIns="46035" rIns="92070" bIns="46035"/>
          <a:lstStyle/>
          <a:p>
            <a:pPr algn="ctr">
              <a:lnSpc>
                <a:spcPct val="100000"/>
              </a:lnSpc>
              <a:buSzPct val="25000"/>
            </a:pPr>
            <a:r>
              <a:rPr lang="fr-FR" sz="2000" b="1" dirty="0">
                <a:solidFill>
                  <a:srgbClr val="800000"/>
                </a:solidFill>
                <a:latin typeface="Arial" panose="020B0604020202020204"/>
                <a:ea typeface="Arial" panose="020B0604020202020204"/>
              </a:rPr>
              <a:t>(</a:t>
            </a:r>
            <a:r>
              <a:rPr lang="fr-FR" sz="2000" b="1" dirty="0" smtClean="0">
                <a:solidFill>
                  <a:srgbClr val="800000"/>
                </a:solidFill>
                <a:latin typeface="Arial" panose="020B0604020202020204"/>
                <a:ea typeface="Arial" panose="020B0604020202020204"/>
              </a:rPr>
              <a:t>objet</a:t>
            </a:r>
            <a:r>
              <a:rPr lang="fr-FR" sz="2000" dirty="0">
                <a:solidFill>
                  <a:srgbClr val="800000"/>
                </a:solidFill>
                <a:latin typeface="Arial" panose="020B0604020202020204"/>
                <a:ea typeface="Arial" panose="020B0604020202020204"/>
              </a:rPr>
              <a:t>)</a:t>
            </a:r>
            <a:endParaRPr dirty="0">
              <a:solidFill>
                <a:srgbClr val="800000"/>
              </a:solidFill>
            </a:endParaRPr>
          </a:p>
        </p:txBody>
      </p:sp>
      <p:sp>
        <p:nvSpPr>
          <p:cNvPr id="17" name="CustomShape 3"/>
          <p:cNvSpPr/>
          <p:nvPr/>
        </p:nvSpPr>
        <p:spPr>
          <a:xfrm>
            <a:off x="3131332" y="2564904"/>
            <a:ext cx="1706703" cy="496869"/>
          </a:xfrm>
          <a:prstGeom prst="rect">
            <a:avLst/>
          </a:prstGeom>
        </p:spPr>
        <p:txBody>
          <a:bodyPr lIns="92070" tIns="46035" rIns="92070" bIns="46035"/>
          <a:lstStyle/>
          <a:p>
            <a:pPr algn="ctr">
              <a:lnSpc>
                <a:spcPct val="100000"/>
              </a:lnSpc>
              <a:buSzPct val="25000"/>
            </a:pPr>
            <a:r>
              <a:rPr lang="fr-FR" sz="2000" b="1" dirty="0">
                <a:latin typeface="Courier New" panose="02070309020205020404"/>
                <a:ea typeface="Courier New" panose="02070309020205020404"/>
              </a:rPr>
              <a:t>prog</a:t>
            </a:r>
            <a:endParaRPr dirty="0"/>
          </a:p>
        </p:txBody>
      </p:sp>
      <p:sp>
        <p:nvSpPr>
          <p:cNvPr id="18" name="CustomShape 4"/>
          <p:cNvSpPr/>
          <p:nvPr/>
        </p:nvSpPr>
        <p:spPr>
          <a:xfrm>
            <a:off x="7087779" y="2572091"/>
            <a:ext cx="2128737" cy="496869"/>
          </a:xfrm>
          <a:prstGeom prst="rect">
            <a:avLst/>
          </a:prstGeom>
        </p:spPr>
        <p:txBody>
          <a:bodyPr lIns="92070" tIns="46035" rIns="92070" bIns="46035"/>
          <a:lstStyle/>
          <a:p>
            <a:pPr algn="ctr">
              <a:lnSpc>
                <a:spcPct val="100000"/>
              </a:lnSpc>
              <a:buSzPct val="25000"/>
            </a:pPr>
            <a:r>
              <a:rPr lang="fr-FR" sz="2000" dirty="0">
                <a:solidFill>
                  <a:srgbClr val="800000"/>
                </a:solidFill>
                <a:latin typeface="Arial" panose="020B0604020202020204"/>
                <a:ea typeface="Arial" panose="020B0604020202020204"/>
              </a:rPr>
              <a:t>(</a:t>
            </a:r>
            <a:r>
              <a:rPr lang="fr-FR" sz="2000" b="1" dirty="0">
                <a:solidFill>
                  <a:srgbClr val="800000"/>
                </a:solidFill>
                <a:latin typeface="Arial" panose="020B0604020202020204"/>
                <a:ea typeface="Arial" panose="020B0604020202020204"/>
              </a:rPr>
              <a:t>executable</a:t>
            </a:r>
            <a:r>
              <a:rPr lang="fr-FR" sz="2000" dirty="0">
                <a:solidFill>
                  <a:srgbClr val="800000"/>
                </a:solidFill>
                <a:latin typeface="Arial" panose="020B0604020202020204"/>
                <a:ea typeface="Arial" panose="020B0604020202020204"/>
              </a:rPr>
              <a:t>)</a:t>
            </a:r>
            <a:endParaRPr dirty="0">
              <a:solidFill>
                <a:srgbClr val="800000"/>
              </a:solidFill>
            </a:endParaRPr>
          </a:p>
        </p:txBody>
      </p:sp>
      <p:sp>
        <p:nvSpPr>
          <p:cNvPr id="19" name="CustomShape 5"/>
          <p:cNvSpPr/>
          <p:nvPr/>
        </p:nvSpPr>
        <p:spPr>
          <a:xfrm>
            <a:off x="71500" y="2564906"/>
            <a:ext cx="2051816" cy="496869"/>
          </a:xfrm>
          <a:prstGeom prst="rect">
            <a:avLst/>
          </a:prstGeom>
        </p:spPr>
        <p:txBody>
          <a:bodyPr lIns="92070" tIns="46035" rIns="92070" bIns="46035"/>
          <a:lstStyle/>
          <a:p>
            <a:pPr algn="ctr">
              <a:lnSpc>
                <a:spcPct val="100000"/>
              </a:lnSpc>
              <a:buSzPct val="25000"/>
            </a:pPr>
            <a:r>
              <a:rPr lang="fr-FR" sz="2000" dirty="0">
                <a:solidFill>
                  <a:srgbClr val="800000"/>
                </a:solidFill>
                <a:latin typeface="Arial" panose="020B0604020202020204"/>
                <a:ea typeface="Arial" panose="020B0604020202020204"/>
              </a:rPr>
              <a:t>Final Target:</a:t>
            </a:r>
            <a:endParaRPr dirty="0">
              <a:solidFill>
                <a:srgbClr val="800000"/>
              </a:solidFill>
            </a:endParaRPr>
          </a:p>
        </p:txBody>
      </p:sp>
      <p:sp>
        <p:nvSpPr>
          <p:cNvPr id="22" name="CustomShape 13"/>
          <p:cNvSpPr/>
          <p:nvPr/>
        </p:nvSpPr>
        <p:spPr>
          <a:xfrm>
            <a:off x="323528" y="5769260"/>
            <a:ext cx="8498262" cy="1088740"/>
          </a:xfrm>
          <a:prstGeom prst="rect">
            <a:avLst/>
          </a:prstGeom>
          <a:solidFill>
            <a:srgbClr val="EAEAEA"/>
          </a:solidFill>
        </p:spPr>
        <p:txBody>
          <a:bodyPr lIns="92070" tIns="46035" rIns="92070" bIns="46035"/>
          <a:lstStyle/>
          <a:p>
            <a:pPr algn="l">
              <a:lnSpc>
                <a:spcPct val="100000"/>
              </a:lnSpc>
              <a:buSzPct val="25000"/>
            </a:pPr>
            <a:r>
              <a:rPr lang="fr-FR" sz="2000" dirty="0">
                <a:latin typeface="Arial" panose="020B0604020202020204"/>
              </a:rPr>
              <a:t>Pour produire le fichier objet prog.o, nous devons exécuter </a:t>
            </a:r>
            <a:endParaRPr lang="fr-FR" sz="2000" dirty="0" smtClean="0">
              <a:latin typeface="Arial" panose="020B0604020202020204"/>
            </a:endParaRPr>
          </a:p>
          <a:p>
            <a:pPr algn="l">
              <a:lnSpc>
                <a:spcPct val="100000"/>
              </a:lnSpc>
              <a:buSzPct val="25000"/>
            </a:pPr>
            <a:r>
              <a:rPr lang="fr-FR" sz="2000" b="1" dirty="0">
                <a:latin typeface="Arial" panose="020B0604020202020204"/>
                <a:ea typeface="Courier New" panose="02070309020205020404"/>
              </a:rPr>
              <a:t> </a:t>
            </a:r>
            <a:r>
              <a:rPr lang="fr-FR" sz="2000" b="1" dirty="0" smtClean="0">
                <a:latin typeface="Arial" panose="020B0604020202020204"/>
                <a:ea typeface="Courier New" panose="02070309020205020404"/>
              </a:rPr>
              <a:t>                           </a:t>
            </a:r>
            <a:r>
              <a:rPr lang="fr-FR" sz="2000" b="1" dirty="0" smtClean="0">
                <a:latin typeface="Courier New" panose="02070309020205020404"/>
                <a:ea typeface="Courier New" panose="02070309020205020404"/>
              </a:rPr>
              <a:t>gcc </a:t>
            </a:r>
            <a:r>
              <a:rPr lang="fr-FR" sz="2000" b="1" dirty="0">
                <a:latin typeface="Courier New" panose="02070309020205020404"/>
                <a:ea typeface="Courier New" panose="02070309020205020404"/>
              </a:rPr>
              <a:t>-c prog.c –o prog.o</a:t>
            </a:r>
            <a:endParaRPr lang="fr-FR" sz="2000" b="1" dirty="0"/>
          </a:p>
          <a:p>
            <a:pPr algn="l">
              <a:lnSpc>
                <a:spcPct val="100000"/>
              </a:lnSpc>
              <a:buSzPct val="25000"/>
            </a:pPr>
            <a:r>
              <a:rPr lang="fr-FR" sz="2000" dirty="0">
                <a:latin typeface="Arial" panose="020B0604020202020204"/>
                <a:ea typeface="Arial" panose="020B0604020202020204"/>
              </a:rPr>
              <a:t>Ainsi, le fichier </a:t>
            </a:r>
            <a:r>
              <a:rPr lang="fr-FR" sz="2000" b="1" dirty="0">
                <a:latin typeface="Courier New" panose="02070309020205020404" charset="0"/>
                <a:ea typeface="Arial" panose="020B0604020202020204"/>
                <a:cs typeface="Courier New" panose="02070309020205020404" charset="0"/>
              </a:rPr>
              <a:t>prog.o</a:t>
            </a:r>
            <a:r>
              <a:rPr lang="fr-FR" sz="2000" dirty="0">
                <a:latin typeface="Courier New" panose="02070309020205020404" charset="0"/>
                <a:ea typeface="Arial" panose="020B0604020202020204"/>
                <a:cs typeface="Courier New" panose="02070309020205020404" charset="0"/>
              </a:rPr>
              <a:t> </a:t>
            </a:r>
            <a:r>
              <a:rPr lang="fr-FR" sz="2000" b="1" dirty="0">
                <a:solidFill>
                  <a:srgbClr val="FF0000"/>
                </a:solidFill>
                <a:latin typeface="Courier New" panose="02070309020205020404" charset="0"/>
                <a:ea typeface="Arial" panose="020B0604020202020204"/>
                <a:cs typeface="Courier New" panose="02070309020205020404" charset="0"/>
              </a:rPr>
              <a:t>dépend</a:t>
            </a:r>
            <a:r>
              <a:rPr lang="fr-FR" sz="2000" dirty="0">
                <a:latin typeface="Courier New" panose="02070309020205020404" charset="0"/>
                <a:ea typeface="Arial" panose="020B0604020202020204"/>
                <a:cs typeface="Courier New" panose="02070309020205020404" charset="0"/>
              </a:rPr>
              <a:t> </a:t>
            </a:r>
            <a:r>
              <a:rPr lang="fr-FR" sz="2000" dirty="0">
                <a:latin typeface="Arial" panose="020B0604020202020204"/>
                <a:ea typeface="Arial" panose="020B0604020202020204"/>
              </a:rPr>
              <a:t>du fichier source </a:t>
            </a:r>
            <a:r>
              <a:rPr lang="fr-FR" sz="2000" b="1" dirty="0">
                <a:latin typeface="Courier New" panose="02070309020205020404" charset="0"/>
                <a:ea typeface="Arial" panose="020B0604020202020204"/>
                <a:cs typeface="Courier New" panose="02070309020205020404" charset="0"/>
              </a:rPr>
              <a:t>prog.c</a:t>
            </a:r>
            <a:endParaRPr lang="en-US" sz="2000" b="1" dirty="0">
              <a:latin typeface="Courier New" panose="02070309020205020404" charset="0"/>
              <a:cs typeface="Courier New" panose="02070309020205020404" charset="0"/>
            </a:endParaRPr>
          </a:p>
        </p:txBody>
      </p:sp>
      <p:sp>
        <p:nvSpPr>
          <p:cNvPr id="23" name="CustomShape 7"/>
          <p:cNvSpPr/>
          <p:nvPr/>
        </p:nvSpPr>
        <p:spPr>
          <a:xfrm>
            <a:off x="1167309" y="5148989"/>
            <a:ext cx="1532106" cy="412804"/>
          </a:xfrm>
          <a:prstGeom prst="rect">
            <a:avLst/>
          </a:prstGeom>
        </p:spPr>
        <p:txBody>
          <a:bodyPr lIns="92070" tIns="46035" rIns="92070" bIns="46035"/>
          <a:lstStyle/>
          <a:p>
            <a:pPr algn="ctr">
              <a:lnSpc>
                <a:spcPct val="100000"/>
              </a:lnSpc>
              <a:buSzPct val="25000"/>
            </a:pPr>
            <a:r>
              <a:rPr lang="fr-FR" sz="2000" b="1" dirty="0">
                <a:latin typeface="Courier New" panose="02070309020205020404"/>
                <a:ea typeface="Courier New" panose="02070309020205020404"/>
              </a:rPr>
              <a:t>prog.c</a:t>
            </a:r>
            <a:endParaRPr dirty="0"/>
          </a:p>
        </p:txBody>
      </p:sp>
      <p:sp>
        <p:nvSpPr>
          <p:cNvPr id="24" name="Line 8"/>
          <p:cNvSpPr/>
          <p:nvPr/>
        </p:nvSpPr>
        <p:spPr>
          <a:xfrm flipV="1">
            <a:off x="1932740" y="4401108"/>
            <a:ext cx="1244" cy="823975"/>
          </a:xfrm>
          <a:prstGeom prst="line">
            <a:avLst/>
          </a:prstGeom>
          <a:ln w="12600">
            <a:solidFill>
              <a:srgbClr val="000208"/>
            </a:solidFill>
            <a:miter/>
            <a:tailEnd type="triangle" w="med" len="med"/>
          </a:ln>
        </p:spPr>
      </p:sp>
      <p:sp>
        <p:nvSpPr>
          <p:cNvPr id="25" name="CustomShape 12"/>
          <p:cNvSpPr/>
          <p:nvPr/>
        </p:nvSpPr>
        <p:spPr>
          <a:xfrm>
            <a:off x="7093880" y="5092816"/>
            <a:ext cx="1264314" cy="412804"/>
          </a:xfrm>
          <a:prstGeom prst="rect">
            <a:avLst/>
          </a:prstGeom>
        </p:spPr>
        <p:txBody>
          <a:bodyPr lIns="92070" tIns="46035" rIns="92070" bIns="46035"/>
          <a:lstStyle/>
          <a:p>
            <a:pPr algn="ctr">
              <a:lnSpc>
                <a:spcPct val="100000"/>
              </a:lnSpc>
              <a:buSzPct val="25000"/>
            </a:pPr>
            <a:r>
              <a:rPr lang="fr-FR" sz="2000" dirty="0">
                <a:solidFill>
                  <a:srgbClr val="800000"/>
                </a:solidFill>
                <a:latin typeface="Arial" panose="020B0604020202020204"/>
                <a:ea typeface="Arial" panose="020B0604020202020204"/>
              </a:rPr>
              <a:t>(</a:t>
            </a:r>
            <a:r>
              <a:rPr lang="fr-FR" sz="2000" b="1" dirty="0">
                <a:solidFill>
                  <a:srgbClr val="800000"/>
                </a:solidFill>
                <a:latin typeface="Arial" panose="020B0604020202020204"/>
                <a:ea typeface="Arial" panose="020B0604020202020204"/>
              </a:rPr>
              <a:t>source</a:t>
            </a:r>
            <a:r>
              <a:rPr lang="fr-FR" sz="2000" dirty="0">
                <a:solidFill>
                  <a:srgbClr val="800000"/>
                </a:solidFill>
                <a:latin typeface="Arial" panose="020B0604020202020204"/>
                <a:ea typeface="Arial" panose="020B0604020202020204"/>
              </a:rPr>
              <a:t>)</a:t>
            </a:r>
            <a:endParaRPr dirty="0">
              <a:solidFill>
                <a:srgbClr val="800000"/>
              </a:solidFill>
            </a:endParaRPr>
          </a:p>
        </p:txBody>
      </p:sp>
      <p:sp>
        <p:nvSpPr>
          <p:cNvPr id="26" name="CustomShape 17"/>
          <p:cNvSpPr/>
          <p:nvPr/>
        </p:nvSpPr>
        <p:spPr>
          <a:xfrm>
            <a:off x="1295636" y="3897052"/>
            <a:ext cx="1476164" cy="1762582"/>
          </a:xfrm>
          <a:prstGeom prst="rect">
            <a:avLst/>
          </a:prstGeom>
          <a:ln w="6480">
            <a:solidFill>
              <a:srgbClr val="800000"/>
            </a:solidFill>
            <a:custDash>
              <a:ds d="72000" sp="54000"/>
            </a:custDash>
            <a:miter/>
          </a:ln>
        </p:spPr>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21" name="Espace réservé du pied de page 3"/>
          <p:cNvSpPr>
            <a:spLocks noGrp="1"/>
          </p:cNvSpPr>
          <p:nvPr>
            <p:ph type="ftr" sz="quarter" idx="10"/>
          </p:nvPr>
        </p:nvSpPr>
        <p:spPr>
          <a:xfrm>
            <a:off x="3124200" y="6400800"/>
            <a:ext cx="2895600" cy="3810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r>
              <a:rPr lang="fr-FR" sz="1800" dirty="0">
                <a:solidFill>
                  <a:srgbClr val="000208"/>
                </a:solidFill>
              </a:rPr>
              <a:t>L3Info – Unix/C</a:t>
            </a:r>
            <a:endParaRPr lang="fr-FR" sz="1800" dirty="0">
              <a:solidFill>
                <a:srgbClr val="000208"/>
              </a:solidFill>
            </a:endParaRPr>
          </a:p>
        </p:txBody>
      </p:sp>
      <p:sp>
        <p:nvSpPr>
          <p:cNvPr id="7" name="Titre 1"/>
          <p:cNvSpPr>
            <a:spLocks noGrp="1"/>
          </p:cNvSpPr>
          <p:nvPr>
            <p:ph type="title"/>
          </p:nvPr>
        </p:nvSpPr>
        <p:spPr>
          <a:xfrm>
            <a:off x="304800" y="152400"/>
            <a:ext cx="7772400" cy="533400"/>
          </a:xfrm>
        </p:spPr>
        <p:txBody>
          <a:bodyPr/>
          <a:lstStyle/>
          <a:p>
            <a:r>
              <a:rPr lang="fr-FR" sz="2800" dirty="0" smtClean="0">
                <a:latin typeface="Arial" panose="020B0604020202020204" pitchFamily="34" charset="0"/>
                <a:cs typeface="MS PGothic" panose="020B0600070205080204" charset="-128"/>
              </a:rPr>
              <a:t>L’outil</a:t>
            </a:r>
            <a:r>
              <a:rPr lang="fr-FR" sz="2800" dirty="0" smtClean="0">
                <a:latin typeface="Arial" panose="020B0604020202020204" pitchFamily="34" charset="0"/>
                <a:ea typeface="MS PGothic" panose="020B0600070205080204" charset="-128"/>
                <a:cs typeface="MS PGothic" panose="020B0600070205080204" charset="-128"/>
              </a:rPr>
              <a:t> </a:t>
            </a:r>
            <a:r>
              <a:rPr lang="fr-FR" sz="2800" dirty="0">
                <a:latin typeface="Courier New" panose="02070309020205020404"/>
                <a:ea typeface="MS PGothic" panose="020B0600070205080204" charset="-128"/>
                <a:cs typeface="Courier New" panose="02070309020205020404"/>
              </a:rPr>
              <a:t>make</a:t>
            </a:r>
            <a:r>
              <a:rPr lang="fr-FR" sz="2800" dirty="0">
                <a:latin typeface="+mn-lt"/>
                <a:ea typeface="MS PGothic" panose="020B0600070205080204" charset="-128"/>
                <a:cs typeface="Courier New" panose="02070309020205020404"/>
              </a:rPr>
              <a:t>: </a:t>
            </a:r>
            <a:r>
              <a:rPr lang="fr-FR" sz="2800" dirty="0" smtClean="0">
                <a:latin typeface="+mn-lt"/>
                <a:ea typeface="MS PGothic" panose="020B0600070205080204" charset="-128"/>
                <a:cs typeface="Courier New" panose="02070309020205020404"/>
              </a:rPr>
              <a:t>Exemple</a:t>
            </a:r>
            <a:endParaRPr lang="fr-FR" sz="2800" dirty="0">
              <a:latin typeface="+mn-lt"/>
              <a:ea typeface="MS PGothic" panose="020B0600070205080204" charset="-128"/>
              <a:cs typeface="Courier New" panose="02070309020205020404"/>
            </a:endParaRPr>
          </a:p>
        </p:txBody>
      </p:sp>
      <p:sp>
        <p:nvSpPr>
          <p:cNvPr id="8" name="Espace réservé du contenu 2"/>
          <p:cNvSpPr>
            <a:spLocks noGrp="1"/>
          </p:cNvSpPr>
          <p:nvPr>
            <p:ph idx="1"/>
          </p:nvPr>
        </p:nvSpPr>
        <p:spPr>
          <a:xfrm>
            <a:off x="287524" y="1016733"/>
            <a:ext cx="9073008" cy="1368151"/>
          </a:xfrm>
        </p:spPr>
        <p:txBody>
          <a:bodyPr/>
          <a:lstStyle/>
          <a:p>
            <a:r>
              <a:rPr lang="fr-FR" dirty="0" smtClean="0">
                <a:latin typeface="Arial" panose="020B0604020202020204" pitchFamily="34" charset="0"/>
                <a:cs typeface="MS PGothic" panose="020B0600070205080204" charset="-128"/>
              </a:rPr>
              <a:t>Un </a:t>
            </a:r>
            <a:r>
              <a:rPr lang="fr-FR" dirty="0">
                <a:latin typeface="Arial" panose="020B0604020202020204" pitchFamily="34" charset="0"/>
                <a:cs typeface="MS PGothic" panose="020B0600070205080204" charset="-128"/>
              </a:rPr>
              <a:t>programme C est composé de 3 fichiers </a:t>
            </a:r>
            <a:r>
              <a:rPr lang="en-US" dirty="0" smtClean="0">
                <a:latin typeface="Arial" panose="020B0604020202020204" pitchFamily="34" charset="0"/>
                <a:cs typeface="MS PGothic" panose="020B0600070205080204" charset="-128"/>
              </a:rPr>
              <a:t>:</a:t>
            </a:r>
            <a:endParaRPr lang="en-US" dirty="0">
              <a:latin typeface="Arial" panose="020B0604020202020204" pitchFamily="34" charset="0"/>
              <a:cs typeface="MS PGothic" panose="020B0600070205080204" charset="-128"/>
            </a:endParaRPr>
          </a:p>
          <a:p>
            <a:pPr marL="0" lvl="1" indent="0">
              <a:buSzTx/>
              <a:buNone/>
            </a:pPr>
            <a:r>
              <a:rPr lang="en-US" sz="2400" b="1" dirty="0">
                <a:latin typeface="Courier New" panose="02070309020205020404"/>
                <a:ea typeface="Courier New" panose="02070309020205020404"/>
              </a:rPr>
              <a:t>prog.c</a:t>
            </a:r>
            <a:r>
              <a:rPr lang="en-US" sz="2400" dirty="0">
                <a:ea typeface="Arial" panose="020B0604020202020204"/>
              </a:rPr>
              <a:t>, </a:t>
            </a:r>
            <a:r>
              <a:rPr lang="en-US" sz="2400" b="1" dirty="0">
                <a:latin typeface="Courier New" panose="02070309020205020404"/>
                <a:ea typeface="Courier New" panose="02070309020205020404"/>
              </a:rPr>
              <a:t>code1.c</a:t>
            </a:r>
            <a:r>
              <a:rPr lang="en-US" sz="2400" dirty="0">
                <a:ea typeface="Arial" panose="020B0604020202020204"/>
              </a:rPr>
              <a:t>,</a:t>
            </a:r>
            <a:r>
              <a:rPr lang="en-US" sz="2400" b="1" dirty="0">
                <a:ea typeface="Arial" panose="020B0604020202020204"/>
              </a:rPr>
              <a:t> </a:t>
            </a:r>
            <a:r>
              <a:rPr lang="en-US" sz="2400" b="1" dirty="0">
                <a:latin typeface="Courier New" panose="02070309020205020404"/>
                <a:ea typeface="Courier New" panose="02070309020205020404"/>
              </a:rPr>
              <a:t>code2.c</a:t>
            </a:r>
            <a:endParaRPr lang="en-US" sz="2400" dirty="0"/>
          </a:p>
          <a:p>
            <a:endParaRPr lang="en-US" sz="800" dirty="0">
              <a:latin typeface="Arial" panose="020B0604020202020204" pitchFamily="34" charset="0"/>
            </a:endParaRPr>
          </a:p>
          <a:p>
            <a:r>
              <a:rPr lang="fr-FR" dirty="0">
                <a:latin typeface="Arial" panose="020B0604020202020204" pitchFamily="34" charset="0"/>
              </a:rPr>
              <a:t>Graphique avec dépendances de fichiers</a:t>
            </a:r>
            <a:endParaRPr lang="fr-FR" dirty="0">
              <a:latin typeface="Arial" panose="020B0604020202020204" pitchFamily="34" charset="0"/>
            </a:endParaRPr>
          </a:p>
        </p:txBody>
      </p:sp>
      <p:sp>
        <p:nvSpPr>
          <p:cNvPr id="9" name="CustomShape 4"/>
          <p:cNvSpPr/>
          <p:nvPr/>
        </p:nvSpPr>
        <p:spPr>
          <a:xfrm>
            <a:off x="2821634" y="3949195"/>
            <a:ext cx="2379648" cy="412804"/>
          </a:xfrm>
          <a:prstGeom prst="rect">
            <a:avLst/>
          </a:prstGeom>
        </p:spPr>
        <p:txBody>
          <a:bodyPr lIns="92070" tIns="46035" rIns="92070" bIns="46035"/>
          <a:lstStyle/>
          <a:p>
            <a:pPr algn="ctr">
              <a:lnSpc>
                <a:spcPct val="100000"/>
              </a:lnSpc>
              <a:buSzPct val="25000"/>
            </a:pPr>
            <a:r>
              <a:rPr lang="fr-FR" sz="2000" b="1" dirty="0">
                <a:latin typeface="Courier New" panose="02070309020205020404"/>
                <a:ea typeface="Courier New" panose="02070309020205020404"/>
              </a:rPr>
              <a:t>code1.o</a:t>
            </a:r>
            <a:endParaRPr dirty="0"/>
          </a:p>
        </p:txBody>
      </p:sp>
      <p:sp>
        <p:nvSpPr>
          <p:cNvPr id="10" name="CustomShape 5"/>
          <p:cNvSpPr/>
          <p:nvPr/>
        </p:nvSpPr>
        <p:spPr>
          <a:xfrm>
            <a:off x="5043593" y="3940704"/>
            <a:ext cx="2380892" cy="412804"/>
          </a:xfrm>
          <a:prstGeom prst="rect">
            <a:avLst/>
          </a:prstGeom>
        </p:spPr>
        <p:txBody>
          <a:bodyPr lIns="92070" tIns="46035" rIns="92070" bIns="46035"/>
          <a:lstStyle/>
          <a:p>
            <a:pPr algn="ctr">
              <a:lnSpc>
                <a:spcPct val="100000"/>
              </a:lnSpc>
              <a:buSzPct val="25000"/>
            </a:pPr>
            <a:r>
              <a:rPr lang="fr-FR" sz="2000" b="1" dirty="0">
                <a:latin typeface="Courier New" panose="02070309020205020404"/>
                <a:ea typeface="Courier New" panose="02070309020205020404"/>
              </a:rPr>
              <a:t>code2.o</a:t>
            </a:r>
            <a:endParaRPr dirty="0"/>
          </a:p>
        </p:txBody>
      </p:sp>
      <p:sp>
        <p:nvSpPr>
          <p:cNvPr id="11" name="CustomShape 6"/>
          <p:cNvSpPr/>
          <p:nvPr/>
        </p:nvSpPr>
        <p:spPr>
          <a:xfrm>
            <a:off x="1324052" y="3959319"/>
            <a:ext cx="1531795" cy="412804"/>
          </a:xfrm>
          <a:prstGeom prst="rect">
            <a:avLst/>
          </a:prstGeom>
        </p:spPr>
        <p:txBody>
          <a:bodyPr lIns="92070" tIns="46035" rIns="92070" bIns="46035"/>
          <a:lstStyle/>
          <a:p>
            <a:pPr algn="ctr">
              <a:lnSpc>
                <a:spcPct val="100000"/>
              </a:lnSpc>
              <a:buSzPct val="25000"/>
            </a:pPr>
            <a:r>
              <a:rPr lang="fr-FR" sz="2000" b="1" dirty="0">
                <a:latin typeface="Courier New" panose="02070309020205020404"/>
                <a:ea typeface="Courier New" panose="02070309020205020404"/>
              </a:rPr>
              <a:t>prog.o</a:t>
            </a:r>
            <a:endParaRPr dirty="0"/>
          </a:p>
        </p:txBody>
      </p:sp>
      <p:sp>
        <p:nvSpPr>
          <p:cNvPr id="12" name="Line 7"/>
          <p:cNvSpPr/>
          <p:nvPr/>
        </p:nvSpPr>
        <p:spPr>
          <a:xfrm flipV="1">
            <a:off x="2111254" y="2977277"/>
            <a:ext cx="1304125" cy="984982"/>
          </a:xfrm>
          <a:prstGeom prst="line">
            <a:avLst/>
          </a:prstGeom>
          <a:ln w="12600">
            <a:solidFill>
              <a:srgbClr val="000208"/>
            </a:solidFill>
            <a:miter/>
            <a:tailEnd type="triangle" w="med" len="med"/>
          </a:ln>
        </p:spPr>
      </p:sp>
      <p:sp>
        <p:nvSpPr>
          <p:cNvPr id="13" name="Line 8"/>
          <p:cNvSpPr/>
          <p:nvPr/>
        </p:nvSpPr>
        <p:spPr>
          <a:xfrm flipH="1" flipV="1">
            <a:off x="4548131" y="2969765"/>
            <a:ext cx="1656827" cy="954936"/>
          </a:xfrm>
          <a:prstGeom prst="line">
            <a:avLst/>
          </a:prstGeom>
          <a:ln w="12600">
            <a:solidFill>
              <a:srgbClr val="000208"/>
            </a:solidFill>
            <a:miter/>
            <a:tailEnd type="triangle" w="med" len="med"/>
          </a:ln>
        </p:spPr>
      </p:sp>
      <p:sp>
        <p:nvSpPr>
          <p:cNvPr id="14" name="Line 9"/>
          <p:cNvSpPr/>
          <p:nvPr/>
        </p:nvSpPr>
        <p:spPr>
          <a:xfrm flipV="1">
            <a:off x="4016279" y="2960948"/>
            <a:ext cx="1244" cy="1008169"/>
          </a:xfrm>
          <a:prstGeom prst="line">
            <a:avLst/>
          </a:prstGeom>
          <a:ln w="12600">
            <a:solidFill>
              <a:srgbClr val="000208"/>
            </a:solidFill>
            <a:miter/>
            <a:tailEnd type="triangle" w="med" len="med"/>
          </a:ln>
        </p:spPr>
      </p:sp>
      <p:sp>
        <p:nvSpPr>
          <p:cNvPr id="15" name="CustomShape 10"/>
          <p:cNvSpPr/>
          <p:nvPr/>
        </p:nvSpPr>
        <p:spPr>
          <a:xfrm>
            <a:off x="7255909" y="3924701"/>
            <a:ext cx="1168519" cy="412804"/>
          </a:xfrm>
          <a:prstGeom prst="rect">
            <a:avLst/>
          </a:prstGeom>
        </p:spPr>
        <p:txBody>
          <a:bodyPr lIns="92070" tIns="46035" rIns="92070" bIns="46035"/>
          <a:lstStyle/>
          <a:p>
            <a:pPr algn="ctr">
              <a:lnSpc>
                <a:spcPct val="100000"/>
              </a:lnSpc>
              <a:buSzPct val="25000"/>
            </a:pPr>
            <a:r>
              <a:rPr lang="fr-FR" sz="2000" dirty="0">
                <a:solidFill>
                  <a:srgbClr val="800000"/>
                </a:solidFill>
                <a:latin typeface="Arial" panose="020B0604020202020204"/>
                <a:ea typeface="Arial" panose="020B0604020202020204"/>
              </a:rPr>
              <a:t>(</a:t>
            </a:r>
            <a:r>
              <a:rPr lang="fr-FR" sz="2000" b="1" dirty="0" smtClean="0">
                <a:solidFill>
                  <a:srgbClr val="800000"/>
                </a:solidFill>
                <a:latin typeface="Arial" panose="020B0604020202020204"/>
                <a:ea typeface="Arial" panose="020B0604020202020204"/>
              </a:rPr>
              <a:t>objet</a:t>
            </a:r>
            <a:r>
              <a:rPr lang="fr-FR" sz="2000" dirty="0">
                <a:solidFill>
                  <a:srgbClr val="800000"/>
                </a:solidFill>
                <a:latin typeface="Arial" panose="020B0604020202020204"/>
                <a:ea typeface="Arial" panose="020B0604020202020204"/>
              </a:rPr>
              <a:t>)</a:t>
            </a:r>
            <a:endParaRPr dirty="0">
              <a:solidFill>
                <a:srgbClr val="800000"/>
              </a:solidFill>
            </a:endParaRPr>
          </a:p>
        </p:txBody>
      </p:sp>
      <p:sp>
        <p:nvSpPr>
          <p:cNvPr id="17" name="CustomShape 3"/>
          <p:cNvSpPr/>
          <p:nvPr/>
        </p:nvSpPr>
        <p:spPr>
          <a:xfrm>
            <a:off x="3131332" y="2564904"/>
            <a:ext cx="1706703" cy="496869"/>
          </a:xfrm>
          <a:prstGeom prst="rect">
            <a:avLst/>
          </a:prstGeom>
        </p:spPr>
        <p:txBody>
          <a:bodyPr lIns="92070" tIns="46035" rIns="92070" bIns="46035"/>
          <a:lstStyle/>
          <a:p>
            <a:pPr algn="ctr">
              <a:lnSpc>
                <a:spcPct val="100000"/>
              </a:lnSpc>
              <a:buSzPct val="25000"/>
            </a:pPr>
            <a:r>
              <a:rPr lang="fr-FR" sz="2000" b="1" dirty="0">
                <a:latin typeface="Courier New" panose="02070309020205020404"/>
                <a:ea typeface="Courier New" panose="02070309020205020404"/>
              </a:rPr>
              <a:t>prog</a:t>
            </a:r>
            <a:endParaRPr dirty="0"/>
          </a:p>
        </p:txBody>
      </p:sp>
      <p:sp>
        <p:nvSpPr>
          <p:cNvPr id="18" name="CustomShape 4"/>
          <p:cNvSpPr/>
          <p:nvPr/>
        </p:nvSpPr>
        <p:spPr>
          <a:xfrm>
            <a:off x="7087779" y="2572091"/>
            <a:ext cx="2128737" cy="496869"/>
          </a:xfrm>
          <a:prstGeom prst="rect">
            <a:avLst/>
          </a:prstGeom>
        </p:spPr>
        <p:txBody>
          <a:bodyPr lIns="92070" tIns="46035" rIns="92070" bIns="46035"/>
          <a:lstStyle/>
          <a:p>
            <a:pPr algn="ctr">
              <a:lnSpc>
                <a:spcPct val="100000"/>
              </a:lnSpc>
              <a:buSzPct val="25000"/>
            </a:pPr>
            <a:r>
              <a:rPr lang="fr-FR" sz="2000" dirty="0">
                <a:solidFill>
                  <a:srgbClr val="800000"/>
                </a:solidFill>
                <a:latin typeface="Arial" panose="020B0604020202020204"/>
                <a:ea typeface="Arial" panose="020B0604020202020204"/>
              </a:rPr>
              <a:t>(</a:t>
            </a:r>
            <a:r>
              <a:rPr lang="fr-FR" sz="2000" b="1" dirty="0" smtClean="0">
                <a:solidFill>
                  <a:srgbClr val="800000"/>
                </a:solidFill>
                <a:latin typeface="Arial" panose="020B0604020202020204"/>
                <a:ea typeface="Arial" panose="020B0604020202020204"/>
              </a:rPr>
              <a:t>exécutable</a:t>
            </a:r>
            <a:r>
              <a:rPr lang="fr-FR" sz="2000" dirty="0">
                <a:solidFill>
                  <a:srgbClr val="800000"/>
                </a:solidFill>
                <a:latin typeface="Arial" panose="020B0604020202020204"/>
                <a:ea typeface="Arial" panose="020B0604020202020204"/>
              </a:rPr>
              <a:t>)</a:t>
            </a:r>
            <a:endParaRPr dirty="0">
              <a:solidFill>
                <a:srgbClr val="800000"/>
              </a:solidFill>
            </a:endParaRPr>
          </a:p>
        </p:txBody>
      </p:sp>
      <p:sp>
        <p:nvSpPr>
          <p:cNvPr id="19" name="CustomShape 5"/>
          <p:cNvSpPr/>
          <p:nvPr/>
        </p:nvSpPr>
        <p:spPr>
          <a:xfrm>
            <a:off x="71500" y="2564906"/>
            <a:ext cx="2051816" cy="496869"/>
          </a:xfrm>
          <a:prstGeom prst="rect">
            <a:avLst/>
          </a:prstGeom>
        </p:spPr>
        <p:txBody>
          <a:bodyPr lIns="92070" tIns="46035" rIns="92070" bIns="46035"/>
          <a:lstStyle/>
          <a:p>
            <a:pPr algn="ctr">
              <a:lnSpc>
                <a:spcPct val="100000"/>
              </a:lnSpc>
              <a:buSzPct val="25000"/>
            </a:pPr>
            <a:r>
              <a:rPr lang="fr-FR" sz="2000" b="1" dirty="0" smtClean="0">
                <a:solidFill>
                  <a:srgbClr val="800000"/>
                </a:solidFill>
                <a:latin typeface="Arial" panose="020B0604020202020204"/>
                <a:ea typeface="Arial" panose="020B0604020202020204"/>
              </a:rPr>
              <a:t>Objectif final </a:t>
            </a:r>
            <a:r>
              <a:rPr lang="fr-FR" sz="2000" dirty="0" smtClean="0">
                <a:solidFill>
                  <a:srgbClr val="800000"/>
                </a:solidFill>
                <a:latin typeface="Arial" panose="020B0604020202020204"/>
                <a:ea typeface="Arial" panose="020B0604020202020204"/>
              </a:rPr>
              <a:t>:</a:t>
            </a:r>
            <a:endParaRPr dirty="0">
              <a:solidFill>
                <a:srgbClr val="800000"/>
              </a:solidFill>
            </a:endParaRPr>
          </a:p>
        </p:txBody>
      </p:sp>
      <p:sp>
        <p:nvSpPr>
          <p:cNvPr id="23" name="CustomShape 7"/>
          <p:cNvSpPr/>
          <p:nvPr/>
        </p:nvSpPr>
        <p:spPr>
          <a:xfrm>
            <a:off x="1167309" y="5148989"/>
            <a:ext cx="1532106" cy="412804"/>
          </a:xfrm>
          <a:prstGeom prst="rect">
            <a:avLst/>
          </a:prstGeom>
        </p:spPr>
        <p:txBody>
          <a:bodyPr lIns="92070" tIns="46035" rIns="92070" bIns="46035"/>
          <a:lstStyle/>
          <a:p>
            <a:pPr algn="ctr">
              <a:lnSpc>
                <a:spcPct val="100000"/>
              </a:lnSpc>
              <a:buSzPct val="25000"/>
            </a:pPr>
            <a:r>
              <a:rPr lang="fr-FR" sz="2000" b="1" dirty="0">
                <a:latin typeface="Courier New" panose="02070309020205020404"/>
                <a:ea typeface="Courier New" panose="02070309020205020404"/>
              </a:rPr>
              <a:t>prog.c</a:t>
            </a:r>
            <a:endParaRPr dirty="0"/>
          </a:p>
        </p:txBody>
      </p:sp>
      <p:sp>
        <p:nvSpPr>
          <p:cNvPr id="24" name="Line 8"/>
          <p:cNvSpPr/>
          <p:nvPr/>
        </p:nvSpPr>
        <p:spPr>
          <a:xfrm flipV="1">
            <a:off x="1932740" y="4401108"/>
            <a:ext cx="1244" cy="823975"/>
          </a:xfrm>
          <a:prstGeom prst="line">
            <a:avLst/>
          </a:prstGeom>
          <a:ln w="12600">
            <a:solidFill>
              <a:srgbClr val="000208"/>
            </a:solidFill>
            <a:miter/>
            <a:tailEnd type="triangle" w="med" len="med"/>
          </a:ln>
        </p:spPr>
      </p:sp>
      <p:sp>
        <p:nvSpPr>
          <p:cNvPr id="25" name="CustomShape 12"/>
          <p:cNvSpPr/>
          <p:nvPr/>
        </p:nvSpPr>
        <p:spPr>
          <a:xfrm>
            <a:off x="7093880" y="5092816"/>
            <a:ext cx="1264314" cy="412804"/>
          </a:xfrm>
          <a:prstGeom prst="rect">
            <a:avLst/>
          </a:prstGeom>
        </p:spPr>
        <p:txBody>
          <a:bodyPr lIns="92070" tIns="46035" rIns="92070" bIns="46035"/>
          <a:lstStyle/>
          <a:p>
            <a:pPr algn="ctr">
              <a:lnSpc>
                <a:spcPct val="100000"/>
              </a:lnSpc>
              <a:buSzPct val="25000"/>
            </a:pPr>
            <a:r>
              <a:rPr lang="fr-FR" sz="2000" dirty="0">
                <a:solidFill>
                  <a:srgbClr val="800000"/>
                </a:solidFill>
                <a:latin typeface="Arial" panose="020B0604020202020204"/>
                <a:ea typeface="Arial" panose="020B0604020202020204"/>
              </a:rPr>
              <a:t>(</a:t>
            </a:r>
            <a:r>
              <a:rPr lang="fr-FR" sz="2000" b="1" dirty="0">
                <a:solidFill>
                  <a:srgbClr val="800000"/>
                </a:solidFill>
                <a:latin typeface="Arial" panose="020B0604020202020204"/>
                <a:ea typeface="Arial" panose="020B0604020202020204"/>
              </a:rPr>
              <a:t>source</a:t>
            </a:r>
            <a:r>
              <a:rPr lang="fr-FR" sz="2000" dirty="0">
                <a:solidFill>
                  <a:srgbClr val="800000"/>
                </a:solidFill>
                <a:latin typeface="Arial" panose="020B0604020202020204"/>
                <a:ea typeface="Arial" panose="020B0604020202020204"/>
              </a:rPr>
              <a:t>)</a:t>
            </a:r>
            <a:endParaRPr dirty="0">
              <a:solidFill>
                <a:srgbClr val="800000"/>
              </a:solidFill>
            </a:endParaRPr>
          </a:p>
        </p:txBody>
      </p:sp>
      <p:sp>
        <p:nvSpPr>
          <p:cNvPr id="26" name="CustomShape 17"/>
          <p:cNvSpPr/>
          <p:nvPr/>
        </p:nvSpPr>
        <p:spPr>
          <a:xfrm>
            <a:off x="1295636" y="3897052"/>
            <a:ext cx="1476164" cy="1762582"/>
          </a:xfrm>
          <a:prstGeom prst="rect">
            <a:avLst/>
          </a:prstGeom>
          <a:ln w="6480">
            <a:solidFill>
              <a:srgbClr val="800000"/>
            </a:solidFill>
            <a:custDash>
              <a:ds d="72000" sp="54000"/>
            </a:custDash>
            <a:miter/>
          </a:ln>
        </p:spPr>
      </p:sp>
      <p:sp>
        <p:nvSpPr>
          <p:cNvPr id="27" name="CustomShape 13"/>
          <p:cNvSpPr/>
          <p:nvPr/>
        </p:nvSpPr>
        <p:spPr>
          <a:xfrm>
            <a:off x="323528" y="5877272"/>
            <a:ext cx="8498262" cy="900100"/>
          </a:xfrm>
          <a:prstGeom prst="rect">
            <a:avLst/>
          </a:prstGeom>
          <a:solidFill>
            <a:srgbClr val="EAEAEA"/>
          </a:solidFill>
        </p:spPr>
        <p:txBody>
          <a:bodyPr lIns="92070" tIns="46035" rIns="92070" bIns="46035"/>
          <a:lstStyle/>
          <a:p>
            <a:pPr algn="l">
              <a:lnSpc>
                <a:spcPct val="100000"/>
              </a:lnSpc>
              <a:buSzPct val="25000"/>
            </a:pPr>
            <a:r>
              <a:rPr lang="fr-FR" sz="2000" dirty="0">
                <a:latin typeface="Arial" panose="020B0604020202020204"/>
              </a:rPr>
              <a:t>Le </a:t>
            </a:r>
            <a:r>
              <a:rPr lang="fr-FR" sz="2000" dirty="0" smtClean="0">
                <a:latin typeface="Arial" panose="020B0604020202020204"/>
              </a:rPr>
              <a:t>graphe </a:t>
            </a:r>
            <a:r>
              <a:rPr lang="fr-FR" sz="2000" dirty="0">
                <a:latin typeface="Arial" panose="020B0604020202020204"/>
              </a:rPr>
              <a:t>des dépendances de fichiers fournit la définition des cibles, des dépendances et des commandes du </a:t>
            </a:r>
            <a:r>
              <a:rPr lang="fr-FR" sz="2000" b="1" dirty="0">
                <a:latin typeface="Courier New" panose="02070309020205020404" charset="0"/>
                <a:cs typeface="Courier New" panose="02070309020205020404" charset="0"/>
              </a:rPr>
              <a:t>makefile</a:t>
            </a:r>
            <a:r>
              <a:rPr lang="fr-FR" sz="2000" dirty="0">
                <a:latin typeface="Arial" panose="020B0604020202020204"/>
              </a:rPr>
              <a:t>.</a:t>
            </a:r>
            <a:endParaRPr lang="fr-FR" sz="2000" dirty="0">
              <a:latin typeface="Arial" panose="020B0604020202020204"/>
            </a:endParaRPr>
          </a:p>
        </p:txBody>
      </p:sp>
      <p:sp>
        <p:nvSpPr>
          <p:cNvPr id="28" name="CustomShape 8"/>
          <p:cNvSpPr/>
          <p:nvPr/>
        </p:nvSpPr>
        <p:spPr>
          <a:xfrm>
            <a:off x="4999420" y="5140432"/>
            <a:ext cx="2380892" cy="412804"/>
          </a:xfrm>
          <a:prstGeom prst="rect">
            <a:avLst/>
          </a:prstGeom>
        </p:spPr>
        <p:txBody>
          <a:bodyPr lIns="92070" tIns="46035" rIns="92070" bIns="46035"/>
          <a:lstStyle/>
          <a:p>
            <a:pPr algn="ctr">
              <a:lnSpc>
                <a:spcPct val="100000"/>
              </a:lnSpc>
              <a:buSzPct val="25000"/>
            </a:pPr>
            <a:r>
              <a:rPr lang="fr-FR" sz="2000" b="1" dirty="0">
                <a:latin typeface="Courier New" panose="02070309020205020404"/>
                <a:ea typeface="Courier New" panose="02070309020205020404"/>
              </a:rPr>
              <a:t>code2.c</a:t>
            </a:r>
            <a:endParaRPr dirty="0"/>
          </a:p>
        </p:txBody>
      </p:sp>
      <p:sp>
        <p:nvSpPr>
          <p:cNvPr id="29" name="Line 11"/>
          <p:cNvSpPr/>
          <p:nvPr/>
        </p:nvSpPr>
        <p:spPr>
          <a:xfrm flipV="1">
            <a:off x="4061371" y="4400062"/>
            <a:ext cx="1244" cy="770742"/>
          </a:xfrm>
          <a:prstGeom prst="line">
            <a:avLst/>
          </a:prstGeom>
          <a:ln w="12600">
            <a:solidFill>
              <a:srgbClr val="000208"/>
            </a:solidFill>
            <a:miter/>
            <a:tailEnd type="triangle" w="med" len="med"/>
          </a:ln>
        </p:spPr>
      </p:sp>
      <p:sp>
        <p:nvSpPr>
          <p:cNvPr id="30" name="Line 12"/>
          <p:cNvSpPr/>
          <p:nvPr/>
        </p:nvSpPr>
        <p:spPr>
          <a:xfrm flipV="1">
            <a:off x="6204951" y="4378507"/>
            <a:ext cx="1244" cy="809279"/>
          </a:xfrm>
          <a:prstGeom prst="line">
            <a:avLst/>
          </a:prstGeom>
          <a:ln w="12600">
            <a:solidFill>
              <a:srgbClr val="000208"/>
            </a:solidFill>
            <a:miter/>
            <a:tailEnd type="triangle" w="med" len="med"/>
          </a:ln>
        </p:spPr>
      </p:sp>
      <p:sp>
        <p:nvSpPr>
          <p:cNvPr id="31" name="CustomShape 7"/>
          <p:cNvSpPr/>
          <p:nvPr/>
        </p:nvSpPr>
        <p:spPr>
          <a:xfrm>
            <a:off x="2879812" y="5193196"/>
            <a:ext cx="2381203" cy="412804"/>
          </a:xfrm>
          <a:prstGeom prst="rect">
            <a:avLst/>
          </a:prstGeom>
        </p:spPr>
        <p:txBody>
          <a:bodyPr lIns="92070" tIns="46035" rIns="92070" bIns="46035"/>
          <a:lstStyle/>
          <a:p>
            <a:pPr algn="ctr">
              <a:lnSpc>
                <a:spcPct val="100000"/>
              </a:lnSpc>
              <a:buSzPct val="25000"/>
            </a:pPr>
            <a:r>
              <a:rPr lang="fr-FR" sz="2000" b="1" dirty="0">
                <a:latin typeface="Courier New" panose="02070309020205020404"/>
                <a:ea typeface="Courier New" panose="02070309020205020404"/>
              </a:rPr>
              <a:t>code1.c</a:t>
            </a:r>
            <a:endParaRPr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re 1"/>
          <p:cNvSpPr>
            <a:spLocks noGrp="1"/>
          </p:cNvSpPr>
          <p:nvPr>
            <p:ph type="title"/>
          </p:nvPr>
        </p:nvSpPr>
        <p:spPr/>
        <p:txBody>
          <a:bodyPr/>
          <a:lstStyle/>
          <a:p>
            <a:r>
              <a:rPr lang="fr-FR" sz="2800" dirty="0">
                <a:latin typeface="Arial" panose="020B0604020202020204" pitchFamily="34" charset="0"/>
                <a:ea typeface="MS PGothic" panose="020B0600070205080204" charset="-128"/>
                <a:cs typeface="MS PGothic" panose="020B0600070205080204" charset="-128"/>
              </a:rPr>
              <a:t>Structure </a:t>
            </a:r>
            <a:r>
              <a:rPr lang="fr-FR" sz="2800" dirty="0" smtClean="0">
                <a:latin typeface="Arial" panose="020B0604020202020204" pitchFamily="34" charset="0"/>
                <a:cs typeface="MS PGothic" panose="020B0600070205080204" charset="-128"/>
              </a:rPr>
              <a:t>du</a:t>
            </a:r>
            <a:r>
              <a:rPr lang="fr-FR" sz="2800" dirty="0" smtClean="0">
                <a:latin typeface="Arial" panose="020B0604020202020204" pitchFamily="34" charset="0"/>
                <a:ea typeface="MS PGothic" panose="020B0600070205080204" charset="-128"/>
                <a:cs typeface="MS PGothic" panose="020B0600070205080204" charset="-128"/>
              </a:rPr>
              <a:t> </a:t>
            </a:r>
            <a:r>
              <a:rPr lang="fr-FR" sz="2800" dirty="0">
                <a:latin typeface="Courier New" panose="02070309020205020404"/>
                <a:ea typeface="MS PGothic" panose="020B0600070205080204" charset="-128"/>
                <a:cs typeface="Courier New" panose="02070309020205020404"/>
              </a:rPr>
              <a:t>Makefile</a:t>
            </a:r>
            <a:endParaRPr lang="fr-FR" sz="2800" dirty="0">
              <a:latin typeface="Arial" panose="020B0604020202020204" pitchFamily="34" charset="0"/>
              <a:ea typeface="MS PGothic" panose="020B0600070205080204" charset="-128"/>
              <a:cs typeface="MS PGothic" panose="020B0600070205080204" charset="-128"/>
            </a:endParaRPr>
          </a:p>
        </p:txBody>
      </p:sp>
      <p:sp>
        <p:nvSpPr>
          <p:cNvPr id="57346" name="Espace réservé du contenu 2"/>
          <p:cNvSpPr>
            <a:spLocks noGrp="1"/>
          </p:cNvSpPr>
          <p:nvPr>
            <p:ph idx="1"/>
          </p:nvPr>
        </p:nvSpPr>
        <p:spPr>
          <a:xfrm>
            <a:off x="287524" y="1016732"/>
            <a:ext cx="8856476" cy="4537075"/>
          </a:xfrm>
        </p:spPr>
        <p:txBody>
          <a:bodyPr/>
          <a:lstStyle/>
          <a:p>
            <a:r>
              <a:rPr lang="en-US" dirty="0">
                <a:latin typeface="Arial" panose="020B0604020202020204" pitchFamily="34" charset="0"/>
                <a:cs typeface="MS PGothic" panose="020B0600070205080204" charset="-128"/>
              </a:rPr>
              <a:t>Format </a:t>
            </a:r>
            <a:r>
              <a:rPr lang="en-US" dirty="0" smtClean="0">
                <a:latin typeface="Arial" panose="020B0604020202020204" pitchFamily="34" charset="0"/>
                <a:cs typeface="MS PGothic" panose="020B0600070205080204" charset="-128"/>
              </a:rPr>
              <a:t>d’une règle</a:t>
            </a:r>
            <a:endParaRPr lang="en-US" dirty="0">
              <a:latin typeface="Arial" panose="020B0604020202020204" pitchFamily="34" charset="0"/>
            </a:endParaRPr>
          </a:p>
          <a:p>
            <a:pPr lvl="1"/>
            <a:r>
              <a:rPr lang="en-US" b="1" dirty="0" smtClean="0">
                <a:latin typeface="Courier New" panose="02070309020205020404"/>
                <a:cs typeface="Courier New" panose="02070309020205020404"/>
              </a:rPr>
              <a:t>Target (cible) : </a:t>
            </a:r>
            <a:r>
              <a:rPr lang="en-US" b="1" dirty="0">
                <a:latin typeface="Courier New" panose="02070309020205020404"/>
                <a:cs typeface="Courier New" panose="02070309020205020404"/>
              </a:rPr>
              <a:t>dep_file1 dep_file2 …</a:t>
            </a:r>
            <a:br>
              <a:rPr lang="en-US" b="1" dirty="0">
                <a:latin typeface="Courier New" panose="02070309020205020404"/>
                <a:cs typeface="Courier New" panose="02070309020205020404"/>
              </a:rPr>
            </a:br>
            <a:r>
              <a:rPr lang="en-US" b="1" dirty="0">
                <a:solidFill>
                  <a:srgbClr val="FF0000"/>
                </a:solidFill>
                <a:latin typeface="Courier New" panose="02070309020205020404"/>
                <a:cs typeface="Courier New" panose="02070309020205020404"/>
              </a:rPr>
              <a:t>(TAB) </a:t>
            </a:r>
            <a:r>
              <a:rPr lang="en-US" b="1" dirty="0">
                <a:latin typeface="Courier New" panose="02070309020205020404"/>
                <a:cs typeface="Courier New" panose="02070309020205020404"/>
              </a:rPr>
              <a:t>command</a:t>
            </a:r>
            <a:endParaRPr lang="en-US" b="1" dirty="0">
              <a:latin typeface="Courier New" panose="02070309020205020404"/>
              <a:cs typeface="Courier New" panose="02070309020205020404"/>
            </a:endParaRPr>
          </a:p>
          <a:p>
            <a:pPr lvl="1"/>
            <a:endParaRPr lang="en-US" sz="1000" b="1" dirty="0">
              <a:latin typeface="Arial" panose="020B0604020202020204" pitchFamily="34" charset="0"/>
            </a:endParaRPr>
          </a:p>
          <a:p>
            <a:r>
              <a:rPr lang="en-US" dirty="0">
                <a:latin typeface="Arial" panose="020B0604020202020204" pitchFamily="34" charset="0"/>
                <a:cs typeface="MS PGothic" panose="020B0600070205080204" charset="-128"/>
              </a:rPr>
              <a:t>Application de la règle :</a:t>
            </a:r>
            <a:endParaRPr lang="en-US" dirty="0">
              <a:latin typeface="Arial" panose="020B0604020202020204" pitchFamily="34" charset="0"/>
              <a:cs typeface="MS PGothic" panose="020B0600070205080204" charset="-128"/>
            </a:endParaRPr>
          </a:p>
          <a:p>
            <a:pPr lvl="1"/>
            <a:r>
              <a:rPr lang="fr-FR" dirty="0">
                <a:latin typeface="Arial" panose="020B0604020202020204" pitchFamily="34" charset="0"/>
              </a:rPr>
              <a:t>Si la date de la dernière modification dans un des fichiers dépendants</a:t>
            </a:r>
            <a:r>
              <a:rPr lang="en-US" dirty="0" smtClean="0">
                <a:latin typeface="Arial" panose="020B0604020202020204" pitchFamily="34" charset="0"/>
              </a:rPr>
              <a:t> </a:t>
            </a:r>
            <a:r>
              <a:rPr lang="en-US" b="1" dirty="0">
                <a:latin typeface="Courier New" panose="02070309020205020404"/>
                <a:cs typeface="Courier New" panose="02070309020205020404"/>
              </a:rPr>
              <a:t>dep_file1</a:t>
            </a:r>
            <a:r>
              <a:rPr lang="en-US" dirty="0">
                <a:latin typeface="Courier New" panose="02070309020205020404"/>
                <a:cs typeface="Courier New" panose="02070309020205020404"/>
              </a:rPr>
              <a:t>, </a:t>
            </a:r>
            <a:r>
              <a:rPr lang="en-US" b="1" dirty="0">
                <a:latin typeface="Courier New" panose="02070309020205020404"/>
                <a:cs typeface="Courier New" panose="02070309020205020404"/>
              </a:rPr>
              <a:t>dep_file2</a:t>
            </a:r>
            <a:r>
              <a:rPr lang="en-US" dirty="0">
                <a:latin typeface="Courier New" panose="02070309020205020404"/>
                <a:cs typeface="Courier New" panose="02070309020205020404"/>
              </a:rPr>
              <a:t>,</a:t>
            </a:r>
            <a:r>
              <a:rPr lang="en-US" dirty="0">
                <a:latin typeface="Arial" panose="020B0604020202020204" pitchFamily="34" charset="0"/>
              </a:rPr>
              <a:t> etc. </a:t>
            </a:r>
            <a:r>
              <a:rPr lang="fr-FR" dirty="0">
                <a:latin typeface="Arial" panose="020B0604020202020204" pitchFamily="34" charset="0"/>
              </a:rPr>
              <a:t>est plus récente que la date du fichier </a:t>
            </a:r>
            <a:r>
              <a:rPr lang="fr-FR" b="1" dirty="0">
                <a:latin typeface="Arial" panose="020B0604020202020204" pitchFamily="34" charset="0"/>
              </a:rPr>
              <a:t>cible</a:t>
            </a:r>
            <a:r>
              <a:rPr lang="fr-FR" dirty="0">
                <a:latin typeface="Arial" panose="020B0604020202020204" pitchFamily="34" charset="0"/>
              </a:rPr>
              <a:t>, l'outil </a:t>
            </a:r>
            <a:r>
              <a:rPr lang="fr-FR" b="1" dirty="0">
                <a:latin typeface="Courier New" panose="02070309020205020404" charset="0"/>
                <a:cs typeface="Courier New" panose="02070309020205020404" charset="0"/>
              </a:rPr>
              <a:t>make</a:t>
            </a:r>
            <a:r>
              <a:rPr lang="fr-FR" dirty="0">
                <a:latin typeface="Arial" panose="020B0604020202020204" pitchFamily="34" charset="0"/>
              </a:rPr>
              <a:t> exécute la </a:t>
            </a:r>
            <a:r>
              <a:rPr lang="fr-FR" b="1" dirty="0" smtClean="0">
                <a:latin typeface="Courier New" panose="02070309020205020404" charset="0"/>
                <a:cs typeface="Courier New" panose="02070309020205020404" charset="0"/>
              </a:rPr>
              <a:t>commande</a:t>
            </a:r>
            <a:r>
              <a:rPr lang="en-US" dirty="0" smtClean="0">
                <a:latin typeface="Arial" panose="020B0604020202020204" pitchFamily="34" charset="0"/>
                <a:cs typeface="Courier New" panose="02070309020205020404" charset="0"/>
              </a:rPr>
              <a:t>.</a:t>
            </a:r>
            <a:r>
              <a:rPr lang="en-US" b="1" dirty="0" smtClean="0">
                <a:latin typeface="Courier New" panose="02070309020205020404"/>
                <a:cs typeface="Courier New" panose="02070309020205020404"/>
              </a:rPr>
              <a:t> </a:t>
            </a:r>
            <a:endParaRPr lang="en-US" b="1" dirty="0">
              <a:latin typeface="Courier New" panose="02070309020205020404"/>
              <a:cs typeface="Courier New" panose="02070309020205020404"/>
            </a:endParaRPr>
          </a:p>
          <a:p>
            <a:pPr marL="542925" lvl="1" indent="0">
              <a:buNone/>
            </a:pPr>
            <a:endParaRPr lang="en-US" sz="1000" b="1" dirty="0">
              <a:latin typeface="Courier New" panose="02070309020205020404"/>
              <a:cs typeface="Courier New" panose="02070309020205020404"/>
            </a:endParaRPr>
          </a:p>
          <a:p>
            <a:r>
              <a:rPr lang="en-US" dirty="0" smtClean="0">
                <a:latin typeface="Arial" panose="020B0604020202020204" pitchFamily="34" charset="0"/>
              </a:rPr>
              <a:t>Utilisation : commande </a:t>
            </a:r>
            <a:r>
              <a:rPr lang="en-US" b="1" dirty="0">
                <a:latin typeface="Courier New" panose="02070309020205020404"/>
                <a:cs typeface="Courier New" panose="02070309020205020404"/>
              </a:rPr>
              <a:t>make</a:t>
            </a:r>
            <a:endParaRPr lang="en-US" b="1" dirty="0">
              <a:latin typeface="Courier New" panose="02070309020205020404"/>
              <a:cs typeface="Courier New" panose="02070309020205020404"/>
            </a:endParaRPr>
          </a:p>
          <a:p>
            <a:pPr lvl="1"/>
            <a:r>
              <a:rPr lang="fr-FR" dirty="0">
                <a:latin typeface="Arial" panose="020B0604020202020204" pitchFamily="34" charset="0"/>
              </a:rPr>
              <a:t>L'outil exécute la première </a:t>
            </a:r>
            <a:r>
              <a:rPr lang="fr-FR" dirty="0" smtClean="0">
                <a:latin typeface="Arial" panose="020B0604020202020204" pitchFamily="34" charset="0"/>
              </a:rPr>
              <a:t>cible (Target) </a:t>
            </a:r>
            <a:r>
              <a:rPr lang="fr-FR" dirty="0">
                <a:latin typeface="Arial" panose="020B0604020202020204" pitchFamily="34" charset="0"/>
              </a:rPr>
              <a:t>du fichier makefile du répertoire de </a:t>
            </a:r>
            <a:r>
              <a:rPr lang="fr-FR" dirty="0" smtClean="0">
                <a:latin typeface="Arial" panose="020B0604020202020204" pitchFamily="34" charset="0"/>
              </a:rPr>
              <a:t>travail</a:t>
            </a:r>
            <a:endParaRPr lang="fr-FR" dirty="0" smtClean="0">
              <a:latin typeface="Arial" panose="020B0604020202020204" pitchFamily="34" charset="0"/>
            </a:endParaRPr>
          </a:p>
          <a:p>
            <a:pPr lvl="1"/>
            <a:r>
              <a:rPr lang="en-US" b="1" dirty="0" smtClean="0">
                <a:latin typeface="Courier New" panose="02070309020205020404"/>
                <a:cs typeface="Courier New" panose="02070309020205020404"/>
              </a:rPr>
              <a:t>make label </a:t>
            </a:r>
            <a:r>
              <a:rPr lang="en-US" dirty="0" smtClean="0">
                <a:latin typeface="Arial" panose="020B0604020202020204" pitchFamily="34" charset="0"/>
              </a:rPr>
              <a:t>: </a:t>
            </a:r>
            <a:r>
              <a:rPr lang="fr-FR" dirty="0">
                <a:latin typeface="Arial" panose="020B0604020202020204" pitchFamily="34" charset="0"/>
              </a:rPr>
              <a:t>L'outil exécute la règle associée à la cible appelée </a:t>
            </a:r>
            <a:r>
              <a:rPr lang="en-US" dirty="0" smtClean="0">
                <a:latin typeface="Arial" panose="020B0604020202020204" pitchFamily="34" charset="0"/>
              </a:rPr>
              <a:t> </a:t>
            </a:r>
            <a:r>
              <a:rPr lang="en-US" b="1" dirty="0">
                <a:latin typeface="Courier New" panose="02070309020205020404"/>
                <a:cs typeface="Courier New" panose="02070309020205020404"/>
              </a:rPr>
              <a:t>label</a:t>
            </a:r>
            <a:endParaRPr lang="en-US" b="1" dirty="0">
              <a:latin typeface="Courier New" panose="02070309020205020404"/>
              <a:cs typeface="Courier New" panose="02070309020205020404"/>
            </a:endParaRPr>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4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346">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734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734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734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35" name="Espace réservé du pied de page 3"/>
          <p:cNvSpPr>
            <a:spLocks noGrp="1"/>
          </p:cNvSpPr>
          <p:nvPr>
            <p:ph type="ftr" sz="quarter" idx="10"/>
          </p:nvPr>
        </p:nvSpPr>
        <p:spPr>
          <a:xfrm>
            <a:off x="3124200" y="6400800"/>
            <a:ext cx="2895600" cy="3810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r>
              <a:rPr lang="fr-FR" sz="1800" dirty="0">
                <a:solidFill>
                  <a:srgbClr val="000208"/>
                </a:solidFill>
              </a:rPr>
              <a:t>L3Info – Unix/C</a:t>
            </a:r>
            <a:endParaRPr lang="fr-FR" sz="1800" dirty="0">
              <a:solidFill>
                <a:srgbClr val="000208"/>
              </a:solidFill>
            </a:endParaRPr>
          </a:p>
        </p:txBody>
      </p:sp>
      <p:sp>
        <p:nvSpPr>
          <p:cNvPr id="558" name="CustomShape 20"/>
          <p:cNvSpPr/>
          <p:nvPr/>
        </p:nvSpPr>
        <p:spPr>
          <a:xfrm>
            <a:off x="444991" y="3614632"/>
            <a:ext cx="6683293" cy="3234748"/>
          </a:xfrm>
          <a:prstGeom prst="rect">
            <a:avLst/>
          </a:prstGeom>
          <a:solidFill>
            <a:srgbClr val="FFFFFF"/>
          </a:solidFill>
          <a:ln w="6480">
            <a:solidFill>
              <a:srgbClr val="919191"/>
            </a:solidFill>
            <a:miter/>
          </a:ln>
        </p:spPr>
        <p:txBody>
          <a:bodyPr lIns="92070" tIns="46035" rIns="92070" bIns="46035"/>
          <a:lstStyle/>
          <a:p>
            <a:pPr algn="l">
              <a:lnSpc>
                <a:spcPct val="100000"/>
              </a:lnSpc>
              <a:buSzPct val="25000"/>
            </a:pPr>
            <a:r>
              <a:rPr lang="fr-FR" sz="1800" b="1" dirty="0">
                <a:latin typeface="Courier New" panose="02070309020205020404"/>
                <a:ea typeface="Courier New" panose="02070309020205020404"/>
              </a:rPr>
              <a:t>prog : prog.o code1.o code2.o</a:t>
            </a:r>
            <a:endParaRPr dirty="0"/>
          </a:p>
          <a:p>
            <a:pPr algn="l">
              <a:lnSpc>
                <a:spcPct val="100000"/>
              </a:lnSpc>
              <a:buSzPct val="25000"/>
            </a:pPr>
            <a:r>
              <a:rPr lang="fr-FR" sz="1800" b="1" dirty="0">
                <a:latin typeface="Courier New" panose="02070309020205020404"/>
                <a:ea typeface="Courier New" panose="02070309020205020404"/>
              </a:rPr>
              <a:t>	gcc –o prog  prog.o code1.o code2.o</a:t>
            </a:r>
            <a:endParaRPr dirty="0"/>
          </a:p>
          <a:p>
            <a:pPr algn="l">
              <a:lnSpc>
                <a:spcPct val="100000"/>
              </a:lnSpc>
              <a:buSzPct val="25000"/>
            </a:pPr>
            <a:endParaRPr dirty="0"/>
          </a:p>
          <a:p>
            <a:pPr algn="l">
              <a:lnSpc>
                <a:spcPct val="100000"/>
              </a:lnSpc>
              <a:buSzPct val="25000"/>
            </a:pPr>
            <a:r>
              <a:rPr lang="fr-FR" sz="1800" b="1" dirty="0">
                <a:latin typeface="Courier New" panose="02070309020205020404"/>
                <a:ea typeface="Courier New" panose="02070309020205020404"/>
              </a:rPr>
              <a:t>prog.o : prog.c prog.h code1.h </a:t>
            </a:r>
            <a:endParaRPr dirty="0"/>
          </a:p>
          <a:p>
            <a:pPr lvl="2" algn="l">
              <a:buSzPct val="25000"/>
            </a:pPr>
            <a:r>
              <a:rPr lang="fr-FR" sz="1800" b="1" dirty="0">
                <a:latin typeface="Courier New" panose="02070309020205020404"/>
                <a:ea typeface="Courier New" panose="02070309020205020404"/>
              </a:rPr>
              <a:t>gcc -c prog.c –o prog.o</a:t>
            </a:r>
            <a:endParaRPr dirty="0"/>
          </a:p>
          <a:p>
            <a:pPr algn="l">
              <a:lnSpc>
                <a:spcPct val="100000"/>
              </a:lnSpc>
              <a:buSzPct val="25000"/>
            </a:pPr>
            <a:endParaRPr dirty="0"/>
          </a:p>
          <a:p>
            <a:pPr algn="l">
              <a:lnSpc>
                <a:spcPct val="100000"/>
              </a:lnSpc>
              <a:buSzPct val="25000"/>
            </a:pPr>
            <a:r>
              <a:rPr lang="fr-FR" sz="1800" b="1" dirty="0">
                <a:latin typeface="Courier New" panose="02070309020205020404"/>
                <a:ea typeface="Courier New" panose="02070309020205020404"/>
              </a:rPr>
              <a:t>code1.o : code1.c prog.h code1.h</a:t>
            </a:r>
            <a:endParaRPr dirty="0"/>
          </a:p>
          <a:p>
            <a:pPr lvl="2" algn="l">
              <a:buSzPct val="25000"/>
            </a:pPr>
            <a:r>
              <a:rPr lang="fr-FR" sz="1800" b="1" dirty="0">
                <a:latin typeface="Courier New" panose="02070309020205020404"/>
                <a:ea typeface="Courier New" panose="02070309020205020404"/>
              </a:rPr>
              <a:t>gcc -c code1.c –o code1.o</a:t>
            </a:r>
            <a:endParaRPr dirty="0"/>
          </a:p>
          <a:p>
            <a:pPr algn="l">
              <a:lnSpc>
                <a:spcPct val="100000"/>
              </a:lnSpc>
              <a:buSzPct val="25000"/>
            </a:pPr>
            <a:endParaRPr dirty="0"/>
          </a:p>
          <a:p>
            <a:pPr algn="l">
              <a:lnSpc>
                <a:spcPct val="100000"/>
              </a:lnSpc>
              <a:buSzPct val="25000"/>
            </a:pPr>
            <a:r>
              <a:rPr lang="fr-FR" sz="1800" b="1" dirty="0">
                <a:latin typeface="Courier New" panose="02070309020205020404"/>
                <a:ea typeface="Courier New" panose="02070309020205020404"/>
              </a:rPr>
              <a:t>code2.o : code2.c prog.h code1.h  </a:t>
            </a:r>
            <a:endParaRPr dirty="0"/>
          </a:p>
          <a:p>
            <a:pPr marL="0" lvl="2" algn="l">
              <a:buSzPct val="25000"/>
            </a:pPr>
            <a:r>
              <a:rPr lang="fr-FR" sz="1800" b="1" dirty="0">
                <a:latin typeface="Courier New" panose="02070309020205020404"/>
                <a:ea typeface="Courier New" panose="02070309020205020404"/>
              </a:rPr>
              <a:t>	gcc –c code2.c –o code2.o</a:t>
            </a:r>
            <a:endParaRPr lang="fr-FR" dirty="0"/>
          </a:p>
          <a:p>
            <a:pPr algn="l">
              <a:lnSpc>
                <a:spcPct val="100000"/>
              </a:lnSpc>
              <a:buSzPct val="25000"/>
            </a:pPr>
            <a:endParaRPr dirty="0"/>
          </a:p>
        </p:txBody>
      </p:sp>
      <p:sp>
        <p:nvSpPr>
          <p:cNvPr id="540" name="TextShape 2"/>
          <p:cNvSpPr txBox="1"/>
          <p:nvPr/>
        </p:nvSpPr>
        <p:spPr>
          <a:xfrm>
            <a:off x="401844" y="1012486"/>
            <a:ext cx="8262053" cy="5258353"/>
          </a:xfrm>
          <a:prstGeom prst="rect">
            <a:avLst/>
          </a:prstGeom>
        </p:spPr>
        <p:txBody>
          <a:bodyPr lIns="92070" tIns="46035" rIns="92070" bIns="46035"/>
          <a:lstStyle/>
          <a:p>
            <a:pPr>
              <a:buSzPct val="25000"/>
            </a:pPr>
            <a:r>
              <a:rPr lang="fr-FR">
                <a:ea typeface="Arial" panose="020B0604020202020204"/>
              </a:rPr>
              <a:t> </a:t>
            </a:r>
            <a:endParaRPr lang="fr-FR">
              <a:ea typeface="Arial" panose="020B0604020202020204"/>
            </a:endParaRPr>
          </a:p>
        </p:txBody>
      </p:sp>
      <p:sp>
        <p:nvSpPr>
          <p:cNvPr id="541" name="CustomShape 3"/>
          <p:cNvSpPr/>
          <p:nvPr/>
        </p:nvSpPr>
        <p:spPr>
          <a:xfrm>
            <a:off x="3042995" y="1304764"/>
            <a:ext cx="1213928" cy="343894"/>
          </a:xfrm>
          <a:prstGeom prst="rect">
            <a:avLst/>
          </a:prstGeom>
        </p:spPr>
        <p:txBody>
          <a:bodyPr lIns="92070" tIns="46035" rIns="92070" bIns="46035"/>
          <a:lstStyle/>
          <a:p>
            <a:pPr algn="ctr">
              <a:lnSpc>
                <a:spcPct val="100000"/>
              </a:lnSpc>
              <a:buSzPct val="25000"/>
            </a:pPr>
            <a:r>
              <a:rPr lang="fr-FR" sz="1400" b="1" dirty="0">
                <a:solidFill>
                  <a:srgbClr val="010507"/>
                </a:solidFill>
                <a:latin typeface="Courier New" panose="02070309020205020404"/>
                <a:ea typeface="Courier New" panose="02070309020205020404"/>
              </a:rPr>
              <a:t>prog</a:t>
            </a:r>
            <a:endParaRPr sz="1400" dirty="0"/>
          </a:p>
        </p:txBody>
      </p:sp>
      <p:sp>
        <p:nvSpPr>
          <p:cNvPr id="542" name="CustomShape 4"/>
          <p:cNvSpPr/>
          <p:nvPr/>
        </p:nvSpPr>
        <p:spPr>
          <a:xfrm>
            <a:off x="2760585" y="2056237"/>
            <a:ext cx="1839087" cy="343894"/>
          </a:xfrm>
          <a:prstGeom prst="rect">
            <a:avLst/>
          </a:prstGeom>
        </p:spPr>
        <p:txBody>
          <a:bodyPr lIns="92070" tIns="46035" rIns="92070" bIns="46035"/>
          <a:lstStyle/>
          <a:p>
            <a:pPr algn="ctr">
              <a:lnSpc>
                <a:spcPct val="100000"/>
              </a:lnSpc>
              <a:buSzPct val="25000"/>
            </a:pPr>
            <a:r>
              <a:rPr lang="fr-FR" sz="1400" b="1" dirty="0">
                <a:latin typeface="Courier New" panose="02070309020205020404"/>
                <a:ea typeface="Courier New" panose="02070309020205020404"/>
              </a:rPr>
              <a:t>code</a:t>
            </a:r>
            <a:r>
              <a:rPr lang="fr-FR" sz="1400" b="1" dirty="0">
                <a:solidFill>
                  <a:srgbClr val="010507"/>
                </a:solidFill>
                <a:latin typeface="Courier New" panose="02070309020205020404"/>
                <a:ea typeface="Courier New" panose="02070309020205020404"/>
              </a:rPr>
              <a:t>1.o</a:t>
            </a:r>
            <a:endParaRPr sz="1400" dirty="0"/>
          </a:p>
        </p:txBody>
      </p:sp>
      <p:sp>
        <p:nvSpPr>
          <p:cNvPr id="543" name="CustomShape 5"/>
          <p:cNvSpPr/>
          <p:nvPr/>
        </p:nvSpPr>
        <p:spPr>
          <a:xfrm>
            <a:off x="4474951" y="2054931"/>
            <a:ext cx="1841887" cy="343894"/>
          </a:xfrm>
          <a:prstGeom prst="rect">
            <a:avLst/>
          </a:prstGeom>
        </p:spPr>
        <p:txBody>
          <a:bodyPr lIns="92070" tIns="46035" rIns="92070" bIns="46035"/>
          <a:lstStyle/>
          <a:p>
            <a:pPr algn="ctr">
              <a:lnSpc>
                <a:spcPct val="100000"/>
              </a:lnSpc>
              <a:buSzPct val="25000"/>
            </a:pPr>
            <a:r>
              <a:rPr lang="fr-FR" sz="1400" b="1" dirty="0">
                <a:latin typeface="Courier New" panose="02070309020205020404"/>
                <a:ea typeface="Courier New" panose="02070309020205020404"/>
              </a:rPr>
              <a:t>code</a:t>
            </a:r>
            <a:r>
              <a:rPr lang="fr-FR" sz="1400" b="1" dirty="0">
                <a:solidFill>
                  <a:srgbClr val="010507"/>
                </a:solidFill>
                <a:latin typeface="Courier New" panose="02070309020205020404"/>
                <a:ea typeface="Courier New" panose="02070309020205020404"/>
              </a:rPr>
              <a:t>2.o</a:t>
            </a:r>
            <a:endParaRPr sz="1400" dirty="0"/>
          </a:p>
        </p:txBody>
      </p:sp>
      <p:sp>
        <p:nvSpPr>
          <p:cNvPr id="544" name="CustomShape 6"/>
          <p:cNvSpPr/>
          <p:nvPr/>
        </p:nvSpPr>
        <p:spPr>
          <a:xfrm>
            <a:off x="1604507" y="2060810"/>
            <a:ext cx="1185003" cy="343894"/>
          </a:xfrm>
          <a:prstGeom prst="rect">
            <a:avLst/>
          </a:prstGeom>
        </p:spPr>
        <p:txBody>
          <a:bodyPr lIns="92070" tIns="46035" rIns="92070" bIns="46035"/>
          <a:lstStyle/>
          <a:p>
            <a:pPr algn="ctr">
              <a:lnSpc>
                <a:spcPct val="100000"/>
              </a:lnSpc>
              <a:buSzPct val="25000"/>
            </a:pPr>
            <a:r>
              <a:rPr lang="fr-FR" sz="1400" b="1" dirty="0">
                <a:solidFill>
                  <a:srgbClr val="010507"/>
                </a:solidFill>
                <a:latin typeface="Courier New" panose="02070309020205020404"/>
                <a:ea typeface="Courier New" panose="02070309020205020404"/>
              </a:rPr>
              <a:t>prog.o</a:t>
            </a:r>
            <a:endParaRPr sz="1400" dirty="0"/>
          </a:p>
        </p:txBody>
      </p:sp>
      <p:sp>
        <p:nvSpPr>
          <p:cNvPr id="545" name="CustomShape 7"/>
          <p:cNvSpPr/>
          <p:nvPr/>
        </p:nvSpPr>
        <p:spPr>
          <a:xfrm>
            <a:off x="2738502" y="2775052"/>
            <a:ext cx="1840643" cy="343894"/>
          </a:xfrm>
          <a:prstGeom prst="rect">
            <a:avLst/>
          </a:prstGeom>
        </p:spPr>
        <p:txBody>
          <a:bodyPr lIns="92070" tIns="46035" rIns="92070" bIns="46035"/>
          <a:lstStyle/>
          <a:p>
            <a:pPr algn="ctr">
              <a:lnSpc>
                <a:spcPct val="100000"/>
              </a:lnSpc>
              <a:buSzPct val="25000"/>
            </a:pPr>
            <a:r>
              <a:rPr lang="fr-FR" sz="1400" b="1" dirty="0">
                <a:latin typeface="Courier New" panose="02070309020205020404"/>
                <a:ea typeface="Courier New" panose="02070309020205020404"/>
              </a:rPr>
              <a:t>code</a:t>
            </a:r>
            <a:r>
              <a:rPr lang="fr-FR" sz="1400" b="1" dirty="0">
                <a:solidFill>
                  <a:srgbClr val="010507"/>
                </a:solidFill>
                <a:latin typeface="Courier New" panose="02070309020205020404"/>
                <a:ea typeface="Courier New" panose="02070309020205020404"/>
              </a:rPr>
              <a:t>1.c</a:t>
            </a:r>
            <a:endParaRPr sz="1400" dirty="0"/>
          </a:p>
        </p:txBody>
      </p:sp>
      <p:sp>
        <p:nvSpPr>
          <p:cNvPr id="546" name="CustomShape 8"/>
          <p:cNvSpPr/>
          <p:nvPr/>
        </p:nvSpPr>
        <p:spPr>
          <a:xfrm>
            <a:off x="4455668" y="2772113"/>
            <a:ext cx="1839399" cy="343894"/>
          </a:xfrm>
          <a:prstGeom prst="rect">
            <a:avLst/>
          </a:prstGeom>
        </p:spPr>
        <p:txBody>
          <a:bodyPr lIns="92070" tIns="46035" rIns="92070" bIns="46035"/>
          <a:lstStyle/>
          <a:p>
            <a:pPr algn="ctr">
              <a:lnSpc>
                <a:spcPct val="100000"/>
              </a:lnSpc>
              <a:buSzPct val="25000"/>
            </a:pPr>
            <a:r>
              <a:rPr lang="fr-FR" sz="1400" b="1" dirty="0">
                <a:latin typeface="Courier New" panose="02070309020205020404"/>
                <a:ea typeface="Courier New" panose="02070309020205020404"/>
              </a:rPr>
              <a:t>code</a:t>
            </a:r>
            <a:r>
              <a:rPr lang="fr-FR" sz="1400" b="1" dirty="0">
                <a:solidFill>
                  <a:srgbClr val="010507"/>
                </a:solidFill>
                <a:latin typeface="Courier New" panose="02070309020205020404"/>
                <a:ea typeface="Courier New" panose="02070309020205020404"/>
              </a:rPr>
              <a:t>2.c</a:t>
            </a:r>
            <a:endParaRPr sz="1400" dirty="0"/>
          </a:p>
        </p:txBody>
      </p:sp>
      <p:sp>
        <p:nvSpPr>
          <p:cNvPr id="547" name="CustomShape 9"/>
          <p:cNvSpPr/>
          <p:nvPr/>
        </p:nvSpPr>
        <p:spPr>
          <a:xfrm>
            <a:off x="1583668" y="2779298"/>
            <a:ext cx="1183759" cy="343894"/>
          </a:xfrm>
          <a:prstGeom prst="rect">
            <a:avLst/>
          </a:prstGeom>
        </p:spPr>
        <p:txBody>
          <a:bodyPr lIns="92070" tIns="46035" rIns="92070" bIns="46035"/>
          <a:lstStyle/>
          <a:p>
            <a:pPr algn="ctr">
              <a:lnSpc>
                <a:spcPct val="100000"/>
              </a:lnSpc>
              <a:buSzPct val="25000"/>
            </a:pPr>
            <a:r>
              <a:rPr lang="fr-FR" sz="1400" b="1" dirty="0">
                <a:solidFill>
                  <a:srgbClr val="010507"/>
                </a:solidFill>
                <a:latin typeface="Courier New" panose="02070309020205020404"/>
                <a:ea typeface="Courier New" panose="02070309020205020404"/>
              </a:rPr>
              <a:t>prog.c</a:t>
            </a:r>
            <a:endParaRPr sz="1400" dirty="0"/>
          </a:p>
        </p:txBody>
      </p:sp>
      <p:sp>
        <p:nvSpPr>
          <p:cNvPr id="548" name="Line 10"/>
          <p:cNvSpPr/>
          <p:nvPr/>
        </p:nvSpPr>
        <p:spPr>
          <a:xfrm flipV="1">
            <a:off x="2234020" y="2319792"/>
            <a:ext cx="1244" cy="512739"/>
          </a:xfrm>
          <a:prstGeom prst="line">
            <a:avLst/>
          </a:prstGeom>
          <a:ln w="12600">
            <a:solidFill>
              <a:srgbClr val="000208"/>
            </a:solidFill>
            <a:miter/>
            <a:tailEnd type="triangle" w="med" len="med"/>
          </a:ln>
        </p:spPr>
      </p:sp>
      <p:sp>
        <p:nvSpPr>
          <p:cNvPr id="549" name="Line 11"/>
          <p:cNvSpPr/>
          <p:nvPr/>
        </p:nvSpPr>
        <p:spPr>
          <a:xfrm flipV="1">
            <a:off x="3723516" y="2315546"/>
            <a:ext cx="1244" cy="512739"/>
          </a:xfrm>
          <a:prstGeom prst="line">
            <a:avLst/>
          </a:prstGeom>
          <a:ln w="12600">
            <a:solidFill>
              <a:srgbClr val="000208"/>
            </a:solidFill>
            <a:miter/>
            <a:tailEnd type="triangle" w="med" len="med"/>
          </a:ln>
        </p:spPr>
      </p:sp>
      <p:sp>
        <p:nvSpPr>
          <p:cNvPr id="550" name="Line 12"/>
          <p:cNvSpPr/>
          <p:nvPr/>
        </p:nvSpPr>
        <p:spPr>
          <a:xfrm flipV="1">
            <a:off x="5377544" y="2304116"/>
            <a:ext cx="1244" cy="512739"/>
          </a:xfrm>
          <a:prstGeom prst="line">
            <a:avLst/>
          </a:prstGeom>
          <a:ln w="12600">
            <a:solidFill>
              <a:srgbClr val="000208"/>
            </a:solidFill>
            <a:miter/>
            <a:tailEnd type="triangle" w="med" len="med"/>
          </a:ln>
        </p:spPr>
      </p:sp>
      <p:sp>
        <p:nvSpPr>
          <p:cNvPr id="551" name="Line 13"/>
          <p:cNvSpPr/>
          <p:nvPr/>
        </p:nvSpPr>
        <p:spPr>
          <a:xfrm flipV="1">
            <a:off x="2213182" y="1617306"/>
            <a:ext cx="1006786" cy="472243"/>
          </a:xfrm>
          <a:prstGeom prst="line">
            <a:avLst/>
          </a:prstGeom>
          <a:ln w="12600">
            <a:solidFill>
              <a:srgbClr val="000208"/>
            </a:solidFill>
            <a:miter/>
            <a:tailEnd type="triangle" w="med" len="med"/>
          </a:ln>
        </p:spPr>
      </p:sp>
      <p:sp>
        <p:nvSpPr>
          <p:cNvPr id="552" name="Line 14"/>
          <p:cNvSpPr/>
          <p:nvPr/>
        </p:nvSpPr>
        <p:spPr>
          <a:xfrm flipH="1" flipV="1">
            <a:off x="4095190" y="1612407"/>
            <a:ext cx="1280799" cy="459506"/>
          </a:xfrm>
          <a:prstGeom prst="line">
            <a:avLst/>
          </a:prstGeom>
          <a:ln w="12600">
            <a:solidFill>
              <a:srgbClr val="000208"/>
            </a:solidFill>
            <a:miter/>
            <a:tailEnd type="triangle" w="med" len="med"/>
          </a:ln>
        </p:spPr>
      </p:sp>
      <p:sp>
        <p:nvSpPr>
          <p:cNvPr id="553" name="Line 15"/>
          <p:cNvSpPr/>
          <p:nvPr/>
        </p:nvSpPr>
        <p:spPr>
          <a:xfrm flipV="1">
            <a:off x="3684949" y="1608489"/>
            <a:ext cx="1555" cy="485306"/>
          </a:xfrm>
          <a:prstGeom prst="line">
            <a:avLst/>
          </a:prstGeom>
          <a:ln w="12600">
            <a:solidFill>
              <a:srgbClr val="000208"/>
            </a:solidFill>
            <a:miter/>
            <a:tailEnd type="triangle" w="med" len="med"/>
          </a:ln>
        </p:spPr>
      </p:sp>
      <p:sp>
        <p:nvSpPr>
          <p:cNvPr id="554" name="CustomShape 16"/>
          <p:cNvSpPr/>
          <p:nvPr/>
        </p:nvSpPr>
        <p:spPr>
          <a:xfrm>
            <a:off x="6160704" y="2753497"/>
            <a:ext cx="977861" cy="343894"/>
          </a:xfrm>
          <a:prstGeom prst="rect">
            <a:avLst/>
          </a:prstGeom>
        </p:spPr>
        <p:txBody>
          <a:bodyPr lIns="92070" tIns="46035" rIns="92070" bIns="46035"/>
          <a:lstStyle/>
          <a:p>
            <a:pPr algn="ctr">
              <a:lnSpc>
                <a:spcPct val="100000"/>
              </a:lnSpc>
              <a:buSzPct val="25000"/>
            </a:pPr>
            <a:r>
              <a:rPr lang="fr-FR" sz="1400" dirty="0">
                <a:solidFill>
                  <a:srgbClr val="800000"/>
                </a:solidFill>
                <a:latin typeface="Arial" panose="020B0604020202020204"/>
                <a:ea typeface="Arial" panose="020B0604020202020204"/>
              </a:rPr>
              <a:t>(</a:t>
            </a:r>
            <a:r>
              <a:rPr lang="fr-FR" sz="1400" b="1" dirty="0">
                <a:solidFill>
                  <a:srgbClr val="800000"/>
                </a:solidFill>
                <a:latin typeface="Arial" panose="020B0604020202020204"/>
                <a:ea typeface="Arial" panose="020B0604020202020204"/>
              </a:rPr>
              <a:t>source</a:t>
            </a:r>
            <a:r>
              <a:rPr lang="fr-FR" sz="1400" dirty="0">
                <a:solidFill>
                  <a:srgbClr val="800000"/>
                </a:solidFill>
                <a:latin typeface="Arial" panose="020B0604020202020204"/>
                <a:ea typeface="Arial" panose="020B0604020202020204"/>
              </a:rPr>
              <a:t>)</a:t>
            </a:r>
            <a:endParaRPr sz="1400" dirty="0">
              <a:solidFill>
                <a:srgbClr val="800000"/>
              </a:solidFill>
            </a:endParaRPr>
          </a:p>
        </p:txBody>
      </p:sp>
      <p:sp>
        <p:nvSpPr>
          <p:cNvPr id="555" name="CustomShape 17"/>
          <p:cNvSpPr/>
          <p:nvPr/>
        </p:nvSpPr>
        <p:spPr>
          <a:xfrm>
            <a:off x="6185275" y="2046440"/>
            <a:ext cx="902593" cy="343894"/>
          </a:xfrm>
          <a:prstGeom prst="rect">
            <a:avLst/>
          </a:prstGeom>
        </p:spPr>
        <p:txBody>
          <a:bodyPr lIns="92070" tIns="46035" rIns="92070" bIns="46035"/>
          <a:lstStyle/>
          <a:p>
            <a:pPr algn="ctr">
              <a:lnSpc>
                <a:spcPct val="100000"/>
              </a:lnSpc>
              <a:buSzPct val="25000"/>
            </a:pPr>
            <a:r>
              <a:rPr lang="fr-FR" sz="1400" dirty="0">
                <a:solidFill>
                  <a:srgbClr val="800000"/>
                </a:solidFill>
                <a:latin typeface="Arial" panose="020B0604020202020204"/>
                <a:ea typeface="Arial" panose="020B0604020202020204"/>
              </a:rPr>
              <a:t>(</a:t>
            </a:r>
            <a:r>
              <a:rPr lang="fr-FR" sz="1400" b="1" dirty="0" smtClean="0">
                <a:solidFill>
                  <a:srgbClr val="800000"/>
                </a:solidFill>
                <a:latin typeface="Arial" panose="020B0604020202020204"/>
                <a:ea typeface="Arial" panose="020B0604020202020204"/>
              </a:rPr>
              <a:t>objet</a:t>
            </a:r>
            <a:r>
              <a:rPr lang="fr-FR" sz="1400" dirty="0">
                <a:solidFill>
                  <a:srgbClr val="800000"/>
                </a:solidFill>
                <a:latin typeface="Arial" panose="020B0604020202020204"/>
                <a:ea typeface="Arial" panose="020B0604020202020204"/>
              </a:rPr>
              <a:t>)</a:t>
            </a:r>
            <a:endParaRPr sz="1400" dirty="0">
              <a:solidFill>
                <a:srgbClr val="800000"/>
              </a:solidFill>
            </a:endParaRPr>
          </a:p>
        </p:txBody>
      </p:sp>
      <p:sp>
        <p:nvSpPr>
          <p:cNvPr id="556" name="CustomShape 18"/>
          <p:cNvSpPr/>
          <p:nvPr/>
        </p:nvSpPr>
        <p:spPr>
          <a:xfrm>
            <a:off x="6028829" y="1399801"/>
            <a:ext cx="1307236" cy="343894"/>
          </a:xfrm>
          <a:prstGeom prst="rect">
            <a:avLst/>
          </a:prstGeom>
        </p:spPr>
        <p:txBody>
          <a:bodyPr lIns="92070" tIns="46035" rIns="92070" bIns="46035"/>
          <a:lstStyle/>
          <a:p>
            <a:pPr algn="ctr">
              <a:lnSpc>
                <a:spcPct val="100000"/>
              </a:lnSpc>
              <a:buSzPct val="25000"/>
            </a:pPr>
            <a:r>
              <a:rPr lang="fr-FR" sz="1400" dirty="0" smtClean="0">
                <a:solidFill>
                  <a:srgbClr val="800000"/>
                </a:solidFill>
                <a:latin typeface="Arial" panose="020B0604020202020204"/>
                <a:ea typeface="Arial" panose="020B0604020202020204"/>
              </a:rPr>
              <a:t>(</a:t>
            </a:r>
            <a:r>
              <a:rPr lang="fr-FR" sz="1400" b="1" dirty="0" err="1">
                <a:solidFill>
                  <a:srgbClr val="800000"/>
                </a:solidFill>
                <a:latin typeface="Arial" panose="020B0604020202020204"/>
                <a:ea typeface="Arial" panose="020B0604020202020204"/>
              </a:rPr>
              <a:t>é</a:t>
            </a:r>
            <a:r>
              <a:rPr lang="fr-FR" sz="1400" b="1" dirty="0" err="1" smtClean="0">
                <a:solidFill>
                  <a:srgbClr val="800000"/>
                </a:solidFill>
                <a:latin typeface="Arial" panose="020B0604020202020204"/>
                <a:ea typeface="Arial" panose="020B0604020202020204"/>
              </a:rPr>
              <a:t>xecutable</a:t>
            </a:r>
            <a:r>
              <a:rPr lang="fr-FR" sz="1400" b="1" dirty="0">
                <a:solidFill>
                  <a:srgbClr val="800000"/>
                </a:solidFill>
                <a:latin typeface="Arial" panose="020B0604020202020204"/>
                <a:ea typeface="Arial" panose="020B0604020202020204"/>
              </a:rPr>
              <a:t>)</a:t>
            </a:r>
            <a:endParaRPr sz="1400" b="1" dirty="0">
              <a:solidFill>
                <a:srgbClr val="800000"/>
              </a:solidFill>
            </a:endParaRPr>
          </a:p>
        </p:txBody>
      </p:sp>
      <p:sp>
        <p:nvSpPr>
          <p:cNvPr id="557" name="CustomShape 19"/>
          <p:cNvSpPr/>
          <p:nvPr/>
        </p:nvSpPr>
        <p:spPr>
          <a:xfrm>
            <a:off x="467544" y="3248980"/>
            <a:ext cx="2003930" cy="371654"/>
          </a:xfrm>
          <a:prstGeom prst="rect">
            <a:avLst/>
          </a:prstGeom>
          <a:solidFill>
            <a:srgbClr val="FFFFFF"/>
          </a:solidFill>
          <a:ln w="6480">
            <a:solidFill>
              <a:srgbClr val="919191"/>
            </a:solidFill>
            <a:miter/>
          </a:ln>
        </p:spPr>
        <p:txBody>
          <a:bodyPr lIns="92070" tIns="46035" rIns="92070" bIns="46035"/>
          <a:lstStyle/>
          <a:p>
            <a:pPr algn="l">
              <a:lnSpc>
                <a:spcPct val="100000"/>
              </a:lnSpc>
              <a:buSzPct val="25000"/>
            </a:pPr>
            <a:r>
              <a:rPr lang="fr-FR" sz="1800" b="1" dirty="0">
                <a:latin typeface="Courier"/>
                <a:ea typeface="Arial" panose="020B0604020202020204"/>
                <a:cs typeface="Courier"/>
              </a:rPr>
              <a:t>makefile</a:t>
            </a:r>
            <a:endParaRPr dirty="0">
              <a:latin typeface="Courier"/>
              <a:cs typeface="Courier"/>
            </a:endParaRPr>
          </a:p>
        </p:txBody>
      </p:sp>
      <p:sp>
        <p:nvSpPr>
          <p:cNvPr id="559" name="CustomShape 21"/>
          <p:cNvSpPr/>
          <p:nvPr/>
        </p:nvSpPr>
        <p:spPr>
          <a:xfrm>
            <a:off x="610230" y="4077156"/>
            <a:ext cx="514434" cy="162640"/>
          </a:xfrm>
          <a:prstGeom prst="rect">
            <a:avLst/>
          </a:prstGeom>
          <a:ln w="6480">
            <a:solidFill>
              <a:srgbClr val="000208"/>
            </a:solidFill>
            <a:miter/>
          </a:ln>
        </p:spPr>
      </p:sp>
      <p:sp>
        <p:nvSpPr>
          <p:cNvPr id="560" name="Line 22"/>
          <p:cNvSpPr/>
          <p:nvPr/>
        </p:nvSpPr>
        <p:spPr>
          <a:xfrm flipH="1" flipV="1">
            <a:off x="72008" y="2492896"/>
            <a:ext cx="503548" cy="1656184"/>
          </a:xfrm>
          <a:prstGeom prst="line">
            <a:avLst/>
          </a:prstGeom>
          <a:ln w="6480">
            <a:solidFill>
              <a:srgbClr val="000208"/>
            </a:solidFill>
            <a:miter/>
            <a:tailEnd type="triangle" w="med" len="med"/>
          </a:ln>
        </p:spPr>
      </p:sp>
      <p:sp>
        <p:nvSpPr>
          <p:cNvPr id="561" name="CustomShape 23"/>
          <p:cNvSpPr/>
          <p:nvPr/>
        </p:nvSpPr>
        <p:spPr>
          <a:xfrm>
            <a:off x="28478" y="2157246"/>
            <a:ext cx="1576029" cy="371654"/>
          </a:xfrm>
          <a:prstGeom prst="rect">
            <a:avLst/>
          </a:prstGeom>
        </p:spPr>
        <p:txBody>
          <a:bodyPr wrap="none" lIns="92070" tIns="46035" rIns="92070" bIns="46035"/>
          <a:lstStyle/>
          <a:p>
            <a:pPr>
              <a:buSzPct val="25000"/>
            </a:pPr>
            <a:r>
              <a:rPr lang="fr-FR" sz="1800" b="1" dirty="0" smtClean="0">
                <a:solidFill>
                  <a:srgbClr val="FF0000"/>
                </a:solidFill>
                <a:latin typeface="Arial" panose="020B0604020202020204"/>
              </a:rPr>
              <a:t>Caractère</a:t>
            </a:r>
            <a:r>
              <a:rPr lang="fr-FR" sz="1800" b="1" dirty="0" smtClean="0">
                <a:solidFill>
                  <a:srgbClr val="FF0000"/>
                </a:solidFill>
              </a:rPr>
              <a:t> </a:t>
            </a:r>
            <a:r>
              <a:rPr lang="fr-FR" sz="1800" b="1" dirty="0" smtClean="0">
                <a:solidFill>
                  <a:srgbClr val="FF0000"/>
                </a:solidFill>
                <a:latin typeface="Arial" panose="020B0604020202020204"/>
              </a:rPr>
              <a:t>TAB</a:t>
            </a:r>
            <a:endParaRPr b="1" dirty="0">
              <a:solidFill>
                <a:srgbClr val="FF0000"/>
              </a:solidFill>
            </a:endParaRPr>
          </a:p>
        </p:txBody>
      </p:sp>
      <p:sp>
        <p:nvSpPr>
          <p:cNvPr id="28" name="Titre 1"/>
          <p:cNvSpPr>
            <a:spLocks noGrp="1"/>
          </p:cNvSpPr>
          <p:nvPr>
            <p:ph type="title"/>
          </p:nvPr>
        </p:nvSpPr>
        <p:spPr>
          <a:xfrm>
            <a:off x="304800" y="152400"/>
            <a:ext cx="7772400" cy="533400"/>
          </a:xfrm>
        </p:spPr>
        <p:txBody>
          <a:bodyPr/>
          <a:lstStyle/>
          <a:p>
            <a:r>
              <a:rPr lang="fr-FR" sz="2800" dirty="0">
                <a:latin typeface="Arial" panose="020B0604020202020204" pitchFamily="34" charset="0"/>
                <a:ea typeface="MS PGothic" panose="020B0600070205080204" charset="-128"/>
                <a:cs typeface="MS PGothic" panose="020B0600070205080204" charset="-128"/>
              </a:rPr>
              <a:t>Structure </a:t>
            </a:r>
            <a:r>
              <a:rPr lang="fr-FR" sz="2800" dirty="0" smtClean="0">
                <a:latin typeface="Arial" panose="020B0604020202020204" pitchFamily="34" charset="0"/>
                <a:cs typeface="MS PGothic" panose="020B0600070205080204" charset="-128"/>
              </a:rPr>
              <a:t>du</a:t>
            </a:r>
            <a:r>
              <a:rPr lang="fr-FR" sz="2800" dirty="0" smtClean="0">
                <a:latin typeface="Arial" panose="020B0604020202020204" pitchFamily="34" charset="0"/>
                <a:ea typeface="MS PGothic" panose="020B0600070205080204" charset="-128"/>
                <a:cs typeface="MS PGothic" panose="020B0600070205080204" charset="-128"/>
              </a:rPr>
              <a:t> </a:t>
            </a:r>
            <a:r>
              <a:rPr lang="fr-FR" sz="2800" dirty="0" smtClean="0">
                <a:latin typeface="Courier New" panose="02070309020205020404"/>
                <a:ea typeface="MS PGothic" panose="020B0600070205080204" charset="-128"/>
                <a:cs typeface="Courier New" panose="02070309020205020404"/>
              </a:rPr>
              <a:t>Makefile </a:t>
            </a:r>
            <a:r>
              <a:rPr lang="fr-FR" sz="2800" dirty="0" smtClean="0">
                <a:latin typeface="+mn-lt"/>
                <a:cs typeface="Courier New" panose="02070309020205020404"/>
              </a:rPr>
              <a:t>: Exemple</a:t>
            </a:r>
            <a:endParaRPr lang="fr-FR" sz="2800" dirty="0">
              <a:latin typeface="+mn-lt"/>
              <a:cs typeface="MS PGothic" panose="020B0600070205080204" charset="-128"/>
            </a:endParaRPr>
          </a:p>
        </p:txBody>
      </p:sp>
      <p:sp>
        <p:nvSpPr>
          <p:cNvPr id="29" name="CustomShape 21"/>
          <p:cNvSpPr/>
          <p:nvPr/>
        </p:nvSpPr>
        <p:spPr>
          <a:xfrm>
            <a:off x="611560" y="4869160"/>
            <a:ext cx="514434" cy="162640"/>
          </a:xfrm>
          <a:prstGeom prst="rect">
            <a:avLst/>
          </a:prstGeom>
          <a:ln w="6480">
            <a:solidFill>
              <a:srgbClr val="000208"/>
            </a:solidFill>
            <a:miter/>
          </a:ln>
        </p:spPr>
      </p:sp>
      <p:sp>
        <p:nvSpPr>
          <p:cNvPr id="30" name="CustomShape 21"/>
          <p:cNvSpPr/>
          <p:nvPr/>
        </p:nvSpPr>
        <p:spPr>
          <a:xfrm>
            <a:off x="575556" y="5697252"/>
            <a:ext cx="514434" cy="162640"/>
          </a:xfrm>
          <a:prstGeom prst="rect">
            <a:avLst/>
          </a:prstGeom>
          <a:ln w="6480">
            <a:solidFill>
              <a:srgbClr val="000208"/>
            </a:solidFill>
            <a:miter/>
          </a:ln>
        </p:spPr>
      </p:sp>
      <p:sp>
        <p:nvSpPr>
          <p:cNvPr id="31" name="CustomShape 21"/>
          <p:cNvSpPr/>
          <p:nvPr/>
        </p:nvSpPr>
        <p:spPr>
          <a:xfrm>
            <a:off x="575556" y="6489340"/>
            <a:ext cx="514434" cy="162640"/>
          </a:xfrm>
          <a:prstGeom prst="rect">
            <a:avLst/>
          </a:prstGeom>
          <a:ln w="6480">
            <a:solidFill>
              <a:srgbClr val="000208"/>
            </a:solidFill>
            <a:miter/>
          </a:ln>
        </p:spPr>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35" name="Espace réservé du pied de page 3"/>
          <p:cNvSpPr>
            <a:spLocks noGrp="1"/>
          </p:cNvSpPr>
          <p:nvPr>
            <p:ph type="ftr" sz="quarter" idx="10"/>
          </p:nvPr>
        </p:nvSpPr>
        <p:spPr>
          <a:xfrm>
            <a:off x="3124200" y="6400800"/>
            <a:ext cx="2895600" cy="3810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r>
              <a:rPr lang="fr-FR" sz="1800" dirty="0">
                <a:solidFill>
                  <a:srgbClr val="000208"/>
                </a:solidFill>
              </a:rPr>
              <a:t>L3Info – Unix/C</a:t>
            </a:r>
            <a:endParaRPr lang="fr-FR" sz="1800" dirty="0">
              <a:solidFill>
                <a:srgbClr val="000208"/>
              </a:solidFill>
            </a:endParaRPr>
          </a:p>
        </p:txBody>
      </p:sp>
      <p:sp>
        <p:nvSpPr>
          <p:cNvPr id="558" name="CustomShape 20"/>
          <p:cNvSpPr/>
          <p:nvPr/>
        </p:nvSpPr>
        <p:spPr>
          <a:xfrm>
            <a:off x="467544" y="3614632"/>
            <a:ext cx="6683293" cy="3234748"/>
          </a:xfrm>
          <a:prstGeom prst="rect">
            <a:avLst/>
          </a:prstGeom>
          <a:solidFill>
            <a:srgbClr val="FFFFFF"/>
          </a:solidFill>
          <a:ln w="6480">
            <a:solidFill>
              <a:srgbClr val="919191"/>
            </a:solidFill>
            <a:miter/>
          </a:ln>
        </p:spPr>
        <p:txBody>
          <a:bodyPr lIns="92070" tIns="46035" rIns="92070" bIns="46035"/>
          <a:lstStyle/>
          <a:p>
            <a:pPr algn="l">
              <a:lnSpc>
                <a:spcPct val="100000"/>
              </a:lnSpc>
              <a:buSzPct val="25000"/>
            </a:pPr>
            <a:r>
              <a:rPr lang="fr-FR" sz="1800" b="1" dirty="0">
                <a:latin typeface="Courier New" panose="02070309020205020404"/>
                <a:ea typeface="Courier New" panose="02070309020205020404"/>
              </a:rPr>
              <a:t>prog : prog.o code1.o code2.o</a:t>
            </a:r>
            <a:endParaRPr dirty="0"/>
          </a:p>
          <a:p>
            <a:pPr algn="l">
              <a:lnSpc>
                <a:spcPct val="100000"/>
              </a:lnSpc>
              <a:buSzPct val="25000"/>
            </a:pPr>
            <a:r>
              <a:rPr lang="fr-FR" sz="1800" b="1" dirty="0">
                <a:latin typeface="Courier New" panose="02070309020205020404"/>
                <a:ea typeface="Courier New" panose="02070309020205020404"/>
              </a:rPr>
              <a:t>	gcc –o prog  prog.o code1.o code2.o</a:t>
            </a:r>
            <a:endParaRPr dirty="0"/>
          </a:p>
          <a:p>
            <a:pPr algn="l">
              <a:lnSpc>
                <a:spcPct val="100000"/>
              </a:lnSpc>
              <a:buSzPct val="25000"/>
            </a:pPr>
            <a:endParaRPr dirty="0"/>
          </a:p>
          <a:p>
            <a:pPr algn="l">
              <a:lnSpc>
                <a:spcPct val="100000"/>
              </a:lnSpc>
              <a:buSzPct val="25000"/>
            </a:pPr>
            <a:r>
              <a:rPr lang="fr-FR" sz="1800" b="1" dirty="0">
                <a:latin typeface="Courier New" panose="02070309020205020404"/>
                <a:ea typeface="Courier New" panose="02070309020205020404"/>
              </a:rPr>
              <a:t>prog.o : prog.c prog.h code1.h  </a:t>
            </a:r>
            <a:endParaRPr dirty="0"/>
          </a:p>
          <a:p>
            <a:pPr lvl="2" algn="l">
              <a:buSzPct val="25000"/>
            </a:pPr>
            <a:r>
              <a:rPr lang="fr-FR" sz="1800" b="1" dirty="0">
                <a:latin typeface="Courier New" panose="02070309020205020404"/>
                <a:ea typeface="Courier New" panose="02070309020205020404"/>
              </a:rPr>
              <a:t>gcc -c prog.c –o prog.o</a:t>
            </a:r>
            <a:endParaRPr dirty="0"/>
          </a:p>
          <a:p>
            <a:pPr algn="l">
              <a:lnSpc>
                <a:spcPct val="100000"/>
              </a:lnSpc>
              <a:buSzPct val="25000"/>
            </a:pPr>
            <a:endParaRPr dirty="0"/>
          </a:p>
          <a:p>
            <a:pPr algn="l">
              <a:lnSpc>
                <a:spcPct val="100000"/>
              </a:lnSpc>
              <a:buSzPct val="25000"/>
            </a:pPr>
            <a:r>
              <a:rPr lang="fr-FR" sz="1800" b="1" dirty="0">
                <a:latin typeface="Courier New" panose="02070309020205020404"/>
                <a:ea typeface="Courier New" panose="02070309020205020404"/>
              </a:rPr>
              <a:t>code1.o : code1.c prog.h code1.h</a:t>
            </a:r>
            <a:endParaRPr dirty="0"/>
          </a:p>
          <a:p>
            <a:pPr lvl="2" algn="l">
              <a:buSzPct val="25000"/>
            </a:pPr>
            <a:r>
              <a:rPr lang="fr-FR" sz="1800" b="1" dirty="0">
                <a:latin typeface="Courier New" panose="02070309020205020404"/>
                <a:ea typeface="Courier New" panose="02070309020205020404"/>
              </a:rPr>
              <a:t>gcc -c code1.c –o code1.o</a:t>
            </a:r>
            <a:endParaRPr dirty="0"/>
          </a:p>
          <a:p>
            <a:pPr algn="l">
              <a:lnSpc>
                <a:spcPct val="100000"/>
              </a:lnSpc>
              <a:buSzPct val="25000"/>
            </a:pPr>
            <a:endParaRPr dirty="0"/>
          </a:p>
          <a:p>
            <a:pPr algn="l">
              <a:lnSpc>
                <a:spcPct val="100000"/>
              </a:lnSpc>
              <a:buSzPct val="25000"/>
            </a:pPr>
            <a:r>
              <a:rPr lang="fr-FR" sz="1800" b="1" dirty="0">
                <a:latin typeface="Courier New" panose="02070309020205020404"/>
                <a:ea typeface="Courier New" panose="02070309020205020404"/>
              </a:rPr>
              <a:t>code2.o : code2.c prog.h code1.h </a:t>
            </a:r>
            <a:endParaRPr sz="1800" dirty="0"/>
          </a:p>
          <a:p>
            <a:pPr marL="914400" lvl="4" algn="l">
              <a:buSzPct val="25000"/>
            </a:pPr>
            <a:r>
              <a:rPr lang="fr-FR" sz="1800" b="1" dirty="0">
                <a:latin typeface="Courier New" panose="02070309020205020404"/>
                <a:ea typeface="Courier New" panose="02070309020205020404"/>
              </a:rPr>
              <a:t>gcc –c code2.c –o code2.o</a:t>
            </a:r>
            <a:endParaRPr lang="fr-FR" dirty="0"/>
          </a:p>
          <a:p>
            <a:pPr algn="l">
              <a:lnSpc>
                <a:spcPct val="100000"/>
              </a:lnSpc>
              <a:buSzPct val="25000"/>
            </a:pPr>
            <a:endParaRPr dirty="0"/>
          </a:p>
        </p:txBody>
      </p:sp>
      <p:sp>
        <p:nvSpPr>
          <p:cNvPr id="540" name="TextShape 2"/>
          <p:cNvSpPr txBox="1"/>
          <p:nvPr/>
        </p:nvSpPr>
        <p:spPr>
          <a:xfrm>
            <a:off x="401844" y="1012486"/>
            <a:ext cx="8262053" cy="5258353"/>
          </a:xfrm>
          <a:prstGeom prst="rect">
            <a:avLst/>
          </a:prstGeom>
        </p:spPr>
        <p:txBody>
          <a:bodyPr lIns="92070" tIns="46035" rIns="92070" bIns="46035"/>
          <a:lstStyle/>
          <a:p>
            <a:pPr>
              <a:buSzPct val="25000"/>
              <a:buFont typeface="StarSymbol"/>
              <a:buChar char=""/>
            </a:pPr>
            <a:r>
              <a:rPr lang="fr-FR">
                <a:ea typeface="Arial" panose="020B0604020202020204"/>
              </a:rPr>
              <a:t> </a:t>
            </a:r>
            <a:endParaRPr lang="fr-FR">
              <a:ea typeface="Arial" panose="020B0604020202020204"/>
            </a:endParaRPr>
          </a:p>
        </p:txBody>
      </p:sp>
      <p:sp>
        <p:nvSpPr>
          <p:cNvPr id="541" name="CustomShape 3"/>
          <p:cNvSpPr/>
          <p:nvPr/>
        </p:nvSpPr>
        <p:spPr>
          <a:xfrm>
            <a:off x="3042995" y="1304764"/>
            <a:ext cx="1213928" cy="343894"/>
          </a:xfrm>
          <a:prstGeom prst="rect">
            <a:avLst/>
          </a:prstGeom>
        </p:spPr>
        <p:txBody>
          <a:bodyPr lIns="92070" tIns="46035" rIns="92070" bIns="46035"/>
          <a:lstStyle/>
          <a:p>
            <a:pPr algn="ctr">
              <a:lnSpc>
                <a:spcPct val="100000"/>
              </a:lnSpc>
              <a:buSzPct val="25000"/>
            </a:pPr>
            <a:r>
              <a:rPr lang="fr-FR" sz="1400" b="1" dirty="0">
                <a:solidFill>
                  <a:schemeClr val="tx1"/>
                </a:solidFill>
                <a:latin typeface="Courier New" panose="02070309020205020404"/>
                <a:ea typeface="Courier New" panose="02070309020205020404"/>
              </a:rPr>
              <a:t>prog</a:t>
            </a:r>
            <a:endParaRPr sz="1400" dirty="0">
              <a:solidFill>
                <a:schemeClr val="tx1"/>
              </a:solidFill>
            </a:endParaRPr>
          </a:p>
        </p:txBody>
      </p:sp>
      <p:sp>
        <p:nvSpPr>
          <p:cNvPr id="542" name="CustomShape 4"/>
          <p:cNvSpPr/>
          <p:nvPr/>
        </p:nvSpPr>
        <p:spPr>
          <a:xfrm>
            <a:off x="2760585" y="2056237"/>
            <a:ext cx="1839087" cy="343894"/>
          </a:xfrm>
          <a:prstGeom prst="rect">
            <a:avLst/>
          </a:prstGeom>
        </p:spPr>
        <p:txBody>
          <a:bodyPr lIns="92070" tIns="46035" rIns="92070" bIns="46035"/>
          <a:lstStyle/>
          <a:p>
            <a:pPr algn="ctr">
              <a:lnSpc>
                <a:spcPct val="100000"/>
              </a:lnSpc>
              <a:buSzPct val="25000"/>
            </a:pPr>
            <a:r>
              <a:rPr lang="fr-FR" sz="1400" b="1" dirty="0">
                <a:latin typeface="Courier New" panose="02070309020205020404"/>
                <a:ea typeface="Courier New" panose="02070309020205020404"/>
              </a:rPr>
              <a:t>code</a:t>
            </a:r>
            <a:r>
              <a:rPr lang="fr-FR" sz="1400" b="1" dirty="0">
                <a:solidFill>
                  <a:srgbClr val="010507"/>
                </a:solidFill>
                <a:latin typeface="Courier New" panose="02070309020205020404"/>
                <a:ea typeface="Courier New" panose="02070309020205020404"/>
              </a:rPr>
              <a:t>1.o</a:t>
            </a:r>
            <a:endParaRPr sz="1400" dirty="0"/>
          </a:p>
        </p:txBody>
      </p:sp>
      <p:sp>
        <p:nvSpPr>
          <p:cNvPr id="543" name="CustomShape 5"/>
          <p:cNvSpPr/>
          <p:nvPr/>
        </p:nvSpPr>
        <p:spPr>
          <a:xfrm>
            <a:off x="4474951" y="2054931"/>
            <a:ext cx="1841887" cy="343894"/>
          </a:xfrm>
          <a:prstGeom prst="rect">
            <a:avLst/>
          </a:prstGeom>
        </p:spPr>
        <p:txBody>
          <a:bodyPr lIns="92070" tIns="46035" rIns="92070" bIns="46035"/>
          <a:lstStyle/>
          <a:p>
            <a:pPr algn="ctr">
              <a:lnSpc>
                <a:spcPct val="100000"/>
              </a:lnSpc>
              <a:buSzPct val="25000"/>
            </a:pPr>
            <a:r>
              <a:rPr lang="fr-FR" sz="1400" b="1" dirty="0">
                <a:latin typeface="Courier New" panose="02070309020205020404"/>
                <a:ea typeface="Courier New" panose="02070309020205020404"/>
              </a:rPr>
              <a:t>code</a:t>
            </a:r>
            <a:r>
              <a:rPr lang="fr-FR" sz="1400" b="1" dirty="0">
                <a:solidFill>
                  <a:srgbClr val="010507"/>
                </a:solidFill>
                <a:latin typeface="Courier New" panose="02070309020205020404"/>
                <a:ea typeface="Courier New" panose="02070309020205020404"/>
              </a:rPr>
              <a:t>2.o</a:t>
            </a:r>
            <a:endParaRPr sz="1400" dirty="0"/>
          </a:p>
        </p:txBody>
      </p:sp>
      <p:sp>
        <p:nvSpPr>
          <p:cNvPr id="544" name="CustomShape 6"/>
          <p:cNvSpPr/>
          <p:nvPr/>
        </p:nvSpPr>
        <p:spPr>
          <a:xfrm>
            <a:off x="1604507" y="2060810"/>
            <a:ext cx="1185003" cy="343894"/>
          </a:xfrm>
          <a:prstGeom prst="rect">
            <a:avLst/>
          </a:prstGeom>
        </p:spPr>
        <p:txBody>
          <a:bodyPr lIns="92070" tIns="46035" rIns="92070" bIns="46035"/>
          <a:lstStyle/>
          <a:p>
            <a:pPr algn="ctr">
              <a:lnSpc>
                <a:spcPct val="100000"/>
              </a:lnSpc>
              <a:buSzPct val="25000"/>
            </a:pPr>
            <a:r>
              <a:rPr lang="fr-FR" sz="1400" b="1" dirty="0">
                <a:solidFill>
                  <a:schemeClr val="tx1"/>
                </a:solidFill>
                <a:latin typeface="Courier New" panose="02070309020205020404"/>
                <a:ea typeface="Courier New" panose="02070309020205020404"/>
              </a:rPr>
              <a:t>prog.o</a:t>
            </a:r>
            <a:endParaRPr sz="1400" dirty="0">
              <a:solidFill>
                <a:schemeClr val="tx1"/>
              </a:solidFill>
            </a:endParaRPr>
          </a:p>
        </p:txBody>
      </p:sp>
      <p:sp>
        <p:nvSpPr>
          <p:cNvPr id="545" name="CustomShape 7"/>
          <p:cNvSpPr/>
          <p:nvPr/>
        </p:nvSpPr>
        <p:spPr>
          <a:xfrm>
            <a:off x="2738502" y="2775052"/>
            <a:ext cx="1840643" cy="343894"/>
          </a:xfrm>
          <a:prstGeom prst="rect">
            <a:avLst/>
          </a:prstGeom>
        </p:spPr>
        <p:txBody>
          <a:bodyPr lIns="92070" tIns="46035" rIns="92070" bIns="46035"/>
          <a:lstStyle/>
          <a:p>
            <a:pPr algn="ctr">
              <a:lnSpc>
                <a:spcPct val="100000"/>
              </a:lnSpc>
              <a:buSzPct val="25000"/>
            </a:pPr>
            <a:r>
              <a:rPr lang="fr-FR" sz="1400" b="1" dirty="0">
                <a:latin typeface="Courier New" panose="02070309020205020404"/>
                <a:ea typeface="Courier New" panose="02070309020205020404"/>
              </a:rPr>
              <a:t>code</a:t>
            </a:r>
            <a:r>
              <a:rPr lang="fr-FR" sz="1400" b="1" dirty="0">
                <a:solidFill>
                  <a:srgbClr val="010507"/>
                </a:solidFill>
                <a:latin typeface="Courier New" panose="02070309020205020404"/>
                <a:ea typeface="Courier New" panose="02070309020205020404"/>
              </a:rPr>
              <a:t>1.c</a:t>
            </a:r>
            <a:endParaRPr sz="1400" dirty="0"/>
          </a:p>
        </p:txBody>
      </p:sp>
      <p:sp>
        <p:nvSpPr>
          <p:cNvPr id="546" name="CustomShape 8"/>
          <p:cNvSpPr/>
          <p:nvPr/>
        </p:nvSpPr>
        <p:spPr>
          <a:xfrm>
            <a:off x="4455668" y="2772113"/>
            <a:ext cx="1839399" cy="343894"/>
          </a:xfrm>
          <a:prstGeom prst="rect">
            <a:avLst/>
          </a:prstGeom>
        </p:spPr>
        <p:txBody>
          <a:bodyPr lIns="92070" tIns="46035" rIns="92070" bIns="46035"/>
          <a:lstStyle/>
          <a:p>
            <a:pPr algn="ctr">
              <a:lnSpc>
                <a:spcPct val="100000"/>
              </a:lnSpc>
              <a:buSzPct val="25000"/>
            </a:pPr>
            <a:r>
              <a:rPr lang="fr-FR" sz="1400" b="1" dirty="0">
                <a:latin typeface="Courier New" panose="02070309020205020404"/>
                <a:ea typeface="Courier New" panose="02070309020205020404"/>
              </a:rPr>
              <a:t>code</a:t>
            </a:r>
            <a:r>
              <a:rPr lang="fr-FR" sz="1400" b="1" dirty="0">
                <a:solidFill>
                  <a:srgbClr val="010507"/>
                </a:solidFill>
                <a:latin typeface="Courier New" panose="02070309020205020404"/>
                <a:ea typeface="Courier New" panose="02070309020205020404"/>
              </a:rPr>
              <a:t>2.c</a:t>
            </a:r>
            <a:endParaRPr sz="1400" dirty="0"/>
          </a:p>
        </p:txBody>
      </p:sp>
      <p:sp>
        <p:nvSpPr>
          <p:cNvPr id="547" name="CustomShape 9"/>
          <p:cNvSpPr/>
          <p:nvPr/>
        </p:nvSpPr>
        <p:spPr>
          <a:xfrm>
            <a:off x="1583668" y="2779298"/>
            <a:ext cx="1183759" cy="343894"/>
          </a:xfrm>
          <a:prstGeom prst="rect">
            <a:avLst/>
          </a:prstGeom>
        </p:spPr>
        <p:txBody>
          <a:bodyPr lIns="92070" tIns="46035" rIns="92070" bIns="46035"/>
          <a:lstStyle/>
          <a:p>
            <a:pPr algn="ctr">
              <a:lnSpc>
                <a:spcPct val="100000"/>
              </a:lnSpc>
              <a:buSzPct val="25000"/>
            </a:pPr>
            <a:r>
              <a:rPr lang="fr-FR" sz="1400" b="1" dirty="0">
                <a:solidFill>
                  <a:schemeClr val="tx1"/>
                </a:solidFill>
                <a:latin typeface="Courier New" panose="02070309020205020404"/>
                <a:ea typeface="Courier New" panose="02070309020205020404"/>
              </a:rPr>
              <a:t>prog.c</a:t>
            </a:r>
            <a:endParaRPr sz="1400" dirty="0">
              <a:solidFill>
                <a:schemeClr val="tx1"/>
              </a:solidFill>
            </a:endParaRPr>
          </a:p>
        </p:txBody>
      </p:sp>
      <p:sp>
        <p:nvSpPr>
          <p:cNvPr id="548" name="Line 10"/>
          <p:cNvSpPr/>
          <p:nvPr/>
        </p:nvSpPr>
        <p:spPr>
          <a:xfrm flipV="1">
            <a:off x="2154208" y="2426448"/>
            <a:ext cx="1244" cy="324000"/>
          </a:xfrm>
          <a:prstGeom prst="line">
            <a:avLst/>
          </a:prstGeom>
          <a:ln w="12600">
            <a:solidFill>
              <a:srgbClr val="000208"/>
            </a:solidFill>
            <a:miter/>
            <a:tailEnd type="triangle" w="med" len="med"/>
          </a:ln>
        </p:spPr>
      </p:sp>
      <p:sp>
        <p:nvSpPr>
          <p:cNvPr id="549" name="Line 11"/>
          <p:cNvSpPr/>
          <p:nvPr/>
        </p:nvSpPr>
        <p:spPr>
          <a:xfrm flipV="1">
            <a:off x="3723516" y="2315546"/>
            <a:ext cx="1244" cy="512739"/>
          </a:xfrm>
          <a:prstGeom prst="line">
            <a:avLst/>
          </a:prstGeom>
          <a:ln w="12600">
            <a:solidFill>
              <a:srgbClr val="000208"/>
            </a:solidFill>
            <a:miter/>
            <a:tailEnd type="triangle" w="med" len="med"/>
          </a:ln>
        </p:spPr>
      </p:sp>
      <p:sp>
        <p:nvSpPr>
          <p:cNvPr id="550" name="Line 12"/>
          <p:cNvSpPr/>
          <p:nvPr/>
        </p:nvSpPr>
        <p:spPr>
          <a:xfrm flipV="1">
            <a:off x="5377544" y="2304116"/>
            <a:ext cx="1244" cy="512739"/>
          </a:xfrm>
          <a:prstGeom prst="line">
            <a:avLst/>
          </a:prstGeom>
          <a:ln w="12600">
            <a:solidFill>
              <a:srgbClr val="000208"/>
            </a:solidFill>
            <a:miter/>
            <a:tailEnd type="triangle" w="med" len="med"/>
          </a:ln>
        </p:spPr>
      </p:sp>
      <p:sp>
        <p:nvSpPr>
          <p:cNvPr id="551" name="Line 13"/>
          <p:cNvSpPr/>
          <p:nvPr/>
        </p:nvSpPr>
        <p:spPr>
          <a:xfrm flipV="1">
            <a:off x="2234020" y="1520787"/>
            <a:ext cx="897820" cy="442641"/>
          </a:xfrm>
          <a:prstGeom prst="line">
            <a:avLst/>
          </a:prstGeom>
          <a:ln w="12600">
            <a:solidFill>
              <a:srgbClr val="000208"/>
            </a:solidFill>
            <a:miter/>
            <a:tailEnd type="triangle" w="med" len="med"/>
          </a:ln>
        </p:spPr>
      </p:sp>
      <p:sp>
        <p:nvSpPr>
          <p:cNvPr id="552" name="Line 14"/>
          <p:cNvSpPr/>
          <p:nvPr/>
        </p:nvSpPr>
        <p:spPr>
          <a:xfrm flipH="1" flipV="1">
            <a:off x="4095190" y="1612407"/>
            <a:ext cx="1280799" cy="459506"/>
          </a:xfrm>
          <a:prstGeom prst="line">
            <a:avLst/>
          </a:prstGeom>
          <a:ln w="12600">
            <a:solidFill>
              <a:srgbClr val="000208"/>
            </a:solidFill>
            <a:miter/>
            <a:tailEnd type="triangle" w="med" len="med"/>
          </a:ln>
        </p:spPr>
      </p:sp>
      <p:sp>
        <p:nvSpPr>
          <p:cNvPr id="553" name="Line 15"/>
          <p:cNvSpPr/>
          <p:nvPr/>
        </p:nvSpPr>
        <p:spPr>
          <a:xfrm flipV="1">
            <a:off x="3684949" y="1608489"/>
            <a:ext cx="1555" cy="485306"/>
          </a:xfrm>
          <a:prstGeom prst="line">
            <a:avLst/>
          </a:prstGeom>
          <a:ln w="12600">
            <a:solidFill>
              <a:srgbClr val="000208"/>
            </a:solidFill>
            <a:miter/>
            <a:tailEnd type="triangle" w="med" len="med"/>
          </a:ln>
        </p:spPr>
      </p:sp>
      <p:sp>
        <p:nvSpPr>
          <p:cNvPr id="554" name="CustomShape 16"/>
          <p:cNvSpPr/>
          <p:nvPr/>
        </p:nvSpPr>
        <p:spPr>
          <a:xfrm>
            <a:off x="6160704" y="2753497"/>
            <a:ext cx="977861" cy="343894"/>
          </a:xfrm>
          <a:prstGeom prst="rect">
            <a:avLst/>
          </a:prstGeom>
        </p:spPr>
        <p:txBody>
          <a:bodyPr lIns="92070" tIns="46035" rIns="92070" bIns="46035"/>
          <a:lstStyle/>
          <a:p>
            <a:pPr algn="ctr">
              <a:lnSpc>
                <a:spcPct val="100000"/>
              </a:lnSpc>
              <a:buSzPct val="25000"/>
            </a:pPr>
            <a:r>
              <a:rPr lang="fr-FR" sz="1400">
                <a:solidFill>
                  <a:srgbClr val="800000"/>
                </a:solidFill>
                <a:latin typeface="Arial" panose="020B0604020202020204"/>
                <a:ea typeface="Arial" panose="020B0604020202020204"/>
              </a:rPr>
              <a:t>(source)</a:t>
            </a:r>
            <a:endParaRPr sz="1400">
              <a:solidFill>
                <a:srgbClr val="800000"/>
              </a:solidFill>
            </a:endParaRPr>
          </a:p>
        </p:txBody>
      </p:sp>
      <p:sp>
        <p:nvSpPr>
          <p:cNvPr id="555" name="CustomShape 17"/>
          <p:cNvSpPr/>
          <p:nvPr/>
        </p:nvSpPr>
        <p:spPr>
          <a:xfrm>
            <a:off x="6185275" y="2046440"/>
            <a:ext cx="902593" cy="343894"/>
          </a:xfrm>
          <a:prstGeom prst="rect">
            <a:avLst/>
          </a:prstGeom>
        </p:spPr>
        <p:txBody>
          <a:bodyPr lIns="92070" tIns="46035" rIns="92070" bIns="46035"/>
          <a:lstStyle/>
          <a:p>
            <a:pPr algn="ctr">
              <a:lnSpc>
                <a:spcPct val="100000"/>
              </a:lnSpc>
              <a:buSzPct val="25000"/>
            </a:pPr>
            <a:r>
              <a:rPr lang="fr-FR" sz="1400" dirty="0">
                <a:solidFill>
                  <a:srgbClr val="800000"/>
                </a:solidFill>
                <a:latin typeface="Arial" panose="020B0604020202020204"/>
                <a:ea typeface="Arial" panose="020B0604020202020204"/>
              </a:rPr>
              <a:t>(</a:t>
            </a:r>
            <a:r>
              <a:rPr lang="fr-FR" sz="1400" dirty="0" err="1">
                <a:solidFill>
                  <a:srgbClr val="800000"/>
                </a:solidFill>
                <a:latin typeface="Arial" panose="020B0604020202020204"/>
                <a:ea typeface="Arial" panose="020B0604020202020204"/>
              </a:rPr>
              <a:t>object</a:t>
            </a:r>
            <a:r>
              <a:rPr lang="fr-FR" sz="1400" dirty="0">
                <a:solidFill>
                  <a:srgbClr val="800000"/>
                </a:solidFill>
                <a:latin typeface="Arial" panose="020B0604020202020204"/>
                <a:ea typeface="Arial" panose="020B0604020202020204"/>
              </a:rPr>
              <a:t>)</a:t>
            </a:r>
            <a:endParaRPr sz="1400" dirty="0">
              <a:solidFill>
                <a:srgbClr val="800000"/>
              </a:solidFill>
            </a:endParaRPr>
          </a:p>
        </p:txBody>
      </p:sp>
      <p:sp>
        <p:nvSpPr>
          <p:cNvPr id="556" name="CustomShape 18"/>
          <p:cNvSpPr/>
          <p:nvPr/>
        </p:nvSpPr>
        <p:spPr>
          <a:xfrm>
            <a:off x="6028829" y="1340768"/>
            <a:ext cx="1307236" cy="343894"/>
          </a:xfrm>
          <a:prstGeom prst="rect">
            <a:avLst/>
          </a:prstGeom>
        </p:spPr>
        <p:txBody>
          <a:bodyPr lIns="92070" tIns="46035" rIns="92070" bIns="46035"/>
          <a:lstStyle/>
          <a:p>
            <a:pPr algn="ctr">
              <a:lnSpc>
                <a:spcPct val="100000"/>
              </a:lnSpc>
              <a:buSzPct val="25000"/>
            </a:pPr>
            <a:r>
              <a:rPr lang="fr-FR" sz="1400" dirty="0" smtClean="0">
                <a:solidFill>
                  <a:srgbClr val="800000"/>
                </a:solidFill>
                <a:latin typeface="Arial" panose="020B0604020202020204"/>
                <a:ea typeface="Arial" panose="020B0604020202020204"/>
              </a:rPr>
              <a:t>(</a:t>
            </a:r>
            <a:r>
              <a:rPr lang="fr-FR" sz="1400" b="1" dirty="0" err="1">
                <a:solidFill>
                  <a:srgbClr val="800000"/>
                </a:solidFill>
                <a:latin typeface="Arial" panose="020B0604020202020204"/>
                <a:ea typeface="Arial" panose="020B0604020202020204"/>
              </a:rPr>
              <a:t>é</a:t>
            </a:r>
            <a:r>
              <a:rPr lang="fr-FR" sz="1400" b="1" dirty="0" err="1" smtClean="0">
                <a:solidFill>
                  <a:srgbClr val="800000"/>
                </a:solidFill>
                <a:latin typeface="Arial" panose="020B0604020202020204"/>
                <a:ea typeface="Arial" panose="020B0604020202020204"/>
              </a:rPr>
              <a:t>xecutable</a:t>
            </a:r>
            <a:r>
              <a:rPr lang="fr-FR" sz="1400" dirty="0">
                <a:solidFill>
                  <a:srgbClr val="800000"/>
                </a:solidFill>
                <a:latin typeface="Arial" panose="020B0604020202020204"/>
                <a:ea typeface="Arial" panose="020B0604020202020204"/>
              </a:rPr>
              <a:t>)</a:t>
            </a:r>
            <a:endParaRPr sz="1400" dirty="0">
              <a:solidFill>
                <a:srgbClr val="800000"/>
              </a:solidFill>
            </a:endParaRPr>
          </a:p>
        </p:txBody>
      </p:sp>
      <p:sp>
        <p:nvSpPr>
          <p:cNvPr id="557" name="CustomShape 19"/>
          <p:cNvSpPr/>
          <p:nvPr/>
        </p:nvSpPr>
        <p:spPr>
          <a:xfrm>
            <a:off x="467544" y="3248980"/>
            <a:ext cx="2003930" cy="371654"/>
          </a:xfrm>
          <a:prstGeom prst="rect">
            <a:avLst/>
          </a:prstGeom>
          <a:solidFill>
            <a:srgbClr val="FFFFFF"/>
          </a:solidFill>
          <a:ln w="6480">
            <a:solidFill>
              <a:srgbClr val="919191"/>
            </a:solidFill>
            <a:miter/>
          </a:ln>
        </p:spPr>
        <p:txBody>
          <a:bodyPr lIns="92070" tIns="46035" rIns="92070" bIns="46035"/>
          <a:lstStyle/>
          <a:p>
            <a:pPr algn="l">
              <a:lnSpc>
                <a:spcPct val="100000"/>
              </a:lnSpc>
              <a:buSzPct val="25000"/>
            </a:pPr>
            <a:r>
              <a:rPr lang="fr-FR" sz="1800" b="1" dirty="0">
                <a:latin typeface="Courier"/>
                <a:ea typeface="Arial" panose="020B0604020202020204"/>
                <a:cs typeface="Courier"/>
              </a:rPr>
              <a:t>makefile</a:t>
            </a:r>
            <a:endParaRPr dirty="0">
              <a:latin typeface="Courier"/>
              <a:cs typeface="Courier"/>
            </a:endParaRPr>
          </a:p>
        </p:txBody>
      </p:sp>
      <p:sp>
        <p:nvSpPr>
          <p:cNvPr id="28" name="Titre 1"/>
          <p:cNvSpPr>
            <a:spLocks noGrp="1"/>
          </p:cNvSpPr>
          <p:nvPr>
            <p:ph type="title"/>
          </p:nvPr>
        </p:nvSpPr>
        <p:spPr>
          <a:xfrm>
            <a:off x="304800" y="152400"/>
            <a:ext cx="7772400" cy="533400"/>
          </a:xfrm>
        </p:spPr>
        <p:txBody>
          <a:bodyPr/>
          <a:lstStyle/>
          <a:p>
            <a:r>
              <a:rPr lang="fr-FR" sz="2800" dirty="0">
                <a:latin typeface="Arial" panose="020B0604020202020204" pitchFamily="34" charset="0"/>
                <a:ea typeface="MS PGothic" panose="020B0600070205080204" charset="-128"/>
                <a:cs typeface="MS PGothic" panose="020B0600070205080204" charset="-128"/>
              </a:rPr>
              <a:t>Structure </a:t>
            </a:r>
            <a:r>
              <a:rPr lang="fr-FR" sz="2800" dirty="0" smtClean="0">
                <a:latin typeface="Arial" panose="020B0604020202020204" pitchFamily="34" charset="0"/>
                <a:cs typeface="MS PGothic" panose="020B0600070205080204" charset="-128"/>
              </a:rPr>
              <a:t>du</a:t>
            </a:r>
            <a:r>
              <a:rPr lang="fr-FR" sz="2800" dirty="0" smtClean="0">
                <a:latin typeface="Arial" panose="020B0604020202020204" pitchFamily="34" charset="0"/>
                <a:ea typeface="MS PGothic" panose="020B0600070205080204" charset="-128"/>
                <a:cs typeface="MS PGothic" panose="020B0600070205080204" charset="-128"/>
              </a:rPr>
              <a:t> </a:t>
            </a:r>
            <a:r>
              <a:rPr lang="fr-FR" sz="2800" dirty="0">
                <a:latin typeface="Courier New" panose="02070309020205020404"/>
                <a:ea typeface="MS PGothic" panose="020B0600070205080204" charset="-128"/>
                <a:cs typeface="Courier New" panose="02070309020205020404"/>
              </a:rPr>
              <a:t>Makefile</a:t>
            </a:r>
            <a:r>
              <a:rPr lang="fr-FR" sz="2800" dirty="0">
                <a:latin typeface="+mn-lt"/>
                <a:cs typeface="Courier New" panose="02070309020205020404"/>
              </a:rPr>
              <a:t>: </a:t>
            </a:r>
            <a:r>
              <a:rPr lang="fr-FR" sz="2800" dirty="0" smtClean="0">
                <a:latin typeface="+mn-lt"/>
                <a:cs typeface="Courier New" panose="02070309020205020404"/>
              </a:rPr>
              <a:t>Exemple</a:t>
            </a:r>
            <a:endParaRPr lang="fr-FR" sz="2800" dirty="0">
              <a:latin typeface="+mn-lt"/>
              <a:cs typeface="MS PGothic" panose="020B0600070205080204" charset="-128"/>
            </a:endParaRPr>
          </a:p>
        </p:txBody>
      </p:sp>
      <p:sp>
        <p:nvSpPr>
          <p:cNvPr id="32" name="Espace réservé du contenu 2"/>
          <p:cNvSpPr>
            <a:spLocks noGrp="1"/>
          </p:cNvSpPr>
          <p:nvPr>
            <p:ph idx="1"/>
          </p:nvPr>
        </p:nvSpPr>
        <p:spPr>
          <a:xfrm>
            <a:off x="251520" y="728700"/>
            <a:ext cx="9037004" cy="576064"/>
          </a:xfrm>
        </p:spPr>
        <p:txBody>
          <a:bodyPr/>
          <a:lstStyle/>
          <a:p>
            <a:r>
              <a:rPr lang="en-US" dirty="0">
                <a:cs typeface="Courier"/>
              </a:rPr>
              <a:t>Nous modifions </a:t>
            </a:r>
            <a:r>
              <a:rPr lang="en-US" b="1" dirty="0" err="1">
                <a:latin typeface="Courier"/>
                <a:cs typeface="Courier"/>
              </a:rPr>
              <a:t>prog.c</a:t>
            </a:r>
            <a:r>
              <a:rPr lang="en-US" dirty="0">
                <a:latin typeface="Arial" panose="020B0604020202020204" pitchFamily="34" charset="0"/>
                <a:cs typeface="MS PGothic" panose="020B0600070205080204" charset="-128"/>
              </a:rPr>
              <a:t>, </a:t>
            </a:r>
            <a:r>
              <a:rPr lang="fr-FR" dirty="0">
                <a:latin typeface="Arial" panose="020B0604020202020204" pitchFamily="34" charset="0"/>
                <a:cs typeface="MS PGothic" panose="020B0600070205080204" charset="-128"/>
              </a:rPr>
              <a:t>que se passe-t-il lorsque nous exécutons</a:t>
            </a:r>
            <a:r>
              <a:rPr lang="en-US" dirty="0" smtClean="0">
                <a:latin typeface="Arial" panose="020B0604020202020204" pitchFamily="34" charset="0"/>
                <a:cs typeface="MS PGothic" panose="020B0600070205080204" charset="-128"/>
              </a:rPr>
              <a:t> </a:t>
            </a:r>
            <a:r>
              <a:rPr lang="en-US" b="1" dirty="0" smtClean="0">
                <a:latin typeface="Courier"/>
                <a:cs typeface="Courier"/>
              </a:rPr>
              <a:t>make</a:t>
            </a:r>
            <a:r>
              <a:rPr lang="en-US" dirty="0" smtClean="0">
                <a:latin typeface="Arial" panose="020B0604020202020204" pitchFamily="34" charset="0"/>
                <a:cs typeface="MS PGothic" panose="020B0600070205080204" charset="-128"/>
              </a:rPr>
              <a:t>?</a:t>
            </a:r>
            <a:endParaRPr lang="en-US" dirty="0">
              <a:latin typeface="Arial" panose="020B0604020202020204" pitchFamily="34" charset="0"/>
            </a:endParaRPr>
          </a:p>
        </p:txBody>
      </p:sp>
      <p:sp>
        <p:nvSpPr>
          <p:cNvPr id="2" name="Oval 1"/>
          <p:cNvSpPr/>
          <p:nvPr/>
        </p:nvSpPr>
        <p:spPr bwMode="auto">
          <a:xfrm>
            <a:off x="1465380" y="3640169"/>
            <a:ext cx="946380" cy="405755"/>
          </a:xfrm>
          <a:prstGeom prst="ellipse">
            <a:avLst/>
          </a:prstGeom>
          <a:noFill/>
          <a:ln w="38100" cap="flat" cmpd="sng" algn="ctr">
            <a:solidFill>
              <a:srgbClr val="FF0000"/>
            </a:solidFill>
            <a:prstDash val="solid"/>
            <a:round/>
            <a:headEnd type="none" w="lg" len="lg"/>
            <a:tailEnd type="none" w="med" len="med"/>
          </a:ln>
          <a:effectLst/>
        </p:spPr>
        <p:txBody>
          <a:bodyPr vert="horz" wrap="none" lIns="92075" tIns="46038" rIns="92075" bIns="46038" numCol="1" rtlCol="0" anchor="ctr" anchorCtr="0" compatLnSpc="1">
            <a:normAutofit fontScale="70000" lnSpcReduction="20000"/>
          </a:bodyPr>
          <a:lstStyle/>
          <a:p>
            <a:pPr marR="0" algn="ctr" defTabSz="914400" rtl="0" eaLnBrk="0" fontAlgn="base" latinLnBrk="0" hangingPunct="0">
              <a:lnSpc>
                <a:spcPct val="100000"/>
              </a:lnSpc>
              <a:spcBef>
                <a:spcPct val="20000"/>
              </a:spcBef>
              <a:spcAft>
                <a:spcPct val="0"/>
              </a:spcAft>
              <a:buClr>
                <a:schemeClr val="bg2"/>
              </a:buClr>
              <a:buSzPct val="75000"/>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36" name="Oval 35"/>
          <p:cNvSpPr/>
          <p:nvPr/>
        </p:nvSpPr>
        <p:spPr bwMode="auto">
          <a:xfrm>
            <a:off x="441496" y="3619881"/>
            <a:ext cx="782132" cy="446331"/>
          </a:xfrm>
          <a:prstGeom prst="ellipse">
            <a:avLst/>
          </a:prstGeom>
          <a:noFill/>
          <a:ln w="38100" cap="flat" cmpd="sng" algn="ctr">
            <a:solidFill>
              <a:srgbClr val="FF0000"/>
            </a:solidFill>
            <a:prstDash val="solid"/>
            <a:round/>
            <a:headEnd type="none" w="lg" len="lg"/>
            <a:tailEnd type="none" w="med" len="med"/>
          </a:ln>
          <a:effectLst/>
        </p:spPr>
        <p:txBody>
          <a:bodyPr vert="horz" wrap="none" lIns="92075" tIns="46038" rIns="92075" bIns="46038" numCol="1" rtlCol="0" anchor="ctr" anchorCtr="0" compatLnSpc="1">
            <a:normAutofit fontScale="85000" lnSpcReduction="20000"/>
          </a:bodyPr>
          <a:lstStyle/>
          <a:p>
            <a:pPr marR="0" algn="ctr" defTabSz="914400" rtl="0" eaLnBrk="0" fontAlgn="base" latinLnBrk="0" hangingPunct="0">
              <a:lnSpc>
                <a:spcPct val="100000"/>
              </a:lnSpc>
              <a:spcBef>
                <a:spcPct val="20000"/>
              </a:spcBef>
              <a:spcAft>
                <a:spcPct val="0"/>
              </a:spcAft>
              <a:buClr>
                <a:schemeClr val="bg2"/>
              </a:buClr>
              <a:buSzPct val="75000"/>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37" name="Oval 36"/>
          <p:cNvSpPr/>
          <p:nvPr/>
        </p:nvSpPr>
        <p:spPr bwMode="auto">
          <a:xfrm>
            <a:off x="493272" y="4411969"/>
            <a:ext cx="946380" cy="446331"/>
          </a:xfrm>
          <a:prstGeom prst="ellipse">
            <a:avLst/>
          </a:prstGeom>
          <a:noFill/>
          <a:ln w="38100" cap="flat" cmpd="sng" algn="ctr">
            <a:solidFill>
              <a:srgbClr val="FF0000"/>
            </a:solidFill>
            <a:prstDash val="solid"/>
            <a:round/>
            <a:headEnd type="none" w="lg" len="lg"/>
            <a:tailEnd type="none" w="med" len="med"/>
          </a:ln>
          <a:effectLst/>
        </p:spPr>
        <p:txBody>
          <a:bodyPr vert="horz" wrap="none" lIns="92075" tIns="46038" rIns="92075" bIns="46038" numCol="1" rtlCol="0" anchor="ctr" anchorCtr="0" compatLnSpc="1">
            <a:normAutofit fontScale="85000" lnSpcReduction="20000"/>
          </a:bodyPr>
          <a:lstStyle/>
          <a:p>
            <a:pPr marR="0" algn="ctr" defTabSz="914400" rtl="0" eaLnBrk="0" fontAlgn="base" latinLnBrk="0" hangingPunct="0">
              <a:lnSpc>
                <a:spcPct val="100000"/>
              </a:lnSpc>
              <a:spcBef>
                <a:spcPct val="20000"/>
              </a:spcBef>
              <a:spcAft>
                <a:spcPct val="0"/>
              </a:spcAft>
              <a:buClr>
                <a:schemeClr val="bg2"/>
              </a:buClr>
              <a:buSzPct val="75000"/>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38" name="Oval 37"/>
          <p:cNvSpPr/>
          <p:nvPr/>
        </p:nvSpPr>
        <p:spPr bwMode="auto">
          <a:xfrm>
            <a:off x="1706093" y="4432257"/>
            <a:ext cx="1041018" cy="405755"/>
          </a:xfrm>
          <a:prstGeom prst="ellipse">
            <a:avLst/>
          </a:prstGeom>
          <a:noFill/>
          <a:ln w="38100" cap="flat" cmpd="sng" algn="ctr">
            <a:solidFill>
              <a:srgbClr val="FF0000"/>
            </a:solidFill>
            <a:prstDash val="solid"/>
            <a:round/>
            <a:headEnd type="none" w="lg" len="lg"/>
            <a:tailEnd type="none" w="med" len="med"/>
          </a:ln>
          <a:effectLst/>
        </p:spPr>
        <p:txBody>
          <a:bodyPr vert="horz" wrap="none" lIns="92075" tIns="46038" rIns="92075" bIns="46038" numCol="1" rtlCol="0" anchor="ctr" anchorCtr="0" compatLnSpc="1">
            <a:normAutofit fontScale="70000" lnSpcReduction="20000"/>
          </a:bodyPr>
          <a:lstStyle/>
          <a:p>
            <a:pPr marR="0" algn="ctr" defTabSz="914400" rtl="0" eaLnBrk="0" fontAlgn="base" latinLnBrk="0" hangingPunct="0">
              <a:lnSpc>
                <a:spcPct val="100000"/>
              </a:lnSpc>
              <a:spcBef>
                <a:spcPct val="20000"/>
              </a:spcBef>
              <a:spcAft>
                <a:spcPct val="0"/>
              </a:spcAft>
              <a:buClr>
                <a:schemeClr val="bg2"/>
              </a:buClr>
              <a:buSzPct val="75000"/>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39" name="Oval 38"/>
          <p:cNvSpPr/>
          <p:nvPr/>
        </p:nvSpPr>
        <p:spPr bwMode="auto">
          <a:xfrm>
            <a:off x="3157568" y="1259587"/>
            <a:ext cx="946380" cy="446331"/>
          </a:xfrm>
          <a:prstGeom prst="ellipse">
            <a:avLst/>
          </a:prstGeom>
          <a:noFill/>
          <a:ln w="38100" cap="flat" cmpd="sng" algn="ctr">
            <a:solidFill>
              <a:srgbClr val="FF0000"/>
            </a:solidFill>
            <a:prstDash val="solid"/>
            <a:round/>
            <a:headEnd type="none" w="lg" len="lg"/>
            <a:tailEnd type="none" w="med" len="med"/>
          </a:ln>
          <a:effectLst/>
        </p:spPr>
        <p:txBody>
          <a:bodyPr vert="horz" wrap="none" lIns="92075" tIns="46038" rIns="92075" bIns="46038" numCol="1" rtlCol="0" anchor="ctr" anchorCtr="0" compatLnSpc="1">
            <a:normAutofit fontScale="85000" lnSpcReduction="20000"/>
          </a:bodyPr>
          <a:lstStyle/>
          <a:p>
            <a:pPr marR="0" algn="ctr" defTabSz="914400" rtl="0" eaLnBrk="0" fontAlgn="base" latinLnBrk="0" hangingPunct="0">
              <a:lnSpc>
                <a:spcPct val="100000"/>
              </a:lnSpc>
              <a:spcBef>
                <a:spcPct val="20000"/>
              </a:spcBef>
              <a:spcAft>
                <a:spcPct val="0"/>
              </a:spcAft>
              <a:buClr>
                <a:schemeClr val="bg2"/>
              </a:buClr>
              <a:buSzPct val="75000"/>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40" name="Oval 39"/>
          <p:cNvSpPr/>
          <p:nvPr/>
        </p:nvSpPr>
        <p:spPr bwMode="auto">
          <a:xfrm>
            <a:off x="1767439" y="1974557"/>
            <a:ext cx="860345" cy="446331"/>
          </a:xfrm>
          <a:prstGeom prst="ellipse">
            <a:avLst/>
          </a:prstGeom>
          <a:noFill/>
          <a:ln w="38100" cap="flat" cmpd="sng" algn="ctr">
            <a:solidFill>
              <a:srgbClr val="FF0000"/>
            </a:solidFill>
            <a:prstDash val="solid"/>
            <a:round/>
            <a:headEnd type="none" w="lg" len="lg"/>
            <a:tailEnd type="none" w="med" len="med"/>
          </a:ln>
          <a:effectLst/>
        </p:spPr>
        <p:txBody>
          <a:bodyPr vert="horz" wrap="none" lIns="92075" tIns="46038" rIns="92075" bIns="46038" numCol="1" rtlCol="0" anchor="ctr" anchorCtr="0" compatLnSpc="1">
            <a:normAutofit fontScale="85000" lnSpcReduction="20000"/>
          </a:bodyPr>
          <a:lstStyle/>
          <a:p>
            <a:pPr marR="0" algn="ctr" defTabSz="914400" rtl="0" eaLnBrk="0" fontAlgn="base" latinLnBrk="0" hangingPunct="0">
              <a:lnSpc>
                <a:spcPct val="100000"/>
              </a:lnSpc>
              <a:spcBef>
                <a:spcPct val="20000"/>
              </a:spcBef>
              <a:spcAft>
                <a:spcPct val="0"/>
              </a:spcAft>
              <a:buClr>
                <a:schemeClr val="bg2"/>
              </a:buClr>
              <a:buSzPct val="75000"/>
            </a:pPr>
            <a:endParaRPr kumimoji="0" lang="en-US" sz="2000" b="0" i="0" u="none" strike="noStrike" cap="none" normalizeH="0" baseline="0" dirty="0">
              <a:ln>
                <a:noFill/>
              </a:ln>
              <a:solidFill>
                <a:srgbClr val="010507"/>
              </a:solidFill>
              <a:effectLst/>
              <a:latin typeface="Arial" panose="020B0604020202020204" pitchFamily="34" charset="0"/>
            </a:endParaRPr>
          </a:p>
        </p:txBody>
      </p:sp>
      <p:cxnSp>
        <p:nvCxnSpPr>
          <p:cNvPr id="4" name="Straight Arrow Connector 3"/>
          <p:cNvCxnSpPr>
            <a:stCxn id="2" idx="3"/>
            <a:endCxn id="37" idx="0"/>
          </p:cNvCxnSpPr>
          <p:nvPr/>
        </p:nvCxnSpPr>
        <p:spPr bwMode="auto">
          <a:xfrm flipH="1">
            <a:off x="966462" y="3986503"/>
            <a:ext cx="637512" cy="425466"/>
          </a:xfrm>
          <a:prstGeom prst="straightConnector1">
            <a:avLst/>
          </a:prstGeom>
          <a:noFill/>
          <a:ln w="38100" cap="flat" cmpd="sng" algn="ctr">
            <a:solidFill>
              <a:srgbClr val="FF0000"/>
            </a:solidFill>
            <a:prstDash val="solid"/>
            <a:round/>
            <a:headEnd type="none" w="lg" len="lg"/>
            <a:tailEnd type="triangle"/>
          </a:ln>
          <a:effectLst/>
        </p:spPr>
      </p:cxnSp>
      <p:sp>
        <p:nvSpPr>
          <p:cNvPr id="42" name="CustomShape 5"/>
          <p:cNvSpPr/>
          <p:nvPr/>
        </p:nvSpPr>
        <p:spPr>
          <a:xfrm>
            <a:off x="4103948" y="2564904"/>
            <a:ext cx="3528392" cy="684076"/>
          </a:xfrm>
          <a:prstGeom prst="wedgeRectCallout">
            <a:avLst>
              <a:gd name="adj1" fmla="val -4114"/>
              <a:gd name="adj2" fmla="val 44940"/>
            </a:avLst>
          </a:prstGeom>
          <a:solidFill>
            <a:schemeClr val="bg1"/>
          </a:solidFill>
          <a:ln w="6480">
            <a:solidFill>
              <a:schemeClr val="tx1"/>
            </a:solidFill>
            <a:miter/>
          </a:ln>
        </p:spPr>
        <p:txBody>
          <a:bodyPr lIns="92070" tIns="46035" rIns="92070" bIns="46035" anchor="ctr"/>
          <a:lstStyle/>
          <a:p>
            <a:pPr algn="just">
              <a:lnSpc>
                <a:spcPct val="100000"/>
              </a:lnSpc>
              <a:buSzPct val="25000"/>
            </a:pPr>
            <a:r>
              <a:rPr lang="en-GB" sz="2000" dirty="0" smtClean="0">
                <a:latin typeface="Arial" panose="020B0604020202020204"/>
              </a:rPr>
              <a:t>La commande </a:t>
            </a:r>
            <a:r>
              <a:rPr lang="en-GB" sz="2000" dirty="0" smtClean="0">
                <a:latin typeface="+mn-lt"/>
              </a:rPr>
              <a:t>est</a:t>
            </a:r>
            <a:r>
              <a:rPr lang="en-GB" sz="2000" dirty="0" smtClean="0">
                <a:latin typeface="+mn-lt"/>
                <a:ea typeface="Courier New" panose="02070309020205020404"/>
              </a:rPr>
              <a:t> </a:t>
            </a:r>
            <a:r>
              <a:rPr lang="en-GB" sz="2000" b="1" dirty="0" smtClean="0">
                <a:latin typeface="+mn-lt"/>
                <a:ea typeface="Courier New" panose="02070309020205020404"/>
              </a:rPr>
              <a:t>executée</a:t>
            </a:r>
            <a:r>
              <a:rPr lang="en-GB" sz="2000" dirty="0" smtClean="0">
                <a:latin typeface="+mn-lt"/>
                <a:ea typeface="Courier New" panose="02070309020205020404"/>
              </a:rPr>
              <a:t> </a:t>
            </a:r>
            <a:r>
              <a:rPr lang="en-GB" sz="2000" dirty="0">
                <a:latin typeface="+mn-lt"/>
                <a:ea typeface="Courier New" panose="02070309020205020404"/>
              </a:rPr>
              <a:t>!</a:t>
            </a:r>
            <a:endParaRPr lang="en-GB" dirty="0">
              <a:latin typeface="+mn-lt"/>
            </a:endParaRPr>
          </a:p>
        </p:txBody>
      </p:sp>
      <p:sp>
        <p:nvSpPr>
          <p:cNvPr id="33" name="CustomShape 5"/>
          <p:cNvSpPr/>
          <p:nvPr/>
        </p:nvSpPr>
        <p:spPr>
          <a:xfrm>
            <a:off x="3907090" y="1608660"/>
            <a:ext cx="5273421" cy="900100"/>
          </a:xfrm>
          <a:prstGeom prst="wedgeRectCallout">
            <a:avLst>
              <a:gd name="adj1" fmla="val -4114"/>
              <a:gd name="adj2" fmla="val 44940"/>
            </a:avLst>
          </a:prstGeom>
          <a:solidFill>
            <a:schemeClr val="bg1"/>
          </a:solidFill>
          <a:ln w="6480">
            <a:solidFill>
              <a:schemeClr val="tx1"/>
            </a:solidFill>
            <a:miter/>
          </a:ln>
        </p:spPr>
        <p:txBody>
          <a:bodyPr lIns="92070" tIns="46035" rIns="92070" bIns="46035" anchor="ctr"/>
          <a:lstStyle/>
          <a:p>
            <a:pPr algn="just">
              <a:lnSpc>
                <a:spcPct val="100000"/>
              </a:lnSpc>
              <a:buSzPct val="25000"/>
            </a:pPr>
            <a:r>
              <a:rPr lang="en-GB" sz="2000" dirty="0" smtClean="0">
                <a:latin typeface="Arial" panose="020B0604020202020204"/>
              </a:rPr>
              <a:t>La date de </a:t>
            </a:r>
            <a:r>
              <a:rPr lang="en-GB" sz="2000" dirty="0">
                <a:latin typeface="Arial" panose="020B0604020202020204"/>
              </a:rPr>
              <a:t>modification </a:t>
            </a:r>
            <a:r>
              <a:rPr lang="en-GB" sz="2000" dirty="0" smtClean="0">
                <a:latin typeface="Arial" panose="020B0604020202020204"/>
              </a:rPr>
              <a:t>de </a:t>
            </a:r>
            <a:r>
              <a:rPr lang="en-GB" sz="2000" b="1" dirty="0" smtClean="0">
                <a:latin typeface="Courier New" panose="02070309020205020404"/>
                <a:ea typeface="Courier New" panose="02070309020205020404"/>
              </a:rPr>
              <a:t>prog.c</a:t>
            </a:r>
            <a:r>
              <a:rPr lang="en-GB" sz="2000" dirty="0" smtClean="0">
                <a:latin typeface="Arial" panose="020B0604020202020204"/>
              </a:rPr>
              <a:t> est </a:t>
            </a:r>
            <a:r>
              <a:rPr lang="en-GB" sz="2000" b="1" dirty="0" smtClean="0">
                <a:latin typeface="Arial" panose="020B0604020202020204"/>
              </a:rPr>
              <a:t>plus récente </a:t>
            </a:r>
            <a:r>
              <a:rPr lang="en-GB" sz="2000" dirty="0" smtClean="0">
                <a:latin typeface="Arial" panose="020B0604020202020204"/>
              </a:rPr>
              <a:t>que la date </a:t>
            </a:r>
            <a:r>
              <a:rPr lang="en-GB" sz="2000" dirty="0">
                <a:latin typeface="Arial" panose="020B0604020202020204"/>
              </a:rPr>
              <a:t>modification </a:t>
            </a:r>
            <a:r>
              <a:rPr lang="en-GB" sz="2000" dirty="0" smtClean="0">
                <a:latin typeface="Arial" panose="020B0604020202020204"/>
              </a:rPr>
              <a:t>de  </a:t>
            </a:r>
            <a:r>
              <a:rPr lang="en-GB" sz="2000" b="1" dirty="0">
                <a:latin typeface="Courier New" panose="02070309020205020404"/>
                <a:ea typeface="Courier New" panose="02070309020205020404"/>
              </a:rPr>
              <a:t>prog.o</a:t>
            </a:r>
            <a:r>
              <a:rPr lang="en-GB" sz="2000" dirty="0">
                <a:latin typeface="Arial" panose="020B0604020202020204"/>
              </a:rPr>
              <a:t> </a:t>
            </a:r>
            <a:endParaRPr lang="en-GB" sz="2000" dirty="0">
              <a:latin typeface="Arial" panose="020B0604020202020204"/>
            </a:endParaRPr>
          </a:p>
        </p:txBody>
      </p:sp>
      <p:sp>
        <p:nvSpPr>
          <p:cNvPr id="45" name="Oval 44"/>
          <p:cNvSpPr/>
          <p:nvPr/>
        </p:nvSpPr>
        <p:spPr bwMode="auto">
          <a:xfrm>
            <a:off x="1691680" y="2720925"/>
            <a:ext cx="946380" cy="446331"/>
          </a:xfrm>
          <a:prstGeom prst="ellipse">
            <a:avLst/>
          </a:prstGeom>
          <a:noFill/>
          <a:ln w="38100" cap="flat" cmpd="sng" algn="ctr">
            <a:solidFill>
              <a:srgbClr val="FF0000"/>
            </a:solidFill>
            <a:prstDash val="solid"/>
            <a:round/>
            <a:headEnd type="none" w="lg" len="lg"/>
            <a:tailEnd type="none" w="med" len="med"/>
          </a:ln>
          <a:effectLst/>
        </p:spPr>
        <p:txBody>
          <a:bodyPr vert="horz" wrap="none" lIns="92075" tIns="46038" rIns="92075" bIns="46038" numCol="1" rtlCol="0" anchor="ctr" anchorCtr="0" compatLnSpc="1">
            <a:normAutofit fontScale="85000" lnSpcReduction="20000"/>
          </a:bodyPr>
          <a:lstStyle/>
          <a:p>
            <a:pPr marR="0" algn="ctr" defTabSz="914400" rtl="0" eaLnBrk="0" fontAlgn="base" latinLnBrk="0" hangingPunct="0">
              <a:lnSpc>
                <a:spcPct val="100000"/>
              </a:lnSpc>
              <a:spcBef>
                <a:spcPct val="20000"/>
              </a:spcBef>
              <a:spcAft>
                <a:spcPct val="0"/>
              </a:spcAft>
              <a:buClr>
                <a:schemeClr val="bg2"/>
              </a:buClr>
              <a:buSzPct val="75000"/>
            </a:pPr>
            <a:endParaRPr kumimoji="0" lang="en-US" sz="2000" b="0" i="0" u="none" strike="noStrike" cap="none" normalizeH="0" baseline="0" dirty="0">
              <a:ln>
                <a:noFill/>
              </a:ln>
              <a:solidFill>
                <a:srgbClr val="010507"/>
              </a:solidFill>
              <a:effectLst/>
              <a:latin typeface="Arial" panose="020B0604020202020204" pitchFamily="34" charset="0"/>
            </a:endParaRPr>
          </a:p>
        </p:txBody>
      </p:sp>
      <p:cxnSp>
        <p:nvCxnSpPr>
          <p:cNvPr id="48" name="Straight Arrow Connector 47"/>
          <p:cNvCxnSpPr>
            <a:stCxn id="36" idx="6"/>
            <a:endCxn id="2" idx="2"/>
          </p:cNvCxnSpPr>
          <p:nvPr/>
        </p:nvCxnSpPr>
        <p:spPr bwMode="auto">
          <a:xfrm>
            <a:off x="1223628" y="3843047"/>
            <a:ext cx="241752" cy="0"/>
          </a:xfrm>
          <a:prstGeom prst="straightConnector1">
            <a:avLst/>
          </a:prstGeom>
          <a:noFill/>
          <a:ln w="38100" cap="flat" cmpd="sng" algn="ctr">
            <a:solidFill>
              <a:srgbClr val="FF0000"/>
            </a:solidFill>
            <a:prstDash val="solid"/>
            <a:round/>
            <a:headEnd type="none" w="lg" len="lg"/>
            <a:tailEnd type="triangle"/>
          </a:ln>
          <a:effectLst/>
        </p:spPr>
      </p:cxnSp>
      <p:cxnSp>
        <p:nvCxnSpPr>
          <p:cNvPr id="52" name="Straight Arrow Connector 51"/>
          <p:cNvCxnSpPr>
            <a:stCxn id="38" idx="2"/>
            <a:endCxn id="37" idx="6"/>
          </p:cNvCxnSpPr>
          <p:nvPr/>
        </p:nvCxnSpPr>
        <p:spPr bwMode="auto">
          <a:xfrm flipH="1">
            <a:off x="1439652" y="4635135"/>
            <a:ext cx="266441" cy="0"/>
          </a:xfrm>
          <a:prstGeom prst="straightConnector1">
            <a:avLst/>
          </a:prstGeom>
          <a:noFill/>
          <a:ln w="38100" cap="flat" cmpd="sng" algn="ctr">
            <a:solidFill>
              <a:srgbClr val="FF0000"/>
            </a:solidFill>
            <a:prstDash val="solid"/>
            <a:round/>
            <a:headEnd type="none" w="lg" len="lg"/>
            <a:tailEnd type="triangle"/>
          </a:ln>
          <a:effectLst/>
        </p:spPr>
      </p:cxnSp>
      <p:cxnSp>
        <p:nvCxnSpPr>
          <p:cNvPr id="55" name="Straight Arrow Connector 54"/>
          <p:cNvCxnSpPr>
            <a:stCxn id="541" idx="1"/>
          </p:cNvCxnSpPr>
          <p:nvPr/>
        </p:nvCxnSpPr>
        <p:spPr bwMode="auto">
          <a:xfrm flipH="1">
            <a:off x="2267744" y="1476711"/>
            <a:ext cx="775251" cy="368113"/>
          </a:xfrm>
          <a:prstGeom prst="straightConnector1">
            <a:avLst/>
          </a:prstGeom>
          <a:noFill/>
          <a:ln w="38100" cap="flat" cmpd="sng" algn="ctr">
            <a:solidFill>
              <a:srgbClr val="FF0000"/>
            </a:solidFill>
            <a:prstDash val="solid"/>
            <a:round/>
            <a:headEnd type="none" w="lg" len="lg"/>
            <a:tailEnd type="triangle"/>
          </a:ln>
          <a:effectLst/>
        </p:spPr>
      </p:cxnSp>
      <p:cxnSp>
        <p:nvCxnSpPr>
          <p:cNvPr id="58" name="Straight Arrow Connector 57"/>
          <p:cNvCxnSpPr/>
          <p:nvPr/>
        </p:nvCxnSpPr>
        <p:spPr bwMode="auto">
          <a:xfrm>
            <a:off x="1691680" y="2340807"/>
            <a:ext cx="1" cy="368113"/>
          </a:xfrm>
          <a:prstGeom prst="straightConnector1">
            <a:avLst/>
          </a:prstGeom>
          <a:noFill/>
          <a:ln w="38100" cap="flat" cmpd="sng" algn="ctr">
            <a:solidFill>
              <a:srgbClr val="FF0000"/>
            </a:solidFill>
            <a:prstDash val="solid"/>
            <a:round/>
            <a:headEnd type="none" w="lg" len="lg"/>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6" grpId="0" animBg="1"/>
      <p:bldP spid="37" grpId="0" animBg="1"/>
      <p:bldP spid="38" grpId="0" animBg="1"/>
      <p:bldP spid="39" grpId="0" animBg="1"/>
      <p:bldP spid="40" grpId="0" animBg="1"/>
      <p:bldP spid="42" grpId="0" animBg="1"/>
      <p:bldP spid="33" grpId="0" animBg="1"/>
      <p:bldP spid="4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35" name="Espace réservé du pied de page 3"/>
          <p:cNvSpPr>
            <a:spLocks noGrp="1"/>
          </p:cNvSpPr>
          <p:nvPr>
            <p:ph type="ftr" sz="quarter" idx="10"/>
          </p:nvPr>
        </p:nvSpPr>
        <p:spPr>
          <a:xfrm>
            <a:off x="3124200" y="6400800"/>
            <a:ext cx="2895600" cy="3810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r>
              <a:rPr lang="fr-FR" sz="1800" dirty="0">
                <a:solidFill>
                  <a:srgbClr val="000208"/>
                </a:solidFill>
              </a:rPr>
              <a:t>L3Info – Unix/C</a:t>
            </a:r>
            <a:endParaRPr lang="fr-FR" sz="1800" dirty="0">
              <a:solidFill>
                <a:srgbClr val="000208"/>
              </a:solidFill>
            </a:endParaRPr>
          </a:p>
        </p:txBody>
      </p:sp>
      <p:sp>
        <p:nvSpPr>
          <p:cNvPr id="558" name="CustomShape 20"/>
          <p:cNvSpPr/>
          <p:nvPr/>
        </p:nvSpPr>
        <p:spPr>
          <a:xfrm>
            <a:off x="467544" y="3614632"/>
            <a:ext cx="6683293" cy="3234748"/>
          </a:xfrm>
          <a:prstGeom prst="rect">
            <a:avLst/>
          </a:prstGeom>
          <a:solidFill>
            <a:srgbClr val="FFFFFF"/>
          </a:solidFill>
          <a:ln w="6480">
            <a:solidFill>
              <a:srgbClr val="919191"/>
            </a:solidFill>
            <a:miter/>
          </a:ln>
        </p:spPr>
        <p:txBody>
          <a:bodyPr lIns="92070" tIns="46035" rIns="92070" bIns="46035"/>
          <a:lstStyle/>
          <a:p>
            <a:pPr algn="l">
              <a:lnSpc>
                <a:spcPct val="100000"/>
              </a:lnSpc>
              <a:buSzPct val="25000"/>
            </a:pPr>
            <a:r>
              <a:rPr lang="fr-FR" sz="1800" b="1" dirty="0">
                <a:latin typeface="Courier New" panose="02070309020205020404"/>
                <a:ea typeface="Courier New" panose="02070309020205020404"/>
              </a:rPr>
              <a:t>prog : prog.o code1.o code2.o</a:t>
            </a:r>
            <a:endParaRPr dirty="0"/>
          </a:p>
          <a:p>
            <a:pPr algn="l">
              <a:lnSpc>
                <a:spcPct val="100000"/>
              </a:lnSpc>
              <a:buSzPct val="25000"/>
            </a:pPr>
            <a:r>
              <a:rPr lang="fr-FR" sz="1800" b="1" dirty="0">
                <a:latin typeface="Courier New" panose="02070309020205020404"/>
                <a:ea typeface="Courier New" panose="02070309020205020404"/>
              </a:rPr>
              <a:t>	gcc –o prog  prog.o code1.o code2.o</a:t>
            </a:r>
            <a:endParaRPr dirty="0"/>
          </a:p>
          <a:p>
            <a:pPr algn="l">
              <a:lnSpc>
                <a:spcPct val="100000"/>
              </a:lnSpc>
              <a:buSzPct val="25000"/>
            </a:pPr>
            <a:endParaRPr dirty="0"/>
          </a:p>
          <a:p>
            <a:pPr algn="l">
              <a:lnSpc>
                <a:spcPct val="100000"/>
              </a:lnSpc>
              <a:buSzPct val="25000"/>
            </a:pPr>
            <a:r>
              <a:rPr lang="fr-FR" sz="1800" b="1" dirty="0">
                <a:latin typeface="Courier New" panose="02070309020205020404"/>
                <a:ea typeface="Courier New" panose="02070309020205020404"/>
              </a:rPr>
              <a:t>prog.o : prog.c prog.h code1.h </a:t>
            </a:r>
            <a:endParaRPr sz="1800" dirty="0"/>
          </a:p>
          <a:p>
            <a:pPr lvl="2" algn="l">
              <a:buSzPct val="25000"/>
            </a:pPr>
            <a:r>
              <a:rPr lang="fr-FR" sz="1800" b="1" dirty="0">
                <a:solidFill>
                  <a:srgbClr val="FF0000"/>
                </a:solidFill>
                <a:latin typeface="Courier New" panose="02070309020205020404"/>
                <a:ea typeface="Courier New" panose="02070309020205020404"/>
              </a:rPr>
              <a:t>gcc -c prog.c –o prog.o</a:t>
            </a:r>
            <a:endParaRPr dirty="0">
              <a:solidFill>
                <a:srgbClr val="FF0000"/>
              </a:solidFill>
            </a:endParaRPr>
          </a:p>
          <a:p>
            <a:pPr algn="l">
              <a:lnSpc>
                <a:spcPct val="100000"/>
              </a:lnSpc>
              <a:buSzPct val="25000"/>
            </a:pPr>
            <a:endParaRPr dirty="0"/>
          </a:p>
          <a:p>
            <a:pPr algn="l">
              <a:lnSpc>
                <a:spcPct val="100000"/>
              </a:lnSpc>
              <a:buSzPct val="25000"/>
            </a:pPr>
            <a:r>
              <a:rPr lang="fr-FR" sz="1800" b="1" dirty="0">
                <a:latin typeface="Courier New" panose="02070309020205020404"/>
                <a:ea typeface="Courier New" panose="02070309020205020404"/>
              </a:rPr>
              <a:t>code1.o : code1.c prog.h code1.h </a:t>
            </a:r>
            <a:endParaRPr sz="1800" dirty="0"/>
          </a:p>
          <a:p>
            <a:pPr lvl="2" algn="l">
              <a:buSzPct val="25000"/>
            </a:pPr>
            <a:r>
              <a:rPr lang="fr-FR" sz="1800" b="1" dirty="0">
                <a:latin typeface="Courier New" panose="02070309020205020404"/>
                <a:ea typeface="Courier New" panose="02070309020205020404"/>
              </a:rPr>
              <a:t>gcc -c code1.c –o code1.o</a:t>
            </a:r>
            <a:endParaRPr dirty="0"/>
          </a:p>
          <a:p>
            <a:pPr algn="l">
              <a:lnSpc>
                <a:spcPct val="100000"/>
              </a:lnSpc>
              <a:buSzPct val="25000"/>
            </a:pPr>
            <a:endParaRPr dirty="0"/>
          </a:p>
          <a:p>
            <a:pPr algn="l">
              <a:lnSpc>
                <a:spcPct val="100000"/>
              </a:lnSpc>
              <a:buSzPct val="25000"/>
            </a:pPr>
            <a:r>
              <a:rPr lang="fr-FR" sz="1800" b="1" dirty="0">
                <a:latin typeface="Courier New" panose="02070309020205020404"/>
                <a:ea typeface="Courier New" panose="02070309020205020404"/>
              </a:rPr>
              <a:t>code2.o : code2.c prog.h code1.h </a:t>
            </a:r>
            <a:endParaRPr sz="1800" dirty="0"/>
          </a:p>
          <a:p>
            <a:pPr marL="0" lvl="2" algn="l">
              <a:buSzPct val="25000"/>
            </a:pPr>
            <a:r>
              <a:rPr lang="fr-FR" sz="1800" b="1" dirty="0">
                <a:latin typeface="Courier New" panose="02070309020205020404"/>
                <a:ea typeface="Courier New" panose="02070309020205020404"/>
              </a:rPr>
              <a:t>	gcc –c code2.c –o code2.o</a:t>
            </a:r>
            <a:endParaRPr lang="fr-FR" dirty="0"/>
          </a:p>
          <a:p>
            <a:pPr algn="l">
              <a:lnSpc>
                <a:spcPct val="100000"/>
              </a:lnSpc>
              <a:buSzPct val="25000"/>
            </a:pPr>
            <a:endParaRPr dirty="0"/>
          </a:p>
        </p:txBody>
      </p:sp>
      <p:sp>
        <p:nvSpPr>
          <p:cNvPr id="540" name="TextShape 2"/>
          <p:cNvSpPr txBox="1"/>
          <p:nvPr/>
        </p:nvSpPr>
        <p:spPr>
          <a:xfrm>
            <a:off x="401844" y="1012486"/>
            <a:ext cx="8262053" cy="5258353"/>
          </a:xfrm>
          <a:prstGeom prst="rect">
            <a:avLst/>
          </a:prstGeom>
        </p:spPr>
        <p:txBody>
          <a:bodyPr lIns="92070" tIns="46035" rIns="92070" bIns="46035"/>
          <a:lstStyle/>
          <a:p>
            <a:pPr>
              <a:buSzPct val="25000"/>
              <a:buFont typeface="StarSymbol"/>
              <a:buChar char=""/>
            </a:pPr>
            <a:r>
              <a:rPr lang="fr-FR">
                <a:ea typeface="Arial" panose="020B0604020202020204"/>
              </a:rPr>
              <a:t> </a:t>
            </a:r>
            <a:endParaRPr lang="fr-FR">
              <a:ea typeface="Arial" panose="020B0604020202020204"/>
            </a:endParaRPr>
          </a:p>
        </p:txBody>
      </p:sp>
      <p:sp>
        <p:nvSpPr>
          <p:cNvPr id="541" name="CustomShape 3"/>
          <p:cNvSpPr/>
          <p:nvPr/>
        </p:nvSpPr>
        <p:spPr>
          <a:xfrm>
            <a:off x="3042995" y="1304764"/>
            <a:ext cx="1213928" cy="343894"/>
          </a:xfrm>
          <a:prstGeom prst="rect">
            <a:avLst/>
          </a:prstGeom>
        </p:spPr>
        <p:txBody>
          <a:bodyPr lIns="92070" tIns="46035" rIns="92070" bIns="46035"/>
          <a:lstStyle/>
          <a:p>
            <a:pPr algn="ctr">
              <a:lnSpc>
                <a:spcPct val="100000"/>
              </a:lnSpc>
              <a:buSzPct val="25000"/>
            </a:pPr>
            <a:r>
              <a:rPr lang="fr-FR" sz="1400" b="1" dirty="0">
                <a:solidFill>
                  <a:schemeClr val="tx1"/>
                </a:solidFill>
                <a:latin typeface="Courier New" panose="02070309020205020404"/>
                <a:ea typeface="Courier New" panose="02070309020205020404"/>
              </a:rPr>
              <a:t>prog</a:t>
            </a:r>
            <a:endParaRPr sz="1400" dirty="0">
              <a:solidFill>
                <a:schemeClr val="tx1"/>
              </a:solidFill>
            </a:endParaRPr>
          </a:p>
        </p:txBody>
      </p:sp>
      <p:sp>
        <p:nvSpPr>
          <p:cNvPr id="542" name="CustomShape 4"/>
          <p:cNvSpPr/>
          <p:nvPr/>
        </p:nvSpPr>
        <p:spPr>
          <a:xfrm>
            <a:off x="2760585" y="2056237"/>
            <a:ext cx="1839087" cy="343894"/>
          </a:xfrm>
          <a:prstGeom prst="rect">
            <a:avLst/>
          </a:prstGeom>
        </p:spPr>
        <p:txBody>
          <a:bodyPr lIns="92070" tIns="46035" rIns="92070" bIns="46035"/>
          <a:lstStyle/>
          <a:p>
            <a:pPr algn="ctr">
              <a:lnSpc>
                <a:spcPct val="100000"/>
              </a:lnSpc>
              <a:buSzPct val="25000"/>
            </a:pPr>
            <a:r>
              <a:rPr lang="fr-FR" sz="1400" b="1" dirty="0">
                <a:latin typeface="Courier New" panose="02070309020205020404"/>
                <a:ea typeface="Courier New" panose="02070309020205020404"/>
              </a:rPr>
              <a:t>code</a:t>
            </a:r>
            <a:r>
              <a:rPr lang="fr-FR" sz="1400" b="1" dirty="0">
                <a:solidFill>
                  <a:srgbClr val="010507"/>
                </a:solidFill>
                <a:latin typeface="Courier New" panose="02070309020205020404"/>
                <a:ea typeface="Courier New" panose="02070309020205020404"/>
              </a:rPr>
              <a:t>1.o</a:t>
            </a:r>
            <a:endParaRPr sz="1400" dirty="0"/>
          </a:p>
        </p:txBody>
      </p:sp>
      <p:sp>
        <p:nvSpPr>
          <p:cNvPr id="543" name="CustomShape 5"/>
          <p:cNvSpPr/>
          <p:nvPr/>
        </p:nvSpPr>
        <p:spPr>
          <a:xfrm>
            <a:off x="4474951" y="2054931"/>
            <a:ext cx="1841887" cy="343894"/>
          </a:xfrm>
          <a:prstGeom prst="rect">
            <a:avLst/>
          </a:prstGeom>
        </p:spPr>
        <p:txBody>
          <a:bodyPr lIns="92070" tIns="46035" rIns="92070" bIns="46035"/>
          <a:lstStyle/>
          <a:p>
            <a:pPr algn="ctr">
              <a:lnSpc>
                <a:spcPct val="100000"/>
              </a:lnSpc>
              <a:buSzPct val="25000"/>
            </a:pPr>
            <a:r>
              <a:rPr lang="fr-FR" sz="1400" b="1" dirty="0">
                <a:latin typeface="Courier New" panose="02070309020205020404"/>
                <a:ea typeface="Courier New" panose="02070309020205020404"/>
              </a:rPr>
              <a:t>code</a:t>
            </a:r>
            <a:r>
              <a:rPr lang="fr-FR" sz="1400" b="1" dirty="0">
                <a:solidFill>
                  <a:srgbClr val="010507"/>
                </a:solidFill>
                <a:latin typeface="Courier New" panose="02070309020205020404"/>
                <a:ea typeface="Courier New" panose="02070309020205020404"/>
              </a:rPr>
              <a:t>2.o</a:t>
            </a:r>
            <a:endParaRPr sz="1400" dirty="0"/>
          </a:p>
        </p:txBody>
      </p:sp>
      <p:sp>
        <p:nvSpPr>
          <p:cNvPr id="544" name="CustomShape 6"/>
          <p:cNvSpPr/>
          <p:nvPr/>
        </p:nvSpPr>
        <p:spPr>
          <a:xfrm>
            <a:off x="1604507" y="2060810"/>
            <a:ext cx="1185003" cy="343894"/>
          </a:xfrm>
          <a:prstGeom prst="rect">
            <a:avLst/>
          </a:prstGeom>
        </p:spPr>
        <p:txBody>
          <a:bodyPr lIns="92070" tIns="46035" rIns="92070" bIns="46035"/>
          <a:lstStyle/>
          <a:p>
            <a:pPr algn="ctr">
              <a:lnSpc>
                <a:spcPct val="100000"/>
              </a:lnSpc>
              <a:buSzPct val="25000"/>
            </a:pPr>
            <a:r>
              <a:rPr lang="fr-FR" sz="1400" b="1" dirty="0">
                <a:solidFill>
                  <a:schemeClr val="tx1"/>
                </a:solidFill>
                <a:latin typeface="Courier New" panose="02070309020205020404"/>
                <a:ea typeface="Courier New" panose="02070309020205020404"/>
              </a:rPr>
              <a:t>prog.o</a:t>
            </a:r>
            <a:endParaRPr sz="1400" dirty="0">
              <a:solidFill>
                <a:schemeClr val="tx1"/>
              </a:solidFill>
            </a:endParaRPr>
          </a:p>
        </p:txBody>
      </p:sp>
      <p:sp>
        <p:nvSpPr>
          <p:cNvPr id="545" name="CustomShape 7"/>
          <p:cNvSpPr/>
          <p:nvPr/>
        </p:nvSpPr>
        <p:spPr>
          <a:xfrm>
            <a:off x="2738502" y="2775052"/>
            <a:ext cx="1840643" cy="343894"/>
          </a:xfrm>
          <a:prstGeom prst="rect">
            <a:avLst/>
          </a:prstGeom>
        </p:spPr>
        <p:txBody>
          <a:bodyPr lIns="92070" tIns="46035" rIns="92070" bIns="46035"/>
          <a:lstStyle/>
          <a:p>
            <a:pPr algn="ctr">
              <a:lnSpc>
                <a:spcPct val="100000"/>
              </a:lnSpc>
              <a:buSzPct val="25000"/>
            </a:pPr>
            <a:r>
              <a:rPr lang="fr-FR" sz="1400" b="1" dirty="0">
                <a:latin typeface="Courier New" panose="02070309020205020404"/>
                <a:ea typeface="Courier New" panose="02070309020205020404"/>
              </a:rPr>
              <a:t>code</a:t>
            </a:r>
            <a:r>
              <a:rPr lang="fr-FR" sz="1400" b="1" dirty="0">
                <a:solidFill>
                  <a:srgbClr val="010507"/>
                </a:solidFill>
                <a:latin typeface="Courier New" panose="02070309020205020404"/>
                <a:ea typeface="Courier New" panose="02070309020205020404"/>
              </a:rPr>
              <a:t>1.c</a:t>
            </a:r>
            <a:endParaRPr sz="1400" dirty="0"/>
          </a:p>
        </p:txBody>
      </p:sp>
      <p:sp>
        <p:nvSpPr>
          <p:cNvPr id="546" name="CustomShape 8"/>
          <p:cNvSpPr/>
          <p:nvPr/>
        </p:nvSpPr>
        <p:spPr>
          <a:xfrm>
            <a:off x="4455668" y="2772113"/>
            <a:ext cx="1839399" cy="343894"/>
          </a:xfrm>
          <a:prstGeom prst="rect">
            <a:avLst/>
          </a:prstGeom>
        </p:spPr>
        <p:txBody>
          <a:bodyPr lIns="92070" tIns="46035" rIns="92070" bIns="46035"/>
          <a:lstStyle/>
          <a:p>
            <a:pPr algn="ctr">
              <a:lnSpc>
                <a:spcPct val="100000"/>
              </a:lnSpc>
              <a:buSzPct val="25000"/>
            </a:pPr>
            <a:r>
              <a:rPr lang="fr-FR" sz="1400" b="1" dirty="0">
                <a:latin typeface="Courier New" panose="02070309020205020404"/>
                <a:ea typeface="Courier New" panose="02070309020205020404"/>
              </a:rPr>
              <a:t>code</a:t>
            </a:r>
            <a:r>
              <a:rPr lang="fr-FR" sz="1400" b="1" dirty="0">
                <a:solidFill>
                  <a:srgbClr val="010507"/>
                </a:solidFill>
                <a:latin typeface="Courier New" panose="02070309020205020404"/>
                <a:ea typeface="Courier New" panose="02070309020205020404"/>
              </a:rPr>
              <a:t>2.c</a:t>
            </a:r>
            <a:endParaRPr sz="1400" dirty="0"/>
          </a:p>
        </p:txBody>
      </p:sp>
      <p:sp>
        <p:nvSpPr>
          <p:cNvPr id="547" name="CustomShape 9"/>
          <p:cNvSpPr/>
          <p:nvPr/>
        </p:nvSpPr>
        <p:spPr>
          <a:xfrm>
            <a:off x="1583668" y="2779298"/>
            <a:ext cx="1183759" cy="343894"/>
          </a:xfrm>
          <a:prstGeom prst="rect">
            <a:avLst/>
          </a:prstGeom>
        </p:spPr>
        <p:txBody>
          <a:bodyPr lIns="92070" tIns="46035" rIns="92070" bIns="46035"/>
          <a:lstStyle/>
          <a:p>
            <a:pPr algn="ctr">
              <a:lnSpc>
                <a:spcPct val="100000"/>
              </a:lnSpc>
              <a:buSzPct val="25000"/>
            </a:pPr>
            <a:r>
              <a:rPr lang="fr-FR" sz="1400" b="1" dirty="0">
                <a:solidFill>
                  <a:schemeClr val="tx1"/>
                </a:solidFill>
                <a:latin typeface="Courier New" panose="02070309020205020404"/>
                <a:ea typeface="Courier New" panose="02070309020205020404"/>
              </a:rPr>
              <a:t>prog.c</a:t>
            </a:r>
            <a:endParaRPr sz="1400" dirty="0">
              <a:solidFill>
                <a:schemeClr val="tx1"/>
              </a:solidFill>
            </a:endParaRPr>
          </a:p>
        </p:txBody>
      </p:sp>
      <p:sp>
        <p:nvSpPr>
          <p:cNvPr id="548" name="Line 10"/>
          <p:cNvSpPr/>
          <p:nvPr/>
        </p:nvSpPr>
        <p:spPr>
          <a:xfrm flipV="1">
            <a:off x="2234020" y="2319792"/>
            <a:ext cx="1244" cy="512739"/>
          </a:xfrm>
          <a:prstGeom prst="line">
            <a:avLst/>
          </a:prstGeom>
          <a:ln w="12600">
            <a:solidFill>
              <a:srgbClr val="000208"/>
            </a:solidFill>
            <a:miter/>
            <a:tailEnd type="triangle" w="med" len="med"/>
          </a:ln>
        </p:spPr>
      </p:sp>
      <p:sp>
        <p:nvSpPr>
          <p:cNvPr id="549" name="Line 11"/>
          <p:cNvSpPr/>
          <p:nvPr/>
        </p:nvSpPr>
        <p:spPr>
          <a:xfrm flipV="1">
            <a:off x="3723516" y="2315546"/>
            <a:ext cx="1244" cy="512739"/>
          </a:xfrm>
          <a:prstGeom prst="line">
            <a:avLst/>
          </a:prstGeom>
          <a:ln w="12600">
            <a:solidFill>
              <a:srgbClr val="000208"/>
            </a:solidFill>
            <a:miter/>
            <a:tailEnd type="triangle" w="med" len="med"/>
          </a:ln>
        </p:spPr>
      </p:sp>
      <p:sp>
        <p:nvSpPr>
          <p:cNvPr id="550" name="Line 12"/>
          <p:cNvSpPr/>
          <p:nvPr/>
        </p:nvSpPr>
        <p:spPr>
          <a:xfrm flipV="1">
            <a:off x="5377544" y="2304116"/>
            <a:ext cx="1244" cy="512739"/>
          </a:xfrm>
          <a:prstGeom prst="line">
            <a:avLst/>
          </a:prstGeom>
          <a:ln w="12600">
            <a:solidFill>
              <a:srgbClr val="000208"/>
            </a:solidFill>
            <a:miter/>
            <a:tailEnd type="triangle" w="med" len="med"/>
          </a:ln>
        </p:spPr>
      </p:sp>
      <p:sp>
        <p:nvSpPr>
          <p:cNvPr id="551" name="Line 13"/>
          <p:cNvSpPr/>
          <p:nvPr/>
        </p:nvSpPr>
        <p:spPr>
          <a:xfrm flipV="1">
            <a:off x="2213182" y="1617306"/>
            <a:ext cx="1006786" cy="472243"/>
          </a:xfrm>
          <a:prstGeom prst="line">
            <a:avLst/>
          </a:prstGeom>
          <a:ln w="12600">
            <a:solidFill>
              <a:srgbClr val="000208"/>
            </a:solidFill>
            <a:miter/>
            <a:tailEnd type="triangle" w="med" len="med"/>
          </a:ln>
        </p:spPr>
      </p:sp>
      <p:sp>
        <p:nvSpPr>
          <p:cNvPr id="552" name="Line 14"/>
          <p:cNvSpPr/>
          <p:nvPr/>
        </p:nvSpPr>
        <p:spPr>
          <a:xfrm flipH="1" flipV="1">
            <a:off x="4095190" y="1612407"/>
            <a:ext cx="1280799" cy="459506"/>
          </a:xfrm>
          <a:prstGeom prst="line">
            <a:avLst/>
          </a:prstGeom>
          <a:ln w="12600">
            <a:solidFill>
              <a:srgbClr val="000208"/>
            </a:solidFill>
            <a:miter/>
            <a:tailEnd type="triangle" w="med" len="med"/>
          </a:ln>
        </p:spPr>
      </p:sp>
      <p:sp>
        <p:nvSpPr>
          <p:cNvPr id="553" name="Line 15"/>
          <p:cNvSpPr/>
          <p:nvPr/>
        </p:nvSpPr>
        <p:spPr>
          <a:xfrm flipV="1">
            <a:off x="3684949" y="1608489"/>
            <a:ext cx="1555" cy="485306"/>
          </a:xfrm>
          <a:prstGeom prst="line">
            <a:avLst/>
          </a:prstGeom>
          <a:ln w="12600">
            <a:solidFill>
              <a:srgbClr val="000208"/>
            </a:solidFill>
            <a:miter/>
            <a:tailEnd type="triangle" w="med" len="med"/>
          </a:ln>
        </p:spPr>
      </p:sp>
      <p:sp>
        <p:nvSpPr>
          <p:cNvPr id="554" name="CustomShape 16"/>
          <p:cNvSpPr/>
          <p:nvPr/>
        </p:nvSpPr>
        <p:spPr>
          <a:xfrm>
            <a:off x="6160704" y="2753497"/>
            <a:ext cx="977861" cy="343894"/>
          </a:xfrm>
          <a:prstGeom prst="rect">
            <a:avLst/>
          </a:prstGeom>
        </p:spPr>
        <p:txBody>
          <a:bodyPr lIns="92070" tIns="46035" rIns="92070" bIns="46035"/>
          <a:lstStyle/>
          <a:p>
            <a:pPr algn="ctr">
              <a:lnSpc>
                <a:spcPct val="100000"/>
              </a:lnSpc>
              <a:buSzPct val="25000"/>
            </a:pPr>
            <a:r>
              <a:rPr lang="fr-FR" sz="1400">
                <a:solidFill>
                  <a:srgbClr val="800000"/>
                </a:solidFill>
                <a:latin typeface="Arial" panose="020B0604020202020204"/>
                <a:ea typeface="Arial" panose="020B0604020202020204"/>
              </a:rPr>
              <a:t>(source)</a:t>
            </a:r>
            <a:endParaRPr sz="1400">
              <a:solidFill>
                <a:srgbClr val="800000"/>
              </a:solidFill>
            </a:endParaRPr>
          </a:p>
        </p:txBody>
      </p:sp>
      <p:sp>
        <p:nvSpPr>
          <p:cNvPr id="555" name="CustomShape 17"/>
          <p:cNvSpPr/>
          <p:nvPr/>
        </p:nvSpPr>
        <p:spPr>
          <a:xfrm>
            <a:off x="6185275" y="2046440"/>
            <a:ext cx="902593" cy="343894"/>
          </a:xfrm>
          <a:prstGeom prst="rect">
            <a:avLst/>
          </a:prstGeom>
        </p:spPr>
        <p:txBody>
          <a:bodyPr lIns="92070" tIns="46035" rIns="92070" bIns="46035"/>
          <a:lstStyle/>
          <a:p>
            <a:pPr algn="ctr">
              <a:lnSpc>
                <a:spcPct val="100000"/>
              </a:lnSpc>
              <a:buSzPct val="25000"/>
            </a:pPr>
            <a:r>
              <a:rPr lang="fr-FR" sz="1400" dirty="0">
                <a:solidFill>
                  <a:srgbClr val="800000"/>
                </a:solidFill>
                <a:latin typeface="Arial" panose="020B0604020202020204"/>
                <a:ea typeface="Arial" panose="020B0604020202020204"/>
              </a:rPr>
              <a:t>(</a:t>
            </a:r>
            <a:r>
              <a:rPr lang="fr-FR" sz="1400" dirty="0" err="1">
                <a:solidFill>
                  <a:srgbClr val="800000"/>
                </a:solidFill>
                <a:latin typeface="Arial" panose="020B0604020202020204"/>
                <a:ea typeface="Arial" panose="020B0604020202020204"/>
              </a:rPr>
              <a:t>object</a:t>
            </a:r>
            <a:r>
              <a:rPr lang="fr-FR" sz="1400" dirty="0">
                <a:solidFill>
                  <a:srgbClr val="800000"/>
                </a:solidFill>
                <a:latin typeface="Arial" panose="020B0604020202020204"/>
                <a:ea typeface="Arial" panose="020B0604020202020204"/>
              </a:rPr>
              <a:t>)</a:t>
            </a:r>
            <a:endParaRPr sz="1400" dirty="0">
              <a:solidFill>
                <a:srgbClr val="800000"/>
              </a:solidFill>
            </a:endParaRPr>
          </a:p>
        </p:txBody>
      </p:sp>
      <p:sp>
        <p:nvSpPr>
          <p:cNvPr id="556" name="CustomShape 18"/>
          <p:cNvSpPr/>
          <p:nvPr/>
        </p:nvSpPr>
        <p:spPr>
          <a:xfrm>
            <a:off x="6028829" y="1399801"/>
            <a:ext cx="1307236" cy="343894"/>
          </a:xfrm>
          <a:prstGeom prst="rect">
            <a:avLst/>
          </a:prstGeom>
        </p:spPr>
        <p:txBody>
          <a:bodyPr lIns="92070" tIns="46035" rIns="92070" bIns="46035"/>
          <a:lstStyle/>
          <a:p>
            <a:pPr algn="ctr">
              <a:lnSpc>
                <a:spcPct val="100000"/>
              </a:lnSpc>
              <a:buSzPct val="25000"/>
            </a:pPr>
            <a:r>
              <a:rPr lang="fr-FR" sz="1400" dirty="0" smtClean="0">
                <a:solidFill>
                  <a:srgbClr val="800000"/>
                </a:solidFill>
                <a:latin typeface="Arial" panose="020B0604020202020204"/>
                <a:ea typeface="Arial" panose="020B0604020202020204"/>
              </a:rPr>
              <a:t>(</a:t>
            </a:r>
            <a:r>
              <a:rPr lang="fr-FR" sz="1400" b="1" dirty="0" err="1" smtClean="0">
                <a:solidFill>
                  <a:srgbClr val="800000"/>
                </a:solidFill>
                <a:latin typeface="Arial" panose="020B0604020202020204"/>
                <a:ea typeface="Arial" panose="020B0604020202020204"/>
              </a:rPr>
              <a:t>éxecutable</a:t>
            </a:r>
            <a:r>
              <a:rPr lang="fr-FR" sz="1400" dirty="0">
                <a:solidFill>
                  <a:srgbClr val="800000"/>
                </a:solidFill>
                <a:latin typeface="Arial" panose="020B0604020202020204"/>
                <a:ea typeface="Arial" panose="020B0604020202020204"/>
              </a:rPr>
              <a:t>)</a:t>
            </a:r>
            <a:endParaRPr sz="1400" dirty="0">
              <a:solidFill>
                <a:srgbClr val="800000"/>
              </a:solidFill>
            </a:endParaRPr>
          </a:p>
        </p:txBody>
      </p:sp>
      <p:sp>
        <p:nvSpPr>
          <p:cNvPr id="557" name="CustomShape 19"/>
          <p:cNvSpPr/>
          <p:nvPr/>
        </p:nvSpPr>
        <p:spPr>
          <a:xfrm>
            <a:off x="467544" y="3248980"/>
            <a:ext cx="2003930" cy="371654"/>
          </a:xfrm>
          <a:prstGeom prst="rect">
            <a:avLst/>
          </a:prstGeom>
          <a:solidFill>
            <a:srgbClr val="FFFFFF"/>
          </a:solidFill>
          <a:ln w="6480">
            <a:solidFill>
              <a:srgbClr val="919191"/>
            </a:solidFill>
            <a:miter/>
          </a:ln>
        </p:spPr>
        <p:txBody>
          <a:bodyPr lIns="92070" tIns="46035" rIns="92070" bIns="46035"/>
          <a:lstStyle/>
          <a:p>
            <a:pPr algn="l">
              <a:lnSpc>
                <a:spcPct val="100000"/>
              </a:lnSpc>
              <a:buSzPct val="25000"/>
            </a:pPr>
            <a:r>
              <a:rPr lang="fr-FR" sz="1800" b="1" dirty="0">
                <a:latin typeface="Courier"/>
                <a:ea typeface="Arial" panose="020B0604020202020204"/>
                <a:cs typeface="Courier"/>
              </a:rPr>
              <a:t>makefile</a:t>
            </a:r>
            <a:endParaRPr dirty="0">
              <a:latin typeface="Courier"/>
              <a:cs typeface="Courier"/>
            </a:endParaRPr>
          </a:p>
        </p:txBody>
      </p:sp>
      <p:sp>
        <p:nvSpPr>
          <p:cNvPr id="28" name="Titre 1"/>
          <p:cNvSpPr>
            <a:spLocks noGrp="1"/>
          </p:cNvSpPr>
          <p:nvPr>
            <p:ph type="title"/>
          </p:nvPr>
        </p:nvSpPr>
        <p:spPr>
          <a:xfrm>
            <a:off x="304800" y="152400"/>
            <a:ext cx="7772400" cy="533400"/>
          </a:xfrm>
        </p:spPr>
        <p:txBody>
          <a:bodyPr/>
          <a:lstStyle/>
          <a:p>
            <a:r>
              <a:rPr lang="fr-FR" sz="2800" dirty="0">
                <a:latin typeface="Arial" panose="020B0604020202020204" pitchFamily="34" charset="0"/>
                <a:ea typeface="MS PGothic" panose="020B0600070205080204" charset="-128"/>
                <a:cs typeface="MS PGothic" panose="020B0600070205080204" charset="-128"/>
              </a:rPr>
              <a:t>Structure </a:t>
            </a:r>
            <a:r>
              <a:rPr lang="fr-FR" sz="2800" dirty="0" smtClean="0">
                <a:latin typeface="Arial" panose="020B0604020202020204" pitchFamily="34" charset="0"/>
                <a:cs typeface="MS PGothic" panose="020B0600070205080204" charset="-128"/>
              </a:rPr>
              <a:t>du</a:t>
            </a:r>
            <a:r>
              <a:rPr lang="fr-FR" sz="2800" dirty="0" smtClean="0">
                <a:latin typeface="Arial" panose="020B0604020202020204" pitchFamily="34" charset="0"/>
                <a:ea typeface="MS PGothic" panose="020B0600070205080204" charset="-128"/>
                <a:cs typeface="MS PGothic" panose="020B0600070205080204" charset="-128"/>
              </a:rPr>
              <a:t> </a:t>
            </a:r>
            <a:r>
              <a:rPr lang="fr-FR" sz="2800" dirty="0">
                <a:latin typeface="Courier New" panose="02070309020205020404"/>
                <a:ea typeface="MS PGothic" panose="020B0600070205080204" charset="-128"/>
                <a:cs typeface="Courier New" panose="02070309020205020404"/>
              </a:rPr>
              <a:t>Makefile</a:t>
            </a:r>
            <a:r>
              <a:rPr lang="fr-FR" sz="2800" dirty="0">
                <a:latin typeface="+mn-lt"/>
                <a:cs typeface="Courier New" panose="02070309020205020404"/>
              </a:rPr>
              <a:t>: </a:t>
            </a:r>
            <a:r>
              <a:rPr lang="fr-FR" sz="2800" dirty="0" smtClean="0">
                <a:latin typeface="+mn-lt"/>
                <a:cs typeface="Courier New" panose="02070309020205020404"/>
              </a:rPr>
              <a:t>Exemple</a:t>
            </a:r>
            <a:endParaRPr lang="fr-FR" sz="2800" dirty="0">
              <a:latin typeface="+mn-lt"/>
              <a:cs typeface="MS PGothic" panose="020B0600070205080204" charset="-128"/>
            </a:endParaRPr>
          </a:p>
        </p:txBody>
      </p:sp>
      <p:sp>
        <p:nvSpPr>
          <p:cNvPr id="32" name="Espace réservé du contenu 2"/>
          <p:cNvSpPr>
            <a:spLocks noGrp="1"/>
          </p:cNvSpPr>
          <p:nvPr>
            <p:ph idx="1"/>
          </p:nvPr>
        </p:nvSpPr>
        <p:spPr>
          <a:xfrm>
            <a:off x="71500" y="800708"/>
            <a:ext cx="9037004" cy="576064"/>
          </a:xfrm>
        </p:spPr>
        <p:txBody>
          <a:bodyPr/>
          <a:lstStyle/>
          <a:p>
            <a:r>
              <a:rPr lang="en-US" dirty="0" smtClean="0">
                <a:latin typeface="Arial" panose="020B0604020202020204" pitchFamily="34" charset="0"/>
                <a:cs typeface="MS PGothic" panose="020B0600070205080204" charset="-128"/>
              </a:rPr>
              <a:t>Nous modifions </a:t>
            </a:r>
            <a:r>
              <a:rPr lang="en-US" b="1" dirty="0">
                <a:latin typeface="Courier"/>
                <a:cs typeface="Courier"/>
              </a:rPr>
              <a:t>prog.c</a:t>
            </a:r>
            <a:r>
              <a:rPr lang="en-US" dirty="0">
                <a:latin typeface="Arial" panose="020B0604020202020204" pitchFamily="34" charset="0"/>
                <a:cs typeface="MS PGothic" panose="020B0600070205080204" charset="-128"/>
              </a:rPr>
              <a:t>, </a:t>
            </a:r>
            <a:r>
              <a:rPr lang="fr-FR" dirty="0">
                <a:latin typeface="Arial" panose="020B0604020202020204" pitchFamily="34" charset="0"/>
                <a:cs typeface="MS PGothic" panose="020B0600070205080204" charset="-128"/>
              </a:rPr>
              <a:t>ce qui se passe quand on exécute </a:t>
            </a:r>
            <a:r>
              <a:rPr lang="en-US" b="1" dirty="0" smtClean="0">
                <a:latin typeface="Courier"/>
                <a:cs typeface="Courier"/>
              </a:rPr>
              <a:t>make</a:t>
            </a:r>
            <a:r>
              <a:rPr lang="en-US" dirty="0" smtClean="0">
                <a:latin typeface="Arial" panose="020B0604020202020204" pitchFamily="34" charset="0"/>
                <a:cs typeface="MS PGothic" panose="020B0600070205080204" charset="-128"/>
              </a:rPr>
              <a:t>?</a:t>
            </a:r>
            <a:endParaRPr lang="en-US" dirty="0">
              <a:latin typeface="Arial" panose="020B0604020202020204" pitchFamily="34" charset="0"/>
            </a:endParaRPr>
          </a:p>
        </p:txBody>
      </p:sp>
      <p:cxnSp>
        <p:nvCxnSpPr>
          <p:cNvPr id="4" name="Straight Arrow Connector 3"/>
          <p:cNvCxnSpPr/>
          <p:nvPr/>
        </p:nvCxnSpPr>
        <p:spPr bwMode="auto">
          <a:xfrm flipH="1" flipV="1">
            <a:off x="1007604" y="4779150"/>
            <a:ext cx="405755" cy="234026"/>
          </a:xfrm>
          <a:prstGeom prst="straightConnector1">
            <a:avLst/>
          </a:prstGeom>
          <a:noFill/>
          <a:ln w="38100" cap="flat" cmpd="sng" algn="ctr">
            <a:solidFill>
              <a:srgbClr val="FF0000"/>
            </a:solidFill>
            <a:prstDash val="solid"/>
            <a:round/>
            <a:headEnd type="none" w="lg" len="lg"/>
            <a:tailEnd type="arrow"/>
          </a:ln>
          <a:effectLst/>
        </p:spPr>
      </p:cxnSp>
      <p:cxnSp>
        <p:nvCxnSpPr>
          <p:cNvPr id="41" name="Straight Arrow Connector 40"/>
          <p:cNvCxnSpPr/>
          <p:nvPr/>
        </p:nvCxnSpPr>
        <p:spPr bwMode="auto">
          <a:xfrm flipV="1">
            <a:off x="791580" y="3933056"/>
            <a:ext cx="720080" cy="504056"/>
          </a:xfrm>
          <a:prstGeom prst="straightConnector1">
            <a:avLst/>
          </a:prstGeom>
          <a:noFill/>
          <a:ln w="38100" cap="flat" cmpd="sng" algn="ctr">
            <a:solidFill>
              <a:srgbClr val="FF0000"/>
            </a:solidFill>
            <a:prstDash val="solid"/>
            <a:round/>
            <a:headEnd type="none" w="lg" len="lg"/>
            <a:tailEnd type="arrow"/>
          </a:ln>
          <a:effectLst/>
        </p:spPr>
      </p:cxnSp>
      <p:sp>
        <p:nvSpPr>
          <p:cNvPr id="44" name="CustomShape 5"/>
          <p:cNvSpPr/>
          <p:nvPr/>
        </p:nvSpPr>
        <p:spPr>
          <a:xfrm>
            <a:off x="4103948" y="2564904"/>
            <a:ext cx="3743436" cy="684076"/>
          </a:xfrm>
          <a:prstGeom prst="wedgeRectCallout">
            <a:avLst>
              <a:gd name="adj1" fmla="val -4114"/>
              <a:gd name="adj2" fmla="val 44940"/>
            </a:avLst>
          </a:prstGeom>
          <a:solidFill>
            <a:schemeClr val="bg1"/>
          </a:solidFill>
          <a:ln w="6480">
            <a:solidFill>
              <a:schemeClr val="tx1"/>
            </a:solidFill>
            <a:miter/>
          </a:ln>
        </p:spPr>
        <p:txBody>
          <a:bodyPr lIns="92070" tIns="46035" rIns="92070" bIns="46035" anchor="ctr"/>
          <a:lstStyle/>
          <a:p>
            <a:pPr algn="just">
              <a:lnSpc>
                <a:spcPct val="100000"/>
              </a:lnSpc>
              <a:buSzPct val="25000"/>
            </a:pPr>
            <a:r>
              <a:rPr lang="en-GB" sz="2000" dirty="0" smtClean="0">
                <a:latin typeface="Arial" panose="020B0604020202020204"/>
              </a:rPr>
              <a:t>La commande </a:t>
            </a:r>
            <a:r>
              <a:rPr lang="en-GB" sz="2000" dirty="0" smtClean="0">
                <a:latin typeface="+mn-lt"/>
              </a:rPr>
              <a:t>est </a:t>
            </a:r>
            <a:r>
              <a:rPr lang="en-GB" sz="2000" b="1" dirty="0" smtClean="0">
                <a:latin typeface="+mn-lt"/>
                <a:ea typeface="Courier New" panose="02070309020205020404"/>
              </a:rPr>
              <a:t>executée</a:t>
            </a:r>
            <a:r>
              <a:rPr lang="en-GB" sz="2000" dirty="0" smtClean="0">
                <a:latin typeface="+mn-lt"/>
                <a:ea typeface="Courier New" panose="02070309020205020404"/>
              </a:rPr>
              <a:t> </a:t>
            </a:r>
            <a:r>
              <a:rPr lang="en-GB" sz="2000" dirty="0">
                <a:latin typeface="+mn-lt"/>
                <a:ea typeface="Courier New" panose="02070309020205020404"/>
              </a:rPr>
              <a:t>!</a:t>
            </a:r>
            <a:endParaRPr lang="en-GB" dirty="0">
              <a:latin typeface="+mn-lt"/>
            </a:endParaRPr>
          </a:p>
        </p:txBody>
      </p:sp>
      <p:sp>
        <p:nvSpPr>
          <p:cNvPr id="46" name="CustomShape 5"/>
          <p:cNvSpPr/>
          <p:nvPr/>
        </p:nvSpPr>
        <p:spPr>
          <a:xfrm>
            <a:off x="2951820" y="1664804"/>
            <a:ext cx="6052417" cy="900100"/>
          </a:xfrm>
          <a:prstGeom prst="wedgeRectCallout">
            <a:avLst>
              <a:gd name="adj1" fmla="val -4114"/>
              <a:gd name="adj2" fmla="val 44940"/>
            </a:avLst>
          </a:prstGeom>
          <a:solidFill>
            <a:schemeClr val="bg1"/>
          </a:solidFill>
          <a:ln w="6480">
            <a:solidFill>
              <a:schemeClr val="tx1"/>
            </a:solidFill>
            <a:miter/>
          </a:ln>
        </p:spPr>
        <p:txBody>
          <a:bodyPr lIns="92070" tIns="46035" rIns="92070" bIns="46035" anchor="ctr"/>
          <a:lstStyle/>
          <a:p>
            <a:pPr algn="just">
              <a:lnSpc>
                <a:spcPct val="100000"/>
              </a:lnSpc>
              <a:buSzPct val="25000"/>
            </a:pPr>
            <a:r>
              <a:rPr lang="en-GB" sz="2000" dirty="0" smtClean="0">
                <a:latin typeface="Arial" panose="020B0604020202020204"/>
              </a:rPr>
              <a:t>La date de </a:t>
            </a:r>
            <a:r>
              <a:rPr lang="en-GB" sz="2000" dirty="0">
                <a:latin typeface="Arial" panose="020B0604020202020204"/>
              </a:rPr>
              <a:t>modification </a:t>
            </a:r>
            <a:r>
              <a:rPr lang="en-GB" sz="2000" dirty="0" smtClean="0">
                <a:latin typeface="Arial" panose="020B0604020202020204"/>
              </a:rPr>
              <a:t>de </a:t>
            </a:r>
            <a:r>
              <a:rPr lang="en-GB" sz="2000" b="1" dirty="0">
                <a:latin typeface="Courier New" panose="02070309020205020404"/>
                <a:ea typeface="Courier New" panose="02070309020205020404"/>
              </a:rPr>
              <a:t>prog.o</a:t>
            </a:r>
            <a:r>
              <a:rPr lang="en-GB" sz="2000" dirty="0">
                <a:latin typeface="Arial" panose="020B0604020202020204"/>
              </a:rPr>
              <a:t> </a:t>
            </a:r>
            <a:r>
              <a:rPr lang="en-GB" sz="2000" dirty="0" smtClean="0">
                <a:latin typeface="Arial" panose="020B0604020202020204"/>
              </a:rPr>
              <a:t>est plus </a:t>
            </a:r>
            <a:r>
              <a:rPr lang="en-GB" sz="2000" b="1" dirty="0" smtClean="0">
                <a:latin typeface="Arial" panose="020B0604020202020204"/>
              </a:rPr>
              <a:t>récente </a:t>
            </a:r>
            <a:r>
              <a:rPr lang="en-GB" sz="2000" dirty="0" smtClean="0">
                <a:latin typeface="Arial" panose="020B0604020202020204"/>
              </a:rPr>
              <a:t>que la date de </a:t>
            </a:r>
            <a:r>
              <a:rPr lang="en-GB" sz="2000" dirty="0">
                <a:latin typeface="Arial" panose="020B0604020202020204"/>
              </a:rPr>
              <a:t>modification </a:t>
            </a:r>
            <a:r>
              <a:rPr lang="en-GB" sz="2000" dirty="0" smtClean="0">
                <a:latin typeface="Arial" panose="020B0604020202020204"/>
              </a:rPr>
              <a:t>de </a:t>
            </a:r>
            <a:r>
              <a:rPr lang="en-GB" sz="2000" b="1" dirty="0">
                <a:latin typeface="Courier New" panose="02070309020205020404"/>
                <a:ea typeface="Courier New" panose="02070309020205020404"/>
              </a:rPr>
              <a:t>prog</a:t>
            </a:r>
            <a:r>
              <a:rPr lang="en-GB" sz="2000" dirty="0">
                <a:latin typeface="Arial" panose="020B0604020202020204"/>
              </a:rPr>
              <a:t> </a:t>
            </a:r>
            <a:endParaRPr lang="en-GB" sz="2000" dirty="0">
              <a:latin typeface="Arial" panose="020B0604020202020204"/>
            </a:endParaRPr>
          </a:p>
        </p:txBody>
      </p:sp>
      <p:cxnSp>
        <p:nvCxnSpPr>
          <p:cNvPr id="47" name="Straight Arrow Connector 46"/>
          <p:cNvCxnSpPr/>
          <p:nvPr/>
        </p:nvCxnSpPr>
        <p:spPr bwMode="auto">
          <a:xfrm flipH="1" flipV="1">
            <a:off x="971600" y="3969060"/>
            <a:ext cx="405755" cy="234026"/>
          </a:xfrm>
          <a:prstGeom prst="straightConnector1">
            <a:avLst/>
          </a:prstGeom>
          <a:noFill/>
          <a:ln w="38100" cap="flat" cmpd="sng" algn="ctr">
            <a:solidFill>
              <a:srgbClr val="FF0000"/>
            </a:solidFill>
            <a:prstDash val="solid"/>
            <a:round/>
            <a:headEnd type="none" w="lg" len="lg"/>
            <a:tailEnd type="arrow"/>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3" presetClass="emph" presetSubtype="2" fill="hold" nodeType="withEffect">
                                  <p:stCondLst>
                                    <p:cond delay="0"/>
                                  </p:stCondLst>
                                  <p:childTnLst>
                                    <p:animClr clrSpc="rgb" dir="cw">
                                      <p:cBhvr override="childStyle">
                                        <p:cTn id="20" dur="500" fill="hold"/>
                                        <p:tgtEl>
                                          <p:spTgt spid="558">
                                            <p:txEl>
                                              <p:pRg st="1" end="1"/>
                                            </p:txEl>
                                          </p:spTgt>
                                        </p:tgtEl>
                                        <p:attrNameLst>
                                          <p:attrName>style.color</p:attrName>
                                        </p:attrNameLst>
                                      </p:cBhvr>
                                      <p:to>
                                        <a:srgbClr val="FF0000"/>
                                      </p:to>
                                    </p:animClr>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Espace réservé du numéro de diapositive 4"/>
          <p:cNvSpPr>
            <a:spLocks noGrp="1"/>
          </p:cNvSpPr>
          <p:nvPr>
            <p:ph type="sldNum" sz="quarter" idx="11"/>
          </p:nvPr>
        </p:nvSpPr>
        <p:spPr>
          <a:xfrm>
            <a:off x="6336196" y="646838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558" name="CustomShape 20"/>
          <p:cNvSpPr/>
          <p:nvPr/>
        </p:nvSpPr>
        <p:spPr>
          <a:xfrm>
            <a:off x="467544" y="2096852"/>
            <a:ext cx="6683293" cy="4356484"/>
          </a:xfrm>
          <a:prstGeom prst="rect">
            <a:avLst/>
          </a:prstGeom>
          <a:solidFill>
            <a:srgbClr val="FFFFFF"/>
          </a:solidFill>
          <a:ln w="6480">
            <a:solidFill>
              <a:srgbClr val="919191"/>
            </a:solidFill>
            <a:miter/>
          </a:ln>
        </p:spPr>
        <p:txBody>
          <a:bodyPr lIns="92070" tIns="46035" rIns="92070" bIns="46035"/>
          <a:lstStyle/>
          <a:p>
            <a:pPr algn="l">
              <a:lnSpc>
                <a:spcPct val="100000"/>
              </a:lnSpc>
              <a:buSzPct val="25000"/>
            </a:pPr>
            <a:r>
              <a:rPr lang="fr-FR" sz="1800" b="1" dirty="0">
                <a:latin typeface="Courier New" panose="02070309020205020404"/>
                <a:ea typeface="Courier New" panose="02070309020205020404"/>
              </a:rPr>
              <a:t>prog : prog.o code1.o code2.o</a:t>
            </a:r>
            <a:endParaRPr dirty="0"/>
          </a:p>
          <a:p>
            <a:pPr algn="l">
              <a:lnSpc>
                <a:spcPct val="100000"/>
              </a:lnSpc>
              <a:buSzPct val="25000"/>
            </a:pPr>
            <a:r>
              <a:rPr lang="fr-FR" sz="1800" b="1" dirty="0">
                <a:latin typeface="Courier New" panose="02070309020205020404"/>
                <a:ea typeface="Courier New" panose="02070309020205020404"/>
              </a:rPr>
              <a:t>	gcc –o prog  prog.o code1.o code2.o</a:t>
            </a:r>
            <a:endParaRPr dirty="0"/>
          </a:p>
          <a:p>
            <a:pPr algn="l">
              <a:lnSpc>
                <a:spcPct val="100000"/>
              </a:lnSpc>
              <a:buSzPct val="25000"/>
            </a:pPr>
            <a:endParaRPr dirty="0"/>
          </a:p>
          <a:p>
            <a:pPr algn="l">
              <a:lnSpc>
                <a:spcPct val="100000"/>
              </a:lnSpc>
              <a:buSzPct val="25000"/>
            </a:pPr>
            <a:r>
              <a:rPr lang="fr-FR" sz="1800" b="1" dirty="0">
                <a:latin typeface="Courier New" panose="02070309020205020404"/>
                <a:ea typeface="Courier New" panose="02070309020205020404"/>
              </a:rPr>
              <a:t>prog.o : prog.c prog.h code1.h </a:t>
            </a:r>
            <a:endParaRPr sz="1800" dirty="0"/>
          </a:p>
          <a:p>
            <a:pPr lvl="2" algn="l">
              <a:buSzPct val="25000"/>
            </a:pPr>
            <a:r>
              <a:rPr lang="fr-FR" sz="1800" b="1" dirty="0">
                <a:latin typeface="Courier New" panose="02070309020205020404"/>
                <a:ea typeface="Courier New" panose="02070309020205020404"/>
              </a:rPr>
              <a:t>gcc -c prog.c –o prog.o</a:t>
            </a:r>
            <a:endParaRPr sz="1800" dirty="0"/>
          </a:p>
          <a:p>
            <a:pPr algn="l">
              <a:lnSpc>
                <a:spcPct val="100000"/>
              </a:lnSpc>
              <a:buSzPct val="25000"/>
            </a:pPr>
            <a:endParaRPr sz="1800" dirty="0"/>
          </a:p>
          <a:p>
            <a:pPr algn="l">
              <a:lnSpc>
                <a:spcPct val="100000"/>
              </a:lnSpc>
              <a:buSzPct val="25000"/>
            </a:pPr>
            <a:r>
              <a:rPr lang="fr-FR" sz="1800" b="1" dirty="0">
                <a:latin typeface="Courier New" panose="02070309020205020404"/>
                <a:ea typeface="Courier New" panose="02070309020205020404"/>
              </a:rPr>
              <a:t>code1.o : code1.c prog.h code1.h </a:t>
            </a:r>
            <a:endParaRPr sz="1800" dirty="0"/>
          </a:p>
          <a:p>
            <a:pPr lvl="2" algn="l">
              <a:buSzPct val="25000"/>
            </a:pPr>
            <a:r>
              <a:rPr lang="fr-FR" sz="1800" b="1" dirty="0">
                <a:latin typeface="Courier New" panose="02070309020205020404"/>
                <a:ea typeface="Courier New" panose="02070309020205020404"/>
              </a:rPr>
              <a:t>gcc -c code1.c –o code1.o</a:t>
            </a:r>
            <a:endParaRPr sz="1800" dirty="0"/>
          </a:p>
          <a:p>
            <a:pPr algn="l">
              <a:lnSpc>
                <a:spcPct val="100000"/>
              </a:lnSpc>
              <a:buSzPct val="25000"/>
            </a:pPr>
            <a:endParaRPr sz="1800" dirty="0"/>
          </a:p>
          <a:p>
            <a:pPr algn="l">
              <a:lnSpc>
                <a:spcPct val="100000"/>
              </a:lnSpc>
              <a:buSzPct val="25000"/>
            </a:pPr>
            <a:r>
              <a:rPr lang="fr-FR" sz="1800" b="1" dirty="0">
                <a:latin typeface="Courier New" panose="02070309020205020404"/>
                <a:ea typeface="Courier New" panose="02070309020205020404"/>
              </a:rPr>
              <a:t>code2.o : code2.c prog.h code1.h </a:t>
            </a:r>
            <a:endParaRPr sz="1800" dirty="0"/>
          </a:p>
          <a:p>
            <a:pPr marL="0" lvl="2" algn="l">
              <a:buSzPct val="25000"/>
            </a:pPr>
            <a:r>
              <a:rPr lang="fr-FR" sz="1800" b="1" dirty="0">
                <a:latin typeface="Courier New" panose="02070309020205020404"/>
                <a:ea typeface="Courier New" panose="02070309020205020404"/>
              </a:rPr>
              <a:t>	gcc –c code2.c –o code2.o</a:t>
            </a:r>
            <a:endParaRPr lang="fr-FR" sz="1800" b="1" dirty="0">
              <a:latin typeface="Courier New" panose="02070309020205020404"/>
              <a:ea typeface="Courier New" panose="02070309020205020404"/>
            </a:endParaRPr>
          </a:p>
          <a:p>
            <a:pPr marL="0" lvl="2" algn="l">
              <a:buSzPct val="25000"/>
            </a:pPr>
            <a:endParaRPr lang="fr-FR" b="1" dirty="0">
              <a:latin typeface="Courier New" panose="02070309020205020404"/>
              <a:ea typeface="Courier New" panose="02070309020205020404"/>
            </a:endParaRPr>
          </a:p>
          <a:p>
            <a:pPr algn="l">
              <a:lnSpc>
                <a:spcPct val="100000"/>
              </a:lnSpc>
              <a:buSzPct val="25000"/>
            </a:pPr>
            <a:r>
              <a:rPr lang="fr-FR" sz="1800" b="1" dirty="0">
                <a:solidFill>
                  <a:srgbClr val="FF0000"/>
                </a:solidFill>
                <a:latin typeface="Courier New" panose="02070309020205020404"/>
                <a:ea typeface="Courier New" panose="02070309020205020404"/>
              </a:rPr>
              <a:t>clean :</a:t>
            </a:r>
            <a:endParaRPr lang="fr-FR" dirty="0">
              <a:solidFill>
                <a:srgbClr val="FF0000"/>
              </a:solidFill>
            </a:endParaRPr>
          </a:p>
          <a:p>
            <a:pPr marL="0" lvl="2" algn="l">
              <a:buSzPct val="25000"/>
            </a:pPr>
            <a:r>
              <a:rPr lang="fr-FR" sz="1800" b="1" dirty="0">
                <a:solidFill>
                  <a:srgbClr val="FF0000"/>
                </a:solidFill>
                <a:latin typeface="Courier New" panose="02070309020205020404"/>
                <a:ea typeface="Courier New" panose="02070309020205020404"/>
              </a:rPr>
              <a:t>	rm *.o prog</a:t>
            </a:r>
            <a:endParaRPr lang="fr-FR" dirty="0">
              <a:solidFill>
                <a:srgbClr val="FF0000"/>
              </a:solidFill>
            </a:endParaRPr>
          </a:p>
          <a:p>
            <a:pPr marL="0" lvl="2" algn="l">
              <a:buSzPct val="25000"/>
            </a:pPr>
            <a:endParaRPr lang="fr-FR" dirty="0"/>
          </a:p>
          <a:p>
            <a:pPr algn="l">
              <a:lnSpc>
                <a:spcPct val="100000"/>
              </a:lnSpc>
              <a:buSzPct val="25000"/>
            </a:pPr>
            <a:endParaRPr dirty="0"/>
          </a:p>
        </p:txBody>
      </p:sp>
      <p:sp>
        <p:nvSpPr>
          <p:cNvPr id="540" name="TextShape 2"/>
          <p:cNvSpPr txBox="1"/>
          <p:nvPr/>
        </p:nvSpPr>
        <p:spPr>
          <a:xfrm>
            <a:off x="401844" y="1012486"/>
            <a:ext cx="8262053" cy="5258353"/>
          </a:xfrm>
          <a:prstGeom prst="rect">
            <a:avLst/>
          </a:prstGeom>
        </p:spPr>
        <p:txBody>
          <a:bodyPr lIns="92070" tIns="46035" rIns="92070" bIns="46035"/>
          <a:lstStyle/>
          <a:p>
            <a:pPr>
              <a:buSzPct val="25000"/>
              <a:buFont typeface="StarSymbol"/>
              <a:buChar char=""/>
            </a:pPr>
            <a:r>
              <a:rPr lang="fr-FR">
                <a:ea typeface="Arial" panose="020B0604020202020204"/>
              </a:rPr>
              <a:t> </a:t>
            </a:r>
            <a:endParaRPr lang="fr-FR">
              <a:ea typeface="Arial" panose="020B0604020202020204"/>
            </a:endParaRPr>
          </a:p>
        </p:txBody>
      </p:sp>
      <p:sp>
        <p:nvSpPr>
          <p:cNvPr id="557" name="CustomShape 19"/>
          <p:cNvSpPr/>
          <p:nvPr/>
        </p:nvSpPr>
        <p:spPr>
          <a:xfrm>
            <a:off x="467544" y="1731200"/>
            <a:ext cx="2003930" cy="371654"/>
          </a:xfrm>
          <a:prstGeom prst="rect">
            <a:avLst/>
          </a:prstGeom>
          <a:solidFill>
            <a:srgbClr val="FFFFFF"/>
          </a:solidFill>
          <a:ln w="6480">
            <a:solidFill>
              <a:srgbClr val="919191"/>
            </a:solidFill>
            <a:miter/>
          </a:ln>
        </p:spPr>
        <p:txBody>
          <a:bodyPr lIns="92070" tIns="46035" rIns="92070" bIns="46035"/>
          <a:lstStyle/>
          <a:p>
            <a:pPr algn="l">
              <a:lnSpc>
                <a:spcPct val="100000"/>
              </a:lnSpc>
              <a:buSzPct val="25000"/>
            </a:pPr>
            <a:r>
              <a:rPr lang="fr-FR" sz="1800" b="1" dirty="0">
                <a:latin typeface="Courier"/>
                <a:ea typeface="Arial" panose="020B0604020202020204"/>
                <a:cs typeface="Courier"/>
              </a:rPr>
              <a:t>makefile</a:t>
            </a:r>
            <a:endParaRPr dirty="0">
              <a:latin typeface="Courier"/>
              <a:cs typeface="Courier"/>
            </a:endParaRPr>
          </a:p>
        </p:txBody>
      </p:sp>
      <p:sp>
        <p:nvSpPr>
          <p:cNvPr id="28" name="Titre 1"/>
          <p:cNvSpPr>
            <a:spLocks noGrp="1"/>
          </p:cNvSpPr>
          <p:nvPr>
            <p:ph type="title"/>
          </p:nvPr>
        </p:nvSpPr>
        <p:spPr>
          <a:xfrm>
            <a:off x="304800" y="152400"/>
            <a:ext cx="7772400" cy="533400"/>
          </a:xfrm>
        </p:spPr>
        <p:txBody>
          <a:bodyPr/>
          <a:lstStyle/>
          <a:p>
            <a:r>
              <a:rPr lang="fr-FR" sz="2800" dirty="0">
                <a:latin typeface="Arial" panose="020B0604020202020204" pitchFamily="34" charset="0"/>
                <a:cs typeface="MS PGothic" panose="020B0600070205080204" charset="-128"/>
              </a:rPr>
              <a:t>Structure </a:t>
            </a:r>
            <a:r>
              <a:rPr lang="fr-FR" sz="2800" dirty="0" smtClean="0">
                <a:latin typeface="Arial" panose="020B0604020202020204" pitchFamily="34" charset="0"/>
                <a:cs typeface="MS PGothic" panose="020B0600070205080204" charset="-128"/>
              </a:rPr>
              <a:t>du </a:t>
            </a:r>
            <a:r>
              <a:rPr lang="fr-FR" sz="2800" dirty="0" smtClean="0">
                <a:latin typeface="Courier New" panose="02070309020205020404"/>
                <a:cs typeface="Courier New" panose="02070309020205020404"/>
              </a:rPr>
              <a:t>Makefile </a:t>
            </a:r>
            <a:r>
              <a:rPr lang="fr-FR" sz="2800" dirty="0" smtClean="0">
                <a:cs typeface="Courier New" panose="02070309020205020404"/>
              </a:rPr>
              <a:t>: Exemple</a:t>
            </a:r>
            <a:endParaRPr lang="fr-FR" sz="2800" dirty="0">
              <a:latin typeface="+mn-lt"/>
              <a:cs typeface="MS PGothic" panose="020B0600070205080204" charset="-128"/>
            </a:endParaRPr>
          </a:p>
        </p:txBody>
      </p:sp>
      <p:sp>
        <p:nvSpPr>
          <p:cNvPr id="41" name="Espace réservé du contenu 2"/>
          <p:cNvSpPr txBox="1"/>
          <p:nvPr/>
        </p:nvSpPr>
        <p:spPr bwMode="auto">
          <a:xfrm>
            <a:off x="287524" y="800708"/>
            <a:ext cx="9024116" cy="891479"/>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sz="2000">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r>
              <a:rPr lang="en-US" sz="2000" dirty="0" smtClean="0">
                <a:latin typeface="Arial" panose="020B0604020202020204" pitchFamily="34" charset="0"/>
                <a:cs typeface="MS PGothic" panose="020B0600070205080204" charset="-128"/>
              </a:rPr>
              <a:t>Ajouter un </a:t>
            </a:r>
            <a:r>
              <a:rPr lang="en-US" sz="2000" b="1" dirty="0">
                <a:latin typeface="Courier"/>
                <a:cs typeface="Courier"/>
              </a:rPr>
              <a:t>clean</a:t>
            </a:r>
            <a:r>
              <a:rPr lang="en-US" sz="2000" dirty="0">
                <a:latin typeface="Arial" panose="020B0604020202020204" pitchFamily="34" charset="0"/>
                <a:cs typeface="MS PGothic" panose="020B0600070205080204" charset="-128"/>
              </a:rPr>
              <a:t> </a:t>
            </a:r>
            <a:r>
              <a:rPr lang="en-US" sz="2000" dirty="0" smtClean="0">
                <a:latin typeface="Arial" panose="020B0604020202020204" pitchFamily="34" charset="0"/>
                <a:cs typeface="MS PGothic" panose="020B0600070205080204" charset="-128"/>
              </a:rPr>
              <a:t>target : suppression des fichiers objets, </a:t>
            </a:r>
            <a:r>
              <a:rPr lang="en-US" sz="2000" dirty="0">
                <a:latin typeface="Arial" panose="020B0604020202020204" pitchFamily="34" charset="0"/>
                <a:cs typeface="MS PGothic" panose="020B0600070205080204" charset="-128"/>
              </a:rPr>
              <a:t>é</a:t>
            </a:r>
            <a:r>
              <a:rPr lang="en-US" sz="2000" dirty="0" smtClean="0">
                <a:latin typeface="Arial" panose="020B0604020202020204" pitchFamily="34" charset="0"/>
                <a:cs typeface="MS PGothic" panose="020B0600070205080204" charset="-128"/>
              </a:rPr>
              <a:t>xecutables</a:t>
            </a:r>
            <a:endParaRPr lang="en-US" sz="2000" dirty="0">
              <a:latin typeface="Arial" panose="020B0604020202020204" pitchFamily="34" charset="0"/>
              <a:cs typeface="MS PGothic" panose="020B0600070205080204" charset="-128"/>
            </a:endParaRPr>
          </a:p>
          <a:p>
            <a:r>
              <a:rPr lang="en-US" dirty="0" smtClean="0">
                <a:latin typeface="Arial" panose="020B0604020202020204" pitchFamily="34" charset="0"/>
                <a:cs typeface="MS PGothic" panose="020B0600070205080204" charset="-128"/>
              </a:rPr>
              <a:t>Utiliser : </a:t>
            </a:r>
            <a:r>
              <a:rPr lang="en-US" b="1" dirty="0">
                <a:latin typeface="Courier"/>
                <a:cs typeface="Courier"/>
              </a:rPr>
              <a:t>make clean</a:t>
            </a:r>
            <a:endParaRPr lang="en-US" b="1" dirty="0">
              <a:latin typeface="Courier"/>
              <a:cs typeface="Courier"/>
            </a:endParaRPr>
          </a:p>
        </p:txBody>
      </p:sp>
      <p:sp>
        <p:nvSpPr>
          <p:cNvPr id="9"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marL="0" indent="0">
              <a:buFont typeface="Wingdings" panose="05000000000000000000" charset="0"/>
              <a:buNone/>
              <a:defRPr/>
            </a:pPr>
            <a:endParaRPr lang="fr-FR" dirty="0"/>
          </a:p>
          <a:p>
            <a:pPr>
              <a:defRPr/>
            </a:pPr>
            <a:endParaRPr lang="fr-FR" dirty="0"/>
          </a:p>
          <a:p>
            <a:pPr>
              <a:defRPr/>
            </a:pPr>
            <a:endParaRPr lang="fr-FR" dirty="0"/>
          </a:p>
        </p:txBody>
      </p:sp>
      <p:pic>
        <p:nvPicPr>
          <p:cNvPr id="58372" name="Image 5" descr="Capture d’écran 2014-08-25 à 12.00.08.pn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2008" y="656692"/>
            <a:ext cx="2771800" cy="1955300"/>
          </a:xfrm>
          <a:prstGeom prst="rect">
            <a:avLst/>
          </a:prstGeom>
          <a:noFill/>
          <a:ln w="9525">
            <a:solidFill>
              <a:schemeClr val="tx2"/>
            </a:solidFill>
            <a:miter lim="800000"/>
            <a:headEnd/>
            <a:tailEnd/>
          </a:ln>
        </p:spPr>
      </p:pic>
      <p:pic>
        <p:nvPicPr>
          <p:cNvPr id="58373" name="Image 6" descr="Capture d’écran 2014-08-25 à 12.00.20.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1513" y="4581128"/>
            <a:ext cx="2798299" cy="2276872"/>
          </a:xfrm>
          <a:prstGeom prst="rect">
            <a:avLst/>
          </a:prstGeom>
          <a:noFill/>
          <a:ln w="9525">
            <a:solidFill>
              <a:schemeClr val="tx2"/>
            </a:solidFill>
            <a:miter lim="800000"/>
            <a:headEnd/>
            <a:tailEnd/>
          </a:ln>
        </p:spPr>
      </p:pic>
      <p:pic>
        <p:nvPicPr>
          <p:cNvPr id="58374" name="Image 7" descr="Capture d’écran 2014-08-25 à 12.00.35.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648" y="2672916"/>
            <a:ext cx="2790160" cy="1836204"/>
          </a:xfrm>
          <a:prstGeom prst="rect">
            <a:avLst/>
          </a:prstGeom>
          <a:noFill/>
          <a:ln w="9525">
            <a:solidFill>
              <a:schemeClr val="tx2"/>
            </a:solidFill>
            <a:miter lim="800000"/>
            <a:headEnd/>
            <a:tailEnd/>
          </a:ln>
        </p:spPr>
      </p:pic>
      <p:sp>
        <p:nvSpPr>
          <p:cNvPr id="19" name="Titre 1"/>
          <p:cNvSpPr>
            <a:spLocks noGrp="1"/>
          </p:cNvSpPr>
          <p:nvPr>
            <p:ph type="title"/>
          </p:nvPr>
        </p:nvSpPr>
        <p:spPr>
          <a:xfrm>
            <a:off x="304800" y="152400"/>
            <a:ext cx="7772400" cy="533400"/>
          </a:xfrm>
        </p:spPr>
        <p:txBody>
          <a:bodyPr/>
          <a:lstStyle/>
          <a:p>
            <a:r>
              <a:rPr lang="fr-FR" sz="2800" dirty="0">
                <a:latin typeface="Arial" panose="020B0604020202020204" pitchFamily="34" charset="0"/>
                <a:ea typeface="MS PGothic" panose="020B0600070205080204" charset="-128"/>
                <a:cs typeface="MS PGothic" panose="020B0600070205080204" charset="-128"/>
              </a:rPr>
              <a:t>Structure </a:t>
            </a:r>
            <a:r>
              <a:rPr lang="fr-FR" sz="2800" dirty="0" smtClean="0">
                <a:latin typeface="Arial" panose="020B0604020202020204" pitchFamily="34" charset="0"/>
                <a:ea typeface="MS PGothic" panose="020B0600070205080204" charset="-128"/>
                <a:cs typeface="MS PGothic" panose="020B0600070205080204" charset="-128"/>
              </a:rPr>
              <a:t> du </a:t>
            </a:r>
            <a:r>
              <a:rPr lang="fr-FR" sz="2800" dirty="0">
                <a:latin typeface="Courier New" panose="02070309020205020404"/>
                <a:ea typeface="MS PGothic" panose="020B0600070205080204" charset="-128"/>
                <a:cs typeface="Courier New" panose="02070309020205020404"/>
              </a:rPr>
              <a:t>Makefile</a:t>
            </a:r>
            <a:r>
              <a:rPr lang="fr-FR" sz="2800" dirty="0">
                <a:latin typeface="+mn-lt"/>
                <a:cs typeface="Courier New" panose="02070309020205020404"/>
              </a:rPr>
              <a:t>: </a:t>
            </a:r>
            <a:r>
              <a:rPr lang="fr-FR" sz="2800" dirty="0" smtClean="0">
                <a:latin typeface="+mn-lt"/>
                <a:cs typeface="Courier New" panose="02070309020205020404"/>
              </a:rPr>
              <a:t>Exemple </a:t>
            </a:r>
            <a:r>
              <a:rPr lang="fr-FR" sz="2800" dirty="0">
                <a:latin typeface="+mn-lt"/>
                <a:cs typeface="Courier New" panose="02070309020205020404"/>
              </a:rPr>
              <a:t>2</a:t>
            </a:r>
            <a:endParaRPr lang="fr-FR" sz="2800" dirty="0">
              <a:latin typeface="+mn-lt"/>
              <a:cs typeface="MS PGothic" panose="020B0600070205080204" charset="-128"/>
            </a:endParaRPr>
          </a:p>
        </p:txBody>
      </p:sp>
      <p:sp>
        <p:nvSpPr>
          <p:cNvPr id="20"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10" name="CustomShape 20"/>
          <p:cNvSpPr/>
          <p:nvPr/>
        </p:nvSpPr>
        <p:spPr>
          <a:xfrm>
            <a:off x="3239853" y="908720"/>
            <a:ext cx="5508612" cy="5292588"/>
          </a:xfrm>
          <a:prstGeom prst="rect">
            <a:avLst/>
          </a:prstGeom>
          <a:solidFill>
            <a:srgbClr val="FFFFFF"/>
          </a:solidFill>
          <a:ln w="6480">
            <a:solidFill>
              <a:srgbClr val="919191"/>
            </a:solidFill>
            <a:miter/>
          </a:ln>
        </p:spPr>
        <p:txBody>
          <a:bodyPr lIns="92070" tIns="46035" rIns="92070" bIns="46035"/>
          <a:lstStyle/>
          <a:p>
            <a:pPr algn="l"/>
            <a:endParaRPr lang="en-US" b="1" dirty="0">
              <a:latin typeface="Courier New" panose="02070309020205020404"/>
              <a:cs typeface="Courier New" panose="02070309020205020404"/>
            </a:endParaRPr>
          </a:p>
          <a:p>
            <a:pPr algn="l"/>
            <a:r>
              <a:rPr lang="en-US" sz="1600" b="1" dirty="0">
                <a:latin typeface="Courier New" panose="02070309020205020404"/>
                <a:cs typeface="Courier New" panose="02070309020205020404"/>
              </a:rPr>
              <a:t>hello: </a:t>
            </a:r>
            <a:r>
              <a:rPr lang="en-US" sz="1600" b="1" dirty="0" err="1">
                <a:latin typeface="Courier New" panose="02070309020205020404"/>
                <a:cs typeface="Courier New" panose="02070309020205020404"/>
              </a:rPr>
              <a:t>hello.o</a:t>
            </a:r>
            <a:r>
              <a:rPr lang="en-US" sz="1600" b="1" dirty="0">
                <a:latin typeface="Courier New" panose="02070309020205020404"/>
                <a:cs typeface="Courier New" panose="02070309020205020404"/>
              </a:rPr>
              <a:t> </a:t>
            </a:r>
            <a:r>
              <a:rPr lang="en-US" sz="1600" b="1" dirty="0" err="1">
                <a:latin typeface="Courier New" panose="02070309020205020404"/>
                <a:cs typeface="Courier New" panose="02070309020205020404"/>
              </a:rPr>
              <a:t>main.o</a:t>
            </a:r>
            <a:endParaRPr lang="en-US" sz="1600" b="1" dirty="0">
              <a:latin typeface="Courier New" panose="02070309020205020404"/>
              <a:cs typeface="Courier New" panose="02070309020205020404"/>
            </a:endParaRPr>
          </a:p>
          <a:p>
            <a:pPr algn="l"/>
            <a:r>
              <a:rPr lang="en-US" sz="1600" b="1" dirty="0">
                <a:latin typeface="Courier New" panose="02070309020205020404"/>
                <a:cs typeface="Courier New" panose="02070309020205020404"/>
              </a:rPr>
              <a:t>	gcc –o hello </a:t>
            </a:r>
            <a:r>
              <a:rPr lang="en-US" sz="1600" b="1" dirty="0" err="1">
                <a:latin typeface="Courier New" panose="02070309020205020404"/>
                <a:cs typeface="Courier New" panose="02070309020205020404"/>
              </a:rPr>
              <a:t>hello.o</a:t>
            </a:r>
            <a:r>
              <a:rPr lang="en-US" sz="1600" b="1" dirty="0">
                <a:latin typeface="Courier New" panose="02070309020205020404"/>
                <a:cs typeface="Courier New" panose="02070309020205020404"/>
              </a:rPr>
              <a:t> </a:t>
            </a:r>
            <a:r>
              <a:rPr lang="en-US" sz="1600" b="1" dirty="0" err="1">
                <a:latin typeface="Courier New" panose="02070309020205020404"/>
                <a:cs typeface="Courier New" panose="02070309020205020404"/>
              </a:rPr>
              <a:t>main.o</a:t>
            </a:r>
            <a:endParaRPr lang="en-US" sz="1600" b="1" dirty="0">
              <a:latin typeface="Courier New" panose="02070309020205020404"/>
              <a:cs typeface="Courier New" panose="02070309020205020404"/>
            </a:endParaRPr>
          </a:p>
          <a:p>
            <a:pPr algn="l"/>
            <a:endParaRPr lang="en-US" b="1" dirty="0">
              <a:latin typeface="Courier New" panose="02070309020205020404"/>
              <a:cs typeface="Courier New" panose="02070309020205020404"/>
            </a:endParaRPr>
          </a:p>
          <a:p>
            <a:pPr algn="l"/>
            <a:r>
              <a:rPr lang="en-US" sz="1600" b="1" dirty="0" err="1">
                <a:latin typeface="Courier New" panose="02070309020205020404"/>
                <a:cs typeface="Courier New" panose="02070309020205020404"/>
              </a:rPr>
              <a:t>hello.o</a:t>
            </a:r>
            <a:r>
              <a:rPr lang="en-US" sz="1600" b="1" dirty="0">
                <a:latin typeface="Courier New" panose="02070309020205020404"/>
                <a:cs typeface="Courier New" panose="02070309020205020404"/>
              </a:rPr>
              <a:t>: </a:t>
            </a:r>
            <a:r>
              <a:rPr lang="en-US" sz="1800" b="1" dirty="0" err="1">
                <a:latin typeface="Courier New" panose="02070309020205020404"/>
                <a:cs typeface="Courier New" panose="02070309020205020404"/>
              </a:rPr>
              <a:t>hello.c</a:t>
            </a:r>
            <a:r>
              <a:rPr lang="en-US" sz="1800" b="1" dirty="0">
                <a:latin typeface="Courier New" panose="02070309020205020404"/>
                <a:cs typeface="Courier New" panose="02070309020205020404"/>
              </a:rPr>
              <a:t> </a:t>
            </a:r>
            <a:r>
              <a:rPr lang="en-US" sz="1800" b="1" dirty="0" err="1">
                <a:latin typeface="Courier New" panose="02070309020205020404"/>
                <a:cs typeface="Courier New" panose="02070309020205020404"/>
              </a:rPr>
              <a:t>hello.h</a:t>
            </a:r>
            <a:endParaRPr lang="en-US" sz="1800" b="1" dirty="0">
              <a:latin typeface="Courier New" panose="02070309020205020404"/>
              <a:cs typeface="Courier New" panose="02070309020205020404"/>
            </a:endParaRPr>
          </a:p>
          <a:p>
            <a:pPr algn="l"/>
            <a:r>
              <a:rPr lang="en-US" sz="1600" b="1" dirty="0">
                <a:latin typeface="Courier New" panose="02070309020205020404"/>
                <a:cs typeface="Courier New" panose="02070309020205020404"/>
              </a:rPr>
              <a:t>	gcc –c </a:t>
            </a:r>
            <a:r>
              <a:rPr lang="en-US" sz="1600" b="1" dirty="0" err="1">
                <a:latin typeface="Courier New" panose="02070309020205020404"/>
                <a:cs typeface="Courier New" panose="02070309020205020404"/>
              </a:rPr>
              <a:t>hello.c</a:t>
            </a:r>
            <a:r>
              <a:rPr lang="en-US" sz="1600" b="1" dirty="0">
                <a:latin typeface="Courier New" panose="02070309020205020404"/>
                <a:cs typeface="Courier New" panose="02070309020205020404"/>
              </a:rPr>
              <a:t> –o </a:t>
            </a:r>
            <a:r>
              <a:rPr lang="en-US" sz="1600" b="1" dirty="0" err="1">
                <a:latin typeface="Courier New" panose="02070309020205020404"/>
                <a:cs typeface="Courier New" panose="02070309020205020404"/>
              </a:rPr>
              <a:t>hello.o</a:t>
            </a:r>
            <a:endParaRPr lang="en-US" sz="1600" b="1" dirty="0">
              <a:latin typeface="Courier New" panose="02070309020205020404"/>
              <a:cs typeface="Courier New" panose="02070309020205020404"/>
            </a:endParaRPr>
          </a:p>
          <a:p>
            <a:pPr algn="l"/>
            <a:endParaRPr lang="en-US" sz="1600" b="1" dirty="0">
              <a:latin typeface="Courier New" panose="02070309020205020404"/>
              <a:cs typeface="Courier New" panose="02070309020205020404"/>
            </a:endParaRPr>
          </a:p>
          <a:p>
            <a:pPr algn="l"/>
            <a:r>
              <a:rPr lang="en-US" sz="1600" b="1" dirty="0" err="1">
                <a:latin typeface="Courier New" panose="02070309020205020404"/>
                <a:cs typeface="Courier New" panose="02070309020205020404"/>
              </a:rPr>
              <a:t>main.o</a:t>
            </a:r>
            <a:r>
              <a:rPr lang="en-US" sz="1600" b="1" dirty="0">
                <a:latin typeface="Courier New" panose="02070309020205020404"/>
                <a:cs typeface="Courier New" panose="02070309020205020404"/>
              </a:rPr>
              <a:t>: </a:t>
            </a:r>
            <a:r>
              <a:rPr lang="en-US" sz="1600" b="1" dirty="0" err="1">
                <a:latin typeface="Courier New" panose="02070309020205020404"/>
                <a:cs typeface="Courier New" panose="02070309020205020404"/>
              </a:rPr>
              <a:t>main.c</a:t>
            </a:r>
            <a:r>
              <a:rPr lang="en-US" sz="1600" b="1" dirty="0">
                <a:latin typeface="Courier New" panose="02070309020205020404"/>
                <a:cs typeface="Courier New" panose="02070309020205020404"/>
              </a:rPr>
              <a:t> </a:t>
            </a:r>
            <a:r>
              <a:rPr lang="en-US" sz="1600" b="1" dirty="0" err="1">
                <a:latin typeface="Courier New" panose="02070309020205020404"/>
                <a:cs typeface="Courier New" panose="02070309020205020404"/>
              </a:rPr>
              <a:t>hello.h</a:t>
            </a:r>
            <a:endParaRPr lang="en-US" sz="1600" b="1" dirty="0">
              <a:latin typeface="Courier New" panose="02070309020205020404"/>
              <a:cs typeface="Courier New" panose="02070309020205020404"/>
            </a:endParaRPr>
          </a:p>
          <a:p>
            <a:pPr algn="l"/>
            <a:r>
              <a:rPr lang="en-US" sz="1600" b="1" dirty="0">
                <a:latin typeface="Courier New" panose="02070309020205020404"/>
                <a:cs typeface="Courier New" panose="02070309020205020404"/>
              </a:rPr>
              <a:t>        gcc –c </a:t>
            </a:r>
            <a:r>
              <a:rPr lang="en-US" sz="1600" b="1" dirty="0" err="1">
                <a:latin typeface="Courier New" panose="02070309020205020404"/>
                <a:cs typeface="Courier New" panose="02070309020205020404"/>
              </a:rPr>
              <a:t>main.c</a:t>
            </a:r>
            <a:r>
              <a:rPr lang="en-US" sz="1600" b="1" dirty="0">
                <a:latin typeface="Courier New" panose="02070309020205020404"/>
                <a:cs typeface="Courier New" panose="02070309020205020404"/>
              </a:rPr>
              <a:t> –o </a:t>
            </a:r>
            <a:r>
              <a:rPr lang="en-US" sz="1600" b="1" dirty="0" err="1">
                <a:latin typeface="Courier New" panose="02070309020205020404"/>
                <a:cs typeface="Courier New" panose="02070309020205020404"/>
              </a:rPr>
              <a:t>main.o</a:t>
            </a:r>
            <a:endParaRPr lang="en-US" sz="1600" b="1" dirty="0">
              <a:latin typeface="Courier New" panose="02070309020205020404"/>
              <a:cs typeface="Courier New" panose="02070309020205020404"/>
            </a:endParaRPr>
          </a:p>
          <a:p>
            <a:pPr algn="l"/>
            <a:endParaRPr lang="en-US" b="1" dirty="0">
              <a:latin typeface="Courier New" panose="02070309020205020404"/>
              <a:cs typeface="Courier New" panose="02070309020205020404"/>
            </a:endParaRPr>
          </a:p>
          <a:p>
            <a:pPr algn="l"/>
            <a:r>
              <a:rPr lang="en-US" sz="1600" b="1" dirty="0">
                <a:latin typeface="Courier New" panose="02070309020205020404"/>
                <a:cs typeface="Courier New" panose="02070309020205020404"/>
              </a:rPr>
              <a:t>clean:</a:t>
            </a:r>
            <a:endParaRPr lang="en-US" sz="1600" b="1" dirty="0">
              <a:latin typeface="Courier New" panose="02070309020205020404"/>
              <a:cs typeface="Courier New" panose="02070309020205020404"/>
            </a:endParaRPr>
          </a:p>
          <a:p>
            <a:pPr algn="l"/>
            <a:r>
              <a:rPr lang="en-US" sz="1600" b="1" dirty="0">
                <a:latin typeface="Courier New" panose="02070309020205020404"/>
                <a:cs typeface="Courier New" panose="02070309020205020404"/>
              </a:rPr>
              <a:t>        </a:t>
            </a:r>
            <a:r>
              <a:rPr lang="en-US" sz="1600" b="1" dirty="0" err="1">
                <a:latin typeface="Courier New" panose="02070309020205020404"/>
                <a:cs typeface="Courier New" panose="02070309020205020404"/>
              </a:rPr>
              <a:t>rm</a:t>
            </a:r>
            <a:r>
              <a:rPr lang="en-US" sz="1600" b="1" dirty="0">
                <a:latin typeface="Courier New" panose="02070309020205020404"/>
                <a:cs typeface="Courier New" panose="02070309020205020404"/>
              </a:rPr>
              <a:t> *.o</a:t>
            </a:r>
            <a:endParaRPr lang="fr-FR" sz="1600" b="1" dirty="0">
              <a:latin typeface="Courier New" panose="02070309020205020404"/>
              <a:ea typeface="Courier New" panose="02070309020205020404"/>
              <a:cs typeface="Courier New" panose="02070309020205020404"/>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ustomShape 20"/>
          <p:cNvSpPr/>
          <p:nvPr/>
        </p:nvSpPr>
        <p:spPr>
          <a:xfrm>
            <a:off x="3239853" y="908720"/>
            <a:ext cx="5508612" cy="5292588"/>
          </a:xfrm>
          <a:prstGeom prst="rect">
            <a:avLst/>
          </a:prstGeom>
          <a:solidFill>
            <a:srgbClr val="FFFFFF"/>
          </a:solidFill>
          <a:ln w="6480">
            <a:solidFill>
              <a:srgbClr val="919191"/>
            </a:solidFill>
            <a:miter/>
          </a:ln>
        </p:spPr>
        <p:txBody>
          <a:bodyPr lIns="92070" tIns="46035" rIns="92070" bIns="46035"/>
          <a:lstStyle/>
          <a:p>
            <a:pPr algn="l"/>
            <a:r>
              <a:rPr lang="en-US" sz="1600" b="1" dirty="0">
                <a:latin typeface="Courier New" panose="02070309020205020404"/>
                <a:cs typeface="Courier New" panose="02070309020205020404"/>
              </a:rPr>
              <a:t>CC=</a:t>
            </a:r>
            <a:r>
              <a:rPr lang="en-US" sz="1600" b="1" dirty="0" err="1">
                <a:latin typeface="Courier New" panose="02070309020205020404"/>
                <a:cs typeface="Courier New" panose="02070309020205020404"/>
              </a:rPr>
              <a:t>gcc</a:t>
            </a:r>
            <a:endParaRPr lang="en-US" sz="1600" b="1" dirty="0">
              <a:latin typeface="Courier New" panose="02070309020205020404"/>
              <a:cs typeface="Courier New" panose="02070309020205020404"/>
            </a:endParaRPr>
          </a:p>
          <a:p>
            <a:pPr algn="l"/>
            <a:r>
              <a:rPr lang="en-US" sz="1600" b="1" dirty="0">
                <a:latin typeface="Courier New" panose="02070309020205020404"/>
                <a:cs typeface="Courier New" panose="02070309020205020404"/>
              </a:rPr>
              <a:t>CFLAGS=-g -Wall -I.</a:t>
            </a:r>
            <a:endParaRPr lang="en-US" sz="1600" b="1" dirty="0">
              <a:latin typeface="Courier New" panose="02070309020205020404"/>
              <a:cs typeface="Courier New" panose="02070309020205020404"/>
            </a:endParaRPr>
          </a:p>
          <a:p>
            <a:pPr algn="l"/>
            <a:r>
              <a:rPr lang="en-US" sz="1600" b="1" dirty="0">
                <a:latin typeface="Courier New" panose="02070309020205020404"/>
                <a:cs typeface="Courier New" panose="02070309020205020404"/>
              </a:rPr>
              <a:t>DEP=</a:t>
            </a:r>
            <a:r>
              <a:rPr lang="en-US" sz="1600" b="1" dirty="0" err="1">
                <a:latin typeface="Courier New" panose="02070309020205020404"/>
                <a:cs typeface="Courier New" panose="02070309020205020404"/>
              </a:rPr>
              <a:t>hello.h</a:t>
            </a:r>
            <a:endParaRPr lang="en-US" sz="1600" b="1" dirty="0">
              <a:latin typeface="Courier New" panose="02070309020205020404"/>
              <a:cs typeface="Courier New" panose="02070309020205020404"/>
            </a:endParaRPr>
          </a:p>
          <a:p>
            <a:pPr algn="l"/>
            <a:r>
              <a:rPr lang="en-US" sz="1600" b="1" dirty="0">
                <a:latin typeface="Courier New" panose="02070309020205020404"/>
                <a:cs typeface="Courier New" panose="02070309020205020404"/>
              </a:rPr>
              <a:t>OBJ=</a:t>
            </a:r>
            <a:r>
              <a:rPr lang="en-US" sz="1600" b="1" dirty="0" err="1">
                <a:latin typeface="Courier New" panose="02070309020205020404"/>
                <a:cs typeface="Courier New" panose="02070309020205020404"/>
              </a:rPr>
              <a:t>hello.o</a:t>
            </a:r>
            <a:r>
              <a:rPr lang="en-US" sz="1600" b="1" dirty="0">
                <a:latin typeface="Courier New" panose="02070309020205020404"/>
                <a:cs typeface="Courier New" panose="02070309020205020404"/>
              </a:rPr>
              <a:t> </a:t>
            </a:r>
            <a:r>
              <a:rPr lang="en-US" sz="1600" b="1" dirty="0" err="1">
                <a:latin typeface="Courier New" panose="02070309020205020404"/>
                <a:cs typeface="Courier New" panose="02070309020205020404"/>
              </a:rPr>
              <a:t>main.o</a:t>
            </a:r>
            <a:endParaRPr lang="en-US" sz="1600" b="1" dirty="0">
              <a:latin typeface="Courier New" panose="02070309020205020404"/>
              <a:cs typeface="Courier New" panose="02070309020205020404"/>
            </a:endParaRPr>
          </a:p>
          <a:p>
            <a:pPr algn="l"/>
            <a:r>
              <a:rPr lang="en-US" sz="1600" b="1" dirty="0">
                <a:latin typeface="Courier New" panose="02070309020205020404"/>
                <a:cs typeface="Courier New" panose="02070309020205020404"/>
              </a:rPr>
              <a:t>EXEC=hello</a:t>
            </a:r>
            <a:endParaRPr lang="en-US" sz="1600" b="1" dirty="0">
              <a:latin typeface="Courier New" panose="02070309020205020404"/>
              <a:cs typeface="Courier New" panose="02070309020205020404"/>
            </a:endParaRPr>
          </a:p>
          <a:p>
            <a:pPr algn="l"/>
            <a:endParaRPr lang="en-US" b="1" dirty="0">
              <a:latin typeface="Courier New" panose="02070309020205020404"/>
              <a:cs typeface="Courier New" panose="02070309020205020404"/>
            </a:endParaRPr>
          </a:p>
          <a:p>
            <a:pPr algn="l"/>
            <a:r>
              <a:rPr lang="en-US" sz="1600" b="1" dirty="0">
                <a:latin typeface="Courier New" panose="02070309020205020404"/>
                <a:cs typeface="Courier New" panose="02070309020205020404"/>
              </a:rPr>
              <a:t>all: $(EXEC)</a:t>
            </a:r>
            <a:endParaRPr lang="en-US" sz="1600" b="1" dirty="0">
              <a:latin typeface="Courier New" panose="02070309020205020404"/>
              <a:cs typeface="Courier New" panose="02070309020205020404"/>
            </a:endParaRPr>
          </a:p>
          <a:p>
            <a:pPr algn="l"/>
            <a:endParaRPr lang="en-US" b="1" dirty="0">
              <a:latin typeface="Courier New" panose="02070309020205020404"/>
              <a:cs typeface="Courier New" panose="02070309020205020404"/>
            </a:endParaRPr>
          </a:p>
          <a:p>
            <a:pPr algn="l"/>
            <a:r>
              <a:rPr lang="en-US" sz="1600" b="1" dirty="0">
                <a:latin typeface="Courier New" panose="02070309020205020404"/>
                <a:cs typeface="Courier New" panose="02070309020205020404"/>
              </a:rPr>
              <a:t>$(EXEC): $(OBJ)</a:t>
            </a:r>
            <a:endParaRPr lang="en-US" sz="1600" b="1" dirty="0">
              <a:latin typeface="Courier New" panose="02070309020205020404"/>
              <a:cs typeface="Courier New" panose="02070309020205020404"/>
            </a:endParaRPr>
          </a:p>
          <a:p>
            <a:pPr algn="l"/>
            <a:r>
              <a:rPr lang="en-US" sz="1600" b="1" dirty="0">
                <a:latin typeface="Courier New" panose="02070309020205020404"/>
                <a:cs typeface="Courier New" panose="02070309020205020404"/>
              </a:rPr>
              <a:t>        $(CC) -o $@ $^</a:t>
            </a:r>
            <a:endParaRPr lang="en-US" sz="1600" b="1" dirty="0">
              <a:latin typeface="Courier New" panose="02070309020205020404"/>
              <a:cs typeface="Courier New" panose="02070309020205020404"/>
            </a:endParaRPr>
          </a:p>
          <a:p>
            <a:pPr algn="l"/>
            <a:endParaRPr lang="en-US" b="1" dirty="0">
              <a:latin typeface="Courier New" panose="02070309020205020404"/>
              <a:cs typeface="Courier New" panose="02070309020205020404"/>
            </a:endParaRPr>
          </a:p>
          <a:p>
            <a:pPr algn="l"/>
            <a:r>
              <a:rPr lang="en-US" sz="1600" b="1" dirty="0">
                <a:latin typeface="Courier New" panose="02070309020205020404"/>
                <a:cs typeface="Courier New" panose="02070309020205020404"/>
              </a:rPr>
              <a:t>%.o: %.c $(DEP)</a:t>
            </a:r>
            <a:endParaRPr lang="en-US" sz="1600" b="1" dirty="0">
              <a:latin typeface="Courier New" panose="02070309020205020404"/>
              <a:cs typeface="Courier New" panose="02070309020205020404"/>
            </a:endParaRPr>
          </a:p>
          <a:p>
            <a:pPr algn="l"/>
            <a:r>
              <a:rPr lang="en-US" sz="1600" b="1" dirty="0">
                <a:latin typeface="Courier New" panose="02070309020205020404"/>
                <a:cs typeface="Courier New" panose="02070309020205020404"/>
              </a:rPr>
              <a:t>        $(CC) -c $(CFLAGS) $&lt; -o $@</a:t>
            </a:r>
            <a:endParaRPr lang="en-US" sz="1600" b="1" dirty="0">
              <a:latin typeface="Courier New" panose="02070309020205020404"/>
              <a:cs typeface="Courier New" panose="02070309020205020404"/>
            </a:endParaRPr>
          </a:p>
          <a:p>
            <a:pPr algn="l"/>
            <a:endParaRPr lang="en-US" b="1" dirty="0">
              <a:latin typeface="Courier New" panose="02070309020205020404"/>
              <a:cs typeface="Courier New" panose="02070309020205020404"/>
            </a:endParaRPr>
          </a:p>
          <a:p>
            <a:pPr algn="l"/>
            <a:r>
              <a:rPr lang="en-US" sz="1600" b="1" dirty="0">
                <a:latin typeface="Courier New" panose="02070309020205020404"/>
                <a:cs typeface="Courier New" panose="02070309020205020404"/>
              </a:rPr>
              <a:t>.PHONY: clean </a:t>
            </a:r>
            <a:r>
              <a:rPr lang="en-US" sz="1600" b="1" dirty="0" err="1">
                <a:latin typeface="Courier New" panose="02070309020205020404"/>
                <a:cs typeface="Courier New" panose="02070309020205020404"/>
              </a:rPr>
              <a:t>mrproper</a:t>
            </a:r>
            <a:endParaRPr lang="en-US" sz="1600" b="1" dirty="0">
              <a:latin typeface="Courier New" panose="02070309020205020404"/>
              <a:cs typeface="Courier New" panose="02070309020205020404"/>
            </a:endParaRPr>
          </a:p>
          <a:p>
            <a:pPr algn="l"/>
            <a:r>
              <a:rPr lang="en-US" sz="1600" b="1" dirty="0">
                <a:latin typeface="Courier New" panose="02070309020205020404"/>
                <a:cs typeface="Courier New" panose="02070309020205020404"/>
              </a:rPr>
              <a:t>clean:</a:t>
            </a:r>
            <a:endParaRPr lang="en-US" sz="1600" b="1" dirty="0">
              <a:latin typeface="Courier New" panose="02070309020205020404"/>
              <a:cs typeface="Courier New" panose="02070309020205020404"/>
            </a:endParaRPr>
          </a:p>
          <a:p>
            <a:pPr algn="l"/>
            <a:r>
              <a:rPr lang="en-US" sz="1600" b="1" dirty="0">
                <a:latin typeface="Courier New" panose="02070309020205020404"/>
                <a:cs typeface="Courier New" panose="02070309020205020404"/>
              </a:rPr>
              <a:t>        </a:t>
            </a:r>
            <a:r>
              <a:rPr lang="en-US" sz="1600" b="1" dirty="0" err="1">
                <a:latin typeface="Courier New" panose="02070309020205020404"/>
                <a:cs typeface="Courier New" panose="02070309020205020404"/>
              </a:rPr>
              <a:t>rm</a:t>
            </a:r>
            <a:r>
              <a:rPr lang="en-US" sz="1600" b="1" dirty="0">
                <a:latin typeface="Courier New" panose="02070309020205020404"/>
                <a:cs typeface="Courier New" panose="02070309020205020404"/>
              </a:rPr>
              <a:t> *.o</a:t>
            </a:r>
            <a:endParaRPr lang="en-US" sz="1600" b="1" dirty="0">
              <a:latin typeface="Courier New" panose="02070309020205020404"/>
              <a:cs typeface="Courier New" panose="02070309020205020404"/>
            </a:endParaRPr>
          </a:p>
          <a:p>
            <a:pPr algn="l"/>
            <a:endParaRPr lang="en-US" b="1" dirty="0">
              <a:latin typeface="Courier New" panose="02070309020205020404"/>
              <a:cs typeface="Courier New" panose="02070309020205020404"/>
            </a:endParaRPr>
          </a:p>
          <a:p>
            <a:pPr algn="l"/>
            <a:r>
              <a:rPr lang="en-US" sz="1600" b="1" dirty="0" err="1">
                <a:latin typeface="Courier New" panose="02070309020205020404"/>
                <a:cs typeface="Courier New" panose="02070309020205020404"/>
              </a:rPr>
              <a:t>mrproper</a:t>
            </a:r>
            <a:r>
              <a:rPr lang="en-US" sz="1600" b="1" dirty="0">
                <a:latin typeface="Courier New" panose="02070309020205020404"/>
                <a:cs typeface="Courier New" panose="02070309020205020404"/>
              </a:rPr>
              <a:t>: clean</a:t>
            </a:r>
            <a:endParaRPr lang="en-US" sz="1600" b="1" dirty="0">
              <a:latin typeface="Courier New" panose="02070309020205020404"/>
              <a:cs typeface="Courier New" panose="02070309020205020404"/>
            </a:endParaRPr>
          </a:p>
          <a:p>
            <a:pPr algn="l"/>
            <a:r>
              <a:rPr lang="en-US" sz="1600" b="1" dirty="0">
                <a:latin typeface="Courier New" panose="02070309020205020404"/>
                <a:cs typeface="Courier New" panose="02070309020205020404"/>
              </a:rPr>
              <a:t>        </a:t>
            </a:r>
            <a:r>
              <a:rPr lang="en-US" sz="1600" b="1" dirty="0" err="1">
                <a:latin typeface="Courier New" panose="02070309020205020404"/>
                <a:cs typeface="Courier New" panose="02070309020205020404"/>
              </a:rPr>
              <a:t>rm</a:t>
            </a:r>
            <a:r>
              <a:rPr lang="en-US" sz="1600" b="1" dirty="0">
                <a:latin typeface="Courier New" panose="02070309020205020404"/>
                <a:cs typeface="Courier New" panose="02070309020205020404"/>
              </a:rPr>
              <a:t> $(EXEC)</a:t>
            </a:r>
            <a:endParaRPr lang="fr-FR" sz="1600" b="1" dirty="0">
              <a:latin typeface="Courier New" panose="02070309020205020404"/>
              <a:ea typeface="Courier New" panose="02070309020205020404"/>
              <a:cs typeface="Courier New" panose="02070309020205020404"/>
            </a:endParaRPr>
          </a:p>
        </p:txBody>
      </p:sp>
      <p:sp>
        <p:nvSpPr>
          <p:cNvPr id="20"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pic>
        <p:nvPicPr>
          <p:cNvPr id="58372" name="Image 5" descr="Capture d’écran 2014-08-25 à 12.00.08.pn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2008" y="656692"/>
            <a:ext cx="2771800" cy="1955300"/>
          </a:xfrm>
          <a:prstGeom prst="rect">
            <a:avLst/>
          </a:prstGeom>
          <a:noFill/>
          <a:ln w="9525">
            <a:solidFill>
              <a:schemeClr val="tx2"/>
            </a:solidFill>
            <a:miter lim="800000"/>
            <a:headEnd/>
            <a:tailEnd/>
          </a:ln>
        </p:spPr>
      </p:pic>
      <p:pic>
        <p:nvPicPr>
          <p:cNvPr id="58373" name="Image 6" descr="Capture d’écran 2014-08-25 à 12.00.20.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1513" y="4581128"/>
            <a:ext cx="2798299" cy="2276872"/>
          </a:xfrm>
          <a:prstGeom prst="rect">
            <a:avLst/>
          </a:prstGeom>
          <a:noFill/>
          <a:ln w="9525">
            <a:solidFill>
              <a:schemeClr val="tx2"/>
            </a:solidFill>
            <a:miter lim="800000"/>
            <a:headEnd/>
            <a:tailEnd/>
          </a:ln>
        </p:spPr>
      </p:pic>
      <p:pic>
        <p:nvPicPr>
          <p:cNvPr id="58374" name="Image 7" descr="Capture d’écran 2014-08-25 à 12.00.35.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648" y="2672916"/>
            <a:ext cx="2790160" cy="1836204"/>
          </a:xfrm>
          <a:prstGeom prst="rect">
            <a:avLst/>
          </a:prstGeom>
          <a:noFill/>
          <a:ln w="9525">
            <a:solidFill>
              <a:schemeClr val="tx2"/>
            </a:solidFill>
            <a:miter lim="800000"/>
            <a:headEnd/>
            <a:tailEnd/>
          </a:ln>
        </p:spPr>
      </p:pic>
      <p:sp>
        <p:nvSpPr>
          <p:cNvPr id="2" name="Rectangle 1"/>
          <p:cNvSpPr/>
          <p:nvPr/>
        </p:nvSpPr>
        <p:spPr bwMode="auto">
          <a:xfrm>
            <a:off x="3239852" y="908720"/>
            <a:ext cx="2412268" cy="1512168"/>
          </a:xfrm>
          <a:prstGeom prst="rect">
            <a:avLst/>
          </a:prstGeom>
          <a:noFill/>
          <a:ln w="38100" cap="flat" cmpd="sng" algn="ctr">
            <a:solidFill>
              <a:srgbClr val="A70524"/>
            </a:solidFill>
            <a:prstDash val="solid"/>
            <a:round/>
            <a:headEnd type="none" w="lg" len="lg"/>
            <a:tailEnd type="none" w="med" len="med"/>
          </a:ln>
          <a:effectLst/>
        </p:spPr>
        <p:txBody>
          <a:bodyPr vert="horz" wrap="none" lIns="92075" tIns="46038" rIns="92075" bIns="46038" numCol="1" rtlCol="0" anchor="ctr" anchorCtr="0" compatLnSpc="1">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13" name="Rectangle 12"/>
          <p:cNvSpPr/>
          <p:nvPr/>
        </p:nvSpPr>
        <p:spPr bwMode="auto">
          <a:xfrm>
            <a:off x="3239852" y="2960948"/>
            <a:ext cx="972108" cy="360040"/>
          </a:xfrm>
          <a:prstGeom prst="rect">
            <a:avLst/>
          </a:prstGeom>
          <a:noFill/>
          <a:ln w="38100" cap="flat" cmpd="sng" algn="ctr">
            <a:solidFill>
              <a:srgbClr val="A70524"/>
            </a:solidFill>
            <a:prstDash val="solid"/>
            <a:round/>
            <a:headEnd type="none" w="lg" len="lg"/>
            <a:tailEnd type="none" w="med" len="med"/>
          </a:ln>
          <a:effectLst/>
        </p:spPr>
        <p:txBody>
          <a:bodyPr vert="horz" wrap="none" lIns="92075" tIns="46038" rIns="92075" bIns="46038" numCol="1" rtlCol="0" anchor="ctr" anchorCtr="0" compatLnSpc="1">
            <a:normAutofit fontScale="92500" lnSpcReduction="1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16" name="Rectangle 15"/>
          <p:cNvSpPr/>
          <p:nvPr/>
        </p:nvSpPr>
        <p:spPr bwMode="auto">
          <a:xfrm>
            <a:off x="5364088" y="3969060"/>
            <a:ext cx="1188132" cy="360040"/>
          </a:xfrm>
          <a:prstGeom prst="rect">
            <a:avLst/>
          </a:prstGeom>
          <a:noFill/>
          <a:ln w="38100" cap="flat" cmpd="sng" algn="ctr">
            <a:solidFill>
              <a:srgbClr val="A70524"/>
            </a:solidFill>
            <a:prstDash val="solid"/>
            <a:round/>
            <a:headEnd type="none" w="lg" len="lg"/>
            <a:tailEnd type="none" w="med" len="med"/>
          </a:ln>
          <a:effectLst/>
        </p:spPr>
        <p:txBody>
          <a:bodyPr vert="horz" wrap="none" lIns="92075" tIns="46038" rIns="92075" bIns="46038" numCol="1" rtlCol="0" anchor="ctr" anchorCtr="0" compatLnSpc="1">
            <a:normAutofit fontScale="92500" lnSpcReduction="1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17" name="Rectangle 16"/>
          <p:cNvSpPr/>
          <p:nvPr/>
        </p:nvSpPr>
        <p:spPr bwMode="auto">
          <a:xfrm>
            <a:off x="4355976" y="2960948"/>
            <a:ext cx="972108" cy="324036"/>
          </a:xfrm>
          <a:prstGeom prst="rect">
            <a:avLst/>
          </a:prstGeom>
          <a:noFill/>
          <a:ln w="38100" cap="flat" cmpd="sng" algn="ctr">
            <a:solidFill>
              <a:srgbClr val="A70524"/>
            </a:solidFill>
            <a:prstDash val="solid"/>
            <a:round/>
            <a:headEnd type="none" w="lg" len="lg"/>
            <a:tailEnd type="none" w="med" len="med"/>
          </a:ln>
          <a:effectLst/>
        </p:spPr>
        <p:txBody>
          <a:bodyPr vert="horz" wrap="none" lIns="92075" tIns="46038" rIns="92075" bIns="46038" numCol="1" rtlCol="0" anchor="ctr" anchorCtr="0" compatLnSpc="1">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19" name="Titre 1"/>
          <p:cNvSpPr>
            <a:spLocks noGrp="1"/>
          </p:cNvSpPr>
          <p:nvPr>
            <p:ph type="title"/>
          </p:nvPr>
        </p:nvSpPr>
        <p:spPr>
          <a:xfrm>
            <a:off x="304800" y="152400"/>
            <a:ext cx="7772400" cy="533400"/>
          </a:xfrm>
        </p:spPr>
        <p:txBody>
          <a:bodyPr/>
          <a:lstStyle/>
          <a:p>
            <a:r>
              <a:rPr lang="fr-FR" sz="2800" dirty="0">
                <a:latin typeface="Arial" panose="020B0604020202020204" pitchFamily="34" charset="0"/>
                <a:ea typeface="MS PGothic" panose="020B0600070205080204" charset="-128"/>
                <a:cs typeface="MS PGothic" panose="020B0600070205080204" charset="-128"/>
              </a:rPr>
              <a:t>Structure </a:t>
            </a:r>
            <a:r>
              <a:rPr lang="fr-FR" sz="2800" dirty="0" smtClean="0">
                <a:latin typeface="Arial" panose="020B0604020202020204" pitchFamily="34" charset="0"/>
                <a:cs typeface="MS PGothic" panose="020B0600070205080204" charset="-128"/>
              </a:rPr>
              <a:t>du</a:t>
            </a:r>
            <a:r>
              <a:rPr lang="fr-FR" sz="2800" dirty="0" smtClean="0">
                <a:latin typeface="Arial" panose="020B0604020202020204" pitchFamily="34" charset="0"/>
                <a:ea typeface="MS PGothic" panose="020B0600070205080204" charset="-128"/>
                <a:cs typeface="MS PGothic" panose="020B0600070205080204" charset="-128"/>
              </a:rPr>
              <a:t> </a:t>
            </a:r>
            <a:r>
              <a:rPr lang="fr-FR" sz="2800" dirty="0">
                <a:latin typeface="Courier New" panose="02070309020205020404"/>
                <a:ea typeface="MS PGothic" panose="020B0600070205080204" charset="-128"/>
                <a:cs typeface="Courier New" panose="02070309020205020404"/>
              </a:rPr>
              <a:t>Makefile</a:t>
            </a:r>
            <a:r>
              <a:rPr lang="fr-FR" sz="2800" dirty="0">
                <a:latin typeface="+mn-lt"/>
                <a:cs typeface="Courier New" panose="02070309020205020404"/>
              </a:rPr>
              <a:t>: </a:t>
            </a:r>
            <a:r>
              <a:rPr lang="fr-FR" sz="2800" dirty="0" smtClean="0">
                <a:latin typeface="+mn-lt"/>
                <a:cs typeface="Courier New" panose="02070309020205020404"/>
              </a:rPr>
              <a:t>Exemple </a:t>
            </a:r>
            <a:r>
              <a:rPr lang="fr-FR" sz="2800" dirty="0">
                <a:latin typeface="+mn-lt"/>
                <a:cs typeface="Courier New" panose="02070309020205020404"/>
              </a:rPr>
              <a:t>2</a:t>
            </a:r>
            <a:endParaRPr lang="fr-FR" sz="2800" dirty="0">
              <a:latin typeface="+mn-lt"/>
              <a:cs typeface="MS PGothic" panose="020B0600070205080204" charset="-128"/>
            </a:endParaRPr>
          </a:p>
        </p:txBody>
      </p:sp>
      <p:sp>
        <p:nvSpPr>
          <p:cNvPr id="22" name="Rectangle 21"/>
          <p:cNvSpPr/>
          <p:nvPr/>
        </p:nvSpPr>
        <p:spPr bwMode="auto">
          <a:xfrm>
            <a:off x="4355976" y="3681028"/>
            <a:ext cx="900100" cy="360040"/>
          </a:xfrm>
          <a:prstGeom prst="rect">
            <a:avLst/>
          </a:prstGeom>
          <a:noFill/>
          <a:ln w="38100" cap="flat" cmpd="sng" algn="ctr">
            <a:solidFill>
              <a:srgbClr val="A70524"/>
            </a:solidFill>
            <a:prstDash val="solid"/>
            <a:round/>
            <a:headEnd type="none" w="lg" len="lg"/>
            <a:tailEnd type="none" w="med" len="med"/>
          </a:ln>
          <a:effectLst/>
        </p:spPr>
        <p:txBody>
          <a:bodyPr vert="horz" wrap="none" lIns="92075" tIns="46038" rIns="92075" bIns="46038" numCol="1" rtlCol="0" anchor="ctr" anchorCtr="0" compatLnSpc="1">
            <a:normAutofit fontScale="92500" lnSpcReduction="1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 grpId="0" animBg="1"/>
      <p:bldP spid="16" grpId="0" animBg="1"/>
      <p:bldP spid="17" grpId="0" animBg="1"/>
      <p:bldP spid="2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re 1"/>
          <p:cNvSpPr>
            <a:spLocks noGrp="1"/>
          </p:cNvSpPr>
          <p:nvPr>
            <p:ph type="title"/>
          </p:nvPr>
        </p:nvSpPr>
        <p:spPr/>
        <p:txBody>
          <a:bodyPr/>
          <a:lstStyle/>
          <a:p>
            <a:r>
              <a:rPr lang="fr-FR" sz="2800" dirty="0">
                <a:latin typeface="Arial" panose="020B0604020202020204" pitchFamily="34" charset="0"/>
                <a:cs typeface="MS PGothic" panose="020B0600070205080204" charset="-128"/>
              </a:rPr>
              <a:t>Messages d'erreur </a:t>
            </a:r>
            <a:r>
              <a:rPr lang="fr-FR" sz="2800" dirty="0" smtClean="0">
                <a:latin typeface="Arial" panose="020B0604020202020204" pitchFamily="34" charset="0"/>
                <a:cs typeface="MS PGothic" panose="020B0600070205080204" charset="-128"/>
              </a:rPr>
              <a:t>courants de compilation</a:t>
            </a:r>
            <a:endParaRPr lang="fr-FR" sz="2800" dirty="0">
              <a:latin typeface="Arial" panose="020B0604020202020204" pitchFamily="34" charset="0"/>
              <a:ea typeface="MS PGothic" panose="020B0600070205080204" charset="-128"/>
              <a:cs typeface="MS PGothic" panose="020B0600070205080204" charset="-128"/>
            </a:endParaRPr>
          </a:p>
        </p:txBody>
      </p:sp>
      <p:sp>
        <p:nvSpPr>
          <p:cNvPr id="67586" name="Espace réservé du contenu 2"/>
          <p:cNvSpPr>
            <a:spLocks noGrp="1"/>
          </p:cNvSpPr>
          <p:nvPr>
            <p:ph idx="1"/>
          </p:nvPr>
        </p:nvSpPr>
        <p:spPr>
          <a:xfrm>
            <a:off x="323528" y="1124744"/>
            <a:ext cx="8053754" cy="4537075"/>
          </a:xfrm>
        </p:spPr>
        <p:txBody>
          <a:bodyPr/>
          <a:lstStyle/>
          <a:p>
            <a:r>
              <a:rPr lang="en-GB" dirty="0" smtClean="0">
                <a:latin typeface="Arial" panose="020B0604020202020204" pitchFamily="34" charset="0"/>
                <a:ea typeface="MS PGothic" panose="020B0600070205080204" charset="-128"/>
                <a:cs typeface="MS PGothic" panose="020B0600070205080204" charset="-128"/>
              </a:rPr>
              <a:t>Exemple de message d’erreur </a:t>
            </a:r>
            <a:br>
              <a:rPr lang="en-GB" dirty="0" smtClean="0">
                <a:latin typeface="Arial" panose="020B0604020202020204" pitchFamily="34" charset="0"/>
                <a:ea typeface="MS PGothic" panose="020B0600070205080204" charset="-128"/>
                <a:cs typeface="MS PGothic" panose="020B0600070205080204" charset="-128"/>
              </a:rPr>
            </a:br>
            <a:endParaRPr lang="en-GB" dirty="0">
              <a:latin typeface="Arial" panose="020B0604020202020204" pitchFamily="34" charset="0"/>
              <a:ea typeface="MS PGothic" panose="020B0600070205080204" charset="-128"/>
              <a:cs typeface="MS PGothic" panose="020B0600070205080204" charset="-128"/>
            </a:endParaRPr>
          </a:p>
          <a:p>
            <a:endParaRPr lang="en-GB" dirty="0">
              <a:latin typeface="Arial" panose="020B0604020202020204" pitchFamily="34" charset="0"/>
              <a:ea typeface="MS PGothic" panose="020B0600070205080204" charset="-128"/>
              <a:cs typeface="MS PGothic" panose="020B0600070205080204" charset="-128"/>
            </a:endParaRPr>
          </a:p>
          <a:p>
            <a:pPr marL="0" indent="0">
              <a:buNone/>
            </a:pPr>
            <a:endParaRPr lang="en-GB" sz="3600" dirty="0">
              <a:latin typeface="Arial" panose="020B0604020202020204" pitchFamily="34" charset="0"/>
              <a:ea typeface="MS PGothic" panose="020B0600070205080204" charset="-128"/>
              <a:cs typeface="MS PGothic" panose="020B0600070205080204" charset="-128"/>
            </a:endParaRPr>
          </a:p>
          <a:p>
            <a:r>
              <a:rPr lang="en-GB" dirty="0" smtClean="0">
                <a:latin typeface="Arial" panose="020B0604020202020204" pitchFamily="34" charset="0"/>
                <a:cs typeface="MS PGothic" panose="020B0600070205080204" charset="-128"/>
              </a:rPr>
              <a:t>Ensemble d’</a:t>
            </a:r>
            <a:r>
              <a:rPr lang="en-GB" dirty="0" smtClean="0">
                <a:latin typeface="Arial" panose="020B0604020202020204" pitchFamily="34" charset="0"/>
                <a:ea typeface="MS PGothic" panose="020B0600070205080204" charset="-128"/>
                <a:cs typeface="MS PGothic" panose="020B0600070205080204" charset="-128"/>
              </a:rPr>
              <a:t>erreurs !</a:t>
            </a:r>
            <a:endParaRPr lang="en-GB" dirty="0">
              <a:latin typeface="Arial" panose="020B0604020202020204" pitchFamily="34" charset="0"/>
              <a:ea typeface="MS PGothic" panose="020B0600070205080204" charset="-128"/>
              <a:cs typeface="MS PGothic" panose="020B0600070205080204" charset="-128"/>
            </a:endParaRPr>
          </a:p>
          <a:p>
            <a:pPr lvl="1"/>
            <a:r>
              <a:rPr lang="fr-FR" dirty="0" smtClean="0">
                <a:latin typeface="Arial" panose="020B0604020202020204" pitchFamily="34" charset="0"/>
              </a:rPr>
              <a:t>Commencer </a:t>
            </a:r>
            <a:r>
              <a:rPr lang="fr-FR" dirty="0">
                <a:latin typeface="Arial" panose="020B0604020202020204" pitchFamily="34" charset="0"/>
              </a:rPr>
              <a:t>toujours à corriger la première (elles peuvent être dépendantes) </a:t>
            </a:r>
            <a:r>
              <a:rPr lang="en-GB" dirty="0" smtClean="0">
                <a:latin typeface="Arial" panose="020B0604020202020204" pitchFamily="34" charset="0"/>
                <a:ea typeface="MS PGothic" panose="020B0600070205080204" charset="-128"/>
              </a:rPr>
              <a:t>!!</a:t>
            </a:r>
            <a:endParaRPr lang="en-GB" dirty="0">
              <a:latin typeface="Arial" panose="020B0604020202020204" pitchFamily="34" charset="0"/>
              <a:ea typeface="MS PGothic" panose="020B0600070205080204" charset="-128"/>
              <a:cs typeface="MS PGothic" panose="020B0600070205080204" charset="-128"/>
            </a:endParaRPr>
          </a:p>
          <a:p>
            <a:endParaRPr lang="en-GB" dirty="0">
              <a:latin typeface="Arial" panose="020B0604020202020204" pitchFamily="34" charset="0"/>
              <a:ea typeface="MS PGothic" panose="020B0600070205080204" charset="-128"/>
              <a:cs typeface="MS PGothic" panose="020B0600070205080204" charset="-128"/>
            </a:endParaRPr>
          </a:p>
          <a:p>
            <a:endParaRPr lang="en-GB" dirty="0">
              <a:latin typeface="Arial" panose="020B0604020202020204" pitchFamily="34" charset="0"/>
              <a:ea typeface="MS PGothic" panose="020B0600070205080204" charset="-128"/>
              <a:cs typeface="MS PGothic" panose="020B0600070205080204" charset="-128"/>
            </a:endParaRPr>
          </a:p>
          <a:p>
            <a:endParaRPr lang="en-GB" dirty="0">
              <a:latin typeface="Arial" panose="020B0604020202020204" pitchFamily="34" charset="0"/>
              <a:ea typeface="MS PGothic" panose="020B0600070205080204" charset="-128"/>
              <a:cs typeface="MS PGothic" panose="020B0600070205080204" charset="-128"/>
            </a:endParaRPr>
          </a:p>
          <a:p>
            <a:pPr lvl="1"/>
            <a:endParaRPr lang="en-GB" dirty="0">
              <a:latin typeface="Arial" panose="020B0604020202020204" pitchFamily="34" charset="0"/>
              <a:ea typeface="MS PGothic" panose="020B0600070205080204" charset="-128"/>
            </a:endParaRPr>
          </a:p>
          <a:p>
            <a:pPr lvl="1"/>
            <a:endParaRPr lang="en-GB" dirty="0">
              <a:latin typeface="Arial" panose="020B0604020202020204" pitchFamily="34" charset="0"/>
              <a:ea typeface="MS PGothic" panose="020B0600070205080204" charset="-128"/>
            </a:endParaRPr>
          </a:p>
        </p:txBody>
      </p:sp>
      <p:pic>
        <p:nvPicPr>
          <p:cNvPr id="67588" name="Image 4" descr="Capture d’écran 2014-08-25 à 15.21.16.pn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43508" y="1700808"/>
            <a:ext cx="8784976" cy="961319"/>
          </a:xfrm>
          <a:prstGeom prst="rect">
            <a:avLst/>
          </a:prstGeom>
          <a:noFill/>
          <a:ln w="9525">
            <a:solidFill>
              <a:schemeClr val="tx2"/>
            </a:solidFill>
            <a:miter lim="800000"/>
            <a:headEnd/>
            <a:tailEnd/>
          </a:ln>
        </p:spPr>
      </p:pic>
      <p:sp>
        <p:nvSpPr>
          <p:cNvPr id="7"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pic>
        <p:nvPicPr>
          <p:cNvPr id="67589" name="Image 5" descr="Capture d’écran 2014-08-25 à 15.21.50.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3508" y="4145373"/>
            <a:ext cx="8748972" cy="2415974"/>
          </a:xfrm>
          <a:prstGeom prst="rect">
            <a:avLst/>
          </a:prstGeom>
          <a:noFill/>
          <a:ln w="9525">
            <a:solidFill>
              <a:schemeClr val="tx2"/>
            </a:solid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58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758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75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Titre 1"/>
          <p:cNvSpPr>
            <a:spLocks noGrp="1"/>
          </p:cNvSpPr>
          <p:nvPr>
            <p:ph type="title"/>
          </p:nvPr>
        </p:nvSpPr>
        <p:spPr/>
        <p:txBody>
          <a:bodyPr/>
          <a:lstStyle/>
          <a:p>
            <a:r>
              <a:rPr lang="en-GB" sz="2800" dirty="0">
                <a:latin typeface="Arial" panose="020B0604020202020204" pitchFamily="34" charset="0"/>
                <a:cs typeface="MS PGothic" panose="020B0600070205080204" charset="-128"/>
              </a:rPr>
              <a:t>Débogage</a:t>
            </a:r>
            <a:endParaRPr lang="en-GB" sz="2800" dirty="0">
              <a:latin typeface="Arial" panose="020B0604020202020204" pitchFamily="34" charset="0"/>
              <a:cs typeface="MS PGothic" panose="020B0600070205080204" charset="-128"/>
            </a:endParaRPr>
          </a:p>
        </p:txBody>
      </p:sp>
      <p:sp>
        <p:nvSpPr>
          <p:cNvPr id="132098" name="Espace réservé du contenu 2"/>
          <p:cNvSpPr>
            <a:spLocks noGrp="1"/>
          </p:cNvSpPr>
          <p:nvPr>
            <p:ph idx="1"/>
          </p:nvPr>
        </p:nvSpPr>
        <p:spPr>
          <a:xfrm>
            <a:off x="323528" y="1160748"/>
            <a:ext cx="8308731" cy="4537075"/>
          </a:xfrm>
        </p:spPr>
        <p:txBody>
          <a:bodyPr/>
          <a:lstStyle/>
          <a:p>
            <a:r>
              <a:rPr lang="en-GB" dirty="0">
                <a:latin typeface="Arial" panose="020B0604020202020204" pitchFamily="34" charset="0"/>
                <a:cs typeface="MS PGothic" panose="020B0600070205080204" charset="-128"/>
              </a:rPr>
              <a:t>Bogues habituels</a:t>
            </a:r>
            <a:endParaRPr lang="en-GB" dirty="0">
              <a:latin typeface="Arial" panose="020B0604020202020204" pitchFamily="34" charset="0"/>
              <a:cs typeface="MS PGothic" panose="020B0600070205080204" charset="-128"/>
            </a:endParaRPr>
          </a:p>
          <a:p>
            <a:pPr lvl="1"/>
            <a:r>
              <a:rPr lang="en-GB" dirty="0" smtClean="0">
                <a:latin typeface="Arial" panose="020B0604020202020204" pitchFamily="34" charset="0"/>
              </a:rPr>
              <a:t>Boucles </a:t>
            </a:r>
            <a:r>
              <a:rPr lang="en-GB" dirty="0">
                <a:latin typeface="Arial" panose="020B0604020202020204" pitchFamily="34" charset="0"/>
              </a:rPr>
              <a:t>infinies</a:t>
            </a:r>
            <a:endParaRPr lang="en-GB" dirty="0">
              <a:latin typeface="Arial" panose="020B0604020202020204" pitchFamily="34" charset="0"/>
            </a:endParaRPr>
          </a:p>
          <a:p>
            <a:pPr lvl="1"/>
            <a:r>
              <a:rPr lang="en-GB" dirty="0">
                <a:latin typeface="Arial" panose="020B0604020202020204" pitchFamily="34" charset="0"/>
              </a:rPr>
              <a:t>Limites de boucles</a:t>
            </a:r>
            <a:endParaRPr lang="en-GB" dirty="0">
              <a:latin typeface="Arial" panose="020B0604020202020204" pitchFamily="34" charset="0"/>
            </a:endParaRPr>
          </a:p>
          <a:p>
            <a:pPr lvl="1"/>
            <a:r>
              <a:rPr lang="en-GB" dirty="0">
                <a:latin typeface="Arial" panose="020B0604020202020204" pitchFamily="34" charset="0"/>
              </a:rPr>
              <a:t>Variables non initialisées</a:t>
            </a:r>
            <a:endParaRPr lang="en-GB" dirty="0">
              <a:latin typeface="Arial" panose="020B0604020202020204" pitchFamily="34" charset="0"/>
            </a:endParaRPr>
          </a:p>
          <a:p>
            <a:pPr lvl="1"/>
            <a:r>
              <a:rPr lang="en-GB" dirty="0">
                <a:latin typeface="Arial" panose="020B0604020202020204" pitchFamily="34" charset="0"/>
              </a:rPr>
              <a:t>Défauts de segmentation</a:t>
            </a:r>
            <a:endParaRPr lang="en-GB" dirty="0">
              <a:latin typeface="Arial" panose="020B0604020202020204" pitchFamily="34" charset="0"/>
            </a:endParaRPr>
          </a:p>
          <a:p>
            <a:pPr lvl="1"/>
            <a:r>
              <a:rPr lang="en-GB" dirty="0">
                <a:latin typeface="Arial" panose="020B0604020202020204" pitchFamily="34" charset="0"/>
              </a:rPr>
              <a:t>Défauts </a:t>
            </a:r>
            <a:r>
              <a:rPr lang="en-GB" dirty="0" smtClean="0">
                <a:latin typeface="Arial" panose="020B0604020202020204" pitchFamily="34" charset="0"/>
              </a:rPr>
              <a:t>algorithmiques</a:t>
            </a:r>
            <a:endParaRPr lang="en-GB" dirty="0" smtClean="0">
              <a:latin typeface="Arial" panose="020B0604020202020204" pitchFamily="34" charset="0"/>
            </a:endParaRPr>
          </a:p>
          <a:p>
            <a:pPr lvl="1"/>
            <a:r>
              <a:rPr lang="en-GB" dirty="0" smtClean="0">
                <a:latin typeface="Arial" panose="020B0604020202020204" pitchFamily="34" charset="0"/>
              </a:rPr>
              <a:t>…</a:t>
            </a:r>
            <a:endParaRPr lang="en-GB" dirty="0">
              <a:latin typeface="Arial" panose="020B0604020202020204" pitchFamily="34" charset="0"/>
            </a:endParaRPr>
          </a:p>
          <a:p>
            <a:pPr marL="0" indent="0">
              <a:buNone/>
            </a:pPr>
            <a:endParaRPr lang="en-GB" dirty="0">
              <a:latin typeface="Arial" panose="020B0604020202020204" pitchFamily="34" charset="0"/>
              <a:cs typeface="MS PGothic" panose="020B0600070205080204" charset="-128"/>
            </a:endParaRPr>
          </a:p>
          <a:p>
            <a:r>
              <a:rPr lang="fr-FR" dirty="0">
                <a:latin typeface="Arial" panose="020B0604020202020204" pitchFamily="34" charset="0"/>
                <a:cs typeface="MS PGothic" panose="020B0600070205080204" charset="-128"/>
              </a:rPr>
              <a:t>Outils d'aide à la correction du code</a:t>
            </a:r>
            <a:endParaRPr lang="en-GB" dirty="0">
              <a:latin typeface="Arial" panose="020B0604020202020204" pitchFamily="34" charset="0"/>
              <a:cs typeface="MS PGothic" panose="020B0600070205080204" charset="-128"/>
            </a:endParaRPr>
          </a:p>
          <a:p>
            <a:pPr lvl="1"/>
            <a:r>
              <a:rPr lang="fr-FR" dirty="0">
                <a:latin typeface="Arial" panose="020B0604020202020204" pitchFamily="34" charset="0"/>
              </a:rPr>
              <a:t>Le débogueur est un logiciel qui aide le développeur dans l'analyse des bogues d'un programme.</a:t>
            </a:r>
            <a:endParaRPr lang="en-GB" dirty="0">
              <a:latin typeface="Arial" panose="020B0604020202020204" pitchFamily="34" charset="0"/>
            </a:endParaRPr>
          </a:p>
          <a:p>
            <a:pPr lvl="1"/>
            <a:r>
              <a:rPr lang="en-GB" dirty="0" smtClean="0">
                <a:latin typeface="Arial" panose="020B0604020202020204" pitchFamily="34" charset="0"/>
              </a:rPr>
              <a:t>Exemples </a:t>
            </a:r>
            <a:r>
              <a:rPr lang="en-GB" dirty="0">
                <a:latin typeface="Arial" panose="020B0604020202020204" pitchFamily="34" charset="0"/>
              </a:rPr>
              <a:t>: GDB, valgrind …</a:t>
            </a:r>
            <a:endParaRPr lang="en-GB" dirty="0">
              <a:latin typeface="Arial" panose="020B0604020202020204" pitchFamily="34" charset="0"/>
            </a:endParaRPr>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209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Titre 1"/>
          <p:cNvSpPr>
            <a:spLocks noGrp="1"/>
          </p:cNvSpPr>
          <p:nvPr>
            <p:ph type="title"/>
          </p:nvPr>
        </p:nvSpPr>
        <p:spPr/>
        <p:txBody>
          <a:bodyPr/>
          <a:lstStyle/>
          <a:p>
            <a:r>
              <a:rPr lang="fr-FR" sz="2800" dirty="0" smtClean="0">
                <a:latin typeface="Arial" panose="020B0604020202020204" pitchFamily="34" charset="0"/>
                <a:cs typeface="MS PGothic" panose="020B0600070205080204" charset="-128"/>
              </a:rPr>
              <a:t>OUTIL</a:t>
            </a:r>
            <a:r>
              <a:rPr lang="fr-FR" sz="2800" dirty="0" smtClean="0">
                <a:latin typeface="Arial" panose="020B0604020202020204" pitchFamily="34" charset="0"/>
                <a:ea typeface="MS PGothic" panose="020B0600070205080204" charset="-128"/>
                <a:cs typeface="MS PGothic" panose="020B0600070205080204" charset="-128"/>
              </a:rPr>
              <a:t> </a:t>
            </a:r>
            <a:r>
              <a:rPr lang="fr-FR" sz="2800" dirty="0">
                <a:latin typeface="Courier New" panose="02070309020205020404"/>
                <a:ea typeface="MS PGothic" panose="020B0600070205080204" charset="-128"/>
                <a:cs typeface="Courier New" panose="02070309020205020404"/>
              </a:rPr>
              <a:t>GDB</a:t>
            </a:r>
            <a:endParaRPr lang="fr-FR" sz="2800" dirty="0">
              <a:latin typeface="Courier New" panose="02070309020205020404"/>
              <a:ea typeface="MS PGothic" panose="020B0600070205080204" charset="-128"/>
              <a:cs typeface="Courier New" panose="02070309020205020404"/>
            </a:endParaRPr>
          </a:p>
        </p:txBody>
      </p:sp>
      <p:sp>
        <p:nvSpPr>
          <p:cNvPr id="134146" name="Espace réservé du contenu 2"/>
          <p:cNvSpPr>
            <a:spLocks noGrp="1"/>
          </p:cNvSpPr>
          <p:nvPr>
            <p:ph idx="1"/>
          </p:nvPr>
        </p:nvSpPr>
        <p:spPr>
          <a:xfrm>
            <a:off x="359532" y="1124744"/>
            <a:ext cx="8568952" cy="4537075"/>
          </a:xfrm>
        </p:spPr>
        <p:txBody>
          <a:bodyPr/>
          <a:lstStyle/>
          <a:p>
            <a:r>
              <a:rPr lang="en-GB" dirty="0" smtClean="0">
                <a:latin typeface="Arial" panose="020B0604020202020204" pitchFamily="34" charset="0"/>
                <a:cs typeface="MS PGothic" panose="020B0600070205080204" charset="-128"/>
              </a:rPr>
              <a:t>Avec le </a:t>
            </a:r>
            <a:r>
              <a:rPr lang="en-GB" dirty="0">
                <a:latin typeface="Arial" panose="020B0604020202020204" pitchFamily="34" charset="0"/>
                <a:cs typeface="MS PGothic" panose="020B0600070205080204" charset="-128"/>
              </a:rPr>
              <a:t>GDB, </a:t>
            </a:r>
            <a:r>
              <a:rPr lang="en-GB" dirty="0" smtClean="0">
                <a:latin typeface="Arial" panose="020B0604020202020204" pitchFamily="34" charset="0"/>
                <a:cs typeface="MS PGothic" panose="020B0600070205080204" charset="-128"/>
              </a:rPr>
              <a:t>nous pouvons</a:t>
            </a:r>
            <a:endParaRPr lang="en-GB" dirty="0">
              <a:latin typeface="Arial" panose="020B0604020202020204" pitchFamily="34" charset="0"/>
              <a:cs typeface="MS PGothic" panose="020B0600070205080204" charset="-128"/>
            </a:endParaRPr>
          </a:p>
          <a:p>
            <a:pPr lvl="1"/>
            <a:r>
              <a:rPr lang="en-GB" dirty="0">
                <a:latin typeface="Arial" panose="020B0604020202020204" pitchFamily="34" charset="0"/>
              </a:rPr>
              <a:t>Démarrer l'exécution du programme</a:t>
            </a:r>
            <a:endParaRPr lang="en-GB" dirty="0">
              <a:latin typeface="Arial" panose="020B0604020202020204" pitchFamily="34" charset="0"/>
            </a:endParaRPr>
          </a:p>
          <a:p>
            <a:pPr lvl="1"/>
            <a:r>
              <a:rPr lang="fr-FR" dirty="0">
                <a:latin typeface="Arial" panose="020B0604020202020204" pitchFamily="34" charset="0"/>
              </a:rPr>
              <a:t>Arrêter l'exécution du programme en fonction de certaines conditions</a:t>
            </a:r>
            <a:endParaRPr lang="en-GB" dirty="0">
              <a:latin typeface="Arial" panose="020B0604020202020204" pitchFamily="34" charset="0"/>
            </a:endParaRPr>
          </a:p>
          <a:p>
            <a:pPr lvl="1"/>
            <a:r>
              <a:rPr lang="fr-FR" dirty="0">
                <a:latin typeface="Arial" panose="020B0604020202020204" pitchFamily="34" charset="0"/>
              </a:rPr>
              <a:t>Examiner ce qui s'est passé lorsque le programme s'est </a:t>
            </a:r>
            <a:r>
              <a:rPr lang="fr-FR" dirty="0" smtClean="0">
                <a:latin typeface="Arial" panose="020B0604020202020204" pitchFamily="34" charset="0"/>
              </a:rPr>
              <a:t>arrêté</a:t>
            </a:r>
            <a:endParaRPr lang="en-GB" dirty="0" smtClean="0">
              <a:latin typeface="Arial" panose="020B0604020202020204" pitchFamily="34" charset="0"/>
            </a:endParaRPr>
          </a:p>
          <a:p>
            <a:pPr lvl="1"/>
            <a:r>
              <a:rPr lang="fr-FR" dirty="0" smtClean="0">
                <a:latin typeface="Arial" panose="020B0604020202020204" pitchFamily="34" charset="0"/>
              </a:rPr>
              <a:t>Exécuter </a:t>
            </a:r>
            <a:r>
              <a:rPr lang="fr-FR" dirty="0">
                <a:latin typeface="Arial" panose="020B0604020202020204" pitchFamily="34" charset="0"/>
              </a:rPr>
              <a:t>le programme </a:t>
            </a:r>
            <a:r>
              <a:rPr lang="fr-FR" dirty="0" smtClean="0">
                <a:latin typeface="Arial" panose="020B0604020202020204" pitchFamily="34" charset="0"/>
              </a:rPr>
              <a:t>pas-à-pas </a:t>
            </a:r>
            <a:r>
              <a:rPr lang="en-GB" dirty="0" smtClean="0">
                <a:latin typeface="Arial" panose="020B0604020202020204" pitchFamily="34" charset="0"/>
              </a:rPr>
              <a:t> </a:t>
            </a:r>
            <a:endParaRPr lang="en-GB" dirty="0">
              <a:latin typeface="Arial" panose="020B0604020202020204" pitchFamily="34" charset="0"/>
            </a:endParaRPr>
          </a:p>
          <a:p>
            <a:pPr lvl="1"/>
            <a:r>
              <a:rPr lang="fr-FR" dirty="0">
                <a:latin typeface="Arial" panose="020B0604020202020204" pitchFamily="34" charset="0"/>
              </a:rPr>
              <a:t>Effectuer des modifications pendant l'exécution du programme</a:t>
            </a:r>
            <a:endParaRPr lang="en-GB" dirty="0">
              <a:latin typeface="Arial" panose="020B0604020202020204" pitchFamily="34" charset="0"/>
            </a:endParaRPr>
          </a:p>
          <a:p>
            <a:pPr lvl="1"/>
            <a:endParaRPr lang="en-GB" dirty="0">
              <a:latin typeface="Arial" panose="020B0604020202020204" pitchFamily="34" charset="0"/>
            </a:endParaRPr>
          </a:p>
          <a:p>
            <a:r>
              <a:rPr lang="fr-FR" dirty="0">
                <a:latin typeface="Arial" panose="020B0604020202020204" pitchFamily="34" charset="0"/>
                <a:cs typeface="MS PGothic" panose="020B0600070205080204" charset="-128"/>
              </a:rPr>
              <a:t>Utiliser : Faire le lien entre le programme et le débogueur.</a:t>
            </a:r>
            <a:endParaRPr lang="en-GB" dirty="0">
              <a:latin typeface="Arial" panose="020B0604020202020204" pitchFamily="34" charset="0"/>
              <a:cs typeface="MS PGothic" panose="020B0600070205080204" charset="-128"/>
            </a:endParaRPr>
          </a:p>
          <a:p>
            <a:pPr lvl="1"/>
            <a:r>
              <a:rPr lang="fr-FR" dirty="0">
                <a:latin typeface="Arial" panose="020B0604020202020204" pitchFamily="34" charset="0"/>
              </a:rPr>
              <a:t>Ajouter les informations de débogage pendant la compilation</a:t>
            </a:r>
            <a:endParaRPr lang="en-GB" dirty="0">
              <a:latin typeface="Arial" panose="020B0604020202020204" pitchFamily="34" charset="0"/>
            </a:endParaRPr>
          </a:p>
          <a:p>
            <a:pPr lvl="2"/>
            <a:r>
              <a:rPr lang="en-GB" dirty="0">
                <a:latin typeface="Arial" panose="020B0604020202020204" pitchFamily="34" charset="0"/>
              </a:rPr>
              <a:t>Option </a:t>
            </a:r>
            <a:r>
              <a:rPr lang="en-GB" b="1" dirty="0">
                <a:solidFill>
                  <a:srgbClr val="000000"/>
                </a:solidFill>
                <a:latin typeface="Courier New" panose="02070309020205020404"/>
                <a:cs typeface="Courier New" panose="02070309020205020404"/>
              </a:rPr>
              <a:t>–g</a:t>
            </a:r>
            <a:r>
              <a:rPr lang="en-GB" dirty="0">
                <a:latin typeface="Arial" panose="020B0604020202020204" pitchFamily="34" charset="0"/>
              </a:rPr>
              <a:t> </a:t>
            </a:r>
            <a:r>
              <a:rPr lang="en-GB" dirty="0" smtClean="0">
                <a:latin typeface="Arial" panose="020B0604020202020204" pitchFamily="34" charset="0"/>
              </a:rPr>
              <a:t>et </a:t>
            </a:r>
            <a:r>
              <a:rPr lang="en-GB" b="1" dirty="0">
                <a:latin typeface="Courier New" panose="02070309020205020404"/>
                <a:cs typeface="Courier New" panose="02070309020205020404"/>
              </a:rPr>
              <a:t>-</a:t>
            </a:r>
            <a:r>
              <a:rPr lang="en-GB" b="1" dirty="0" err="1">
                <a:latin typeface="Courier New" panose="02070309020205020404"/>
                <a:cs typeface="Courier New" panose="02070309020205020404"/>
              </a:rPr>
              <a:t>ggdb</a:t>
            </a:r>
            <a:endParaRPr lang="en-GB" b="1" dirty="0">
              <a:latin typeface="Courier New" panose="02070309020205020404"/>
              <a:cs typeface="Courier New" panose="02070309020205020404"/>
            </a:endParaRPr>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414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Titre 1"/>
          <p:cNvSpPr>
            <a:spLocks noGrp="1"/>
          </p:cNvSpPr>
          <p:nvPr>
            <p:ph type="title"/>
          </p:nvPr>
        </p:nvSpPr>
        <p:spPr/>
        <p:txBody>
          <a:bodyPr/>
          <a:lstStyle/>
          <a:p>
            <a:r>
              <a:rPr lang="fr-FR" sz="2800" dirty="0" smtClean="0">
                <a:latin typeface="Arial" panose="020B0604020202020204" pitchFamily="34" charset="0"/>
                <a:cs typeface="MS PGothic" panose="020B0600070205080204" charset="-128"/>
              </a:rPr>
              <a:t>OUTIL</a:t>
            </a:r>
            <a:r>
              <a:rPr lang="fr-FR" sz="2800" dirty="0" smtClean="0">
                <a:latin typeface="Arial" panose="020B0604020202020204" pitchFamily="34" charset="0"/>
                <a:ea typeface="MS PGothic" panose="020B0600070205080204" charset="-128"/>
                <a:cs typeface="MS PGothic" panose="020B0600070205080204" charset="-128"/>
              </a:rPr>
              <a:t> </a:t>
            </a:r>
            <a:r>
              <a:rPr lang="fr-FR" sz="2800" dirty="0">
                <a:latin typeface="Courier New" panose="02070309020205020404"/>
                <a:ea typeface="MS PGothic" panose="020B0600070205080204" charset="-128"/>
                <a:cs typeface="Courier New" panose="02070309020205020404"/>
              </a:rPr>
              <a:t>GDB</a:t>
            </a:r>
            <a:r>
              <a:rPr lang="fr-FR" sz="2800" dirty="0">
                <a:latin typeface="Arial" panose="020B0604020202020204" pitchFamily="34" charset="0"/>
                <a:ea typeface="MS PGothic" panose="020B0600070205080204" charset="-128"/>
                <a:cs typeface="MS PGothic" panose="020B0600070205080204" charset="-128"/>
              </a:rPr>
              <a:t>: </a:t>
            </a:r>
            <a:r>
              <a:rPr lang="fr-FR" sz="2800" dirty="0" smtClean="0">
                <a:latin typeface="Arial" panose="020B0604020202020204" pitchFamily="34" charset="0"/>
                <a:ea typeface="MS PGothic" panose="020B0600070205080204" charset="-128"/>
                <a:cs typeface="MS PGothic" panose="020B0600070205080204" charset="-128"/>
              </a:rPr>
              <a:t>Commandes</a:t>
            </a:r>
            <a:endParaRPr lang="fr-FR" sz="2800" dirty="0">
              <a:latin typeface="Arial" panose="020B0604020202020204" pitchFamily="34" charset="0"/>
              <a:ea typeface="MS PGothic" panose="020B0600070205080204" charset="-128"/>
              <a:cs typeface="MS PGothic" panose="020B0600070205080204" charset="-128"/>
            </a:endParaRPr>
          </a:p>
        </p:txBody>
      </p:sp>
      <p:sp>
        <p:nvSpPr>
          <p:cNvPr id="135170" name="Espace réservé du contenu 2"/>
          <p:cNvSpPr>
            <a:spLocks noGrp="1"/>
          </p:cNvSpPr>
          <p:nvPr>
            <p:ph idx="1"/>
          </p:nvPr>
        </p:nvSpPr>
        <p:spPr>
          <a:xfrm>
            <a:off x="467544" y="1196752"/>
            <a:ext cx="8532948" cy="4537075"/>
          </a:xfrm>
        </p:spPr>
        <p:txBody>
          <a:bodyPr/>
          <a:lstStyle/>
          <a:p>
            <a:r>
              <a:rPr lang="en-GB" dirty="0">
                <a:latin typeface="Arial" panose="020B0604020202020204" pitchFamily="34" charset="0"/>
                <a:cs typeface="MS PGothic" panose="020B0600070205080204" charset="-128"/>
              </a:rPr>
              <a:t>Lancer l'exécution  </a:t>
            </a:r>
            <a:r>
              <a:rPr lang="en-GB" dirty="0" smtClean="0">
                <a:latin typeface="Arial" panose="020B0604020202020204" pitchFamily="34" charset="0"/>
                <a:ea typeface="MS PGothic" panose="020B0600070205080204" charset="-128"/>
                <a:cs typeface="MS PGothic" panose="020B0600070205080204" charset="-128"/>
              </a:rPr>
              <a:t>: </a:t>
            </a:r>
            <a:r>
              <a:rPr lang="en-GB" b="1" dirty="0">
                <a:latin typeface="Courier New" panose="02070309020205020404"/>
                <a:ea typeface="MS PGothic" panose="020B0600070205080204" charset="-128"/>
                <a:cs typeface="Courier New" panose="02070309020205020404"/>
              </a:rPr>
              <a:t>run</a:t>
            </a:r>
            <a:endParaRPr lang="en-GB" b="1" dirty="0">
              <a:latin typeface="Courier New" panose="02070309020205020404"/>
              <a:ea typeface="MS PGothic" panose="020B0600070205080204" charset="-128"/>
              <a:cs typeface="Courier New" panose="02070309020205020404"/>
            </a:endParaRPr>
          </a:p>
          <a:p>
            <a:r>
              <a:rPr lang="fr-FR" dirty="0">
                <a:latin typeface="Arial" panose="020B0604020202020204" pitchFamily="34" charset="0"/>
                <a:cs typeface="MS PGothic" panose="020B0600070205080204" charset="-128"/>
              </a:rPr>
              <a:t>Afficher la pile de </a:t>
            </a:r>
            <a:r>
              <a:rPr lang="fr-FR" dirty="0" smtClean="0">
                <a:latin typeface="Arial" panose="020B0604020202020204" pitchFamily="34" charset="0"/>
                <a:cs typeface="MS PGothic" panose="020B0600070205080204" charset="-128"/>
              </a:rPr>
              <a:t>l'appel </a:t>
            </a:r>
            <a:r>
              <a:rPr lang="en-GB" b="1" dirty="0" smtClean="0">
                <a:latin typeface="Arial" panose="020B0604020202020204" pitchFamily="34" charset="0"/>
                <a:ea typeface="MS PGothic" panose="020B0600070205080204" charset="-128"/>
                <a:cs typeface="MS PGothic" panose="020B0600070205080204" charset="-128"/>
              </a:rPr>
              <a:t>: </a:t>
            </a:r>
            <a:r>
              <a:rPr lang="en-GB" b="1" dirty="0" err="1">
                <a:latin typeface="Courier New" panose="02070309020205020404"/>
                <a:ea typeface="MS PGothic" panose="020B0600070205080204" charset="-128"/>
                <a:cs typeface="Courier New" panose="02070309020205020404"/>
              </a:rPr>
              <a:t>backtrace</a:t>
            </a:r>
            <a:endParaRPr lang="en-GB" b="1" dirty="0">
              <a:latin typeface="Courier New" panose="02070309020205020404"/>
              <a:ea typeface="MS PGothic" panose="020B0600070205080204" charset="-128"/>
              <a:cs typeface="Courier New" panose="02070309020205020404"/>
            </a:endParaRPr>
          </a:p>
          <a:p>
            <a:r>
              <a:rPr lang="en-GB" dirty="0" smtClean="0">
                <a:latin typeface="Arial" panose="020B0604020202020204" pitchFamily="34" charset="0"/>
                <a:cs typeface="MS PGothic" panose="020B0600070205080204" charset="-128"/>
              </a:rPr>
              <a:t>Point d’arrêt</a:t>
            </a:r>
            <a:r>
              <a:rPr lang="en-GB" dirty="0" smtClean="0">
                <a:latin typeface="Arial" panose="020B0604020202020204" pitchFamily="34" charset="0"/>
                <a:ea typeface="MS PGothic" panose="020B0600070205080204" charset="-128"/>
                <a:cs typeface="MS PGothic" panose="020B0600070205080204" charset="-128"/>
              </a:rPr>
              <a:t> </a:t>
            </a:r>
            <a:r>
              <a:rPr lang="en-GB" altLang="ja-JP" dirty="0">
                <a:latin typeface="Arial" panose="020B0604020202020204" pitchFamily="34" charset="0"/>
                <a:ea typeface="MS PGothic" panose="020B0600070205080204" charset="-128"/>
                <a:cs typeface="MS PGothic" panose="020B0600070205080204" charset="-128"/>
              </a:rPr>
              <a:t>: </a:t>
            </a:r>
            <a:r>
              <a:rPr lang="en-GB" altLang="ja-JP" b="1" dirty="0">
                <a:latin typeface="Courier New" panose="02070309020205020404"/>
                <a:ea typeface="MS PGothic" panose="020B0600070205080204" charset="-128"/>
                <a:cs typeface="Courier New" panose="02070309020205020404"/>
              </a:rPr>
              <a:t>break</a:t>
            </a:r>
            <a:r>
              <a:rPr lang="en-GB" altLang="ja-JP" b="1" dirty="0">
                <a:latin typeface="Arial" panose="020B0604020202020204" pitchFamily="34" charset="0"/>
                <a:ea typeface="MS PGothic" panose="020B0600070205080204" charset="-128"/>
                <a:cs typeface="MS PGothic" panose="020B0600070205080204" charset="-128"/>
              </a:rPr>
              <a:t> </a:t>
            </a:r>
            <a:r>
              <a:rPr lang="en-GB" altLang="ja-JP" dirty="0" smtClean="0">
                <a:latin typeface="Arial" panose="020B0604020202020204" pitchFamily="34" charset="0"/>
                <a:ea typeface="MS PGothic" panose="020B0600070205080204" charset="-128"/>
                <a:cs typeface="MS PGothic" panose="020B0600070205080204" charset="-128"/>
              </a:rPr>
              <a:t>(</a:t>
            </a:r>
            <a:r>
              <a:rPr lang="en-GB" altLang="ja-JP" dirty="0" smtClean="0">
                <a:latin typeface="Arial" panose="020B0604020202020204" pitchFamily="34" charset="0"/>
                <a:cs typeface="MS PGothic" panose="020B0600070205080204" charset="-128"/>
              </a:rPr>
              <a:t>aide aux points d’arrêt</a:t>
            </a:r>
            <a:r>
              <a:rPr lang="en-GB" altLang="ja-JP" dirty="0" smtClean="0">
                <a:latin typeface="Arial" panose="020B0604020202020204" pitchFamily="34" charset="0"/>
                <a:ea typeface="MS PGothic" panose="020B0600070205080204" charset="-128"/>
                <a:cs typeface="MS PGothic" panose="020B0600070205080204" charset="-128"/>
              </a:rPr>
              <a:t> </a:t>
            </a:r>
            <a:r>
              <a:rPr lang="en-GB" altLang="ja-JP" dirty="0">
                <a:latin typeface="Arial" panose="020B0604020202020204" pitchFamily="34" charset="0"/>
                <a:ea typeface="MS PGothic" panose="020B0600070205080204" charset="-128"/>
                <a:cs typeface="MS PGothic" panose="020B0600070205080204" charset="-128"/>
              </a:rPr>
              <a:t>breakpoints)</a:t>
            </a:r>
            <a:endParaRPr lang="en-GB" altLang="ja-JP" dirty="0">
              <a:latin typeface="Arial" panose="020B0604020202020204" pitchFamily="34" charset="0"/>
              <a:ea typeface="MS PGothic" panose="020B0600070205080204" charset="-128"/>
              <a:cs typeface="MS PGothic" panose="020B0600070205080204" charset="-128"/>
            </a:endParaRPr>
          </a:p>
          <a:p>
            <a:r>
              <a:rPr lang="en-GB" dirty="0" smtClean="0">
                <a:latin typeface="Arial" panose="020B0604020202020204" pitchFamily="34" charset="0"/>
                <a:ea typeface="MS PGothic" panose="020B0600070205080204" charset="-128"/>
                <a:cs typeface="MS PGothic" panose="020B0600070205080204" charset="-128"/>
              </a:rPr>
              <a:t>Continuer l’éxecution </a:t>
            </a:r>
            <a:r>
              <a:rPr lang="en-GB" dirty="0">
                <a:latin typeface="Arial" panose="020B0604020202020204" pitchFamily="34" charset="0"/>
                <a:ea typeface="MS PGothic" panose="020B0600070205080204" charset="-128"/>
                <a:cs typeface="MS PGothic" panose="020B0600070205080204" charset="-128"/>
              </a:rPr>
              <a:t>: </a:t>
            </a:r>
            <a:r>
              <a:rPr lang="en-GB" b="1" dirty="0" err="1">
                <a:latin typeface="Courier New" panose="02070309020205020404"/>
                <a:ea typeface="MS PGothic" panose="020B0600070205080204" charset="-128"/>
                <a:cs typeface="Courier New" panose="02070309020205020404"/>
              </a:rPr>
              <a:t>cont</a:t>
            </a:r>
            <a:endParaRPr lang="en-GB" b="1" dirty="0">
              <a:latin typeface="Courier New" panose="02070309020205020404"/>
              <a:ea typeface="MS PGothic" panose="020B0600070205080204" charset="-128"/>
              <a:cs typeface="Courier New" panose="02070309020205020404"/>
            </a:endParaRPr>
          </a:p>
          <a:p>
            <a:r>
              <a:rPr lang="en-GB" dirty="0">
                <a:latin typeface="Arial" panose="020B0604020202020204" pitchFamily="34" charset="0"/>
                <a:cs typeface="MS PGothic" panose="020B0600070205080204" charset="-128"/>
              </a:rPr>
              <a:t>Exécuter une instruction </a:t>
            </a:r>
            <a:r>
              <a:rPr lang="en-GB" dirty="0">
                <a:latin typeface="Arial" panose="020B0604020202020204" pitchFamily="34" charset="0"/>
                <a:ea typeface="MS PGothic" panose="020B0600070205080204" charset="-128"/>
                <a:cs typeface="MS PGothic" panose="020B0600070205080204" charset="-128"/>
              </a:rPr>
              <a:t>: </a:t>
            </a:r>
            <a:r>
              <a:rPr lang="en-GB" b="1" dirty="0">
                <a:latin typeface="Courier New" panose="02070309020205020404"/>
                <a:ea typeface="MS PGothic" panose="020B0600070205080204" charset="-128"/>
                <a:cs typeface="Courier New" panose="02070309020205020404"/>
              </a:rPr>
              <a:t>step</a:t>
            </a:r>
            <a:endParaRPr lang="en-GB" b="1" dirty="0">
              <a:latin typeface="Courier New" panose="02070309020205020404"/>
              <a:ea typeface="MS PGothic" panose="020B0600070205080204" charset="-128"/>
              <a:cs typeface="Courier New" panose="02070309020205020404"/>
            </a:endParaRPr>
          </a:p>
          <a:p>
            <a:r>
              <a:rPr lang="en-GB" dirty="0" err="1" smtClean="0">
                <a:latin typeface="Arial" panose="020B0604020202020204" pitchFamily="34" charset="0"/>
                <a:cs typeface="MS PGothic" panose="020B0600070205080204" charset="-128"/>
              </a:rPr>
              <a:t>Afficher</a:t>
            </a:r>
            <a:r>
              <a:rPr lang="en-GB" dirty="0" smtClean="0">
                <a:latin typeface="Arial" panose="020B0604020202020204" pitchFamily="34" charset="0"/>
                <a:ea typeface="MS PGothic" panose="020B0600070205080204" charset="-128"/>
                <a:cs typeface="MS PGothic" panose="020B0600070205080204" charset="-128"/>
              </a:rPr>
              <a:t> </a:t>
            </a:r>
            <a:r>
              <a:rPr lang="en-GB" dirty="0" smtClean="0">
                <a:latin typeface="Arial" panose="020B0604020202020204" pitchFamily="34" charset="0"/>
                <a:cs typeface="MS PGothic" panose="020B0600070205080204" charset="-128"/>
              </a:rPr>
              <a:t>les</a:t>
            </a:r>
            <a:r>
              <a:rPr lang="en-GB" dirty="0" smtClean="0">
                <a:latin typeface="Arial" panose="020B0604020202020204" pitchFamily="34" charset="0"/>
                <a:ea typeface="MS PGothic" panose="020B0600070205080204" charset="-128"/>
                <a:cs typeface="MS PGothic" panose="020B0600070205080204" charset="-128"/>
              </a:rPr>
              <a:t> </a:t>
            </a:r>
            <a:r>
              <a:rPr lang="en-GB" dirty="0">
                <a:latin typeface="Arial" panose="020B0604020202020204" pitchFamily="34" charset="0"/>
                <a:ea typeface="MS PGothic" panose="020B0600070205080204" charset="-128"/>
                <a:cs typeface="MS PGothic" panose="020B0600070205080204" charset="-128"/>
              </a:rPr>
              <a:t>variables</a:t>
            </a:r>
            <a:endParaRPr lang="en-GB" dirty="0">
              <a:latin typeface="Arial" panose="020B0604020202020204" pitchFamily="34" charset="0"/>
              <a:ea typeface="MS PGothic" panose="020B0600070205080204" charset="-128"/>
              <a:cs typeface="MS PGothic" panose="020B0600070205080204" charset="-128"/>
            </a:endParaRPr>
          </a:p>
          <a:p>
            <a:pPr lvl="1"/>
            <a:r>
              <a:rPr lang="en-GB" dirty="0" err="1" smtClean="0">
                <a:latin typeface="Arial" panose="020B0604020202020204" pitchFamily="34" charset="0"/>
              </a:rPr>
              <a:t>Afficher</a:t>
            </a:r>
            <a:r>
              <a:rPr lang="en-GB" dirty="0" smtClean="0">
                <a:latin typeface="Arial" panose="020B0604020202020204" pitchFamily="34" charset="0"/>
              </a:rPr>
              <a:t> le</a:t>
            </a:r>
            <a:r>
              <a:rPr lang="en-GB" dirty="0" smtClean="0">
                <a:latin typeface="Arial" panose="020B0604020202020204" pitchFamily="34" charset="0"/>
                <a:ea typeface="MS PGothic" panose="020B0600070205080204" charset="-128"/>
              </a:rPr>
              <a:t> </a:t>
            </a:r>
            <a:r>
              <a:rPr lang="en-GB" b="1" dirty="0">
                <a:latin typeface="Courier New" panose="02070309020205020404"/>
                <a:ea typeface="MS PGothic" panose="020B0600070205080204" charset="-128"/>
                <a:cs typeface="Courier New" panose="02070309020205020404"/>
              </a:rPr>
              <a:t>nom_variable</a:t>
            </a:r>
            <a:endParaRPr lang="en-GB" dirty="0">
              <a:latin typeface="Courier New" panose="02070309020205020404"/>
              <a:ea typeface="MS PGothic" panose="020B0600070205080204" charset="-128"/>
              <a:cs typeface="Courier New" panose="02070309020205020404"/>
            </a:endParaRPr>
          </a:p>
          <a:p>
            <a:pPr lvl="1"/>
            <a:r>
              <a:rPr lang="en-GB" b="1" dirty="0">
                <a:latin typeface="Courier New" panose="02070309020205020404"/>
                <a:ea typeface="MS PGothic" panose="020B0600070205080204" charset="-128"/>
                <a:cs typeface="Courier New" panose="02070309020205020404"/>
              </a:rPr>
              <a:t>watch nom_variable</a:t>
            </a:r>
            <a:r>
              <a:rPr lang="en-GB" dirty="0">
                <a:latin typeface="Courier New" panose="02070309020205020404"/>
                <a:ea typeface="MS PGothic" panose="020B0600070205080204" charset="-128"/>
                <a:cs typeface="Courier New" panose="02070309020205020404"/>
              </a:rPr>
              <a:t> </a:t>
            </a:r>
            <a:r>
              <a:rPr lang="en-GB" dirty="0" smtClean="0">
                <a:latin typeface="Arial" panose="020B0604020202020204" pitchFamily="34" charset="0"/>
                <a:ea typeface="MS PGothic" panose="020B0600070205080204" charset="-128"/>
              </a:rPr>
              <a:t>(</a:t>
            </a:r>
            <a:r>
              <a:rPr lang="en-GB" dirty="0" smtClean="0">
                <a:latin typeface="Arial" panose="020B0604020202020204" pitchFamily="34" charset="0"/>
              </a:rPr>
              <a:t>permet de surveiller</a:t>
            </a:r>
            <a:r>
              <a:rPr lang="en-GB" dirty="0" smtClean="0">
                <a:latin typeface="Arial" panose="020B0604020202020204" pitchFamily="34" charset="0"/>
                <a:ea typeface="MS PGothic" panose="020B0600070205080204" charset="-128"/>
              </a:rPr>
              <a:t>)</a:t>
            </a:r>
            <a:endParaRPr lang="en-GB" dirty="0">
              <a:latin typeface="Arial" panose="020B0604020202020204" pitchFamily="34" charset="0"/>
              <a:ea typeface="MS PGothic" panose="020B0600070205080204" charset="-128"/>
            </a:endParaRPr>
          </a:p>
          <a:p>
            <a:pPr lvl="1"/>
            <a:r>
              <a:rPr lang="en-GB" dirty="0">
                <a:latin typeface="Arial" panose="020B0604020202020204" pitchFamily="34" charset="0"/>
                <a:ea typeface="MS PGothic" panose="020B0600070205080204" charset="-128"/>
              </a:rPr>
              <a:t>info locals </a:t>
            </a:r>
            <a:r>
              <a:rPr lang="en-GB" dirty="0" smtClean="0">
                <a:latin typeface="Arial" panose="020B0604020202020204" pitchFamily="34" charset="0"/>
                <a:ea typeface="MS PGothic" panose="020B0600070205080204" charset="-128"/>
              </a:rPr>
              <a:t>(variables locales)</a:t>
            </a:r>
            <a:endParaRPr lang="en-GB" dirty="0">
              <a:latin typeface="Arial" panose="020B0604020202020204" pitchFamily="34" charset="0"/>
              <a:ea typeface="MS PGothic" panose="020B0600070205080204" charset="-128"/>
            </a:endParaRPr>
          </a:p>
          <a:p>
            <a:r>
              <a:rPr lang="en-GB" dirty="0">
                <a:latin typeface="Arial" panose="020B0604020202020204" pitchFamily="34" charset="0"/>
                <a:ea typeface="MS PGothic" panose="020B0600070205080204" charset="-128"/>
                <a:cs typeface="MS PGothic" panose="020B0600070205080204" charset="-128"/>
              </a:rPr>
              <a:t>…</a:t>
            </a:r>
            <a:endParaRPr lang="en-GB" dirty="0">
              <a:latin typeface="Arial" panose="020B0604020202020204" pitchFamily="34" charset="0"/>
              <a:ea typeface="MS PGothic" panose="020B0600070205080204" charset="-128"/>
              <a:cs typeface="MS PGothic" panose="020B0600070205080204" charset="-128"/>
            </a:endParaRPr>
          </a:p>
          <a:p>
            <a:r>
              <a:rPr lang="fr-FR" dirty="0">
                <a:latin typeface="Arial" panose="020B0604020202020204" pitchFamily="34" charset="0"/>
                <a:cs typeface="MS PGothic" panose="020B0600070205080204" charset="-128"/>
              </a:rPr>
              <a:t>Fiche de référence rapide </a:t>
            </a:r>
            <a:r>
              <a:rPr lang="fr-FR" dirty="0" smtClean="0">
                <a:latin typeface="Arial" panose="020B0604020202020204" pitchFamily="34" charset="0"/>
                <a:cs typeface="MS PGothic" panose="020B0600070205080204" charset="-128"/>
              </a:rPr>
              <a:t>GDB</a:t>
            </a:r>
            <a:r>
              <a:rPr lang="en-GB" dirty="0" smtClean="0">
                <a:latin typeface="Arial" panose="020B0604020202020204" pitchFamily="34" charset="0"/>
                <a:ea typeface="MS PGothic" panose="020B0600070205080204" charset="-128"/>
                <a:cs typeface="MS PGothic" panose="020B0600070205080204" charset="-128"/>
              </a:rPr>
              <a:t> </a:t>
            </a:r>
            <a:r>
              <a:rPr lang="en-GB" dirty="0">
                <a:latin typeface="Arial" panose="020B0604020202020204" pitchFamily="34" charset="0"/>
                <a:ea typeface="MS PGothic" panose="020B0600070205080204" charset="-128"/>
                <a:cs typeface="MS PGothic" panose="020B0600070205080204" charset="-128"/>
              </a:rPr>
              <a:t>!!!</a:t>
            </a:r>
            <a:endParaRPr lang="en-GB" dirty="0">
              <a:latin typeface="Arial" panose="020B0604020202020204" pitchFamily="34" charset="0"/>
              <a:ea typeface="MS PGothic" panose="020B0600070205080204" charset="-128"/>
              <a:cs typeface="MS PGothic" panose="020B0600070205080204" charset="-128"/>
            </a:endParaRPr>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Titre 1"/>
          <p:cNvSpPr>
            <a:spLocks noGrp="1"/>
          </p:cNvSpPr>
          <p:nvPr>
            <p:ph type="title"/>
          </p:nvPr>
        </p:nvSpPr>
        <p:spPr/>
        <p:txBody>
          <a:bodyPr/>
          <a:lstStyle/>
          <a:p>
            <a:r>
              <a:rPr lang="fr-FR" sz="2800" dirty="0" smtClean="0">
                <a:latin typeface="Arial" panose="020B0604020202020204" pitchFamily="34" charset="0"/>
                <a:cs typeface="MS PGothic" panose="020B0600070205080204" charset="-128"/>
              </a:rPr>
              <a:t>OUTIL</a:t>
            </a:r>
            <a:r>
              <a:rPr lang="fr-FR" sz="2800" dirty="0" smtClean="0">
                <a:latin typeface="Arial" panose="020B0604020202020204" pitchFamily="34" charset="0"/>
                <a:ea typeface="MS PGothic" panose="020B0600070205080204" charset="-128"/>
                <a:cs typeface="MS PGothic" panose="020B0600070205080204" charset="-128"/>
              </a:rPr>
              <a:t> </a:t>
            </a:r>
            <a:r>
              <a:rPr lang="fr-FR" sz="2800" dirty="0">
                <a:latin typeface="Courier New" panose="02070309020205020404"/>
                <a:ea typeface="MS PGothic" panose="020B0600070205080204" charset="-128"/>
                <a:cs typeface="Courier New" panose="02070309020205020404"/>
              </a:rPr>
              <a:t>Valgrind</a:t>
            </a:r>
            <a:endParaRPr lang="fr-FR" sz="2800" dirty="0">
              <a:latin typeface="Courier New" panose="02070309020205020404"/>
              <a:ea typeface="MS PGothic" panose="020B0600070205080204" charset="-128"/>
              <a:cs typeface="Courier New" panose="02070309020205020404"/>
            </a:endParaRPr>
          </a:p>
        </p:txBody>
      </p:sp>
      <p:sp>
        <p:nvSpPr>
          <p:cNvPr id="136194" name="Espace réservé du contenu 2"/>
          <p:cNvSpPr>
            <a:spLocks noGrp="1"/>
          </p:cNvSpPr>
          <p:nvPr>
            <p:ph idx="1"/>
          </p:nvPr>
        </p:nvSpPr>
        <p:spPr>
          <a:xfrm>
            <a:off x="359532" y="914400"/>
            <a:ext cx="8686800" cy="5257800"/>
          </a:xfrm>
        </p:spPr>
        <p:txBody>
          <a:bodyPr/>
          <a:lstStyle/>
          <a:p>
            <a:r>
              <a:rPr lang="fr-FR" dirty="0" smtClean="0">
                <a:latin typeface="Arial" panose="020B0604020202020204" pitchFamily="34" charset="0"/>
                <a:ea typeface="MS PGothic" panose="020B0600070205080204" charset="-128"/>
                <a:cs typeface="MS PGothic" panose="020B0600070205080204" charset="-128"/>
              </a:rPr>
              <a:t>Avec </a:t>
            </a:r>
            <a:r>
              <a:rPr lang="fr-FR" dirty="0">
                <a:latin typeface="Arial" panose="020B0604020202020204" pitchFamily="34" charset="0"/>
                <a:ea typeface="MS PGothic" panose="020B0600070205080204" charset="-128"/>
                <a:cs typeface="MS PGothic" panose="020B0600070205080204" charset="-128"/>
              </a:rPr>
              <a:t>Valgrind </a:t>
            </a:r>
            <a:r>
              <a:rPr lang="fr-FR" dirty="0">
                <a:latin typeface="Arial" panose="020B0604020202020204" pitchFamily="34" charset="0"/>
                <a:cs typeface="MS PGothic" panose="020B0600070205080204" charset="-128"/>
              </a:rPr>
              <a:t>nous pouvons identifier les fuites de mémoire</a:t>
            </a:r>
            <a:endParaRPr lang="fr-FR" dirty="0" smtClean="0">
              <a:latin typeface="Arial" panose="020B0604020202020204" pitchFamily="34" charset="0"/>
              <a:cs typeface="MS PGothic" panose="020B0600070205080204" charset="-128"/>
            </a:endParaRPr>
          </a:p>
          <a:p>
            <a:pPr lvl="1"/>
            <a:r>
              <a:rPr lang="fr-FR" dirty="0" smtClean="0">
                <a:latin typeface="Arial" panose="020B0604020202020204" pitchFamily="34" charset="0"/>
                <a:ea typeface="MS PGothic" panose="020B0600070205080204" charset="-128"/>
                <a:cs typeface="MS PGothic" panose="020B0600070205080204" charset="-128"/>
              </a:rPr>
              <a:t>Exemple d’une fuite de mémoire</a:t>
            </a:r>
            <a:endParaRPr lang="fr-FR" dirty="0" smtClean="0">
              <a:latin typeface="Arial" panose="020B0604020202020204" pitchFamily="34" charset="0"/>
              <a:ea typeface="MS PGothic" panose="020B0600070205080204" charset="-128"/>
              <a:cs typeface="MS PGothic" panose="020B0600070205080204" charset="-128"/>
            </a:endParaRPr>
          </a:p>
          <a:p>
            <a:pPr marL="0" indent="0">
              <a:buNone/>
            </a:pPr>
            <a:endParaRPr lang="fr-FR" b="1" dirty="0">
              <a:latin typeface="Arial" panose="020B0604020202020204" pitchFamily="34" charset="0"/>
              <a:ea typeface="MS PGothic" panose="020B0600070205080204" charset="-128"/>
              <a:cs typeface="MS PGothic" panose="020B0600070205080204" charset="-128"/>
            </a:endParaRPr>
          </a:p>
          <a:p>
            <a:endParaRPr lang="fr-FR" b="1" dirty="0">
              <a:latin typeface="Arial" panose="020B0604020202020204" pitchFamily="34" charset="0"/>
              <a:ea typeface="MS PGothic" panose="020B0600070205080204" charset="-128"/>
              <a:cs typeface="MS PGothic" panose="020B0600070205080204" charset="-128"/>
            </a:endParaRPr>
          </a:p>
          <a:p>
            <a:endParaRPr lang="fr-FR" b="1" dirty="0">
              <a:latin typeface="Arial" panose="020B0604020202020204" pitchFamily="34" charset="0"/>
              <a:ea typeface="MS PGothic" panose="020B0600070205080204" charset="-128"/>
              <a:cs typeface="MS PGothic" panose="020B0600070205080204" charset="-128"/>
            </a:endParaRPr>
          </a:p>
          <a:p>
            <a:endParaRPr lang="fr-FR" b="1" dirty="0">
              <a:latin typeface="Arial" panose="020B0604020202020204" pitchFamily="34" charset="0"/>
              <a:cs typeface="MS PGothic" panose="020B0600070205080204" charset="-128"/>
            </a:endParaRPr>
          </a:p>
          <a:p>
            <a:endParaRPr lang="fr-FR" b="1" dirty="0">
              <a:latin typeface="Arial" panose="020B0604020202020204" pitchFamily="34" charset="0"/>
              <a:ea typeface="MS PGothic" panose="020B0600070205080204" charset="-128"/>
              <a:cs typeface="MS PGothic" panose="020B0600070205080204" charset="-128"/>
            </a:endParaRPr>
          </a:p>
          <a:p>
            <a:endParaRPr lang="fr-FR" b="1" dirty="0">
              <a:latin typeface="Arial" panose="020B0604020202020204" pitchFamily="34" charset="0"/>
              <a:ea typeface="MS PGothic" panose="020B0600070205080204" charset="-128"/>
              <a:cs typeface="MS PGothic" panose="020B0600070205080204" charset="-128"/>
            </a:endParaRPr>
          </a:p>
          <a:p>
            <a:endParaRPr lang="fr-FR" b="1" dirty="0">
              <a:latin typeface="Arial" panose="020B0604020202020204" pitchFamily="34" charset="0"/>
              <a:ea typeface="MS PGothic" panose="020B0600070205080204" charset="-128"/>
              <a:cs typeface="MS PGothic" panose="020B0600070205080204" charset="-128"/>
            </a:endParaRPr>
          </a:p>
          <a:p>
            <a:endParaRPr lang="fr-FR" b="1" dirty="0">
              <a:latin typeface="Arial" panose="020B0604020202020204" pitchFamily="34" charset="0"/>
              <a:ea typeface="MS PGothic" panose="020B0600070205080204" charset="-128"/>
              <a:cs typeface="MS PGothic" panose="020B0600070205080204" charset="-128"/>
            </a:endParaRPr>
          </a:p>
          <a:p>
            <a:r>
              <a:rPr lang="fr-FR" dirty="0" smtClean="0">
                <a:latin typeface="Arial" panose="020B0604020202020204" pitchFamily="34" charset="0"/>
                <a:ea typeface="MS PGothic" panose="020B0600070205080204" charset="-128"/>
                <a:cs typeface="MS PGothic" panose="020B0600070205080204" charset="-128"/>
              </a:rPr>
              <a:t>Utiliser :</a:t>
            </a:r>
            <a:br>
              <a:rPr lang="fr-FR" dirty="0">
                <a:latin typeface="Arial" panose="020B0604020202020204" pitchFamily="34" charset="0"/>
                <a:ea typeface="MS PGothic" panose="020B0600070205080204" charset="-128"/>
                <a:cs typeface="MS PGothic" panose="020B0600070205080204" charset="-128"/>
              </a:rPr>
            </a:br>
            <a:r>
              <a:rPr lang="fr-FR" b="1" dirty="0" err="1">
                <a:latin typeface="Courier New" panose="02070309020205020404"/>
                <a:ea typeface="MS PGothic" panose="020B0600070205080204" charset="-128"/>
                <a:cs typeface="Courier New" panose="02070309020205020404"/>
              </a:rPr>
              <a:t>valgrind</a:t>
            </a:r>
            <a:r>
              <a:rPr lang="fr-FR" b="1" dirty="0">
                <a:latin typeface="Courier New" panose="02070309020205020404"/>
                <a:ea typeface="MS PGothic" panose="020B0600070205080204" charset="-128"/>
                <a:cs typeface="Courier New" panose="02070309020205020404"/>
              </a:rPr>
              <a:t> --tool=</a:t>
            </a:r>
            <a:r>
              <a:rPr lang="fr-FR" b="1" dirty="0" err="1">
                <a:latin typeface="Courier New" panose="02070309020205020404"/>
                <a:ea typeface="MS PGothic" panose="020B0600070205080204" charset="-128"/>
                <a:cs typeface="Courier New" panose="02070309020205020404"/>
              </a:rPr>
              <a:t>memcheck</a:t>
            </a:r>
            <a:r>
              <a:rPr lang="fr-FR" b="1" dirty="0">
                <a:latin typeface="Courier New" panose="02070309020205020404"/>
                <a:ea typeface="MS PGothic" panose="020B0600070205080204" charset="-128"/>
                <a:cs typeface="Courier New" panose="02070309020205020404"/>
              </a:rPr>
              <a:t> ./test</a:t>
            </a:r>
            <a:endParaRPr lang="fr-FR" b="1" dirty="0">
              <a:latin typeface="Courier New" panose="02070309020205020404"/>
              <a:ea typeface="MS PGothic" panose="020B0600070205080204" charset="-128"/>
              <a:cs typeface="Courier New" panose="02070309020205020404"/>
            </a:endParaRPr>
          </a:p>
        </p:txBody>
      </p:sp>
      <p:pic>
        <p:nvPicPr>
          <p:cNvPr id="136196" name="Image 4" descr="Capture d’écran 2014-08-28 à 15.12.27.pn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123728" y="1916832"/>
            <a:ext cx="4370224" cy="3096344"/>
          </a:xfrm>
          <a:prstGeom prst="rect">
            <a:avLst/>
          </a:prstGeom>
          <a:noFill/>
          <a:ln w="9525">
            <a:solidFill>
              <a:schemeClr val="tx2"/>
            </a:solidFill>
            <a:miter lim="800000"/>
            <a:headEnd/>
            <a:tailEnd/>
          </a:ln>
        </p:spPr>
      </p:pic>
      <p:sp>
        <p:nvSpPr>
          <p:cNvPr id="6"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8"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dirty="0">
              <a:solidFill>
                <a:srgbClr val="000208"/>
              </a:solidFill>
              <a:latin typeface="Times New Roman" panose="02020603050405020304" charset="0"/>
            </a:endParaRPr>
          </a:p>
        </p:txBody>
      </p:sp>
      <p:sp>
        <p:nvSpPr>
          <p:cNvPr id="7172" name="Rectangle 2"/>
          <p:cNvSpPr>
            <a:spLocks noGrp="1" noChangeArrowheads="1"/>
          </p:cNvSpPr>
          <p:nvPr>
            <p:ph type="ctrTitle"/>
          </p:nvPr>
        </p:nvSpPr>
        <p:spPr/>
        <p:txBody>
          <a:bodyPr/>
          <a:lstStyle/>
          <a:p>
            <a:r>
              <a:rPr lang="en-GB" dirty="0" smtClean="0">
                <a:latin typeface="Arial" panose="020B0604020202020204" pitchFamily="34" charset="0"/>
              </a:rPr>
              <a:t>…</a:t>
            </a:r>
            <a:r>
              <a:rPr lang="fr-FR" dirty="0">
                <a:latin typeface="Arial" panose="020B0604020202020204" pitchFamily="34" charset="0"/>
              </a:rPr>
              <a:t> avant d'entrer dans les détails de la syntaxe C </a:t>
            </a:r>
            <a:r>
              <a:rPr lang="en-GB" dirty="0" smtClean="0">
                <a:latin typeface="Arial" panose="020B0604020202020204" pitchFamily="34" charset="0"/>
              </a:rPr>
              <a:t>…</a:t>
            </a:r>
            <a:endParaRPr lang="en-GB" dirty="0">
              <a:latin typeface="Arial" panose="020B0604020202020204" pitchFamily="34" charset="0"/>
            </a:endParaRPr>
          </a:p>
        </p:txBody>
      </p:sp>
      <p:sp>
        <p:nvSpPr>
          <p:cNvPr id="6"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re 1"/>
          <p:cNvSpPr>
            <a:spLocks noGrp="1"/>
          </p:cNvSpPr>
          <p:nvPr>
            <p:ph type="title"/>
          </p:nvPr>
        </p:nvSpPr>
        <p:spPr/>
        <p:txBody>
          <a:bodyPr/>
          <a:lstStyle/>
          <a:p>
            <a:r>
              <a:rPr lang="fr-FR" sz="2800" dirty="0">
                <a:latin typeface="Arial" panose="020B0604020202020204" pitchFamily="34" charset="0"/>
                <a:cs typeface="MS PGothic" panose="020B0600070205080204" charset="-128"/>
              </a:rPr>
              <a:t>Le style du code est très important !</a:t>
            </a:r>
            <a:endParaRPr lang="fr-FR" sz="2800" dirty="0">
              <a:latin typeface="Arial" panose="020B0604020202020204" pitchFamily="34" charset="0"/>
              <a:cs typeface="MS PGothic" panose="020B0600070205080204" charset="-128"/>
            </a:endParaRPr>
          </a:p>
        </p:txBody>
      </p:sp>
      <p:sp>
        <p:nvSpPr>
          <p:cNvPr id="5" name="Rectangle 3"/>
          <p:cNvSpPr txBox="1">
            <a:spLocks noChangeArrowheads="1"/>
          </p:cNvSpPr>
          <p:nvPr/>
        </p:nvSpPr>
        <p:spPr bwMode="auto">
          <a:xfrm>
            <a:off x="609600" y="872716"/>
            <a:ext cx="8390892" cy="2088232"/>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latin typeface="Arial" panose="020B0604020202020204" pitchFamily="34" charset="0"/>
                <a:cs typeface="MS PGothic" panose="020B0600070205080204" charset="-128"/>
              </a:rPr>
              <a:t>Comprendre le code écrit par quelqu'un d'autre est un travail difficile </a:t>
            </a:r>
            <a:r>
              <a:rPr lang="fr-FR" dirty="0" smtClean="0">
                <a:latin typeface="Arial" panose="020B0604020202020204" pitchFamily="34" charset="0"/>
                <a:cs typeface="MS PGothic" panose="020B0600070205080204" charset="-128"/>
              </a:rPr>
              <a:t>!</a:t>
            </a:r>
            <a:endParaRPr lang="fr-FR" dirty="0" smtClean="0">
              <a:latin typeface="Arial" panose="020B0604020202020204" pitchFamily="34" charset="0"/>
              <a:cs typeface="MS PGothic" panose="020B0600070205080204" charset="-128"/>
            </a:endParaRPr>
          </a:p>
          <a:p>
            <a:pPr marL="0" indent="0">
              <a:buNone/>
            </a:pPr>
            <a:endParaRPr lang="en-GB" sz="800" dirty="0">
              <a:latin typeface="Arial" panose="020B0604020202020204" pitchFamily="34" charset="0"/>
              <a:cs typeface="MS PGothic" panose="020B0600070205080204" charset="-128"/>
            </a:endParaRPr>
          </a:p>
          <a:p>
            <a:r>
              <a:rPr lang="fr-FR" dirty="0">
                <a:latin typeface="Arial" panose="020B0604020202020204" pitchFamily="34" charset="0"/>
                <a:cs typeface="MS PGothic" panose="020B0600070205080204" charset="-128"/>
              </a:rPr>
              <a:t>Utiliser un langage universel (lisible par tous)</a:t>
            </a:r>
            <a:endParaRPr lang="en-GB" dirty="0" smtClean="0">
              <a:latin typeface="Arial" panose="020B0604020202020204" pitchFamily="34" charset="0"/>
              <a:cs typeface="MS PGothic" panose="020B0600070205080204" charset="-128"/>
            </a:endParaRPr>
          </a:p>
          <a:p>
            <a:pPr lvl="1"/>
            <a:r>
              <a:rPr lang="el-GR" dirty="0" smtClean="0">
                <a:latin typeface="Arial" panose="020B0604020202020204" pitchFamily="34" charset="0"/>
                <a:cs typeface="MS PGothic" panose="020B0600070205080204" charset="-128"/>
              </a:rPr>
              <a:t>Πιστεύω ότι κανένας δεν μπορεί να καταλάβει αυτή τη γραμμή χωρίς να χρησιμοποιήσει μεταφραστή</a:t>
            </a:r>
            <a:endParaRPr lang="en-GB" dirty="0" smtClean="0">
              <a:latin typeface="Arial" panose="020B0604020202020204" pitchFamily="34" charset="0"/>
              <a:cs typeface="MS PGothic" panose="020B0600070205080204" charset="-128"/>
            </a:endParaRPr>
          </a:p>
          <a:p>
            <a:endParaRPr lang="en-GB" sz="800" dirty="0">
              <a:latin typeface="Arial" panose="020B0604020202020204" pitchFamily="34" charset="0"/>
              <a:cs typeface="MS PGothic" panose="020B0600070205080204" charset="-128"/>
              <a:sym typeface="Wingdings" panose="05000000000000000000" charset="0"/>
            </a:endParaRPr>
          </a:p>
          <a:p>
            <a:r>
              <a:rPr lang="fr-FR" dirty="0">
                <a:latin typeface="Arial" panose="020B0604020202020204" pitchFamily="34" charset="0"/>
                <a:cs typeface="MS PGothic" panose="020B0600070205080204" charset="-128"/>
              </a:rPr>
              <a:t>Décider d'un style de code et être </a:t>
            </a:r>
            <a:r>
              <a:rPr lang="fr-FR" b="1" dirty="0">
                <a:latin typeface="Arial" panose="020B0604020202020204" pitchFamily="34" charset="0"/>
                <a:cs typeface="MS PGothic" panose="020B0600070205080204" charset="-128"/>
              </a:rPr>
              <a:t>CONSISTANT</a:t>
            </a:r>
            <a:endParaRPr lang="en-GB" sz="800" b="1" dirty="0">
              <a:latin typeface="Arial" panose="020B0604020202020204" pitchFamily="34" charset="0"/>
              <a:cs typeface="MS PGothic" panose="020B0600070205080204" charset="-128"/>
            </a:endParaRPr>
          </a:p>
          <a:p>
            <a:r>
              <a:rPr lang="en-GB" dirty="0" smtClean="0">
                <a:latin typeface="Arial" panose="020B0604020202020204" pitchFamily="34" charset="0"/>
                <a:cs typeface="MS PGothic" panose="020B0600070205080204" charset="-128"/>
              </a:rPr>
              <a:t>Commentaires</a:t>
            </a:r>
            <a:endParaRPr lang="en-GB" dirty="0">
              <a:latin typeface="Arial" panose="020B0604020202020204" pitchFamily="34" charset="0"/>
              <a:cs typeface="MS PGothic" panose="020B0600070205080204" charset="-128"/>
            </a:endParaRPr>
          </a:p>
          <a:p>
            <a:pPr lvl="1"/>
            <a:r>
              <a:rPr lang="en-GB" dirty="0" smtClean="0">
                <a:latin typeface="Arial" panose="020B0604020202020204" pitchFamily="34" charset="0"/>
                <a:cs typeface="MS PGothic" panose="020B0600070205080204" charset="-128"/>
              </a:rPr>
              <a:t>Documentation : </a:t>
            </a:r>
            <a:r>
              <a:rPr lang="fr-FR" dirty="0">
                <a:latin typeface="Arial" panose="020B0604020202020204" pitchFamily="34" charset="0"/>
                <a:cs typeface="MS PGothic" panose="020B0600070205080204" charset="-128"/>
              </a:rPr>
              <a:t> Les programmeurs qui veulent utiliser le code</a:t>
            </a:r>
            <a:endParaRPr lang="en-GB" dirty="0">
              <a:latin typeface="Arial" panose="020B0604020202020204" pitchFamily="34" charset="0"/>
              <a:cs typeface="MS PGothic" panose="020B0600070205080204" charset="-128"/>
            </a:endParaRPr>
          </a:p>
          <a:p>
            <a:pPr lvl="1"/>
            <a:r>
              <a:rPr lang="en-GB" dirty="0" smtClean="0">
                <a:latin typeface="Arial" panose="020B0604020202020204" pitchFamily="34" charset="0"/>
                <a:cs typeface="MS PGothic" panose="020B0600070205080204" charset="-128"/>
              </a:rPr>
              <a:t>Implementation : </a:t>
            </a:r>
            <a:r>
              <a:rPr lang="fr-FR" dirty="0">
                <a:latin typeface="Arial" panose="020B0604020202020204" pitchFamily="34" charset="0"/>
                <a:cs typeface="MS PGothic" panose="020B0600070205080204" charset="-128"/>
              </a:rPr>
              <a:t>Programmeurs qui maintiennent le code, c'est-à-dire qu'ils doivent comprendre votre implémentation.</a:t>
            </a:r>
            <a:endParaRPr lang="en-GB" dirty="0">
              <a:latin typeface="Arial" panose="020B0604020202020204" pitchFamily="34" charset="0"/>
              <a:cs typeface="MS PGothic" panose="020B0600070205080204" charset="-128"/>
            </a:endParaRPr>
          </a:p>
          <a:p>
            <a:endParaRPr lang="en-GB" sz="800" dirty="0">
              <a:latin typeface="Arial" panose="020B0604020202020204" pitchFamily="34" charset="0"/>
              <a:cs typeface="MS PGothic" panose="020B0600070205080204" charset="-128"/>
            </a:endParaRPr>
          </a:p>
          <a:p>
            <a:r>
              <a:rPr lang="fr-FR" dirty="0">
                <a:latin typeface="Arial" panose="020B0604020202020204" pitchFamily="34" charset="0"/>
                <a:cs typeface="MS PGothic" panose="020B0600070205080204" charset="-128"/>
              </a:rPr>
              <a:t>Des noms qui signifient quelque chose</a:t>
            </a:r>
            <a:endParaRPr lang="en-GB" dirty="0">
              <a:latin typeface="Arial" panose="020B0604020202020204" pitchFamily="34" charset="0"/>
              <a:cs typeface="MS PGothic" panose="020B0600070205080204" charset="-128"/>
            </a:endParaRPr>
          </a:p>
          <a:p>
            <a:pPr lvl="1"/>
            <a:r>
              <a:rPr lang="en-GB" b="1" dirty="0">
                <a:latin typeface="Courier"/>
                <a:cs typeface="Courier"/>
              </a:rPr>
              <a:t>int z</a:t>
            </a:r>
            <a:r>
              <a:rPr lang="en-GB" dirty="0">
                <a:latin typeface="Arial" panose="020B0604020202020204" pitchFamily="34" charset="0"/>
                <a:cs typeface="MS PGothic" panose="020B0600070205080204" charset="-128"/>
              </a:rPr>
              <a:t> </a:t>
            </a:r>
            <a:r>
              <a:rPr lang="en-GB" dirty="0" smtClean="0">
                <a:latin typeface="Arial" panose="020B0604020202020204" pitchFamily="34" charset="0"/>
                <a:cs typeface="MS PGothic" panose="020B0600070205080204" charset="-128"/>
              </a:rPr>
              <a:t> </a:t>
            </a:r>
            <a:r>
              <a:rPr lang="en-GB" dirty="0" err="1" smtClean="0">
                <a:latin typeface="Arial" panose="020B0604020202020204" pitchFamily="34" charset="0"/>
                <a:cs typeface="MS PGothic" panose="020B0600070205080204" charset="-128"/>
              </a:rPr>
              <a:t>Vs</a:t>
            </a:r>
            <a:r>
              <a:rPr lang="en-GB" dirty="0" smtClean="0">
                <a:latin typeface="Arial" panose="020B0604020202020204" pitchFamily="34" charset="0"/>
                <a:cs typeface="MS PGothic" panose="020B0600070205080204" charset="-128"/>
              </a:rPr>
              <a:t>  </a:t>
            </a:r>
            <a:r>
              <a:rPr lang="en-GB" b="1" dirty="0" smtClean="0">
                <a:latin typeface="Courier"/>
                <a:cs typeface="Courier"/>
              </a:rPr>
              <a:t>int </a:t>
            </a:r>
            <a:r>
              <a:rPr lang="en-GB" b="1" dirty="0">
                <a:latin typeface="Courier"/>
                <a:cs typeface="Courier"/>
              </a:rPr>
              <a:t>counter</a:t>
            </a:r>
            <a:endParaRPr lang="en-GB" b="1" strike="sngStrike" dirty="0">
              <a:latin typeface="Courier"/>
              <a:cs typeface="Courier"/>
            </a:endParaRPr>
          </a:p>
        </p:txBody>
      </p:sp>
      <p:sp>
        <p:nvSpPr>
          <p:cNvPr id="6"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8"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172" name="Rectangle 2"/>
          <p:cNvSpPr>
            <a:spLocks noGrp="1" noChangeArrowheads="1"/>
          </p:cNvSpPr>
          <p:nvPr>
            <p:ph type="ctrTitle"/>
          </p:nvPr>
        </p:nvSpPr>
        <p:spPr>
          <a:xfrm>
            <a:off x="685800" y="2130425"/>
            <a:ext cx="8278688" cy="1470025"/>
          </a:xfrm>
        </p:spPr>
        <p:txBody>
          <a:bodyPr/>
          <a:lstStyle/>
          <a:p>
            <a:r>
              <a:rPr lang="en-GB" dirty="0">
                <a:latin typeface="Arial" panose="020B0604020202020204" pitchFamily="34" charset="0"/>
              </a:rPr>
              <a:t>CM 4: </a:t>
            </a:r>
            <a:br>
              <a:rPr lang="en-GB" dirty="0">
                <a:latin typeface="Arial" panose="020B0604020202020204" pitchFamily="34" charset="0"/>
              </a:rPr>
            </a:br>
            <a:r>
              <a:rPr lang="fr-FR" dirty="0">
                <a:latin typeface="Arial" panose="020B0604020202020204" pitchFamily="34" charset="0"/>
              </a:rPr>
              <a:t>Composants de base du langage C : types de données primitifs, bibliothèques et structures de contrôle.</a:t>
            </a:r>
            <a:endParaRPr lang="en-GB" dirty="0">
              <a:latin typeface="Arial" panose="020B0604020202020204" pitchFamily="34" charset="0"/>
            </a:endParaRPr>
          </a:p>
        </p:txBody>
      </p:sp>
      <p:sp>
        <p:nvSpPr>
          <p:cNvPr id="6"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re 1"/>
          <p:cNvSpPr>
            <a:spLocks noGrp="1"/>
          </p:cNvSpPr>
          <p:nvPr>
            <p:ph type="title"/>
          </p:nvPr>
        </p:nvSpPr>
        <p:spPr/>
        <p:txBody>
          <a:bodyPr/>
          <a:lstStyle/>
          <a:p>
            <a:r>
              <a:rPr lang="fr-FR" sz="2800" dirty="0">
                <a:latin typeface="Arial" panose="020B0604020202020204" pitchFamily="34" charset="0"/>
                <a:ea typeface="MS PGothic" panose="020B0600070205080204" charset="-128"/>
                <a:cs typeface="MS PGothic" panose="020B0600070205080204" charset="-128"/>
              </a:rPr>
              <a:t>Instructions &amp; </a:t>
            </a:r>
            <a:r>
              <a:rPr lang="fr-FR" sz="2800" dirty="0" smtClean="0">
                <a:latin typeface="Arial" panose="020B0604020202020204" pitchFamily="34" charset="0"/>
                <a:ea typeface="MS PGothic" panose="020B0600070205080204" charset="-128"/>
                <a:cs typeface="MS PGothic" panose="020B0600070205080204" charset="-128"/>
              </a:rPr>
              <a:t>Commentaires</a:t>
            </a:r>
            <a:endParaRPr lang="fr-FR" sz="2800" dirty="0">
              <a:latin typeface="Arial" panose="020B0604020202020204" pitchFamily="34" charset="0"/>
              <a:ea typeface="MS PGothic" panose="020B0600070205080204" charset="-128"/>
              <a:cs typeface="MS PGothic" panose="020B0600070205080204" charset="-128"/>
            </a:endParaRPr>
          </a:p>
        </p:txBody>
      </p:sp>
      <p:sp>
        <p:nvSpPr>
          <p:cNvPr id="81922" name="Espace réservé du contenu 2"/>
          <p:cNvSpPr>
            <a:spLocks noGrp="1"/>
          </p:cNvSpPr>
          <p:nvPr>
            <p:ph idx="1"/>
          </p:nvPr>
        </p:nvSpPr>
        <p:spPr/>
        <p:txBody>
          <a:bodyPr/>
          <a:lstStyle/>
          <a:p>
            <a:r>
              <a:rPr lang="fr-FR" dirty="0">
                <a:latin typeface="Arial" panose="020B0604020202020204" pitchFamily="34" charset="0"/>
                <a:cs typeface="MS PGothic" panose="020B0600070205080204" charset="-128"/>
              </a:rPr>
              <a:t>L'instruction est toute expression se terminant </a:t>
            </a:r>
            <a:r>
              <a:rPr lang="fr-FR" dirty="0" smtClean="0">
                <a:latin typeface="Arial" panose="020B0604020202020204" pitchFamily="34" charset="0"/>
                <a:cs typeface="MS PGothic" panose="020B0600070205080204" charset="-128"/>
              </a:rPr>
              <a:t>par </a:t>
            </a:r>
            <a:r>
              <a:rPr lang="en-GB" b="1" dirty="0" smtClean="0">
                <a:latin typeface="Arial" panose="020B0604020202020204" pitchFamily="34" charset="0"/>
                <a:cs typeface="MS PGothic" panose="020B0600070205080204" charset="-128"/>
              </a:rPr>
              <a:t>;</a:t>
            </a:r>
            <a:r>
              <a:rPr lang="en-GB" dirty="0" smtClean="0">
                <a:latin typeface="Arial" panose="020B0604020202020204" pitchFamily="34" charset="0"/>
                <a:cs typeface="MS PGothic" panose="020B0600070205080204" charset="-128"/>
              </a:rPr>
              <a:t> </a:t>
            </a:r>
            <a:endParaRPr lang="en-GB" dirty="0">
              <a:latin typeface="Arial" panose="020B0604020202020204" pitchFamily="34" charset="0"/>
              <a:cs typeface="MS PGothic" panose="020B0600070205080204" charset="-128"/>
            </a:endParaRPr>
          </a:p>
          <a:p>
            <a:pPr marL="0" indent="0">
              <a:buNone/>
            </a:pPr>
            <a:endParaRPr lang="en-GB" sz="1000" dirty="0">
              <a:latin typeface="Arial" panose="020B0604020202020204" pitchFamily="34" charset="0"/>
              <a:cs typeface="MS PGothic" panose="020B0600070205080204" charset="-128"/>
            </a:endParaRPr>
          </a:p>
          <a:p>
            <a:r>
              <a:rPr lang="en-GB" dirty="0">
                <a:latin typeface="Arial" panose="020B0604020202020204" pitchFamily="34" charset="0"/>
                <a:cs typeface="MS PGothic" panose="020B0600070205080204" charset="-128"/>
              </a:rPr>
              <a:t>Block </a:t>
            </a:r>
            <a:r>
              <a:rPr lang="en-GB" dirty="0" smtClean="0">
                <a:latin typeface="Arial" panose="020B0604020202020204" pitchFamily="34" charset="0"/>
                <a:cs typeface="MS PGothic" panose="020B0600070205080204" charset="-128"/>
              </a:rPr>
              <a:t>d’instructions :</a:t>
            </a:r>
            <a:endParaRPr lang="en-GB" dirty="0">
              <a:latin typeface="Arial" panose="020B0604020202020204" pitchFamily="34" charset="0"/>
              <a:cs typeface="MS PGothic" panose="020B0600070205080204" charset="-128"/>
            </a:endParaRPr>
          </a:p>
          <a:p>
            <a:pPr marL="0" indent="0">
              <a:buNone/>
            </a:pPr>
            <a:r>
              <a:rPr lang="en-GB" sz="2000" b="1" dirty="0">
                <a:latin typeface="Courier"/>
                <a:cs typeface="Courier"/>
              </a:rPr>
              <a:t>{ </a:t>
            </a:r>
            <a:endParaRPr lang="en-GB" sz="2000" b="1" dirty="0">
              <a:latin typeface="Courier"/>
              <a:cs typeface="Courier"/>
            </a:endParaRPr>
          </a:p>
          <a:p>
            <a:pPr marL="0" indent="0">
              <a:buNone/>
            </a:pPr>
            <a:r>
              <a:rPr lang="en-GB" sz="2000" b="1" dirty="0">
                <a:latin typeface="Courier"/>
                <a:cs typeface="Courier"/>
              </a:rPr>
              <a:t>	</a:t>
            </a:r>
            <a:r>
              <a:rPr lang="en-GB" sz="2000" b="1" dirty="0" smtClean="0">
                <a:latin typeface="Courier"/>
                <a:cs typeface="Courier"/>
              </a:rPr>
              <a:t>liste d’instructions </a:t>
            </a:r>
            <a:endParaRPr lang="en-GB" sz="2000" b="1" dirty="0">
              <a:latin typeface="Courier"/>
              <a:cs typeface="Courier"/>
            </a:endParaRPr>
          </a:p>
          <a:p>
            <a:pPr marL="0" indent="0">
              <a:buNone/>
            </a:pPr>
            <a:r>
              <a:rPr lang="en-GB" sz="2000" b="1" dirty="0">
                <a:latin typeface="Courier"/>
                <a:cs typeface="Courier"/>
              </a:rPr>
              <a:t>}</a:t>
            </a:r>
            <a:endParaRPr lang="en-GB" sz="2000" b="1" dirty="0">
              <a:latin typeface="Courier"/>
              <a:cs typeface="Courier"/>
            </a:endParaRPr>
          </a:p>
          <a:p>
            <a:pPr marL="0" indent="0">
              <a:buNone/>
            </a:pPr>
            <a:endParaRPr lang="en-GB" sz="2000" dirty="0">
              <a:cs typeface="Courier"/>
            </a:endParaRPr>
          </a:p>
          <a:p>
            <a:r>
              <a:rPr lang="en-US" dirty="0" smtClean="0">
                <a:cs typeface="Courier"/>
              </a:rPr>
              <a:t>Commentaires</a:t>
            </a:r>
            <a:endParaRPr lang="en-US" dirty="0">
              <a:cs typeface="Courier"/>
            </a:endParaRPr>
          </a:p>
          <a:p>
            <a:pPr lvl="1"/>
            <a:r>
              <a:rPr lang="en-US" b="1" dirty="0">
                <a:latin typeface="Courier"/>
                <a:cs typeface="Courier"/>
              </a:rPr>
              <a:t>/* </a:t>
            </a:r>
            <a:r>
              <a:rPr lang="en-US" b="1" dirty="0" err="1" smtClean="0">
                <a:latin typeface="Courier"/>
                <a:cs typeface="Courier"/>
              </a:rPr>
              <a:t>il</a:t>
            </a:r>
            <a:r>
              <a:rPr lang="en-US" b="1" dirty="0" smtClean="0">
                <a:latin typeface="Courier"/>
                <a:cs typeface="Courier"/>
              </a:rPr>
              <a:t> s’agit d’un commentaire </a:t>
            </a:r>
            <a:r>
              <a:rPr lang="en-US" b="1" dirty="0">
                <a:latin typeface="Courier"/>
                <a:cs typeface="Courier"/>
              </a:rPr>
              <a:t>*/</a:t>
            </a:r>
            <a:endParaRPr lang="en-US" b="1" dirty="0">
              <a:latin typeface="Courier"/>
              <a:cs typeface="Courier"/>
            </a:endParaRPr>
          </a:p>
          <a:p>
            <a:pPr lvl="1"/>
            <a:r>
              <a:rPr lang="en-US" b="1" dirty="0">
                <a:latin typeface="Courier"/>
                <a:cs typeface="Courier"/>
              </a:rPr>
              <a:t>// </a:t>
            </a:r>
            <a:r>
              <a:rPr lang="en-US" b="1" dirty="0" err="1" smtClean="0">
                <a:latin typeface="Courier"/>
                <a:cs typeface="Courier"/>
              </a:rPr>
              <a:t>i</a:t>
            </a:r>
            <a:r>
              <a:rPr lang="fr-FR" b="1" dirty="0">
                <a:latin typeface="Courier"/>
                <a:cs typeface="Courier"/>
              </a:rPr>
              <a:t>l s'agit d'un commentaire d'une ligne</a:t>
            </a:r>
            <a:endParaRPr lang="en-US" b="1" dirty="0">
              <a:latin typeface="Courier"/>
              <a:cs typeface="Courier"/>
            </a:endParaRPr>
          </a:p>
          <a:p>
            <a:r>
              <a:rPr lang="fr-FR" dirty="0">
                <a:latin typeface="Arial" panose="020B0604020202020204" pitchFamily="34" charset="0"/>
              </a:rPr>
              <a:t>Le langage C ne supporte pas la désambiguïsation</a:t>
            </a:r>
            <a:endParaRPr lang="fr-FR" dirty="0">
              <a:latin typeface="Arial" panose="020B0604020202020204" pitchFamily="34" charset="0"/>
            </a:endParaRPr>
          </a:p>
          <a:p>
            <a:pPr lvl="1"/>
            <a:r>
              <a:rPr lang="fr-FR" dirty="0">
                <a:latin typeface="Arial" panose="020B0604020202020204" pitchFamily="34" charset="0"/>
              </a:rPr>
              <a:t>Les </a:t>
            </a:r>
            <a:r>
              <a:rPr lang="fr-FR" b="1" dirty="0">
                <a:latin typeface="Arial" panose="020B0604020202020204" pitchFamily="34" charset="0"/>
              </a:rPr>
              <a:t>mots-clés</a:t>
            </a:r>
            <a:r>
              <a:rPr lang="fr-FR" dirty="0">
                <a:latin typeface="Arial" panose="020B0604020202020204" pitchFamily="34" charset="0"/>
              </a:rPr>
              <a:t> du langage sont réservés et ne peuvent pas être utilisés pour nommer des variables et des fonctions</a:t>
            </a:r>
            <a:r>
              <a:rPr lang="fr-FR" dirty="0" smtClean="0">
                <a:latin typeface="Arial" panose="020B0604020202020204" pitchFamily="34" charset="0"/>
              </a:rPr>
              <a:t>.</a:t>
            </a:r>
            <a:endParaRPr lang="en-GB" dirty="0">
              <a:latin typeface="Arial" panose="020B0604020202020204" pitchFamily="34" charset="0"/>
            </a:endParaRPr>
          </a:p>
          <a:p>
            <a:pPr lvl="1"/>
            <a:endParaRPr lang="en-US" b="1" dirty="0">
              <a:latin typeface="Courier"/>
              <a:cs typeface="Courier"/>
            </a:endParaRPr>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2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2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2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22">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1922">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1922">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1922">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1922">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192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re 1"/>
          <p:cNvSpPr>
            <a:spLocks noGrp="1"/>
          </p:cNvSpPr>
          <p:nvPr>
            <p:ph type="title"/>
          </p:nvPr>
        </p:nvSpPr>
        <p:spPr/>
        <p:txBody>
          <a:bodyPr/>
          <a:lstStyle/>
          <a:p>
            <a:r>
              <a:rPr lang="fr-FR" sz="2800" dirty="0">
                <a:latin typeface="Arial" panose="020B0604020202020204" pitchFamily="34" charset="0"/>
                <a:cs typeface="MS PGothic" panose="020B0600070205080204" charset="-128"/>
              </a:rPr>
              <a:t>Représentation des valeurs</a:t>
            </a:r>
            <a:endParaRPr lang="fr-FR" sz="2800" dirty="0">
              <a:latin typeface="Arial" panose="020B0604020202020204" pitchFamily="34" charset="0"/>
              <a:ea typeface="MS PGothic" panose="020B0600070205080204" charset="-128"/>
              <a:cs typeface="MS PGothic" panose="020B0600070205080204" charset="-128"/>
            </a:endParaRPr>
          </a:p>
        </p:txBody>
      </p:sp>
      <p:sp>
        <p:nvSpPr>
          <p:cNvPr id="81922" name="Espace réservé du contenu 2"/>
          <p:cNvSpPr>
            <a:spLocks noGrp="1"/>
          </p:cNvSpPr>
          <p:nvPr>
            <p:ph idx="1"/>
          </p:nvPr>
        </p:nvSpPr>
        <p:spPr/>
        <p:txBody>
          <a:bodyPr/>
          <a:lstStyle/>
          <a:p>
            <a:r>
              <a:rPr lang="fr-FR" dirty="0"/>
              <a:t>Les nombres hexadécimaux commencent par</a:t>
            </a:r>
            <a:r>
              <a:rPr lang="en-US" dirty="0" smtClean="0"/>
              <a:t> </a:t>
            </a:r>
            <a:r>
              <a:rPr lang="en-US" b="1" dirty="0">
                <a:latin typeface="Courier"/>
                <a:cs typeface="Courier"/>
              </a:rPr>
              <a:t>0x</a:t>
            </a:r>
            <a:r>
              <a:rPr lang="en-US" dirty="0"/>
              <a:t>:</a:t>
            </a:r>
            <a:endParaRPr lang="en-US" dirty="0"/>
          </a:p>
          <a:p>
            <a:pPr lvl="1"/>
            <a:r>
              <a:rPr lang="en-US" b="1" dirty="0">
                <a:latin typeface="Courier"/>
                <a:cs typeface="Courier"/>
              </a:rPr>
              <a:t>0x23</a:t>
            </a:r>
            <a:r>
              <a:rPr lang="en-US" dirty="0">
                <a:cs typeface="Courier"/>
              </a:rPr>
              <a:t> </a:t>
            </a:r>
            <a:r>
              <a:rPr lang="en-US" dirty="0" smtClean="0">
                <a:cs typeface="Courier"/>
              </a:rPr>
              <a:t>est </a:t>
            </a:r>
            <a:r>
              <a:rPr lang="en-US" b="1" dirty="0">
                <a:latin typeface="Courier"/>
                <a:cs typeface="Courier"/>
              </a:rPr>
              <a:t>23</a:t>
            </a:r>
            <a:r>
              <a:rPr lang="en-US" b="1" baseline="-25000" dirty="0">
                <a:latin typeface="Courier"/>
                <a:cs typeface="Courier"/>
              </a:rPr>
              <a:t>16</a:t>
            </a:r>
            <a:r>
              <a:rPr lang="en-US" b="1" dirty="0">
                <a:latin typeface="Courier"/>
                <a:cs typeface="Courier"/>
              </a:rPr>
              <a:t> </a:t>
            </a:r>
            <a:r>
              <a:rPr lang="en-US" dirty="0" smtClean="0"/>
              <a:t>(qui est </a:t>
            </a:r>
            <a:r>
              <a:rPr lang="en-US" dirty="0"/>
              <a:t>35 </a:t>
            </a:r>
            <a:r>
              <a:rPr lang="en-US" dirty="0" smtClean="0"/>
              <a:t>en base 10</a:t>
            </a:r>
            <a:r>
              <a:rPr lang="en-US" dirty="0"/>
              <a:t>)</a:t>
            </a:r>
            <a:endParaRPr lang="en-US" dirty="0"/>
          </a:p>
          <a:p>
            <a:pPr lvl="1"/>
            <a:endParaRPr lang="en-US" dirty="0"/>
          </a:p>
          <a:p>
            <a:r>
              <a:rPr lang="fr-FR" dirty="0"/>
              <a:t>Les nombres octaux commencent par 0 </a:t>
            </a:r>
            <a:r>
              <a:rPr lang="en-US" dirty="0" smtClean="0"/>
              <a:t>:</a:t>
            </a:r>
            <a:endParaRPr lang="en-US" dirty="0"/>
          </a:p>
          <a:p>
            <a:pPr lvl="1"/>
            <a:r>
              <a:rPr lang="en-US" b="1" dirty="0">
                <a:latin typeface="Courier"/>
                <a:cs typeface="Courier"/>
              </a:rPr>
              <a:t>023</a:t>
            </a:r>
            <a:r>
              <a:rPr lang="en-US" dirty="0"/>
              <a:t> is </a:t>
            </a:r>
            <a:r>
              <a:rPr lang="en-US" b="1" dirty="0">
                <a:latin typeface="Courier"/>
                <a:cs typeface="Courier"/>
              </a:rPr>
              <a:t>23</a:t>
            </a:r>
            <a:r>
              <a:rPr lang="en-US" b="1" baseline="-25000" dirty="0">
                <a:latin typeface="Courier"/>
                <a:cs typeface="Courier"/>
              </a:rPr>
              <a:t>8</a:t>
            </a:r>
            <a:r>
              <a:rPr lang="en-US" dirty="0"/>
              <a:t> </a:t>
            </a:r>
            <a:r>
              <a:rPr lang="en-US" dirty="0" smtClean="0"/>
              <a:t>(qui est </a:t>
            </a:r>
            <a:r>
              <a:rPr lang="en-US" dirty="0"/>
              <a:t>19 </a:t>
            </a:r>
            <a:r>
              <a:rPr lang="en-US" dirty="0" smtClean="0"/>
              <a:t>en base </a:t>
            </a:r>
            <a:r>
              <a:rPr lang="en-US" dirty="0"/>
              <a:t>10)</a:t>
            </a:r>
            <a:endParaRPr lang="en-US" dirty="0"/>
          </a:p>
          <a:p>
            <a:pPr lvl="1"/>
            <a:endParaRPr lang="en-US" dirty="0"/>
          </a:p>
          <a:p>
            <a:r>
              <a:rPr lang="fr-FR" dirty="0"/>
              <a:t>Pas de préfixe pour les nombres décimaux </a:t>
            </a:r>
            <a:r>
              <a:rPr lang="en-US" dirty="0" smtClean="0"/>
              <a:t>:</a:t>
            </a:r>
            <a:endParaRPr lang="en-US" dirty="0"/>
          </a:p>
          <a:p>
            <a:pPr lvl="1"/>
            <a:r>
              <a:rPr lang="en-US" b="1" dirty="0">
                <a:latin typeface="Courier"/>
                <a:cs typeface="Courier"/>
              </a:rPr>
              <a:t>23</a:t>
            </a:r>
            <a:r>
              <a:rPr lang="en-US" dirty="0"/>
              <a:t> </a:t>
            </a:r>
            <a:r>
              <a:rPr lang="en-US" dirty="0" smtClean="0"/>
              <a:t>est </a:t>
            </a:r>
            <a:r>
              <a:rPr lang="en-US" b="1" dirty="0">
                <a:latin typeface="Courier"/>
                <a:cs typeface="Courier"/>
              </a:rPr>
              <a:t>23</a:t>
            </a:r>
            <a:r>
              <a:rPr lang="en-US" b="1" baseline="-25000" dirty="0">
                <a:latin typeface="Courier"/>
                <a:cs typeface="Courier"/>
              </a:rPr>
              <a:t>10</a:t>
            </a:r>
            <a:endParaRPr lang="en-US" b="1" baseline="-25000" dirty="0">
              <a:latin typeface="Courier"/>
              <a:cs typeface="Courier"/>
            </a:endParaRPr>
          </a:p>
          <a:p>
            <a:endParaRPr lang="en-US" dirty="0"/>
          </a:p>
          <a:p>
            <a:r>
              <a:rPr lang="en-US" dirty="0"/>
              <a:t>Représentation négative - opérateur</a:t>
            </a:r>
            <a:endParaRPr lang="en-US" dirty="0" smtClean="0"/>
          </a:p>
          <a:p>
            <a:pPr lvl="1"/>
            <a:r>
              <a:rPr lang="en-US" b="1" dirty="0" smtClean="0">
                <a:latin typeface="Courier"/>
                <a:cs typeface="Courier"/>
              </a:rPr>
              <a:t>-0x23 </a:t>
            </a:r>
            <a:r>
              <a:rPr lang="en-US" dirty="0"/>
              <a:t>est la négation de </a:t>
            </a:r>
            <a:r>
              <a:rPr lang="en-US" b="1" dirty="0" smtClean="0">
                <a:latin typeface="Courier"/>
                <a:cs typeface="Courier"/>
              </a:rPr>
              <a:t>0x23</a:t>
            </a:r>
            <a:endParaRPr lang="en-US" b="1" dirty="0" smtClean="0">
              <a:latin typeface="Courier"/>
              <a:cs typeface="Courier"/>
            </a:endParaRPr>
          </a:p>
          <a:p>
            <a:pPr marL="542925" lvl="1" indent="0">
              <a:buNone/>
            </a:pPr>
            <a:endParaRPr lang="en-US" dirty="0"/>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re 1"/>
          <p:cNvSpPr>
            <a:spLocks noGrp="1"/>
          </p:cNvSpPr>
          <p:nvPr>
            <p:ph type="title"/>
          </p:nvPr>
        </p:nvSpPr>
        <p:spPr/>
        <p:txBody>
          <a:bodyPr/>
          <a:lstStyle/>
          <a:p>
            <a:r>
              <a:rPr lang="fr-FR" sz="2800" dirty="0">
                <a:latin typeface="Arial" panose="020B0604020202020204" pitchFamily="34" charset="0"/>
                <a:cs typeface="MS PGothic" panose="020B0600070205080204" charset="-128"/>
              </a:rPr>
              <a:t>Définition de l'objet de données</a:t>
            </a:r>
            <a:endParaRPr lang="en-GB" sz="2800" dirty="0">
              <a:latin typeface="Arial" panose="020B0604020202020204" pitchFamily="34" charset="0"/>
              <a:cs typeface="MS PGothic" panose="020B0600070205080204" charset="-128"/>
            </a:endParaRPr>
          </a:p>
        </p:txBody>
      </p:sp>
      <p:sp>
        <p:nvSpPr>
          <p:cNvPr id="72706" name="Espace réservé du contenu 2"/>
          <p:cNvSpPr>
            <a:spLocks noGrp="1"/>
          </p:cNvSpPr>
          <p:nvPr>
            <p:ph idx="1"/>
          </p:nvPr>
        </p:nvSpPr>
        <p:spPr>
          <a:xfrm>
            <a:off x="323528" y="944724"/>
            <a:ext cx="7562850" cy="4537075"/>
          </a:xfrm>
        </p:spPr>
        <p:txBody>
          <a:bodyPr/>
          <a:lstStyle/>
          <a:p>
            <a:r>
              <a:rPr lang="en-US" dirty="0" smtClean="0">
                <a:latin typeface="Arial" panose="020B0604020202020204" pitchFamily="34" charset="0"/>
                <a:cs typeface="MS PGothic" panose="020B0600070205080204" charset="-128"/>
              </a:rPr>
              <a:t>Syntaxe :</a:t>
            </a:r>
            <a:endParaRPr lang="en-US" dirty="0">
              <a:latin typeface="Arial" panose="020B0604020202020204" pitchFamily="34" charset="0"/>
            </a:endParaRPr>
          </a:p>
          <a:p>
            <a:pPr marL="542925" lvl="1" indent="0">
              <a:buNone/>
            </a:pPr>
            <a:r>
              <a:rPr lang="en-US" b="1" dirty="0" smtClean="0">
                <a:latin typeface="Courier"/>
                <a:cs typeface="Courier"/>
              </a:rPr>
              <a:t>Identificateur de type;</a:t>
            </a:r>
            <a:endParaRPr lang="en-US" b="1" dirty="0">
              <a:latin typeface="Courier"/>
              <a:cs typeface="Courier"/>
            </a:endParaRPr>
          </a:p>
          <a:p>
            <a:pPr marL="0" indent="0">
              <a:buNone/>
            </a:pPr>
            <a:endParaRPr lang="en-US" sz="900" dirty="0">
              <a:latin typeface="Arial" panose="020B0604020202020204" pitchFamily="34" charset="0"/>
            </a:endParaRPr>
          </a:p>
          <a:p>
            <a:r>
              <a:rPr lang="en-US" dirty="0" smtClean="0">
                <a:latin typeface="Arial" panose="020B0604020202020204" pitchFamily="34" charset="0"/>
                <a:ea typeface="MS PGothic" panose="020B0600070205080204" charset="-128"/>
                <a:cs typeface="MS PGothic" panose="020B0600070205080204" charset="-128"/>
              </a:rPr>
              <a:t>Fonction</a:t>
            </a:r>
            <a:r>
              <a:rPr lang="en-US" dirty="0">
                <a:latin typeface="Arial" panose="020B0604020202020204" pitchFamily="34" charset="0"/>
                <a:ea typeface="MS PGothic" panose="020B0600070205080204" charset="-128"/>
                <a:cs typeface="MS PGothic" panose="020B0600070205080204" charset="-128"/>
              </a:rPr>
              <a:t>:</a:t>
            </a:r>
            <a:endParaRPr lang="en-US" dirty="0">
              <a:latin typeface="Arial" panose="020B0604020202020204" pitchFamily="34" charset="0"/>
              <a:ea typeface="MS PGothic" panose="020B0600070205080204" charset="-128"/>
              <a:cs typeface="MS PGothic" panose="020B0600070205080204" charset="-128"/>
            </a:endParaRPr>
          </a:p>
          <a:p>
            <a:pPr lvl="1"/>
            <a:r>
              <a:rPr lang="fr-FR" dirty="0">
                <a:cs typeface="Courier"/>
              </a:rPr>
              <a:t>Réserver dans la mémoire une partie égale à la taille nécessaire pour stocker un objet de données du type</a:t>
            </a:r>
            <a:r>
              <a:rPr lang="en-US" dirty="0" smtClean="0">
                <a:cs typeface="Courier"/>
              </a:rPr>
              <a:t> </a:t>
            </a:r>
            <a:r>
              <a:rPr lang="en-US" b="1" dirty="0">
                <a:latin typeface="Courier"/>
                <a:cs typeface="Courier"/>
              </a:rPr>
              <a:t>type </a:t>
            </a:r>
            <a:endParaRPr lang="en-US" b="1" dirty="0">
              <a:latin typeface="Courier"/>
              <a:cs typeface="Courier"/>
            </a:endParaRPr>
          </a:p>
          <a:p>
            <a:pPr lvl="1"/>
            <a:endParaRPr lang="en-US" b="1" dirty="0">
              <a:latin typeface="Courier"/>
              <a:cs typeface="Courier"/>
            </a:endParaRPr>
          </a:p>
          <a:p>
            <a:pPr lvl="1"/>
            <a:r>
              <a:rPr lang="fr-FR" dirty="0">
                <a:cs typeface="Courier"/>
              </a:rPr>
              <a:t>Associer l'adresse de départ de cette partie de mémoire à </a:t>
            </a:r>
            <a:r>
              <a:rPr lang="fr-FR" b="1" dirty="0">
                <a:cs typeface="Courier"/>
              </a:rPr>
              <a:t>l'identifiant</a:t>
            </a:r>
            <a:endParaRPr lang="en-US" b="1" dirty="0">
              <a:latin typeface="Courier"/>
              <a:cs typeface="Courier"/>
            </a:endParaRPr>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re 1"/>
          <p:cNvSpPr>
            <a:spLocks noGrp="1"/>
          </p:cNvSpPr>
          <p:nvPr>
            <p:ph type="title"/>
          </p:nvPr>
        </p:nvSpPr>
        <p:spPr>
          <a:xfrm>
            <a:off x="0" y="44624"/>
            <a:ext cx="9451776" cy="533400"/>
          </a:xfrm>
        </p:spPr>
        <p:txBody>
          <a:bodyPr/>
          <a:lstStyle/>
          <a:p>
            <a:r>
              <a:rPr lang="fr-FR" sz="2600" dirty="0">
                <a:latin typeface="Arial" panose="020B0604020202020204" pitchFamily="34" charset="0"/>
                <a:cs typeface="MS PGothic" panose="020B0600070205080204" charset="-128"/>
              </a:rPr>
              <a:t>Types de données primitives : Spécification des types</a:t>
            </a:r>
            <a:endParaRPr lang="fr-FR" sz="2600" dirty="0">
              <a:latin typeface="Arial" panose="020B0604020202020204" pitchFamily="34" charset="0"/>
              <a:cs typeface="MS PGothic" panose="020B0600070205080204" charset="-128"/>
            </a:endParaRPr>
          </a:p>
        </p:txBody>
      </p:sp>
      <p:sp>
        <p:nvSpPr>
          <p:cNvPr id="70658" name="Espace réservé du contenu 2"/>
          <p:cNvSpPr>
            <a:spLocks noGrp="1"/>
          </p:cNvSpPr>
          <p:nvPr>
            <p:ph idx="1"/>
          </p:nvPr>
        </p:nvSpPr>
        <p:spPr>
          <a:xfrm>
            <a:off x="359532" y="692697"/>
            <a:ext cx="8784468" cy="5148572"/>
          </a:xfrm>
        </p:spPr>
        <p:txBody>
          <a:bodyPr/>
          <a:lstStyle/>
          <a:p>
            <a:r>
              <a:rPr lang="en-GB" sz="2200" dirty="0" smtClean="0">
                <a:latin typeface="Arial" panose="020B0604020202020204" pitchFamily="34" charset="0"/>
                <a:cs typeface="MS PGothic" panose="020B0600070205080204" charset="-128"/>
              </a:rPr>
              <a:t>Même chose qu’en JAVA :</a:t>
            </a:r>
            <a:endParaRPr lang="en-GB" sz="2200" dirty="0">
              <a:latin typeface="Arial" panose="020B0604020202020204" pitchFamily="34" charset="0"/>
              <a:cs typeface="MS PGothic" panose="020B0600070205080204" charset="-128"/>
            </a:endParaRPr>
          </a:p>
          <a:p>
            <a:pPr lvl="1"/>
            <a:r>
              <a:rPr lang="en-GB" dirty="0" smtClean="0">
                <a:cs typeface="Courier"/>
              </a:rPr>
              <a:t>Intégrale</a:t>
            </a:r>
            <a:endParaRPr lang="en-GB" b="1" dirty="0">
              <a:latin typeface="Courier"/>
              <a:cs typeface="Courier"/>
            </a:endParaRPr>
          </a:p>
          <a:p>
            <a:pPr lvl="2"/>
            <a:r>
              <a:rPr lang="en-GB" b="1" dirty="0">
                <a:latin typeface="Courier"/>
                <a:cs typeface="Courier"/>
              </a:rPr>
              <a:t>char, short, int, long</a:t>
            </a:r>
            <a:endParaRPr lang="en-GB" b="1" dirty="0">
              <a:latin typeface="Courier"/>
              <a:cs typeface="Courier"/>
            </a:endParaRPr>
          </a:p>
          <a:p>
            <a:pPr lvl="1"/>
            <a:r>
              <a:rPr lang="en-GB" dirty="0" smtClean="0">
                <a:cs typeface="Courier"/>
              </a:rPr>
              <a:t>Réel et complexe</a:t>
            </a:r>
            <a:endParaRPr lang="en-GB" dirty="0">
              <a:cs typeface="Courier"/>
            </a:endParaRPr>
          </a:p>
          <a:p>
            <a:pPr lvl="2"/>
            <a:r>
              <a:rPr lang="en-GB" b="1" dirty="0">
                <a:latin typeface="Courier"/>
                <a:cs typeface="Courier"/>
              </a:rPr>
              <a:t>float, double</a:t>
            </a:r>
            <a:endParaRPr lang="en-GB" b="1" dirty="0">
              <a:latin typeface="Courier"/>
              <a:cs typeface="Courier"/>
            </a:endParaRPr>
          </a:p>
          <a:p>
            <a:pPr marL="0" indent="0">
              <a:buNone/>
            </a:pPr>
            <a:endParaRPr lang="en-GB" sz="800" dirty="0">
              <a:latin typeface="Arial" panose="020B0604020202020204" pitchFamily="34" charset="0"/>
              <a:cs typeface="MS PGothic" panose="020B0600070205080204" charset="-128"/>
            </a:endParaRPr>
          </a:p>
          <a:p>
            <a:r>
              <a:rPr lang="fr-FR" sz="2200" dirty="0">
                <a:latin typeface="Arial" panose="020B0604020202020204" pitchFamily="34" charset="0"/>
                <a:cs typeface="MS PGothic" panose="020B0600070205080204" charset="-128"/>
              </a:rPr>
              <a:t>Avec des spécificateurs supplémentaires pour la représentation </a:t>
            </a:r>
            <a:r>
              <a:rPr lang="en-GB" sz="2200" dirty="0" smtClean="0">
                <a:latin typeface="Arial" panose="020B0604020202020204" pitchFamily="34" charset="0"/>
                <a:cs typeface="MS PGothic" panose="020B0600070205080204" charset="-128"/>
              </a:rPr>
              <a:t>:</a:t>
            </a:r>
            <a:endParaRPr lang="en-GB" sz="2200" dirty="0">
              <a:latin typeface="Arial" panose="020B0604020202020204" pitchFamily="34" charset="0"/>
              <a:cs typeface="MS PGothic" panose="020B0600070205080204" charset="-128"/>
            </a:endParaRPr>
          </a:p>
          <a:p>
            <a:pPr lvl="1"/>
            <a:r>
              <a:rPr lang="fr-FR" dirty="0">
                <a:cs typeface="Courier"/>
              </a:rPr>
              <a:t>non signé : toujours 0 ou positif</a:t>
            </a:r>
            <a:r>
              <a:rPr lang="en-GB" sz="2000" dirty="0" smtClean="0">
                <a:cs typeface="Courier"/>
              </a:rPr>
              <a:t> </a:t>
            </a:r>
            <a:endParaRPr lang="en-GB" sz="2000" dirty="0">
              <a:cs typeface="Courier"/>
            </a:endParaRPr>
          </a:p>
          <a:p>
            <a:pPr lvl="2"/>
            <a:r>
              <a:rPr lang="en-GB" dirty="0">
                <a:cs typeface="Courier"/>
              </a:rPr>
              <a:t>Représentation : Binaire</a:t>
            </a:r>
            <a:endParaRPr lang="en-GB" dirty="0">
              <a:cs typeface="Courier"/>
            </a:endParaRPr>
          </a:p>
          <a:p>
            <a:pPr lvl="1"/>
            <a:r>
              <a:rPr lang="en-GB" dirty="0">
                <a:cs typeface="Courier"/>
              </a:rPr>
              <a:t>signé : positif ou négatif </a:t>
            </a:r>
            <a:r>
              <a:rPr lang="en-GB" dirty="0" smtClean="0">
                <a:cs typeface="Courier"/>
              </a:rPr>
              <a:t>:</a:t>
            </a:r>
            <a:endParaRPr lang="en-GB" sz="2000" dirty="0">
              <a:cs typeface="Courier"/>
            </a:endParaRPr>
          </a:p>
          <a:p>
            <a:pPr lvl="2"/>
            <a:r>
              <a:rPr lang="fr-FR" dirty="0">
                <a:cs typeface="Courier"/>
              </a:rPr>
              <a:t>Représentation : dépend de la mise en œuvre</a:t>
            </a:r>
            <a:endParaRPr lang="en-GB" dirty="0">
              <a:cs typeface="Courier"/>
            </a:endParaRPr>
          </a:p>
          <a:p>
            <a:pPr lvl="3"/>
            <a:r>
              <a:rPr lang="en-GB" sz="2000" dirty="0">
                <a:cs typeface="Courier"/>
              </a:rPr>
              <a:t>Complément à 1  </a:t>
            </a:r>
            <a:endParaRPr lang="en-GB" sz="2000" dirty="0">
              <a:cs typeface="Courier"/>
            </a:endParaRPr>
          </a:p>
          <a:p>
            <a:pPr lvl="3"/>
            <a:r>
              <a:rPr lang="en-GB" sz="2000" dirty="0">
                <a:cs typeface="Courier"/>
              </a:rPr>
              <a:t>Complément à 2 (habituel)</a:t>
            </a:r>
            <a:endParaRPr lang="en-GB" sz="2000" dirty="0">
              <a:cs typeface="Courier"/>
            </a:endParaRPr>
          </a:p>
          <a:p>
            <a:pPr lvl="3"/>
            <a:r>
              <a:rPr lang="en-GB" sz="2000" dirty="0">
                <a:cs typeface="Courier"/>
              </a:rPr>
              <a:t>signe et magnitude</a:t>
            </a:r>
            <a:endParaRPr lang="en-GB" sz="2000" dirty="0">
              <a:cs typeface="Courier"/>
            </a:endParaRPr>
          </a:p>
          <a:p>
            <a:pPr lvl="3"/>
            <a:endParaRPr lang="en-GB" sz="800" b="1" dirty="0">
              <a:latin typeface="Courier"/>
              <a:cs typeface="Courier"/>
            </a:endParaRPr>
          </a:p>
          <a:p>
            <a:r>
              <a:rPr lang="en-GB" dirty="0" smtClean="0">
                <a:latin typeface="Arial" panose="020B0604020202020204" pitchFamily="34" charset="0"/>
              </a:rPr>
              <a:t>Exemple : </a:t>
            </a:r>
            <a:r>
              <a:rPr lang="en-GB" b="1" dirty="0">
                <a:latin typeface="Courier"/>
                <a:cs typeface="Courier"/>
              </a:rPr>
              <a:t>unsigned short int</a:t>
            </a:r>
            <a:endParaRPr lang="en-GB" dirty="0">
              <a:latin typeface="Arial" panose="020B0604020202020204" pitchFamily="34" charset="0"/>
            </a:endParaRPr>
          </a:p>
          <a:p>
            <a:pPr lvl="1"/>
            <a:endParaRPr lang="en-GB" sz="2000" dirty="0">
              <a:latin typeface="Arial" panose="020B0604020202020204" pitchFamily="34" charset="0"/>
            </a:endParaRPr>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58">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0658">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0658">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0658">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0658">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0658">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0658">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0658">
                                            <p:txEl>
                                              <p:pRg st="13" end="1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0658">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re 1"/>
          <p:cNvSpPr>
            <a:spLocks noGrp="1"/>
          </p:cNvSpPr>
          <p:nvPr>
            <p:ph type="title"/>
          </p:nvPr>
        </p:nvSpPr>
        <p:spPr>
          <a:xfrm>
            <a:off x="304800" y="80628"/>
            <a:ext cx="7772400" cy="533400"/>
          </a:xfrm>
        </p:spPr>
        <p:txBody>
          <a:bodyPr/>
          <a:lstStyle/>
          <a:p>
            <a:r>
              <a:rPr lang="fr-FR" sz="2800" dirty="0">
                <a:latin typeface="Arial" panose="020B0604020202020204" pitchFamily="34" charset="0"/>
                <a:cs typeface="MS PGothic" panose="020B0600070205080204" charset="-128"/>
              </a:rPr>
              <a:t>Types de données primitives : Taille</a:t>
            </a:r>
            <a:endParaRPr lang="fr-FR" sz="2800" dirty="0">
              <a:latin typeface="Arial" panose="020B0604020202020204" pitchFamily="34" charset="0"/>
              <a:ea typeface="MS PGothic" panose="020B0600070205080204" charset="-128"/>
              <a:cs typeface="MS PGothic" panose="020B0600070205080204" charset="-128"/>
            </a:endParaRPr>
          </a:p>
        </p:txBody>
      </p:sp>
      <p:sp>
        <p:nvSpPr>
          <p:cNvPr id="70658" name="Espace réservé du contenu 2"/>
          <p:cNvSpPr>
            <a:spLocks noGrp="1"/>
          </p:cNvSpPr>
          <p:nvPr>
            <p:ph idx="1"/>
          </p:nvPr>
        </p:nvSpPr>
        <p:spPr>
          <a:xfrm>
            <a:off x="143508" y="836712"/>
            <a:ext cx="8892988" cy="5400675"/>
          </a:xfrm>
        </p:spPr>
        <p:txBody>
          <a:bodyPr/>
          <a:lstStyle/>
          <a:p>
            <a:r>
              <a:rPr lang="fr-FR" dirty="0">
                <a:solidFill>
                  <a:schemeClr val="tx1"/>
                </a:solidFill>
                <a:cs typeface="Courier"/>
              </a:rPr>
              <a:t>La </a:t>
            </a:r>
            <a:r>
              <a:rPr lang="fr-FR" dirty="0">
                <a:solidFill>
                  <a:srgbClr val="FF0000"/>
                </a:solidFill>
                <a:cs typeface="Courier"/>
              </a:rPr>
              <a:t>taille</a:t>
            </a:r>
            <a:r>
              <a:rPr lang="fr-FR" dirty="0">
                <a:solidFill>
                  <a:schemeClr val="tx1"/>
                </a:solidFill>
                <a:cs typeface="Courier"/>
              </a:rPr>
              <a:t> exacte des types de données ne fait </a:t>
            </a:r>
            <a:r>
              <a:rPr lang="fr-FR" dirty="0">
                <a:solidFill>
                  <a:srgbClr val="FF0000"/>
                </a:solidFill>
                <a:cs typeface="Courier"/>
              </a:rPr>
              <a:t>PAS</a:t>
            </a:r>
            <a:r>
              <a:rPr lang="fr-FR" dirty="0">
                <a:solidFill>
                  <a:schemeClr val="tx1"/>
                </a:solidFill>
                <a:cs typeface="Courier"/>
              </a:rPr>
              <a:t> partie de la </a:t>
            </a:r>
            <a:r>
              <a:rPr lang="fr-FR" dirty="0">
                <a:solidFill>
                  <a:srgbClr val="FF0000"/>
                </a:solidFill>
                <a:cs typeface="Courier"/>
              </a:rPr>
              <a:t>norme C.</a:t>
            </a:r>
            <a:endParaRPr lang="en-GB" dirty="0">
              <a:solidFill>
                <a:srgbClr val="FF0000"/>
              </a:solidFill>
              <a:cs typeface="Courier"/>
            </a:endParaRPr>
          </a:p>
          <a:p>
            <a:pPr lvl="1"/>
            <a:r>
              <a:rPr lang="en-GB" b="1" dirty="0" smtClean="0">
                <a:solidFill>
                  <a:srgbClr val="FF0000"/>
                </a:solidFill>
                <a:cs typeface="Courier"/>
              </a:rPr>
              <a:t> </a:t>
            </a:r>
            <a:r>
              <a:rPr lang="en-GB" b="1" dirty="0" smtClean="0">
                <a:solidFill>
                  <a:srgbClr val="000000"/>
                </a:solidFill>
                <a:latin typeface="Courier"/>
                <a:cs typeface="Courier"/>
              </a:rPr>
              <a:t>int</a:t>
            </a:r>
            <a:r>
              <a:rPr lang="en-GB" b="1" dirty="0" smtClean="0">
                <a:solidFill>
                  <a:srgbClr val="000000"/>
                </a:solidFill>
                <a:cs typeface="Courier"/>
              </a:rPr>
              <a:t> </a:t>
            </a:r>
            <a:r>
              <a:rPr lang="en-GB" dirty="0" smtClean="0">
                <a:solidFill>
                  <a:srgbClr val="000000"/>
                </a:solidFill>
                <a:cs typeface="Courier"/>
              </a:rPr>
              <a:t>peut être de </a:t>
            </a:r>
            <a:r>
              <a:rPr lang="en-GB" dirty="0">
                <a:solidFill>
                  <a:srgbClr val="000000"/>
                </a:solidFill>
                <a:cs typeface="Courier"/>
              </a:rPr>
              <a:t>16 </a:t>
            </a:r>
            <a:r>
              <a:rPr lang="en-GB" dirty="0" smtClean="0">
                <a:solidFill>
                  <a:srgbClr val="000000"/>
                </a:solidFill>
                <a:cs typeface="Courier"/>
              </a:rPr>
              <a:t>ou </a:t>
            </a:r>
            <a:r>
              <a:rPr lang="en-GB" dirty="0">
                <a:solidFill>
                  <a:srgbClr val="000000"/>
                </a:solidFill>
                <a:cs typeface="Courier"/>
              </a:rPr>
              <a:t>32 bits…</a:t>
            </a:r>
            <a:endParaRPr lang="en-GB" dirty="0"/>
          </a:p>
          <a:p>
            <a:pPr marL="0" indent="0">
              <a:buNone/>
            </a:pPr>
            <a:endParaRPr lang="en-GB" sz="200" dirty="0"/>
          </a:p>
          <a:p>
            <a:pPr algn="just"/>
            <a:r>
              <a:rPr lang="fr-FR" sz="2200" dirty="0"/>
              <a:t>La norme stipule seulement que la portée d'un type plus grand doit être au moins aussi grande que celle du type plus petit</a:t>
            </a:r>
            <a:r>
              <a:rPr lang="en-GB" sz="2200" dirty="0" smtClean="0"/>
              <a:t>.</a:t>
            </a:r>
            <a:endParaRPr lang="en-GB" sz="2200" dirty="0">
              <a:solidFill>
                <a:srgbClr val="000000"/>
              </a:solidFill>
              <a:cs typeface="Courier"/>
            </a:endParaRPr>
          </a:p>
          <a:p>
            <a:pPr lvl="1"/>
            <a:r>
              <a:rPr lang="en-GB" b="1" dirty="0">
                <a:latin typeface="Courier"/>
                <a:cs typeface="Courier"/>
              </a:rPr>
              <a:t>char ≤ short ≤ long ≤ long long</a:t>
            </a:r>
            <a:endParaRPr lang="en-GB" b="1" dirty="0">
              <a:latin typeface="Courier"/>
              <a:cs typeface="Courier"/>
            </a:endParaRPr>
          </a:p>
          <a:p>
            <a:pPr lvl="1"/>
            <a:r>
              <a:rPr lang="en-GB" b="1" dirty="0" smtClean="0">
                <a:solidFill>
                  <a:srgbClr val="000000"/>
                </a:solidFill>
                <a:latin typeface="Courier"/>
                <a:cs typeface="Courier"/>
              </a:rPr>
              <a:t>char : </a:t>
            </a:r>
            <a:r>
              <a:rPr lang="fr-FR" dirty="0">
                <a:solidFill>
                  <a:srgbClr val="000000"/>
                </a:solidFill>
                <a:cs typeface="Courier"/>
              </a:rPr>
              <a:t>Le type de données minimum supporté</a:t>
            </a:r>
            <a:endParaRPr lang="en-GB" sz="500" dirty="0">
              <a:solidFill>
                <a:srgbClr val="FF0000"/>
              </a:solidFill>
              <a:cs typeface="Courier"/>
            </a:endParaRPr>
          </a:p>
          <a:p>
            <a:pPr algn="just"/>
            <a:r>
              <a:rPr lang="fr-FR" sz="2200" dirty="0">
                <a:solidFill>
                  <a:schemeClr val="tx1"/>
                </a:solidFill>
                <a:cs typeface="Courier"/>
              </a:rPr>
              <a:t>Le compilateur décide en fonction de l'architecture de la plate-forme cible ! (cependant, il y a une largeur minimale autorisée)</a:t>
            </a:r>
            <a:endParaRPr lang="en-GB" sz="2200" dirty="0" smtClean="0">
              <a:solidFill>
                <a:schemeClr val="tx1"/>
              </a:solidFill>
              <a:cs typeface="Courier"/>
            </a:endParaRPr>
          </a:p>
          <a:p>
            <a:r>
              <a:rPr lang="fr-FR" dirty="0">
                <a:solidFill>
                  <a:srgbClr val="000000"/>
                </a:solidFill>
                <a:cs typeface="Courier"/>
              </a:rPr>
              <a:t>sizeof() peut donner la </a:t>
            </a:r>
            <a:r>
              <a:rPr lang="fr-FR" b="1" dirty="0">
                <a:solidFill>
                  <a:srgbClr val="000000"/>
                </a:solidFill>
                <a:cs typeface="Courier"/>
              </a:rPr>
              <a:t>taille</a:t>
            </a:r>
            <a:r>
              <a:rPr lang="fr-FR" dirty="0">
                <a:solidFill>
                  <a:srgbClr val="000000"/>
                </a:solidFill>
                <a:cs typeface="Courier"/>
              </a:rPr>
              <a:t> réelle en </a:t>
            </a:r>
            <a:r>
              <a:rPr lang="fr-FR" dirty="0" smtClean="0">
                <a:solidFill>
                  <a:srgbClr val="000000"/>
                </a:solidFill>
                <a:cs typeface="Courier"/>
              </a:rPr>
              <a:t>octets</a:t>
            </a:r>
            <a:endParaRPr lang="en-GB" sz="500" dirty="0">
              <a:solidFill>
                <a:srgbClr val="000000"/>
              </a:solidFill>
              <a:cs typeface="Courier"/>
            </a:endParaRPr>
          </a:p>
          <a:p>
            <a:r>
              <a:rPr lang="fr-FR" dirty="0">
                <a:solidFill>
                  <a:srgbClr val="000000"/>
                </a:solidFill>
                <a:cs typeface="Courier"/>
              </a:rPr>
              <a:t>Pour donner une taille de stockage spécifique, utilisez le </a:t>
            </a:r>
            <a:r>
              <a:rPr lang="fr-FR" dirty="0" smtClean="0">
                <a:solidFill>
                  <a:srgbClr val="000000"/>
                </a:solidFill>
                <a:cs typeface="Courier"/>
              </a:rPr>
              <a:t>type</a:t>
            </a:r>
            <a:r>
              <a:rPr lang="en-GB" sz="2400" dirty="0" smtClean="0">
                <a:solidFill>
                  <a:srgbClr val="000000"/>
                </a:solidFill>
                <a:cs typeface="Courier"/>
              </a:rPr>
              <a:t> </a:t>
            </a:r>
            <a:r>
              <a:rPr lang="en-GB" sz="2400" b="1" dirty="0">
                <a:solidFill>
                  <a:srgbClr val="000000"/>
                </a:solidFill>
                <a:latin typeface="Courier"/>
                <a:cs typeface="Courier"/>
              </a:rPr>
              <a:t>YintX_t </a:t>
            </a:r>
            <a:r>
              <a:rPr lang="en-GB" sz="2400" dirty="0">
                <a:solidFill>
                  <a:srgbClr val="000000"/>
                </a:solidFill>
                <a:cs typeface="Courier"/>
              </a:rPr>
              <a:t>type</a:t>
            </a:r>
            <a:endParaRPr lang="en-GB" sz="2400" dirty="0">
              <a:solidFill>
                <a:srgbClr val="000000"/>
              </a:solidFill>
              <a:cs typeface="Courier"/>
            </a:endParaRPr>
          </a:p>
          <a:p>
            <a:pPr lvl="1">
              <a:buFont typeface="Wingdings" panose="05000000000000000000" pitchFamily="2" charset="2"/>
              <a:buChar char="v"/>
            </a:pPr>
            <a:r>
              <a:rPr lang="en-GB" b="1" dirty="0">
                <a:solidFill>
                  <a:srgbClr val="000000"/>
                </a:solidFill>
                <a:latin typeface="Courier"/>
                <a:cs typeface="Courier"/>
              </a:rPr>
              <a:t>Y = u </a:t>
            </a:r>
            <a:r>
              <a:rPr lang="en-GB" dirty="0" smtClean="0">
                <a:solidFill>
                  <a:srgbClr val="000000"/>
                </a:solidFill>
                <a:cs typeface="Courier"/>
              </a:rPr>
              <a:t>pour </a:t>
            </a:r>
            <a:r>
              <a:rPr lang="en-GB" b="1" dirty="0" smtClean="0">
                <a:solidFill>
                  <a:srgbClr val="000000"/>
                </a:solidFill>
                <a:latin typeface="Courier"/>
                <a:cs typeface="Courier"/>
              </a:rPr>
              <a:t>unsigned (non-</a:t>
            </a:r>
            <a:r>
              <a:rPr lang="en-GB" b="1" dirty="0" err="1" smtClean="0">
                <a:solidFill>
                  <a:srgbClr val="000000"/>
                </a:solidFill>
                <a:latin typeface="Courier"/>
                <a:cs typeface="Courier"/>
              </a:rPr>
              <a:t>signés</a:t>
            </a:r>
            <a:r>
              <a:rPr lang="en-GB" b="1" dirty="0" smtClean="0">
                <a:solidFill>
                  <a:srgbClr val="000000"/>
                </a:solidFill>
                <a:latin typeface="Courier"/>
                <a:cs typeface="Courier"/>
              </a:rPr>
              <a:t>)</a:t>
            </a:r>
            <a:endParaRPr lang="en-GB" b="1" dirty="0">
              <a:solidFill>
                <a:srgbClr val="000000"/>
              </a:solidFill>
              <a:latin typeface="Courier"/>
              <a:cs typeface="Courier"/>
            </a:endParaRPr>
          </a:p>
          <a:p>
            <a:pPr lvl="1"/>
            <a:r>
              <a:rPr lang="en-GB" sz="2000" b="1" dirty="0">
                <a:solidFill>
                  <a:srgbClr val="000000"/>
                </a:solidFill>
                <a:latin typeface="Courier"/>
                <a:cs typeface="Courier"/>
              </a:rPr>
              <a:t>X = 8, 16, 32 </a:t>
            </a:r>
            <a:r>
              <a:rPr lang="en-GB" sz="2000" dirty="0">
                <a:solidFill>
                  <a:srgbClr val="000000"/>
                </a:solidFill>
                <a:cs typeface="Courier"/>
              </a:rPr>
              <a:t>etc </a:t>
            </a:r>
            <a:r>
              <a:rPr lang="fr-FR" dirty="0">
                <a:solidFill>
                  <a:srgbClr val="000000"/>
                </a:solidFill>
                <a:cs typeface="Courier"/>
              </a:rPr>
              <a:t>pour le nombre de bits à utiliser</a:t>
            </a:r>
            <a:endParaRPr lang="en-GB" sz="2000" dirty="0">
              <a:solidFill>
                <a:srgbClr val="000000"/>
              </a:solidFill>
              <a:cs typeface="Courier"/>
            </a:endParaRPr>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58">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0658">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065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0658">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0658">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065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z="2800" dirty="0">
                <a:latin typeface="Arial" panose="020B0604020202020204" pitchFamily="34" charset="0"/>
                <a:cs typeface="MS PGothic" panose="020B0600070205080204" charset="-128"/>
              </a:rPr>
              <a:t>Primitive data types: Min values</a:t>
            </a:r>
            <a:endParaRPr lang="en-US" sz="2800" dirty="0"/>
          </a:p>
        </p:txBody>
      </p:sp>
      <p:sp>
        <p:nvSpPr>
          <p:cNvPr id="5" name="Slide Number Placeholder 4"/>
          <p:cNvSpPr>
            <a:spLocks noGrp="1"/>
          </p:cNvSpPr>
          <p:nvPr>
            <p:ph type="sldNum" sz="quarter" idx="11"/>
          </p:nvPr>
        </p:nvSpPr>
        <p:spPr/>
        <p:txBody>
          <a:bodyPr/>
          <a:lstStyle/>
          <a:p>
            <a:pPr lvl="2"/>
            <a:fld id="{28BEB0BA-EEE4-5F45-9179-3BC54B76BCCF}" type="slidenum">
              <a:rPr lang="fr-FR" smtClean="0"/>
            </a:fld>
            <a:endParaRPr lang="fr-FR"/>
          </a:p>
        </p:txBody>
      </p:sp>
      <p:sp>
        <p:nvSpPr>
          <p:cNvPr id="6" name="Rectangle 5"/>
          <p:cNvSpPr/>
          <p:nvPr/>
        </p:nvSpPr>
        <p:spPr>
          <a:xfrm>
            <a:off x="0" y="692696"/>
            <a:ext cx="9684568" cy="5712333"/>
          </a:xfrm>
          <a:prstGeom prst="rect">
            <a:avLst/>
          </a:prstGeom>
        </p:spPr>
        <p:txBody>
          <a:bodyPr wrap="square">
            <a:spAutoFit/>
          </a:bodyPr>
          <a:lstStyle/>
          <a:p>
            <a:pPr algn="l"/>
            <a:r>
              <a:rPr lang="en-US" sz="2200" b="1" dirty="0"/>
              <a:t>Type 			</a:t>
            </a:r>
            <a:r>
              <a:rPr lang="en-US" sz="2200" b="1" dirty="0" smtClean="0"/>
              <a:t>       Taille de stockage</a:t>
            </a:r>
            <a:r>
              <a:rPr lang="en-US" sz="2200" b="1" dirty="0"/>
              <a:t> </a:t>
            </a:r>
            <a:r>
              <a:rPr lang="en-US" sz="2200" b="1" dirty="0" smtClean="0"/>
              <a:t>    Plage </a:t>
            </a:r>
            <a:r>
              <a:rPr lang="en-US" sz="2200" b="1" dirty="0"/>
              <a:t>de valeurs</a:t>
            </a:r>
            <a:endParaRPr lang="en-US" sz="2200" b="1" dirty="0" smtClean="0"/>
          </a:p>
          <a:p>
            <a:pPr algn="l"/>
            <a:r>
              <a:rPr lang="en-US" sz="2200" b="1" dirty="0" smtClean="0">
                <a:latin typeface="Courier"/>
                <a:cs typeface="Courier"/>
              </a:rPr>
              <a:t>char</a:t>
            </a:r>
            <a:r>
              <a:rPr lang="en-US" sz="2200" dirty="0" smtClean="0"/>
              <a:t> 			       </a:t>
            </a:r>
            <a:r>
              <a:rPr lang="en-US" sz="2000" dirty="0" smtClean="0"/>
              <a:t>généralement </a:t>
            </a:r>
            <a:r>
              <a:rPr lang="en-US" sz="2000" b="1" i="1" dirty="0" smtClean="0"/>
              <a:t>signé</a:t>
            </a:r>
            <a:r>
              <a:rPr lang="en-US" sz="2200" i="1" dirty="0" smtClean="0"/>
              <a:t>   (but not standard)</a:t>
            </a:r>
            <a:endParaRPr lang="en-US" sz="2200" i="1" dirty="0" smtClean="0"/>
          </a:p>
          <a:p>
            <a:pPr algn="l"/>
            <a:r>
              <a:rPr lang="en-US" sz="2200" b="1" dirty="0" smtClean="0">
                <a:latin typeface="Courier"/>
                <a:cs typeface="Courier"/>
              </a:rPr>
              <a:t>unsigned </a:t>
            </a:r>
            <a:r>
              <a:rPr lang="en-US" sz="2200" b="1" dirty="0">
                <a:latin typeface="Courier"/>
                <a:cs typeface="Courier"/>
              </a:rPr>
              <a:t>char </a:t>
            </a:r>
            <a:r>
              <a:rPr lang="en-US" sz="2200" dirty="0"/>
              <a:t>		1 byte 			 0 to 2</a:t>
            </a:r>
            <a:r>
              <a:rPr lang="en-US" sz="2200" baseline="30000" dirty="0"/>
              <a:t>8</a:t>
            </a:r>
            <a:r>
              <a:rPr lang="en-US" sz="2200" dirty="0"/>
              <a:t> − 1</a:t>
            </a:r>
            <a:endParaRPr lang="en-US" sz="2200" dirty="0"/>
          </a:p>
          <a:p>
            <a:pPr algn="l"/>
            <a:r>
              <a:rPr lang="en-US" sz="2200" b="1" dirty="0">
                <a:latin typeface="Courier"/>
                <a:cs typeface="Courier"/>
              </a:rPr>
              <a:t>signed char </a:t>
            </a:r>
            <a:r>
              <a:rPr lang="en-US" sz="2200" dirty="0"/>
              <a:t>		1 byte 			−(2</a:t>
            </a:r>
            <a:r>
              <a:rPr lang="en-US" sz="2200" baseline="30000" dirty="0"/>
              <a:t>7</a:t>
            </a:r>
            <a:r>
              <a:rPr lang="en-US" sz="2200" dirty="0"/>
              <a:t>) to 2</a:t>
            </a:r>
            <a:r>
              <a:rPr lang="en-US" sz="2200" baseline="30000" dirty="0"/>
              <a:t>7</a:t>
            </a:r>
            <a:r>
              <a:rPr lang="en-US" sz="2200" dirty="0"/>
              <a:t> − 1	</a:t>
            </a:r>
            <a:endParaRPr lang="en-US" sz="2200" dirty="0"/>
          </a:p>
          <a:p>
            <a:pPr algn="l"/>
            <a:r>
              <a:rPr lang="en-US" sz="2200" b="1" dirty="0">
                <a:latin typeface="Courier"/>
                <a:cs typeface="Courier"/>
              </a:rPr>
              <a:t>int</a:t>
            </a:r>
            <a:r>
              <a:rPr lang="en-US" sz="2200" dirty="0"/>
              <a:t> 				2 bytes 		−(2</a:t>
            </a:r>
            <a:r>
              <a:rPr lang="en-US" sz="2200" baseline="30000" dirty="0"/>
              <a:t>15</a:t>
            </a:r>
            <a:r>
              <a:rPr lang="en-US" sz="2200" dirty="0"/>
              <a:t>) to 2</a:t>
            </a:r>
            <a:r>
              <a:rPr lang="en-US" sz="2200" baseline="30000" dirty="0"/>
              <a:t>15</a:t>
            </a:r>
            <a:r>
              <a:rPr lang="en-US" sz="2200" dirty="0"/>
              <a:t> − 1 </a:t>
            </a:r>
            <a:endParaRPr lang="en-US" sz="2200" dirty="0"/>
          </a:p>
          <a:p>
            <a:pPr algn="l"/>
            <a:r>
              <a:rPr lang="en-US" sz="2200" dirty="0"/>
              <a:t>			        (usually </a:t>
            </a:r>
            <a:r>
              <a:rPr lang="en-US" sz="2200" i="1" dirty="0"/>
              <a:t>4 bytes)</a:t>
            </a:r>
            <a:endParaRPr lang="en-US" sz="2200" i="1" dirty="0"/>
          </a:p>
          <a:p>
            <a:pPr algn="l"/>
            <a:r>
              <a:rPr lang="en-US" sz="2200" b="1" dirty="0">
                <a:latin typeface="Courier"/>
                <a:cs typeface="Courier"/>
              </a:rPr>
              <a:t>unsigned int </a:t>
            </a:r>
            <a:r>
              <a:rPr lang="en-US" sz="2200" dirty="0"/>
              <a:t>		2 bytes 		0 to 2</a:t>
            </a:r>
            <a:r>
              <a:rPr lang="en-US" sz="2200" baseline="30000" dirty="0"/>
              <a:t>16</a:t>
            </a:r>
            <a:r>
              <a:rPr lang="en-US" sz="2200" dirty="0"/>
              <a:t> − 1 </a:t>
            </a:r>
            <a:endParaRPr lang="en-US" sz="2200" dirty="0"/>
          </a:p>
          <a:p>
            <a:pPr algn="l"/>
            <a:r>
              <a:rPr lang="en-US" sz="2200" dirty="0"/>
              <a:t>			        (usually </a:t>
            </a:r>
            <a:r>
              <a:rPr lang="en-US" sz="2200" i="1" dirty="0"/>
              <a:t>4 bytes)</a:t>
            </a:r>
            <a:endParaRPr lang="en-US" sz="2200" i="1" dirty="0"/>
          </a:p>
          <a:p>
            <a:pPr algn="l"/>
            <a:r>
              <a:rPr lang="en-US" sz="2200" b="1" dirty="0">
                <a:latin typeface="Courier"/>
                <a:cs typeface="Courier"/>
              </a:rPr>
              <a:t>short </a:t>
            </a:r>
            <a:r>
              <a:rPr lang="en-US" sz="2200" dirty="0"/>
              <a:t>			2 bytes 		−(2</a:t>
            </a:r>
            <a:r>
              <a:rPr lang="en-US" sz="2200" baseline="30000" dirty="0"/>
              <a:t>15</a:t>
            </a:r>
            <a:r>
              <a:rPr lang="en-US" sz="2200" dirty="0"/>
              <a:t>) to 2</a:t>
            </a:r>
            <a:r>
              <a:rPr lang="en-US" sz="2200" baseline="30000" dirty="0"/>
              <a:t>15</a:t>
            </a:r>
            <a:r>
              <a:rPr lang="en-US" sz="2200" dirty="0"/>
              <a:t> − 1 </a:t>
            </a:r>
            <a:endParaRPr lang="en-US" sz="2200" dirty="0"/>
          </a:p>
          <a:p>
            <a:pPr algn="l"/>
            <a:r>
              <a:rPr lang="en-US" sz="2200" b="1" dirty="0">
                <a:latin typeface="Courier"/>
                <a:cs typeface="Courier"/>
              </a:rPr>
              <a:t>unsigned short </a:t>
            </a:r>
            <a:r>
              <a:rPr lang="en-US" sz="2200" dirty="0"/>
              <a:t>		2 bytes 		0 to 2</a:t>
            </a:r>
            <a:r>
              <a:rPr lang="en-US" sz="2200" baseline="30000" dirty="0"/>
              <a:t>16</a:t>
            </a:r>
            <a:r>
              <a:rPr lang="en-US" sz="2200" dirty="0"/>
              <a:t> − 1 </a:t>
            </a:r>
            <a:endParaRPr lang="en-US" sz="2200" dirty="0"/>
          </a:p>
          <a:p>
            <a:pPr algn="l"/>
            <a:r>
              <a:rPr lang="en-US" sz="2200" b="1" dirty="0">
                <a:latin typeface="Courier"/>
                <a:cs typeface="Courier"/>
              </a:rPr>
              <a:t>long </a:t>
            </a:r>
            <a:r>
              <a:rPr lang="en-US" sz="2200" dirty="0"/>
              <a:t>				4 bytes 		−(2</a:t>
            </a:r>
            <a:r>
              <a:rPr lang="en-US" sz="2200" baseline="30000" dirty="0"/>
              <a:t>31</a:t>
            </a:r>
            <a:r>
              <a:rPr lang="en-US" sz="2200" dirty="0"/>
              <a:t>) to 2</a:t>
            </a:r>
            <a:r>
              <a:rPr lang="en-US" sz="2200" baseline="30000" dirty="0"/>
              <a:t>31</a:t>
            </a:r>
            <a:r>
              <a:rPr lang="en-US" sz="2200" dirty="0"/>
              <a:t> − 1 </a:t>
            </a:r>
            <a:endParaRPr lang="en-US" sz="2200" dirty="0"/>
          </a:p>
          <a:p>
            <a:pPr algn="l"/>
            <a:r>
              <a:rPr lang="en-US" sz="2200" b="1" dirty="0">
                <a:latin typeface="Courier"/>
                <a:cs typeface="Courier"/>
              </a:rPr>
              <a:t>unsigned long </a:t>
            </a:r>
            <a:r>
              <a:rPr lang="en-US" sz="2200" dirty="0"/>
              <a:t>		4 bytes 		0 to 2</a:t>
            </a:r>
            <a:r>
              <a:rPr lang="en-US" sz="2200" baseline="30000" dirty="0"/>
              <a:t>16</a:t>
            </a:r>
            <a:r>
              <a:rPr lang="en-US" sz="2200" dirty="0"/>
              <a:t> − 1 </a:t>
            </a:r>
            <a:endParaRPr lang="en-US" sz="2200" dirty="0"/>
          </a:p>
          <a:p>
            <a:pPr algn="l"/>
            <a:r>
              <a:rPr lang="en-US" sz="2200" b="1" dirty="0">
                <a:latin typeface="Courier"/>
                <a:cs typeface="Courier"/>
              </a:rPr>
              <a:t>long long</a:t>
            </a:r>
            <a:r>
              <a:rPr lang="en-US" sz="2200" dirty="0"/>
              <a:t>			8 bytes 		−(2</a:t>
            </a:r>
            <a:r>
              <a:rPr lang="en-US" sz="2200" baseline="30000" dirty="0"/>
              <a:t>63</a:t>
            </a:r>
            <a:r>
              <a:rPr lang="en-US" sz="2200" dirty="0"/>
              <a:t>) to 2</a:t>
            </a:r>
            <a:r>
              <a:rPr lang="en-US" sz="2200" baseline="30000" dirty="0"/>
              <a:t>63</a:t>
            </a:r>
            <a:r>
              <a:rPr lang="en-US" sz="2200" dirty="0"/>
              <a:t> − 1 </a:t>
            </a:r>
            <a:endParaRPr lang="en-US" sz="2200" dirty="0"/>
          </a:p>
          <a:p>
            <a:pPr algn="l"/>
            <a:r>
              <a:rPr lang="en-US" sz="2200" b="1" dirty="0">
                <a:latin typeface="Courier"/>
                <a:cs typeface="Courier"/>
              </a:rPr>
              <a:t>unsigned long long</a:t>
            </a:r>
            <a:r>
              <a:rPr lang="en-US" sz="2200" dirty="0"/>
              <a:t>	8 bytes 		0 to 2</a:t>
            </a:r>
            <a:r>
              <a:rPr lang="en-US" sz="2200" baseline="30000" dirty="0"/>
              <a:t>64</a:t>
            </a:r>
            <a:r>
              <a:rPr lang="en-US" sz="2200" dirty="0"/>
              <a:t> − 1 </a:t>
            </a:r>
            <a:endParaRPr lang="en-US" sz="2200" dirty="0"/>
          </a:p>
        </p:txBody>
      </p:sp>
      <p:cxnSp>
        <p:nvCxnSpPr>
          <p:cNvPr id="8" name="Straight Connector 7"/>
          <p:cNvCxnSpPr/>
          <p:nvPr/>
        </p:nvCxnSpPr>
        <p:spPr bwMode="auto">
          <a:xfrm>
            <a:off x="0" y="1124744"/>
            <a:ext cx="9036496" cy="0"/>
          </a:xfrm>
          <a:prstGeom prst="line">
            <a:avLst/>
          </a:prstGeom>
          <a:noFill/>
          <a:ln w="6350" cap="flat" cmpd="sng" algn="ctr">
            <a:solidFill>
              <a:srgbClr val="000208"/>
            </a:solidFill>
            <a:prstDash val="solid"/>
            <a:round/>
            <a:headEnd type="none" w="lg" len="lg"/>
            <a:tailEnd type="none"/>
          </a:ln>
          <a:effectLst/>
        </p:spPr>
      </p:cxnSp>
      <p:cxnSp>
        <p:nvCxnSpPr>
          <p:cNvPr id="9" name="Straight Connector 8"/>
          <p:cNvCxnSpPr/>
          <p:nvPr/>
        </p:nvCxnSpPr>
        <p:spPr bwMode="auto">
          <a:xfrm>
            <a:off x="3311860" y="692696"/>
            <a:ext cx="0" cy="5940660"/>
          </a:xfrm>
          <a:prstGeom prst="line">
            <a:avLst/>
          </a:prstGeom>
          <a:noFill/>
          <a:ln w="6350" cap="flat" cmpd="sng" algn="ctr">
            <a:solidFill>
              <a:srgbClr val="000208"/>
            </a:solidFill>
            <a:prstDash val="solid"/>
            <a:round/>
            <a:headEnd type="none" w="lg" len="lg"/>
            <a:tailEnd type="none"/>
          </a:ln>
          <a:effectLst/>
        </p:spPr>
      </p:cxnSp>
      <p:cxnSp>
        <p:nvCxnSpPr>
          <p:cNvPr id="12" name="Straight Connector 11"/>
          <p:cNvCxnSpPr/>
          <p:nvPr/>
        </p:nvCxnSpPr>
        <p:spPr bwMode="auto">
          <a:xfrm>
            <a:off x="5940152" y="692696"/>
            <a:ext cx="0" cy="5940660"/>
          </a:xfrm>
          <a:prstGeom prst="line">
            <a:avLst/>
          </a:prstGeom>
          <a:noFill/>
          <a:ln w="6350" cap="flat" cmpd="sng" algn="ctr">
            <a:solidFill>
              <a:srgbClr val="000208"/>
            </a:solidFill>
            <a:prstDash val="solid"/>
            <a:round/>
            <a:headEnd type="none" w="lg" len="lg"/>
            <a:tailEnd type="none"/>
          </a:ln>
          <a:effectLst/>
        </p:spPr>
      </p:cxnSp>
      <p:cxnSp>
        <p:nvCxnSpPr>
          <p:cNvPr id="13" name="Straight Connector 12"/>
          <p:cNvCxnSpPr/>
          <p:nvPr/>
        </p:nvCxnSpPr>
        <p:spPr bwMode="auto">
          <a:xfrm>
            <a:off x="-508" y="1952836"/>
            <a:ext cx="9036496" cy="0"/>
          </a:xfrm>
          <a:prstGeom prst="line">
            <a:avLst/>
          </a:prstGeom>
          <a:noFill/>
          <a:ln w="6350" cap="flat" cmpd="sng" algn="ctr">
            <a:solidFill>
              <a:srgbClr val="000208"/>
            </a:solidFill>
            <a:prstDash val="solid"/>
            <a:round/>
            <a:headEnd type="none" w="lg" len="lg"/>
            <a:tailEnd type="none"/>
          </a:ln>
          <a:effectLst/>
        </p:spPr>
      </p:cxnSp>
      <p:cxnSp>
        <p:nvCxnSpPr>
          <p:cNvPr id="16" name="Straight Connector 15"/>
          <p:cNvCxnSpPr/>
          <p:nvPr/>
        </p:nvCxnSpPr>
        <p:spPr bwMode="auto">
          <a:xfrm>
            <a:off x="-508" y="2312876"/>
            <a:ext cx="9036496" cy="0"/>
          </a:xfrm>
          <a:prstGeom prst="line">
            <a:avLst/>
          </a:prstGeom>
          <a:noFill/>
          <a:ln w="6350" cap="flat" cmpd="sng" algn="ctr">
            <a:solidFill>
              <a:srgbClr val="000208"/>
            </a:solidFill>
            <a:prstDash val="solid"/>
            <a:round/>
            <a:headEnd type="none" w="lg" len="lg"/>
            <a:tailEnd type="none"/>
          </a:ln>
          <a:effectLst/>
        </p:spPr>
      </p:cxnSp>
      <p:cxnSp>
        <p:nvCxnSpPr>
          <p:cNvPr id="17" name="Straight Connector 16"/>
          <p:cNvCxnSpPr/>
          <p:nvPr/>
        </p:nvCxnSpPr>
        <p:spPr bwMode="auto">
          <a:xfrm>
            <a:off x="-508" y="3140968"/>
            <a:ext cx="9036496" cy="0"/>
          </a:xfrm>
          <a:prstGeom prst="line">
            <a:avLst/>
          </a:prstGeom>
          <a:noFill/>
          <a:ln w="6350" cap="flat" cmpd="sng" algn="ctr">
            <a:solidFill>
              <a:srgbClr val="000208"/>
            </a:solidFill>
            <a:prstDash val="solid"/>
            <a:round/>
            <a:headEnd type="none" w="lg" len="lg"/>
            <a:tailEnd type="none"/>
          </a:ln>
          <a:effectLst/>
        </p:spPr>
      </p:cxnSp>
      <p:cxnSp>
        <p:nvCxnSpPr>
          <p:cNvPr id="18" name="Straight Connector 17"/>
          <p:cNvCxnSpPr/>
          <p:nvPr/>
        </p:nvCxnSpPr>
        <p:spPr bwMode="auto">
          <a:xfrm>
            <a:off x="-508" y="3969060"/>
            <a:ext cx="9036496" cy="0"/>
          </a:xfrm>
          <a:prstGeom prst="line">
            <a:avLst/>
          </a:prstGeom>
          <a:noFill/>
          <a:ln w="6350" cap="flat" cmpd="sng" algn="ctr">
            <a:solidFill>
              <a:srgbClr val="000208"/>
            </a:solidFill>
            <a:prstDash val="solid"/>
            <a:round/>
            <a:headEnd type="none" w="lg" len="lg"/>
            <a:tailEnd type="none"/>
          </a:ln>
          <a:effectLst/>
        </p:spPr>
      </p:cxnSp>
      <p:cxnSp>
        <p:nvCxnSpPr>
          <p:cNvPr id="19" name="Straight Connector 18"/>
          <p:cNvCxnSpPr/>
          <p:nvPr/>
        </p:nvCxnSpPr>
        <p:spPr bwMode="auto">
          <a:xfrm>
            <a:off x="-508" y="4329100"/>
            <a:ext cx="9036496" cy="0"/>
          </a:xfrm>
          <a:prstGeom prst="line">
            <a:avLst/>
          </a:prstGeom>
          <a:noFill/>
          <a:ln w="6350" cap="flat" cmpd="sng" algn="ctr">
            <a:solidFill>
              <a:srgbClr val="000208"/>
            </a:solidFill>
            <a:prstDash val="solid"/>
            <a:round/>
            <a:headEnd type="none" w="lg" len="lg"/>
            <a:tailEnd type="none"/>
          </a:ln>
          <a:effectLst/>
        </p:spPr>
      </p:cxnSp>
      <p:cxnSp>
        <p:nvCxnSpPr>
          <p:cNvPr id="20" name="Straight Connector 19"/>
          <p:cNvCxnSpPr/>
          <p:nvPr/>
        </p:nvCxnSpPr>
        <p:spPr bwMode="auto">
          <a:xfrm>
            <a:off x="-508" y="4761148"/>
            <a:ext cx="9036496" cy="0"/>
          </a:xfrm>
          <a:prstGeom prst="line">
            <a:avLst/>
          </a:prstGeom>
          <a:noFill/>
          <a:ln w="6350" cap="flat" cmpd="sng" algn="ctr">
            <a:solidFill>
              <a:srgbClr val="000208"/>
            </a:solidFill>
            <a:prstDash val="solid"/>
            <a:round/>
            <a:headEnd type="none" w="lg" len="lg"/>
            <a:tailEnd type="none"/>
          </a:ln>
          <a:effectLst/>
        </p:spPr>
      </p:cxnSp>
      <p:cxnSp>
        <p:nvCxnSpPr>
          <p:cNvPr id="21" name="Straight Connector 20"/>
          <p:cNvCxnSpPr/>
          <p:nvPr/>
        </p:nvCxnSpPr>
        <p:spPr bwMode="auto">
          <a:xfrm>
            <a:off x="-508" y="5157192"/>
            <a:ext cx="9036496" cy="0"/>
          </a:xfrm>
          <a:prstGeom prst="line">
            <a:avLst/>
          </a:prstGeom>
          <a:noFill/>
          <a:ln w="6350" cap="flat" cmpd="sng" algn="ctr">
            <a:solidFill>
              <a:srgbClr val="000208"/>
            </a:solidFill>
            <a:prstDash val="solid"/>
            <a:round/>
            <a:headEnd type="none" w="lg" len="lg"/>
            <a:tailEnd type="none"/>
          </a:ln>
          <a:effectLst/>
        </p:spPr>
      </p:cxnSp>
      <p:cxnSp>
        <p:nvCxnSpPr>
          <p:cNvPr id="22" name="Straight Connector 21"/>
          <p:cNvCxnSpPr/>
          <p:nvPr/>
        </p:nvCxnSpPr>
        <p:spPr bwMode="auto">
          <a:xfrm>
            <a:off x="-508" y="5553236"/>
            <a:ext cx="9036496" cy="0"/>
          </a:xfrm>
          <a:prstGeom prst="line">
            <a:avLst/>
          </a:prstGeom>
          <a:noFill/>
          <a:ln w="6350" cap="flat" cmpd="sng" algn="ctr">
            <a:solidFill>
              <a:srgbClr val="000208"/>
            </a:solidFill>
            <a:prstDash val="solid"/>
            <a:round/>
            <a:headEnd type="none" w="lg" len="lg"/>
            <a:tailEnd type="none"/>
          </a:ln>
          <a:effectLst/>
        </p:spPr>
      </p:cxnSp>
      <p:cxnSp>
        <p:nvCxnSpPr>
          <p:cNvPr id="23" name="Straight Connector 22"/>
          <p:cNvCxnSpPr/>
          <p:nvPr/>
        </p:nvCxnSpPr>
        <p:spPr bwMode="auto">
          <a:xfrm>
            <a:off x="-508" y="5985284"/>
            <a:ext cx="9036496" cy="0"/>
          </a:xfrm>
          <a:prstGeom prst="line">
            <a:avLst/>
          </a:prstGeom>
          <a:noFill/>
          <a:ln w="6350" cap="flat" cmpd="sng" algn="ctr">
            <a:solidFill>
              <a:srgbClr val="000208"/>
            </a:solidFill>
            <a:prstDash val="solid"/>
            <a:round/>
            <a:headEnd type="none" w="lg" len="lg"/>
            <a:tailEnd type="none"/>
          </a:ln>
          <a:effectLst/>
        </p:spPr>
      </p:cxnSp>
      <p:cxnSp>
        <p:nvCxnSpPr>
          <p:cNvPr id="24" name="Straight Connector 23"/>
          <p:cNvCxnSpPr/>
          <p:nvPr/>
        </p:nvCxnSpPr>
        <p:spPr bwMode="auto">
          <a:xfrm>
            <a:off x="-508" y="1520788"/>
            <a:ext cx="9036496" cy="0"/>
          </a:xfrm>
          <a:prstGeom prst="line">
            <a:avLst/>
          </a:prstGeom>
          <a:noFill/>
          <a:ln w="6350" cap="flat" cmpd="sng" algn="ctr">
            <a:solidFill>
              <a:srgbClr val="000208"/>
            </a:solidFill>
            <a:prstDash val="solid"/>
            <a:round/>
            <a:headEnd type="none" w="lg" len="lg"/>
            <a:tailEnd type="none"/>
          </a:ln>
          <a:effectLst/>
        </p:spPr>
      </p:cxnSp>
      <p:cxnSp>
        <p:nvCxnSpPr>
          <p:cNvPr id="26" name="Straight Connector 25"/>
          <p:cNvCxnSpPr/>
          <p:nvPr/>
        </p:nvCxnSpPr>
        <p:spPr bwMode="auto">
          <a:xfrm>
            <a:off x="71500" y="6417332"/>
            <a:ext cx="9036496" cy="0"/>
          </a:xfrm>
          <a:prstGeom prst="line">
            <a:avLst/>
          </a:prstGeom>
          <a:noFill/>
          <a:ln w="6350" cap="flat" cmpd="sng" algn="ctr">
            <a:solidFill>
              <a:srgbClr val="000208"/>
            </a:solidFill>
            <a:prstDash val="solid"/>
            <a:round/>
            <a:headEnd type="none" w="lg" len="lg"/>
            <a:tailEnd type="none"/>
          </a:ln>
          <a:effectLst/>
        </p:spPr>
      </p:cxnSp>
      <p:sp>
        <p:nvSpPr>
          <p:cNvPr id="2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z="2800" dirty="0">
                <a:latin typeface="Arial" panose="020B0604020202020204" pitchFamily="34" charset="0"/>
                <a:cs typeface="MS PGothic" panose="020B0600070205080204" charset="-128"/>
              </a:rPr>
              <a:t>Types de données primitives : </a:t>
            </a:r>
            <a:r>
              <a:rPr lang="fr-FR" sz="2800" dirty="0" err="1">
                <a:latin typeface="Arial" panose="020B0604020202020204" pitchFamily="34" charset="0"/>
                <a:cs typeface="MS PGothic" panose="020B0600070205080204" charset="-128"/>
              </a:rPr>
              <a:t>Float</a:t>
            </a:r>
            <a:endParaRPr lang="en-US" sz="2800" dirty="0"/>
          </a:p>
        </p:txBody>
      </p:sp>
      <p:sp>
        <p:nvSpPr>
          <p:cNvPr id="5" name="Slide Number Placeholder 4"/>
          <p:cNvSpPr>
            <a:spLocks noGrp="1"/>
          </p:cNvSpPr>
          <p:nvPr>
            <p:ph type="sldNum" sz="quarter" idx="11"/>
          </p:nvPr>
        </p:nvSpPr>
        <p:spPr/>
        <p:txBody>
          <a:bodyPr/>
          <a:lstStyle/>
          <a:p>
            <a:pPr lvl="2"/>
            <a:fld id="{28BEB0BA-EEE4-5F45-9179-3BC54B76BCCF}" type="slidenum">
              <a:rPr lang="fr-FR" smtClean="0"/>
            </a:fld>
            <a:endParaRPr lang="fr-FR"/>
          </a:p>
        </p:txBody>
      </p:sp>
      <p:sp>
        <p:nvSpPr>
          <p:cNvPr id="6" name="Rectangle 5"/>
          <p:cNvSpPr/>
          <p:nvPr/>
        </p:nvSpPr>
        <p:spPr>
          <a:xfrm>
            <a:off x="0" y="1196752"/>
            <a:ext cx="9684568" cy="2899255"/>
          </a:xfrm>
          <a:prstGeom prst="rect">
            <a:avLst/>
          </a:prstGeom>
        </p:spPr>
        <p:txBody>
          <a:bodyPr wrap="square">
            <a:spAutoFit/>
          </a:bodyPr>
          <a:lstStyle/>
          <a:p>
            <a:pPr algn="l"/>
            <a:r>
              <a:rPr lang="en-US" sz="2000" b="1" dirty="0"/>
              <a:t>Type</a:t>
            </a:r>
            <a:r>
              <a:rPr lang="en-US" sz="2400" b="1" dirty="0"/>
              <a:t> 		 </a:t>
            </a:r>
            <a:r>
              <a:rPr lang="en-US" sz="2000" b="1" dirty="0" smtClean="0"/>
              <a:t>Taille de storage     Plage de valeurs</a:t>
            </a:r>
            <a:r>
              <a:rPr lang="en-US" sz="2400" b="1" dirty="0"/>
              <a:t>	</a:t>
            </a:r>
            <a:r>
              <a:rPr lang="en-US" sz="2400" b="1" dirty="0" smtClean="0"/>
              <a:t>           </a:t>
            </a:r>
            <a:r>
              <a:rPr lang="en-US" sz="2000" b="1" dirty="0" smtClean="0"/>
              <a:t>Précision</a:t>
            </a:r>
            <a:r>
              <a:rPr lang="en-US" sz="2400" b="1" dirty="0" smtClean="0"/>
              <a:t> </a:t>
            </a:r>
            <a:endParaRPr lang="en-US" sz="2400" b="1" dirty="0"/>
          </a:p>
          <a:p>
            <a:pPr algn="l"/>
            <a:r>
              <a:rPr lang="en-US" sz="2200" b="1" dirty="0">
                <a:latin typeface="Courier"/>
                <a:cs typeface="Courier"/>
              </a:rPr>
              <a:t>float</a:t>
            </a:r>
            <a:r>
              <a:rPr lang="en-US" sz="2200" dirty="0"/>
              <a:t> 	     4 byte 	   </a:t>
            </a:r>
            <a:r>
              <a:rPr lang="en-US" sz="2200" dirty="0" smtClean="0"/>
              <a:t>   1.2E-38 </a:t>
            </a:r>
            <a:r>
              <a:rPr lang="en-US" sz="2200" dirty="0"/>
              <a:t>to 3.4E+38 	</a:t>
            </a:r>
            <a:r>
              <a:rPr lang="en-US" sz="2200" dirty="0" smtClean="0"/>
              <a:t> simple </a:t>
            </a:r>
            <a:endParaRPr lang="en-US" sz="2200" dirty="0"/>
          </a:p>
          <a:p>
            <a:pPr algn="l"/>
            <a:endParaRPr lang="en-US" sz="2200" b="1" dirty="0">
              <a:latin typeface="Courier"/>
              <a:cs typeface="Courier"/>
            </a:endParaRPr>
          </a:p>
          <a:p>
            <a:pPr algn="l"/>
            <a:r>
              <a:rPr lang="en-US" sz="2200" b="1" dirty="0">
                <a:latin typeface="Courier"/>
                <a:cs typeface="Courier"/>
              </a:rPr>
              <a:t>double</a:t>
            </a:r>
            <a:r>
              <a:rPr lang="en-US" sz="2200" dirty="0"/>
              <a:t> 	     8 byte 	   </a:t>
            </a:r>
            <a:r>
              <a:rPr lang="en-US" sz="2200" dirty="0" smtClean="0"/>
              <a:t>    2.3E-308 </a:t>
            </a:r>
            <a:r>
              <a:rPr lang="en-US" sz="2200" dirty="0"/>
              <a:t>to 1.7E+308 	double</a:t>
            </a:r>
            <a:endParaRPr lang="en-US" sz="2200" dirty="0"/>
          </a:p>
          <a:p>
            <a:pPr algn="l"/>
            <a:endParaRPr lang="en-US" sz="2200" b="1" dirty="0">
              <a:latin typeface="Courier"/>
              <a:cs typeface="Courier"/>
            </a:endParaRPr>
          </a:p>
          <a:p>
            <a:pPr algn="l"/>
            <a:r>
              <a:rPr lang="en-US" sz="2200" b="1" dirty="0">
                <a:latin typeface="Courier"/>
                <a:cs typeface="Courier"/>
              </a:rPr>
              <a:t>long double </a:t>
            </a:r>
            <a:r>
              <a:rPr lang="en-US" sz="2200" dirty="0"/>
              <a:t>  10 byte 	   </a:t>
            </a:r>
            <a:r>
              <a:rPr lang="en-US" sz="2200" dirty="0" smtClean="0"/>
              <a:t> 3.4E-4932 </a:t>
            </a:r>
            <a:r>
              <a:rPr lang="en-US" sz="2200" dirty="0"/>
              <a:t>to 1.1E+4932 	</a:t>
            </a:r>
            <a:r>
              <a:rPr lang="en-US" sz="2200" dirty="0" smtClean="0"/>
              <a:t>étendu</a:t>
            </a:r>
            <a:endParaRPr lang="en-US" sz="2200" dirty="0"/>
          </a:p>
          <a:p>
            <a:pPr algn="l"/>
            <a:endParaRPr lang="en-US" sz="2200" dirty="0"/>
          </a:p>
        </p:txBody>
      </p:sp>
      <p:cxnSp>
        <p:nvCxnSpPr>
          <p:cNvPr id="8" name="Straight Connector 7"/>
          <p:cNvCxnSpPr/>
          <p:nvPr/>
        </p:nvCxnSpPr>
        <p:spPr bwMode="auto">
          <a:xfrm>
            <a:off x="0" y="1604639"/>
            <a:ext cx="9036496" cy="0"/>
          </a:xfrm>
          <a:prstGeom prst="line">
            <a:avLst/>
          </a:prstGeom>
          <a:noFill/>
          <a:ln w="6350" cap="flat" cmpd="sng" algn="ctr">
            <a:solidFill>
              <a:srgbClr val="000208"/>
            </a:solidFill>
            <a:prstDash val="solid"/>
            <a:round/>
            <a:headEnd type="none" w="lg" len="lg"/>
            <a:tailEnd type="none"/>
          </a:ln>
          <a:effectLst/>
        </p:spPr>
      </p:cxnSp>
      <p:cxnSp>
        <p:nvCxnSpPr>
          <p:cNvPr id="9" name="Straight Connector 8"/>
          <p:cNvCxnSpPr/>
          <p:nvPr/>
        </p:nvCxnSpPr>
        <p:spPr bwMode="auto">
          <a:xfrm>
            <a:off x="1979712" y="1136587"/>
            <a:ext cx="0" cy="3048497"/>
          </a:xfrm>
          <a:prstGeom prst="line">
            <a:avLst/>
          </a:prstGeom>
          <a:noFill/>
          <a:ln w="6350" cap="flat" cmpd="sng" algn="ctr">
            <a:solidFill>
              <a:srgbClr val="000208"/>
            </a:solidFill>
            <a:prstDash val="solid"/>
            <a:round/>
            <a:headEnd type="none" w="lg" len="lg"/>
            <a:tailEnd type="none"/>
          </a:ln>
          <a:effectLst/>
        </p:spPr>
      </p:cxnSp>
      <p:cxnSp>
        <p:nvCxnSpPr>
          <p:cNvPr id="16" name="Straight Connector 15"/>
          <p:cNvCxnSpPr/>
          <p:nvPr/>
        </p:nvCxnSpPr>
        <p:spPr bwMode="auto">
          <a:xfrm>
            <a:off x="-508" y="2504739"/>
            <a:ext cx="9036496" cy="0"/>
          </a:xfrm>
          <a:prstGeom prst="line">
            <a:avLst/>
          </a:prstGeom>
          <a:noFill/>
          <a:ln w="6350" cap="flat" cmpd="sng" algn="ctr">
            <a:solidFill>
              <a:srgbClr val="000208"/>
            </a:solidFill>
            <a:prstDash val="solid"/>
            <a:round/>
            <a:headEnd type="none" w="lg" len="lg"/>
            <a:tailEnd type="none"/>
          </a:ln>
          <a:effectLst/>
        </p:spPr>
      </p:cxnSp>
      <p:cxnSp>
        <p:nvCxnSpPr>
          <p:cNvPr id="23" name="Straight Connector 22"/>
          <p:cNvCxnSpPr/>
          <p:nvPr/>
        </p:nvCxnSpPr>
        <p:spPr bwMode="auto">
          <a:xfrm>
            <a:off x="-508" y="3260823"/>
            <a:ext cx="9036496" cy="0"/>
          </a:xfrm>
          <a:prstGeom prst="line">
            <a:avLst/>
          </a:prstGeom>
          <a:noFill/>
          <a:ln w="6350" cap="flat" cmpd="sng" algn="ctr">
            <a:solidFill>
              <a:srgbClr val="000208"/>
            </a:solidFill>
            <a:prstDash val="solid"/>
            <a:round/>
            <a:headEnd type="none" w="lg" len="lg"/>
            <a:tailEnd type="none"/>
          </a:ln>
          <a:effectLst/>
        </p:spPr>
      </p:cxnSp>
      <p:cxnSp>
        <p:nvCxnSpPr>
          <p:cNvPr id="25" name="Straight Connector 24"/>
          <p:cNvCxnSpPr/>
          <p:nvPr/>
        </p:nvCxnSpPr>
        <p:spPr bwMode="auto">
          <a:xfrm>
            <a:off x="-508" y="4221088"/>
            <a:ext cx="9036496" cy="0"/>
          </a:xfrm>
          <a:prstGeom prst="line">
            <a:avLst/>
          </a:prstGeom>
          <a:noFill/>
          <a:ln w="6350" cap="flat" cmpd="sng" algn="ctr">
            <a:solidFill>
              <a:srgbClr val="000208"/>
            </a:solidFill>
            <a:prstDash val="solid"/>
            <a:round/>
            <a:headEnd type="none" w="lg" len="lg"/>
            <a:tailEnd type="none"/>
          </a:ln>
          <a:effectLst/>
        </p:spPr>
      </p:cxnSp>
      <p:cxnSp>
        <p:nvCxnSpPr>
          <p:cNvPr id="14" name="Straight Connector 13"/>
          <p:cNvCxnSpPr/>
          <p:nvPr/>
        </p:nvCxnSpPr>
        <p:spPr bwMode="auto">
          <a:xfrm>
            <a:off x="4031940" y="1172591"/>
            <a:ext cx="0" cy="3048497"/>
          </a:xfrm>
          <a:prstGeom prst="line">
            <a:avLst/>
          </a:prstGeom>
          <a:noFill/>
          <a:ln w="6350" cap="flat" cmpd="sng" algn="ctr">
            <a:solidFill>
              <a:srgbClr val="000208"/>
            </a:solidFill>
            <a:prstDash val="solid"/>
            <a:round/>
            <a:headEnd type="none" w="lg" len="lg"/>
            <a:tailEnd type="none"/>
          </a:ln>
          <a:effectLst/>
        </p:spPr>
      </p:cxnSp>
      <p:cxnSp>
        <p:nvCxnSpPr>
          <p:cNvPr id="15" name="Straight Connector 14"/>
          <p:cNvCxnSpPr/>
          <p:nvPr/>
        </p:nvCxnSpPr>
        <p:spPr bwMode="auto">
          <a:xfrm>
            <a:off x="7272300" y="1208595"/>
            <a:ext cx="0" cy="3048497"/>
          </a:xfrm>
          <a:prstGeom prst="line">
            <a:avLst/>
          </a:prstGeom>
          <a:noFill/>
          <a:ln w="6350" cap="flat" cmpd="sng" algn="ctr">
            <a:solidFill>
              <a:srgbClr val="000208"/>
            </a:solidFill>
            <a:prstDash val="solid"/>
            <a:round/>
            <a:headEnd type="none" w="lg" len="lg"/>
            <a:tailEnd type="none"/>
          </a:ln>
          <a:effectLst/>
        </p:spPr>
      </p:cxnSp>
      <p:sp>
        <p:nvSpPr>
          <p:cNvPr id="1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re 1"/>
          <p:cNvSpPr>
            <a:spLocks noGrp="1"/>
          </p:cNvSpPr>
          <p:nvPr>
            <p:ph type="title"/>
          </p:nvPr>
        </p:nvSpPr>
        <p:spPr>
          <a:xfrm>
            <a:off x="-59378" y="169248"/>
            <a:ext cx="9433048" cy="533400"/>
          </a:xfrm>
        </p:spPr>
        <p:txBody>
          <a:bodyPr/>
          <a:lstStyle/>
          <a:p>
            <a:r>
              <a:rPr lang="fr-FR" sz="2800" dirty="0">
                <a:latin typeface="Arial" panose="020B0604020202020204" pitchFamily="34" charset="0"/>
                <a:cs typeface="MS PGothic" panose="020B0600070205080204" charset="-128"/>
              </a:rPr>
              <a:t>Définition des objets de données primitifs </a:t>
            </a:r>
            <a:r>
              <a:rPr lang="en-GB" sz="2800" dirty="0" smtClean="0">
                <a:latin typeface="Arial" panose="020B0604020202020204" pitchFamily="34" charset="0"/>
                <a:cs typeface="MS PGothic" panose="020B0600070205080204" charset="-128"/>
              </a:rPr>
              <a:t>: Exemples</a:t>
            </a:r>
            <a:endParaRPr lang="en-GB" sz="2800" dirty="0">
              <a:latin typeface="Arial" panose="020B0604020202020204" pitchFamily="34" charset="0"/>
              <a:cs typeface="MS PGothic" panose="020B0600070205080204" charset="-128"/>
            </a:endParaRPr>
          </a:p>
        </p:txBody>
      </p:sp>
      <p:sp>
        <p:nvSpPr>
          <p:cNvPr id="72706" name="Espace réservé du contenu 2"/>
          <p:cNvSpPr>
            <a:spLocks noGrp="1"/>
          </p:cNvSpPr>
          <p:nvPr>
            <p:ph idx="1"/>
          </p:nvPr>
        </p:nvSpPr>
        <p:spPr>
          <a:xfrm>
            <a:off x="395536" y="944724"/>
            <a:ext cx="7562850" cy="4537075"/>
          </a:xfrm>
        </p:spPr>
        <p:txBody>
          <a:bodyPr/>
          <a:lstStyle/>
          <a:p>
            <a:r>
              <a:rPr lang="en-US" dirty="0" smtClean="0">
                <a:latin typeface="Arial" panose="020B0604020202020204" pitchFamily="34" charset="0"/>
              </a:rPr>
              <a:t>D</a:t>
            </a:r>
            <a:r>
              <a:rPr lang="en-US" dirty="0">
                <a:latin typeface="Arial" panose="020B0604020202020204" pitchFamily="34" charset="0"/>
              </a:rPr>
              <a:t>é</a:t>
            </a:r>
            <a:r>
              <a:rPr lang="en-US" dirty="0" smtClean="0">
                <a:latin typeface="Arial" panose="020B0604020202020204" pitchFamily="34" charset="0"/>
                <a:ea typeface="MS PGothic" panose="020B0600070205080204" charset="-128"/>
                <a:cs typeface="MS PGothic" panose="020B0600070205080204" charset="-128"/>
              </a:rPr>
              <a:t>finitions</a:t>
            </a:r>
            <a:endParaRPr lang="en-US" dirty="0">
              <a:latin typeface="Arial" panose="020B0604020202020204" pitchFamily="34" charset="0"/>
              <a:ea typeface="MS PGothic" panose="020B0600070205080204" charset="-128"/>
              <a:cs typeface="MS PGothic" panose="020B0600070205080204" charset="-128"/>
            </a:endParaRPr>
          </a:p>
          <a:p>
            <a:pPr lvl="1"/>
            <a:r>
              <a:rPr lang="en-US" b="1" dirty="0">
                <a:latin typeface="Courier"/>
                <a:ea typeface="MS PGothic" panose="020B0600070205080204" charset="-128"/>
                <a:cs typeface="Courier"/>
              </a:rPr>
              <a:t>int </a:t>
            </a:r>
            <a:r>
              <a:rPr lang="en-US" b="1" dirty="0" err="1">
                <a:latin typeface="Courier"/>
                <a:ea typeface="MS PGothic" panose="020B0600070205080204" charset="-128"/>
                <a:cs typeface="Courier"/>
              </a:rPr>
              <a:t>i</a:t>
            </a:r>
            <a:r>
              <a:rPr lang="en-US" b="1" dirty="0">
                <a:latin typeface="Courier"/>
                <a:ea typeface="MS PGothic" panose="020B0600070205080204" charset="-128"/>
                <a:cs typeface="Courier"/>
              </a:rPr>
              <a:t>;</a:t>
            </a:r>
            <a:endParaRPr lang="en-US" b="1" dirty="0">
              <a:latin typeface="Courier"/>
              <a:ea typeface="MS PGothic" panose="020B0600070205080204" charset="-128"/>
              <a:cs typeface="Courier"/>
            </a:endParaRPr>
          </a:p>
          <a:p>
            <a:pPr lvl="1"/>
            <a:r>
              <a:rPr lang="en-US" b="1" dirty="0">
                <a:solidFill>
                  <a:srgbClr val="000000"/>
                </a:solidFill>
                <a:latin typeface="Courier"/>
                <a:cs typeface="Courier"/>
              </a:rPr>
              <a:t>f</a:t>
            </a:r>
            <a:r>
              <a:rPr lang="en-US" b="1" dirty="0">
                <a:solidFill>
                  <a:srgbClr val="000000"/>
                </a:solidFill>
                <a:latin typeface="Courier"/>
                <a:ea typeface="MS PGothic" panose="020B0600070205080204" charset="-128"/>
                <a:cs typeface="Courier"/>
              </a:rPr>
              <a:t>loat </a:t>
            </a:r>
            <a:r>
              <a:rPr lang="en-US" b="1" dirty="0">
                <a:solidFill>
                  <a:srgbClr val="000000"/>
                </a:solidFill>
                <a:latin typeface="Courier"/>
                <a:cs typeface="Courier"/>
              </a:rPr>
              <a:t>f1</a:t>
            </a:r>
            <a:r>
              <a:rPr lang="en-US" b="1" dirty="0">
                <a:solidFill>
                  <a:srgbClr val="000000"/>
                </a:solidFill>
                <a:latin typeface="Courier"/>
                <a:ea typeface="MS PGothic" panose="020B0600070205080204" charset="-128"/>
                <a:cs typeface="Courier"/>
              </a:rPr>
              <a:t>, f2;</a:t>
            </a:r>
            <a:endParaRPr lang="en-US" b="1" dirty="0">
              <a:solidFill>
                <a:srgbClr val="000000"/>
              </a:solidFill>
              <a:latin typeface="Courier"/>
              <a:ea typeface="MS PGothic" panose="020B0600070205080204" charset="-128"/>
              <a:cs typeface="Courier"/>
            </a:endParaRPr>
          </a:p>
          <a:p>
            <a:pPr lvl="1"/>
            <a:r>
              <a:rPr lang="en-US" b="1" dirty="0">
                <a:latin typeface="Courier"/>
                <a:cs typeface="Courier"/>
              </a:rPr>
              <a:t>unsigned char c1, c2;</a:t>
            </a:r>
            <a:endParaRPr lang="en-US" b="1" dirty="0">
              <a:latin typeface="Courier"/>
              <a:cs typeface="Courier"/>
            </a:endParaRPr>
          </a:p>
          <a:p>
            <a:pPr lvl="1"/>
            <a:endParaRPr lang="en-US" b="1" dirty="0">
              <a:solidFill>
                <a:srgbClr val="000000"/>
              </a:solidFill>
              <a:latin typeface="Courier"/>
              <a:ea typeface="MS PGothic" panose="020B0600070205080204" charset="-128"/>
              <a:cs typeface="Courier"/>
            </a:endParaRPr>
          </a:p>
          <a:p>
            <a:pPr lvl="1"/>
            <a:endParaRPr lang="en-US" b="1" dirty="0">
              <a:solidFill>
                <a:srgbClr val="000000"/>
              </a:solidFill>
              <a:latin typeface="Courier"/>
              <a:ea typeface="MS PGothic" panose="020B0600070205080204" charset="-128"/>
              <a:cs typeface="Courier"/>
            </a:endParaRPr>
          </a:p>
          <a:p>
            <a:pPr lvl="1"/>
            <a:endParaRPr lang="en-US" sz="1050" b="1" dirty="0">
              <a:latin typeface="Courier"/>
              <a:ea typeface="MS PGothic" panose="020B0600070205080204" charset="-128"/>
              <a:cs typeface="Courier"/>
            </a:endParaRPr>
          </a:p>
          <a:p>
            <a:endParaRPr lang="en-US" dirty="0">
              <a:latin typeface="Arial" panose="020B0604020202020204" pitchFamily="34" charset="0"/>
              <a:cs typeface="MS PGothic" panose="020B0600070205080204" charset="-128"/>
            </a:endParaRPr>
          </a:p>
          <a:p>
            <a:pPr marL="0" indent="0">
              <a:buNone/>
            </a:pPr>
            <a:endParaRPr lang="en-US" dirty="0">
              <a:latin typeface="Arial" panose="020B0604020202020204" pitchFamily="34" charset="0"/>
              <a:cs typeface="MS PGothic" panose="020B0600070205080204" charset="-128"/>
            </a:endParaRPr>
          </a:p>
          <a:p>
            <a:r>
              <a:rPr lang="en-US" dirty="0" smtClean="0">
                <a:latin typeface="Arial" panose="020B0604020202020204" pitchFamily="34" charset="0"/>
                <a:cs typeface="MS PGothic" panose="020B0600070205080204" charset="-128"/>
              </a:rPr>
              <a:t>Définitions avec initialisation</a:t>
            </a:r>
            <a:endParaRPr lang="en-US" dirty="0">
              <a:latin typeface="Arial" panose="020B0604020202020204" pitchFamily="34" charset="0"/>
              <a:cs typeface="MS PGothic" panose="020B0600070205080204" charset="-128"/>
            </a:endParaRPr>
          </a:p>
          <a:p>
            <a:pPr lvl="1"/>
            <a:r>
              <a:rPr lang="en-US" b="1" dirty="0">
                <a:latin typeface="Courier"/>
                <a:cs typeface="Courier"/>
              </a:rPr>
              <a:t>int i = 3;</a:t>
            </a:r>
            <a:endParaRPr lang="en-US" b="1" dirty="0">
              <a:latin typeface="Courier"/>
              <a:cs typeface="Courier"/>
            </a:endParaRPr>
          </a:p>
          <a:p>
            <a:pPr lvl="1"/>
            <a:r>
              <a:rPr lang="en-US" b="1" dirty="0">
                <a:latin typeface="Courier"/>
                <a:cs typeface="Courier"/>
              </a:rPr>
              <a:t>float f1 = 1.2, f2 = 0.3;</a:t>
            </a:r>
            <a:endParaRPr lang="en-US" b="1" dirty="0">
              <a:latin typeface="Courier"/>
              <a:cs typeface="Courier"/>
            </a:endParaRPr>
          </a:p>
          <a:p>
            <a:pPr lvl="1"/>
            <a:r>
              <a:rPr lang="en-US" b="1" dirty="0">
                <a:latin typeface="Courier"/>
                <a:cs typeface="Courier"/>
              </a:rPr>
              <a:t>unsigned char c1 = ‘A’</a:t>
            </a:r>
            <a:r>
              <a:rPr lang="en-US" b="1" dirty="0">
                <a:solidFill>
                  <a:srgbClr val="000000"/>
                </a:solidFill>
                <a:latin typeface="Courier"/>
                <a:cs typeface="Courier"/>
              </a:rPr>
              <a:t>, c2 = 65;</a:t>
            </a:r>
            <a:endParaRPr lang="en-US" b="1" dirty="0">
              <a:solidFill>
                <a:srgbClr val="000000"/>
              </a:solidFill>
              <a:latin typeface="Courier"/>
              <a:cs typeface="Courier"/>
            </a:endParaRPr>
          </a:p>
          <a:p>
            <a:pPr marL="542925" lvl="1" indent="0">
              <a:buNone/>
            </a:pPr>
            <a:endParaRPr lang="en-US" sz="1050" b="1" dirty="0">
              <a:latin typeface="Courier"/>
              <a:cs typeface="Courier"/>
            </a:endParaRPr>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3" name="TextBox 2"/>
          <p:cNvSpPr txBox="1"/>
          <p:nvPr/>
        </p:nvSpPr>
        <p:spPr>
          <a:xfrm>
            <a:off x="359532" y="2766873"/>
            <a:ext cx="8316924" cy="1348061"/>
          </a:xfrm>
          <a:prstGeom prst="rect">
            <a:avLst/>
          </a:prstGeom>
          <a:noFill/>
          <a:ln>
            <a:solidFill>
              <a:schemeClr val="tx1"/>
            </a:solidFill>
          </a:ln>
        </p:spPr>
        <p:txBody>
          <a:bodyPr wrap="square" rtlCol="0">
            <a:spAutoFit/>
          </a:bodyPr>
          <a:lstStyle/>
          <a:p>
            <a:pPr algn="l"/>
            <a:r>
              <a:rPr lang="en-US" sz="2400" dirty="0">
                <a:solidFill>
                  <a:schemeClr val="tx1"/>
                </a:solidFill>
              </a:rPr>
              <a:t>- </a:t>
            </a:r>
            <a:r>
              <a:rPr lang="fr-FR" sz="2400" dirty="0">
                <a:solidFill>
                  <a:schemeClr val="tx1"/>
                </a:solidFill>
              </a:rPr>
              <a:t>Quelle est la valeur de ces </a:t>
            </a:r>
            <a:r>
              <a:rPr lang="fr-FR" sz="2400" dirty="0" smtClean="0">
                <a:solidFill>
                  <a:schemeClr val="tx1"/>
                </a:solidFill>
              </a:rPr>
              <a:t>identifiants </a:t>
            </a:r>
            <a:r>
              <a:rPr lang="en-US" sz="2400" dirty="0" smtClean="0">
                <a:solidFill>
                  <a:schemeClr val="tx1"/>
                </a:solidFill>
              </a:rPr>
              <a:t>? </a:t>
            </a:r>
            <a:endParaRPr lang="en-US" sz="2400" dirty="0">
              <a:solidFill>
                <a:schemeClr val="tx1"/>
              </a:solidFill>
            </a:endParaRPr>
          </a:p>
          <a:p>
            <a:pPr algn="l"/>
            <a:r>
              <a:rPr lang="en-US" sz="2400" dirty="0">
                <a:solidFill>
                  <a:schemeClr val="tx1"/>
                </a:solidFill>
              </a:rPr>
              <a:t>- </a:t>
            </a:r>
            <a:r>
              <a:rPr lang="fr-FR" sz="2400" dirty="0">
                <a:solidFill>
                  <a:schemeClr val="tx1"/>
                </a:solidFill>
              </a:rPr>
              <a:t>Ce qui est déjà stocké dans la mémoire juste réservée... </a:t>
            </a:r>
            <a:endParaRPr lang="en-US" sz="2400" dirty="0">
              <a:solidFill>
                <a:schemeClr val="tx1"/>
              </a:solidFill>
            </a:endParaRPr>
          </a:p>
          <a:p>
            <a:pPr algn="l"/>
            <a:r>
              <a:rPr lang="en-US" sz="2400" dirty="0" smtClean="0">
                <a:solidFill>
                  <a:schemeClr val="tx1"/>
                </a:solidFill>
              </a:rPr>
              <a:t>(</a:t>
            </a:r>
            <a:r>
              <a:rPr lang="fr-FR" sz="2400" dirty="0">
                <a:solidFill>
                  <a:schemeClr val="tx1"/>
                </a:solidFill>
              </a:rPr>
              <a:t>sauf les variables globales et statiques</a:t>
            </a:r>
            <a:r>
              <a:rPr lang="en-US" sz="2400" dirty="0" smtClean="0">
                <a:solidFill>
                  <a:schemeClr val="tx1"/>
                </a:solidFill>
              </a:rPr>
              <a:t>)</a:t>
            </a:r>
            <a:endParaRPr lang="en-US" sz="2400" dirty="0">
              <a:solidFill>
                <a:schemeClr val="tx1"/>
              </a:solidFill>
            </a:endParaRPr>
          </a:p>
        </p:txBody>
      </p:sp>
      <p:sp>
        <p:nvSpPr>
          <p:cNvPr id="9" name="Rectangle 8"/>
          <p:cNvSpPr/>
          <p:nvPr/>
        </p:nvSpPr>
        <p:spPr bwMode="auto">
          <a:xfrm>
            <a:off x="6408204" y="4617132"/>
            <a:ext cx="2618473" cy="1404156"/>
          </a:xfrm>
          <a:prstGeom prst="rect">
            <a:avLst/>
          </a:prstGeom>
          <a:solidFill>
            <a:srgbClr val="FFFFFF"/>
          </a:solidFill>
          <a:ln w="38100" cap="flat" cmpd="sng" algn="ctr">
            <a:solidFill>
              <a:srgbClr val="FF0000"/>
            </a:solidFill>
            <a:prstDash val="solid"/>
            <a:round/>
            <a:headEnd type="none" w="lg" len="lg"/>
            <a:tailEnd type="none" w="med" len="med"/>
          </a:ln>
          <a:effectLst/>
        </p:spPr>
        <p:txBody>
          <a:bodyPr vert="horz" wrap="none" lIns="92075" tIns="46038" rIns="92075" bIns="46038" numCol="1" rtlCol="0" anchor="ctr" anchorCtr="0" compatLnSpc="1">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11" name="TextBox 10"/>
          <p:cNvSpPr txBox="1"/>
          <p:nvPr/>
        </p:nvSpPr>
        <p:spPr>
          <a:xfrm>
            <a:off x="6277280" y="4743063"/>
            <a:ext cx="2880320" cy="1200329"/>
          </a:xfrm>
          <a:prstGeom prst="rect">
            <a:avLst/>
          </a:prstGeom>
          <a:noFill/>
        </p:spPr>
        <p:txBody>
          <a:bodyPr wrap="square" rtlCol="0">
            <a:spAutoFit/>
          </a:bodyPr>
          <a:lstStyle/>
          <a:p>
            <a:r>
              <a:rPr lang="en-US" sz="2400" b="1" dirty="0">
                <a:solidFill>
                  <a:srgbClr val="FF0000"/>
                </a:solidFill>
              </a:rPr>
              <a:t>INITIALISER TOUTES LES VARIABLES ! !</a:t>
            </a:r>
            <a:endParaRPr lang="en-US" sz="2400" b="1" dirty="0">
              <a:solidFill>
                <a:srgbClr val="FF0000"/>
              </a:solidFill>
            </a:endParaRPr>
          </a:p>
        </p:txBody>
      </p:sp>
      <p:sp>
        <p:nvSpPr>
          <p:cNvPr id="12" name="TextBox 11"/>
          <p:cNvSpPr txBox="1"/>
          <p:nvPr/>
        </p:nvSpPr>
        <p:spPr>
          <a:xfrm>
            <a:off x="4216250" y="5697252"/>
            <a:ext cx="440896" cy="400110"/>
          </a:xfrm>
          <a:prstGeom prst="rect">
            <a:avLst/>
          </a:prstGeom>
          <a:noFill/>
        </p:spPr>
        <p:txBody>
          <a:bodyPr wrap="none" rtlCol="0">
            <a:spAutoFit/>
          </a:bodyPr>
          <a:lstStyle/>
          <a:p>
            <a:r>
              <a:rPr lang="en-US" sz="2000" b="1" dirty="0">
                <a:solidFill>
                  <a:srgbClr val="FF0000"/>
                </a:solidFill>
              </a:rPr>
              <a:t>!!!</a:t>
            </a:r>
            <a:endParaRPr lang="en-US" sz="2000" b="1" dirty="0">
              <a:solidFill>
                <a:srgbClr val="FF0000"/>
              </a:solidFill>
            </a:endParaRPr>
          </a:p>
        </p:txBody>
      </p:sp>
      <p:sp>
        <p:nvSpPr>
          <p:cNvPr id="13" name="TextBox 12"/>
          <p:cNvSpPr txBox="1"/>
          <p:nvPr/>
        </p:nvSpPr>
        <p:spPr>
          <a:xfrm>
            <a:off x="2949897" y="6057292"/>
            <a:ext cx="3294877" cy="400110"/>
          </a:xfrm>
          <a:prstGeom prst="rect">
            <a:avLst/>
          </a:prstGeom>
          <a:noFill/>
        </p:spPr>
        <p:txBody>
          <a:bodyPr wrap="none" rtlCol="0">
            <a:spAutoFit/>
          </a:bodyPr>
          <a:lstStyle/>
          <a:p>
            <a:r>
              <a:rPr lang="en-US" sz="2000" b="1" dirty="0">
                <a:solidFill>
                  <a:srgbClr val="FF0000"/>
                </a:solidFill>
              </a:rPr>
              <a:t>Valeur du caractère ASCII</a:t>
            </a:r>
            <a:endParaRPr lang="en-US" sz="2000" b="1" dirty="0">
              <a:solidFill>
                <a:srgbClr val="FF0000"/>
              </a:solidFill>
            </a:endParaRPr>
          </a:p>
        </p:txBody>
      </p:sp>
      <p:sp>
        <p:nvSpPr>
          <p:cNvPr id="14"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706">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2706">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2706">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2706">
                                            <p:txEl>
                                              <p:pRg st="12" end="1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1" grpId="0"/>
      <p:bldP spid="12" grpId="0"/>
      <p:bldP spid="1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Opérateurs</a:t>
            </a:r>
            <a:endParaRPr lang="en-US" sz="2800" dirty="0"/>
          </a:p>
        </p:txBody>
      </p:sp>
      <p:sp>
        <p:nvSpPr>
          <p:cNvPr id="5" name="Slide Number Placeholder 4"/>
          <p:cNvSpPr>
            <a:spLocks noGrp="1"/>
          </p:cNvSpPr>
          <p:nvPr>
            <p:ph type="sldNum" sz="quarter" idx="11"/>
          </p:nvPr>
        </p:nvSpPr>
        <p:spPr/>
        <p:txBody>
          <a:bodyPr/>
          <a:lstStyle/>
          <a:p>
            <a:pPr lvl="2"/>
            <a:fld id="{28BEB0BA-EEE4-5F45-9179-3BC54B76BCCF}" type="slidenum">
              <a:rPr lang="fr-FR" smtClean="0"/>
            </a:fld>
            <a:endParaRPr lang="fr-FR"/>
          </a:p>
        </p:txBody>
      </p:sp>
      <p:sp>
        <p:nvSpPr>
          <p:cNvPr id="15" name="Espace réservé du contenu 2"/>
          <p:cNvSpPr>
            <a:spLocks noGrp="1"/>
          </p:cNvSpPr>
          <p:nvPr>
            <p:ph idx="1"/>
          </p:nvPr>
        </p:nvSpPr>
        <p:spPr>
          <a:xfrm>
            <a:off x="0" y="908720"/>
            <a:ext cx="9217024" cy="2298576"/>
          </a:xfrm>
        </p:spPr>
        <p:txBody>
          <a:bodyPr/>
          <a:lstStyle/>
          <a:p>
            <a:r>
              <a:rPr lang="fr-FR" dirty="0">
                <a:latin typeface="Arial" panose="020B0604020202020204" pitchFamily="34" charset="0"/>
                <a:cs typeface="MS PGothic" panose="020B0600070205080204" charset="-128"/>
              </a:rPr>
              <a:t>Effectuer des opérations sur des objets de données</a:t>
            </a:r>
            <a:endParaRPr lang="en-GB" dirty="0">
              <a:latin typeface="Arial" panose="020B0604020202020204" pitchFamily="34" charset="0"/>
              <a:cs typeface="MS PGothic" panose="020B0600070205080204" charset="-128"/>
            </a:endParaRPr>
          </a:p>
          <a:p>
            <a:endParaRPr lang="en-GB" dirty="0">
              <a:latin typeface="Arial" panose="020B0604020202020204" pitchFamily="34" charset="0"/>
              <a:cs typeface="MS PGothic" panose="020B0600070205080204" charset="-128"/>
            </a:endParaRPr>
          </a:p>
          <a:p>
            <a:r>
              <a:rPr lang="fr-FR" dirty="0">
                <a:latin typeface="Arial" panose="020B0604020202020204" pitchFamily="34" charset="0"/>
                <a:cs typeface="MS PGothic" panose="020B0600070205080204" charset="-128"/>
              </a:rPr>
              <a:t>Ils sont prioritaires dans l'ordre où ils sont appliqués </a:t>
            </a:r>
            <a:r>
              <a:rPr lang="en-GB" dirty="0" smtClean="0">
                <a:latin typeface="Arial" panose="020B0604020202020204" pitchFamily="34" charset="0"/>
                <a:cs typeface="MS PGothic" panose="020B0600070205080204" charset="-128"/>
              </a:rPr>
              <a:t>:</a:t>
            </a:r>
            <a:endParaRPr lang="en-GB" dirty="0">
              <a:latin typeface="Arial" panose="020B0604020202020204" pitchFamily="34" charset="0"/>
              <a:cs typeface="MS PGothic" panose="020B0600070205080204" charset="-128"/>
            </a:endParaRPr>
          </a:p>
          <a:p>
            <a:pPr lvl="1"/>
            <a:r>
              <a:rPr lang="en-GB" dirty="0">
                <a:latin typeface="Arial" panose="020B0604020202020204" pitchFamily="34" charset="0"/>
                <a:cs typeface="MS PGothic" panose="020B0600070205080204" charset="-128"/>
              </a:rPr>
              <a:t>Vérifiez l'ordre de priorité</a:t>
            </a:r>
            <a:endParaRPr lang="en-GB" dirty="0">
              <a:latin typeface="Arial" panose="020B0604020202020204" pitchFamily="34" charset="0"/>
              <a:cs typeface="MS PGothic" panose="020B0600070205080204" charset="-128"/>
            </a:endParaRPr>
          </a:p>
          <a:p>
            <a:pPr lvl="1"/>
            <a:r>
              <a:rPr lang="en-GB" b="1" dirty="0">
                <a:solidFill>
                  <a:srgbClr val="FF0000"/>
                </a:solidFill>
                <a:latin typeface="Arial" panose="020B0604020202020204" pitchFamily="34" charset="0"/>
                <a:cs typeface="MS PGothic" panose="020B0600070205080204" charset="-128"/>
              </a:rPr>
              <a:t>UTILISER LES PARENTHÈSES</a:t>
            </a:r>
            <a:endParaRPr lang="en-GB" b="1" dirty="0">
              <a:solidFill>
                <a:srgbClr val="FF0000"/>
              </a:solidFill>
              <a:latin typeface="Arial" panose="020B0604020202020204" pitchFamily="34" charset="0"/>
              <a:cs typeface="MS PGothic" panose="020B0600070205080204" charset="-128"/>
            </a:endParaRPr>
          </a:p>
          <a:p>
            <a:pPr lvl="1"/>
            <a:endParaRPr lang="en-GB" b="1" dirty="0">
              <a:solidFill>
                <a:srgbClr val="FF0000"/>
              </a:solidFill>
              <a:latin typeface="Arial" panose="020B0604020202020204" pitchFamily="34" charset="0"/>
              <a:cs typeface="MS PGothic" panose="020B0600070205080204" charset="-128"/>
            </a:endParaRPr>
          </a:p>
          <a:p>
            <a:r>
              <a:rPr lang="en-GB" dirty="0" smtClean="0">
                <a:solidFill>
                  <a:schemeClr val="tx1"/>
                </a:solidFill>
                <a:latin typeface="Arial" panose="020B0604020202020204" pitchFamily="34" charset="0"/>
                <a:cs typeface="MS PGothic" panose="020B0600070205080204" charset="-128"/>
              </a:rPr>
              <a:t>Types d’opérateur</a:t>
            </a:r>
            <a:endParaRPr lang="en-GB" dirty="0">
              <a:solidFill>
                <a:schemeClr val="tx1"/>
              </a:solidFill>
              <a:latin typeface="Arial" panose="020B0604020202020204" pitchFamily="34" charset="0"/>
              <a:cs typeface="MS PGothic" panose="020B0600070205080204" charset="-128"/>
            </a:endParaRPr>
          </a:p>
          <a:p>
            <a:pPr lvl="1"/>
            <a:r>
              <a:rPr lang="en-GB" dirty="0" smtClean="0">
                <a:solidFill>
                  <a:schemeClr val="tx1"/>
                </a:solidFill>
                <a:latin typeface="Arial" panose="020B0604020202020204" pitchFamily="34" charset="0"/>
                <a:cs typeface="MS PGothic" panose="020B0600070205080204" charset="-128"/>
              </a:rPr>
              <a:t>Arithmétique</a:t>
            </a:r>
            <a:endParaRPr lang="en-GB" dirty="0">
              <a:solidFill>
                <a:schemeClr val="tx1"/>
              </a:solidFill>
              <a:latin typeface="Arial" panose="020B0604020202020204" pitchFamily="34" charset="0"/>
              <a:cs typeface="MS PGothic" panose="020B0600070205080204" charset="-128"/>
            </a:endParaRPr>
          </a:p>
          <a:p>
            <a:pPr lvl="1"/>
            <a:r>
              <a:rPr lang="en-GB" dirty="0" smtClean="0">
                <a:solidFill>
                  <a:schemeClr val="tx1"/>
                </a:solidFill>
                <a:latin typeface="Arial" panose="020B0604020202020204" pitchFamily="34" charset="0"/>
                <a:cs typeface="MS PGothic" panose="020B0600070205080204" charset="-128"/>
              </a:rPr>
              <a:t>Relationnel</a:t>
            </a:r>
            <a:endParaRPr lang="en-GB" dirty="0">
              <a:solidFill>
                <a:schemeClr val="tx1"/>
              </a:solidFill>
              <a:latin typeface="Arial" panose="020B0604020202020204" pitchFamily="34" charset="0"/>
              <a:cs typeface="MS PGothic" panose="020B0600070205080204" charset="-128"/>
            </a:endParaRPr>
          </a:p>
          <a:p>
            <a:pPr lvl="1"/>
            <a:r>
              <a:rPr lang="en-GB" dirty="0" smtClean="0">
                <a:solidFill>
                  <a:schemeClr val="tx1"/>
                </a:solidFill>
                <a:latin typeface="Arial" panose="020B0604020202020204" pitchFamily="34" charset="0"/>
                <a:cs typeface="MS PGothic" panose="020B0600070205080204" charset="-128"/>
              </a:rPr>
              <a:t>Logique</a:t>
            </a:r>
            <a:endParaRPr lang="en-GB" dirty="0">
              <a:solidFill>
                <a:schemeClr val="tx1"/>
              </a:solidFill>
              <a:latin typeface="Arial" panose="020B0604020202020204" pitchFamily="34" charset="0"/>
              <a:cs typeface="MS PGothic" panose="020B0600070205080204" charset="-128"/>
            </a:endParaRPr>
          </a:p>
          <a:p>
            <a:pPr lvl="1"/>
            <a:r>
              <a:rPr lang="en-GB" dirty="0" smtClean="0">
                <a:solidFill>
                  <a:schemeClr val="tx1"/>
                </a:solidFill>
                <a:latin typeface="Arial" panose="020B0604020202020204" pitchFamily="34" charset="0"/>
                <a:cs typeface="MS PGothic" panose="020B0600070205080204" charset="-128"/>
              </a:rPr>
              <a:t>Par bit</a:t>
            </a:r>
            <a:endParaRPr lang="en-GB" dirty="0">
              <a:solidFill>
                <a:schemeClr val="tx1"/>
              </a:solidFill>
              <a:latin typeface="Arial" panose="020B0604020202020204" pitchFamily="34" charset="0"/>
              <a:cs typeface="MS PGothic" panose="020B0600070205080204" charset="-128"/>
            </a:endParaRPr>
          </a:p>
          <a:p>
            <a:pPr lvl="1"/>
            <a:r>
              <a:rPr lang="en-GB" dirty="0" smtClean="0">
                <a:solidFill>
                  <a:schemeClr val="tx1"/>
                </a:solidFill>
                <a:latin typeface="Arial" panose="020B0604020202020204" pitchFamily="34" charset="0"/>
                <a:cs typeface="MS PGothic" panose="020B0600070205080204" charset="-128"/>
              </a:rPr>
              <a:t>Affectation</a:t>
            </a:r>
            <a:endParaRPr lang="en-GB" dirty="0">
              <a:solidFill>
                <a:schemeClr val="tx1"/>
              </a:solidFill>
              <a:latin typeface="Arial" panose="020B0604020202020204" pitchFamily="34" charset="0"/>
              <a:cs typeface="MS PGothic" panose="020B0600070205080204" charset="-128"/>
            </a:endParaRPr>
          </a:p>
          <a:p>
            <a:pPr lvl="1"/>
            <a:r>
              <a:rPr lang="en-GB" dirty="0">
                <a:solidFill>
                  <a:schemeClr val="tx1"/>
                </a:solidFill>
                <a:latin typeface="Arial" panose="020B0604020202020204" pitchFamily="34" charset="0"/>
                <a:cs typeface="MS PGothic" panose="020B0600070205080204" charset="-128"/>
              </a:rPr>
              <a:t>…..</a:t>
            </a:r>
            <a:endParaRPr lang="en-GB" dirty="0">
              <a:solidFill>
                <a:schemeClr val="tx1"/>
              </a:solidFill>
              <a:cs typeface="Courier New" panose="02070309020205020404"/>
            </a:endParaRPr>
          </a:p>
        </p:txBody>
      </p:sp>
      <p:sp>
        <p:nvSpPr>
          <p:cNvPr id="6"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Opérateurs Arithmétiques</a:t>
            </a:r>
            <a:endParaRPr lang="en-US" sz="2800" dirty="0"/>
          </a:p>
        </p:txBody>
      </p:sp>
      <p:sp>
        <p:nvSpPr>
          <p:cNvPr id="5" name="Slide Number Placeholder 4"/>
          <p:cNvSpPr>
            <a:spLocks noGrp="1"/>
          </p:cNvSpPr>
          <p:nvPr>
            <p:ph type="sldNum" sz="quarter" idx="11"/>
          </p:nvPr>
        </p:nvSpPr>
        <p:spPr/>
        <p:txBody>
          <a:bodyPr/>
          <a:lstStyle/>
          <a:p>
            <a:pPr lvl="2"/>
            <a:fld id="{28BEB0BA-EEE4-5F45-9179-3BC54B76BCCF}" type="slidenum">
              <a:rPr lang="fr-FR" smtClean="0"/>
            </a:fld>
            <a:endParaRPr lang="fr-FR"/>
          </a:p>
        </p:txBody>
      </p:sp>
      <p:sp>
        <p:nvSpPr>
          <p:cNvPr id="6" name="Rectangle 5"/>
          <p:cNvSpPr/>
          <p:nvPr/>
        </p:nvSpPr>
        <p:spPr>
          <a:xfrm>
            <a:off x="0" y="1138096"/>
            <a:ext cx="9144000" cy="3268587"/>
          </a:xfrm>
          <a:prstGeom prst="rect">
            <a:avLst/>
          </a:prstGeom>
        </p:spPr>
        <p:txBody>
          <a:bodyPr wrap="square">
            <a:spAutoFit/>
          </a:bodyPr>
          <a:lstStyle/>
          <a:p>
            <a:pPr algn="l"/>
            <a:r>
              <a:rPr lang="en-US" sz="2400" b="1" dirty="0" smtClean="0"/>
              <a:t>Opérateurs </a:t>
            </a:r>
            <a:r>
              <a:rPr lang="en-US" sz="2400" b="1" dirty="0"/>
              <a:t>	Description 					Example</a:t>
            </a:r>
            <a:endParaRPr lang="en-US" sz="2400" b="1" dirty="0"/>
          </a:p>
          <a:p>
            <a:pPr algn="l"/>
            <a:r>
              <a:rPr lang="en-US" sz="2000" dirty="0"/>
              <a:t>+ 		</a:t>
            </a:r>
            <a:r>
              <a:rPr lang="en-US" sz="1800" dirty="0" smtClean="0"/>
              <a:t>Additionne </a:t>
            </a:r>
            <a:r>
              <a:rPr lang="en-US" sz="1800" dirty="0"/>
              <a:t>deux </a:t>
            </a:r>
            <a:r>
              <a:rPr lang="en-US" sz="1800" dirty="0" smtClean="0"/>
              <a:t>opérandes </a:t>
            </a:r>
            <a:r>
              <a:rPr lang="en-US" sz="1800" dirty="0"/>
              <a:t>			</a:t>
            </a:r>
            <a:r>
              <a:rPr lang="en-US" sz="1800" dirty="0" smtClean="0"/>
              <a:t>A </a:t>
            </a:r>
            <a:r>
              <a:rPr lang="en-US" sz="1800" dirty="0"/>
              <a:t>+ B = 30</a:t>
            </a:r>
            <a:endParaRPr lang="en-US" sz="1800" dirty="0"/>
          </a:p>
          <a:p>
            <a:pPr algn="l"/>
            <a:r>
              <a:rPr lang="en-US" sz="1800" dirty="0"/>
              <a:t>− 		</a:t>
            </a:r>
            <a:r>
              <a:rPr lang="fr-FR" sz="1800" dirty="0" smtClean="0"/>
              <a:t>Soustrait </a:t>
            </a:r>
            <a:r>
              <a:rPr lang="fr-FR" sz="1800" dirty="0"/>
              <a:t>le deuxième opérande du </a:t>
            </a:r>
            <a:r>
              <a:rPr lang="fr-FR" sz="1800" dirty="0" smtClean="0"/>
              <a:t>premier</a:t>
            </a:r>
            <a:r>
              <a:rPr lang="en-US" sz="1800" dirty="0" smtClean="0"/>
              <a:t>  </a:t>
            </a:r>
            <a:r>
              <a:rPr lang="en-US" sz="1800" dirty="0"/>
              <a:t>	</a:t>
            </a:r>
            <a:r>
              <a:rPr lang="en-US" sz="1800" dirty="0" smtClean="0"/>
              <a:t> 	A </a:t>
            </a:r>
            <a:r>
              <a:rPr lang="en-US" sz="1800" dirty="0"/>
              <a:t>− B = -10</a:t>
            </a:r>
            <a:endParaRPr lang="en-US" sz="1800" dirty="0"/>
          </a:p>
          <a:p>
            <a:pPr algn="l"/>
            <a:r>
              <a:rPr lang="en-US" sz="1800" dirty="0"/>
              <a:t>* 		</a:t>
            </a:r>
            <a:r>
              <a:rPr lang="en-US" sz="1800" dirty="0" smtClean="0"/>
              <a:t>Multiplie </a:t>
            </a:r>
            <a:r>
              <a:rPr lang="en-US" sz="1800" dirty="0"/>
              <a:t>les deux opérandes 		</a:t>
            </a:r>
            <a:r>
              <a:rPr lang="en-US" sz="1800" dirty="0" smtClean="0"/>
              <a:t>	A </a:t>
            </a:r>
            <a:r>
              <a:rPr lang="en-US" sz="1800" dirty="0"/>
              <a:t>* B = 200</a:t>
            </a:r>
            <a:endParaRPr lang="en-US" sz="1800" dirty="0"/>
          </a:p>
          <a:p>
            <a:pPr algn="l"/>
            <a:r>
              <a:rPr lang="en-US" sz="1800" dirty="0"/>
              <a:t>/ 		</a:t>
            </a:r>
            <a:r>
              <a:rPr lang="fr-FR" sz="1800" dirty="0" smtClean="0"/>
              <a:t>Divise </a:t>
            </a:r>
            <a:r>
              <a:rPr lang="fr-FR" sz="1800" dirty="0"/>
              <a:t>le numérateur par le </a:t>
            </a:r>
            <a:r>
              <a:rPr lang="fr-FR" sz="1800" dirty="0" smtClean="0"/>
              <a:t>dénominateur</a:t>
            </a:r>
            <a:r>
              <a:rPr lang="en-US" sz="1800" dirty="0" smtClean="0"/>
              <a:t> </a:t>
            </a:r>
            <a:r>
              <a:rPr lang="en-US" sz="1800" dirty="0"/>
              <a:t>		B / A = 2</a:t>
            </a:r>
            <a:endParaRPr lang="en-US" sz="1800" dirty="0"/>
          </a:p>
          <a:p>
            <a:pPr algn="l"/>
            <a:r>
              <a:rPr lang="en-US" sz="1800" dirty="0"/>
              <a:t>% 		</a:t>
            </a:r>
            <a:r>
              <a:rPr lang="fr-FR" sz="1800" dirty="0" smtClean="0"/>
              <a:t>Reste </a:t>
            </a:r>
            <a:r>
              <a:rPr lang="fr-FR" sz="1800" dirty="0"/>
              <a:t>après une division entière</a:t>
            </a:r>
            <a:r>
              <a:rPr lang="en-US" sz="1800" dirty="0" smtClean="0"/>
              <a:t>.</a:t>
            </a:r>
            <a:r>
              <a:rPr lang="en-US" sz="1800" dirty="0"/>
              <a:t>		</a:t>
            </a:r>
            <a:r>
              <a:rPr lang="en-US" sz="1800" dirty="0" smtClean="0"/>
              <a:t>	B </a:t>
            </a:r>
            <a:r>
              <a:rPr lang="en-US" sz="1800" dirty="0"/>
              <a:t>% A = 0</a:t>
            </a:r>
            <a:endParaRPr lang="en-US" sz="1800" dirty="0"/>
          </a:p>
          <a:p>
            <a:pPr algn="l"/>
            <a:r>
              <a:rPr lang="en-US" sz="2000" dirty="0"/>
              <a:t> 		(l'affectation en même temps).</a:t>
            </a:r>
            <a:endParaRPr lang="en-US" sz="2000" dirty="0"/>
          </a:p>
          <a:p>
            <a:pPr algn="l"/>
            <a:r>
              <a:rPr lang="en-US" sz="2000" dirty="0"/>
              <a:t>++	 </a:t>
            </a:r>
            <a:r>
              <a:rPr lang="en-US" sz="2000" dirty="0" smtClean="0"/>
              <a:t>            </a:t>
            </a:r>
            <a:r>
              <a:rPr lang="fr-FR" sz="2000" dirty="0" smtClean="0"/>
              <a:t>Augmente </a:t>
            </a:r>
            <a:r>
              <a:rPr lang="fr-FR" sz="2000" dirty="0"/>
              <a:t>la valeur du nombre entier de un</a:t>
            </a:r>
            <a:r>
              <a:rPr lang="en-US" sz="2000" dirty="0" smtClean="0"/>
              <a:t>  </a:t>
            </a:r>
            <a:r>
              <a:rPr lang="en-US" sz="2000" dirty="0"/>
              <a:t>	</a:t>
            </a:r>
            <a:r>
              <a:rPr lang="en-US" sz="2000" dirty="0" smtClean="0"/>
              <a:t>A</a:t>
            </a:r>
            <a:r>
              <a:rPr lang="en-US" sz="2000" dirty="0"/>
              <a:t>++ = 11</a:t>
            </a:r>
            <a:endParaRPr lang="en-US" sz="2000" dirty="0"/>
          </a:p>
          <a:p>
            <a:pPr algn="l"/>
            <a:r>
              <a:rPr lang="en-US" sz="2000" dirty="0"/>
              <a:t>-- 		</a:t>
            </a:r>
            <a:r>
              <a:rPr lang="fr-FR" sz="2000" dirty="0" smtClean="0"/>
              <a:t>Diminue </a:t>
            </a:r>
            <a:r>
              <a:rPr lang="fr-FR" sz="2000" dirty="0"/>
              <a:t>la valeur entière d'une unité </a:t>
            </a:r>
            <a:r>
              <a:rPr lang="en-US" sz="2000" dirty="0"/>
              <a:t>		A-- = 9</a:t>
            </a:r>
            <a:endParaRPr lang="en-US" sz="2000" dirty="0"/>
          </a:p>
        </p:txBody>
      </p:sp>
      <p:cxnSp>
        <p:nvCxnSpPr>
          <p:cNvPr id="7" name="Straight Connector 6"/>
          <p:cNvCxnSpPr/>
          <p:nvPr/>
        </p:nvCxnSpPr>
        <p:spPr bwMode="auto">
          <a:xfrm>
            <a:off x="0" y="1606148"/>
            <a:ext cx="9144000" cy="0"/>
          </a:xfrm>
          <a:prstGeom prst="line">
            <a:avLst/>
          </a:prstGeom>
          <a:noFill/>
          <a:ln w="6350" cap="flat" cmpd="sng" algn="ctr">
            <a:solidFill>
              <a:srgbClr val="000208"/>
            </a:solidFill>
            <a:prstDash val="solid"/>
            <a:round/>
            <a:headEnd type="none" w="lg" len="lg"/>
            <a:tailEnd type="none"/>
          </a:ln>
          <a:effectLst/>
        </p:spPr>
      </p:cxnSp>
      <p:cxnSp>
        <p:nvCxnSpPr>
          <p:cNvPr id="8" name="Straight Connector 7"/>
          <p:cNvCxnSpPr/>
          <p:nvPr/>
        </p:nvCxnSpPr>
        <p:spPr bwMode="auto">
          <a:xfrm>
            <a:off x="1763688" y="980728"/>
            <a:ext cx="0" cy="3600000"/>
          </a:xfrm>
          <a:prstGeom prst="line">
            <a:avLst/>
          </a:prstGeom>
          <a:noFill/>
          <a:ln w="6350" cap="flat" cmpd="sng" algn="ctr">
            <a:solidFill>
              <a:srgbClr val="000208"/>
            </a:solidFill>
            <a:prstDash val="solid"/>
            <a:round/>
            <a:headEnd type="none" w="lg" len="lg"/>
            <a:tailEnd type="none"/>
          </a:ln>
          <a:effectLst/>
        </p:spPr>
      </p:cxnSp>
      <p:cxnSp>
        <p:nvCxnSpPr>
          <p:cNvPr id="10" name="Straight Connector 9"/>
          <p:cNvCxnSpPr/>
          <p:nvPr/>
        </p:nvCxnSpPr>
        <p:spPr bwMode="auto">
          <a:xfrm>
            <a:off x="6876256" y="1125144"/>
            <a:ext cx="0" cy="3600000"/>
          </a:xfrm>
          <a:prstGeom prst="line">
            <a:avLst/>
          </a:prstGeom>
          <a:noFill/>
          <a:ln w="6350" cap="flat" cmpd="sng" algn="ctr">
            <a:solidFill>
              <a:srgbClr val="000208"/>
            </a:solidFill>
            <a:prstDash val="solid"/>
            <a:round/>
            <a:headEnd type="none" w="lg" len="lg"/>
            <a:tailEnd type="none"/>
          </a:ln>
          <a:effectLst/>
        </p:spPr>
      </p:cxnSp>
      <p:sp>
        <p:nvSpPr>
          <p:cNvPr id="13" name="Rectangle 12"/>
          <p:cNvSpPr/>
          <p:nvPr/>
        </p:nvSpPr>
        <p:spPr>
          <a:xfrm>
            <a:off x="6752550" y="764704"/>
            <a:ext cx="2376335" cy="400110"/>
          </a:xfrm>
          <a:prstGeom prst="rect">
            <a:avLst/>
          </a:prstGeom>
        </p:spPr>
        <p:txBody>
          <a:bodyPr wrap="square">
            <a:spAutoFit/>
          </a:bodyPr>
          <a:lstStyle/>
          <a:p>
            <a:r>
              <a:rPr lang="en-US" sz="2000" dirty="0"/>
              <a:t>A = 10,  B = 20</a:t>
            </a:r>
            <a:endParaRPr lang="en-US" sz="2000" dirty="0"/>
          </a:p>
        </p:txBody>
      </p:sp>
      <p:sp>
        <p:nvSpPr>
          <p:cNvPr id="14" name="TextBox 13"/>
          <p:cNvSpPr txBox="1"/>
          <p:nvPr/>
        </p:nvSpPr>
        <p:spPr>
          <a:xfrm>
            <a:off x="647564" y="3501008"/>
            <a:ext cx="492142" cy="461665"/>
          </a:xfrm>
          <a:prstGeom prst="rect">
            <a:avLst/>
          </a:prstGeom>
          <a:noFill/>
        </p:spPr>
        <p:txBody>
          <a:bodyPr wrap="none" rtlCol="0">
            <a:spAutoFit/>
          </a:bodyPr>
          <a:lstStyle/>
          <a:p>
            <a:r>
              <a:rPr lang="en-US" sz="2400" b="1" dirty="0">
                <a:solidFill>
                  <a:srgbClr val="FF0000"/>
                </a:solidFill>
              </a:rPr>
              <a:t>!!!</a:t>
            </a:r>
            <a:endParaRPr lang="en-US" sz="2400" b="1" dirty="0">
              <a:solidFill>
                <a:srgbClr val="FF0000"/>
              </a:solidFill>
            </a:endParaRPr>
          </a:p>
        </p:txBody>
      </p:sp>
      <p:sp>
        <p:nvSpPr>
          <p:cNvPr id="15" name="Espace réservé du contenu 2"/>
          <p:cNvSpPr>
            <a:spLocks noGrp="1"/>
          </p:cNvSpPr>
          <p:nvPr>
            <p:ph idx="1"/>
          </p:nvPr>
        </p:nvSpPr>
        <p:spPr>
          <a:xfrm>
            <a:off x="-508" y="4694820"/>
            <a:ext cx="9217024" cy="2298576"/>
          </a:xfrm>
        </p:spPr>
        <p:txBody>
          <a:bodyPr/>
          <a:lstStyle/>
          <a:p>
            <a:r>
              <a:rPr lang="fr-FR" sz="2000" dirty="0" smtClean="0">
                <a:latin typeface="Arial" panose="020B0604020202020204" pitchFamily="34" charset="0"/>
                <a:cs typeface="MS PGothic" panose="020B0600070205080204" charset="-128"/>
              </a:rPr>
              <a:t>Postfix </a:t>
            </a:r>
            <a:r>
              <a:rPr lang="fr-FR" sz="2000" dirty="0">
                <a:latin typeface="Arial" panose="020B0604020202020204" pitchFamily="34" charset="0"/>
                <a:cs typeface="MS PGothic" panose="020B0600070205080204" charset="-128"/>
              </a:rPr>
              <a:t>(Post-incrément) : Effectuer l'opération et retourner l'</a:t>
            </a:r>
            <a:r>
              <a:rPr lang="fr-FR" sz="2000" b="1" dirty="0">
                <a:latin typeface="Arial" panose="020B0604020202020204" pitchFamily="34" charset="0"/>
                <a:cs typeface="MS PGothic" panose="020B0600070205080204" charset="-128"/>
              </a:rPr>
              <a:t>ancienne</a:t>
            </a:r>
            <a:r>
              <a:rPr lang="fr-FR" sz="2000" dirty="0">
                <a:latin typeface="Arial" panose="020B0604020202020204" pitchFamily="34" charset="0"/>
                <a:cs typeface="MS PGothic" panose="020B0600070205080204" charset="-128"/>
              </a:rPr>
              <a:t> valeur</a:t>
            </a:r>
            <a:endParaRPr lang="en-GB" sz="2000" dirty="0">
              <a:latin typeface="Arial" panose="020B0604020202020204" pitchFamily="34" charset="0"/>
              <a:cs typeface="MS PGothic" panose="020B0600070205080204" charset="-128"/>
            </a:endParaRPr>
          </a:p>
          <a:p>
            <a:pPr lvl="1"/>
            <a:r>
              <a:rPr lang="en-GB" b="1" dirty="0">
                <a:latin typeface="Courier New" panose="02070309020205020404"/>
                <a:cs typeface="Courier New" panose="02070309020205020404"/>
              </a:rPr>
              <a:t>A++ </a:t>
            </a:r>
            <a:r>
              <a:rPr lang="en-GB" dirty="0">
                <a:cs typeface="Courier New" panose="02070309020205020404"/>
              </a:rPr>
              <a:t>returns 10 and then does A=11  </a:t>
            </a:r>
            <a:endParaRPr lang="en-GB" dirty="0">
              <a:cs typeface="Courier New" panose="02070309020205020404"/>
            </a:endParaRPr>
          </a:p>
          <a:p>
            <a:r>
              <a:rPr lang="fr-FR" sz="2000" dirty="0">
                <a:latin typeface="Arial" panose="020B0604020202020204" pitchFamily="34" charset="0"/>
                <a:cs typeface="MS PGothic" panose="020B0600070205080204" charset="-128"/>
              </a:rPr>
              <a:t>Préfixe (Pré-incrément) : Effectue l'opération et renvoie la nouvelle valeur </a:t>
            </a:r>
            <a:r>
              <a:rPr lang="en-GB" sz="2000" dirty="0" smtClean="0">
                <a:latin typeface="Arial" panose="020B0604020202020204" pitchFamily="34" charset="0"/>
                <a:cs typeface="MS PGothic" panose="020B0600070205080204" charset="-128"/>
              </a:rPr>
              <a:t> </a:t>
            </a:r>
            <a:endParaRPr lang="en-GB" sz="2000" dirty="0">
              <a:latin typeface="Arial" panose="020B0604020202020204" pitchFamily="34" charset="0"/>
              <a:cs typeface="MS PGothic" panose="020B0600070205080204" charset="-128"/>
            </a:endParaRPr>
          </a:p>
          <a:p>
            <a:pPr lvl="1"/>
            <a:r>
              <a:rPr lang="en-GB" b="1" dirty="0">
                <a:latin typeface="Courier New" panose="02070309020205020404"/>
                <a:cs typeface="Courier New" panose="02070309020205020404"/>
              </a:rPr>
              <a:t>++A </a:t>
            </a:r>
            <a:r>
              <a:rPr lang="fr-FR" dirty="0">
                <a:cs typeface="Courier New" panose="02070309020205020404"/>
              </a:rPr>
              <a:t>fait =11 et renvoie ensuite </a:t>
            </a:r>
            <a:r>
              <a:rPr lang="fr-FR" dirty="0" smtClean="0">
                <a:cs typeface="Courier New" panose="02070309020205020404"/>
              </a:rPr>
              <a:t>A.</a:t>
            </a:r>
            <a:endParaRPr lang="fr-FR" dirty="0">
              <a:cs typeface="Courier New" panose="02070309020205020404"/>
            </a:endParaRPr>
          </a:p>
        </p:txBody>
      </p:sp>
      <p:cxnSp>
        <p:nvCxnSpPr>
          <p:cNvPr id="18" name="Straight Connector 17"/>
          <p:cNvCxnSpPr/>
          <p:nvPr/>
        </p:nvCxnSpPr>
        <p:spPr bwMode="auto">
          <a:xfrm>
            <a:off x="-36512" y="3573016"/>
            <a:ext cx="9180000" cy="0"/>
          </a:xfrm>
          <a:prstGeom prst="line">
            <a:avLst/>
          </a:prstGeom>
          <a:noFill/>
          <a:ln w="6350" cap="flat" cmpd="sng" algn="ctr">
            <a:solidFill>
              <a:srgbClr val="000208"/>
            </a:solidFill>
            <a:prstDash val="solid"/>
            <a:round/>
            <a:headEnd type="none" w="lg" len="lg"/>
            <a:tailEnd type="none"/>
          </a:ln>
          <a:effectLst/>
        </p:spPr>
      </p:cxnSp>
      <p:sp>
        <p:nvSpPr>
          <p:cNvPr id="1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Espace réservé du contenu 2"/>
          <p:cNvSpPr>
            <a:spLocks noGrp="1"/>
          </p:cNvSpPr>
          <p:nvPr>
            <p:ph idx="1"/>
          </p:nvPr>
        </p:nvSpPr>
        <p:spPr>
          <a:xfrm>
            <a:off x="-508" y="5382464"/>
            <a:ext cx="8784468" cy="792163"/>
          </a:xfrm>
        </p:spPr>
        <p:txBody>
          <a:bodyPr/>
          <a:lstStyle/>
          <a:p>
            <a:pPr marL="542925" lvl="1" indent="0">
              <a:buNone/>
            </a:pPr>
            <a:endParaRPr lang="en-GB" sz="1000" dirty="0">
              <a:latin typeface="Arial" panose="020B0604020202020204" pitchFamily="34" charset="0"/>
            </a:endParaRPr>
          </a:p>
          <a:p>
            <a:pPr marL="441325" lvl="1" indent="-259080"/>
            <a:r>
              <a:rPr lang="fr-FR" b="1" dirty="0">
                <a:latin typeface="Arial" panose="020B0604020202020204" pitchFamily="34" charset="0"/>
              </a:rPr>
              <a:t>Toute valeur </a:t>
            </a:r>
            <a:r>
              <a:rPr lang="fr-FR" b="1" dirty="0">
                <a:solidFill>
                  <a:srgbClr val="FF0000"/>
                </a:solidFill>
                <a:latin typeface="Arial" panose="020B0604020202020204" pitchFamily="34" charset="0"/>
              </a:rPr>
              <a:t>entière</a:t>
            </a:r>
            <a:r>
              <a:rPr lang="fr-FR" b="1" dirty="0">
                <a:latin typeface="Arial" panose="020B0604020202020204" pitchFamily="34" charset="0"/>
              </a:rPr>
              <a:t> peut être considérée comme booléenne.</a:t>
            </a:r>
            <a:endParaRPr lang="en-GB" sz="2000" b="1" dirty="0">
              <a:latin typeface="Arial" panose="020B0604020202020204" pitchFamily="34" charset="0"/>
            </a:endParaRPr>
          </a:p>
          <a:p>
            <a:pPr marL="365125" lvl="2" indent="260350"/>
            <a:r>
              <a:rPr lang="fr-FR" dirty="0" smtClean="0">
                <a:latin typeface="Arial" panose="020B0604020202020204" pitchFamily="34" charset="0"/>
              </a:rPr>
              <a:t>Une </a:t>
            </a:r>
            <a:r>
              <a:rPr lang="fr-FR" dirty="0">
                <a:latin typeface="Arial" panose="020B0604020202020204" pitchFamily="34" charset="0"/>
              </a:rPr>
              <a:t>expression </a:t>
            </a:r>
            <a:r>
              <a:rPr lang="fr-FR" b="1" dirty="0" smtClean="0">
                <a:solidFill>
                  <a:srgbClr val="FF0000"/>
                </a:solidFill>
                <a:latin typeface="Arial" panose="020B0604020202020204" pitchFamily="34" charset="0"/>
              </a:rPr>
              <a:t>FAUSSE</a:t>
            </a:r>
            <a:r>
              <a:rPr lang="fr-FR" dirty="0" smtClean="0">
                <a:latin typeface="Arial" panose="020B0604020202020204" pitchFamily="34" charset="0"/>
              </a:rPr>
              <a:t> </a:t>
            </a:r>
            <a:r>
              <a:rPr lang="fr-FR" dirty="0">
                <a:latin typeface="Arial" panose="020B0604020202020204" pitchFamily="34" charset="0"/>
              </a:rPr>
              <a:t>est codée comme un </a:t>
            </a:r>
            <a:r>
              <a:rPr lang="fr-FR" b="1" dirty="0">
                <a:solidFill>
                  <a:srgbClr val="FF0000"/>
                </a:solidFill>
                <a:latin typeface="Arial" panose="020B0604020202020204" pitchFamily="34" charset="0"/>
              </a:rPr>
              <a:t>entier zéro</a:t>
            </a:r>
            <a:r>
              <a:rPr lang="fr-FR" dirty="0">
                <a:latin typeface="Arial" panose="020B0604020202020204" pitchFamily="34" charset="0"/>
              </a:rPr>
              <a:t>.</a:t>
            </a:r>
            <a:endParaRPr lang="en-GB" dirty="0">
              <a:latin typeface="Arial" panose="020B0604020202020204" pitchFamily="34" charset="0"/>
            </a:endParaRPr>
          </a:p>
          <a:p>
            <a:pPr marL="533400" lvl="2" indent="-168275" defTabSz="955675"/>
            <a:r>
              <a:rPr lang="fr-FR" dirty="0" smtClean="0">
                <a:latin typeface="Arial" panose="020B0604020202020204" pitchFamily="34" charset="0"/>
              </a:rPr>
              <a:t> Une </a:t>
            </a:r>
            <a:r>
              <a:rPr lang="fr-FR" dirty="0">
                <a:latin typeface="Arial" panose="020B0604020202020204" pitchFamily="34" charset="0"/>
              </a:rPr>
              <a:t>expression VRAIE est codée comme une valeur entière </a:t>
            </a:r>
            <a:r>
              <a:rPr lang="fr-FR" dirty="0" smtClean="0">
                <a:latin typeface="Arial" panose="020B0604020202020204" pitchFamily="34" charset="0"/>
              </a:rPr>
              <a:t>non </a:t>
            </a:r>
            <a:r>
              <a:rPr lang="fr-FR" dirty="0">
                <a:latin typeface="Arial" panose="020B0604020202020204" pitchFamily="34" charset="0"/>
              </a:rPr>
              <a:t>nulle.</a:t>
            </a:r>
            <a:endParaRPr lang="fr-FR" dirty="0">
              <a:latin typeface="Arial" panose="020B0604020202020204" pitchFamily="34" charset="0"/>
            </a:endParaRPr>
          </a:p>
          <a:p>
            <a:pPr lvl="2"/>
            <a:endParaRPr lang="en-GB" dirty="0">
              <a:latin typeface="Arial" panose="020B0604020202020204" pitchFamily="34" charset="0"/>
            </a:endParaRPr>
          </a:p>
        </p:txBody>
      </p:sp>
      <p:sp>
        <p:nvSpPr>
          <p:cNvPr id="18" name="Rectangle 17"/>
          <p:cNvSpPr/>
          <p:nvPr/>
        </p:nvSpPr>
        <p:spPr>
          <a:xfrm>
            <a:off x="6804248" y="800708"/>
            <a:ext cx="2736304" cy="4462760"/>
          </a:xfrm>
          <a:prstGeom prst="rect">
            <a:avLst/>
          </a:prstGeom>
        </p:spPr>
        <p:txBody>
          <a:bodyPr wrap="square">
            <a:spAutoFit/>
          </a:bodyPr>
          <a:lstStyle/>
          <a:p>
            <a:pPr algn="l"/>
            <a:r>
              <a:rPr lang="en-US" sz="2000" b="1" dirty="0" smtClean="0"/>
              <a:t>Exemple</a:t>
            </a:r>
            <a:endParaRPr lang="en-US" sz="2000" b="1" dirty="0"/>
          </a:p>
          <a:p>
            <a:pPr algn="l"/>
            <a:r>
              <a:rPr lang="en-US" sz="2000" dirty="0" smtClean="0"/>
              <a:t>(</a:t>
            </a:r>
            <a:r>
              <a:rPr lang="en-US" sz="2000" dirty="0"/>
              <a:t>A == B) </a:t>
            </a:r>
            <a:r>
              <a:rPr lang="en-US" sz="2000" dirty="0" smtClean="0"/>
              <a:t>n’est pas</a:t>
            </a:r>
            <a:r>
              <a:rPr lang="en-US" sz="2000" dirty="0"/>
              <a:t> </a:t>
            </a:r>
            <a:endParaRPr lang="en-US" sz="2000" dirty="0" smtClean="0"/>
          </a:p>
          <a:p>
            <a:pPr algn="l"/>
            <a:r>
              <a:rPr lang="en-US" sz="2000" dirty="0" smtClean="0"/>
              <a:t>               vrai</a:t>
            </a:r>
            <a:endParaRPr lang="en-US" sz="2000" dirty="0"/>
          </a:p>
          <a:p>
            <a:pPr algn="l"/>
            <a:r>
              <a:rPr lang="en-US" sz="2000" dirty="0" smtClean="0"/>
              <a:t>(</a:t>
            </a:r>
            <a:r>
              <a:rPr lang="en-US" sz="2000" dirty="0"/>
              <a:t>A != B) </a:t>
            </a:r>
            <a:r>
              <a:rPr lang="en-US" sz="2000" dirty="0" smtClean="0"/>
              <a:t>est vrai.</a:t>
            </a:r>
            <a:endParaRPr lang="en-US" sz="2000" dirty="0"/>
          </a:p>
          <a:p>
            <a:pPr algn="l"/>
            <a:endParaRPr lang="en-US" sz="2000" dirty="0"/>
          </a:p>
          <a:p>
            <a:pPr algn="l"/>
            <a:r>
              <a:rPr lang="en-US" sz="2000" dirty="0"/>
              <a:t>(A &gt; B) </a:t>
            </a:r>
            <a:r>
              <a:rPr lang="en-US" sz="2000" dirty="0" smtClean="0"/>
              <a:t>n’est pas</a:t>
            </a:r>
            <a:endParaRPr lang="en-US" sz="2000" dirty="0" smtClean="0"/>
          </a:p>
          <a:p>
            <a:pPr algn="l"/>
            <a:r>
              <a:rPr lang="en-US" sz="2000" dirty="0" smtClean="0"/>
              <a:t>        vrai</a:t>
            </a:r>
            <a:endParaRPr lang="en-US" sz="2000" dirty="0"/>
          </a:p>
          <a:p>
            <a:pPr algn="l"/>
            <a:r>
              <a:rPr lang="en-US" sz="2000" dirty="0" smtClean="0"/>
              <a:t>(</a:t>
            </a:r>
            <a:r>
              <a:rPr lang="en-US" sz="2000" dirty="0"/>
              <a:t>A &lt; B) </a:t>
            </a:r>
            <a:r>
              <a:rPr lang="en-US" sz="2000" dirty="0" smtClean="0"/>
              <a:t>est vrai</a:t>
            </a:r>
            <a:endParaRPr lang="en-US" sz="2000" dirty="0"/>
          </a:p>
          <a:p>
            <a:pPr algn="l"/>
            <a:endParaRPr lang="en-US" sz="2000" dirty="0"/>
          </a:p>
          <a:p>
            <a:pPr algn="l"/>
            <a:r>
              <a:rPr lang="en-US" sz="2000" dirty="0"/>
              <a:t>(A &gt;= B) </a:t>
            </a:r>
            <a:r>
              <a:rPr lang="en-US" sz="2000" dirty="0" smtClean="0"/>
              <a:t>n’est pas </a:t>
            </a:r>
            <a:endParaRPr lang="en-US" sz="2000" dirty="0" smtClean="0"/>
          </a:p>
          <a:p>
            <a:pPr algn="l"/>
            <a:r>
              <a:rPr lang="en-US" sz="2000" dirty="0"/>
              <a:t> </a:t>
            </a:r>
            <a:r>
              <a:rPr lang="en-US" sz="2000" dirty="0" smtClean="0"/>
              <a:t>              vrai</a:t>
            </a:r>
            <a:endParaRPr lang="en-US" sz="2000" dirty="0"/>
          </a:p>
          <a:p>
            <a:pPr algn="l"/>
            <a:r>
              <a:rPr lang="en-US" sz="2000" dirty="0" smtClean="0"/>
              <a:t>(</a:t>
            </a:r>
            <a:r>
              <a:rPr lang="en-US" sz="2000" dirty="0"/>
              <a:t>A &lt;= B) </a:t>
            </a:r>
            <a:r>
              <a:rPr lang="en-US" sz="2000" dirty="0" smtClean="0"/>
              <a:t>est vrai</a:t>
            </a:r>
            <a:endParaRPr lang="en-US" sz="2000" dirty="0"/>
          </a:p>
        </p:txBody>
      </p:sp>
      <p:sp>
        <p:nvSpPr>
          <p:cNvPr id="2" name="Title 1"/>
          <p:cNvSpPr>
            <a:spLocks noGrp="1"/>
          </p:cNvSpPr>
          <p:nvPr>
            <p:ph type="title"/>
          </p:nvPr>
        </p:nvSpPr>
        <p:spPr/>
        <p:txBody>
          <a:bodyPr/>
          <a:lstStyle/>
          <a:p>
            <a:r>
              <a:rPr lang="en-US" sz="2800" dirty="0"/>
              <a:t>Opérateurs relationnels</a:t>
            </a:r>
            <a:endParaRPr lang="en-US" sz="2800" dirty="0"/>
          </a:p>
        </p:txBody>
      </p:sp>
      <p:sp>
        <p:nvSpPr>
          <p:cNvPr id="5" name="Slide Number Placeholder 4"/>
          <p:cNvSpPr>
            <a:spLocks noGrp="1"/>
          </p:cNvSpPr>
          <p:nvPr>
            <p:ph type="sldNum" sz="quarter" idx="11"/>
          </p:nvPr>
        </p:nvSpPr>
        <p:spPr/>
        <p:txBody>
          <a:bodyPr/>
          <a:lstStyle/>
          <a:p>
            <a:pPr lvl="2"/>
            <a:fld id="{28BEB0BA-EEE4-5F45-9179-3BC54B76BCCF}" type="slidenum">
              <a:rPr lang="fr-FR" smtClean="0"/>
            </a:fld>
            <a:endParaRPr lang="fr-FR"/>
          </a:p>
        </p:txBody>
      </p:sp>
      <p:cxnSp>
        <p:nvCxnSpPr>
          <p:cNvPr id="7" name="Straight Connector 6"/>
          <p:cNvCxnSpPr/>
          <p:nvPr/>
        </p:nvCxnSpPr>
        <p:spPr bwMode="auto">
          <a:xfrm>
            <a:off x="0" y="1210104"/>
            <a:ext cx="9036496" cy="0"/>
          </a:xfrm>
          <a:prstGeom prst="line">
            <a:avLst/>
          </a:prstGeom>
          <a:noFill/>
          <a:ln w="6350" cap="flat" cmpd="sng" algn="ctr">
            <a:solidFill>
              <a:srgbClr val="000208"/>
            </a:solidFill>
            <a:prstDash val="solid"/>
            <a:round/>
            <a:headEnd type="none" w="lg" len="lg"/>
            <a:tailEnd type="none"/>
          </a:ln>
          <a:effectLst/>
        </p:spPr>
      </p:cxnSp>
      <p:cxnSp>
        <p:nvCxnSpPr>
          <p:cNvPr id="8" name="Straight Connector 7"/>
          <p:cNvCxnSpPr/>
          <p:nvPr/>
        </p:nvCxnSpPr>
        <p:spPr bwMode="auto">
          <a:xfrm>
            <a:off x="683568" y="915195"/>
            <a:ext cx="0" cy="4602037"/>
          </a:xfrm>
          <a:prstGeom prst="line">
            <a:avLst/>
          </a:prstGeom>
          <a:noFill/>
          <a:ln w="6350" cap="flat" cmpd="sng" algn="ctr">
            <a:solidFill>
              <a:srgbClr val="000208"/>
            </a:solidFill>
            <a:prstDash val="solid"/>
            <a:round/>
            <a:headEnd type="none" w="lg" len="lg"/>
            <a:tailEnd type="none"/>
          </a:ln>
          <a:effectLst/>
        </p:spPr>
      </p:cxnSp>
      <p:cxnSp>
        <p:nvCxnSpPr>
          <p:cNvPr id="10" name="Straight Connector 9"/>
          <p:cNvCxnSpPr/>
          <p:nvPr/>
        </p:nvCxnSpPr>
        <p:spPr bwMode="auto">
          <a:xfrm>
            <a:off x="6768244" y="1032704"/>
            <a:ext cx="0" cy="4520532"/>
          </a:xfrm>
          <a:prstGeom prst="line">
            <a:avLst/>
          </a:prstGeom>
          <a:noFill/>
          <a:ln w="6350" cap="flat" cmpd="sng" algn="ctr">
            <a:solidFill>
              <a:srgbClr val="000208"/>
            </a:solidFill>
            <a:prstDash val="solid"/>
            <a:round/>
            <a:headEnd type="none" w="lg" len="lg"/>
            <a:tailEnd type="none"/>
          </a:ln>
          <a:effectLst/>
        </p:spPr>
      </p:cxnSp>
      <p:sp>
        <p:nvSpPr>
          <p:cNvPr id="13" name="Rectangle 12"/>
          <p:cNvSpPr/>
          <p:nvPr/>
        </p:nvSpPr>
        <p:spPr>
          <a:xfrm>
            <a:off x="4319972" y="620688"/>
            <a:ext cx="2376335" cy="400110"/>
          </a:xfrm>
          <a:prstGeom prst="rect">
            <a:avLst/>
          </a:prstGeom>
        </p:spPr>
        <p:txBody>
          <a:bodyPr wrap="square">
            <a:spAutoFit/>
          </a:bodyPr>
          <a:lstStyle/>
          <a:p>
            <a:r>
              <a:rPr lang="en-US" sz="2000" dirty="0"/>
              <a:t>A = 10,  B = 20</a:t>
            </a:r>
            <a:endParaRPr lang="en-US" sz="2000" dirty="0"/>
          </a:p>
        </p:txBody>
      </p:sp>
      <p:sp>
        <p:nvSpPr>
          <p:cNvPr id="17" name="Rectangle 16"/>
          <p:cNvSpPr/>
          <p:nvPr/>
        </p:nvSpPr>
        <p:spPr>
          <a:xfrm>
            <a:off x="107504" y="800708"/>
            <a:ext cx="7020780" cy="4832092"/>
          </a:xfrm>
          <a:prstGeom prst="rect">
            <a:avLst/>
          </a:prstGeom>
        </p:spPr>
        <p:txBody>
          <a:bodyPr wrap="square">
            <a:spAutoFit/>
          </a:bodyPr>
          <a:lstStyle/>
          <a:p>
            <a:pPr algn="l"/>
            <a:r>
              <a:rPr lang="en-US" sz="2000" b="1" dirty="0"/>
              <a:t>Op. 	Description  </a:t>
            </a:r>
            <a:endParaRPr lang="en-US" sz="2000" b="1" dirty="0"/>
          </a:p>
          <a:p>
            <a:pPr algn="l"/>
            <a:r>
              <a:rPr lang="en-US" sz="2000" dirty="0"/>
              <a:t>== </a:t>
            </a:r>
            <a:r>
              <a:rPr lang="en-US" sz="2000" dirty="0" smtClean="0"/>
              <a:t>      </a:t>
            </a:r>
            <a:endParaRPr lang="en-US" sz="2000" dirty="0" smtClean="0"/>
          </a:p>
          <a:p>
            <a:pPr algn="l"/>
            <a:r>
              <a:rPr lang="en-US" sz="2000" dirty="0" smtClean="0"/>
              <a:t>        		</a:t>
            </a:r>
            <a:endParaRPr lang="en-US" sz="2000" dirty="0" smtClean="0"/>
          </a:p>
          <a:p>
            <a:pPr algn="l"/>
            <a:r>
              <a:rPr lang="en-US" sz="2000" dirty="0" smtClean="0"/>
              <a:t>!=      </a:t>
            </a:r>
            <a:endParaRPr lang="en-US" sz="1800" dirty="0"/>
          </a:p>
          <a:p>
            <a:pPr algn="l"/>
            <a:r>
              <a:rPr lang="en-US" sz="1800" dirty="0"/>
              <a:t>        </a:t>
            </a:r>
            <a:r>
              <a:rPr lang="en-US" sz="2000" dirty="0" smtClean="0"/>
              <a:t> </a:t>
            </a:r>
            <a:r>
              <a:rPr lang="en-US" sz="2000" dirty="0"/>
              <a:t>	</a:t>
            </a:r>
            <a:endParaRPr lang="en-US" sz="2000" dirty="0"/>
          </a:p>
          <a:p>
            <a:pPr algn="l"/>
            <a:r>
              <a:rPr lang="en-US" sz="2000" dirty="0"/>
              <a:t>&gt;      </a:t>
            </a:r>
            <a:endParaRPr lang="en-US" sz="1800" dirty="0"/>
          </a:p>
          <a:p>
            <a:pPr algn="l"/>
            <a:r>
              <a:rPr lang="en-US" sz="1800" dirty="0"/>
              <a:t>         </a:t>
            </a:r>
            <a:r>
              <a:rPr lang="en-US" sz="2000" dirty="0" smtClean="0"/>
              <a:t> </a:t>
            </a:r>
            <a:r>
              <a:rPr lang="en-US" sz="2000" dirty="0"/>
              <a:t>	</a:t>
            </a:r>
            <a:endParaRPr lang="en-US" sz="2000" dirty="0"/>
          </a:p>
          <a:p>
            <a:pPr algn="l"/>
            <a:r>
              <a:rPr lang="en-US" sz="2000" dirty="0"/>
              <a:t>&lt;      </a:t>
            </a:r>
            <a:endParaRPr lang="en-US" sz="1800" dirty="0"/>
          </a:p>
          <a:p>
            <a:pPr algn="l"/>
            <a:r>
              <a:rPr lang="en-US" sz="1800" dirty="0"/>
              <a:t>       </a:t>
            </a:r>
            <a:r>
              <a:rPr lang="en-US" sz="1800" dirty="0" smtClean="0"/>
              <a:t> </a:t>
            </a:r>
            <a:r>
              <a:rPr lang="en-US" sz="2000" dirty="0"/>
              <a:t>	</a:t>
            </a:r>
            <a:endParaRPr lang="en-US" sz="2000" dirty="0"/>
          </a:p>
          <a:p>
            <a:pPr algn="l"/>
            <a:r>
              <a:rPr lang="en-US" sz="2000" dirty="0"/>
              <a:t>&gt;=    </a:t>
            </a:r>
            <a:endParaRPr lang="en-US" sz="1800" dirty="0"/>
          </a:p>
          <a:p>
            <a:pPr algn="l"/>
            <a:r>
              <a:rPr lang="en-US" sz="1800" dirty="0"/>
              <a:t>        </a:t>
            </a:r>
            <a:r>
              <a:rPr lang="en-US" sz="2000" dirty="0" smtClean="0"/>
              <a:t> </a:t>
            </a:r>
            <a:endParaRPr lang="en-US" sz="2000" dirty="0"/>
          </a:p>
          <a:p>
            <a:pPr algn="l"/>
            <a:r>
              <a:rPr lang="en-US" sz="2000" dirty="0"/>
              <a:t>&lt;=    </a:t>
            </a:r>
            <a:r>
              <a:rPr lang="en-US" sz="1800" dirty="0" smtClean="0"/>
              <a:t> </a:t>
            </a:r>
            <a:endParaRPr lang="en-US" sz="1800" dirty="0"/>
          </a:p>
          <a:p>
            <a:pPr algn="l"/>
            <a:r>
              <a:rPr lang="en-US" sz="1800" dirty="0"/>
              <a:t>     </a:t>
            </a:r>
            <a:r>
              <a:rPr lang="en-US" sz="2000" dirty="0" smtClean="0"/>
              <a:t> </a:t>
            </a:r>
            <a:endParaRPr lang="en-US" sz="2000" dirty="0"/>
          </a:p>
        </p:txBody>
      </p:sp>
      <p:cxnSp>
        <p:nvCxnSpPr>
          <p:cNvPr id="19" name="Straight Connector 18"/>
          <p:cNvCxnSpPr/>
          <p:nvPr/>
        </p:nvCxnSpPr>
        <p:spPr bwMode="auto">
          <a:xfrm>
            <a:off x="-508" y="1916832"/>
            <a:ext cx="9036496" cy="0"/>
          </a:xfrm>
          <a:prstGeom prst="line">
            <a:avLst/>
          </a:prstGeom>
          <a:noFill/>
          <a:ln w="6350" cap="flat" cmpd="sng" algn="ctr">
            <a:solidFill>
              <a:srgbClr val="000208"/>
            </a:solidFill>
            <a:prstDash val="solid"/>
            <a:round/>
            <a:headEnd type="none" w="lg" len="lg"/>
            <a:tailEnd type="none"/>
          </a:ln>
          <a:effectLst/>
        </p:spPr>
      </p:cxnSp>
      <p:cxnSp>
        <p:nvCxnSpPr>
          <p:cNvPr id="20" name="Straight Connector 19"/>
          <p:cNvCxnSpPr/>
          <p:nvPr/>
        </p:nvCxnSpPr>
        <p:spPr bwMode="auto">
          <a:xfrm>
            <a:off x="35496" y="2672916"/>
            <a:ext cx="9036496" cy="0"/>
          </a:xfrm>
          <a:prstGeom prst="line">
            <a:avLst/>
          </a:prstGeom>
          <a:noFill/>
          <a:ln w="6350" cap="flat" cmpd="sng" algn="ctr">
            <a:solidFill>
              <a:srgbClr val="000208"/>
            </a:solidFill>
            <a:prstDash val="solid"/>
            <a:round/>
            <a:headEnd type="none" w="lg" len="lg"/>
            <a:tailEnd type="none"/>
          </a:ln>
          <a:effectLst/>
        </p:spPr>
      </p:cxnSp>
      <p:cxnSp>
        <p:nvCxnSpPr>
          <p:cNvPr id="21" name="Straight Connector 20"/>
          <p:cNvCxnSpPr/>
          <p:nvPr/>
        </p:nvCxnSpPr>
        <p:spPr bwMode="auto">
          <a:xfrm>
            <a:off x="71500" y="3356992"/>
            <a:ext cx="9036496" cy="0"/>
          </a:xfrm>
          <a:prstGeom prst="line">
            <a:avLst/>
          </a:prstGeom>
          <a:noFill/>
          <a:ln w="6350" cap="flat" cmpd="sng" algn="ctr">
            <a:solidFill>
              <a:srgbClr val="000208"/>
            </a:solidFill>
            <a:prstDash val="solid"/>
            <a:round/>
            <a:headEnd type="none" w="lg" len="lg"/>
            <a:tailEnd type="none"/>
          </a:ln>
          <a:effectLst/>
        </p:spPr>
      </p:cxnSp>
      <p:cxnSp>
        <p:nvCxnSpPr>
          <p:cNvPr id="22" name="Straight Connector 21"/>
          <p:cNvCxnSpPr/>
          <p:nvPr/>
        </p:nvCxnSpPr>
        <p:spPr bwMode="auto">
          <a:xfrm>
            <a:off x="35496" y="4077072"/>
            <a:ext cx="9036496" cy="0"/>
          </a:xfrm>
          <a:prstGeom prst="line">
            <a:avLst/>
          </a:prstGeom>
          <a:noFill/>
          <a:ln w="6350" cap="flat" cmpd="sng" algn="ctr">
            <a:solidFill>
              <a:srgbClr val="000208"/>
            </a:solidFill>
            <a:prstDash val="solid"/>
            <a:round/>
            <a:headEnd type="none" w="lg" len="lg"/>
            <a:tailEnd type="none"/>
          </a:ln>
          <a:effectLst/>
        </p:spPr>
      </p:cxnSp>
      <p:cxnSp>
        <p:nvCxnSpPr>
          <p:cNvPr id="23" name="Straight Connector 22"/>
          <p:cNvCxnSpPr/>
          <p:nvPr/>
        </p:nvCxnSpPr>
        <p:spPr bwMode="auto">
          <a:xfrm>
            <a:off x="35496" y="4869160"/>
            <a:ext cx="9036496" cy="0"/>
          </a:xfrm>
          <a:prstGeom prst="line">
            <a:avLst/>
          </a:prstGeom>
          <a:noFill/>
          <a:ln w="6350" cap="flat" cmpd="sng" algn="ctr">
            <a:solidFill>
              <a:srgbClr val="000208"/>
            </a:solidFill>
            <a:prstDash val="solid"/>
            <a:round/>
            <a:headEnd type="none" w="lg" len="lg"/>
            <a:tailEnd type="none"/>
          </a:ln>
          <a:effectLst/>
        </p:spPr>
      </p:cxnSp>
      <p:sp>
        <p:nvSpPr>
          <p:cNvPr id="3" name="ZoneTexte 2"/>
          <p:cNvSpPr txBox="1"/>
          <p:nvPr/>
        </p:nvSpPr>
        <p:spPr>
          <a:xfrm>
            <a:off x="736882" y="1239655"/>
            <a:ext cx="5996973" cy="646331"/>
          </a:xfrm>
          <a:prstGeom prst="rect">
            <a:avLst/>
          </a:prstGeom>
          <a:noFill/>
        </p:spPr>
        <p:txBody>
          <a:bodyPr wrap="square" rtlCol="0">
            <a:spAutoFit/>
          </a:bodyPr>
          <a:lstStyle/>
          <a:p>
            <a:pPr algn="l"/>
            <a:r>
              <a:rPr lang="fr-FR" sz="1800" dirty="0"/>
              <a:t>Vérifie si les valeurs de deux opérandes </a:t>
            </a:r>
            <a:r>
              <a:rPr lang="fr-FR" sz="1800" dirty="0" smtClean="0"/>
              <a:t>sont égales. Si oui, la condition devient vraie.</a:t>
            </a:r>
            <a:endParaRPr lang="fr-FR" sz="1800" dirty="0"/>
          </a:p>
        </p:txBody>
      </p:sp>
      <p:sp>
        <p:nvSpPr>
          <p:cNvPr id="25" name="ZoneTexte 24"/>
          <p:cNvSpPr txBox="1"/>
          <p:nvPr/>
        </p:nvSpPr>
        <p:spPr>
          <a:xfrm>
            <a:off x="719572" y="1969817"/>
            <a:ext cx="6048672" cy="646331"/>
          </a:xfrm>
          <a:prstGeom prst="rect">
            <a:avLst/>
          </a:prstGeom>
          <a:noFill/>
        </p:spPr>
        <p:txBody>
          <a:bodyPr wrap="square" rtlCol="0">
            <a:spAutoFit/>
          </a:bodyPr>
          <a:lstStyle/>
          <a:p>
            <a:pPr algn="l"/>
            <a:r>
              <a:rPr lang="fr-FR" sz="1800" dirty="0"/>
              <a:t>Vérifie si les valeurs de deux opérandes ne sont pas égales </a:t>
            </a:r>
            <a:r>
              <a:rPr lang="fr-FR" sz="1800" dirty="0" smtClean="0"/>
              <a:t>différentes</a:t>
            </a:r>
            <a:r>
              <a:rPr lang="fr-FR" sz="1800" dirty="0"/>
              <a:t>. Si oui, la condition devient vraie.</a:t>
            </a:r>
            <a:endParaRPr lang="fr-FR" sz="1800" dirty="0"/>
          </a:p>
        </p:txBody>
      </p:sp>
      <p:sp>
        <p:nvSpPr>
          <p:cNvPr id="26" name="ZoneTexte 25"/>
          <p:cNvSpPr txBox="1"/>
          <p:nvPr/>
        </p:nvSpPr>
        <p:spPr>
          <a:xfrm>
            <a:off x="719572" y="2689026"/>
            <a:ext cx="6210690" cy="646331"/>
          </a:xfrm>
          <a:prstGeom prst="rect">
            <a:avLst/>
          </a:prstGeom>
          <a:noFill/>
        </p:spPr>
        <p:txBody>
          <a:bodyPr wrap="square" rtlCol="0">
            <a:spAutoFit/>
          </a:bodyPr>
          <a:lstStyle/>
          <a:p>
            <a:pPr algn="l"/>
            <a:r>
              <a:rPr lang="fr-FR" sz="1800" dirty="0"/>
              <a:t>Vérifie si la valeur de l'opérande </a:t>
            </a:r>
            <a:r>
              <a:rPr lang="fr-FR" sz="1800" dirty="0" smtClean="0"/>
              <a:t>de gauche </a:t>
            </a:r>
            <a:r>
              <a:rPr lang="fr-FR" sz="1800" dirty="0"/>
              <a:t>est supérieure à la valeur de l'opérande </a:t>
            </a:r>
            <a:r>
              <a:rPr lang="fr-FR" sz="1800" dirty="0" smtClean="0"/>
              <a:t>de droit. </a:t>
            </a:r>
            <a:r>
              <a:rPr lang="fr-FR" sz="1800" dirty="0"/>
              <a:t>Si oui, elle devient vraie.</a:t>
            </a:r>
            <a:endParaRPr lang="fr-FR" sz="1800" dirty="0"/>
          </a:p>
        </p:txBody>
      </p:sp>
      <p:sp>
        <p:nvSpPr>
          <p:cNvPr id="27" name="ZoneTexte 26"/>
          <p:cNvSpPr txBox="1"/>
          <p:nvPr/>
        </p:nvSpPr>
        <p:spPr>
          <a:xfrm>
            <a:off x="719572" y="3392996"/>
            <a:ext cx="6228692" cy="646331"/>
          </a:xfrm>
          <a:prstGeom prst="rect">
            <a:avLst/>
          </a:prstGeom>
          <a:noFill/>
        </p:spPr>
        <p:txBody>
          <a:bodyPr wrap="square" rtlCol="0">
            <a:spAutoFit/>
          </a:bodyPr>
          <a:lstStyle/>
          <a:p>
            <a:pPr algn="l"/>
            <a:r>
              <a:rPr lang="fr-FR" sz="1800" dirty="0"/>
              <a:t>Vérifie si la valeur de l'opérande </a:t>
            </a:r>
            <a:r>
              <a:rPr lang="fr-FR" sz="1800" dirty="0" smtClean="0"/>
              <a:t>de gauche </a:t>
            </a:r>
            <a:r>
              <a:rPr lang="fr-FR" sz="1800" dirty="0"/>
              <a:t>est inférieure à la valeur de l'opérande </a:t>
            </a:r>
            <a:r>
              <a:rPr lang="fr-FR" sz="1800" dirty="0" smtClean="0"/>
              <a:t>de droit</a:t>
            </a:r>
            <a:r>
              <a:rPr lang="fr-FR" sz="1800" dirty="0"/>
              <a:t>.  Si oui, elle devient vraie. </a:t>
            </a:r>
            <a:endParaRPr lang="fr-FR" sz="1800" dirty="0"/>
          </a:p>
        </p:txBody>
      </p:sp>
      <p:sp>
        <p:nvSpPr>
          <p:cNvPr id="28" name="ZoneTexte 27"/>
          <p:cNvSpPr txBox="1"/>
          <p:nvPr/>
        </p:nvSpPr>
        <p:spPr>
          <a:xfrm>
            <a:off x="719572" y="4186825"/>
            <a:ext cx="6084676" cy="646331"/>
          </a:xfrm>
          <a:prstGeom prst="rect">
            <a:avLst/>
          </a:prstGeom>
          <a:noFill/>
        </p:spPr>
        <p:txBody>
          <a:bodyPr wrap="square" rtlCol="0">
            <a:spAutoFit/>
          </a:bodyPr>
          <a:lstStyle/>
          <a:p>
            <a:pPr algn="l"/>
            <a:r>
              <a:rPr lang="fr-FR" sz="1800" dirty="0"/>
              <a:t>Vérifie si la valeur de l'opérande </a:t>
            </a:r>
            <a:r>
              <a:rPr lang="fr-FR" sz="1800" dirty="0" smtClean="0"/>
              <a:t>de gauche </a:t>
            </a:r>
            <a:r>
              <a:rPr lang="fr-FR" sz="1800" dirty="0"/>
              <a:t>est supérieure ou égale à la valeur de l'opérande </a:t>
            </a:r>
            <a:r>
              <a:rPr lang="fr-FR" sz="1800" dirty="0" smtClean="0"/>
              <a:t>de droite. </a:t>
            </a:r>
            <a:endParaRPr lang="fr-FR" sz="1800" dirty="0"/>
          </a:p>
        </p:txBody>
      </p:sp>
      <p:sp>
        <p:nvSpPr>
          <p:cNvPr id="29" name="ZoneTexte 28"/>
          <p:cNvSpPr txBox="1"/>
          <p:nvPr/>
        </p:nvSpPr>
        <p:spPr>
          <a:xfrm>
            <a:off x="736144" y="4906905"/>
            <a:ext cx="6084676" cy="646331"/>
          </a:xfrm>
          <a:prstGeom prst="rect">
            <a:avLst/>
          </a:prstGeom>
          <a:noFill/>
        </p:spPr>
        <p:txBody>
          <a:bodyPr wrap="square" rtlCol="0">
            <a:spAutoFit/>
          </a:bodyPr>
          <a:lstStyle/>
          <a:p>
            <a:pPr algn="l"/>
            <a:r>
              <a:rPr lang="fr-FR" sz="1800" dirty="0"/>
              <a:t>Vérifie si la valeur de </a:t>
            </a:r>
            <a:r>
              <a:rPr lang="fr-FR" sz="1800" dirty="0" smtClean="0"/>
              <a:t>l'opérande de </a:t>
            </a:r>
            <a:r>
              <a:rPr lang="fr-FR" sz="1800" dirty="0"/>
              <a:t>gauche est inférieure ou égale à la valeur de l'opérande droite.  </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Opérateurs logiques</a:t>
            </a:r>
            <a:endParaRPr lang="en-US" sz="2800" dirty="0"/>
          </a:p>
        </p:txBody>
      </p:sp>
      <p:sp>
        <p:nvSpPr>
          <p:cNvPr id="5" name="Slide Number Placeholder 4"/>
          <p:cNvSpPr>
            <a:spLocks noGrp="1"/>
          </p:cNvSpPr>
          <p:nvPr>
            <p:ph type="sldNum" sz="quarter" idx="11"/>
          </p:nvPr>
        </p:nvSpPr>
        <p:spPr/>
        <p:txBody>
          <a:bodyPr/>
          <a:lstStyle/>
          <a:p>
            <a:pPr lvl="2"/>
            <a:fld id="{28BEB0BA-EEE4-5F45-9179-3BC54B76BCCF}" type="slidenum">
              <a:rPr lang="fr-FR" smtClean="0"/>
            </a:fld>
            <a:endParaRPr lang="fr-FR"/>
          </a:p>
        </p:txBody>
      </p:sp>
      <p:cxnSp>
        <p:nvCxnSpPr>
          <p:cNvPr id="7" name="Straight Connector 6"/>
          <p:cNvCxnSpPr/>
          <p:nvPr/>
        </p:nvCxnSpPr>
        <p:spPr bwMode="auto">
          <a:xfrm>
            <a:off x="0" y="2510314"/>
            <a:ext cx="9036496" cy="0"/>
          </a:xfrm>
          <a:prstGeom prst="line">
            <a:avLst/>
          </a:prstGeom>
          <a:noFill/>
          <a:ln w="6350" cap="flat" cmpd="sng" algn="ctr">
            <a:solidFill>
              <a:srgbClr val="000208"/>
            </a:solidFill>
            <a:prstDash val="solid"/>
            <a:round/>
            <a:headEnd type="none" w="lg" len="lg"/>
            <a:tailEnd type="none"/>
          </a:ln>
          <a:effectLst/>
        </p:spPr>
      </p:cxnSp>
      <p:cxnSp>
        <p:nvCxnSpPr>
          <p:cNvPr id="8" name="Straight Connector 7"/>
          <p:cNvCxnSpPr/>
          <p:nvPr/>
        </p:nvCxnSpPr>
        <p:spPr bwMode="auto">
          <a:xfrm>
            <a:off x="827584" y="2021165"/>
            <a:ext cx="0" cy="3676087"/>
          </a:xfrm>
          <a:prstGeom prst="line">
            <a:avLst/>
          </a:prstGeom>
          <a:noFill/>
          <a:ln w="6350" cap="flat" cmpd="sng" algn="ctr">
            <a:solidFill>
              <a:srgbClr val="000208"/>
            </a:solidFill>
            <a:prstDash val="solid"/>
            <a:round/>
            <a:headEnd type="none" w="lg" len="lg"/>
            <a:tailEnd type="none"/>
          </a:ln>
          <a:effectLst/>
        </p:spPr>
      </p:cxnSp>
      <p:cxnSp>
        <p:nvCxnSpPr>
          <p:cNvPr id="10" name="Straight Connector 9"/>
          <p:cNvCxnSpPr/>
          <p:nvPr/>
        </p:nvCxnSpPr>
        <p:spPr bwMode="auto">
          <a:xfrm>
            <a:off x="6768244" y="1970002"/>
            <a:ext cx="0" cy="3727250"/>
          </a:xfrm>
          <a:prstGeom prst="line">
            <a:avLst/>
          </a:prstGeom>
          <a:noFill/>
          <a:ln w="6350" cap="flat" cmpd="sng" algn="ctr">
            <a:solidFill>
              <a:srgbClr val="000208"/>
            </a:solidFill>
            <a:prstDash val="solid"/>
            <a:round/>
            <a:headEnd type="none" w="lg" len="lg"/>
            <a:tailEnd type="none"/>
          </a:ln>
          <a:effectLst/>
        </p:spPr>
      </p:cxnSp>
      <p:sp>
        <p:nvSpPr>
          <p:cNvPr id="13" name="Rectangle 12"/>
          <p:cNvSpPr/>
          <p:nvPr/>
        </p:nvSpPr>
        <p:spPr>
          <a:xfrm>
            <a:off x="6696236" y="1736812"/>
            <a:ext cx="2376335" cy="400110"/>
          </a:xfrm>
          <a:prstGeom prst="rect">
            <a:avLst/>
          </a:prstGeom>
        </p:spPr>
        <p:txBody>
          <a:bodyPr wrap="square">
            <a:spAutoFit/>
          </a:bodyPr>
          <a:lstStyle/>
          <a:p>
            <a:r>
              <a:rPr lang="en-US" sz="2000" dirty="0"/>
              <a:t>A = 1,  B = 0</a:t>
            </a:r>
            <a:endParaRPr lang="en-US" sz="2000" dirty="0"/>
          </a:p>
        </p:txBody>
      </p:sp>
      <p:cxnSp>
        <p:nvCxnSpPr>
          <p:cNvPr id="19" name="Straight Connector 18"/>
          <p:cNvCxnSpPr/>
          <p:nvPr/>
        </p:nvCxnSpPr>
        <p:spPr bwMode="auto">
          <a:xfrm>
            <a:off x="-508" y="3681028"/>
            <a:ext cx="9036496" cy="0"/>
          </a:xfrm>
          <a:prstGeom prst="line">
            <a:avLst/>
          </a:prstGeom>
          <a:noFill/>
          <a:ln w="6350" cap="flat" cmpd="sng" algn="ctr">
            <a:solidFill>
              <a:srgbClr val="000208"/>
            </a:solidFill>
            <a:prstDash val="solid"/>
            <a:round/>
            <a:headEnd type="none" w="lg" len="lg"/>
            <a:tailEnd type="none"/>
          </a:ln>
          <a:effectLst/>
        </p:spPr>
      </p:cxnSp>
      <p:cxnSp>
        <p:nvCxnSpPr>
          <p:cNvPr id="20" name="Straight Connector 19"/>
          <p:cNvCxnSpPr/>
          <p:nvPr/>
        </p:nvCxnSpPr>
        <p:spPr bwMode="auto">
          <a:xfrm>
            <a:off x="35496" y="4689140"/>
            <a:ext cx="9036496" cy="0"/>
          </a:xfrm>
          <a:prstGeom prst="line">
            <a:avLst/>
          </a:prstGeom>
          <a:noFill/>
          <a:ln w="6350" cap="flat" cmpd="sng" algn="ctr">
            <a:solidFill>
              <a:srgbClr val="000208"/>
            </a:solidFill>
            <a:prstDash val="solid"/>
            <a:round/>
            <a:headEnd type="none" w="lg" len="lg"/>
            <a:tailEnd type="none"/>
          </a:ln>
          <a:effectLst/>
        </p:spPr>
      </p:cxnSp>
      <p:cxnSp>
        <p:nvCxnSpPr>
          <p:cNvPr id="21" name="Straight Connector 20"/>
          <p:cNvCxnSpPr/>
          <p:nvPr/>
        </p:nvCxnSpPr>
        <p:spPr bwMode="auto">
          <a:xfrm>
            <a:off x="71500" y="5661248"/>
            <a:ext cx="9036496" cy="0"/>
          </a:xfrm>
          <a:prstGeom prst="line">
            <a:avLst/>
          </a:prstGeom>
          <a:noFill/>
          <a:ln w="6350" cap="flat" cmpd="sng" algn="ctr">
            <a:solidFill>
              <a:srgbClr val="000208"/>
            </a:solidFill>
            <a:prstDash val="solid"/>
            <a:round/>
            <a:headEnd type="none" w="lg" len="lg"/>
            <a:tailEnd type="none"/>
          </a:ln>
          <a:effectLst/>
        </p:spPr>
      </p:cxnSp>
      <p:sp>
        <p:nvSpPr>
          <p:cNvPr id="3" name="Rectangle 2"/>
          <p:cNvSpPr/>
          <p:nvPr/>
        </p:nvSpPr>
        <p:spPr>
          <a:xfrm>
            <a:off x="11833" y="2136922"/>
            <a:ext cx="851756" cy="3539430"/>
          </a:xfrm>
          <a:prstGeom prst="rect">
            <a:avLst/>
          </a:prstGeom>
        </p:spPr>
        <p:txBody>
          <a:bodyPr wrap="square">
            <a:spAutoFit/>
          </a:bodyPr>
          <a:lstStyle/>
          <a:p>
            <a:pPr algn="l"/>
            <a:r>
              <a:rPr lang="en-US" sz="2000" b="1" dirty="0"/>
              <a:t>Op. </a:t>
            </a:r>
            <a:endParaRPr lang="en-US" sz="2000" b="1" dirty="0"/>
          </a:p>
          <a:p>
            <a:pPr algn="l"/>
            <a:endParaRPr lang="en-US" sz="2000" dirty="0" smtClean="0"/>
          </a:p>
          <a:p>
            <a:pPr algn="l"/>
            <a:r>
              <a:rPr lang="en-US" sz="2000" dirty="0"/>
              <a:t> </a:t>
            </a:r>
            <a:r>
              <a:rPr lang="en-US" sz="2000" dirty="0" smtClean="0"/>
              <a:t> &amp;&amp; </a:t>
            </a:r>
            <a:endParaRPr lang="en-US" sz="2000" dirty="0"/>
          </a:p>
          <a:p>
            <a:pPr algn="l"/>
            <a:endParaRPr lang="en-US" sz="2000" dirty="0"/>
          </a:p>
          <a:p>
            <a:pPr algn="l"/>
            <a:endParaRPr lang="en-US" sz="2000" dirty="0"/>
          </a:p>
          <a:p>
            <a:pPr algn="l"/>
            <a:endParaRPr lang="en-US" sz="2000" dirty="0" smtClean="0"/>
          </a:p>
          <a:p>
            <a:pPr algn="l"/>
            <a:r>
              <a:rPr lang="en-US" sz="2000" dirty="0" smtClean="0"/>
              <a:t>   ||</a:t>
            </a:r>
            <a:endParaRPr lang="en-US" sz="2000" dirty="0"/>
          </a:p>
          <a:p>
            <a:pPr algn="l"/>
            <a:endParaRPr lang="en-US" sz="1000" dirty="0" smtClean="0"/>
          </a:p>
          <a:p>
            <a:pPr algn="l"/>
            <a:r>
              <a:rPr lang="en-US" sz="2000" dirty="0" smtClean="0"/>
              <a:t>   !</a:t>
            </a:r>
            <a:endParaRPr lang="en-US" sz="2000" dirty="0"/>
          </a:p>
          <a:p>
            <a:pPr algn="l"/>
            <a:r>
              <a:rPr lang="en-US" sz="2000" dirty="0"/>
              <a:t>	</a:t>
            </a:r>
            <a:endParaRPr lang="en-US" sz="2000" dirty="0"/>
          </a:p>
        </p:txBody>
      </p:sp>
      <p:sp>
        <p:nvSpPr>
          <p:cNvPr id="24" name="Rectangle 23"/>
          <p:cNvSpPr/>
          <p:nvPr/>
        </p:nvSpPr>
        <p:spPr>
          <a:xfrm>
            <a:off x="6876256" y="2126463"/>
            <a:ext cx="2484530" cy="3354765"/>
          </a:xfrm>
          <a:prstGeom prst="rect">
            <a:avLst/>
          </a:prstGeom>
        </p:spPr>
        <p:txBody>
          <a:bodyPr wrap="square">
            <a:spAutoFit/>
          </a:bodyPr>
          <a:lstStyle/>
          <a:p>
            <a:pPr algn="l"/>
            <a:r>
              <a:rPr lang="en-US" sz="2000" b="1" dirty="0" smtClean="0"/>
              <a:t>Exemple</a:t>
            </a:r>
            <a:endParaRPr lang="en-US" sz="2000" b="1" dirty="0"/>
          </a:p>
          <a:p>
            <a:pPr algn="l"/>
            <a:endParaRPr lang="en-US" sz="2000" dirty="0"/>
          </a:p>
          <a:p>
            <a:pPr algn="l"/>
            <a:r>
              <a:rPr lang="en-US" sz="2000" dirty="0"/>
              <a:t>(A &amp;&amp; B) is false.</a:t>
            </a:r>
            <a:endParaRPr lang="en-US" sz="2000" dirty="0"/>
          </a:p>
          <a:p>
            <a:pPr algn="l"/>
            <a:endParaRPr lang="en-US" sz="2000" dirty="0"/>
          </a:p>
          <a:p>
            <a:pPr algn="l"/>
            <a:endParaRPr lang="en-US" sz="2000" dirty="0" smtClean="0"/>
          </a:p>
          <a:p>
            <a:pPr algn="l"/>
            <a:r>
              <a:rPr lang="en-US" sz="2000" dirty="0" smtClean="0"/>
              <a:t>(</a:t>
            </a:r>
            <a:r>
              <a:rPr lang="en-US" sz="2000" dirty="0"/>
              <a:t>A || B) is true.</a:t>
            </a:r>
            <a:endParaRPr lang="en-US" sz="2000" dirty="0"/>
          </a:p>
          <a:p>
            <a:pPr algn="l"/>
            <a:endParaRPr lang="en-US" sz="2000" dirty="0"/>
          </a:p>
          <a:p>
            <a:pPr algn="l"/>
            <a:endParaRPr lang="en-US" sz="2000" dirty="0" smtClean="0"/>
          </a:p>
          <a:p>
            <a:pPr algn="l"/>
            <a:r>
              <a:rPr lang="en-US" sz="2000" dirty="0" smtClean="0"/>
              <a:t>!(</a:t>
            </a:r>
            <a:r>
              <a:rPr lang="en-US" sz="2000" dirty="0"/>
              <a:t>A &amp;&amp; B) </a:t>
            </a:r>
            <a:r>
              <a:rPr lang="en-US" sz="2000" dirty="0" smtClean="0"/>
              <a:t>est vrai</a:t>
            </a:r>
            <a:endParaRPr lang="en-US" sz="2000" dirty="0"/>
          </a:p>
        </p:txBody>
      </p:sp>
      <p:sp>
        <p:nvSpPr>
          <p:cNvPr id="25" name="Rectangle 24"/>
          <p:cNvSpPr/>
          <p:nvPr/>
        </p:nvSpPr>
        <p:spPr>
          <a:xfrm>
            <a:off x="863589" y="2132856"/>
            <a:ext cx="5976664" cy="3576364"/>
          </a:xfrm>
          <a:prstGeom prst="rect">
            <a:avLst/>
          </a:prstGeom>
        </p:spPr>
        <p:txBody>
          <a:bodyPr wrap="square">
            <a:spAutoFit/>
          </a:bodyPr>
          <a:lstStyle/>
          <a:p>
            <a:pPr algn="l"/>
            <a:r>
              <a:rPr lang="en-US" sz="2000" b="1" dirty="0"/>
              <a:t>Description 	</a:t>
            </a:r>
            <a:endParaRPr lang="en-US" sz="2000" b="1" dirty="0"/>
          </a:p>
          <a:p>
            <a:pPr algn="l"/>
            <a:r>
              <a:rPr lang="en-US" sz="1800" b="1" dirty="0"/>
              <a:t>Logical</a:t>
            </a:r>
            <a:r>
              <a:rPr lang="en-US" sz="1800" dirty="0"/>
              <a:t> </a:t>
            </a:r>
            <a:r>
              <a:rPr lang="en-US" sz="1800" b="1" dirty="0" smtClean="0"/>
              <a:t>AND (ET logique) </a:t>
            </a:r>
            <a:r>
              <a:rPr lang="fr-FR" sz="1800" dirty="0" smtClean="0"/>
              <a:t>: </a:t>
            </a:r>
            <a:r>
              <a:rPr lang="fr-FR" sz="1800" dirty="0"/>
              <a:t>Si les deux opérandes sont différents de zéro, alors la condition devient </a:t>
            </a:r>
            <a:r>
              <a:rPr lang="fr-FR" sz="1800" dirty="0" smtClean="0"/>
              <a:t>vraie. N'évalue </a:t>
            </a:r>
            <a:r>
              <a:rPr lang="fr-FR" sz="1800" dirty="0"/>
              <a:t>pas le deuxième opérande, si le premier est faux.</a:t>
            </a:r>
            <a:endParaRPr lang="en-US" sz="1800" b="1" dirty="0" smtClean="0"/>
          </a:p>
          <a:p>
            <a:pPr algn="l"/>
            <a:r>
              <a:rPr lang="en-US" sz="1800" b="1" dirty="0" smtClean="0"/>
              <a:t>Logical</a:t>
            </a:r>
            <a:r>
              <a:rPr lang="en-US" sz="1800" dirty="0" smtClean="0"/>
              <a:t> </a:t>
            </a:r>
            <a:r>
              <a:rPr lang="en-US" sz="1800" b="1" dirty="0" smtClean="0"/>
              <a:t>OR (OU logique) </a:t>
            </a:r>
            <a:r>
              <a:rPr lang="en-US" sz="1800" dirty="0" smtClean="0"/>
              <a:t>: </a:t>
            </a:r>
            <a:r>
              <a:rPr lang="fr-FR" sz="1800" dirty="0"/>
              <a:t>Si l'un des deux opérandes est différent de zéro, alors la condition devient vraie.</a:t>
            </a:r>
            <a:endParaRPr lang="fr-FR" sz="1800" dirty="0"/>
          </a:p>
          <a:p>
            <a:pPr algn="l"/>
            <a:r>
              <a:rPr lang="fr-FR" sz="1800" dirty="0"/>
              <a:t>N'évalue pas le second opérande, si le premier est vrai. </a:t>
            </a:r>
            <a:endParaRPr lang="fr-FR" sz="1800" dirty="0" smtClean="0"/>
          </a:p>
          <a:p>
            <a:pPr algn="l"/>
            <a:endParaRPr lang="fr-FR" sz="1000" b="1" dirty="0"/>
          </a:p>
          <a:p>
            <a:pPr algn="l"/>
            <a:r>
              <a:rPr lang="en-US" sz="1800" b="1" dirty="0" smtClean="0"/>
              <a:t>Logical</a:t>
            </a:r>
            <a:r>
              <a:rPr lang="en-US" sz="1800" dirty="0" smtClean="0"/>
              <a:t> </a:t>
            </a:r>
            <a:r>
              <a:rPr lang="en-US" sz="1800" b="1" dirty="0" smtClean="0"/>
              <a:t>NOT (NON logique) </a:t>
            </a:r>
            <a:r>
              <a:rPr lang="en-US" sz="1800" dirty="0" smtClean="0"/>
              <a:t>: </a:t>
            </a:r>
            <a:r>
              <a:rPr lang="fr-FR" sz="1800" dirty="0"/>
              <a:t>Il est utilisé pour </a:t>
            </a:r>
            <a:r>
              <a:rPr lang="fr-FR" sz="1800" b="1" dirty="0"/>
              <a:t>inverser</a:t>
            </a:r>
            <a:r>
              <a:rPr lang="fr-FR" sz="1800" dirty="0"/>
              <a:t> l'état logique de son opérande. Si une condition est vraie, l'opérateur logique NOT la rendra fausse. 	</a:t>
            </a:r>
            <a:r>
              <a:rPr lang="en-US" sz="1800" dirty="0" smtClean="0"/>
              <a:t>. </a:t>
            </a:r>
            <a:endParaRPr lang="en-US" sz="2000" dirty="0"/>
          </a:p>
        </p:txBody>
      </p:sp>
      <p:sp>
        <p:nvSpPr>
          <p:cNvPr id="26" name="Espace réservé du contenu 2"/>
          <p:cNvSpPr>
            <a:spLocks noGrp="1"/>
          </p:cNvSpPr>
          <p:nvPr>
            <p:ph idx="1"/>
          </p:nvPr>
        </p:nvSpPr>
        <p:spPr>
          <a:xfrm>
            <a:off x="457200" y="914400"/>
            <a:ext cx="8543292" cy="858416"/>
          </a:xfrm>
        </p:spPr>
        <p:txBody>
          <a:bodyPr/>
          <a:lstStyle/>
          <a:p>
            <a:r>
              <a:rPr lang="fr-FR" dirty="0">
                <a:latin typeface="Arial" panose="020B0604020202020204" pitchFamily="34" charset="0"/>
                <a:cs typeface="MS PGothic" panose="020B0600070205080204" charset="-128"/>
              </a:rPr>
              <a:t>Les opérandes sont VRAI ou FAUX.</a:t>
            </a:r>
            <a:endParaRPr lang="en-GB" dirty="0">
              <a:latin typeface="Arial" panose="020B0604020202020204" pitchFamily="34" charset="0"/>
              <a:cs typeface="MS PGothic" panose="020B0600070205080204" charset="-128"/>
            </a:endParaRPr>
          </a:p>
        </p:txBody>
      </p:sp>
      <p:sp>
        <p:nvSpPr>
          <p:cNvPr id="1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Opérateurs binaires</a:t>
            </a:r>
            <a:endParaRPr lang="en-US" sz="2800" dirty="0"/>
          </a:p>
        </p:txBody>
      </p:sp>
      <p:sp>
        <p:nvSpPr>
          <p:cNvPr id="5" name="Slide Number Placeholder 4"/>
          <p:cNvSpPr>
            <a:spLocks noGrp="1"/>
          </p:cNvSpPr>
          <p:nvPr>
            <p:ph type="sldNum" sz="quarter" idx="11"/>
          </p:nvPr>
        </p:nvSpPr>
        <p:spPr/>
        <p:txBody>
          <a:bodyPr/>
          <a:lstStyle/>
          <a:p>
            <a:pPr lvl="2"/>
            <a:fld id="{28BEB0BA-EEE4-5F45-9179-3BC54B76BCCF}" type="slidenum">
              <a:rPr lang="fr-FR" smtClean="0"/>
            </a:fld>
            <a:endParaRPr lang="fr-FR"/>
          </a:p>
        </p:txBody>
      </p:sp>
      <p:cxnSp>
        <p:nvCxnSpPr>
          <p:cNvPr id="7" name="Straight Connector 6"/>
          <p:cNvCxnSpPr/>
          <p:nvPr/>
        </p:nvCxnSpPr>
        <p:spPr bwMode="auto">
          <a:xfrm>
            <a:off x="0" y="2038196"/>
            <a:ext cx="9036496" cy="0"/>
          </a:xfrm>
          <a:prstGeom prst="line">
            <a:avLst/>
          </a:prstGeom>
          <a:noFill/>
          <a:ln w="6350" cap="flat" cmpd="sng" algn="ctr">
            <a:solidFill>
              <a:srgbClr val="000208"/>
            </a:solidFill>
            <a:prstDash val="solid"/>
            <a:round/>
            <a:headEnd type="none" w="lg" len="lg"/>
            <a:tailEnd type="none"/>
          </a:ln>
          <a:effectLst/>
        </p:spPr>
      </p:cxnSp>
      <p:cxnSp>
        <p:nvCxnSpPr>
          <p:cNvPr id="8" name="Straight Connector 7"/>
          <p:cNvCxnSpPr/>
          <p:nvPr/>
        </p:nvCxnSpPr>
        <p:spPr bwMode="auto">
          <a:xfrm>
            <a:off x="683568" y="1527263"/>
            <a:ext cx="0" cy="5160648"/>
          </a:xfrm>
          <a:prstGeom prst="line">
            <a:avLst/>
          </a:prstGeom>
          <a:noFill/>
          <a:ln w="6350" cap="flat" cmpd="sng" algn="ctr">
            <a:solidFill>
              <a:srgbClr val="000208"/>
            </a:solidFill>
            <a:prstDash val="solid"/>
            <a:round/>
            <a:headEnd type="none" w="lg" len="lg"/>
            <a:tailEnd type="none"/>
          </a:ln>
          <a:effectLst/>
        </p:spPr>
      </p:cxnSp>
      <p:cxnSp>
        <p:nvCxnSpPr>
          <p:cNvPr id="10" name="Straight Connector 9"/>
          <p:cNvCxnSpPr/>
          <p:nvPr/>
        </p:nvCxnSpPr>
        <p:spPr bwMode="auto">
          <a:xfrm>
            <a:off x="7056276" y="1644772"/>
            <a:ext cx="0" cy="5276616"/>
          </a:xfrm>
          <a:prstGeom prst="line">
            <a:avLst/>
          </a:prstGeom>
          <a:noFill/>
          <a:ln w="6350" cap="flat" cmpd="sng" algn="ctr">
            <a:solidFill>
              <a:srgbClr val="000208"/>
            </a:solidFill>
            <a:prstDash val="solid"/>
            <a:round/>
            <a:headEnd type="none" w="lg" len="lg"/>
            <a:tailEnd type="none"/>
          </a:ln>
          <a:effectLst/>
        </p:spPr>
      </p:cxnSp>
      <p:sp>
        <p:nvSpPr>
          <p:cNvPr id="13" name="Rectangle 12"/>
          <p:cNvSpPr/>
          <p:nvPr/>
        </p:nvSpPr>
        <p:spPr>
          <a:xfrm>
            <a:off x="5364088" y="1268760"/>
            <a:ext cx="3708412" cy="400110"/>
          </a:xfrm>
          <a:prstGeom prst="rect">
            <a:avLst/>
          </a:prstGeom>
        </p:spPr>
        <p:txBody>
          <a:bodyPr wrap="square">
            <a:spAutoFit/>
          </a:bodyPr>
          <a:lstStyle/>
          <a:p>
            <a:r>
              <a:rPr lang="en-US" sz="2000" dirty="0"/>
              <a:t>A = 0x3 (0011) B = 0x2 (0010)</a:t>
            </a:r>
            <a:endParaRPr lang="en-US" sz="2000" dirty="0"/>
          </a:p>
        </p:txBody>
      </p:sp>
      <p:cxnSp>
        <p:nvCxnSpPr>
          <p:cNvPr id="19" name="Straight Connector 18"/>
          <p:cNvCxnSpPr/>
          <p:nvPr/>
        </p:nvCxnSpPr>
        <p:spPr bwMode="auto">
          <a:xfrm>
            <a:off x="-508" y="2744924"/>
            <a:ext cx="9036496" cy="0"/>
          </a:xfrm>
          <a:prstGeom prst="line">
            <a:avLst/>
          </a:prstGeom>
          <a:noFill/>
          <a:ln w="6350" cap="flat" cmpd="sng" algn="ctr">
            <a:solidFill>
              <a:srgbClr val="000208"/>
            </a:solidFill>
            <a:prstDash val="solid"/>
            <a:round/>
            <a:headEnd type="none" w="lg" len="lg"/>
            <a:tailEnd type="none"/>
          </a:ln>
          <a:effectLst/>
        </p:spPr>
      </p:cxnSp>
      <p:cxnSp>
        <p:nvCxnSpPr>
          <p:cNvPr id="20" name="Straight Connector 19"/>
          <p:cNvCxnSpPr/>
          <p:nvPr/>
        </p:nvCxnSpPr>
        <p:spPr bwMode="auto">
          <a:xfrm>
            <a:off x="35496" y="3392996"/>
            <a:ext cx="9036496" cy="0"/>
          </a:xfrm>
          <a:prstGeom prst="line">
            <a:avLst/>
          </a:prstGeom>
          <a:noFill/>
          <a:ln w="6350" cap="flat" cmpd="sng" algn="ctr">
            <a:solidFill>
              <a:srgbClr val="000208"/>
            </a:solidFill>
            <a:prstDash val="solid"/>
            <a:round/>
            <a:headEnd type="none" w="lg" len="lg"/>
            <a:tailEnd type="none"/>
          </a:ln>
          <a:effectLst/>
        </p:spPr>
      </p:cxnSp>
      <p:cxnSp>
        <p:nvCxnSpPr>
          <p:cNvPr id="21" name="Straight Connector 20"/>
          <p:cNvCxnSpPr/>
          <p:nvPr/>
        </p:nvCxnSpPr>
        <p:spPr bwMode="auto">
          <a:xfrm>
            <a:off x="71500" y="4041068"/>
            <a:ext cx="9036496" cy="0"/>
          </a:xfrm>
          <a:prstGeom prst="line">
            <a:avLst/>
          </a:prstGeom>
          <a:noFill/>
          <a:ln w="6350" cap="flat" cmpd="sng" algn="ctr">
            <a:solidFill>
              <a:srgbClr val="000208"/>
            </a:solidFill>
            <a:prstDash val="solid"/>
            <a:round/>
            <a:headEnd type="none" w="lg" len="lg"/>
            <a:tailEnd type="none"/>
          </a:ln>
          <a:effectLst/>
        </p:spPr>
      </p:cxnSp>
      <p:cxnSp>
        <p:nvCxnSpPr>
          <p:cNvPr id="22" name="Straight Connector 21"/>
          <p:cNvCxnSpPr/>
          <p:nvPr/>
        </p:nvCxnSpPr>
        <p:spPr bwMode="auto">
          <a:xfrm>
            <a:off x="35496" y="4689140"/>
            <a:ext cx="9036496" cy="0"/>
          </a:xfrm>
          <a:prstGeom prst="line">
            <a:avLst/>
          </a:prstGeom>
          <a:noFill/>
          <a:ln w="6350" cap="flat" cmpd="sng" algn="ctr">
            <a:solidFill>
              <a:srgbClr val="000208"/>
            </a:solidFill>
            <a:prstDash val="solid"/>
            <a:round/>
            <a:headEnd type="none" w="lg" len="lg"/>
            <a:tailEnd type="none"/>
          </a:ln>
          <a:effectLst/>
        </p:spPr>
      </p:cxnSp>
      <p:cxnSp>
        <p:nvCxnSpPr>
          <p:cNvPr id="23" name="Straight Connector 22"/>
          <p:cNvCxnSpPr/>
          <p:nvPr/>
        </p:nvCxnSpPr>
        <p:spPr bwMode="auto">
          <a:xfrm>
            <a:off x="35496" y="5697252"/>
            <a:ext cx="9036496" cy="0"/>
          </a:xfrm>
          <a:prstGeom prst="line">
            <a:avLst/>
          </a:prstGeom>
          <a:noFill/>
          <a:ln w="6350" cap="flat" cmpd="sng" algn="ctr">
            <a:solidFill>
              <a:srgbClr val="000208"/>
            </a:solidFill>
            <a:prstDash val="solid"/>
            <a:round/>
            <a:headEnd type="none" w="lg" len="lg"/>
            <a:tailEnd type="none"/>
          </a:ln>
          <a:effectLst/>
        </p:spPr>
      </p:cxnSp>
      <p:sp>
        <p:nvSpPr>
          <p:cNvPr id="3" name="Rectangle 2"/>
          <p:cNvSpPr/>
          <p:nvPr/>
        </p:nvSpPr>
        <p:spPr>
          <a:xfrm>
            <a:off x="683568" y="1996383"/>
            <a:ext cx="6336704" cy="4758226"/>
          </a:xfrm>
          <a:prstGeom prst="rect">
            <a:avLst/>
          </a:prstGeom>
        </p:spPr>
        <p:txBody>
          <a:bodyPr wrap="square">
            <a:spAutoFit/>
          </a:bodyPr>
          <a:lstStyle/>
          <a:p>
            <a:pPr algn="l"/>
            <a:r>
              <a:rPr lang="en-US" sz="2000" b="1" dirty="0" smtClean="0"/>
              <a:t>Binary AND (ET binaire) : </a:t>
            </a:r>
            <a:r>
              <a:rPr lang="en-US" sz="2000" dirty="0"/>
              <a:t>c</a:t>
            </a:r>
            <a:r>
              <a:rPr lang="en-US" sz="2000" dirty="0" smtClean="0"/>
              <a:t>opie </a:t>
            </a:r>
            <a:r>
              <a:rPr lang="en-US" sz="2000" b="1" dirty="0" smtClean="0"/>
              <a:t>un bit </a:t>
            </a:r>
            <a:r>
              <a:rPr lang="en-US" sz="2000" dirty="0" smtClean="0"/>
              <a:t>dans le résultat, s’il existe dans les </a:t>
            </a:r>
            <a:r>
              <a:rPr lang="en-US" sz="2000" b="1" dirty="0" smtClean="0"/>
              <a:t>deux</a:t>
            </a:r>
            <a:r>
              <a:rPr lang="en-US" sz="2000" dirty="0" smtClean="0"/>
              <a:t> opérandes. </a:t>
            </a:r>
            <a:endParaRPr lang="en-US" sz="2000" dirty="0" smtClean="0"/>
          </a:p>
          <a:p>
            <a:pPr algn="l"/>
            <a:r>
              <a:rPr lang="en-US" sz="2000" b="1" dirty="0" smtClean="0"/>
              <a:t>Binary OR (OU binaire) : </a:t>
            </a:r>
            <a:r>
              <a:rPr lang="en-US" sz="2000" dirty="0" smtClean="0"/>
              <a:t>copie </a:t>
            </a:r>
            <a:r>
              <a:rPr lang="en-US" sz="2000" b="1" dirty="0" smtClean="0"/>
              <a:t>un</a:t>
            </a:r>
            <a:r>
              <a:rPr lang="en-US" sz="2000" dirty="0" smtClean="0"/>
              <a:t> </a:t>
            </a:r>
            <a:r>
              <a:rPr lang="en-US" sz="2000" b="1" dirty="0" smtClean="0"/>
              <a:t>bit</a:t>
            </a:r>
            <a:r>
              <a:rPr lang="en-US" sz="2000" dirty="0" smtClean="0"/>
              <a:t> s’il existe dans l’un ou l’autre des opérandes. </a:t>
            </a:r>
            <a:endParaRPr lang="en-US" sz="2000" dirty="0" smtClean="0"/>
          </a:p>
          <a:p>
            <a:pPr algn="l"/>
            <a:r>
              <a:rPr lang="en-US" sz="2000" b="1" dirty="0" smtClean="0"/>
              <a:t>Binary XOR : </a:t>
            </a:r>
            <a:r>
              <a:rPr lang="en-US" sz="2000" dirty="0"/>
              <a:t>c</a:t>
            </a:r>
            <a:r>
              <a:rPr lang="en-US" sz="2000" dirty="0" smtClean="0"/>
              <a:t>opie le </a:t>
            </a:r>
            <a:r>
              <a:rPr lang="en-US" sz="2000" dirty="0"/>
              <a:t>bit </a:t>
            </a:r>
            <a:r>
              <a:rPr lang="en-US" sz="2000" dirty="0" smtClean="0"/>
              <a:t>s’il est activé uniquement dans un opérande mais pas dans les deux. </a:t>
            </a:r>
            <a:endParaRPr lang="en-US" sz="2000" dirty="0"/>
          </a:p>
          <a:p>
            <a:pPr algn="l"/>
            <a:r>
              <a:rPr lang="en-US" sz="2000" dirty="0" smtClean="0"/>
              <a:t>Complément binaire à un : a pour effet de “</a:t>
            </a:r>
            <a:r>
              <a:rPr lang="en-US" sz="2000" b="1" dirty="0" smtClean="0"/>
              <a:t>retourner</a:t>
            </a:r>
            <a:r>
              <a:rPr lang="en-US" sz="2000" dirty="0" smtClean="0"/>
              <a:t>” les bits</a:t>
            </a:r>
            <a:r>
              <a:rPr lang="en-US" sz="2000" dirty="0"/>
              <a:t>.</a:t>
            </a:r>
            <a:endParaRPr lang="en-US" sz="2000" dirty="0"/>
          </a:p>
          <a:p>
            <a:pPr algn="l"/>
            <a:r>
              <a:rPr lang="en-US" sz="1800" b="1" dirty="0" smtClean="0"/>
              <a:t>Décalage binaire vers la gauche </a:t>
            </a:r>
            <a:r>
              <a:rPr lang="en-US" sz="1800" dirty="0" smtClean="0"/>
              <a:t>: la valeur de l’opérande de gauche est déplacée vers la gauche du nombre de bits spécifié par l’opérande de droite,</a:t>
            </a:r>
            <a:r>
              <a:rPr lang="en-US" sz="2000" dirty="0" smtClean="0"/>
              <a:t> </a:t>
            </a:r>
            <a:endParaRPr lang="en-US" sz="2000" dirty="0"/>
          </a:p>
          <a:p>
            <a:pPr algn="l"/>
            <a:endParaRPr lang="en-US" sz="1000" b="1" dirty="0" smtClean="0"/>
          </a:p>
          <a:p>
            <a:pPr algn="l"/>
            <a:r>
              <a:rPr lang="fr-FR" sz="1800" b="1" dirty="0"/>
              <a:t>Décalage binaire à droite </a:t>
            </a:r>
            <a:r>
              <a:rPr lang="fr-FR" sz="1800" dirty="0"/>
              <a:t>: La valeur de l'opérande de gauche est déplacée vers la droite du nombre de bits spécifié par l'opérande de droite. </a:t>
            </a:r>
            <a:r>
              <a:rPr lang="en-US" sz="2000" dirty="0"/>
              <a:t>	</a:t>
            </a:r>
            <a:endParaRPr lang="en-US" sz="2000" dirty="0"/>
          </a:p>
        </p:txBody>
      </p:sp>
      <p:sp>
        <p:nvSpPr>
          <p:cNvPr id="24" name="Rectangle 23"/>
          <p:cNvSpPr/>
          <p:nvPr/>
        </p:nvSpPr>
        <p:spPr>
          <a:xfrm>
            <a:off x="107503" y="2096852"/>
            <a:ext cx="756085" cy="4524315"/>
          </a:xfrm>
          <a:prstGeom prst="rect">
            <a:avLst/>
          </a:prstGeom>
        </p:spPr>
        <p:txBody>
          <a:bodyPr wrap="square">
            <a:spAutoFit/>
          </a:bodyPr>
          <a:lstStyle/>
          <a:p>
            <a:pPr algn="l"/>
            <a:r>
              <a:rPr lang="en-US" sz="2000" dirty="0"/>
              <a:t>&amp;</a:t>
            </a:r>
            <a:endParaRPr lang="en-US" sz="2000" dirty="0"/>
          </a:p>
          <a:p>
            <a:pPr algn="l"/>
            <a:r>
              <a:rPr lang="en-US" sz="2000" dirty="0"/>
              <a:t> </a:t>
            </a:r>
            <a:endParaRPr lang="en-US" sz="2000" dirty="0"/>
          </a:p>
          <a:p>
            <a:pPr algn="l"/>
            <a:r>
              <a:rPr lang="en-US" sz="2000" dirty="0"/>
              <a:t>|</a:t>
            </a:r>
            <a:endParaRPr lang="en-US" sz="2000" dirty="0"/>
          </a:p>
          <a:p>
            <a:pPr algn="l"/>
            <a:endParaRPr lang="en-US" sz="2000" dirty="0"/>
          </a:p>
          <a:p>
            <a:pPr algn="l"/>
            <a:r>
              <a:rPr lang="en-US" sz="2000" dirty="0"/>
              <a:t>^</a:t>
            </a:r>
            <a:endParaRPr lang="en-US" sz="2000" dirty="0"/>
          </a:p>
          <a:p>
            <a:pPr algn="l"/>
            <a:endParaRPr lang="en-US" sz="1000" dirty="0"/>
          </a:p>
          <a:p>
            <a:pPr algn="l"/>
            <a:r>
              <a:rPr lang="en-US" sz="2000" dirty="0"/>
              <a:t>~ 	</a:t>
            </a:r>
            <a:endParaRPr lang="en-US" sz="2000" dirty="0"/>
          </a:p>
          <a:p>
            <a:pPr algn="l"/>
            <a:endParaRPr lang="en-US" sz="2000" dirty="0" smtClean="0"/>
          </a:p>
          <a:p>
            <a:pPr algn="l"/>
            <a:r>
              <a:rPr lang="en-US" sz="2000" dirty="0" smtClean="0"/>
              <a:t>&lt;&lt; </a:t>
            </a:r>
            <a:r>
              <a:rPr lang="en-US" sz="2000" dirty="0"/>
              <a:t>	</a:t>
            </a:r>
            <a:endParaRPr lang="en-US" sz="2000" dirty="0"/>
          </a:p>
          <a:p>
            <a:pPr algn="l"/>
            <a:endParaRPr lang="en-US" sz="2000" dirty="0"/>
          </a:p>
          <a:p>
            <a:pPr algn="l"/>
            <a:r>
              <a:rPr lang="en-US" sz="2000" dirty="0"/>
              <a:t>&gt;&gt;</a:t>
            </a:r>
            <a:endParaRPr lang="en-US" sz="2000" dirty="0"/>
          </a:p>
        </p:txBody>
      </p:sp>
      <p:sp>
        <p:nvSpPr>
          <p:cNvPr id="4" name="Rectangle 3"/>
          <p:cNvSpPr/>
          <p:nvPr/>
        </p:nvSpPr>
        <p:spPr>
          <a:xfrm>
            <a:off x="0" y="1592796"/>
            <a:ext cx="8626280" cy="400110"/>
          </a:xfrm>
          <a:prstGeom prst="rect">
            <a:avLst/>
          </a:prstGeom>
        </p:spPr>
        <p:txBody>
          <a:bodyPr wrap="none">
            <a:spAutoFit/>
          </a:bodyPr>
          <a:lstStyle/>
          <a:p>
            <a:pPr algn="l"/>
            <a:r>
              <a:rPr lang="en-US" sz="2000" b="1" dirty="0"/>
              <a:t>Op. 	Description 						Example</a:t>
            </a:r>
            <a:endParaRPr lang="en-US" sz="2000" b="1" dirty="0"/>
          </a:p>
        </p:txBody>
      </p:sp>
      <p:sp>
        <p:nvSpPr>
          <p:cNvPr id="26" name="Rectangle 25"/>
          <p:cNvSpPr/>
          <p:nvPr/>
        </p:nvSpPr>
        <p:spPr>
          <a:xfrm>
            <a:off x="6084168" y="2024844"/>
            <a:ext cx="3708412" cy="769441"/>
          </a:xfrm>
          <a:prstGeom prst="rect">
            <a:avLst/>
          </a:prstGeom>
        </p:spPr>
        <p:txBody>
          <a:bodyPr wrap="square">
            <a:spAutoFit/>
          </a:bodyPr>
          <a:lstStyle/>
          <a:p>
            <a:r>
              <a:rPr lang="en-US" sz="2000" dirty="0"/>
              <a:t>(A &amp; B) = 0x2 </a:t>
            </a:r>
            <a:endParaRPr lang="en-US" sz="2000" dirty="0"/>
          </a:p>
          <a:p>
            <a:r>
              <a:rPr lang="en-US" sz="2000" dirty="0"/>
              <a:t>(0010)</a:t>
            </a:r>
            <a:endParaRPr lang="en-US" sz="2000" dirty="0"/>
          </a:p>
        </p:txBody>
      </p:sp>
      <p:sp>
        <p:nvSpPr>
          <p:cNvPr id="27" name="Rectangle 26"/>
          <p:cNvSpPr/>
          <p:nvPr/>
        </p:nvSpPr>
        <p:spPr>
          <a:xfrm>
            <a:off x="6084168" y="2695563"/>
            <a:ext cx="3708412" cy="769441"/>
          </a:xfrm>
          <a:prstGeom prst="rect">
            <a:avLst/>
          </a:prstGeom>
        </p:spPr>
        <p:txBody>
          <a:bodyPr wrap="square">
            <a:spAutoFit/>
          </a:bodyPr>
          <a:lstStyle/>
          <a:p>
            <a:r>
              <a:rPr lang="en-US" sz="2000" dirty="0"/>
              <a:t>(A | B) = 0x3 </a:t>
            </a:r>
            <a:endParaRPr lang="en-US" sz="2000" dirty="0"/>
          </a:p>
          <a:p>
            <a:r>
              <a:rPr lang="en-US" sz="2000" dirty="0"/>
              <a:t>(0011)</a:t>
            </a:r>
            <a:endParaRPr lang="en-US" sz="2000" dirty="0"/>
          </a:p>
        </p:txBody>
      </p:sp>
      <p:sp>
        <p:nvSpPr>
          <p:cNvPr id="28" name="Rectangle 27"/>
          <p:cNvSpPr/>
          <p:nvPr/>
        </p:nvSpPr>
        <p:spPr>
          <a:xfrm>
            <a:off x="6048164" y="3356992"/>
            <a:ext cx="3708412" cy="769441"/>
          </a:xfrm>
          <a:prstGeom prst="rect">
            <a:avLst/>
          </a:prstGeom>
        </p:spPr>
        <p:txBody>
          <a:bodyPr wrap="square">
            <a:spAutoFit/>
          </a:bodyPr>
          <a:lstStyle/>
          <a:p>
            <a:r>
              <a:rPr lang="en-US" sz="2000" dirty="0"/>
              <a:t>(A ^ B) = 0x1 </a:t>
            </a:r>
            <a:endParaRPr lang="en-US" sz="2000" dirty="0"/>
          </a:p>
          <a:p>
            <a:r>
              <a:rPr lang="en-US" sz="2000" dirty="0"/>
              <a:t>(0001)</a:t>
            </a:r>
            <a:endParaRPr lang="en-US" sz="2000" dirty="0"/>
          </a:p>
        </p:txBody>
      </p:sp>
      <p:sp>
        <p:nvSpPr>
          <p:cNvPr id="29" name="Rectangle 28"/>
          <p:cNvSpPr/>
          <p:nvPr/>
        </p:nvSpPr>
        <p:spPr>
          <a:xfrm>
            <a:off x="6012160" y="3969060"/>
            <a:ext cx="3708412" cy="769441"/>
          </a:xfrm>
          <a:prstGeom prst="rect">
            <a:avLst/>
          </a:prstGeom>
        </p:spPr>
        <p:txBody>
          <a:bodyPr wrap="square">
            <a:spAutoFit/>
          </a:bodyPr>
          <a:lstStyle/>
          <a:p>
            <a:r>
              <a:rPr lang="en-US" sz="2000" dirty="0"/>
              <a:t>(~A) = 0xC </a:t>
            </a:r>
            <a:endParaRPr lang="en-US" sz="2000" dirty="0"/>
          </a:p>
          <a:p>
            <a:r>
              <a:rPr lang="en-US" sz="2000" dirty="0"/>
              <a:t>(1100)</a:t>
            </a:r>
            <a:endParaRPr lang="en-US" sz="2000" dirty="0"/>
          </a:p>
        </p:txBody>
      </p:sp>
      <p:sp>
        <p:nvSpPr>
          <p:cNvPr id="30" name="Rectangle 29"/>
          <p:cNvSpPr/>
          <p:nvPr/>
        </p:nvSpPr>
        <p:spPr>
          <a:xfrm>
            <a:off x="6048164" y="4833156"/>
            <a:ext cx="3708412" cy="769441"/>
          </a:xfrm>
          <a:prstGeom prst="rect">
            <a:avLst/>
          </a:prstGeom>
        </p:spPr>
        <p:txBody>
          <a:bodyPr wrap="square">
            <a:spAutoFit/>
          </a:bodyPr>
          <a:lstStyle/>
          <a:p>
            <a:r>
              <a:rPr lang="en-US" sz="2000" dirty="0"/>
              <a:t>(A&lt;&lt;2) = 0xC </a:t>
            </a:r>
            <a:endParaRPr lang="en-US" sz="2000" dirty="0"/>
          </a:p>
          <a:p>
            <a:r>
              <a:rPr lang="en-US" sz="2000" dirty="0"/>
              <a:t>(1100)</a:t>
            </a:r>
            <a:endParaRPr lang="en-US" sz="2000" dirty="0"/>
          </a:p>
        </p:txBody>
      </p:sp>
      <p:sp>
        <p:nvSpPr>
          <p:cNvPr id="31" name="Rectangle 30"/>
          <p:cNvSpPr/>
          <p:nvPr/>
        </p:nvSpPr>
        <p:spPr>
          <a:xfrm>
            <a:off x="6192180" y="5769260"/>
            <a:ext cx="3708412" cy="769441"/>
          </a:xfrm>
          <a:prstGeom prst="rect">
            <a:avLst/>
          </a:prstGeom>
        </p:spPr>
        <p:txBody>
          <a:bodyPr wrap="square">
            <a:spAutoFit/>
          </a:bodyPr>
          <a:lstStyle/>
          <a:p>
            <a:r>
              <a:rPr lang="en-US" sz="2000" dirty="0"/>
              <a:t>(A&gt;&gt;2) = 0x0 </a:t>
            </a:r>
            <a:endParaRPr lang="en-US" sz="2000" dirty="0"/>
          </a:p>
          <a:p>
            <a:r>
              <a:rPr lang="en-US" sz="2000" dirty="0"/>
              <a:t>(0000)</a:t>
            </a:r>
            <a:endParaRPr lang="en-US" sz="2000" dirty="0"/>
          </a:p>
        </p:txBody>
      </p:sp>
      <p:sp>
        <p:nvSpPr>
          <p:cNvPr id="32" name="Espace réservé du contenu 2"/>
          <p:cNvSpPr>
            <a:spLocks noGrp="1"/>
          </p:cNvSpPr>
          <p:nvPr>
            <p:ph idx="1"/>
          </p:nvPr>
        </p:nvSpPr>
        <p:spPr>
          <a:xfrm>
            <a:off x="143508" y="692696"/>
            <a:ext cx="9361040" cy="930424"/>
          </a:xfrm>
        </p:spPr>
        <p:txBody>
          <a:bodyPr/>
          <a:lstStyle/>
          <a:p>
            <a:r>
              <a:rPr lang="fr-FR" sz="2000" b="1" dirty="0">
                <a:latin typeface="Arial" panose="020B0604020202020204" pitchFamily="34" charset="0"/>
                <a:cs typeface="MS PGothic" panose="020B0600070205080204" charset="-128"/>
              </a:rPr>
              <a:t>Les opérandes sont des </a:t>
            </a:r>
            <a:r>
              <a:rPr lang="fr-FR" sz="2000" b="1" dirty="0" smtClean="0">
                <a:latin typeface="Arial" panose="020B0604020202020204" pitchFamily="34" charset="0"/>
                <a:cs typeface="MS PGothic" panose="020B0600070205080204" charset="-128"/>
              </a:rPr>
              <a:t>intégrales </a:t>
            </a:r>
            <a:r>
              <a:rPr lang="en-GB" dirty="0" smtClean="0">
                <a:latin typeface="Arial" panose="020B0604020202020204" pitchFamily="34" charset="0"/>
                <a:cs typeface="MS PGothic" panose="020B0600070205080204" charset="-128"/>
              </a:rPr>
              <a:t>(</a:t>
            </a:r>
            <a:r>
              <a:rPr lang="en-GB" b="1" dirty="0" smtClean="0">
                <a:latin typeface="Courier New" panose="02070309020205020404"/>
                <a:cs typeface="Courier New" panose="02070309020205020404"/>
              </a:rPr>
              <a:t>short,int,unsigned,etc</a:t>
            </a:r>
            <a:r>
              <a:rPr lang="en-GB" b="1" dirty="0">
                <a:latin typeface="Courier New" panose="02070309020205020404"/>
                <a:cs typeface="Courier New" panose="02070309020205020404"/>
              </a:rPr>
              <a:t>)</a:t>
            </a:r>
            <a:endParaRPr lang="en-GB" dirty="0">
              <a:latin typeface="Arial" panose="020B0604020202020204" pitchFamily="34" charset="0"/>
              <a:cs typeface="MS PGothic" panose="020B0600070205080204" charset="-128"/>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Opérateurs d'assignation</a:t>
            </a:r>
            <a:endParaRPr lang="en-US" sz="2800" dirty="0"/>
          </a:p>
        </p:txBody>
      </p:sp>
      <p:sp>
        <p:nvSpPr>
          <p:cNvPr id="5" name="Slide Number Placeholder 4"/>
          <p:cNvSpPr>
            <a:spLocks noGrp="1"/>
          </p:cNvSpPr>
          <p:nvPr>
            <p:ph type="sldNum" sz="quarter" idx="11"/>
          </p:nvPr>
        </p:nvSpPr>
        <p:spPr/>
        <p:txBody>
          <a:bodyPr/>
          <a:lstStyle/>
          <a:p>
            <a:pPr lvl="2"/>
            <a:fld id="{28BEB0BA-EEE4-5F45-9179-3BC54B76BCCF}" type="slidenum">
              <a:rPr lang="fr-FR" smtClean="0"/>
            </a:fld>
            <a:endParaRPr lang="fr-FR"/>
          </a:p>
        </p:txBody>
      </p:sp>
      <p:cxnSp>
        <p:nvCxnSpPr>
          <p:cNvPr id="7" name="Straight Connector 6"/>
          <p:cNvCxnSpPr/>
          <p:nvPr/>
        </p:nvCxnSpPr>
        <p:spPr bwMode="auto">
          <a:xfrm>
            <a:off x="0" y="1606148"/>
            <a:ext cx="9036496" cy="0"/>
          </a:xfrm>
          <a:prstGeom prst="line">
            <a:avLst/>
          </a:prstGeom>
          <a:noFill/>
          <a:ln w="6350" cap="flat" cmpd="sng" algn="ctr">
            <a:solidFill>
              <a:srgbClr val="000208"/>
            </a:solidFill>
            <a:prstDash val="solid"/>
            <a:round/>
            <a:headEnd type="none" w="lg" len="lg"/>
            <a:tailEnd type="none"/>
          </a:ln>
          <a:effectLst/>
        </p:spPr>
      </p:cxnSp>
      <p:cxnSp>
        <p:nvCxnSpPr>
          <p:cNvPr id="8" name="Straight Connector 7"/>
          <p:cNvCxnSpPr/>
          <p:nvPr/>
        </p:nvCxnSpPr>
        <p:spPr bwMode="auto">
          <a:xfrm>
            <a:off x="719572" y="1095215"/>
            <a:ext cx="0" cy="5160648"/>
          </a:xfrm>
          <a:prstGeom prst="line">
            <a:avLst/>
          </a:prstGeom>
          <a:noFill/>
          <a:ln w="6350" cap="flat" cmpd="sng" algn="ctr">
            <a:solidFill>
              <a:srgbClr val="000208"/>
            </a:solidFill>
            <a:prstDash val="solid"/>
            <a:round/>
            <a:headEnd type="none" w="lg" len="lg"/>
            <a:tailEnd type="none"/>
          </a:ln>
          <a:effectLst/>
        </p:spPr>
      </p:cxnSp>
      <p:cxnSp>
        <p:nvCxnSpPr>
          <p:cNvPr id="10" name="Straight Connector 9"/>
          <p:cNvCxnSpPr/>
          <p:nvPr/>
        </p:nvCxnSpPr>
        <p:spPr bwMode="auto">
          <a:xfrm>
            <a:off x="6768244" y="1212724"/>
            <a:ext cx="0" cy="5276616"/>
          </a:xfrm>
          <a:prstGeom prst="line">
            <a:avLst/>
          </a:prstGeom>
          <a:noFill/>
          <a:ln w="6350" cap="flat" cmpd="sng" algn="ctr">
            <a:solidFill>
              <a:srgbClr val="000208"/>
            </a:solidFill>
            <a:prstDash val="solid"/>
            <a:round/>
            <a:headEnd type="none" w="lg" len="lg"/>
            <a:tailEnd type="none"/>
          </a:ln>
          <a:effectLst/>
        </p:spPr>
      </p:cxnSp>
      <p:sp>
        <p:nvSpPr>
          <p:cNvPr id="13" name="Rectangle 12"/>
          <p:cNvSpPr/>
          <p:nvPr/>
        </p:nvSpPr>
        <p:spPr>
          <a:xfrm>
            <a:off x="5364088" y="836712"/>
            <a:ext cx="3708412" cy="400110"/>
          </a:xfrm>
          <a:prstGeom prst="rect">
            <a:avLst/>
          </a:prstGeom>
        </p:spPr>
        <p:txBody>
          <a:bodyPr wrap="square">
            <a:spAutoFit/>
          </a:bodyPr>
          <a:lstStyle/>
          <a:p>
            <a:r>
              <a:rPr lang="en-US" sz="2000" dirty="0"/>
              <a:t>A = 10, B = 20</a:t>
            </a:r>
            <a:endParaRPr lang="en-US" sz="2000" dirty="0"/>
          </a:p>
        </p:txBody>
      </p:sp>
      <p:cxnSp>
        <p:nvCxnSpPr>
          <p:cNvPr id="19" name="Straight Connector 18"/>
          <p:cNvCxnSpPr/>
          <p:nvPr/>
        </p:nvCxnSpPr>
        <p:spPr bwMode="auto">
          <a:xfrm>
            <a:off x="-508" y="2276872"/>
            <a:ext cx="9036496" cy="0"/>
          </a:xfrm>
          <a:prstGeom prst="line">
            <a:avLst/>
          </a:prstGeom>
          <a:noFill/>
          <a:ln w="6350" cap="flat" cmpd="sng" algn="ctr">
            <a:solidFill>
              <a:srgbClr val="000208"/>
            </a:solidFill>
            <a:prstDash val="solid"/>
            <a:round/>
            <a:headEnd type="none" w="lg" len="lg"/>
            <a:tailEnd type="none"/>
          </a:ln>
          <a:effectLst/>
        </p:spPr>
      </p:cxnSp>
      <p:sp>
        <p:nvSpPr>
          <p:cNvPr id="3" name="Rectangle 2"/>
          <p:cNvSpPr/>
          <p:nvPr/>
        </p:nvSpPr>
        <p:spPr>
          <a:xfrm>
            <a:off x="683568" y="1564335"/>
            <a:ext cx="5976664" cy="3724096"/>
          </a:xfrm>
          <a:prstGeom prst="rect">
            <a:avLst/>
          </a:prstGeom>
        </p:spPr>
        <p:txBody>
          <a:bodyPr wrap="square">
            <a:spAutoFit/>
          </a:bodyPr>
          <a:lstStyle/>
          <a:p>
            <a:pPr algn="l"/>
            <a:r>
              <a:rPr lang="fr-FR" sz="1800" dirty="0"/>
              <a:t>Opérateur d'affectation simple. Affecte les valeurs des opérandes de droite aux opérandes de gauche.</a:t>
            </a:r>
            <a:endParaRPr lang="en-US" sz="1800" dirty="0" smtClean="0"/>
          </a:p>
          <a:p>
            <a:pPr algn="l"/>
            <a:endParaRPr lang="en-US" sz="2000" dirty="0" smtClean="0"/>
          </a:p>
          <a:p>
            <a:pPr algn="l"/>
            <a:endParaRPr lang="en-US" sz="2000" dirty="0"/>
          </a:p>
          <a:p>
            <a:pPr algn="l"/>
            <a:endParaRPr lang="en-US" sz="2000" dirty="0"/>
          </a:p>
          <a:p>
            <a:pPr algn="l"/>
            <a:r>
              <a:rPr lang="en-US" sz="2000" dirty="0"/>
              <a:t>In </a:t>
            </a:r>
            <a:r>
              <a:rPr lang="en-US" sz="2000" dirty="0" smtClean="0"/>
              <a:t>peut être combine avec les autres opérateurs arithmétiques (+, </a:t>
            </a:r>
            <a:r>
              <a:rPr lang="en-US" sz="2000" dirty="0"/>
              <a:t>-, *, \, %) </a:t>
            </a:r>
            <a:r>
              <a:rPr lang="en-US" sz="2000" dirty="0" smtClean="0"/>
              <a:t>et les opérateurs binaires </a:t>
            </a:r>
            <a:r>
              <a:rPr lang="en-US" sz="2000" dirty="0"/>
              <a:t>(&amp;, |, ^, &lt;&lt;,&gt;&gt;).  </a:t>
            </a:r>
            <a:endParaRPr lang="en-US" sz="2000" dirty="0"/>
          </a:p>
          <a:p>
            <a:pPr algn="l"/>
            <a:r>
              <a:rPr lang="fr-FR" sz="2000" dirty="0"/>
              <a:t>Il effectue l'opération arithmétique avec l'opérande de droite et l'opérande de gauche et assigne le résultat à l'opérande de gauche.</a:t>
            </a:r>
            <a:endParaRPr lang="en-US" sz="2000" dirty="0"/>
          </a:p>
        </p:txBody>
      </p:sp>
      <p:sp>
        <p:nvSpPr>
          <p:cNvPr id="24" name="Rectangle 23"/>
          <p:cNvSpPr/>
          <p:nvPr/>
        </p:nvSpPr>
        <p:spPr>
          <a:xfrm>
            <a:off x="107504" y="1664804"/>
            <a:ext cx="1116124" cy="4462760"/>
          </a:xfrm>
          <a:prstGeom prst="rect">
            <a:avLst/>
          </a:prstGeom>
        </p:spPr>
        <p:txBody>
          <a:bodyPr wrap="square">
            <a:spAutoFit/>
          </a:bodyPr>
          <a:lstStyle/>
          <a:p>
            <a:pPr algn="l"/>
            <a:r>
              <a:rPr lang="en-US" sz="2000" dirty="0"/>
              <a:t>=</a:t>
            </a:r>
            <a:endParaRPr lang="en-US" sz="2000" dirty="0"/>
          </a:p>
          <a:p>
            <a:pPr algn="l"/>
            <a:r>
              <a:rPr lang="en-US" sz="2000" dirty="0"/>
              <a:t> 	</a:t>
            </a:r>
            <a:endParaRPr lang="en-US" sz="2000" dirty="0"/>
          </a:p>
          <a:p>
            <a:pPr algn="l"/>
            <a:r>
              <a:rPr lang="en-US" sz="2000" dirty="0"/>
              <a:t>+=</a:t>
            </a:r>
            <a:endParaRPr lang="en-US" sz="2000" dirty="0"/>
          </a:p>
          <a:p>
            <a:pPr algn="l"/>
            <a:r>
              <a:rPr lang="en-US" sz="2000" dirty="0"/>
              <a:t>-=</a:t>
            </a:r>
            <a:endParaRPr lang="en-US" sz="2000" dirty="0"/>
          </a:p>
          <a:p>
            <a:pPr algn="l"/>
            <a:r>
              <a:rPr lang="en-US" sz="2000" dirty="0"/>
              <a:t>*=</a:t>
            </a:r>
            <a:endParaRPr lang="en-US" sz="2000" dirty="0"/>
          </a:p>
          <a:p>
            <a:pPr algn="l"/>
            <a:r>
              <a:rPr lang="en-US" sz="2000" dirty="0"/>
              <a:t>\=</a:t>
            </a:r>
            <a:endParaRPr lang="en-US" sz="2000" dirty="0"/>
          </a:p>
          <a:p>
            <a:pPr algn="l"/>
            <a:r>
              <a:rPr lang="en-US" sz="2000" dirty="0"/>
              <a:t>%=</a:t>
            </a:r>
            <a:endParaRPr lang="en-US" sz="2000" dirty="0"/>
          </a:p>
          <a:p>
            <a:pPr algn="l"/>
            <a:r>
              <a:rPr lang="en-US" sz="2000" dirty="0"/>
              <a:t>&amp;=</a:t>
            </a:r>
            <a:endParaRPr lang="en-US" sz="2000" dirty="0"/>
          </a:p>
          <a:p>
            <a:pPr algn="l"/>
            <a:r>
              <a:rPr lang="en-US" sz="2000" dirty="0"/>
              <a:t>|=</a:t>
            </a:r>
            <a:endParaRPr lang="en-US" sz="2000" dirty="0"/>
          </a:p>
          <a:p>
            <a:pPr algn="l"/>
            <a:r>
              <a:rPr lang="en-US" sz="2000" dirty="0"/>
              <a:t>^=</a:t>
            </a:r>
            <a:endParaRPr lang="en-US" sz="2000" dirty="0"/>
          </a:p>
          <a:p>
            <a:pPr algn="l"/>
            <a:r>
              <a:rPr lang="en-US" sz="2000" dirty="0"/>
              <a:t>&lt;&lt;=</a:t>
            </a:r>
            <a:endParaRPr lang="en-US" sz="2000" dirty="0"/>
          </a:p>
          <a:p>
            <a:pPr algn="l"/>
            <a:r>
              <a:rPr lang="en-US" sz="2000" dirty="0"/>
              <a:t>&gt;&gt;=</a:t>
            </a:r>
            <a:endParaRPr lang="en-US" sz="2000" dirty="0"/>
          </a:p>
        </p:txBody>
      </p:sp>
      <p:sp>
        <p:nvSpPr>
          <p:cNvPr id="4" name="Rectangle 3"/>
          <p:cNvSpPr/>
          <p:nvPr/>
        </p:nvSpPr>
        <p:spPr>
          <a:xfrm>
            <a:off x="0" y="1160748"/>
            <a:ext cx="8626280" cy="400110"/>
          </a:xfrm>
          <a:prstGeom prst="rect">
            <a:avLst/>
          </a:prstGeom>
        </p:spPr>
        <p:txBody>
          <a:bodyPr wrap="none">
            <a:spAutoFit/>
          </a:bodyPr>
          <a:lstStyle/>
          <a:p>
            <a:pPr algn="l"/>
            <a:r>
              <a:rPr lang="en-US" sz="2000" b="1" dirty="0"/>
              <a:t>Op. 	Description 						Example</a:t>
            </a:r>
            <a:endParaRPr lang="en-US" sz="2000" b="1" dirty="0"/>
          </a:p>
        </p:txBody>
      </p:sp>
      <p:sp>
        <p:nvSpPr>
          <p:cNvPr id="26" name="Rectangle 25"/>
          <p:cNvSpPr/>
          <p:nvPr/>
        </p:nvSpPr>
        <p:spPr>
          <a:xfrm>
            <a:off x="6084168" y="1592796"/>
            <a:ext cx="3708412" cy="769441"/>
          </a:xfrm>
          <a:prstGeom prst="rect">
            <a:avLst/>
          </a:prstGeom>
        </p:spPr>
        <p:txBody>
          <a:bodyPr wrap="square">
            <a:spAutoFit/>
          </a:bodyPr>
          <a:lstStyle/>
          <a:p>
            <a:r>
              <a:rPr lang="en-US" sz="2000" dirty="0"/>
              <a:t>C = A + B</a:t>
            </a:r>
            <a:endParaRPr lang="en-US" sz="2000" dirty="0"/>
          </a:p>
          <a:p>
            <a:r>
              <a:rPr lang="en-US" sz="2000" dirty="0"/>
              <a:t>C = 30 </a:t>
            </a:r>
            <a:endParaRPr lang="en-US" sz="2000" dirty="0"/>
          </a:p>
        </p:txBody>
      </p:sp>
      <p:sp>
        <p:nvSpPr>
          <p:cNvPr id="28" name="Rectangle 27"/>
          <p:cNvSpPr/>
          <p:nvPr/>
        </p:nvSpPr>
        <p:spPr>
          <a:xfrm>
            <a:off x="6840252" y="2924944"/>
            <a:ext cx="2340260" cy="1508105"/>
          </a:xfrm>
          <a:prstGeom prst="rect">
            <a:avLst/>
          </a:prstGeom>
        </p:spPr>
        <p:txBody>
          <a:bodyPr wrap="square">
            <a:spAutoFit/>
          </a:bodyPr>
          <a:lstStyle/>
          <a:p>
            <a:endParaRPr lang="en-US" sz="2000" dirty="0"/>
          </a:p>
          <a:p>
            <a:endParaRPr lang="en-US" sz="2000" dirty="0"/>
          </a:p>
          <a:p>
            <a:r>
              <a:rPr lang="en-US" sz="2000" dirty="0"/>
              <a:t>A += 1</a:t>
            </a:r>
            <a:endParaRPr lang="en-US" sz="2000" dirty="0"/>
          </a:p>
          <a:p>
            <a:r>
              <a:rPr lang="en-US" sz="2000" dirty="0"/>
              <a:t>A = 11 </a:t>
            </a:r>
            <a:endParaRPr lang="en-US" sz="2000" dirty="0"/>
          </a:p>
        </p:txBody>
      </p:sp>
      <p:sp>
        <p:nvSpPr>
          <p:cNvPr id="15"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re 1"/>
          <p:cNvSpPr>
            <a:spLocks noGrp="1"/>
          </p:cNvSpPr>
          <p:nvPr>
            <p:ph type="title"/>
          </p:nvPr>
        </p:nvSpPr>
        <p:spPr/>
        <p:txBody>
          <a:bodyPr/>
          <a:lstStyle/>
          <a:p>
            <a:r>
              <a:rPr lang="fr-FR" sz="2800" dirty="0">
                <a:latin typeface="Arial" panose="020B0604020202020204" pitchFamily="34" charset="0"/>
                <a:cs typeface="MS PGothic" panose="020B0600070205080204" charset="-128"/>
              </a:rPr>
              <a:t>Erreur courante : Affectation Vs Test</a:t>
            </a:r>
            <a:endParaRPr lang="fr-FR" sz="2800" dirty="0">
              <a:latin typeface="Arial" panose="020B0604020202020204" pitchFamily="34" charset="0"/>
              <a:ea typeface="MS PGothic" panose="020B0600070205080204" charset="-128"/>
              <a:cs typeface="MS PGothic" panose="020B0600070205080204" charset="-128"/>
            </a:endParaRPr>
          </a:p>
        </p:txBody>
      </p:sp>
      <p:sp>
        <p:nvSpPr>
          <p:cNvPr id="81922" name="Espace réservé du contenu 2"/>
          <p:cNvSpPr>
            <a:spLocks noGrp="1"/>
          </p:cNvSpPr>
          <p:nvPr>
            <p:ph idx="1"/>
          </p:nvPr>
        </p:nvSpPr>
        <p:spPr/>
        <p:txBody>
          <a:bodyPr/>
          <a:lstStyle/>
          <a:p>
            <a:r>
              <a:rPr lang="en-GB" b="1" dirty="0">
                <a:latin typeface="Courier"/>
                <a:cs typeface="Courier"/>
              </a:rPr>
              <a:t>Affectation : nom_variable = expression ;</a:t>
            </a:r>
            <a:endParaRPr lang="en-GB" b="1" dirty="0">
              <a:latin typeface="Courier"/>
              <a:cs typeface="Courier"/>
            </a:endParaRPr>
          </a:p>
          <a:p>
            <a:pPr lvl="1"/>
            <a:r>
              <a:rPr lang="en-GB" b="1" dirty="0">
                <a:latin typeface="Courier"/>
                <a:cs typeface="Courier"/>
              </a:rPr>
              <a:t>x=3;</a:t>
            </a:r>
            <a:endParaRPr lang="en-GB" b="1" dirty="0">
              <a:latin typeface="Courier"/>
              <a:cs typeface="Courier"/>
            </a:endParaRPr>
          </a:p>
          <a:p>
            <a:pPr lvl="1"/>
            <a:r>
              <a:rPr lang="en-GB" dirty="0" smtClean="0">
                <a:cs typeface="Courier"/>
              </a:rPr>
              <a:t>C’est une expression qui stocke la </a:t>
            </a:r>
            <a:r>
              <a:rPr lang="en-GB" dirty="0">
                <a:cs typeface="Courier"/>
              </a:rPr>
              <a:t>value 3 </a:t>
            </a:r>
            <a:r>
              <a:rPr lang="en-GB" dirty="0" smtClean="0">
                <a:cs typeface="Courier"/>
              </a:rPr>
              <a:t>à la </a:t>
            </a:r>
            <a:r>
              <a:rPr lang="en-GB" dirty="0">
                <a:cs typeface="Courier"/>
              </a:rPr>
              <a:t>variable </a:t>
            </a:r>
            <a:r>
              <a:rPr lang="en-GB" b="1" dirty="0">
                <a:latin typeface="Courier"/>
                <a:cs typeface="Courier"/>
              </a:rPr>
              <a:t>x</a:t>
            </a:r>
            <a:endParaRPr lang="en-GB" b="1" dirty="0">
              <a:latin typeface="Courier"/>
              <a:cs typeface="Courier"/>
            </a:endParaRPr>
          </a:p>
          <a:p>
            <a:pPr lvl="1"/>
            <a:endParaRPr lang="en-GB" b="1" dirty="0">
              <a:latin typeface="Courier"/>
              <a:cs typeface="Courier"/>
            </a:endParaRPr>
          </a:p>
          <a:p>
            <a:r>
              <a:rPr lang="en-GB" dirty="0">
                <a:cs typeface="Courier"/>
              </a:rPr>
              <a:t>Test </a:t>
            </a:r>
            <a:r>
              <a:rPr lang="en-GB" dirty="0" smtClean="0">
                <a:cs typeface="Courier"/>
              </a:rPr>
              <a:t>d’égalité : </a:t>
            </a:r>
            <a:r>
              <a:rPr lang="en-GB" b="1" dirty="0">
                <a:latin typeface="Courier"/>
                <a:cs typeface="Courier"/>
              </a:rPr>
              <a:t>expression1 == expression2 ;</a:t>
            </a:r>
            <a:endParaRPr lang="en-GB" dirty="0">
              <a:cs typeface="Courier"/>
            </a:endParaRPr>
          </a:p>
          <a:p>
            <a:pPr lvl="1"/>
            <a:r>
              <a:rPr lang="en-GB" b="1" dirty="0">
                <a:latin typeface="Courier"/>
                <a:cs typeface="Courier"/>
              </a:rPr>
              <a:t>x==3;</a:t>
            </a:r>
            <a:endParaRPr lang="en-GB" b="1" dirty="0">
              <a:latin typeface="Courier"/>
              <a:cs typeface="Courier"/>
            </a:endParaRPr>
          </a:p>
          <a:p>
            <a:pPr lvl="1"/>
            <a:r>
              <a:rPr lang="en-GB" dirty="0" smtClean="0">
                <a:cs typeface="Courier"/>
              </a:rPr>
              <a:t>Elle renvoie 1 </a:t>
            </a:r>
            <a:r>
              <a:rPr lang="en-GB" dirty="0" err="1" smtClean="0">
                <a:cs typeface="Courier"/>
              </a:rPr>
              <a:t>si</a:t>
            </a:r>
            <a:r>
              <a:rPr lang="en-GB" dirty="0" smtClean="0">
                <a:cs typeface="Courier"/>
              </a:rPr>
              <a:t> la valeur stockée dans </a:t>
            </a:r>
            <a:r>
              <a:rPr lang="en-GB" b="1" dirty="0">
                <a:latin typeface="Courier"/>
                <a:cs typeface="Courier"/>
              </a:rPr>
              <a:t>x </a:t>
            </a:r>
            <a:r>
              <a:rPr lang="en-GB" dirty="0" smtClean="0">
                <a:cs typeface="Courier"/>
              </a:rPr>
              <a:t>est </a:t>
            </a:r>
            <a:r>
              <a:rPr lang="en-GB" dirty="0">
                <a:cs typeface="Courier"/>
              </a:rPr>
              <a:t>equal à</a:t>
            </a:r>
            <a:r>
              <a:rPr lang="en-GB" dirty="0" smtClean="0">
                <a:cs typeface="Courier"/>
              </a:rPr>
              <a:t> </a:t>
            </a:r>
            <a:r>
              <a:rPr lang="en-GB" dirty="0">
                <a:cs typeface="Courier"/>
              </a:rPr>
              <a:t>3, </a:t>
            </a:r>
            <a:r>
              <a:rPr lang="en-GB" dirty="0" smtClean="0">
                <a:cs typeface="Courier"/>
              </a:rPr>
              <a:t>sinon </a:t>
            </a:r>
            <a:r>
              <a:rPr lang="en-GB" dirty="0">
                <a:cs typeface="Courier"/>
              </a:rPr>
              <a:t>0</a:t>
            </a:r>
            <a:endParaRPr lang="en-GB" dirty="0">
              <a:cs typeface="Courier"/>
            </a:endParaRPr>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grpSp>
        <p:nvGrpSpPr>
          <p:cNvPr id="7" name="Group 6"/>
          <p:cNvGrpSpPr/>
          <p:nvPr/>
        </p:nvGrpSpPr>
        <p:grpSpPr>
          <a:xfrm>
            <a:off x="3167844" y="3897052"/>
            <a:ext cx="3384376" cy="1728192"/>
            <a:chOff x="5412568" y="2636912"/>
            <a:chExt cx="3384376" cy="1728192"/>
          </a:xfrm>
        </p:grpSpPr>
        <p:sp>
          <p:nvSpPr>
            <p:cNvPr id="8" name="Rectangle 7"/>
            <p:cNvSpPr/>
            <p:nvPr/>
          </p:nvSpPr>
          <p:spPr bwMode="auto">
            <a:xfrm>
              <a:off x="5436096" y="2636912"/>
              <a:ext cx="3360848" cy="1728192"/>
            </a:xfrm>
            <a:prstGeom prst="rect">
              <a:avLst/>
            </a:prstGeom>
            <a:solidFill>
              <a:srgbClr val="FFFFFF"/>
            </a:solidFill>
            <a:ln w="38100" cap="flat" cmpd="sng" algn="ctr">
              <a:solidFill>
                <a:srgbClr val="FF0000"/>
              </a:solidFill>
              <a:prstDash val="solid"/>
              <a:round/>
              <a:headEnd type="none" w="lg" len="lg"/>
              <a:tailEnd type="none" w="med" len="med"/>
            </a:ln>
            <a:effectLst/>
          </p:spPr>
          <p:txBody>
            <a:bodyPr vert="horz" wrap="none" lIns="92075" tIns="46038" rIns="92075" bIns="46038" numCol="1" rtlCol="0" anchor="ctr" anchorCtr="0" compatLnSpc="1">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9" name="TextBox 8"/>
            <p:cNvSpPr txBox="1"/>
            <p:nvPr/>
          </p:nvSpPr>
          <p:spPr>
            <a:xfrm>
              <a:off x="5412568" y="2852936"/>
              <a:ext cx="3384376" cy="904863"/>
            </a:xfrm>
            <a:prstGeom prst="rect">
              <a:avLst/>
            </a:prstGeom>
            <a:noFill/>
          </p:spPr>
          <p:txBody>
            <a:bodyPr wrap="square" rtlCol="0">
              <a:spAutoFit/>
            </a:bodyPr>
            <a:lstStyle/>
            <a:p>
              <a:r>
                <a:rPr lang="en-US" sz="2400" b="1" dirty="0" smtClean="0">
                  <a:solidFill>
                    <a:srgbClr val="FF0000"/>
                  </a:solidFill>
                </a:rPr>
                <a:t>ATTENTION : </a:t>
              </a:r>
              <a:endParaRPr lang="en-US" sz="2400" b="1" dirty="0">
                <a:solidFill>
                  <a:srgbClr val="FF0000"/>
                </a:solidFill>
              </a:endParaRPr>
            </a:p>
            <a:p>
              <a:r>
                <a:rPr lang="en-US" sz="2400" b="1" dirty="0">
                  <a:solidFill>
                    <a:srgbClr val="FF0000"/>
                  </a:solidFill>
                </a:rPr>
                <a:t>= </a:t>
              </a:r>
              <a:r>
                <a:rPr lang="en-US" sz="2400" b="1" dirty="0" smtClean="0">
                  <a:solidFill>
                    <a:srgbClr val="FF0000"/>
                  </a:solidFill>
                </a:rPr>
                <a:t>et </a:t>
              </a:r>
              <a:r>
                <a:rPr lang="en-US" sz="2400" b="1" dirty="0">
                  <a:solidFill>
                    <a:srgbClr val="FF0000"/>
                  </a:solidFill>
                </a:rPr>
                <a:t>== </a:t>
              </a:r>
              <a:r>
                <a:rPr lang="en-US" sz="2400" b="1" dirty="0" smtClean="0">
                  <a:solidFill>
                    <a:srgbClr val="FF0000"/>
                  </a:solidFill>
                </a:rPr>
                <a:t>sont différent </a:t>
              </a:r>
              <a:r>
                <a:rPr lang="en-US" sz="2400" b="1" dirty="0">
                  <a:solidFill>
                    <a:srgbClr val="FF0000"/>
                  </a:solidFill>
                </a:rPr>
                <a:t>!</a:t>
              </a:r>
              <a:endParaRPr lang="en-US" sz="2400" b="1" dirty="0">
                <a:solidFill>
                  <a:srgbClr val="FF0000"/>
                </a:solidFill>
              </a:endParaRPr>
            </a:p>
          </p:txBody>
        </p:sp>
      </p:grpSp>
      <p:sp>
        <p:nvSpPr>
          <p:cNvPr id="10"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2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2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2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err="1" smtClean="0"/>
              <a:t>Allons</a:t>
            </a:r>
            <a:r>
              <a:rPr lang="en-US" sz="2800" dirty="0" smtClean="0"/>
              <a:t>…</a:t>
            </a:r>
            <a:endParaRPr lang="en-US" sz="2800" dirty="0"/>
          </a:p>
        </p:txBody>
      </p:sp>
      <p:sp>
        <p:nvSpPr>
          <p:cNvPr id="3" name="Content Placeholder 2"/>
          <p:cNvSpPr>
            <a:spLocks noGrp="1"/>
          </p:cNvSpPr>
          <p:nvPr>
            <p:ph idx="1"/>
          </p:nvPr>
        </p:nvSpPr>
        <p:spPr>
          <a:xfrm>
            <a:off x="1979712" y="2312876"/>
            <a:ext cx="4716524" cy="1404156"/>
          </a:xfrm>
        </p:spPr>
        <p:txBody>
          <a:bodyPr/>
          <a:lstStyle/>
          <a:p>
            <a:pPr marL="0" indent="0" algn="ctr">
              <a:buNone/>
            </a:pPr>
            <a:r>
              <a:rPr lang="en-US" sz="3200" b="1" dirty="0">
                <a:solidFill>
                  <a:srgbClr val="800000"/>
                </a:solidFill>
              </a:rPr>
              <a:t>Kahoot time !</a:t>
            </a:r>
            <a:endParaRPr lang="en-US" sz="3200" b="1" dirty="0">
              <a:solidFill>
                <a:srgbClr val="800000"/>
              </a:solidFill>
            </a:endParaRPr>
          </a:p>
          <a:p>
            <a:pPr marL="0" indent="0" algn="ctr">
              <a:buNone/>
            </a:pPr>
            <a:r>
              <a:rPr lang="en-US" sz="3200" b="1" dirty="0">
                <a:solidFill>
                  <a:srgbClr val="800000"/>
                </a:solidFill>
              </a:rPr>
              <a:t>(6 Q)</a:t>
            </a:r>
            <a:endParaRPr lang="en-US" sz="3200" b="1" dirty="0">
              <a:solidFill>
                <a:srgbClr val="800000"/>
              </a:solidFill>
            </a:endParaRPr>
          </a:p>
        </p:txBody>
      </p:sp>
      <p:sp>
        <p:nvSpPr>
          <p:cNvPr id="7"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6"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re 1"/>
          <p:cNvSpPr>
            <a:spLocks noGrp="1"/>
          </p:cNvSpPr>
          <p:nvPr>
            <p:ph type="title"/>
          </p:nvPr>
        </p:nvSpPr>
        <p:spPr>
          <a:xfrm>
            <a:off x="-36512" y="116632"/>
            <a:ext cx="9595792" cy="533400"/>
          </a:xfrm>
        </p:spPr>
        <p:txBody>
          <a:bodyPr/>
          <a:lstStyle/>
          <a:p>
            <a:r>
              <a:rPr lang="fr-FR" sz="2200" dirty="0">
                <a:latin typeface="Arial" panose="020B0604020202020204" pitchFamily="34" charset="0"/>
                <a:cs typeface="MS PGothic" panose="020B0600070205080204" charset="-128"/>
              </a:rPr>
              <a:t>Alors, que se passe-t-il si on mélange les types dans une opération</a:t>
            </a:r>
            <a:r>
              <a:rPr lang="fr-FR" sz="2200" dirty="0" smtClean="0">
                <a:latin typeface="Arial" panose="020B0604020202020204" pitchFamily="34" charset="0"/>
                <a:cs typeface="MS PGothic" panose="020B0600070205080204" charset="-128"/>
              </a:rPr>
              <a:t>? </a:t>
            </a:r>
            <a:endParaRPr lang="fr-FR" sz="2200" dirty="0">
              <a:latin typeface="Arial" panose="020B0604020202020204" pitchFamily="34" charset="0"/>
              <a:cs typeface="MS PGothic" panose="020B0600070205080204" charset="-128"/>
            </a:endParaRPr>
          </a:p>
        </p:txBody>
      </p:sp>
      <p:sp>
        <p:nvSpPr>
          <p:cNvPr id="78850" name="Espace réservé du contenu 2"/>
          <p:cNvSpPr>
            <a:spLocks noGrp="1"/>
          </p:cNvSpPr>
          <p:nvPr>
            <p:ph idx="1"/>
          </p:nvPr>
        </p:nvSpPr>
        <p:spPr>
          <a:xfrm>
            <a:off x="-36512" y="1340768"/>
            <a:ext cx="9360532" cy="5076564"/>
          </a:xfrm>
        </p:spPr>
        <p:txBody>
          <a:bodyPr/>
          <a:lstStyle/>
          <a:p>
            <a:r>
              <a:rPr lang="fr-FR" dirty="0" smtClean="0">
                <a:solidFill>
                  <a:srgbClr val="FF0000"/>
                </a:solidFill>
                <a:latin typeface="Arial" panose="020B0604020202020204" pitchFamily="34" charset="0"/>
                <a:cs typeface="MS PGothic" panose="020B0600070205080204" charset="-128"/>
              </a:rPr>
              <a:t>Conversion </a:t>
            </a:r>
            <a:r>
              <a:rPr lang="fr-FR" dirty="0">
                <a:solidFill>
                  <a:srgbClr val="FF0000"/>
                </a:solidFill>
                <a:latin typeface="Arial" panose="020B0604020202020204" pitchFamily="34" charset="0"/>
                <a:cs typeface="MS PGothic" panose="020B0600070205080204" charset="-128"/>
              </a:rPr>
              <a:t>automatique IMPLICITE</a:t>
            </a:r>
            <a:r>
              <a:rPr lang="fr-FR" dirty="0">
                <a:latin typeface="Arial" panose="020B0604020202020204" pitchFamily="34" charset="0"/>
                <a:cs typeface="MS PGothic" panose="020B0600070205080204" charset="-128"/>
              </a:rPr>
              <a:t> et </a:t>
            </a:r>
            <a:r>
              <a:rPr lang="fr-FR" dirty="0">
                <a:solidFill>
                  <a:srgbClr val="FF0000"/>
                </a:solidFill>
                <a:latin typeface="Arial" panose="020B0604020202020204" pitchFamily="34" charset="0"/>
                <a:cs typeface="MS PGothic" panose="020B0600070205080204" charset="-128"/>
              </a:rPr>
              <a:t>SILENCIEUSE ! </a:t>
            </a:r>
            <a:endParaRPr lang="en-GB" sz="2400" b="1" dirty="0" smtClean="0"/>
          </a:p>
          <a:p>
            <a:pPr marL="363855" lvl="1" indent="-363855">
              <a:buSzTx/>
              <a:buBlip>
                <a:blip r:embed="rId1"/>
              </a:buBlip>
            </a:pPr>
            <a:r>
              <a:rPr lang="fr-FR" sz="2400" dirty="0"/>
              <a:t>Les deux opérandes (a, b) doivent être des objets de données du </a:t>
            </a:r>
            <a:r>
              <a:rPr lang="fr-FR" sz="2400" b="1" dirty="0"/>
              <a:t>même </a:t>
            </a:r>
            <a:r>
              <a:rPr lang="fr-FR" sz="2400" b="1" dirty="0" smtClean="0"/>
              <a:t>type</a:t>
            </a:r>
            <a:r>
              <a:rPr lang="fr-FR" sz="2400" dirty="0" smtClean="0"/>
              <a:t>.</a:t>
            </a:r>
            <a:endParaRPr lang="fr-FR" sz="2400" dirty="0" smtClean="0"/>
          </a:p>
          <a:p>
            <a:pPr marL="0" lvl="1" indent="0">
              <a:buSzTx/>
              <a:buNone/>
            </a:pPr>
            <a:endParaRPr lang="en-GB" sz="1100" dirty="0" smtClean="0">
              <a:latin typeface="Arial" panose="020B0604020202020204" pitchFamily="34" charset="0"/>
              <a:cs typeface="MS PGothic" panose="020B0600070205080204" charset="-128"/>
            </a:endParaRPr>
          </a:p>
          <a:p>
            <a:pPr marL="363855" lvl="1" indent="-363855">
              <a:buSzTx/>
              <a:buBlip>
                <a:blip r:embed="rId1"/>
              </a:buBlip>
            </a:pPr>
            <a:r>
              <a:rPr lang="fr-FR" sz="2400" dirty="0" smtClean="0">
                <a:latin typeface="Arial" panose="020B0604020202020204" pitchFamily="34" charset="0"/>
                <a:cs typeface="MS PGothic" panose="020B0600070205080204" charset="-128"/>
              </a:rPr>
              <a:t>Convertie </a:t>
            </a:r>
            <a:r>
              <a:rPr lang="fr-FR" sz="2400" dirty="0">
                <a:latin typeface="Arial" panose="020B0604020202020204" pitchFamily="34" charset="0"/>
                <a:cs typeface="MS PGothic" panose="020B0600070205080204" charset="-128"/>
              </a:rPr>
              <a:t>au </a:t>
            </a:r>
            <a:r>
              <a:rPr lang="fr-FR" sz="2400" b="1" dirty="0">
                <a:latin typeface="Arial" panose="020B0604020202020204" pitchFamily="34" charset="0"/>
                <a:cs typeface="MS PGothic" panose="020B0600070205080204" charset="-128"/>
              </a:rPr>
              <a:t>rang supérieur commun</a:t>
            </a:r>
            <a:r>
              <a:rPr lang="fr-FR" sz="2400" dirty="0">
                <a:latin typeface="Arial" panose="020B0604020202020204" pitchFamily="34" charset="0"/>
                <a:cs typeface="MS PGothic" panose="020B0600070205080204" charset="-128"/>
              </a:rPr>
              <a:t> des opérandes en fonction de la largeur du type : </a:t>
            </a:r>
            <a:endParaRPr lang="en-GB" sz="2400" dirty="0">
              <a:latin typeface="Arial" panose="020B0604020202020204" pitchFamily="34" charset="0"/>
              <a:cs typeface="MS PGothic" panose="020B0600070205080204" charset="-128"/>
            </a:endParaRPr>
          </a:p>
          <a:p>
            <a:pPr marL="179705" lvl="2" indent="0">
              <a:buNone/>
            </a:pPr>
            <a:r>
              <a:rPr lang="en-GB" sz="2400" b="1" dirty="0">
                <a:solidFill>
                  <a:srgbClr val="FF0000"/>
                </a:solidFill>
                <a:latin typeface="Arial" panose="020B0604020202020204" pitchFamily="34" charset="0"/>
                <a:cs typeface="MS PGothic" panose="020B0600070205080204" charset="-128"/>
              </a:rPr>
              <a:t>			PROMOTION</a:t>
            </a:r>
            <a:endParaRPr lang="en-GB" sz="2400" b="1" dirty="0">
              <a:solidFill>
                <a:srgbClr val="FF0000"/>
              </a:solidFill>
              <a:latin typeface="Arial" panose="020B0604020202020204" pitchFamily="34" charset="0"/>
              <a:cs typeface="MS PGothic" panose="020B0600070205080204" charset="-128"/>
            </a:endParaRPr>
          </a:p>
          <a:p>
            <a:r>
              <a:rPr lang="en-GB" b="1" dirty="0">
                <a:latin typeface="Arial" panose="020B0604020202020204" pitchFamily="34" charset="0"/>
                <a:cs typeface="MS PGothic" panose="020B0600070205080204" charset="-128"/>
              </a:rPr>
              <a:t>Promotions de nombres </a:t>
            </a:r>
            <a:r>
              <a:rPr lang="en-GB" b="1" dirty="0" smtClean="0">
                <a:latin typeface="Arial" panose="020B0604020202020204" pitchFamily="34" charset="0"/>
                <a:cs typeface="MS PGothic" panose="020B0600070205080204" charset="-128"/>
              </a:rPr>
              <a:t>entiers :</a:t>
            </a:r>
            <a:r>
              <a:rPr lang="en-GB" dirty="0" smtClean="0">
                <a:latin typeface="Arial" panose="020B0604020202020204" pitchFamily="34" charset="0"/>
                <a:cs typeface="MS PGothic" panose="020B0600070205080204" charset="-128"/>
              </a:rPr>
              <a:t> </a:t>
            </a:r>
            <a:endParaRPr lang="en-GB" dirty="0">
              <a:latin typeface="Arial" panose="020B0604020202020204" pitchFamily="34" charset="0"/>
              <a:cs typeface="MS PGothic" panose="020B0600070205080204" charset="-128"/>
            </a:endParaRPr>
          </a:p>
          <a:p>
            <a:pPr lvl="1"/>
            <a:r>
              <a:rPr lang="en-GB" b="1" dirty="0" smtClean="0">
                <a:latin typeface="Courier"/>
                <a:cs typeface="Courier"/>
                <a:sym typeface="Wingdings" panose="05000000000000000000"/>
              </a:rPr>
              <a:t>signé </a:t>
            </a:r>
            <a:r>
              <a:rPr lang="en-GB" b="1" dirty="0">
                <a:latin typeface="Courier"/>
                <a:cs typeface="Courier"/>
                <a:sym typeface="Wingdings" panose="05000000000000000000"/>
              </a:rPr>
              <a:t> </a:t>
            </a:r>
            <a:r>
              <a:rPr lang="en-GB" b="1" dirty="0" smtClean="0">
                <a:latin typeface="Courier"/>
                <a:cs typeface="Courier"/>
                <a:sym typeface="Wingdings" panose="05000000000000000000"/>
              </a:rPr>
              <a:t>non signé </a:t>
            </a:r>
            <a:endParaRPr lang="en-GB" dirty="0">
              <a:latin typeface="Arial" panose="020B0604020202020204" pitchFamily="34" charset="0"/>
              <a:cs typeface="MS PGothic" panose="020B0600070205080204" charset="-128"/>
            </a:endParaRPr>
          </a:p>
          <a:p>
            <a:pPr lvl="1"/>
            <a:r>
              <a:rPr lang="en-GB" dirty="0" smtClean="0">
                <a:latin typeface="Arial" panose="020B0604020202020204" pitchFamily="34" charset="0"/>
                <a:cs typeface="MS PGothic" panose="020B0600070205080204" charset="-128"/>
              </a:rPr>
              <a:t>les petits types d’entiers :</a:t>
            </a:r>
            <a:r>
              <a:rPr lang="en-GB" b="1" dirty="0" smtClean="0">
                <a:latin typeface="Courier"/>
                <a:cs typeface="Courier"/>
              </a:rPr>
              <a:t> </a:t>
            </a:r>
            <a:r>
              <a:rPr lang="en-GB" b="1" dirty="0">
                <a:latin typeface="Courier"/>
                <a:cs typeface="Courier"/>
              </a:rPr>
              <a:t>char, short, int16, int8 etc</a:t>
            </a:r>
            <a:r>
              <a:rPr lang="en-GB" dirty="0">
                <a:latin typeface="Arial" panose="020B0604020202020204" pitchFamily="34" charset="0"/>
                <a:cs typeface="MS PGothic" panose="020B0600070205080204" charset="-128"/>
              </a:rPr>
              <a:t> </a:t>
            </a:r>
            <a:r>
              <a:rPr lang="en-GB" dirty="0" smtClean="0">
                <a:latin typeface="Arial" panose="020B0604020202020204" pitchFamily="34" charset="0"/>
                <a:cs typeface="MS PGothic" panose="020B0600070205080204" charset="-128"/>
              </a:rPr>
              <a:t> (</a:t>
            </a:r>
            <a:r>
              <a:rPr lang="en-GB" dirty="0" smtClean="0">
                <a:solidFill>
                  <a:srgbClr val="FF0000"/>
                </a:solidFill>
                <a:latin typeface="Arial" panose="020B0604020202020204" pitchFamily="34" charset="0"/>
                <a:cs typeface="MS PGothic" panose="020B0600070205080204" charset="-128"/>
              </a:rPr>
              <a:t>A LA FOIS </a:t>
            </a:r>
            <a:r>
              <a:rPr lang="en-GB" b="1" dirty="0" smtClean="0">
                <a:solidFill>
                  <a:srgbClr val="FF0000"/>
                </a:solidFill>
                <a:latin typeface="Courier"/>
                <a:cs typeface="Courier"/>
              </a:rPr>
              <a:t>signés et non signés</a:t>
            </a:r>
            <a:r>
              <a:rPr lang="en-GB" b="1" dirty="0">
                <a:latin typeface="Courier"/>
                <a:cs typeface="Courier"/>
              </a:rPr>
              <a:t>) sont </a:t>
            </a:r>
            <a:r>
              <a:rPr lang="en-GB" b="1" dirty="0" smtClean="0">
                <a:latin typeface="Courier"/>
                <a:cs typeface="Courier"/>
              </a:rPr>
              <a:t>convertis en</a:t>
            </a:r>
            <a:endParaRPr lang="en-GB" dirty="0">
              <a:cs typeface="MS PGothic" panose="020B0600070205080204" charset="-128"/>
            </a:endParaRPr>
          </a:p>
          <a:p>
            <a:pPr lvl="2"/>
            <a:r>
              <a:rPr lang="en-GB" b="1" dirty="0">
                <a:latin typeface="Courier"/>
                <a:cs typeface="Courier"/>
                <a:sym typeface="Wingdings" panose="05000000000000000000"/>
              </a:rPr>
              <a:t>int</a:t>
            </a:r>
            <a:r>
              <a:rPr lang="en-GB" b="1" dirty="0">
                <a:cs typeface="Courier"/>
                <a:sym typeface="Wingdings" panose="05000000000000000000"/>
              </a:rPr>
              <a:t> :</a:t>
            </a:r>
            <a:r>
              <a:rPr lang="en-GB" b="1" dirty="0">
                <a:solidFill>
                  <a:srgbClr val="FF0000"/>
                </a:solidFill>
                <a:cs typeface="Courier"/>
                <a:sym typeface="Wingdings" panose="05000000000000000000"/>
              </a:rPr>
              <a:t> </a:t>
            </a:r>
            <a:r>
              <a:rPr lang="en-GB" b="1" dirty="0" smtClean="0">
                <a:solidFill>
                  <a:srgbClr val="FF0000"/>
                </a:solidFill>
                <a:cs typeface="Courier"/>
                <a:sym typeface="Wingdings" panose="05000000000000000000"/>
              </a:rPr>
              <a:t>SI </a:t>
            </a:r>
            <a:r>
              <a:rPr lang="en-GB" dirty="0" smtClean="0">
                <a:solidFill>
                  <a:schemeClr val="tx1"/>
                </a:solidFill>
                <a:cs typeface="Courier"/>
                <a:sym typeface="Wingdings" panose="05000000000000000000"/>
              </a:rPr>
              <a:t>l’intervalle de </a:t>
            </a:r>
            <a:r>
              <a:rPr lang="en-GB" b="1" dirty="0" smtClean="0">
                <a:latin typeface="Courier"/>
                <a:cs typeface="Courier"/>
                <a:sym typeface="Wingdings" panose="05000000000000000000"/>
              </a:rPr>
              <a:t>int </a:t>
            </a:r>
            <a:r>
              <a:rPr lang="en-GB" b="1" dirty="0" smtClean="0">
                <a:solidFill>
                  <a:srgbClr val="FF0000"/>
                </a:solidFill>
                <a:cs typeface="Courier"/>
                <a:sym typeface="Wingdings" panose="05000000000000000000"/>
              </a:rPr>
              <a:t>peut</a:t>
            </a:r>
            <a:r>
              <a:rPr lang="en-GB" b="1" dirty="0" smtClean="0">
                <a:cs typeface="Courier"/>
                <a:sym typeface="Wingdings" panose="05000000000000000000"/>
              </a:rPr>
              <a:t> </a:t>
            </a:r>
            <a:r>
              <a:rPr lang="en-GB" dirty="0" smtClean="0"/>
              <a:t>représenter TOUTES les valeurs du du type original </a:t>
            </a:r>
            <a:endParaRPr lang="en-GB" dirty="0"/>
          </a:p>
          <a:p>
            <a:pPr lvl="2"/>
            <a:r>
              <a:rPr lang="en-GB" dirty="0">
                <a:latin typeface="Arial" panose="020B0604020202020204" pitchFamily="34" charset="0"/>
                <a:cs typeface="MS PGothic" panose="020B0600070205080204" charset="-128"/>
                <a:sym typeface="Wingdings" panose="05000000000000000000"/>
              </a:rPr>
              <a:t>s</a:t>
            </a:r>
            <a:r>
              <a:rPr lang="en-GB" dirty="0" smtClean="0">
                <a:latin typeface="Arial" panose="020B0604020202020204" pitchFamily="34" charset="0"/>
                <a:cs typeface="MS PGothic" panose="020B0600070205080204" charset="-128"/>
                <a:sym typeface="Wingdings" panose="05000000000000000000"/>
              </a:rPr>
              <a:t>inon : </a:t>
            </a:r>
            <a:r>
              <a:rPr lang="en-GB" b="1" dirty="0">
                <a:latin typeface="Courier"/>
                <a:cs typeface="Courier"/>
                <a:sym typeface="Wingdings" panose="05000000000000000000"/>
              </a:rPr>
              <a:t>unsigned </a:t>
            </a:r>
            <a:r>
              <a:rPr lang="en-GB" b="1" dirty="0" smtClean="0">
                <a:latin typeface="Courier"/>
                <a:cs typeface="Courier"/>
                <a:sym typeface="Wingdings" panose="05000000000000000000"/>
              </a:rPr>
              <a:t>int (entier non signé)</a:t>
            </a:r>
            <a:endParaRPr lang="en-GB" b="1" dirty="0">
              <a:latin typeface="Courier"/>
              <a:cs typeface="Courier"/>
              <a:sym typeface="Wingdings" panose="05000000000000000000"/>
            </a:endParaRPr>
          </a:p>
          <a:p>
            <a:pPr lvl="1"/>
            <a:endParaRPr lang="en-GB" b="1" dirty="0">
              <a:latin typeface="Courier"/>
              <a:cs typeface="Courier"/>
              <a:sym typeface="Wingdings" panose="05000000000000000000"/>
            </a:endParaRPr>
          </a:p>
        </p:txBody>
      </p:sp>
      <p:sp>
        <p:nvSpPr>
          <p:cNvPr id="4"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3" name="Rectangle 2"/>
          <p:cNvSpPr/>
          <p:nvPr/>
        </p:nvSpPr>
        <p:spPr>
          <a:xfrm>
            <a:off x="143508" y="800708"/>
            <a:ext cx="9000492" cy="461665"/>
          </a:xfrm>
          <a:prstGeom prst="rect">
            <a:avLst/>
          </a:prstGeom>
        </p:spPr>
        <p:txBody>
          <a:bodyPr wrap="square">
            <a:spAutoFit/>
          </a:bodyPr>
          <a:lstStyle/>
          <a:p>
            <a:r>
              <a:rPr lang="en-GB" sz="2400" b="1" dirty="0">
                <a:latin typeface="Courier"/>
                <a:cs typeface="Courier"/>
              </a:rPr>
              <a:t>a (</a:t>
            </a:r>
            <a:r>
              <a:rPr lang="en-GB" sz="2400" b="1" dirty="0" smtClean="0">
                <a:latin typeface="Courier"/>
                <a:cs typeface="Courier"/>
              </a:rPr>
              <a:t>opérateur</a:t>
            </a:r>
            <a:r>
              <a:rPr lang="en-GB" sz="2400" b="1" dirty="0">
                <a:latin typeface="Courier"/>
                <a:cs typeface="Courier"/>
              </a:rPr>
              <a:t>) b		type a ≠ type b	</a:t>
            </a:r>
            <a:endParaRPr lang="en-GB" sz="2400" b="1" dirty="0">
              <a:latin typeface="Courier"/>
              <a:cs typeface="Courier"/>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885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885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885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8850">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8850">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8850">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8850">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885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re 1"/>
          <p:cNvSpPr>
            <a:spLocks noGrp="1"/>
          </p:cNvSpPr>
          <p:nvPr>
            <p:ph type="title"/>
          </p:nvPr>
        </p:nvSpPr>
        <p:spPr>
          <a:xfrm>
            <a:off x="304800" y="152400"/>
            <a:ext cx="9595792" cy="533400"/>
          </a:xfrm>
        </p:spPr>
        <p:txBody>
          <a:bodyPr/>
          <a:lstStyle/>
          <a:p>
            <a:r>
              <a:rPr lang="fr-FR" sz="2800" dirty="0">
                <a:latin typeface="Arial" panose="020B0604020202020204" pitchFamily="34" charset="0"/>
                <a:cs typeface="MS PGothic" panose="020B0600070205080204" charset="-128"/>
              </a:rPr>
              <a:t>Et pendant l'affectation ?</a:t>
            </a:r>
            <a:endParaRPr lang="fr-FR" sz="2800" dirty="0">
              <a:latin typeface="Arial" panose="020B0604020202020204" pitchFamily="34" charset="0"/>
              <a:ea typeface="MS PGothic" panose="020B0600070205080204" charset="-128"/>
              <a:cs typeface="MS PGothic" panose="020B0600070205080204" charset="-128"/>
            </a:endParaRPr>
          </a:p>
        </p:txBody>
      </p:sp>
      <p:sp>
        <p:nvSpPr>
          <p:cNvPr id="78850" name="Espace réservé du contenu 2"/>
          <p:cNvSpPr>
            <a:spLocks noGrp="1"/>
          </p:cNvSpPr>
          <p:nvPr>
            <p:ph idx="1"/>
          </p:nvPr>
        </p:nvSpPr>
        <p:spPr>
          <a:xfrm>
            <a:off x="0" y="2060848"/>
            <a:ext cx="9360532" cy="5257800"/>
          </a:xfrm>
        </p:spPr>
        <p:txBody>
          <a:bodyPr/>
          <a:lstStyle/>
          <a:p>
            <a:r>
              <a:rPr lang="fr-FR" dirty="0" smtClean="0">
                <a:latin typeface="Arial" panose="020B0604020202020204" pitchFamily="34" charset="0"/>
                <a:cs typeface="MS PGothic" panose="020B0600070205080204" charset="-128"/>
              </a:rPr>
              <a:t>Encore </a:t>
            </a:r>
            <a:r>
              <a:rPr lang="fr-FR" dirty="0">
                <a:latin typeface="Arial" panose="020B0604020202020204" pitchFamily="34" charset="0"/>
                <a:cs typeface="MS PGothic" panose="020B0600070205080204" charset="-128"/>
              </a:rPr>
              <a:t>une </a:t>
            </a:r>
            <a:r>
              <a:rPr lang="fr-FR" b="1" dirty="0">
                <a:solidFill>
                  <a:srgbClr val="FF0000"/>
                </a:solidFill>
                <a:latin typeface="Arial" panose="020B0604020202020204" pitchFamily="34" charset="0"/>
                <a:cs typeface="MS PGothic" panose="020B0600070205080204" charset="-128"/>
              </a:rPr>
              <a:t>conversion automatique IMPLICITE </a:t>
            </a:r>
            <a:r>
              <a:rPr lang="fr-FR" b="1" dirty="0">
                <a:latin typeface="Arial" panose="020B0604020202020204" pitchFamily="34" charset="0"/>
                <a:cs typeface="MS PGothic" panose="020B0600070205080204" charset="-128"/>
              </a:rPr>
              <a:t>et </a:t>
            </a:r>
            <a:r>
              <a:rPr lang="fr-FR" b="1" dirty="0">
                <a:solidFill>
                  <a:srgbClr val="FF0000"/>
                </a:solidFill>
                <a:latin typeface="Arial" panose="020B0604020202020204" pitchFamily="34" charset="0"/>
                <a:cs typeface="MS PGothic" panose="020B0600070205080204" charset="-128"/>
              </a:rPr>
              <a:t>SILENCIEUSE</a:t>
            </a:r>
            <a:r>
              <a:rPr lang="fr-FR" dirty="0">
                <a:latin typeface="Arial" panose="020B0604020202020204" pitchFamily="34" charset="0"/>
                <a:cs typeface="MS PGothic" panose="020B0600070205080204" charset="-128"/>
              </a:rPr>
              <a:t> ! </a:t>
            </a:r>
            <a:endParaRPr lang="en-GB" dirty="0">
              <a:latin typeface="Arial" panose="020B0604020202020204" pitchFamily="34" charset="0"/>
              <a:cs typeface="MS PGothic" panose="020B0600070205080204" charset="-128"/>
            </a:endParaRPr>
          </a:p>
          <a:p>
            <a:pPr marL="0" lvl="1" indent="0">
              <a:buSzTx/>
              <a:buNone/>
            </a:pPr>
            <a:endParaRPr lang="en-GB" sz="2400" dirty="0">
              <a:latin typeface="Arial" panose="020B0604020202020204" pitchFamily="34" charset="0"/>
              <a:cs typeface="MS PGothic" panose="020B0600070205080204" charset="-128"/>
            </a:endParaRPr>
          </a:p>
          <a:p>
            <a:pPr marL="363855" lvl="1" indent="-363855">
              <a:buSzTx/>
              <a:buBlip>
                <a:blip r:embed="rId1"/>
              </a:buBlip>
            </a:pPr>
            <a:r>
              <a:rPr lang="fr-FR" sz="2400" dirty="0">
                <a:cs typeface="Courier"/>
              </a:rPr>
              <a:t>Converti en type d'objet de données qui stocke le résultat </a:t>
            </a:r>
            <a:r>
              <a:rPr lang="en-GB" sz="2400" dirty="0" smtClean="0">
                <a:cs typeface="Courier"/>
              </a:rPr>
              <a:t>: </a:t>
            </a:r>
            <a:endParaRPr lang="en-GB" sz="2400" dirty="0">
              <a:cs typeface="Courier"/>
            </a:endParaRPr>
          </a:p>
          <a:p>
            <a:pPr lvl="1"/>
            <a:r>
              <a:rPr lang="en-GB" dirty="0">
                <a:cs typeface="Courier"/>
                <a:sym typeface="Wingdings" panose="05000000000000000000"/>
              </a:rPr>
              <a:t>R</a:t>
            </a:r>
            <a:r>
              <a:rPr lang="en-GB" dirty="0" smtClean="0">
                <a:cs typeface="Courier"/>
                <a:sym typeface="Wingdings" panose="05000000000000000000"/>
              </a:rPr>
              <a:t>ang supérieur  : </a:t>
            </a:r>
            <a:r>
              <a:rPr lang="en-GB" b="1" dirty="0">
                <a:cs typeface="Courier"/>
                <a:sym typeface="Wingdings" panose="05000000000000000000"/>
              </a:rPr>
              <a:t>PROMOTION</a:t>
            </a:r>
            <a:endParaRPr lang="en-GB" b="1" dirty="0">
              <a:cs typeface="Courier"/>
              <a:sym typeface="Wingdings" panose="05000000000000000000"/>
            </a:endParaRPr>
          </a:p>
          <a:p>
            <a:pPr lvl="1"/>
            <a:r>
              <a:rPr lang="en-GB" dirty="0" smtClean="0">
                <a:cs typeface="Courier"/>
                <a:sym typeface="Wingdings" panose="05000000000000000000"/>
              </a:rPr>
              <a:t>Rang inférieur  : </a:t>
            </a:r>
            <a:r>
              <a:rPr lang="en-GB" b="1" dirty="0">
                <a:cs typeface="Courier"/>
                <a:sym typeface="Wingdings" panose="05000000000000000000"/>
              </a:rPr>
              <a:t>DEMOTION</a:t>
            </a:r>
            <a:endParaRPr lang="en-GB" b="1" dirty="0">
              <a:cs typeface="Courier"/>
              <a:sym typeface="Wingdings" panose="05000000000000000000"/>
            </a:endParaRPr>
          </a:p>
        </p:txBody>
      </p:sp>
      <p:sp>
        <p:nvSpPr>
          <p:cNvPr id="4"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6" name="Rectangle 5"/>
          <p:cNvSpPr/>
          <p:nvPr/>
        </p:nvSpPr>
        <p:spPr>
          <a:xfrm>
            <a:off x="-36512" y="800708"/>
            <a:ext cx="9000492" cy="904863"/>
          </a:xfrm>
          <a:prstGeom prst="rect">
            <a:avLst/>
          </a:prstGeom>
        </p:spPr>
        <p:txBody>
          <a:bodyPr wrap="square">
            <a:spAutoFit/>
          </a:bodyPr>
          <a:lstStyle/>
          <a:p>
            <a:r>
              <a:rPr lang="en-GB" sz="2400" b="1" dirty="0">
                <a:latin typeface="Courier"/>
                <a:cs typeface="Courier"/>
              </a:rPr>
              <a:t> c = a (</a:t>
            </a:r>
            <a:r>
              <a:rPr lang="en-GB" sz="2400" b="1" dirty="0" smtClean="0">
                <a:latin typeface="Courier"/>
                <a:cs typeface="Courier"/>
              </a:rPr>
              <a:t>opérateur</a:t>
            </a:r>
            <a:r>
              <a:rPr lang="en-GB" sz="2400" b="1" dirty="0">
                <a:latin typeface="Courier"/>
                <a:cs typeface="Courier"/>
              </a:rPr>
              <a:t>) b	</a:t>
            </a:r>
            <a:endParaRPr lang="en-GB" sz="2400" b="1" dirty="0">
              <a:latin typeface="Courier"/>
              <a:cs typeface="Courier"/>
            </a:endParaRPr>
          </a:p>
          <a:p>
            <a:r>
              <a:rPr lang="en-GB" sz="2400" b="1" dirty="0">
                <a:latin typeface="Courier"/>
                <a:cs typeface="Courier"/>
              </a:rPr>
              <a:t>type c ≠ type (</a:t>
            </a:r>
            <a:r>
              <a:rPr lang="en-GB" sz="2400" dirty="0" smtClean="0">
                <a:latin typeface="+mn-lt"/>
                <a:cs typeface="Courier"/>
              </a:rPr>
              <a:t>résultat de l’opération</a:t>
            </a:r>
            <a:r>
              <a:rPr lang="en-GB" sz="2400" b="1" dirty="0">
                <a:latin typeface="+mn-lt"/>
                <a:cs typeface="Courier"/>
              </a:rPr>
              <a:t>)</a:t>
            </a:r>
            <a:endParaRPr lang="en-GB" sz="2400" b="1" dirty="0">
              <a:latin typeface="+mn-lt"/>
              <a:cs typeface="Courier"/>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85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8850">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8850">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885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36" y="152400"/>
            <a:ext cx="8623684" cy="533400"/>
          </a:xfrm>
        </p:spPr>
        <p:txBody>
          <a:bodyPr/>
          <a:lstStyle/>
          <a:p>
            <a:r>
              <a:rPr lang="fr-FR" sz="2800" dirty="0">
                <a:latin typeface="Arial" panose="020B0604020202020204" pitchFamily="34" charset="0"/>
                <a:cs typeface="MS PGothic" panose="020B0600070205080204" charset="-128"/>
              </a:rPr>
              <a:t>Types de données primitifs : Conversion implicite</a:t>
            </a:r>
            <a:endParaRPr lang="en-GB" sz="2800" dirty="0"/>
          </a:p>
        </p:txBody>
      </p:sp>
      <p:sp>
        <p:nvSpPr>
          <p:cNvPr id="5" name="Slide Number Placeholder 4"/>
          <p:cNvSpPr>
            <a:spLocks noGrp="1"/>
          </p:cNvSpPr>
          <p:nvPr>
            <p:ph type="sldNum" sz="quarter" idx="11"/>
          </p:nvPr>
        </p:nvSpPr>
        <p:spPr/>
        <p:txBody>
          <a:bodyPr/>
          <a:lstStyle/>
          <a:p>
            <a:pPr lvl="2"/>
            <a:fld id="{28BEB0BA-EEE4-5F45-9179-3BC54B76BCCF}" type="slidenum">
              <a:rPr lang="fr-FR" smtClean="0"/>
            </a:fld>
            <a:endParaRPr lang="fr-FR"/>
          </a:p>
        </p:txBody>
      </p:sp>
      <p:sp>
        <p:nvSpPr>
          <p:cNvPr id="6" name="Espace réservé du numéro de diapositive 4"/>
          <p:cNvSpPr txBox="1"/>
          <p:nvPr/>
        </p:nvSpPr>
        <p:spPr bwMode="auto">
          <a:xfrm>
            <a:off x="6336196" y="6400800"/>
            <a:ext cx="1511188" cy="381000"/>
          </a:xfrm>
          <a:prstGeom prst="rect">
            <a:avLst/>
          </a:prstGeom>
          <a:noFill/>
          <a:ln>
            <a:noFill/>
          </a:ln>
          <a:effectLst/>
        </p:spPr>
        <p:txBody>
          <a:bodyPr vert="horz" wrap="none" lIns="92075" tIns="46038" rIns="92075" bIns="46038" numCol="1" anchor="ctr" anchorCtr="0" compatLnSpc="1"/>
          <a:lstStyle>
            <a:defPPr>
              <a:defRPr lang="en-US"/>
            </a:defPPr>
            <a:lvl1pPr marL="342900" indent="-3429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1pPr>
            <a:lvl2pPr marL="742950" indent="-28575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2pPr>
            <a:lvl3pPr marL="914400" lvl="2" algn="r" rtl="0" eaLnBrk="0" fontAlgn="base" hangingPunct="0">
              <a:spcBef>
                <a:spcPct val="0"/>
              </a:spcBef>
              <a:spcAft>
                <a:spcPct val="0"/>
              </a:spcAft>
              <a:buClrTx/>
              <a:buSzTx/>
              <a:buFontTx/>
              <a:buNone/>
              <a:defRPr sz="800" kern="1200">
                <a:solidFill>
                  <a:srgbClr val="010507"/>
                </a:solidFill>
                <a:latin typeface="Arial" panose="020B0604020202020204" pitchFamily="34" charset="0"/>
                <a:ea typeface="MS PGothic" panose="020B0600070205080204" charset="-128"/>
                <a:cs typeface="+mn-cs"/>
              </a:defRPr>
            </a:lvl3pPr>
            <a:lvl4pPr marL="1600200" indent="-2286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4pPr>
            <a:lvl5pPr marL="2057400" indent="-2286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5pPr>
            <a:lvl6pPr marL="25146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6pPr>
            <a:lvl7pPr marL="29718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7pPr>
            <a:lvl8pPr marL="34290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8pPr>
            <a:lvl9pPr marL="38862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9pPr>
          </a:lstStyle>
          <a:p>
            <a:pPr lvl="2"/>
            <a:fld id="{7A20496B-0CAA-CF4F-A60A-C2F15B752635}" type="slidenum">
              <a:rPr lang="fr-FR" sz="1400" smtClean="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11" name="Espace réservé du contenu 2"/>
          <p:cNvSpPr txBox="1"/>
          <p:nvPr/>
        </p:nvSpPr>
        <p:spPr bwMode="auto">
          <a:xfrm>
            <a:off x="2609004" y="6273316"/>
            <a:ext cx="1314924" cy="432048"/>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sz="2000">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pPr marL="0" indent="0">
              <a:buNone/>
            </a:pPr>
            <a:r>
              <a:rPr lang="en-GB" sz="2000" dirty="0">
                <a:latin typeface="Arial" panose="020B0604020202020204" pitchFamily="34" charset="0"/>
                <a:cs typeface="MS PGothic" panose="020B0600070205080204" charset="-128"/>
              </a:rPr>
              <a:t>2 Bytes</a:t>
            </a:r>
            <a:endParaRPr lang="en-GB" sz="2000" dirty="0">
              <a:latin typeface="Arial" panose="020B0604020202020204" pitchFamily="34" charset="0"/>
            </a:endParaRPr>
          </a:p>
        </p:txBody>
      </p:sp>
      <p:sp>
        <p:nvSpPr>
          <p:cNvPr id="21" name="Rectangle 20"/>
          <p:cNvSpPr/>
          <p:nvPr/>
        </p:nvSpPr>
        <p:spPr>
          <a:xfrm>
            <a:off x="4752020" y="5985284"/>
            <a:ext cx="800319" cy="400110"/>
          </a:xfrm>
          <a:prstGeom prst="rect">
            <a:avLst/>
          </a:prstGeom>
        </p:spPr>
        <p:txBody>
          <a:bodyPr wrap="none">
            <a:spAutoFit/>
          </a:bodyPr>
          <a:lstStyle/>
          <a:p>
            <a:r>
              <a:rPr lang="en-GB" sz="2000" b="1" dirty="0">
                <a:latin typeface="Courier"/>
                <a:cs typeface="Courier"/>
              </a:rPr>
              <a:t>char</a:t>
            </a:r>
            <a:endParaRPr lang="en-US" sz="2000" dirty="0"/>
          </a:p>
        </p:txBody>
      </p:sp>
      <p:sp>
        <p:nvSpPr>
          <p:cNvPr id="22" name="Rectangle 21"/>
          <p:cNvSpPr/>
          <p:nvPr/>
        </p:nvSpPr>
        <p:spPr>
          <a:xfrm>
            <a:off x="2699792" y="5949280"/>
            <a:ext cx="954233" cy="400110"/>
          </a:xfrm>
          <a:prstGeom prst="rect">
            <a:avLst/>
          </a:prstGeom>
        </p:spPr>
        <p:txBody>
          <a:bodyPr wrap="none">
            <a:spAutoFit/>
          </a:bodyPr>
          <a:lstStyle/>
          <a:p>
            <a:r>
              <a:rPr lang="en-GB" sz="2000" b="1" dirty="0">
                <a:latin typeface="Courier"/>
                <a:cs typeface="Courier"/>
              </a:rPr>
              <a:t>short</a:t>
            </a:r>
            <a:endParaRPr lang="en-US" sz="2000" dirty="0"/>
          </a:p>
        </p:txBody>
      </p:sp>
      <p:sp>
        <p:nvSpPr>
          <p:cNvPr id="24" name="Rectangle 23"/>
          <p:cNvSpPr/>
          <p:nvPr/>
        </p:nvSpPr>
        <p:spPr>
          <a:xfrm>
            <a:off x="3851920" y="5333146"/>
            <a:ext cx="646406" cy="400110"/>
          </a:xfrm>
          <a:prstGeom prst="rect">
            <a:avLst/>
          </a:prstGeom>
        </p:spPr>
        <p:txBody>
          <a:bodyPr wrap="none">
            <a:spAutoFit/>
          </a:bodyPr>
          <a:lstStyle/>
          <a:p>
            <a:r>
              <a:rPr lang="en-GB" sz="2000" b="1" dirty="0">
                <a:latin typeface="Courier"/>
                <a:cs typeface="Courier"/>
              </a:rPr>
              <a:t>int</a:t>
            </a:r>
            <a:endParaRPr lang="en-US" sz="2000" dirty="0"/>
          </a:p>
        </p:txBody>
      </p:sp>
      <p:sp>
        <p:nvSpPr>
          <p:cNvPr id="26" name="Rectangle 25"/>
          <p:cNvSpPr/>
          <p:nvPr/>
        </p:nvSpPr>
        <p:spPr>
          <a:xfrm>
            <a:off x="3385234" y="4754732"/>
            <a:ext cx="2031626" cy="400110"/>
          </a:xfrm>
          <a:prstGeom prst="rect">
            <a:avLst/>
          </a:prstGeom>
        </p:spPr>
        <p:txBody>
          <a:bodyPr wrap="none">
            <a:spAutoFit/>
          </a:bodyPr>
          <a:lstStyle/>
          <a:p>
            <a:r>
              <a:rPr lang="en-GB" sz="2000" b="1" dirty="0">
                <a:latin typeface="Courier"/>
                <a:cs typeface="Courier"/>
              </a:rPr>
              <a:t>unsigned int</a:t>
            </a:r>
            <a:endParaRPr lang="en-US" sz="2000" dirty="0"/>
          </a:p>
        </p:txBody>
      </p:sp>
      <p:sp>
        <p:nvSpPr>
          <p:cNvPr id="28" name="Rectangle 27"/>
          <p:cNvSpPr/>
          <p:nvPr/>
        </p:nvSpPr>
        <p:spPr>
          <a:xfrm>
            <a:off x="3779912" y="4149080"/>
            <a:ext cx="800319" cy="400110"/>
          </a:xfrm>
          <a:prstGeom prst="rect">
            <a:avLst/>
          </a:prstGeom>
        </p:spPr>
        <p:txBody>
          <a:bodyPr wrap="none">
            <a:spAutoFit/>
          </a:bodyPr>
          <a:lstStyle/>
          <a:p>
            <a:r>
              <a:rPr lang="en-GB" sz="2000" b="1" dirty="0">
                <a:latin typeface="Courier"/>
                <a:cs typeface="Courier"/>
              </a:rPr>
              <a:t>long</a:t>
            </a:r>
            <a:endParaRPr lang="en-US" sz="2000" dirty="0"/>
          </a:p>
        </p:txBody>
      </p:sp>
      <p:sp>
        <p:nvSpPr>
          <p:cNvPr id="30" name="Rectangle 29"/>
          <p:cNvSpPr/>
          <p:nvPr/>
        </p:nvSpPr>
        <p:spPr>
          <a:xfrm>
            <a:off x="3214553" y="3537012"/>
            <a:ext cx="2185539" cy="400110"/>
          </a:xfrm>
          <a:prstGeom prst="rect">
            <a:avLst/>
          </a:prstGeom>
        </p:spPr>
        <p:txBody>
          <a:bodyPr wrap="none">
            <a:spAutoFit/>
          </a:bodyPr>
          <a:lstStyle/>
          <a:p>
            <a:r>
              <a:rPr lang="en-GB" sz="2000" b="1" dirty="0">
                <a:latin typeface="Courier"/>
                <a:cs typeface="Courier"/>
              </a:rPr>
              <a:t>unsigned long</a:t>
            </a:r>
            <a:endParaRPr lang="en-US" sz="2000" dirty="0"/>
          </a:p>
        </p:txBody>
      </p:sp>
      <p:sp>
        <p:nvSpPr>
          <p:cNvPr id="31" name="Up Arrow 30"/>
          <p:cNvSpPr/>
          <p:nvPr/>
        </p:nvSpPr>
        <p:spPr bwMode="auto">
          <a:xfrm>
            <a:off x="3977807" y="3964095"/>
            <a:ext cx="386311" cy="295612"/>
          </a:xfrm>
          <a:prstGeom prst="upArrow">
            <a:avLst/>
          </a:prstGeom>
          <a:no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normAutofit fontScale="47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32" name="Rectangle 31"/>
          <p:cNvSpPr/>
          <p:nvPr/>
        </p:nvSpPr>
        <p:spPr>
          <a:xfrm>
            <a:off x="2805026" y="2416822"/>
            <a:ext cx="2955106" cy="400110"/>
          </a:xfrm>
          <a:prstGeom prst="rect">
            <a:avLst/>
          </a:prstGeom>
        </p:spPr>
        <p:txBody>
          <a:bodyPr wrap="none">
            <a:spAutoFit/>
          </a:bodyPr>
          <a:lstStyle/>
          <a:p>
            <a:r>
              <a:rPr lang="en-GB" sz="2000" b="1" dirty="0">
                <a:latin typeface="Courier"/>
                <a:cs typeface="Courier"/>
              </a:rPr>
              <a:t>unsigned long long</a:t>
            </a:r>
            <a:endParaRPr lang="en-US" sz="2000" dirty="0"/>
          </a:p>
        </p:txBody>
      </p:sp>
      <p:sp>
        <p:nvSpPr>
          <p:cNvPr id="33" name="Rectangle 32"/>
          <p:cNvSpPr/>
          <p:nvPr/>
        </p:nvSpPr>
        <p:spPr>
          <a:xfrm>
            <a:off x="3398158" y="2992886"/>
            <a:ext cx="1569886" cy="400110"/>
          </a:xfrm>
          <a:prstGeom prst="rect">
            <a:avLst/>
          </a:prstGeom>
        </p:spPr>
        <p:txBody>
          <a:bodyPr wrap="none">
            <a:spAutoFit/>
          </a:bodyPr>
          <a:lstStyle/>
          <a:p>
            <a:r>
              <a:rPr lang="en-GB" sz="2000" b="1" dirty="0">
                <a:latin typeface="Courier"/>
                <a:cs typeface="Courier"/>
              </a:rPr>
              <a:t>long long</a:t>
            </a:r>
            <a:endParaRPr lang="en-US" sz="2000" dirty="0"/>
          </a:p>
        </p:txBody>
      </p:sp>
      <p:sp>
        <p:nvSpPr>
          <p:cNvPr id="34" name="Rectangle 33"/>
          <p:cNvSpPr/>
          <p:nvPr/>
        </p:nvSpPr>
        <p:spPr>
          <a:xfrm>
            <a:off x="3691695" y="1808820"/>
            <a:ext cx="954233" cy="400110"/>
          </a:xfrm>
          <a:prstGeom prst="rect">
            <a:avLst/>
          </a:prstGeom>
        </p:spPr>
        <p:txBody>
          <a:bodyPr wrap="none">
            <a:spAutoFit/>
          </a:bodyPr>
          <a:lstStyle/>
          <a:p>
            <a:r>
              <a:rPr lang="en-GB" sz="2000" b="1" dirty="0">
                <a:latin typeface="Courier"/>
                <a:cs typeface="Courier"/>
              </a:rPr>
              <a:t>float</a:t>
            </a:r>
            <a:endParaRPr lang="en-US" sz="2000" dirty="0"/>
          </a:p>
        </p:txBody>
      </p:sp>
      <p:sp>
        <p:nvSpPr>
          <p:cNvPr id="35" name="Rectangle 34"/>
          <p:cNvSpPr/>
          <p:nvPr/>
        </p:nvSpPr>
        <p:spPr>
          <a:xfrm>
            <a:off x="3670539" y="1228690"/>
            <a:ext cx="1108146" cy="400110"/>
          </a:xfrm>
          <a:prstGeom prst="rect">
            <a:avLst/>
          </a:prstGeom>
        </p:spPr>
        <p:txBody>
          <a:bodyPr wrap="none">
            <a:spAutoFit/>
          </a:bodyPr>
          <a:lstStyle/>
          <a:p>
            <a:r>
              <a:rPr lang="en-GB" sz="2000" b="1" dirty="0">
                <a:latin typeface="Courier"/>
                <a:cs typeface="Courier"/>
              </a:rPr>
              <a:t>double</a:t>
            </a:r>
            <a:endParaRPr lang="en-US" sz="2000" dirty="0"/>
          </a:p>
        </p:txBody>
      </p:sp>
      <p:sp>
        <p:nvSpPr>
          <p:cNvPr id="36" name="Rectangle 35"/>
          <p:cNvSpPr/>
          <p:nvPr/>
        </p:nvSpPr>
        <p:spPr>
          <a:xfrm>
            <a:off x="3383868" y="580618"/>
            <a:ext cx="1877713" cy="400110"/>
          </a:xfrm>
          <a:prstGeom prst="rect">
            <a:avLst/>
          </a:prstGeom>
        </p:spPr>
        <p:txBody>
          <a:bodyPr wrap="none">
            <a:spAutoFit/>
          </a:bodyPr>
          <a:lstStyle/>
          <a:p>
            <a:r>
              <a:rPr lang="en-GB" sz="2000" b="1" dirty="0">
                <a:latin typeface="Courier"/>
                <a:cs typeface="Courier"/>
              </a:rPr>
              <a:t>long double</a:t>
            </a:r>
            <a:endParaRPr lang="en-US" sz="2000" dirty="0"/>
          </a:p>
        </p:txBody>
      </p:sp>
      <p:sp>
        <p:nvSpPr>
          <p:cNvPr id="37" name="Up Arrow 36"/>
          <p:cNvSpPr/>
          <p:nvPr/>
        </p:nvSpPr>
        <p:spPr bwMode="auto">
          <a:xfrm>
            <a:off x="3977807" y="4540159"/>
            <a:ext cx="386311" cy="295612"/>
          </a:xfrm>
          <a:prstGeom prst="upArrow">
            <a:avLst/>
          </a:prstGeom>
          <a:no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normAutofit fontScale="47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38" name="Up Arrow 37"/>
          <p:cNvSpPr/>
          <p:nvPr/>
        </p:nvSpPr>
        <p:spPr bwMode="auto">
          <a:xfrm>
            <a:off x="3977807" y="3318373"/>
            <a:ext cx="386311" cy="295612"/>
          </a:xfrm>
          <a:prstGeom prst="upArrow">
            <a:avLst/>
          </a:prstGeom>
          <a:no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normAutofit fontScale="47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39" name="Up Arrow 38"/>
          <p:cNvSpPr/>
          <p:nvPr/>
        </p:nvSpPr>
        <p:spPr bwMode="auto">
          <a:xfrm>
            <a:off x="4005669" y="2742309"/>
            <a:ext cx="386311" cy="295612"/>
          </a:xfrm>
          <a:prstGeom prst="upArrow">
            <a:avLst/>
          </a:prstGeom>
          <a:no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normAutofit fontScale="47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40" name="Up Arrow 39"/>
          <p:cNvSpPr/>
          <p:nvPr/>
        </p:nvSpPr>
        <p:spPr bwMode="auto">
          <a:xfrm>
            <a:off x="4005669" y="2202249"/>
            <a:ext cx="386311" cy="295612"/>
          </a:xfrm>
          <a:prstGeom prst="upArrow">
            <a:avLst/>
          </a:prstGeom>
          <a:no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normAutofit fontScale="47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41" name="Up Arrow 40"/>
          <p:cNvSpPr/>
          <p:nvPr/>
        </p:nvSpPr>
        <p:spPr bwMode="auto">
          <a:xfrm>
            <a:off x="3977807" y="1623835"/>
            <a:ext cx="386311" cy="295612"/>
          </a:xfrm>
          <a:prstGeom prst="upArrow">
            <a:avLst/>
          </a:prstGeom>
          <a:no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normAutofit fontScale="47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42" name="Up Arrow 41"/>
          <p:cNvSpPr/>
          <p:nvPr/>
        </p:nvSpPr>
        <p:spPr bwMode="auto">
          <a:xfrm>
            <a:off x="3977807" y="943825"/>
            <a:ext cx="386311" cy="295612"/>
          </a:xfrm>
          <a:prstGeom prst="upArrow">
            <a:avLst/>
          </a:prstGeom>
          <a:no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normAutofit fontScale="47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44" name="Up Arrow 43"/>
          <p:cNvSpPr/>
          <p:nvPr/>
        </p:nvSpPr>
        <p:spPr bwMode="auto">
          <a:xfrm>
            <a:off x="3977807" y="5658633"/>
            <a:ext cx="386311" cy="295612"/>
          </a:xfrm>
          <a:prstGeom prst="upArrow">
            <a:avLst/>
          </a:prstGeom>
          <a:no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normAutofit fontScale="47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45" name="Up Arrow 44"/>
          <p:cNvSpPr/>
          <p:nvPr/>
        </p:nvSpPr>
        <p:spPr bwMode="auto">
          <a:xfrm>
            <a:off x="3977807" y="5152227"/>
            <a:ext cx="386311" cy="295612"/>
          </a:xfrm>
          <a:prstGeom prst="upArrow">
            <a:avLst/>
          </a:prstGeom>
          <a:no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normAutofit fontScale="47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46" name="Espace réservé du contenu 2"/>
          <p:cNvSpPr txBox="1"/>
          <p:nvPr/>
        </p:nvSpPr>
        <p:spPr bwMode="auto">
          <a:xfrm>
            <a:off x="4709422" y="6273316"/>
            <a:ext cx="1086714" cy="432048"/>
          </a:xfrm>
          <a:prstGeom prst="rect">
            <a:avLst/>
          </a:prstGeom>
          <a:noFill/>
          <a:ln>
            <a:noFill/>
          </a:ln>
          <a:effectLst/>
        </p:spPr>
        <p:txBody>
          <a:bodyPr vert="horz" wrap="square" lIns="92075" tIns="46038" rIns="92075" bIns="46038" numCol="1" anchor="t" anchorCtr="0" compatLnSpc="1"/>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sz="2000">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pPr marL="0" indent="0">
              <a:buNone/>
            </a:pPr>
            <a:r>
              <a:rPr lang="en-GB" sz="2000" dirty="0">
                <a:latin typeface="Arial" panose="020B0604020202020204" pitchFamily="34" charset="0"/>
                <a:cs typeface="MS PGothic" panose="020B0600070205080204" charset="-128"/>
              </a:rPr>
              <a:t>1 Byte</a:t>
            </a:r>
            <a:endParaRPr lang="en-GB" sz="2000" dirty="0">
              <a:latin typeface="Arial" panose="020B0604020202020204" pitchFamily="34" charset="0"/>
            </a:endParaRPr>
          </a:p>
        </p:txBody>
      </p:sp>
      <p:cxnSp>
        <p:nvCxnSpPr>
          <p:cNvPr id="51" name="Straight Connector 50"/>
          <p:cNvCxnSpPr/>
          <p:nvPr/>
        </p:nvCxnSpPr>
        <p:spPr bwMode="auto">
          <a:xfrm>
            <a:off x="215516" y="5949280"/>
            <a:ext cx="8712968" cy="36004"/>
          </a:xfrm>
          <a:prstGeom prst="line">
            <a:avLst/>
          </a:prstGeom>
          <a:noFill/>
          <a:ln w="6350" cap="flat" cmpd="sng" algn="ctr">
            <a:solidFill>
              <a:srgbClr val="000208"/>
            </a:solidFill>
            <a:prstDash val="dash"/>
            <a:round/>
            <a:headEnd type="none" w="lg" len="lg"/>
            <a:tailEnd type="none"/>
          </a:ln>
          <a:effectLst/>
        </p:spPr>
      </p:cxnSp>
      <p:sp>
        <p:nvSpPr>
          <p:cNvPr id="52" name="TextBox 51"/>
          <p:cNvSpPr txBox="1"/>
          <p:nvPr/>
        </p:nvSpPr>
        <p:spPr>
          <a:xfrm>
            <a:off x="190024" y="5945214"/>
            <a:ext cx="2365752" cy="400110"/>
          </a:xfrm>
          <a:prstGeom prst="rect">
            <a:avLst/>
          </a:prstGeom>
          <a:noFill/>
        </p:spPr>
        <p:txBody>
          <a:bodyPr wrap="none" rtlCol="0">
            <a:spAutoFit/>
          </a:bodyPr>
          <a:lstStyle/>
          <a:p>
            <a:r>
              <a:rPr lang="en-US" sz="2000" dirty="0"/>
              <a:t>Small integer types</a:t>
            </a:r>
            <a:endParaRPr lang="en-US" sz="2000" dirty="0"/>
          </a:p>
        </p:txBody>
      </p:sp>
      <p:cxnSp>
        <p:nvCxnSpPr>
          <p:cNvPr id="53" name="Straight Connector 52"/>
          <p:cNvCxnSpPr/>
          <p:nvPr/>
        </p:nvCxnSpPr>
        <p:spPr bwMode="auto">
          <a:xfrm>
            <a:off x="179512" y="2168860"/>
            <a:ext cx="8712968" cy="36004"/>
          </a:xfrm>
          <a:prstGeom prst="line">
            <a:avLst/>
          </a:prstGeom>
          <a:noFill/>
          <a:ln w="6350" cap="flat" cmpd="sng" algn="ctr">
            <a:solidFill>
              <a:srgbClr val="000208"/>
            </a:solidFill>
            <a:prstDash val="dash"/>
            <a:round/>
            <a:headEnd type="none" w="lg" len="lg"/>
            <a:tailEnd type="none"/>
          </a:ln>
          <a:effectLst/>
        </p:spPr>
      </p:cxnSp>
      <p:sp>
        <p:nvSpPr>
          <p:cNvPr id="43" name="Up Arrow 42"/>
          <p:cNvSpPr/>
          <p:nvPr/>
        </p:nvSpPr>
        <p:spPr bwMode="auto">
          <a:xfrm>
            <a:off x="6120172" y="1232756"/>
            <a:ext cx="1008112" cy="4860540"/>
          </a:xfrm>
          <a:prstGeom prst="upArrow">
            <a:avLst/>
          </a:prstGeom>
          <a:solidFill>
            <a:srgbClr val="FFFFFF"/>
          </a:solid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47" name="Up Arrow 46"/>
          <p:cNvSpPr/>
          <p:nvPr/>
        </p:nvSpPr>
        <p:spPr bwMode="auto">
          <a:xfrm rot="10800000">
            <a:off x="1727684" y="1160748"/>
            <a:ext cx="936104" cy="4860540"/>
          </a:xfrm>
          <a:prstGeom prst="upArrow">
            <a:avLst/>
          </a:prstGeom>
          <a:solidFill>
            <a:schemeClr val="bg1"/>
          </a:solid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pPr>
            <a:endParaRPr kumimoji="0" lang="en-US" sz="2000" b="0" i="0" u="none" strike="noStrike" cap="none" normalizeH="0" baseline="0" dirty="0">
              <a:ln>
                <a:noFill/>
              </a:ln>
              <a:solidFill>
                <a:srgbClr val="010507"/>
              </a:solidFill>
              <a:effectLst/>
              <a:latin typeface="Arial" panose="020B0604020202020204" pitchFamily="34" charset="0"/>
            </a:endParaRPr>
          </a:p>
        </p:txBody>
      </p:sp>
      <p:sp>
        <p:nvSpPr>
          <p:cNvPr id="3" name="Rectangle 2"/>
          <p:cNvSpPr/>
          <p:nvPr/>
        </p:nvSpPr>
        <p:spPr>
          <a:xfrm>
            <a:off x="7020272" y="3356992"/>
            <a:ext cx="2082571" cy="461665"/>
          </a:xfrm>
          <a:prstGeom prst="rect">
            <a:avLst/>
          </a:prstGeom>
        </p:spPr>
        <p:txBody>
          <a:bodyPr wrap="none">
            <a:spAutoFit/>
          </a:bodyPr>
          <a:lstStyle/>
          <a:p>
            <a:r>
              <a:rPr lang="en-GB" sz="2400" b="1" dirty="0">
                <a:solidFill>
                  <a:srgbClr val="000000"/>
                </a:solidFill>
                <a:cs typeface="MS PGothic" panose="020B0600070205080204" charset="-128"/>
              </a:rPr>
              <a:t>PROMOTION</a:t>
            </a:r>
            <a:endParaRPr lang="en-US" sz="2400" dirty="0">
              <a:solidFill>
                <a:srgbClr val="000000"/>
              </a:solidFill>
            </a:endParaRPr>
          </a:p>
        </p:txBody>
      </p:sp>
      <p:sp>
        <p:nvSpPr>
          <p:cNvPr id="48" name="Rectangle 47"/>
          <p:cNvSpPr/>
          <p:nvPr/>
        </p:nvSpPr>
        <p:spPr>
          <a:xfrm>
            <a:off x="119699" y="3248980"/>
            <a:ext cx="1843173" cy="461665"/>
          </a:xfrm>
          <a:prstGeom prst="rect">
            <a:avLst/>
          </a:prstGeom>
        </p:spPr>
        <p:txBody>
          <a:bodyPr wrap="none">
            <a:spAutoFit/>
          </a:bodyPr>
          <a:lstStyle/>
          <a:p>
            <a:r>
              <a:rPr lang="en-GB" sz="2400" b="1" dirty="0">
                <a:solidFill>
                  <a:srgbClr val="000000"/>
                </a:solidFill>
                <a:cs typeface="MS PGothic" panose="020B0600070205080204" charset="-128"/>
              </a:rPr>
              <a:t>DEMOTION</a:t>
            </a:r>
            <a:endParaRPr lang="en-US" sz="24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7" grpId="0" animBg="1"/>
      <p:bldP spid="3" grpId="0"/>
      <p:bldP spid="4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re 1"/>
          <p:cNvSpPr>
            <a:spLocks noGrp="1"/>
          </p:cNvSpPr>
          <p:nvPr>
            <p:ph type="title"/>
          </p:nvPr>
        </p:nvSpPr>
        <p:spPr/>
        <p:txBody>
          <a:bodyPr/>
          <a:lstStyle/>
          <a:p>
            <a:r>
              <a:rPr lang="fr-FR" sz="2800" dirty="0">
                <a:latin typeface="Arial" panose="020B0604020202020204" pitchFamily="34" charset="0"/>
                <a:cs typeface="MS PGothic" panose="020B0600070205080204" charset="-128"/>
              </a:rPr>
              <a:t>Conversion explicite : Opérateur de coulée</a:t>
            </a:r>
            <a:endParaRPr lang="fr-FR" sz="2800" dirty="0">
              <a:latin typeface="Arial" panose="020B0604020202020204" pitchFamily="34" charset="0"/>
              <a:ea typeface="MS PGothic" panose="020B0600070205080204" charset="-128"/>
              <a:cs typeface="MS PGothic" panose="020B0600070205080204" charset="-128"/>
            </a:endParaRPr>
          </a:p>
        </p:txBody>
      </p:sp>
      <p:sp>
        <p:nvSpPr>
          <p:cNvPr id="78850" name="Espace réservé du contenu 2"/>
          <p:cNvSpPr>
            <a:spLocks noGrp="1"/>
          </p:cNvSpPr>
          <p:nvPr>
            <p:ph idx="1"/>
          </p:nvPr>
        </p:nvSpPr>
        <p:spPr>
          <a:xfrm>
            <a:off x="457200" y="728700"/>
            <a:ext cx="8867328" cy="5257800"/>
          </a:xfrm>
        </p:spPr>
        <p:txBody>
          <a:bodyPr/>
          <a:lstStyle/>
          <a:p>
            <a:r>
              <a:rPr lang="en-GB" dirty="0" smtClean="0">
                <a:latin typeface="Arial" panose="020B0604020202020204" pitchFamily="34" charset="0"/>
                <a:cs typeface="MS PGothic" panose="020B0600070205080204" charset="-128"/>
              </a:rPr>
              <a:t>Syntaxe</a:t>
            </a:r>
            <a:endParaRPr lang="en-GB" dirty="0">
              <a:latin typeface="Arial" panose="020B0604020202020204" pitchFamily="34" charset="0"/>
              <a:cs typeface="MS PGothic" panose="020B0600070205080204" charset="-128"/>
            </a:endParaRPr>
          </a:p>
          <a:p>
            <a:pPr marL="542925" lvl="1" indent="0">
              <a:buNone/>
            </a:pPr>
            <a:r>
              <a:rPr lang="en-GB" b="1" dirty="0">
                <a:latin typeface="Courier"/>
                <a:cs typeface="Courier"/>
              </a:rPr>
              <a:t>(type) identifier; </a:t>
            </a:r>
            <a:endParaRPr lang="en-GB" b="1" dirty="0">
              <a:latin typeface="Courier"/>
              <a:cs typeface="Courier"/>
            </a:endParaRPr>
          </a:p>
          <a:p>
            <a:pPr marL="542925" lvl="1" indent="0">
              <a:buNone/>
            </a:pPr>
            <a:endParaRPr lang="en-GB" b="1" dirty="0">
              <a:latin typeface="Courier"/>
              <a:cs typeface="Courier"/>
            </a:endParaRPr>
          </a:p>
          <a:p>
            <a:pPr marL="0" indent="0">
              <a:buNone/>
            </a:pPr>
            <a:endParaRPr lang="en-GB" dirty="0" smtClean="0">
              <a:latin typeface="Arial" panose="020B0604020202020204" pitchFamily="34" charset="0"/>
              <a:cs typeface="MS PGothic" panose="020B0600070205080204" charset="-128"/>
            </a:endParaRPr>
          </a:p>
          <a:p>
            <a:r>
              <a:rPr lang="fr-FR" dirty="0">
                <a:latin typeface="Arial" panose="020B0604020202020204" pitchFamily="34" charset="0"/>
                <a:cs typeface="MS PGothic" panose="020B0600070205080204" charset="-128"/>
              </a:rPr>
              <a:t>Crée une </a:t>
            </a:r>
            <a:r>
              <a:rPr lang="fr-FR" b="1" dirty="0">
                <a:solidFill>
                  <a:srgbClr val="FF0000"/>
                </a:solidFill>
                <a:latin typeface="Arial" panose="020B0604020202020204" pitchFamily="34" charset="0"/>
                <a:cs typeface="MS PGothic" panose="020B0600070205080204" charset="-128"/>
              </a:rPr>
              <a:t>copie</a:t>
            </a:r>
            <a:r>
              <a:rPr lang="fr-FR" dirty="0">
                <a:latin typeface="Arial" panose="020B0604020202020204" pitchFamily="34" charset="0"/>
                <a:cs typeface="MS PGothic" panose="020B0600070205080204" charset="-128"/>
              </a:rPr>
              <a:t> de l'objet de données et change son type. </a:t>
            </a:r>
            <a:r>
              <a:rPr lang="en-GB" dirty="0" smtClean="0">
                <a:latin typeface="Arial" panose="020B0604020202020204" pitchFamily="34" charset="0"/>
                <a:cs typeface="MS PGothic" panose="020B0600070205080204" charset="-128"/>
              </a:rPr>
              <a:t> </a:t>
            </a:r>
            <a:endParaRPr lang="en-GB" dirty="0">
              <a:latin typeface="Arial" panose="020B0604020202020204" pitchFamily="34" charset="0"/>
              <a:cs typeface="MS PGothic" panose="020B0600070205080204" charset="-128"/>
            </a:endParaRPr>
          </a:p>
          <a:p>
            <a:pPr marL="0" indent="0">
              <a:buNone/>
            </a:pPr>
            <a:endParaRPr lang="en-GB" dirty="0" smtClean="0">
              <a:latin typeface="Arial" panose="020B0604020202020204" pitchFamily="34" charset="0"/>
              <a:cs typeface="MS PGothic" panose="020B0600070205080204" charset="-128"/>
            </a:endParaRPr>
          </a:p>
          <a:p>
            <a:pPr marL="0" indent="0">
              <a:buNone/>
            </a:pPr>
            <a:endParaRPr lang="en-GB" dirty="0" smtClean="0">
              <a:latin typeface="Arial" panose="020B0604020202020204" pitchFamily="34" charset="0"/>
              <a:cs typeface="MS PGothic" panose="020B0600070205080204" charset="-128"/>
            </a:endParaRPr>
          </a:p>
          <a:p>
            <a:r>
              <a:rPr lang="fr-FR" dirty="0">
                <a:latin typeface="Arial" panose="020B0604020202020204" pitchFamily="34" charset="0"/>
                <a:cs typeface="MS PGothic" panose="020B0600070205080204" charset="-128"/>
              </a:rPr>
              <a:t>L'objet de données de l'identifiant n'est </a:t>
            </a:r>
            <a:r>
              <a:rPr lang="fr-FR" b="1" dirty="0">
                <a:solidFill>
                  <a:srgbClr val="FF0000"/>
                </a:solidFill>
                <a:latin typeface="Arial" panose="020B0604020202020204" pitchFamily="34" charset="0"/>
                <a:cs typeface="MS PGothic" panose="020B0600070205080204" charset="-128"/>
              </a:rPr>
              <a:t>PAS</a:t>
            </a:r>
            <a:r>
              <a:rPr lang="fr-FR" dirty="0">
                <a:latin typeface="Arial" panose="020B0604020202020204" pitchFamily="34" charset="0"/>
                <a:cs typeface="MS PGothic" panose="020B0600070205080204" charset="-128"/>
              </a:rPr>
              <a:t> modifié</a:t>
            </a:r>
            <a:endParaRPr lang="en-GB" dirty="0">
              <a:latin typeface="Arial" panose="020B0604020202020204" pitchFamily="34" charset="0"/>
              <a:cs typeface="MS PGothic" panose="020B0600070205080204" charset="-128"/>
            </a:endParaRPr>
          </a:p>
          <a:p>
            <a:pPr marL="542925" lvl="1" indent="0">
              <a:buNone/>
            </a:pPr>
            <a:endParaRPr lang="en-GB" dirty="0">
              <a:latin typeface="Arial" panose="020B0604020202020204" pitchFamily="34" charset="0"/>
              <a:cs typeface="MS PGothic" panose="020B0600070205080204" charset="-128"/>
            </a:endParaRPr>
          </a:p>
        </p:txBody>
      </p:sp>
      <p:sp>
        <p:nvSpPr>
          <p:cNvPr id="4"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6"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z="2800" dirty="0"/>
              <a:t>Avec la conversion implicite ou explicite</a:t>
            </a:r>
            <a:endParaRPr lang="en-US" sz="2800" dirty="0"/>
          </a:p>
        </p:txBody>
      </p:sp>
      <p:sp>
        <p:nvSpPr>
          <p:cNvPr id="3" name="Content Placeholder 2"/>
          <p:cNvSpPr>
            <a:spLocks noGrp="1"/>
          </p:cNvSpPr>
          <p:nvPr>
            <p:ph idx="1"/>
          </p:nvPr>
        </p:nvSpPr>
        <p:spPr>
          <a:xfrm>
            <a:off x="457200" y="914400"/>
            <a:ext cx="9119356" cy="5257800"/>
          </a:xfrm>
        </p:spPr>
        <p:txBody>
          <a:bodyPr/>
          <a:lstStyle/>
          <a:p>
            <a:r>
              <a:rPr lang="en-GB" dirty="0">
                <a:latin typeface="Arial" panose="020B0604020202020204" pitchFamily="34" charset="0"/>
                <a:cs typeface="MS PGothic" panose="020B0600070205080204" charset="-128"/>
              </a:rPr>
              <a:t>Les changements de type </a:t>
            </a:r>
            <a:r>
              <a:rPr lang="en-GB" dirty="0">
                <a:latin typeface="Arial" panose="020B0604020202020204" pitchFamily="34" charset="0"/>
                <a:cs typeface="MS PGothic" panose="020B0600070205080204" charset="-128"/>
                <a:sym typeface="Wingdings" panose="05000000000000000000"/>
              </a:rPr>
              <a:t></a:t>
            </a:r>
            <a:endParaRPr lang="en-GB" dirty="0">
              <a:latin typeface="Arial" panose="020B0604020202020204" pitchFamily="34" charset="0"/>
              <a:cs typeface="MS PGothic" panose="020B0600070205080204" charset="-128"/>
            </a:endParaRPr>
          </a:p>
          <a:p>
            <a:endParaRPr lang="en-GB" dirty="0">
              <a:latin typeface="Arial" panose="020B0604020202020204" pitchFamily="34" charset="0"/>
              <a:cs typeface="MS PGothic" panose="020B0600070205080204" charset="-128"/>
            </a:endParaRPr>
          </a:p>
          <a:p>
            <a:r>
              <a:rPr lang="fr-FR" dirty="0">
                <a:latin typeface="Arial" panose="020B0604020202020204" pitchFamily="34" charset="0"/>
                <a:cs typeface="MS PGothic" panose="020B0600070205080204" charset="-128"/>
              </a:rPr>
              <a:t>Ainsi, la taille de stockage et/ou la représentation change </a:t>
            </a:r>
            <a:r>
              <a:rPr lang="en-GB" dirty="0" smtClean="0">
                <a:latin typeface="Arial" panose="020B0604020202020204" pitchFamily="34" charset="0"/>
                <a:cs typeface="MS PGothic" panose="020B0600070205080204" charset="-128"/>
                <a:sym typeface="Wingdings" panose="05000000000000000000"/>
              </a:rPr>
              <a:t></a:t>
            </a:r>
            <a:endParaRPr lang="en-GB" dirty="0">
              <a:latin typeface="Arial" panose="020B0604020202020204" pitchFamily="34" charset="0"/>
              <a:cs typeface="MS PGothic" panose="020B0600070205080204" charset="-128"/>
            </a:endParaRPr>
          </a:p>
          <a:p>
            <a:endParaRPr lang="en-GB" dirty="0">
              <a:latin typeface="Arial" panose="020B0604020202020204" pitchFamily="34" charset="0"/>
              <a:cs typeface="MS PGothic" panose="020B0600070205080204" charset="-128"/>
            </a:endParaRPr>
          </a:p>
          <a:p>
            <a:r>
              <a:rPr lang="fr-FR" dirty="0">
                <a:latin typeface="Arial" panose="020B0604020202020204" pitchFamily="34" charset="0"/>
                <a:cs typeface="MS PGothic" panose="020B0600070205080204" charset="-128"/>
              </a:rPr>
              <a:t>Donc, la </a:t>
            </a:r>
            <a:r>
              <a:rPr lang="fr-FR" b="1" dirty="0">
                <a:solidFill>
                  <a:srgbClr val="FF0000"/>
                </a:solidFill>
                <a:latin typeface="Arial" panose="020B0604020202020204" pitchFamily="34" charset="0"/>
                <a:cs typeface="MS PGothic" panose="020B0600070205080204" charset="-128"/>
              </a:rPr>
              <a:t>valeur PEUT changer</a:t>
            </a:r>
            <a:endParaRPr lang="en-US" b="1" dirty="0">
              <a:solidFill>
                <a:srgbClr val="FF0000"/>
              </a:solidFill>
            </a:endParaRPr>
          </a:p>
        </p:txBody>
      </p:sp>
      <p:sp>
        <p:nvSpPr>
          <p:cNvPr id="5" name="Slide Number Placeholder 4"/>
          <p:cNvSpPr>
            <a:spLocks noGrp="1"/>
          </p:cNvSpPr>
          <p:nvPr>
            <p:ph type="sldNum" sz="quarter" idx="11"/>
          </p:nvPr>
        </p:nvSpPr>
        <p:spPr/>
        <p:txBody>
          <a:bodyPr/>
          <a:lstStyle/>
          <a:p>
            <a:pPr lvl="2"/>
            <a:fld id="{28BEB0BA-EEE4-5F45-9179-3BC54B76BCCF}" type="slidenum">
              <a:rPr lang="fr-FR" smtClean="0"/>
            </a:fld>
            <a:endParaRPr lang="fr-FR"/>
          </a:p>
        </p:txBody>
      </p:sp>
      <p:sp>
        <p:nvSpPr>
          <p:cNvPr id="6"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re 1"/>
          <p:cNvSpPr>
            <a:spLocks noGrp="1"/>
          </p:cNvSpPr>
          <p:nvPr>
            <p:ph type="title"/>
          </p:nvPr>
        </p:nvSpPr>
        <p:spPr>
          <a:xfrm>
            <a:off x="304800" y="152400"/>
            <a:ext cx="9307760" cy="533400"/>
          </a:xfrm>
        </p:spPr>
        <p:txBody>
          <a:bodyPr/>
          <a:lstStyle/>
          <a:p>
            <a:r>
              <a:rPr lang="fr-FR" sz="2800" dirty="0">
                <a:latin typeface="Arial" panose="020B0604020202020204" pitchFamily="34" charset="0"/>
                <a:cs typeface="MS PGothic" panose="020B0600070205080204" charset="-128"/>
              </a:rPr>
              <a:t>Et, quand on fait une représentation différente ?</a:t>
            </a:r>
            <a:endParaRPr lang="fr-FR" sz="2800" dirty="0">
              <a:latin typeface="Arial" panose="020B0604020202020204" pitchFamily="34" charset="0"/>
              <a:ea typeface="MS PGothic" panose="020B0600070205080204" charset="-128"/>
              <a:cs typeface="MS PGothic" panose="020B0600070205080204" charset="-128"/>
            </a:endParaRPr>
          </a:p>
        </p:txBody>
      </p:sp>
      <p:sp>
        <p:nvSpPr>
          <p:cNvPr id="78850" name="Espace réservé du contenu 2"/>
          <p:cNvSpPr>
            <a:spLocks noGrp="1"/>
          </p:cNvSpPr>
          <p:nvPr>
            <p:ph idx="1"/>
          </p:nvPr>
        </p:nvSpPr>
        <p:spPr>
          <a:xfrm>
            <a:off x="-508" y="914400"/>
            <a:ext cx="9144508" cy="5257800"/>
          </a:xfrm>
        </p:spPr>
        <p:txBody>
          <a:bodyPr/>
          <a:lstStyle/>
          <a:p>
            <a:r>
              <a:rPr lang="en-GB" dirty="0" smtClean="0"/>
              <a:t>Transformation de </a:t>
            </a:r>
            <a:r>
              <a:rPr lang="en-GB" b="1" dirty="0" smtClean="0"/>
              <a:t>floa</a:t>
            </a:r>
            <a:r>
              <a:rPr lang="en-GB" dirty="0" smtClean="0"/>
              <a:t>t en </a:t>
            </a:r>
            <a:r>
              <a:rPr lang="en-GB" b="1" dirty="0" smtClean="0"/>
              <a:t>int</a:t>
            </a:r>
            <a:r>
              <a:rPr lang="en-GB" dirty="0" smtClean="0"/>
              <a:t> </a:t>
            </a:r>
            <a:r>
              <a:rPr lang="en-GB" b="1" dirty="0" smtClean="0"/>
              <a:t>: </a:t>
            </a:r>
            <a:r>
              <a:rPr lang="en-GB" sz="2200" dirty="0" smtClean="0"/>
              <a:t>Cela change la représentation !</a:t>
            </a:r>
            <a:endParaRPr lang="en-GB" sz="2200" dirty="0" smtClean="0"/>
          </a:p>
          <a:p>
            <a:pPr lvl="1"/>
            <a:r>
              <a:rPr lang="en-GB" b="1" dirty="0" smtClean="0">
                <a:latin typeface="Courier"/>
                <a:cs typeface="Courier"/>
              </a:rPr>
              <a:t>float </a:t>
            </a:r>
            <a:r>
              <a:rPr lang="fr-FR" b="1" dirty="0">
                <a:latin typeface="Courier"/>
                <a:cs typeface="Courier"/>
              </a:rPr>
              <a:t>est représenté en simple précision IEEE 754</a:t>
            </a:r>
            <a:endParaRPr lang="en-GB" dirty="0" smtClean="0"/>
          </a:p>
          <a:p>
            <a:pPr lvl="1"/>
            <a:r>
              <a:rPr lang="en-GB" b="1" dirty="0" smtClean="0">
                <a:latin typeface="Courier"/>
                <a:cs typeface="Courier"/>
              </a:rPr>
              <a:t>int </a:t>
            </a:r>
            <a:r>
              <a:rPr lang="fr-FR" b="1" dirty="0">
                <a:latin typeface="Courier"/>
                <a:cs typeface="Courier"/>
              </a:rPr>
              <a:t>est généralement un complément à 2</a:t>
            </a:r>
            <a:endParaRPr lang="en-GB" dirty="0" smtClean="0"/>
          </a:p>
          <a:p>
            <a:pPr marL="542925" lvl="1" indent="0">
              <a:buNone/>
            </a:pPr>
            <a:r>
              <a:rPr lang="en-GB" b="1" dirty="0" smtClean="0">
                <a:latin typeface="Courier"/>
                <a:cs typeface="Courier"/>
              </a:rPr>
              <a:t>float f = 3.9 ; </a:t>
            </a:r>
            <a:endParaRPr lang="en-GB" b="1" dirty="0" smtClean="0">
              <a:latin typeface="Courier"/>
              <a:cs typeface="Courier"/>
            </a:endParaRPr>
          </a:p>
          <a:p>
            <a:pPr marL="542925" lvl="1" indent="0">
              <a:buNone/>
            </a:pPr>
            <a:r>
              <a:rPr lang="en-GB" b="1" dirty="0" smtClean="0">
                <a:latin typeface="Courier"/>
                <a:cs typeface="Courier"/>
              </a:rPr>
              <a:t>int </a:t>
            </a:r>
            <a:r>
              <a:rPr lang="en-GB" b="1" dirty="0">
                <a:latin typeface="Courier"/>
                <a:cs typeface="Courier"/>
              </a:rPr>
              <a:t>val = (int) f  ;</a:t>
            </a:r>
            <a:endParaRPr lang="en-GB" b="1" dirty="0">
              <a:latin typeface="Courier"/>
              <a:cs typeface="Courier"/>
            </a:endParaRPr>
          </a:p>
          <a:p>
            <a:pPr lvl="1"/>
            <a:r>
              <a:rPr lang="en-GB" dirty="0"/>
              <a:t>La valeur est tronquée !</a:t>
            </a:r>
            <a:endParaRPr lang="en-GB" dirty="0"/>
          </a:p>
          <a:p>
            <a:pPr lvl="2"/>
            <a:r>
              <a:rPr lang="fr-FR" dirty="0"/>
              <a:t>3,9 est tronqué à 3,0 et stocké en tant </a:t>
            </a:r>
            <a:r>
              <a:rPr lang="fr-FR" dirty="0" smtClean="0"/>
              <a:t>que 3</a:t>
            </a:r>
            <a:r>
              <a:rPr lang="en-GB" dirty="0"/>
              <a:t> en complément à </a:t>
            </a:r>
            <a:r>
              <a:rPr lang="en-GB" dirty="0" smtClean="0"/>
              <a:t>2</a:t>
            </a:r>
            <a:endParaRPr lang="en-GB" dirty="0" smtClean="0"/>
          </a:p>
          <a:p>
            <a:pPr lvl="2" indent="0">
              <a:buNone/>
            </a:pPr>
            <a:endParaRPr lang="en-GB" dirty="0"/>
          </a:p>
          <a:p>
            <a:pPr marL="363855" lvl="1" indent="-363855">
              <a:buSzTx/>
              <a:buBlip>
                <a:blip r:embed="rId1"/>
              </a:buBlip>
            </a:pPr>
            <a:r>
              <a:rPr lang="en-GB" sz="2400" dirty="0" smtClean="0"/>
              <a:t>Transformation de </a:t>
            </a:r>
            <a:r>
              <a:rPr lang="en-GB" sz="2400" b="1" dirty="0">
                <a:latin typeface="Courier"/>
                <a:cs typeface="Courier"/>
              </a:rPr>
              <a:t>int</a:t>
            </a:r>
            <a:r>
              <a:rPr lang="en-GB" sz="2400" dirty="0"/>
              <a:t> </a:t>
            </a:r>
            <a:r>
              <a:rPr lang="en-GB" sz="2400" dirty="0" smtClean="0"/>
              <a:t>en </a:t>
            </a:r>
            <a:r>
              <a:rPr lang="en-GB" sz="2400" b="1" dirty="0">
                <a:latin typeface="Courier"/>
                <a:cs typeface="Courier"/>
              </a:rPr>
              <a:t>float: </a:t>
            </a:r>
            <a:r>
              <a:rPr lang="en-GB" dirty="0"/>
              <a:t>Cela change la représentation !</a:t>
            </a:r>
            <a:endParaRPr lang="en-GB" b="1" dirty="0">
              <a:latin typeface="Courier"/>
              <a:cs typeface="Courier"/>
            </a:endParaRPr>
          </a:p>
          <a:p>
            <a:pPr marL="542925" lvl="1" indent="0">
              <a:buNone/>
            </a:pPr>
            <a:r>
              <a:rPr lang="en-GB" b="1" dirty="0">
                <a:latin typeface="Courier"/>
                <a:cs typeface="Courier"/>
              </a:rPr>
              <a:t>int f = 3 ; </a:t>
            </a:r>
            <a:endParaRPr lang="en-GB" b="1" dirty="0">
              <a:latin typeface="Courier"/>
              <a:cs typeface="Courier"/>
            </a:endParaRPr>
          </a:p>
          <a:p>
            <a:pPr marL="542925" lvl="1" indent="0">
              <a:buNone/>
            </a:pPr>
            <a:r>
              <a:rPr lang="en-GB" b="1" dirty="0">
                <a:latin typeface="Courier"/>
                <a:cs typeface="Courier"/>
              </a:rPr>
              <a:t>float val = (float) f </a:t>
            </a:r>
            <a:r>
              <a:rPr lang="en-GB" b="1" dirty="0" smtClean="0">
                <a:latin typeface="Courier"/>
                <a:cs typeface="Courier"/>
              </a:rPr>
              <a:t>;</a:t>
            </a:r>
            <a:endParaRPr lang="en-GB" b="1" dirty="0">
              <a:latin typeface="Courier"/>
              <a:cs typeface="Courier"/>
            </a:endParaRPr>
          </a:p>
          <a:p>
            <a:pPr lvl="1"/>
            <a:r>
              <a:rPr lang="en-GB" dirty="0" smtClean="0"/>
              <a:t>Valeur à convertir en float (</a:t>
            </a:r>
            <a:r>
              <a:rPr lang="fr-FR" dirty="0"/>
              <a:t>ainsi, 3 est converti en 3.0</a:t>
            </a:r>
            <a:r>
              <a:rPr lang="en-GB" dirty="0" smtClean="0"/>
              <a:t>)</a:t>
            </a:r>
            <a:endParaRPr lang="en-GB" dirty="0"/>
          </a:p>
          <a:p>
            <a:pPr lvl="2" indent="0">
              <a:buNone/>
            </a:pPr>
            <a:endParaRPr lang="en-GB" sz="1000" dirty="0"/>
          </a:p>
        </p:txBody>
      </p:sp>
      <p:sp>
        <p:nvSpPr>
          <p:cNvPr id="6"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8"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0">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8850">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8850">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885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re 1"/>
          <p:cNvSpPr>
            <a:spLocks noGrp="1"/>
          </p:cNvSpPr>
          <p:nvPr>
            <p:ph type="title"/>
          </p:nvPr>
        </p:nvSpPr>
        <p:spPr/>
        <p:txBody>
          <a:bodyPr/>
          <a:lstStyle/>
          <a:p>
            <a:r>
              <a:rPr lang="fr-FR" sz="2800" dirty="0">
                <a:latin typeface="Arial" panose="020B0604020202020204" pitchFamily="34" charset="0"/>
                <a:cs typeface="MS PGothic" panose="020B0600070205080204" charset="-128"/>
              </a:rPr>
              <a:t>Conversion de type : </a:t>
            </a:r>
            <a:r>
              <a:rPr lang="fr-FR" sz="2800" dirty="0" smtClean="0">
                <a:latin typeface="Arial" panose="020B0604020202020204" pitchFamily="34" charset="0"/>
                <a:cs typeface="MS PGothic" panose="020B0600070205080204" charset="-128"/>
              </a:rPr>
              <a:t>Exemples</a:t>
            </a:r>
            <a:endParaRPr lang="fr-FR" sz="2800" dirty="0">
              <a:latin typeface="Arial" panose="020B0604020202020204" pitchFamily="34" charset="0"/>
              <a:ea typeface="MS PGothic" panose="020B0600070205080204" charset="-128"/>
              <a:cs typeface="MS PGothic" panose="020B0600070205080204" charset="-128"/>
            </a:endParaRPr>
          </a:p>
        </p:txBody>
      </p:sp>
      <p:sp>
        <p:nvSpPr>
          <p:cNvPr id="78850" name="Espace réservé du contenu 2"/>
          <p:cNvSpPr>
            <a:spLocks noGrp="1"/>
          </p:cNvSpPr>
          <p:nvPr>
            <p:ph idx="1"/>
          </p:nvPr>
        </p:nvSpPr>
        <p:spPr>
          <a:xfrm>
            <a:off x="457200" y="728700"/>
            <a:ext cx="8867328" cy="5257800"/>
          </a:xfrm>
        </p:spPr>
        <p:txBody>
          <a:bodyPr/>
          <a:lstStyle/>
          <a:p>
            <a:r>
              <a:rPr lang="en-GB" b="1" dirty="0">
                <a:latin typeface="Courier"/>
                <a:cs typeface="Courier"/>
              </a:rPr>
              <a:t>int x;</a:t>
            </a:r>
            <a:endParaRPr lang="en-GB" sz="800" dirty="0">
              <a:latin typeface="Arial" panose="020B0604020202020204" pitchFamily="34" charset="0"/>
              <a:cs typeface="MS PGothic" panose="020B0600070205080204" charset="-128"/>
            </a:endParaRPr>
          </a:p>
          <a:p>
            <a:r>
              <a:rPr lang="en-GB" dirty="0">
                <a:latin typeface="Arial" panose="020B0604020202020204" pitchFamily="34" charset="0"/>
                <a:cs typeface="MS PGothic" panose="020B0600070205080204" charset="-128"/>
              </a:rPr>
              <a:t>Conversion implicite : 	</a:t>
            </a:r>
            <a:r>
              <a:rPr lang="en-GB" b="1" dirty="0">
                <a:latin typeface="Courier"/>
                <a:cs typeface="Courier"/>
              </a:rPr>
              <a:t>x = 1.5 + 1.6; </a:t>
            </a:r>
            <a:endParaRPr lang="en-GB" dirty="0">
              <a:latin typeface="Arial" panose="020B0604020202020204" pitchFamily="34" charset="0"/>
              <a:cs typeface="MS PGothic" panose="020B0600070205080204" charset="-128"/>
            </a:endParaRPr>
          </a:p>
          <a:p>
            <a:pPr lvl="1"/>
            <a:r>
              <a:rPr lang="en-GB" b="1" dirty="0">
                <a:latin typeface="Courier"/>
                <a:cs typeface="Courier"/>
              </a:rPr>
              <a:t>1.5 </a:t>
            </a:r>
            <a:r>
              <a:rPr lang="en-GB" b="1" dirty="0">
                <a:latin typeface="Courier"/>
                <a:cs typeface="Courier"/>
                <a:sym typeface="Wingdings" panose="05000000000000000000"/>
              </a:rPr>
              <a:t> double</a:t>
            </a:r>
            <a:endParaRPr lang="en-GB" b="1" dirty="0">
              <a:latin typeface="Courier"/>
              <a:cs typeface="Courier"/>
            </a:endParaRPr>
          </a:p>
          <a:p>
            <a:pPr lvl="1"/>
            <a:r>
              <a:rPr lang="en-GB" b="1" dirty="0">
                <a:latin typeface="Courier"/>
                <a:cs typeface="Courier"/>
              </a:rPr>
              <a:t>1.6 </a:t>
            </a:r>
            <a:r>
              <a:rPr lang="en-GB" b="1" dirty="0">
                <a:latin typeface="Courier"/>
                <a:cs typeface="Courier"/>
                <a:sym typeface="Wingdings" panose="05000000000000000000"/>
              </a:rPr>
              <a:t> double</a:t>
            </a:r>
            <a:endParaRPr lang="en-GB" b="1" dirty="0">
              <a:latin typeface="Courier"/>
              <a:cs typeface="Courier"/>
              <a:sym typeface="Wingdings" panose="05000000000000000000"/>
            </a:endParaRPr>
          </a:p>
          <a:p>
            <a:pPr lvl="1"/>
            <a:r>
              <a:rPr lang="en-GB" b="1" dirty="0">
                <a:latin typeface="Courier"/>
                <a:cs typeface="Courier"/>
              </a:rPr>
              <a:t>1.5 + 1.6 = 3.1 </a:t>
            </a:r>
            <a:r>
              <a:rPr lang="en-GB" dirty="0">
                <a:cs typeface="Courier"/>
              </a:rPr>
              <a:t>double addition</a:t>
            </a:r>
            <a:endParaRPr lang="en-GB" dirty="0">
              <a:cs typeface="Courier"/>
            </a:endParaRPr>
          </a:p>
          <a:p>
            <a:pPr lvl="1"/>
            <a:r>
              <a:rPr lang="en-GB" b="1" dirty="0">
                <a:latin typeface="Courier"/>
                <a:cs typeface="Courier"/>
              </a:rPr>
              <a:t>x </a:t>
            </a:r>
            <a:r>
              <a:rPr lang="en-GB" b="1" dirty="0">
                <a:latin typeface="Courier"/>
                <a:cs typeface="Courier"/>
                <a:sym typeface="Wingdings" panose="05000000000000000000"/>
              </a:rPr>
              <a:t> int</a:t>
            </a:r>
            <a:endParaRPr lang="en-GB" b="1" dirty="0">
              <a:latin typeface="Courier"/>
              <a:cs typeface="Courier"/>
              <a:sym typeface="Wingdings" panose="05000000000000000000"/>
            </a:endParaRPr>
          </a:p>
          <a:p>
            <a:pPr lvl="1"/>
            <a:r>
              <a:rPr lang="en-GB" b="1" dirty="0">
                <a:latin typeface="Courier"/>
                <a:cs typeface="Courier"/>
                <a:sym typeface="Wingdings" panose="05000000000000000000"/>
              </a:rPr>
              <a:t>3.1  3 </a:t>
            </a:r>
            <a:r>
              <a:rPr lang="en-GB" b="1" dirty="0">
                <a:cs typeface="Courier"/>
                <a:sym typeface="Wingdings" panose="05000000000000000000"/>
              </a:rPr>
              <a:t>DEMOTION </a:t>
            </a:r>
            <a:r>
              <a:rPr lang="en-GB" dirty="0" smtClean="0">
                <a:cs typeface="Courier"/>
                <a:sym typeface="Wingdings" panose="05000000000000000000"/>
              </a:rPr>
              <a:t>pour correspondre avec i</a:t>
            </a:r>
            <a:r>
              <a:rPr lang="en-GB" b="1" dirty="0" smtClean="0">
                <a:latin typeface="Courier"/>
                <a:cs typeface="Courier"/>
                <a:sym typeface="Wingdings" panose="05000000000000000000"/>
              </a:rPr>
              <a:t>nt</a:t>
            </a:r>
            <a:endParaRPr lang="en-GB" b="1" dirty="0">
              <a:latin typeface="Courier"/>
              <a:cs typeface="Courier"/>
              <a:sym typeface="Wingdings" panose="05000000000000000000"/>
            </a:endParaRPr>
          </a:p>
          <a:p>
            <a:pPr lvl="2"/>
            <a:r>
              <a:rPr lang="en-GB" b="1" dirty="0">
                <a:latin typeface="Courier"/>
                <a:cs typeface="Courier"/>
                <a:sym typeface="Wingdings" panose="05000000000000000000"/>
              </a:rPr>
              <a:t>x = 3</a:t>
            </a:r>
            <a:endParaRPr lang="en-GB" sz="800" dirty="0">
              <a:latin typeface="Arial" panose="020B0604020202020204" pitchFamily="34" charset="0"/>
              <a:cs typeface="MS PGothic" panose="020B0600070205080204" charset="-128"/>
            </a:endParaRPr>
          </a:p>
          <a:p>
            <a:r>
              <a:rPr lang="en-GB" dirty="0" smtClean="0">
                <a:latin typeface="Arial" panose="020B0604020202020204" pitchFamily="34" charset="0"/>
                <a:cs typeface="MS PGothic" panose="020B0600070205080204" charset="-128"/>
              </a:rPr>
              <a:t>Conversion explicite :  </a:t>
            </a:r>
            <a:r>
              <a:rPr lang="en-GB" b="1" dirty="0" smtClean="0">
                <a:latin typeface="Courier"/>
                <a:cs typeface="Courier"/>
              </a:rPr>
              <a:t>x </a:t>
            </a:r>
            <a:r>
              <a:rPr lang="en-GB" b="1" dirty="0">
                <a:latin typeface="Courier"/>
                <a:cs typeface="Courier"/>
              </a:rPr>
              <a:t>= (int) 1.5 + (int) 1.6; </a:t>
            </a:r>
            <a:endParaRPr lang="en-GB" b="1" dirty="0">
              <a:latin typeface="Courier"/>
              <a:cs typeface="Courier"/>
            </a:endParaRPr>
          </a:p>
          <a:p>
            <a:pPr lvl="1"/>
            <a:r>
              <a:rPr lang="en-GB" b="1" dirty="0">
                <a:latin typeface="Courier"/>
                <a:cs typeface="Courier"/>
              </a:rPr>
              <a:t>1.5 </a:t>
            </a:r>
            <a:r>
              <a:rPr lang="en-GB" b="1" dirty="0">
                <a:latin typeface="Courier"/>
                <a:cs typeface="Courier"/>
                <a:sym typeface="Wingdings" panose="05000000000000000000"/>
              </a:rPr>
              <a:t> double</a:t>
            </a:r>
            <a:endParaRPr lang="en-GB" b="1" dirty="0">
              <a:latin typeface="Courier"/>
              <a:cs typeface="Courier"/>
              <a:sym typeface="Wingdings" panose="05000000000000000000"/>
            </a:endParaRPr>
          </a:p>
          <a:p>
            <a:pPr lvl="1"/>
            <a:r>
              <a:rPr lang="en-GB" b="1" dirty="0">
                <a:latin typeface="Courier"/>
                <a:cs typeface="Courier"/>
              </a:rPr>
              <a:t>(int) 1.5 </a:t>
            </a:r>
            <a:r>
              <a:rPr lang="en-GB" b="1" dirty="0">
                <a:latin typeface="Courier"/>
                <a:cs typeface="Courier"/>
                <a:sym typeface="Wingdings" panose="05000000000000000000"/>
              </a:rPr>
              <a:t> 1	</a:t>
            </a:r>
            <a:r>
              <a:rPr lang="en-GB" b="1" dirty="0">
                <a:cs typeface="Courier"/>
                <a:sym typeface="Wingdings" panose="05000000000000000000"/>
              </a:rPr>
              <a:t>DEMOTION </a:t>
            </a:r>
            <a:endParaRPr lang="en-GB" b="1" dirty="0">
              <a:latin typeface="Courier"/>
              <a:cs typeface="Courier"/>
            </a:endParaRPr>
          </a:p>
          <a:p>
            <a:pPr lvl="1"/>
            <a:r>
              <a:rPr lang="en-GB" b="1" dirty="0">
                <a:latin typeface="Courier"/>
                <a:cs typeface="Courier"/>
              </a:rPr>
              <a:t>1.6 </a:t>
            </a:r>
            <a:r>
              <a:rPr lang="en-GB" b="1" dirty="0">
                <a:latin typeface="Courier"/>
                <a:cs typeface="Courier"/>
                <a:sym typeface="Wingdings" panose="05000000000000000000"/>
              </a:rPr>
              <a:t> double</a:t>
            </a:r>
            <a:endParaRPr lang="en-GB" b="1" dirty="0">
              <a:latin typeface="Courier"/>
              <a:cs typeface="Courier"/>
              <a:sym typeface="Wingdings" panose="05000000000000000000"/>
            </a:endParaRPr>
          </a:p>
          <a:p>
            <a:pPr lvl="1"/>
            <a:r>
              <a:rPr lang="en-GB" b="1" dirty="0">
                <a:latin typeface="Courier"/>
                <a:cs typeface="Courier"/>
              </a:rPr>
              <a:t>(int) 1.6 </a:t>
            </a:r>
            <a:r>
              <a:rPr lang="en-GB" b="1" dirty="0">
                <a:latin typeface="Courier"/>
                <a:cs typeface="Courier"/>
                <a:sym typeface="Wingdings" panose="05000000000000000000"/>
              </a:rPr>
              <a:t> </a:t>
            </a:r>
            <a:r>
              <a:rPr lang="en-GB" b="1" dirty="0">
                <a:latin typeface="Courier"/>
                <a:cs typeface="Courier"/>
              </a:rPr>
              <a:t>1	</a:t>
            </a:r>
            <a:r>
              <a:rPr lang="en-GB" b="1" dirty="0">
                <a:cs typeface="Courier"/>
                <a:sym typeface="Wingdings" panose="05000000000000000000"/>
              </a:rPr>
              <a:t>DEMOTION </a:t>
            </a:r>
            <a:endParaRPr lang="en-GB" b="1" dirty="0">
              <a:latin typeface="Courier"/>
              <a:cs typeface="Courier"/>
            </a:endParaRPr>
          </a:p>
          <a:p>
            <a:pPr lvl="1"/>
            <a:r>
              <a:rPr lang="en-GB" b="1" dirty="0">
                <a:latin typeface="Courier"/>
                <a:cs typeface="Courier"/>
                <a:sym typeface="Wingdings" panose="05000000000000000000"/>
              </a:rPr>
              <a:t>1 + 1 = 2 </a:t>
            </a:r>
            <a:r>
              <a:rPr lang="en-GB" dirty="0" smtClean="0">
                <a:cs typeface="Courier"/>
              </a:rPr>
              <a:t>addition de int</a:t>
            </a:r>
            <a:endParaRPr lang="en-GB" dirty="0">
              <a:cs typeface="Courier"/>
            </a:endParaRPr>
          </a:p>
          <a:p>
            <a:pPr lvl="1"/>
            <a:r>
              <a:rPr lang="en-GB" b="1" dirty="0">
                <a:latin typeface="Courier"/>
                <a:cs typeface="Courier"/>
              </a:rPr>
              <a:t>x </a:t>
            </a:r>
            <a:r>
              <a:rPr lang="en-GB" b="1" dirty="0">
                <a:latin typeface="Courier"/>
                <a:cs typeface="Courier"/>
                <a:sym typeface="Wingdings" panose="05000000000000000000"/>
              </a:rPr>
              <a:t> int</a:t>
            </a:r>
            <a:endParaRPr lang="en-GB" b="1" dirty="0">
              <a:latin typeface="Courier"/>
              <a:cs typeface="Courier"/>
              <a:sym typeface="Wingdings" panose="05000000000000000000"/>
            </a:endParaRPr>
          </a:p>
          <a:p>
            <a:pPr lvl="2"/>
            <a:r>
              <a:rPr lang="en-GB" b="1" dirty="0">
                <a:latin typeface="Courier"/>
                <a:cs typeface="Courier"/>
                <a:sym typeface="Wingdings" panose="05000000000000000000"/>
              </a:rPr>
              <a:t>x = 2</a:t>
            </a:r>
            <a:endParaRPr lang="en-GB" b="1" dirty="0">
              <a:latin typeface="Courier"/>
              <a:cs typeface="Courier"/>
            </a:endParaRPr>
          </a:p>
        </p:txBody>
      </p:sp>
      <p:sp>
        <p:nvSpPr>
          <p:cNvPr id="4"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6" name="TextBox 5"/>
          <p:cNvSpPr txBox="1"/>
          <p:nvPr/>
        </p:nvSpPr>
        <p:spPr>
          <a:xfrm>
            <a:off x="3323774" y="1736812"/>
            <a:ext cx="492142" cy="461665"/>
          </a:xfrm>
          <a:prstGeom prst="rect">
            <a:avLst/>
          </a:prstGeom>
          <a:noFill/>
        </p:spPr>
        <p:txBody>
          <a:bodyPr wrap="none" rtlCol="0">
            <a:spAutoFit/>
          </a:bodyPr>
          <a:lstStyle/>
          <a:p>
            <a:r>
              <a:rPr lang="en-US" sz="2400" b="1" dirty="0">
                <a:solidFill>
                  <a:srgbClr val="FF0000"/>
                </a:solidFill>
              </a:rPr>
              <a:t>!!!</a:t>
            </a:r>
            <a:endParaRPr lang="en-US" sz="2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5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8850">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885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8850">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8850">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8850">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8850">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8850">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8850">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8850">
                                            <p:txEl>
                                              <p:pRg st="11" end="1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8850">
                                            <p:txEl>
                                              <p:pRg st="12" end="1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78850">
                                            <p:txEl>
                                              <p:pRg st="13" end="13"/>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78850">
                                            <p:txEl>
                                              <p:pRg st="14" end="14"/>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8850">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re 1"/>
          <p:cNvSpPr>
            <a:spLocks noGrp="1"/>
          </p:cNvSpPr>
          <p:nvPr>
            <p:ph type="title"/>
          </p:nvPr>
        </p:nvSpPr>
        <p:spPr>
          <a:xfrm>
            <a:off x="304800" y="80628"/>
            <a:ext cx="7772400" cy="533400"/>
          </a:xfrm>
        </p:spPr>
        <p:txBody>
          <a:bodyPr/>
          <a:lstStyle/>
          <a:p>
            <a:r>
              <a:rPr lang="fr-FR" sz="2800" dirty="0" smtClean="0">
                <a:latin typeface="Arial" panose="020B0604020202020204" pitchFamily="34" charset="0"/>
                <a:cs typeface="MS PGothic" panose="020B0600070205080204" charset="-128"/>
              </a:rPr>
              <a:t>Conversion de type : Exemples</a:t>
            </a:r>
            <a:endParaRPr lang="fr-FR" sz="2800" dirty="0">
              <a:latin typeface="Arial" panose="020B0604020202020204" pitchFamily="34" charset="0"/>
              <a:ea typeface="MS PGothic" panose="020B0600070205080204" charset="-128"/>
              <a:cs typeface="MS PGothic" panose="020B0600070205080204" charset="-128"/>
            </a:endParaRPr>
          </a:p>
        </p:txBody>
      </p:sp>
      <p:sp>
        <p:nvSpPr>
          <p:cNvPr id="78850" name="Espace réservé du contenu 2"/>
          <p:cNvSpPr>
            <a:spLocks noGrp="1"/>
          </p:cNvSpPr>
          <p:nvPr>
            <p:ph idx="1"/>
          </p:nvPr>
        </p:nvSpPr>
        <p:spPr>
          <a:xfrm>
            <a:off x="457200" y="728700"/>
            <a:ext cx="8867328" cy="5257800"/>
          </a:xfrm>
        </p:spPr>
        <p:txBody>
          <a:bodyPr/>
          <a:lstStyle/>
          <a:p>
            <a:r>
              <a:rPr lang="en-GB" b="1" dirty="0">
                <a:latin typeface="Courier"/>
                <a:cs typeface="Courier"/>
              </a:rPr>
              <a:t>float x;</a:t>
            </a:r>
            <a:endParaRPr lang="en-GB" b="1" dirty="0">
              <a:latin typeface="Courier"/>
              <a:cs typeface="Courier"/>
            </a:endParaRPr>
          </a:p>
          <a:p>
            <a:pPr lvl="1"/>
            <a:endParaRPr lang="en-GB" sz="800" dirty="0">
              <a:latin typeface="Arial" panose="020B0604020202020204" pitchFamily="34" charset="0"/>
              <a:cs typeface="MS PGothic" panose="020B0600070205080204" charset="-128"/>
            </a:endParaRPr>
          </a:p>
          <a:p>
            <a:r>
              <a:rPr lang="en-GB" dirty="0" smtClean="0">
                <a:latin typeface="Arial" panose="020B0604020202020204" pitchFamily="34" charset="0"/>
                <a:cs typeface="MS PGothic" panose="020B0600070205080204" charset="-128"/>
              </a:rPr>
              <a:t>Conversion implicite :</a:t>
            </a:r>
            <a:r>
              <a:rPr lang="en-GB" dirty="0">
                <a:latin typeface="Arial" panose="020B0604020202020204" pitchFamily="34" charset="0"/>
                <a:cs typeface="MS PGothic" panose="020B0600070205080204" charset="-128"/>
              </a:rPr>
              <a:t>			</a:t>
            </a:r>
            <a:r>
              <a:rPr lang="en-GB" b="1" dirty="0">
                <a:latin typeface="Courier"/>
                <a:cs typeface="Courier"/>
              </a:rPr>
              <a:t>x = 3/5;</a:t>
            </a:r>
            <a:endParaRPr lang="en-GB" b="1" dirty="0">
              <a:latin typeface="Courier"/>
              <a:cs typeface="Courier"/>
            </a:endParaRPr>
          </a:p>
          <a:p>
            <a:pPr lvl="1"/>
            <a:r>
              <a:rPr lang="en-GB" b="1" dirty="0">
                <a:latin typeface="Courier"/>
                <a:cs typeface="Courier"/>
              </a:rPr>
              <a:t>3 </a:t>
            </a:r>
            <a:r>
              <a:rPr lang="en-GB" b="1" dirty="0">
                <a:latin typeface="Courier"/>
                <a:cs typeface="Courier"/>
                <a:sym typeface="Wingdings" panose="05000000000000000000"/>
              </a:rPr>
              <a:t> int</a:t>
            </a:r>
            <a:endParaRPr lang="en-GB" b="1" dirty="0">
              <a:latin typeface="Courier"/>
              <a:cs typeface="Courier"/>
              <a:sym typeface="Wingdings" panose="05000000000000000000"/>
            </a:endParaRPr>
          </a:p>
          <a:p>
            <a:pPr lvl="1"/>
            <a:r>
              <a:rPr lang="en-GB" b="1" dirty="0">
                <a:latin typeface="Courier"/>
                <a:cs typeface="Courier"/>
                <a:sym typeface="Wingdings" panose="05000000000000000000"/>
              </a:rPr>
              <a:t>5  int</a:t>
            </a:r>
            <a:endParaRPr lang="en-GB" b="1" dirty="0">
              <a:latin typeface="Courier"/>
              <a:cs typeface="Courier"/>
              <a:sym typeface="Wingdings" panose="05000000000000000000"/>
            </a:endParaRPr>
          </a:p>
          <a:p>
            <a:pPr lvl="1"/>
            <a:r>
              <a:rPr lang="en-GB" b="1" dirty="0">
                <a:latin typeface="Courier"/>
                <a:cs typeface="Courier"/>
                <a:sym typeface="Wingdings" panose="05000000000000000000"/>
              </a:rPr>
              <a:t>3/5 = 0 </a:t>
            </a:r>
            <a:r>
              <a:rPr lang="en-GB" dirty="0" smtClean="0">
                <a:cs typeface="Courier"/>
                <a:sym typeface="Wingdings" panose="05000000000000000000"/>
              </a:rPr>
              <a:t>division d’entiers</a:t>
            </a:r>
            <a:endParaRPr lang="en-GB" dirty="0">
              <a:cs typeface="Courier"/>
              <a:sym typeface="Wingdings" panose="05000000000000000000"/>
            </a:endParaRPr>
          </a:p>
          <a:p>
            <a:pPr lvl="1"/>
            <a:r>
              <a:rPr lang="en-GB" b="1" dirty="0">
                <a:latin typeface="Courier"/>
                <a:cs typeface="Courier"/>
              </a:rPr>
              <a:t>x </a:t>
            </a:r>
            <a:r>
              <a:rPr lang="en-GB" b="1" dirty="0">
                <a:latin typeface="Courier"/>
                <a:cs typeface="Courier"/>
                <a:sym typeface="Wingdings" panose="05000000000000000000"/>
              </a:rPr>
              <a:t> float</a:t>
            </a:r>
            <a:endParaRPr lang="en-GB" b="1" dirty="0">
              <a:latin typeface="Courier"/>
              <a:cs typeface="Courier"/>
              <a:sym typeface="Wingdings" panose="05000000000000000000"/>
            </a:endParaRPr>
          </a:p>
          <a:p>
            <a:pPr lvl="1"/>
            <a:r>
              <a:rPr lang="en-GB" b="1" dirty="0">
                <a:latin typeface="Courier"/>
                <a:cs typeface="Courier"/>
                <a:sym typeface="Wingdings" panose="05000000000000000000"/>
              </a:rPr>
              <a:t>0.0 </a:t>
            </a:r>
            <a:r>
              <a:rPr lang="en-GB" b="1" dirty="0">
                <a:cs typeface="Courier"/>
                <a:sym typeface="Wingdings" panose="05000000000000000000"/>
              </a:rPr>
              <a:t>PROMOTION </a:t>
            </a:r>
            <a:r>
              <a:rPr lang="en-GB" dirty="0" smtClean="0">
                <a:cs typeface="Courier"/>
                <a:sym typeface="Wingdings" panose="05000000000000000000"/>
              </a:rPr>
              <a:t>pour correspondre à un</a:t>
            </a:r>
            <a:r>
              <a:rPr lang="en-GB" b="1" dirty="0">
                <a:latin typeface="Courier"/>
                <a:cs typeface="Courier"/>
                <a:sym typeface="Wingdings" panose="05000000000000000000"/>
              </a:rPr>
              <a:t> </a:t>
            </a:r>
            <a:r>
              <a:rPr lang="en-GB" b="1" dirty="0" smtClean="0">
                <a:latin typeface="Courier"/>
                <a:cs typeface="Courier"/>
                <a:sym typeface="Wingdings" panose="05000000000000000000"/>
              </a:rPr>
              <a:t>float (</a:t>
            </a:r>
            <a:r>
              <a:rPr lang="en-GB" b="1" dirty="0" err="1" smtClean="0">
                <a:latin typeface="Courier"/>
                <a:cs typeface="Courier"/>
                <a:sym typeface="Wingdings" panose="05000000000000000000"/>
              </a:rPr>
              <a:t>réel</a:t>
            </a:r>
            <a:r>
              <a:rPr lang="en-GB" b="1" dirty="0">
                <a:latin typeface="Courier"/>
                <a:cs typeface="Courier"/>
                <a:sym typeface="Wingdings" panose="05000000000000000000"/>
              </a:rPr>
              <a:t>)</a:t>
            </a:r>
            <a:endParaRPr lang="en-GB" b="1" dirty="0">
              <a:latin typeface="Courier"/>
              <a:cs typeface="Courier"/>
              <a:sym typeface="Wingdings" panose="05000000000000000000"/>
            </a:endParaRPr>
          </a:p>
          <a:p>
            <a:pPr lvl="2"/>
            <a:r>
              <a:rPr lang="en-GB" b="1" dirty="0">
                <a:latin typeface="Courier"/>
                <a:cs typeface="Courier"/>
                <a:sym typeface="Wingdings" panose="05000000000000000000"/>
              </a:rPr>
              <a:t>x = 0.0</a:t>
            </a:r>
            <a:endParaRPr lang="en-GB" b="1" dirty="0">
              <a:latin typeface="Courier"/>
              <a:cs typeface="Courier"/>
            </a:endParaRPr>
          </a:p>
          <a:p>
            <a:pPr marL="542925" lvl="1" indent="0">
              <a:buNone/>
            </a:pPr>
            <a:endParaRPr lang="en-GB" sz="800" dirty="0">
              <a:latin typeface="Arial" panose="020B0604020202020204" pitchFamily="34" charset="0"/>
              <a:cs typeface="MS PGothic" panose="020B0600070205080204" charset="-128"/>
            </a:endParaRPr>
          </a:p>
          <a:p>
            <a:r>
              <a:rPr lang="en-GB" dirty="0" smtClean="0">
                <a:latin typeface="Arial" panose="020B0604020202020204" pitchFamily="34" charset="0"/>
                <a:cs typeface="MS PGothic" panose="020B0600070205080204" charset="-128"/>
              </a:rPr>
              <a:t>Conversion explicite</a:t>
            </a:r>
            <a:r>
              <a:rPr lang="en-GB" dirty="0">
                <a:latin typeface="Arial" panose="020B0604020202020204" pitchFamily="34" charset="0"/>
                <a:cs typeface="MS PGothic" panose="020B0600070205080204" charset="-128"/>
              </a:rPr>
              <a:t>			</a:t>
            </a:r>
            <a:r>
              <a:rPr lang="en-GB" b="1" dirty="0">
                <a:latin typeface="Courier"/>
                <a:cs typeface="Courier"/>
              </a:rPr>
              <a:t>x = (float) 3/5; </a:t>
            </a:r>
            <a:endParaRPr lang="en-GB" b="1" dirty="0">
              <a:latin typeface="Courier"/>
              <a:cs typeface="Courier"/>
            </a:endParaRPr>
          </a:p>
          <a:p>
            <a:pPr lvl="1"/>
            <a:r>
              <a:rPr lang="en-GB" b="1" dirty="0">
                <a:latin typeface="Courier"/>
                <a:cs typeface="Courier"/>
              </a:rPr>
              <a:t>3 </a:t>
            </a:r>
            <a:r>
              <a:rPr lang="en-GB" b="1" dirty="0">
                <a:latin typeface="Courier"/>
                <a:cs typeface="Courier"/>
                <a:sym typeface="Wingdings" panose="05000000000000000000"/>
              </a:rPr>
              <a:t> int</a:t>
            </a:r>
            <a:endParaRPr lang="en-GB" b="1" dirty="0">
              <a:latin typeface="Courier"/>
              <a:cs typeface="Courier"/>
              <a:sym typeface="Wingdings" panose="05000000000000000000"/>
            </a:endParaRPr>
          </a:p>
          <a:p>
            <a:pPr lvl="1"/>
            <a:r>
              <a:rPr lang="en-GB" b="1" dirty="0">
                <a:latin typeface="Courier"/>
                <a:cs typeface="Courier"/>
                <a:sym typeface="Wingdings" panose="05000000000000000000"/>
              </a:rPr>
              <a:t>(float) 3  3.0	</a:t>
            </a:r>
            <a:r>
              <a:rPr lang="en-GB" b="1" dirty="0">
                <a:cs typeface="Courier"/>
                <a:sym typeface="Wingdings" panose="05000000000000000000"/>
              </a:rPr>
              <a:t>PROMOTION </a:t>
            </a:r>
            <a:endParaRPr lang="en-GB" b="1" dirty="0">
              <a:latin typeface="Courier"/>
              <a:cs typeface="Courier"/>
              <a:sym typeface="Wingdings" panose="05000000000000000000"/>
            </a:endParaRPr>
          </a:p>
          <a:p>
            <a:pPr lvl="1"/>
            <a:r>
              <a:rPr lang="en-GB" dirty="0">
                <a:cs typeface="Courier"/>
                <a:sym typeface="Wingdings" panose="05000000000000000000"/>
              </a:rPr>
              <a:t>Promotion</a:t>
            </a:r>
            <a:r>
              <a:rPr lang="en-GB" b="1" dirty="0">
                <a:latin typeface="Courier"/>
                <a:cs typeface="Courier"/>
                <a:sym typeface="Wingdings" panose="05000000000000000000"/>
              </a:rPr>
              <a:t> 5  5.0 	</a:t>
            </a:r>
            <a:r>
              <a:rPr lang="en-GB" b="1" dirty="0">
                <a:cs typeface="Courier"/>
                <a:sym typeface="Wingdings" panose="05000000000000000000"/>
              </a:rPr>
              <a:t>PROMOTION </a:t>
            </a:r>
            <a:endParaRPr lang="en-GB" b="1" dirty="0">
              <a:latin typeface="Courier"/>
              <a:cs typeface="Courier"/>
              <a:sym typeface="Wingdings" panose="05000000000000000000"/>
            </a:endParaRPr>
          </a:p>
          <a:p>
            <a:pPr lvl="1"/>
            <a:r>
              <a:rPr lang="en-GB" b="1" dirty="0">
                <a:latin typeface="Courier"/>
                <a:cs typeface="Courier"/>
                <a:sym typeface="Wingdings" panose="05000000000000000000"/>
              </a:rPr>
              <a:t>3.0/5.0 = 0 </a:t>
            </a:r>
            <a:r>
              <a:rPr lang="en-GB" dirty="0" smtClean="0">
                <a:cs typeface="Courier"/>
                <a:sym typeface="Wingdings" panose="05000000000000000000"/>
              </a:rPr>
              <a:t>division de réels</a:t>
            </a:r>
            <a:endParaRPr lang="en-GB" dirty="0">
              <a:cs typeface="Courier"/>
              <a:sym typeface="Wingdings" panose="05000000000000000000"/>
            </a:endParaRPr>
          </a:p>
          <a:p>
            <a:pPr lvl="1"/>
            <a:r>
              <a:rPr lang="en-GB" b="1" dirty="0">
                <a:latin typeface="Courier"/>
                <a:cs typeface="Courier"/>
              </a:rPr>
              <a:t>x </a:t>
            </a:r>
            <a:r>
              <a:rPr lang="en-GB" b="1" dirty="0">
                <a:latin typeface="Courier"/>
                <a:cs typeface="Courier"/>
                <a:sym typeface="Wingdings" panose="05000000000000000000"/>
              </a:rPr>
              <a:t> float</a:t>
            </a:r>
            <a:endParaRPr lang="en-GB" b="1" dirty="0">
              <a:latin typeface="Courier"/>
              <a:cs typeface="Courier"/>
              <a:sym typeface="Wingdings" panose="05000000000000000000"/>
            </a:endParaRPr>
          </a:p>
          <a:p>
            <a:pPr lvl="2"/>
            <a:r>
              <a:rPr lang="en-GB" b="1" dirty="0">
                <a:latin typeface="Courier"/>
                <a:cs typeface="Courier"/>
                <a:sym typeface="Wingdings" panose="05000000000000000000"/>
              </a:rPr>
              <a:t>x = 0.6</a:t>
            </a:r>
            <a:endParaRPr lang="en-GB" b="1" dirty="0">
              <a:latin typeface="Courier"/>
              <a:cs typeface="Courier"/>
            </a:endParaRPr>
          </a:p>
          <a:p>
            <a:pPr lvl="1"/>
            <a:endParaRPr lang="en-GB" dirty="0"/>
          </a:p>
        </p:txBody>
      </p:sp>
      <p:sp>
        <p:nvSpPr>
          <p:cNvPr id="4"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50">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8850">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8850">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885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8850">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8850">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8850">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8850">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8850">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8850">
                                            <p:txEl>
                                              <p:pRg st="13" end="1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8850">
                                            <p:txEl>
                                              <p:pRg st="14" end="1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8850">
                                            <p:txEl>
                                              <p:pRg st="15" end="15"/>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8850">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re 1"/>
          <p:cNvSpPr>
            <a:spLocks noGrp="1"/>
          </p:cNvSpPr>
          <p:nvPr>
            <p:ph type="title"/>
          </p:nvPr>
        </p:nvSpPr>
        <p:spPr/>
        <p:txBody>
          <a:bodyPr/>
          <a:lstStyle/>
          <a:p>
            <a:r>
              <a:rPr lang="fr-FR" sz="2800" dirty="0" smtClean="0">
                <a:latin typeface="Arial" panose="020B0604020202020204" pitchFamily="34" charset="0"/>
                <a:cs typeface="MS PGothic" panose="020B0600070205080204" charset="-128"/>
              </a:rPr>
              <a:t>C</a:t>
            </a:r>
            <a:r>
              <a:rPr lang="fr-FR" sz="2800" dirty="0" smtClean="0">
                <a:latin typeface="Arial" panose="020B0604020202020204" pitchFamily="34" charset="0"/>
                <a:ea typeface="MS PGothic" panose="020B0600070205080204" charset="-128"/>
                <a:cs typeface="MS PGothic" panose="020B0600070205080204" charset="-128"/>
              </a:rPr>
              <a:t>onversion de type : </a:t>
            </a:r>
            <a:r>
              <a:rPr lang="fr-FR" sz="2800" dirty="0" smtClean="0">
                <a:latin typeface="Arial" panose="020B0604020202020204" pitchFamily="34" charset="0"/>
                <a:cs typeface="MS PGothic" panose="020B0600070205080204" charset="-128"/>
              </a:rPr>
              <a:t>p</a:t>
            </a:r>
            <a:r>
              <a:rPr lang="fr-FR" sz="2800" dirty="0" smtClean="0">
                <a:latin typeface="Arial" panose="020B0604020202020204" pitchFamily="34" charset="0"/>
                <a:ea typeface="MS PGothic" panose="020B0600070205080204" charset="-128"/>
                <a:cs typeface="MS PGothic" panose="020B0600070205080204" charset="-128"/>
              </a:rPr>
              <a:t>roblèmes habituels</a:t>
            </a:r>
            <a:endParaRPr lang="fr-FR" sz="2800" dirty="0">
              <a:latin typeface="Arial" panose="020B0604020202020204" pitchFamily="34" charset="0"/>
              <a:ea typeface="MS PGothic" panose="020B0600070205080204" charset="-128"/>
              <a:cs typeface="MS PGothic" panose="020B0600070205080204" charset="-128"/>
            </a:endParaRPr>
          </a:p>
        </p:txBody>
      </p:sp>
      <p:sp>
        <p:nvSpPr>
          <p:cNvPr id="78850" name="Espace réservé du contenu 2"/>
          <p:cNvSpPr>
            <a:spLocks noGrp="1"/>
          </p:cNvSpPr>
          <p:nvPr>
            <p:ph idx="1"/>
          </p:nvPr>
        </p:nvSpPr>
        <p:spPr>
          <a:xfrm>
            <a:off x="251520" y="914400"/>
            <a:ext cx="9181020" cy="5257800"/>
          </a:xfrm>
        </p:spPr>
        <p:txBody>
          <a:bodyPr/>
          <a:lstStyle/>
          <a:p>
            <a:r>
              <a:rPr lang="en-GB" dirty="0" smtClean="0"/>
              <a:t>Transformation de </a:t>
            </a:r>
            <a:r>
              <a:rPr lang="en-GB" b="1" dirty="0" smtClean="0">
                <a:latin typeface="Courier"/>
                <a:cs typeface="Courier"/>
              </a:rPr>
              <a:t>signé </a:t>
            </a:r>
            <a:r>
              <a:rPr lang="en-GB" dirty="0" smtClean="0">
                <a:cs typeface="Courier"/>
              </a:rPr>
              <a:t>en</a:t>
            </a:r>
            <a:r>
              <a:rPr lang="en-GB" b="1" dirty="0" smtClean="0">
                <a:latin typeface="Courier"/>
                <a:cs typeface="Courier"/>
              </a:rPr>
              <a:t> non-signé </a:t>
            </a:r>
            <a:r>
              <a:rPr lang="en-GB" b="1" dirty="0" smtClean="0"/>
              <a:t>:</a:t>
            </a:r>
            <a:endParaRPr lang="en-GB" b="1" dirty="0"/>
          </a:p>
          <a:p>
            <a:pPr lvl="1"/>
            <a:r>
              <a:rPr lang="en-GB" b="1" dirty="0" smtClean="0"/>
              <a:t>Une valeur négative </a:t>
            </a:r>
            <a:r>
              <a:rPr lang="en-GB" dirty="0" smtClean="0"/>
              <a:t>est convertie en une </a:t>
            </a:r>
            <a:r>
              <a:rPr lang="en-GB" b="1" dirty="0" smtClean="0"/>
              <a:t>valeur </a:t>
            </a:r>
            <a:r>
              <a:rPr lang="en-GB" b="1" dirty="0"/>
              <a:t>positive </a:t>
            </a:r>
            <a:r>
              <a:rPr lang="en-GB" b="1" dirty="0" smtClean="0"/>
              <a:t>élevée</a:t>
            </a:r>
            <a:endParaRPr lang="en-GB" b="1" dirty="0"/>
          </a:p>
          <a:p>
            <a:pPr lvl="1"/>
            <a:r>
              <a:rPr lang="fr-FR" dirty="0"/>
              <a:t>Se produit surtout pendant les appels de fonction ou les valeurs de retour </a:t>
            </a:r>
            <a:r>
              <a:rPr lang="en-GB" dirty="0" smtClean="0"/>
              <a:t> </a:t>
            </a:r>
            <a:endParaRPr lang="en-GB" b="1" dirty="0"/>
          </a:p>
          <a:p>
            <a:endParaRPr lang="en-GB" sz="1000" dirty="0"/>
          </a:p>
          <a:p>
            <a:r>
              <a:rPr lang="en-GB" dirty="0" smtClean="0"/>
              <a:t>Transformation d’un petit type d’entier (int) </a:t>
            </a:r>
            <a:r>
              <a:rPr lang="en-GB" b="1" dirty="0" smtClean="0">
                <a:latin typeface="Courier"/>
                <a:cs typeface="Courier"/>
              </a:rPr>
              <a:t>signé en un  grand </a:t>
            </a:r>
            <a:r>
              <a:rPr lang="en-GB" dirty="0" smtClean="0"/>
              <a:t>type d’entier non-signé</a:t>
            </a:r>
            <a:endParaRPr lang="en-GB" dirty="0"/>
          </a:p>
          <a:p>
            <a:pPr lvl="1"/>
            <a:r>
              <a:rPr lang="fr-FR" dirty="0"/>
              <a:t>Extension du signe : Le bit de signe est utilisé dans les bits non utilisés, c'est-à-dire le Bis le plus significatif (MSB) du plus grand type</a:t>
            </a:r>
            <a:endParaRPr lang="en-GB" dirty="0"/>
          </a:p>
          <a:p>
            <a:pPr lvl="1"/>
            <a:r>
              <a:rPr lang="fr-FR" dirty="0">
                <a:latin typeface="Arial" panose="020B0604020202020204" pitchFamily="34" charset="0"/>
                <a:cs typeface="MS PGothic" panose="020B0600070205080204" charset="-128"/>
              </a:rPr>
              <a:t>char et short sont signés </a:t>
            </a:r>
            <a:r>
              <a:rPr lang="en-GB" dirty="0" smtClean="0">
                <a:latin typeface="Arial" panose="020B0604020202020204" pitchFamily="34" charset="0"/>
                <a:cs typeface="MS PGothic" panose="020B0600070205080204" charset="-128"/>
              </a:rPr>
              <a:t>!</a:t>
            </a:r>
            <a:endParaRPr lang="en-GB" dirty="0">
              <a:latin typeface="Arial" panose="020B0604020202020204" pitchFamily="34" charset="0"/>
              <a:cs typeface="MS PGothic" panose="020B0600070205080204" charset="-128"/>
            </a:endParaRPr>
          </a:p>
          <a:p>
            <a:pPr lvl="1"/>
            <a:r>
              <a:rPr lang="en-GB" b="1" dirty="0" smtClean="0"/>
              <a:t>Une valeur négative est</a:t>
            </a:r>
            <a:r>
              <a:rPr lang="en-GB" dirty="0" smtClean="0"/>
              <a:t> convertie en une valeur</a:t>
            </a:r>
            <a:r>
              <a:rPr lang="en-GB" b="1" dirty="0" smtClean="0"/>
              <a:t> </a:t>
            </a:r>
            <a:r>
              <a:rPr lang="en-GB" b="1" dirty="0"/>
              <a:t>positive </a:t>
            </a:r>
            <a:r>
              <a:rPr lang="en-GB" b="1" dirty="0" smtClean="0"/>
              <a:t>élevée</a:t>
            </a:r>
            <a:endParaRPr lang="en-GB" dirty="0">
              <a:latin typeface="Arial" panose="020B0604020202020204" pitchFamily="34" charset="0"/>
              <a:cs typeface="MS PGothic" panose="020B0600070205080204" charset="-128"/>
            </a:endParaRPr>
          </a:p>
          <a:p>
            <a:pPr lvl="1"/>
            <a:endParaRPr lang="en-GB" sz="1000" dirty="0">
              <a:latin typeface="Arial" panose="020B0604020202020204" pitchFamily="34" charset="0"/>
              <a:ea typeface="MS PGothic" panose="020B0600070205080204" charset="-128"/>
              <a:cs typeface="MS PGothic" panose="020B0600070205080204" charset="-128"/>
            </a:endParaRPr>
          </a:p>
        </p:txBody>
      </p:sp>
      <p:sp>
        <p:nvSpPr>
          <p:cNvPr id="6"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2" name="Rectangle 1"/>
          <p:cNvSpPr/>
          <p:nvPr/>
        </p:nvSpPr>
        <p:spPr>
          <a:xfrm rot="20061788">
            <a:off x="2717963" y="5161948"/>
            <a:ext cx="3122738" cy="461665"/>
          </a:xfrm>
          <a:prstGeom prst="rect">
            <a:avLst/>
          </a:prstGeom>
          <a:ln>
            <a:solidFill>
              <a:srgbClr val="FF0000"/>
            </a:solidFill>
          </a:ln>
        </p:spPr>
        <p:txBody>
          <a:bodyPr>
            <a:spAutoFit/>
          </a:bodyPr>
          <a:lstStyle/>
          <a:p>
            <a:r>
              <a:rPr lang="en-US" sz="2400" b="1" dirty="0">
                <a:solidFill>
                  <a:srgbClr val="FF0000"/>
                </a:solidFill>
              </a:rPr>
              <a:t>SECURITY ISSUES</a:t>
            </a:r>
            <a:endParaRPr lang="en-US" sz="2400" b="1" dirty="0">
              <a:solidFill>
                <a:srgbClr val="FF0000"/>
              </a:solidFill>
            </a:endParaRPr>
          </a:p>
        </p:txBody>
      </p:sp>
      <p:sp>
        <p:nvSpPr>
          <p:cNvPr id="8"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0">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50">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8850">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8850">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re 1"/>
          <p:cNvSpPr>
            <a:spLocks noGrp="1"/>
          </p:cNvSpPr>
          <p:nvPr>
            <p:ph type="title"/>
          </p:nvPr>
        </p:nvSpPr>
        <p:spPr/>
        <p:txBody>
          <a:bodyPr/>
          <a:lstStyle/>
          <a:p>
            <a:r>
              <a:rPr lang="fr-FR" sz="2800" dirty="0">
                <a:latin typeface="Arial" panose="020B0604020202020204" pitchFamily="34" charset="0"/>
                <a:cs typeface="MS PGothic" panose="020B0600070205080204" charset="-128"/>
              </a:rPr>
              <a:t>Conversion de type : Problèmes habituels</a:t>
            </a:r>
            <a:endParaRPr lang="fr-FR" sz="2800" dirty="0">
              <a:latin typeface="Arial" panose="020B0604020202020204" pitchFamily="34" charset="0"/>
              <a:ea typeface="MS PGothic" panose="020B0600070205080204" charset="-128"/>
              <a:cs typeface="MS PGothic" panose="020B0600070205080204" charset="-128"/>
            </a:endParaRPr>
          </a:p>
        </p:txBody>
      </p:sp>
      <p:sp>
        <p:nvSpPr>
          <p:cNvPr id="78850" name="Espace réservé du contenu 2"/>
          <p:cNvSpPr>
            <a:spLocks noGrp="1"/>
          </p:cNvSpPr>
          <p:nvPr>
            <p:ph idx="1"/>
          </p:nvPr>
        </p:nvSpPr>
        <p:spPr>
          <a:xfrm>
            <a:off x="251520" y="914400"/>
            <a:ext cx="9181020" cy="5257800"/>
          </a:xfrm>
        </p:spPr>
        <p:txBody>
          <a:bodyPr/>
          <a:lstStyle/>
          <a:p>
            <a:r>
              <a:rPr lang="fr-FR" b="1" dirty="0">
                <a:latin typeface="Arial" panose="020B0604020202020204" pitchFamily="34" charset="0"/>
                <a:cs typeface="MS PGothic" panose="020B0600070205080204" charset="-128"/>
              </a:rPr>
              <a:t>Transformation d'un type plus grand en un type plus petit</a:t>
            </a:r>
            <a:r>
              <a:rPr lang="en-GB" b="1" dirty="0" smtClean="0">
                <a:latin typeface="Arial" panose="020B0604020202020204" pitchFamily="34" charset="0"/>
                <a:ea typeface="MS PGothic" panose="020B0600070205080204" charset="-128"/>
                <a:cs typeface="MS PGothic" panose="020B0600070205080204" charset="-128"/>
              </a:rPr>
              <a:t> </a:t>
            </a:r>
            <a:r>
              <a:rPr lang="en-GB" dirty="0">
                <a:latin typeface="Arial" panose="020B0604020202020204" pitchFamily="34" charset="0"/>
                <a:ea typeface="MS PGothic" panose="020B0600070205080204" charset="-128"/>
                <a:cs typeface="MS PGothic" panose="020B0600070205080204" charset="-128"/>
              </a:rPr>
              <a:t>(DEMOTION</a:t>
            </a:r>
            <a:r>
              <a:rPr lang="en-GB" dirty="0" smtClean="0">
                <a:latin typeface="Arial" panose="020B0604020202020204" pitchFamily="34" charset="0"/>
                <a:ea typeface="MS PGothic" panose="020B0600070205080204" charset="-128"/>
                <a:cs typeface="MS PGothic" panose="020B0600070205080204" charset="-128"/>
              </a:rPr>
              <a:t>) :</a:t>
            </a:r>
            <a:endParaRPr lang="en-GB" dirty="0">
              <a:latin typeface="Arial" panose="020B0604020202020204" pitchFamily="34" charset="0"/>
              <a:ea typeface="MS PGothic" panose="020B0600070205080204" charset="-128"/>
              <a:cs typeface="MS PGothic" panose="020B0600070205080204" charset="-128"/>
            </a:endParaRPr>
          </a:p>
          <a:p>
            <a:pPr lvl="1"/>
            <a:r>
              <a:rPr lang="fr-FR" b="1" dirty="0">
                <a:solidFill>
                  <a:srgbClr val="000000"/>
                </a:solidFill>
              </a:rPr>
              <a:t>Troncature</a:t>
            </a:r>
            <a:r>
              <a:rPr lang="fr-FR" dirty="0">
                <a:solidFill>
                  <a:srgbClr val="000000"/>
                </a:solidFill>
              </a:rPr>
              <a:t> : Coupe le MSB (un débordement se produit).</a:t>
            </a:r>
            <a:endParaRPr lang="en-GB" dirty="0">
              <a:solidFill>
                <a:srgbClr val="000000"/>
              </a:solidFill>
            </a:endParaRPr>
          </a:p>
          <a:p>
            <a:pPr marL="542925" lvl="1" indent="0">
              <a:buNone/>
            </a:pPr>
            <a:r>
              <a:rPr lang="en-GB" b="1" dirty="0">
                <a:latin typeface="Courier"/>
                <a:cs typeface="Courier"/>
              </a:rPr>
              <a:t>	int f = 0x12345678 ; </a:t>
            </a:r>
            <a:endParaRPr lang="en-GB" b="1" dirty="0">
              <a:latin typeface="Courier"/>
              <a:cs typeface="Courier"/>
            </a:endParaRPr>
          </a:p>
          <a:p>
            <a:pPr marL="542925" lvl="1" indent="0">
              <a:buNone/>
            </a:pPr>
            <a:r>
              <a:rPr lang="en-GB" b="1" dirty="0">
                <a:latin typeface="Courier"/>
                <a:cs typeface="Courier"/>
              </a:rPr>
              <a:t>	short int g;</a:t>
            </a:r>
            <a:endParaRPr lang="en-GB" b="1" dirty="0">
              <a:latin typeface="Courier"/>
              <a:cs typeface="Courier"/>
            </a:endParaRPr>
          </a:p>
          <a:p>
            <a:pPr marL="542925" lvl="1" indent="0">
              <a:buNone/>
            </a:pPr>
            <a:r>
              <a:rPr lang="en-GB" b="1" dirty="0">
                <a:latin typeface="Courier"/>
                <a:cs typeface="Courier"/>
              </a:rPr>
              <a:t>	g = f;</a:t>
            </a:r>
            <a:endParaRPr lang="en-GB" b="1" dirty="0">
              <a:latin typeface="Courier"/>
              <a:cs typeface="Courier"/>
            </a:endParaRPr>
          </a:p>
          <a:p>
            <a:pPr marL="542925" lvl="1" indent="0">
              <a:buNone/>
            </a:pPr>
            <a:endParaRPr lang="en-GB" b="1" dirty="0">
              <a:latin typeface="Courier"/>
              <a:cs typeface="Courier"/>
            </a:endParaRPr>
          </a:p>
          <a:p>
            <a:r>
              <a:rPr lang="en-GB" dirty="0">
                <a:latin typeface="Arial" panose="020B0604020202020204" pitchFamily="34" charset="0"/>
                <a:cs typeface="MS PGothic" panose="020B0600070205080204" charset="-128"/>
              </a:rPr>
              <a:t>Les comparaisons, notamment avec </a:t>
            </a:r>
            <a:r>
              <a:rPr lang="en-GB" b="1" dirty="0">
                <a:latin typeface="Courier"/>
                <a:cs typeface="Courier"/>
              </a:rPr>
              <a:t>unsigned</a:t>
            </a:r>
            <a:r>
              <a:rPr lang="en-GB" dirty="0">
                <a:latin typeface="Arial" panose="020B0604020202020204" pitchFamily="34" charset="0"/>
                <a:cs typeface="MS PGothic" panose="020B0600070205080204" charset="-128"/>
              </a:rPr>
              <a:t>, </a:t>
            </a:r>
            <a:r>
              <a:rPr lang="en-GB" b="1" dirty="0">
                <a:latin typeface="Courier"/>
                <a:cs typeface="Courier"/>
              </a:rPr>
              <a:t>char</a:t>
            </a:r>
            <a:r>
              <a:rPr lang="en-GB" dirty="0">
                <a:latin typeface="Arial" panose="020B0604020202020204" pitchFamily="34" charset="0"/>
                <a:cs typeface="MS PGothic" panose="020B0600070205080204" charset="-128"/>
              </a:rPr>
              <a:t> </a:t>
            </a:r>
            <a:r>
              <a:rPr lang="en-GB" dirty="0" smtClean="0">
                <a:latin typeface="Arial" panose="020B0604020202020204" pitchFamily="34" charset="0"/>
                <a:cs typeface="MS PGothic" panose="020B0600070205080204" charset="-128"/>
              </a:rPr>
              <a:t>et </a:t>
            </a:r>
            <a:r>
              <a:rPr lang="en-GB" b="1" dirty="0">
                <a:latin typeface="Courier"/>
                <a:cs typeface="Courier"/>
              </a:rPr>
              <a:t>short</a:t>
            </a:r>
            <a:r>
              <a:rPr lang="en-GB" dirty="0">
                <a:latin typeface="Arial" panose="020B0604020202020204" pitchFamily="34" charset="0"/>
                <a:cs typeface="MS PGothic" panose="020B0600070205080204" charset="-128"/>
              </a:rPr>
              <a:t> ! </a:t>
            </a:r>
            <a:endParaRPr lang="en-GB" dirty="0">
              <a:latin typeface="Arial" panose="020B0604020202020204" pitchFamily="34" charset="0"/>
              <a:cs typeface="MS PGothic" panose="020B0600070205080204" charset="-128"/>
            </a:endParaRPr>
          </a:p>
          <a:p>
            <a:pPr marL="542925" lvl="1" indent="0">
              <a:buNone/>
            </a:pPr>
            <a:r>
              <a:rPr lang="en-US" b="1" dirty="0">
                <a:latin typeface="Courier"/>
                <a:cs typeface="Courier"/>
              </a:rPr>
              <a:t>unsigned int a = 0 ; </a:t>
            </a:r>
            <a:endParaRPr lang="en-US" b="1" dirty="0">
              <a:latin typeface="Courier"/>
              <a:cs typeface="Courier"/>
            </a:endParaRPr>
          </a:p>
          <a:p>
            <a:pPr marL="542925" lvl="1" indent="0">
              <a:buNone/>
            </a:pPr>
            <a:r>
              <a:rPr lang="en-US" b="1" dirty="0">
                <a:latin typeface="Courier"/>
                <a:cs typeface="Courier"/>
              </a:rPr>
              <a:t>if (a &gt; -1) </a:t>
            </a:r>
            <a:endParaRPr lang="en-US" b="1" dirty="0">
              <a:latin typeface="Courier"/>
              <a:cs typeface="Courier"/>
            </a:endParaRPr>
          </a:p>
          <a:p>
            <a:pPr lvl="2" indent="0">
              <a:buNone/>
            </a:pPr>
            <a:r>
              <a:rPr lang="en-US" b="1" dirty="0">
                <a:latin typeface="Courier"/>
                <a:cs typeface="Courier"/>
              </a:rPr>
              <a:t>printf(”TRUE\n”);</a:t>
            </a:r>
            <a:endParaRPr lang="en-US" b="1" dirty="0">
              <a:latin typeface="Courier"/>
              <a:cs typeface="Courier"/>
            </a:endParaRPr>
          </a:p>
          <a:p>
            <a:pPr marL="542925" lvl="1" indent="0">
              <a:buNone/>
            </a:pPr>
            <a:r>
              <a:rPr lang="en-US" b="1" dirty="0">
                <a:latin typeface="Courier"/>
                <a:cs typeface="Courier"/>
              </a:rPr>
              <a:t>else </a:t>
            </a:r>
            <a:endParaRPr lang="en-US" b="1" dirty="0">
              <a:latin typeface="Courier"/>
              <a:cs typeface="Courier"/>
            </a:endParaRPr>
          </a:p>
          <a:p>
            <a:pPr lvl="2" indent="0">
              <a:buNone/>
            </a:pPr>
            <a:r>
              <a:rPr lang="en-US" b="1" dirty="0">
                <a:latin typeface="Courier"/>
                <a:cs typeface="Courier"/>
              </a:rPr>
              <a:t>printf(”FALSE\n”);</a:t>
            </a:r>
            <a:endParaRPr lang="en-US" b="1" dirty="0">
              <a:latin typeface="Courier"/>
              <a:cs typeface="Courier"/>
            </a:endParaRPr>
          </a:p>
          <a:p>
            <a:pPr lvl="2"/>
            <a:endParaRPr lang="en-GB" b="1" dirty="0">
              <a:latin typeface="Courier"/>
              <a:cs typeface="Courier"/>
            </a:endParaRPr>
          </a:p>
        </p:txBody>
      </p:sp>
      <p:sp>
        <p:nvSpPr>
          <p:cNvPr id="6"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2" name="Rectangle 1"/>
          <p:cNvSpPr/>
          <p:nvPr/>
        </p:nvSpPr>
        <p:spPr>
          <a:xfrm rot="20358945">
            <a:off x="3311860" y="5337212"/>
            <a:ext cx="3122738" cy="461665"/>
          </a:xfrm>
          <a:prstGeom prst="rect">
            <a:avLst/>
          </a:prstGeom>
          <a:ln>
            <a:solidFill>
              <a:srgbClr val="FF0000"/>
            </a:solidFill>
          </a:ln>
        </p:spPr>
        <p:txBody>
          <a:bodyPr>
            <a:spAutoFit/>
          </a:bodyPr>
          <a:lstStyle/>
          <a:p>
            <a:r>
              <a:rPr lang="en-US" sz="2400" b="1" dirty="0">
                <a:solidFill>
                  <a:srgbClr val="FF0000"/>
                </a:solidFill>
              </a:rPr>
              <a:t>SECURITY ISSUES</a:t>
            </a:r>
            <a:endParaRPr lang="en-US" sz="2400" b="1" dirty="0">
              <a:solidFill>
                <a:srgbClr val="FF0000"/>
              </a:solidFill>
            </a:endParaRPr>
          </a:p>
        </p:txBody>
      </p:sp>
      <p:sp>
        <p:nvSpPr>
          <p:cNvPr id="8"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0">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8850">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8850">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8850">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8850">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8850">
                                            <p:txEl>
                                              <p:pRg st="11" end="1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tackmemory4.jpg"/>
          <p:cNvPicPr>
            <a:picLocks noChangeAspect="1"/>
          </p:cNvPicPr>
          <p:nvPr/>
        </p:nvPicPr>
        <p:blipFill>
          <a:blip r:embed="rId1" cstate="email">
            <a:extLst>
              <a:ext uri="{28A0092B-C50C-407E-A947-70E740481C1C}">
                <a14:useLocalDpi xmlns:a14="http://schemas.microsoft.com/office/drawing/2010/main" val="0"/>
              </a:ext>
            </a:extLst>
          </a:blip>
          <a:stretch>
            <a:fillRect/>
          </a:stretch>
        </p:blipFill>
        <p:spPr>
          <a:xfrm>
            <a:off x="4247964" y="949792"/>
            <a:ext cx="4896036" cy="5027179"/>
          </a:xfrm>
          <a:prstGeom prst="rect">
            <a:avLst/>
          </a:prstGeom>
        </p:spPr>
      </p:pic>
      <p:sp>
        <p:nvSpPr>
          <p:cNvPr id="2" name="Title 1"/>
          <p:cNvSpPr>
            <a:spLocks noGrp="1"/>
          </p:cNvSpPr>
          <p:nvPr>
            <p:ph type="title"/>
          </p:nvPr>
        </p:nvSpPr>
        <p:spPr/>
        <p:txBody>
          <a:bodyPr/>
          <a:lstStyle/>
          <a:p>
            <a:r>
              <a:rPr lang="fr-FR" sz="2800" dirty="0"/>
              <a:t>Allocation variable et durée de vie</a:t>
            </a:r>
            <a:endParaRPr lang="en-US" sz="2800" dirty="0"/>
          </a:p>
        </p:txBody>
      </p:sp>
      <p:sp>
        <p:nvSpPr>
          <p:cNvPr id="3" name="Content Placeholder 2"/>
          <p:cNvSpPr>
            <a:spLocks noGrp="1"/>
          </p:cNvSpPr>
          <p:nvPr>
            <p:ph idx="1"/>
          </p:nvPr>
        </p:nvSpPr>
        <p:spPr>
          <a:xfrm>
            <a:off x="-36512" y="764703"/>
            <a:ext cx="4644516" cy="5212267"/>
          </a:xfrm>
        </p:spPr>
        <p:txBody>
          <a:bodyPr/>
          <a:lstStyle/>
          <a:p>
            <a:r>
              <a:rPr lang="en-US" b="1" dirty="0" smtClean="0"/>
              <a:t>Mémoire statique </a:t>
            </a:r>
            <a:r>
              <a:rPr lang="en-US" dirty="0" smtClean="0"/>
              <a:t>: </a:t>
            </a:r>
            <a:endParaRPr lang="en-US" dirty="0"/>
          </a:p>
          <a:p>
            <a:pPr lvl="1"/>
            <a:r>
              <a:rPr lang="en-US" dirty="0"/>
              <a:t>Durée de vie variable </a:t>
            </a:r>
            <a:r>
              <a:rPr lang="en-US" dirty="0" smtClean="0"/>
              <a:t>: programme </a:t>
            </a:r>
            <a:r>
              <a:rPr lang="en-US" b="1" dirty="0" smtClean="0"/>
              <a:t>complet</a:t>
            </a:r>
            <a:r>
              <a:rPr lang="en-US" dirty="0" smtClean="0"/>
              <a:t> </a:t>
            </a:r>
            <a:endParaRPr lang="en-US" dirty="0"/>
          </a:p>
          <a:p>
            <a:pPr lvl="1"/>
            <a:r>
              <a:rPr lang="en-US" dirty="0"/>
              <a:t>Magasins </a:t>
            </a:r>
            <a:r>
              <a:rPr lang="en-US" dirty="0" smtClean="0"/>
              <a:t>:</a:t>
            </a:r>
            <a:endParaRPr lang="en-US" dirty="0"/>
          </a:p>
          <a:p>
            <a:pPr lvl="2"/>
            <a:r>
              <a:rPr lang="en-US" b="1" dirty="0" smtClean="0"/>
              <a:t>Variables globales </a:t>
            </a:r>
            <a:r>
              <a:rPr lang="en-US" dirty="0" smtClean="0"/>
              <a:t>: </a:t>
            </a:r>
            <a:r>
              <a:rPr lang="fr-FR" dirty="0"/>
              <a:t>les objets de données déclarés en dehors de tous les blocs </a:t>
            </a:r>
            <a:r>
              <a:rPr lang="fr-FR" dirty="0" smtClean="0"/>
              <a:t>fonctionnels</a:t>
            </a:r>
            <a:endParaRPr lang="en-US" dirty="0"/>
          </a:p>
          <a:p>
            <a:pPr lvl="2"/>
            <a:r>
              <a:rPr lang="en-US" dirty="0">
                <a:cs typeface="Courier"/>
              </a:rPr>
              <a:t>Variables </a:t>
            </a:r>
            <a:r>
              <a:rPr lang="en-US" dirty="0" smtClean="0">
                <a:cs typeface="Courier"/>
              </a:rPr>
              <a:t>défines comme </a:t>
            </a:r>
            <a:r>
              <a:rPr lang="en-US" b="1" dirty="0" smtClean="0">
                <a:latin typeface="Courier"/>
                <a:cs typeface="Courier"/>
              </a:rPr>
              <a:t>statiques</a:t>
            </a:r>
            <a:endParaRPr lang="en-US" dirty="0"/>
          </a:p>
          <a:p>
            <a:pPr lvl="1"/>
            <a:r>
              <a:rPr lang="fr-FR" dirty="0"/>
              <a:t>Les variables globales et statiques sont initialisées à zéro par défaut par le compilateur.</a:t>
            </a:r>
            <a:endParaRPr lang="en-US" dirty="0"/>
          </a:p>
          <a:p>
            <a:pPr lvl="1"/>
            <a:r>
              <a:rPr lang="fr-FR" dirty="0"/>
              <a:t>Allocation au moment de la compilation/liaison</a:t>
            </a:r>
            <a:endParaRPr lang="fr-FR" dirty="0"/>
          </a:p>
          <a:p>
            <a:pPr marL="542925" lvl="1" indent="0">
              <a:buNone/>
            </a:pPr>
            <a:endParaRPr lang="en-US" dirty="0"/>
          </a:p>
        </p:txBody>
      </p:sp>
      <p:sp>
        <p:nvSpPr>
          <p:cNvPr id="5" name="Slide Number Placeholder 4"/>
          <p:cNvSpPr>
            <a:spLocks noGrp="1"/>
          </p:cNvSpPr>
          <p:nvPr>
            <p:ph type="sldNum" sz="quarter" idx="11"/>
          </p:nvPr>
        </p:nvSpPr>
        <p:spPr/>
        <p:txBody>
          <a:bodyPr/>
          <a:lstStyle/>
          <a:p>
            <a:pPr lvl="2"/>
            <a:fld id="{28BEB0BA-EEE4-5F45-9179-3BC54B76BCCF}" type="slidenum">
              <a:rPr lang="fr-FR" smtClean="0"/>
            </a:fld>
            <a:endParaRPr lang="fr-F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tackmemory4.jpg"/>
          <p:cNvPicPr>
            <a:picLocks noChangeAspect="1"/>
          </p:cNvPicPr>
          <p:nvPr/>
        </p:nvPicPr>
        <p:blipFill>
          <a:blip r:embed="rId1" cstate="email">
            <a:extLst>
              <a:ext uri="{28A0092B-C50C-407E-A947-70E740481C1C}">
                <a14:useLocalDpi xmlns:a14="http://schemas.microsoft.com/office/drawing/2010/main" val="0"/>
              </a:ext>
            </a:extLst>
          </a:blip>
          <a:stretch>
            <a:fillRect/>
          </a:stretch>
        </p:blipFill>
        <p:spPr>
          <a:xfrm>
            <a:off x="5868144" y="945734"/>
            <a:ext cx="3276364" cy="5027179"/>
          </a:xfrm>
          <a:prstGeom prst="rect">
            <a:avLst/>
          </a:prstGeom>
        </p:spPr>
      </p:pic>
      <p:sp>
        <p:nvSpPr>
          <p:cNvPr id="2" name="Title 1"/>
          <p:cNvSpPr>
            <a:spLocks noGrp="1"/>
          </p:cNvSpPr>
          <p:nvPr>
            <p:ph type="title"/>
          </p:nvPr>
        </p:nvSpPr>
        <p:spPr/>
        <p:txBody>
          <a:bodyPr/>
          <a:lstStyle/>
          <a:p>
            <a:r>
              <a:rPr lang="fr-FR" sz="2800" dirty="0"/>
              <a:t>Allocation variable et durée de vie</a:t>
            </a:r>
            <a:endParaRPr lang="en-US" sz="2800" dirty="0"/>
          </a:p>
        </p:txBody>
      </p:sp>
      <p:sp>
        <p:nvSpPr>
          <p:cNvPr id="3" name="Content Placeholder 2"/>
          <p:cNvSpPr>
            <a:spLocks noGrp="1"/>
          </p:cNvSpPr>
          <p:nvPr>
            <p:ph idx="1"/>
          </p:nvPr>
        </p:nvSpPr>
        <p:spPr>
          <a:xfrm>
            <a:off x="71500" y="1110353"/>
            <a:ext cx="5796644" cy="5122493"/>
          </a:xfrm>
        </p:spPr>
        <p:txBody>
          <a:bodyPr/>
          <a:lstStyle/>
          <a:p>
            <a:r>
              <a:rPr lang="en-US" b="1" dirty="0"/>
              <a:t>Stack</a:t>
            </a:r>
            <a:r>
              <a:rPr lang="en-US" dirty="0"/>
              <a:t>: </a:t>
            </a:r>
            <a:endParaRPr lang="en-US" dirty="0"/>
          </a:p>
          <a:p>
            <a:pPr lvl="1"/>
            <a:r>
              <a:rPr lang="en-US" dirty="0" smtClean="0"/>
              <a:t>Durée de vie variable : </a:t>
            </a:r>
            <a:r>
              <a:rPr lang="en-US" b="1" dirty="0" smtClean="0"/>
              <a:t>bloc spécifique</a:t>
            </a:r>
            <a:endParaRPr lang="en-US" b="1" dirty="0"/>
          </a:p>
          <a:p>
            <a:pPr lvl="1"/>
            <a:r>
              <a:rPr lang="en-US" dirty="0" smtClean="0"/>
              <a:t>Magasins</a:t>
            </a:r>
            <a:endParaRPr lang="en-US" dirty="0"/>
          </a:p>
          <a:p>
            <a:pPr lvl="2"/>
            <a:r>
              <a:rPr lang="en-US" b="1" dirty="0" smtClean="0">
                <a:cs typeface="Courier"/>
              </a:rPr>
              <a:t>Variables locales </a:t>
            </a:r>
            <a:r>
              <a:rPr lang="en-US" dirty="0" smtClean="0">
                <a:cs typeface="Courier"/>
              </a:rPr>
              <a:t>: objets de données declares sans un </a:t>
            </a:r>
            <a:r>
              <a:rPr lang="en-US" b="1" dirty="0" smtClean="0">
                <a:cs typeface="Courier"/>
              </a:rPr>
              <a:t>bloc</a:t>
            </a:r>
            <a:endParaRPr lang="en-US" dirty="0">
              <a:cs typeface="Courier"/>
            </a:endParaRPr>
          </a:p>
          <a:p>
            <a:pPr lvl="2"/>
            <a:r>
              <a:rPr lang="en-US" dirty="0">
                <a:cs typeface="Courier"/>
              </a:rPr>
              <a:t>Variables </a:t>
            </a:r>
            <a:r>
              <a:rPr lang="en-US" dirty="0" smtClean="0">
                <a:cs typeface="Courier"/>
              </a:rPr>
              <a:t>définies comme </a:t>
            </a:r>
            <a:r>
              <a:rPr lang="en-US" b="1" dirty="0">
                <a:latin typeface="Courier"/>
                <a:cs typeface="Courier"/>
              </a:rPr>
              <a:t>auto </a:t>
            </a:r>
            <a:r>
              <a:rPr lang="en-US" dirty="0" smtClean="0">
                <a:cs typeface="Courier"/>
              </a:rPr>
              <a:t>(par défaut les variables locales)</a:t>
            </a:r>
            <a:endParaRPr lang="en-US" dirty="0">
              <a:cs typeface="Courier"/>
            </a:endParaRPr>
          </a:p>
          <a:p>
            <a:pPr lvl="2"/>
            <a:r>
              <a:rPr lang="en-US" dirty="0">
                <a:cs typeface="Courier"/>
              </a:rPr>
              <a:t>Variables </a:t>
            </a:r>
            <a:r>
              <a:rPr lang="en-US" dirty="0" smtClean="0">
                <a:cs typeface="Courier"/>
              </a:rPr>
              <a:t>défines comme </a:t>
            </a:r>
            <a:r>
              <a:rPr lang="en-US" b="1" dirty="0">
                <a:latin typeface="Courier"/>
                <a:cs typeface="Courier"/>
              </a:rPr>
              <a:t>register</a:t>
            </a:r>
            <a:r>
              <a:rPr lang="en-US" dirty="0">
                <a:cs typeface="Courier"/>
              </a:rPr>
              <a:t>, </a:t>
            </a:r>
            <a:r>
              <a:rPr lang="en-US" dirty="0" smtClean="0">
                <a:cs typeface="Courier"/>
              </a:rPr>
              <a:t>mais le compilateur n’a pas pu stocker dans les registres.</a:t>
            </a:r>
            <a:endParaRPr lang="en-US" b="1" dirty="0">
              <a:latin typeface="Courier"/>
              <a:cs typeface="Courier"/>
            </a:endParaRPr>
          </a:p>
          <a:p>
            <a:pPr lvl="1"/>
            <a:r>
              <a:rPr lang="en-US" dirty="0" smtClean="0"/>
              <a:t>Allocation dans un</a:t>
            </a:r>
            <a:endParaRPr lang="en-US" dirty="0"/>
          </a:p>
          <a:p>
            <a:pPr lvl="2"/>
            <a:r>
              <a:rPr lang="en-US" dirty="0"/>
              <a:t>Voie automatique</a:t>
            </a:r>
            <a:endParaRPr lang="en-US" dirty="0"/>
          </a:p>
          <a:p>
            <a:pPr lvl="2"/>
            <a:r>
              <a:rPr lang="en-US" dirty="0"/>
              <a:t>Voie </a:t>
            </a:r>
            <a:r>
              <a:rPr lang="en-US" dirty="0" smtClean="0"/>
              <a:t>continue</a:t>
            </a:r>
            <a:endParaRPr lang="en-US" dirty="0"/>
          </a:p>
          <a:p>
            <a:pPr lvl="1"/>
            <a:r>
              <a:rPr lang="en-US" dirty="0"/>
              <a:t>Allocation </a:t>
            </a:r>
            <a:r>
              <a:rPr lang="en-US" dirty="0" smtClean="0"/>
              <a:t>pendant l’exécution</a:t>
            </a:r>
            <a:endParaRPr lang="en-US" dirty="0"/>
          </a:p>
        </p:txBody>
      </p:sp>
      <p:sp>
        <p:nvSpPr>
          <p:cNvPr id="5" name="Slide Number Placeholder 4"/>
          <p:cNvSpPr>
            <a:spLocks noGrp="1"/>
          </p:cNvSpPr>
          <p:nvPr>
            <p:ph type="sldNum" sz="quarter" idx="11"/>
          </p:nvPr>
        </p:nvSpPr>
        <p:spPr/>
        <p:txBody>
          <a:bodyPr/>
          <a:lstStyle/>
          <a:p>
            <a:pPr lvl="2"/>
            <a:fld id="{28BEB0BA-EEE4-5F45-9179-3BC54B76BCCF}" type="slidenum">
              <a:rPr lang="fr-FR" smtClean="0"/>
            </a:fld>
            <a:endParaRPr lang="fr-FR"/>
          </a:p>
        </p:txBody>
      </p:sp>
      <p:sp>
        <p:nvSpPr>
          <p:cNvPr id="7" name="TextBox 6"/>
          <p:cNvSpPr txBox="1"/>
          <p:nvPr/>
        </p:nvSpPr>
        <p:spPr>
          <a:xfrm>
            <a:off x="6228184" y="236555"/>
            <a:ext cx="492142" cy="461665"/>
          </a:xfrm>
          <a:prstGeom prst="rect">
            <a:avLst/>
          </a:prstGeom>
          <a:noFill/>
        </p:spPr>
        <p:txBody>
          <a:bodyPr wrap="none" rtlCol="0">
            <a:spAutoFit/>
          </a:bodyPr>
          <a:lstStyle/>
          <a:p>
            <a:r>
              <a:rPr lang="en-US" sz="2400" b="1" dirty="0">
                <a:solidFill>
                  <a:srgbClr val="FF0000"/>
                </a:solidFill>
              </a:rPr>
              <a:t>!!!</a:t>
            </a:r>
            <a:endParaRPr lang="en-US" sz="2400" b="1" dirty="0">
              <a:solidFill>
                <a:srgbClr val="FF0000"/>
              </a:solidFill>
            </a:endParaRPr>
          </a:p>
        </p:txBody>
      </p:sp>
      <p:sp>
        <p:nvSpPr>
          <p:cNvPr id="8" name="Espace réservé du pied de page 3"/>
          <p:cNvSpPr>
            <a:spLocks noGrp="1"/>
          </p:cNvSpPr>
          <p:nvPr>
            <p:ph type="ftr" sz="quarter" idx="10"/>
          </p:nvPr>
        </p:nvSpPr>
        <p:spPr>
          <a:xfrm>
            <a:off x="395536" y="643636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tackmemory4.jpg"/>
          <p:cNvPicPr>
            <a:picLocks noChangeAspect="1"/>
          </p:cNvPicPr>
          <p:nvPr/>
        </p:nvPicPr>
        <p:blipFill>
          <a:blip r:embed="rId1" cstate="email">
            <a:extLst>
              <a:ext uri="{28A0092B-C50C-407E-A947-70E740481C1C}">
                <a14:useLocalDpi xmlns:a14="http://schemas.microsoft.com/office/drawing/2010/main" val="0"/>
              </a:ext>
            </a:extLst>
          </a:blip>
          <a:stretch>
            <a:fillRect/>
          </a:stretch>
        </p:blipFill>
        <p:spPr>
          <a:xfrm>
            <a:off x="4247964" y="949792"/>
            <a:ext cx="4896036" cy="5027179"/>
          </a:xfrm>
          <a:prstGeom prst="rect">
            <a:avLst/>
          </a:prstGeom>
        </p:spPr>
      </p:pic>
      <p:sp>
        <p:nvSpPr>
          <p:cNvPr id="2" name="Title 1"/>
          <p:cNvSpPr>
            <a:spLocks noGrp="1"/>
          </p:cNvSpPr>
          <p:nvPr>
            <p:ph type="title"/>
          </p:nvPr>
        </p:nvSpPr>
        <p:spPr/>
        <p:txBody>
          <a:bodyPr/>
          <a:lstStyle/>
          <a:p>
            <a:r>
              <a:rPr lang="fr-FR" sz="2800" dirty="0"/>
              <a:t>Allocation variable et durée de vie</a:t>
            </a:r>
            <a:endParaRPr lang="en-US" sz="2800" dirty="0"/>
          </a:p>
        </p:txBody>
      </p:sp>
      <p:sp>
        <p:nvSpPr>
          <p:cNvPr id="3" name="Content Placeholder 2"/>
          <p:cNvSpPr>
            <a:spLocks noGrp="1"/>
          </p:cNvSpPr>
          <p:nvPr>
            <p:ph idx="1"/>
          </p:nvPr>
        </p:nvSpPr>
        <p:spPr>
          <a:xfrm>
            <a:off x="71500" y="764704"/>
            <a:ext cx="4644516" cy="2694620"/>
          </a:xfrm>
        </p:spPr>
        <p:txBody>
          <a:bodyPr/>
          <a:lstStyle/>
          <a:p>
            <a:r>
              <a:rPr lang="en-US" b="1" dirty="0" smtClean="0"/>
              <a:t>TAS </a:t>
            </a:r>
            <a:r>
              <a:rPr lang="en-US" dirty="0" smtClean="0"/>
              <a:t>: </a:t>
            </a:r>
            <a:endParaRPr lang="en-US" dirty="0"/>
          </a:p>
          <a:p>
            <a:pPr lvl="1"/>
            <a:r>
              <a:rPr lang="fr-FR" dirty="0"/>
              <a:t>Durée de vie variable : Géré par le programme</a:t>
            </a:r>
            <a:endParaRPr lang="en-US" dirty="0"/>
          </a:p>
          <a:p>
            <a:pPr lvl="1"/>
            <a:r>
              <a:rPr lang="en-US" dirty="0"/>
              <a:t>Grand pool de mémoire</a:t>
            </a:r>
            <a:endParaRPr lang="en-US" dirty="0"/>
          </a:p>
          <a:p>
            <a:pPr lvl="1"/>
            <a:r>
              <a:rPr lang="fr-FR" dirty="0"/>
              <a:t>Non allouée dans un ordre contigu</a:t>
            </a:r>
            <a:endParaRPr lang="en-US" dirty="0"/>
          </a:p>
          <a:p>
            <a:pPr lvl="1"/>
            <a:r>
              <a:rPr lang="en-US" dirty="0"/>
              <a:t>Allocation dynamique</a:t>
            </a:r>
            <a:endParaRPr lang="en-US" dirty="0"/>
          </a:p>
          <a:p>
            <a:pPr lvl="1"/>
            <a:r>
              <a:rPr lang="en-US" dirty="0"/>
              <a:t>Allocation pendant l'exécution</a:t>
            </a:r>
            <a:endParaRPr lang="en-US" dirty="0"/>
          </a:p>
        </p:txBody>
      </p:sp>
      <p:sp>
        <p:nvSpPr>
          <p:cNvPr id="5" name="Slide Number Placeholder 4"/>
          <p:cNvSpPr>
            <a:spLocks noGrp="1"/>
          </p:cNvSpPr>
          <p:nvPr>
            <p:ph type="sldNum" sz="quarter" idx="11"/>
          </p:nvPr>
        </p:nvSpPr>
        <p:spPr/>
        <p:txBody>
          <a:bodyPr/>
          <a:lstStyle/>
          <a:p>
            <a:pPr lvl="2"/>
            <a:fld id="{28BEB0BA-EEE4-5F45-9179-3BC54B76BCCF}" type="slidenum">
              <a:rPr lang="fr-FR" smtClean="0"/>
            </a:fld>
            <a:endParaRPr lang="fr-FR"/>
          </a:p>
        </p:txBody>
      </p:sp>
      <p:sp>
        <p:nvSpPr>
          <p:cNvPr id="7" name="TextBox 6"/>
          <p:cNvSpPr txBox="1"/>
          <p:nvPr/>
        </p:nvSpPr>
        <p:spPr>
          <a:xfrm>
            <a:off x="6156176" y="231031"/>
            <a:ext cx="492142" cy="461665"/>
          </a:xfrm>
          <a:prstGeom prst="rect">
            <a:avLst/>
          </a:prstGeom>
          <a:noFill/>
        </p:spPr>
        <p:txBody>
          <a:bodyPr wrap="none" rtlCol="0">
            <a:spAutoFit/>
          </a:bodyPr>
          <a:lstStyle/>
          <a:p>
            <a:r>
              <a:rPr lang="en-US" sz="2400" b="1" dirty="0">
                <a:solidFill>
                  <a:srgbClr val="FF0000"/>
                </a:solidFill>
              </a:rPr>
              <a:t>!!!</a:t>
            </a:r>
            <a:endParaRPr lang="en-US" sz="2400" b="1" dirty="0">
              <a:solidFill>
                <a:srgbClr val="FF0000"/>
              </a:solidFill>
            </a:endParaRPr>
          </a:p>
        </p:txBody>
      </p:sp>
      <p:sp>
        <p:nvSpPr>
          <p:cNvPr id="8"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re 1"/>
          <p:cNvSpPr>
            <a:spLocks noGrp="1"/>
          </p:cNvSpPr>
          <p:nvPr>
            <p:ph type="title"/>
          </p:nvPr>
        </p:nvSpPr>
        <p:spPr/>
        <p:txBody>
          <a:bodyPr/>
          <a:lstStyle/>
          <a:p>
            <a:r>
              <a:rPr lang="fr-FR" sz="2800" dirty="0">
                <a:latin typeface="Arial" panose="020B0604020202020204" pitchFamily="34" charset="0"/>
                <a:cs typeface="MS PGothic" panose="020B0600070205080204" charset="-128"/>
              </a:rPr>
              <a:t>Objets de données : Qualificatifs</a:t>
            </a:r>
            <a:endParaRPr lang="fr-FR" sz="2800" dirty="0">
              <a:latin typeface="Arial" panose="020B0604020202020204" pitchFamily="34" charset="0"/>
              <a:ea typeface="MS PGothic" panose="020B0600070205080204" charset="-128"/>
              <a:cs typeface="MS PGothic" panose="020B0600070205080204" charset="-128"/>
            </a:endParaRPr>
          </a:p>
        </p:txBody>
      </p:sp>
      <p:sp>
        <p:nvSpPr>
          <p:cNvPr id="81922" name="Espace réservé du contenu 2"/>
          <p:cNvSpPr>
            <a:spLocks noGrp="1"/>
          </p:cNvSpPr>
          <p:nvPr>
            <p:ph idx="1"/>
          </p:nvPr>
        </p:nvSpPr>
        <p:spPr>
          <a:xfrm>
            <a:off x="457200" y="914400"/>
            <a:ext cx="8471284" cy="5257800"/>
          </a:xfrm>
        </p:spPr>
        <p:txBody>
          <a:bodyPr/>
          <a:lstStyle/>
          <a:p>
            <a:r>
              <a:rPr lang="fr-FR" dirty="0" smtClean="0"/>
              <a:t>Exprimer </a:t>
            </a:r>
            <a:r>
              <a:rPr lang="fr-FR" dirty="0"/>
              <a:t>des informations supplémentaires sur une valeur</a:t>
            </a:r>
            <a:endParaRPr lang="en-US" dirty="0"/>
          </a:p>
          <a:p>
            <a:pPr lvl="1"/>
            <a:r>
              <a:rPr lang="fr-FR" dirty="0"/>
              <a:t>Assurer </a:t>
            </a:r>
            <a:r>
              <a:rPr lang="fr-FR" b="1" dirty="0"/>
              <a:t>l'utilisation correcte </a:t>
            </a:r>
            <a:r>
              <a:rPr lang="fr-FR" dirty="0"/>
              <a:t>de l'objet de données</a:t>
            </a:r>
            <a:endParaRPr lang="en-US" dirty="0"/>
          </a:p>
          <a:p>
            <a:pPr marL="0" indent="0">
              <a:buNone/>
            </a:pPr>
            <a:endParaRPr lang="en-US" dirty="0"/>
          </a:p>
          <a:p>
            <a:r>
              <a:rPr lang="en-US" b="1" dirty="0" smtClean="0">
                <a:latin typeface="Courier"/>
                <a:cs typeface="Courier"/>
              </a:rPr>
              <a:t>const:</a:t>
            </a:r>
            <a:r>
              <a:rPr lang="fr-FR" dirty="0" smtClean="0">
                <a:cs typeface="Courier"/>
              </a:rPr>
              <a:t> </a:t>
            </a:r>
            <a:r>
              <a:rPr lang="fr-FR" dirty="0">
                <a:cs typeface="Courier"/>
              </a:rPr>
              <a:t>La valeur de l'objet de données ne change pas une fois qu'il a été initialisé.</a:t>
            </a:r>
            <a:endParaRPr lang="en-US" dirty="0">
              <a:cs typeface="Courier"/>
            </a:endParaRPr>
          </a:p>
          <a:p>
            <a:pPr marL="0" indent="0">
              <a:buNone/>
            </a:pPr>
            <a:endParaRPr lang="en-US" dirty="0">
              <a:cs typeface="Courier"/>
            </a:endParaRPr>
          </a:p>
          <a:p>
            <a:r>
              <a:rPr lang="en-US" b="1" dirty="0">
                <a:latin typeface="Courier"/>
                <a:cs typeface="Courier"/>
              </a:rPr>
              <a:t>v</a:t>
            </a:r>
            <a:r>
              <a:rPr lang="en-US" b="1" dirty="0" smtClean="0">
                <a:latin typeface="Courier"/>
                <a:cs typeface="Courier"/>
              </a:rPr>
              <a:t>olatile </a:t>
            </a:r>
            <a:r>
              <a:rPr lang="en-US" dirty="0" smtClean="0">
                <a:cs typeface="Courier"/>
              </a:rPr>
              <a:t>: </a:t>
            </a:r>
            <a:r>
              <a:rPr lang="fr-FR" dirty="0">
                <a:cs typeface="Courier"/>
              </a:rPr>
              <a:t>le compilateur n'optimise pas, l'objet de données est toujours accessible depuis la </a:t>
            </a:r>
            <a:r>
              <a:rPr lang="fr-FR" dirty="0" smtClean="0">
                <a:cs typeface="Courier"/>
              </a:rPr>
              <a:t>mémoire</a:t>
            </a:r>
            <a:endParaRPr lang="en-US" dirty="0">
              <a:cs typeface="Courier"/>
            </a:endParaRPr>
          </a:p>
          <a:p>
            <a:pPr marL="0" indent="0">
              <a:buNone/>
            </a:pPr>
            <a:endParaRPr lang="en-US" dirty="0"/>
          </a:p>
          <a:p>
            <a:r>
              <a:rPr lang="en-US" b="1" dirty="0" smtClean="0">
                <a:latin typeface="Courier"/>
                <a:cs typeface="Courier"/>
              </a:rPr>
              <a:t>restrict: </a:t>
            </a:r>
            <a:r>
              <a:rPr lang="fr-FR" dirty="0" smtClean="0"/>
              <a:t>le </a:t>
            </a:r>
            <a:r>
              <a:rPr lang="fr-FR" dirty="0"/>
              <a:t>seul moyen d'accéder à un objet de données est de passer par le pointeur qui le </a:t>
            </a:r>
            <a:r>
              <a:rPr lang="fr-FR" dirty="0" smtClean="0"/>
              <a:t>désigne.</a:t>
            </a:r>
            <a:endParaRPr lang="en-US" dirty="0"/>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2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2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2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re 1"/>
          <p:cNvSpPr>
            <a:spLocks noGrp="1"/>
          </p:cNvSpPr>
          <p:nvPr>
            <p:ph type="title"/>
          </p:nvPr>
        </p:nvSpPr>
        <p:spPr>
          <a:xfrm>
            <a:off x="551569" y="169208"/>
            <a:ext cx="7772400" cy="533400"/>
          </a:xfrm>
        </p:spPr>
        <p:txBody>
          <a:bodyPr/>
          <a:lstStyle/>
          <a:p>
            <a:r>
              <a:rPr lang="fr-FR" sz="2800" dirty="0">
                <a:latin typeface="Arial" panose="020B0604020202020204" pitchFamily="34" charset="0"/>
                <a:cs typeface="MS PGothic" panose="020B0600070205080204" charset="-128"/>
              </a:rPr>
              <a:t>Macros de type objet</a:t>
            </a:r>
            <a:endParaRPr lang="fr-FR" sz="2800" dirty="0">
              <a:latin typeface="Arial" panose="020B0604020202020204" pitchFamily="34" charset="0"/>
              <a:cs typeface="MS PGothic" panose="020B0600070205080204" charset="-128"/>
            </a:endParaRPr>
          </a:p>
        </p:txBody>
      </p:sp>
      <p:sp>
        <p:nvSpPr>
          <p:cNvPr id="71682" name="Espace réservé du contenu 2"/>
          <p:cNvSpPr>
            <a:spLocks noGrp="1"/>
          </p:cNvSpPr>
          <p:nvPr>
            <p:ph idx="1"/>
          </p:nvPr>
        </p:nvSpPr>
        <p:spPr>
          <a:xfrm>
            <a:off x="307094" y="914400"/>
            <a:ext cx="8836906" cy="5257800"/>
          </a:xfrm>
        </p:spPr>
        <p:txBody>
          <a:bodyPr/>
          <a:lstStyle/>
          <a:p>
            <a:r>
              <a:rPr lang="en-US" dirty="0" smtClean="0">
                <a:latin typeface="Arial" panose="020B0604020202020204" pitchFamily="34" charset="0"/>
                <a:cs typeface="MS PGothic" panose="020B0600070205080204" charset="-128"/>
              </a:rPr>
              <a:t>Syntaxe : </a:t>
            </a:r>
            <a:r>
              <a:rPr lang="fr-FR" dirty="0">
                <a:latin typeface="Arial" panose="020B0604020202020204" pitchFamily="34" charset="0"/>
              </a:rPr>
              <a:t>Par le biais de la directive du préprocesseur </a:t>
            </a:r>
            <a:r>
              <a:rPr lang="en-US" b="1" dirty="0" smtClean="0">
                <a:latin typeface="Courier"/>
                <a:cs typeface="Courier"/>
              </a:rPr>
              <a:t>#</a:t>
            </a:r>
            <a:r>
              <a:rPr lang="en-US" b="1" dirty="0">
                <a:latin typeface="Courier"/>
                <a:cs typeface="Courier"/>
              </a:rPr>
              <a:t>define</a:t>
            </a:r>
            <a:endParaRPr lang="en-US" dirty="0">
              <a:latin typeface="Arial" panose="020B0604020202020204" pitchFamily="34" charset="0"/>
            </a:endParaRPr>
          </a:p>
          <a:p>
            <a:pPr marL="0" indent="0">
              <a:buNone/>
            </a:pPr>
            <a:r>
              <a:rPr lang="en-US" sz="2000" b="1" dirty="0">
                <a:latin typeface="Courier"/>
                <a:cs typeface="Courier"/>
              </a:rPr>
              <a:t>#define IDENTIFIER value </a:t>
            </a:r>
            <a:endParaRPr lang="en-US" sz="2000" dirty="0">
              <a:latin typeface="Arial" panose="020B0604020202020204" pitchFamily="34" charset="0"/>
            </a:endParaRPr>
          </a:p>
          <a:p>
            <a:endParaRPr lang="en-US" dirty="0">
              <a:latin typeface="Arial" panose="020B0604020202020204" pitchFamily="34" charset="0"/>
            </a:endParaRPr>
          </a:p>
          <a:p>
            <a:r>
              <a:rPr lang="en-US" dirty="0" smtClean="0">
                <a:cs typeface="Courier"/>
              </a:rPr>
              <a:t>Fonction :</a:t>
            </a:r>
            <a:endParaRPr lang="en-US" dirty="0">
              <a:cs typeface="Courier"/>
            </a:endParaRPr>
          </a:p>
          <a:p>
            <a:pPr lvl="1"/>
            <a:r>
              <a:rPr lang="fr-FR" dirty="0"/>
              <a:t>Donne un nom symbolique à un objet de données</a:t>
            </a:r>
            <a:endParaRPr lang="en-US" dirty="0"/>
          </a:p>
          <a:p>
            <a:pPr lvl="1"/>
            <a:r>
              <a:rPr lang="fr-FR" dirty="0"/>
              <a:t>Convention : Les noms symboliques sont donnés en </a:t>
            </a:r>
            <a:r>
              <a:rPr lang="fr-FR" b="1" dirty="0"/>
              <a:t>MAJUSCULES</a:t>
            </a:r>
            <a:r>
              <a:rPr lang="fr-FR" dirty="0"/>
              <a:t>.</a:t>
            </a:r>
            <a:endParaRPr lang="en-US" dirty="0"/>
          </a:p>
          <a:p>
            <a:pPr lvl="1"/>
            <a:endParaRPr lang="en-US" dirty="0">
              <a:cs typeface="Courier"/>
            </a:endParaRPr>
          </a:p>
          <a:p>
            <a:r>
              <a:rPr lang="en-US" dirty="0" smtClean="0">
                <a:cs typeface="Courier"/>
              </a:rPr>
              <a:t>Exemples</a:t>
            </a:r>
            <a:endParaRPr lang="en-US" dirty="0">
              <a:cs typeface="Courier"/>
            </a:endParaRPr>
          </a:p>
          <a:p>
            <a:pPr lvl="1"/>
            <a:r>
              <a:rPr lang="en-US" b="1" dirty="0">
                <a:latin typeface="Courier"/>
                <a:cs typeface="Courier"/>
              </a:rPr>
              <a:t>#define PI 3.1416</a:t>
            </a:r>
            <a:endParaRPr lang="en-US" b="1" dirty="0">
              <a:latin typeface="Courier"/>
              <a:cs typeface="Courier"/>
            </a:endParaRPr>
          </a:p>
          <a:p>
            <a:pPr lvl="1"/>
            <a:r>
              <a:rPr lang="en-US" b="1" dirty="0">
                <a:latin typeface="Courier"/>
                <a:cs typeface="Courier"/>
              </a:rPr>
              <a:t>#define NOM ″foo″</a:t>
            </a:r>
            <a:endParaRPr lang="en-US" b="1" dirty="0">
              <a:latin typeface="Courier"/>
              <a:cs typeface="Courier"/>
            </a:endParaRPr>
          </a:p>
          <a:p>
            <a:pPr marL="0" indent="0">
              <a:buNone/>
            </a:pPr>
            <a:endParaRPr lang="en-US" dirty="0">
              <a:latin typeface="Arial" panose="020B0604020202020204" pitchFamily="34" charset="0"/>
              <a:cs typeface="MS PGothic" panose="020B0600070205080204" charset="-128"/>
            </a:endParaRPr>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2">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682">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68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re 1"/>
          <p:cNvSpPr>
            <a:spLocks noGrp="1"/>
          </p:cNvSpPr>
          <p:nvPr>
            <p:ph type="title"/>
          </p:nvPr>
        </p:nvSpPr>
        <p:spPr/>
        <p:txBody>
          <a:bodyPr/>
          <a:lstStyle/>
          <a:p>
            <a:r>
              <a:rPr lang="en-US" sz="2800" dirty="0">
                <a:latin typeface="Arial" panose="020B0604020202020204" pitchFamily="34" charset="0"/>
                <a:cs typeface="MS PGothic" panose="020B0600070205080204" charset="-128"/>
              </a:rPr>
              <a:t>Autres constantes réservées</a:t>
            </a:r>
            <a:endParaRPr lang="en-US" sz="2800" dirty="0">
              <a:latin typeface="Arial" panose="020B0604020202020204" pitchFamily="34" charset="0"/>
              <a:cs typeface="MS PGothic" panose="020B0600070205080204" charset="-128"/>
            </a:endParaRPr>
          </a:p>
        </p:txBody>
      </p:sp>
      <p:sp>
        <p:nvSpPr>
          <p:cNvPr id="71682" name="Espace réservé du contenu 2"/>
          <p:cNvSpPr>
            <a:spLocks noGrp="1"/>
          </p:cNvSpPr>
          <p:nvPr>
            <p:ph idx="1"/>
          </p:nvPr>
        </p:nvSpPr>
        <p:spPr>
          <a:xfrm>
            <a:off x="307094" y="914400"/>
            <a:ext cx="8585386" cy="5257800"/>
          </a:xfrm>
          <a:ln>
            <a:noFill/>
          </a:ln>
        </p:spPr>
        <p:txBody>
          <a:bodyPr/>
          <a:lstStyle/>
          <a:p>
            <a:r>
              <a:rPr lang="en-US" dirty="0">
                <a:latin typeface="Arial" panose="020B0604020202020204" pitchFamily="34" charset="0"/>
              </a:rPr>
              <a:t>Escape </a:t>
            </a:r>
            <a:r>
              <a:rPr lang="en-US" dirty="0" smtClean="0">
                <a:latin typeface="Arial" panose="020B0604020202020204" pitchFamily="34" charset="0"/>
              </a:rPr>
              <a:t>sequences :</a:t>
            </a:r>
            <a:endParaRPr lang="en-US" dirty="0">
              <a:latin typeface="Arial" panose="020B0604020202020204" pitchFamily="34" charset="0"/>
            </a:endParaRPr>
          </a:p>
          <a:p>
            <a:pPr lvl="1"/>
            <a:r>
              <a:rPr lang="en-US" dirty="0" smtClean="0">
                <a:latin typeface="Arial" panose="020B0604020202020204" pitchFamily="34" charset="0"/>
              </a:rPr>
              <a:t>le caractère </a:t>
            </a:r>
            <a:r>
              <a:rPr lang="en-US" b="1" dirty="0">
                <a:latin typeface="Courier"/>
                <a:cs typeface="Courier"/>
              </a:rPr>
              <a:t>’</a:t>
            </a:r>
            <a:r>
              <a:rPr lang="en-US" altLang="ja-JP" b="1" dirty="0">
                <a:latin typeface="Courier"/>
                <a:cs typeface="Courier"/>
              </a:rPr>
              <a:t>\n</a:t>
            </a:r>
            <a:r>
              <a:rPr lang="en-US" b="1" dirty="0">
                <a:latin typeface="Courier"/>
                <a:cs typeface="Courier"/>
              </a:rPr>
              <a:t>’</a:t>
            </a:r>
            <a:r>
              <a:rPr lang="en-US" altLang="ja-JP" dirty="0">
                <a:latin typeface="Arial" panose="020B0604020202020204" pitchFamily="34" charset="0"/>
              </a:rPr>
              <a:t> </a:t>
            </a:r>
            <a:r>
              <a:rPr lang="en-US" altLang="ja-JP" dirty="0" smtClean="0">
                <a:latin typeface="Arial" panose="020B0604020202020204" pitchFamily="34" charset="0"/>
              </a:rPr>
              <a:t>est une nouvelle ligne </a:t>
            </a:r>
            <a:r>
              <a:rPr lang="en-US" altLang="ja-JP" dirty="0" smtClean="0">
                <a:solidFill>
                  <a:srgbClr val="000000"/>
                </a:solidFill>
                <a:latin typeface="Arial" panose="020B0604020202020204" pitchFamily="34" charset="0"/>
              </a:rPr>
              <a:t>(sur </a:t>
            </a:r>
            <a:r>
              <a:rPr lang="en-US" altLang="ja-JP" dirty="0">
                <a:solidFill>
                  <a:srgbClr val="000000"/>
                </a:solidFill>
                <a:latin typeface="Arial" panose="020B0604020202020204" pitchFamily="34" charset="0"/>
              </a:rPr>
              <a:t>les systems Unix</a:t>
            </a:r>
            <a:r>
              <a:rPr lang="en-US" altLang="ja-JP" dirty="0" smtClean="0">
                <a:solidFill>
                  <a:srgbClr val="000000"/>
                </a:solidFill>
                <a:latin typeface="Arial" panose="020B0604020202020204" pitchFamily="34" charset="0"/>
              </a:rPr>
              <a:t>)</a:t>
            </a:r>
            <a:endParaRPr lang="en-US" altLang="ja-JP" dirty="0">
              <a:solidFill>
                <a:srgbClr val="000000"/>
              </a:solidFill>
              <a:latin typeface="Arial" panose="020B0604020202020204" pitchFamily="34" charset="0"/>
            </a:endParaRPr>
          </a:p>
          <a:p>
            <a:pPr lvl="1"/>
            <a:r>
              <a:rPr lang="en-US" dirty="0" smtClean="0">
                <a:latin typeface="Arial" panose="020B0604020202020204" pitchFamily="34" charset="0"/>
              </a:rPr>
              <a:t>le caractère </a:t>
            </a:r>
            <a:r>
              <a:rPr lang="en-US" b="1" dirty="0">
                <a:latin typeface="Courier"/>
                <a:cs typeface="Courier"/>
              </a:rPr>
              <a:t>’</a:t>
            </a:r>
            <a:r>
              <a:rPr lang="en-US" altLang="ja-JP" b="1" dirty="0">
                <a:latin typeface="Courier"/>
                <a:cs typeface="Courier"/>
              </a:rPr>
              <a:t>\b</a:t>
            </a:r>
            <a:r>
              <a:rPr lang="en-US" b="1" dirty="0">
                <a:latin typeface="Courier"/>
                <a:cs typeface="Courier"/>
              </a:rPr>
              <a:t>’</a:t>
            </a:r>
            <a:r>
              <a:rPr lang="en-US" altLang="ja-JP" b="1" dirty="0">
                <a:latin typeface="Arial" panose="020B0604020202020204" pitchFamily="34" charset="0"/>
              </a:rPr>
              <a:t> </a:t>
            </a:r>
            <a:r>
              <a:rPr lang="fr-FR" altLang="ja-JP" dirty="0">
                <a:latin typeface="Arial" panose="020B0604020202020204" pitchFamily="34" charset="0"/>
              </a:rPr>
              <a:t>est un retour en </a:t>
            </a:r>
            <a:r>
              <a:rPr lang="fr-FR" altLang="ja-JP" dirty="0" smtClean="0">
                <a:latin typeface="Arial" panose="020B0604020202020204" pitchFamily="34" charset="0"/>
              </a:rPr>
              <a:t>arrière</a:t>
            </a:r>
            <a:endParaRPr lang="fr-FR" altLang="ja-JP" dirty="0" smtClean="0">
              <a:latin typeface="Arial" panose="020B0604020202020204" pitchFamily="34" charset="0"/>
            </a:endParaRPr>
          </a:p>
          <a:p>
            <a:pPr lvl="1"/>
            <a:r>
              <a:rPr lang="en-US" dirty="0" smtClean="0">
                <a:latin typeface="Arial" panose="020B0604020202020204" pitchFamily="34" charset="0"/>
              </a:rPr>
              <a:t>le caractère </a:t>
            </a:r>
            <a:r>
              <a:rPr lang="en-US" b="1" dirty="0">
                <a:latin typeface="Courier"/>
                <a:cs typeface="Courier"/>
              </a:rPr>
              <a:t>’</a:t>
            </a:r>
            <a:r>
              <a:rPr lang="en-US" altLang="ja-JP" b="1" dirty="0">
                <a:latin typeface="Courier"/>
                <a:cs typeface="Courier"/>
              </a:rPr>
              <a:t>\t</a:t>
            </a:r>
            <a:r>
              <a:rPr lang="en-US" b="1" dirty="0">
                <a:latin typeface="Courier"/>
                <a:cs typeface="Courier"/>
              </a:rPr>
              <a:t>’</a:t>
            </a:r>
            <a:r>
              <a:rPr lang="en-US" altLang="ja-JP" b="1" dirty="0">
                <a:latin typeface="Arial" panose="020B0604020202020204" pitchFamily="34" charset="0"/>
              </a:rPr>
              <a:t> </a:t>
            </a:r>
            <a:r>
              <a:rPr lang="fr-FR" altLang="ja-JP" dirty="0">
                <a:latin typeface="Arial" panose="020B0604020202020204" pitchFamily="34" charset="0"/>
              </a:rPr>
              <a:t>est un espace de </a:t>
            </a:r>
            <a:r>
              <a:rPr lang="fr-FR" altLang="ja-JP" dirty="0" smtClean="0">
                <a:latin typeface="Arial" panose="020B0604020202020204" pitchFamily="34" charset="0"/>
              </a:rPr>
              <a:t>tabulation</a:t>
            </a:r>
            <a:endParaRPr lang="fr-FR" altLang="ja-JP" dirty="0" smtClean="0">
              <a:latin typeface="Arial" panose="020B0604020202020204" pitchFamily="34" charset="0"/>
            </a:endParaRPr>
          </a:p>
          <a:p>
            <a:pPr lvl="1"/>
            <a:r>
              <a:rPr lang="en-US" dirty="0">
                <a:latin typeface="Arial" panose="020B0604020202020204" pitchFamily="34" charset="0"/>
              </a:rPr>
              <a:t>l</a:t>
            </a:r>
            <a:r>
              <a:rPr lang="en-US" dirty="0" smtClean="0">
                <a:latin typeface="Arial" panose="020B0604020202020204" pitchFamily="34" charset="0"/>
              </a:rPr>
              <a:t>e caractère </a:t>
            </a:r>
            <a:r>
              <a:rPr lang="en-US" b="1" dirty="0">
                <a:latin typeface="Courier"/>
                <a:cs typeface="Courier"/>
              </a:rPr>
              <a:t>’</a:t>
            </a:r>
            <a:r>
              <a:rPr lang="en-US" altLang="ja-JP" b="1" dirty="0">
                <a:latin typeface="Courier"/>
                <a:cs typeface="Courier"/>
              </a:rPr>
              <a:t>\0</a:t>
            </a:r>
            <a:r>
              <a:rPr lang="en-US" b="1" dirty="0">
                <a:latin typeface="Courier"/>
                <a:cs typeface="Courier"/>
              </a:rPr>
              <a:t>’</a:t>
            </a:r>
            <a:r>
              <a:rPr lang="en-US" altLang="ja-JP" b="1" dirty="0">
                <a:latin typeface="Arial" panose="020B0604020202020204" pitchFamily="34" charset="0"/>
              </a:rPr>
              <a:t> </a:t>
            </a:r>
            <a:r>
              <a:rPr lang="en-US" altLang="ja-JP" dirty="0">
                <a:latin typeface="Arial" panose="020B0604020202020204" pitchFamily="34" charset="0"/>
              </a:rPr>
              <a:t>est un caractère nul</a:t>
            </a:r>
            <a:endParaRPr lang="en-US" altLang="ja-JP" dirty="0">
              <a:latin typeface="Arial" panose="020B0604020202020204" pitchFamily="34" charset="0"/>
            </a:endParaRPr>
          </a:p>
          <a:p>
            <a:pPr lvl="1"/>
            <a:endParaRPr lang="en-US" altLang="ja-JP" dirty="0">
              <a:latin typeface="Arial" panose="020B0604020202020204" pitchFamily="34" charset="0"/>
            </a:endParaRPr>
          </a:p>
          <a:p>
            <a:pPr marL="0" indent="0">
              <a:buNone/>
            </a:pPr>
            <a:endParaRPr lang="en-US" dirty="0">
              <a:latin typeface="Arial" panose="020B0604020202020204" pitchFamily="34" charset="0"/>
            </a:endParaRPr>
          </a:p>
          <a:p>
            <a:r>
              <a:rPr lang="en-US" dirty="0" smtClean="0">
                <a:latin typeface="Arial" panose="020B0604020202020204" pitchFamily="34" charset="0"/>
              </a:rPr>
              <a:t>La </a:t>
            </a:r>
            <a:r>
              <a:rPr lang="en-US" dirty="0">
                <a:latin typeface="Arial" panose="020B0604020202020204" pitchFamily="34" charset="0"/>
              </a:rPr>
              <a:t>double quotes </a:t>
            </a:r>
            <a:r>
              <a:rPr lang="en-US" b="1" dirty="0">
                <a:latin typeface="Courier"/>
                <a:cs typeface="Courier"/>
              </a:rPr>
              <a:t>″…″ </a:t>
            </a:r>
            <a:r>
              <a:rPr lang="fr-FR" dirty="0">
                <a:latin typeface="Arial" panose="020B0604020202020204" pitchFamily="34" charset="0"/>
              </a:rPr>
              <a:t>définit une chaîne de caractères</a:t>
            </a:r>
            <a:endParaRPr lang="en-US" dirty="0">
              <a:latin typeface="Arial" panose="020B0604020202020204" pitchFamily="34" charset="0"/>
            </a:endParaRPr>
          </a:p>
          <a:p>
            <a:pPr lvl="1"/>
            <a:r>
              <a:rPr lang="fr-FR" dirty="0">
                <a:latin typeface="Arial" panose="020B0604020202020204" pitchFamily="34" charset="0"/>
              </a:rPr>
              <a:t>Il n'existe </a:t>
            </a:r>
            <a:r>
              <a:rPr lang="fr-FR" b="1" dirty="0">
                <a:solidFill>
                  <a:srgbClr val="FF0000"/>
                </a:solidFill>
                <a:latin typeface="Arial" panose="020B0604020202020204" pitchFamily="34" charset="0"/>
              </a:rPr>
              <a:t>PAS de type </a:t>
            </a:r>
            <a:r>
              <a:rPr lang="fr-FR" dirty="0">
                <a:latin typeface="Arial" panose="020B0604020202020204" pitchFamily="34" charset="0"/>
              </a:rPr>
              <a:t>de chaîne en </a:t>
            </a:r>
            <a:r>
              <a:rPr lang="fr-FR" dirty="0" smtClean="0">
                <a:latin typeface="Arial" panose="020B0604020202020204" pitchFamily="34" charset="0"/>
              </a:rPr>
              <a:t>C</a:t>
            </a:r>
            <a:endParaRPr lang="fr-FR" dirty="0" smtClean="0">
              <a:latin typeface="Arial" panose="020B0604020202020204" pitchFamily="34" charset="0"/>
            </a:endParaRPr>
          </a:p>
          <a:p>
            <a:pPr lvl="1"/>
            <a:r>
              <a:rPr lang="fr-FR" dirty="0">
                <a:solidFill>
                  <a:srgbClr val="000000"/>
                </a:solidFill>
                <a:latin typeface="Arial" panose="020B0604020202020204" pitchFamily="34" charset="0"/>
              </a:rPr>
              <a:t>String = tableau de caractères qui se termine par le caractère nul (\</a:t>
            </a:r>
            <a:r>
              <a:rPr lang="fr-FR" dirty="0" smtClean="0">
                <a:solidFill>
                  <a:srgbClr val="000000"/>
                </a:solidFill>
                <a:latin typeface="Arial" panose="020B0604020202020204" pitchFamily="34" charset="0"/>
              </a:rPr>
              <a:t>0</a:t>
            </a:r>
            <a:r>
              <a:rPr lang="en-US" altLang="ja-JP" dirty="0" smtClean="0">
                <a:latin typeface="Courier"/>
                <a:cs typeface="Courier"/>
              </a:rPr>
              <a:t>)</a:t>
            </a:r>
            <a:endParaRPr lang="en-US" dirty="0">
              <a:solidFill>
                <a:srgbClr val="000000"/>
              </a:solidFill>
              <a:latin typeface="Arial" panose="020B0604020202020204" pitchFamily="34" charset="0"/>
            </a:endParaRPr>
          </a:p>
          <a:p>
            <a:r>
              <a:rPr lang="en-US" dirty="0" smtClean="0">
                <a:latin typeface="Arial" panose="020B0604020202020204" pitchFamily="34" charset="0"/>
              </a:rPr>
              <a:t>La simple </a:t>
            </a:r>
            <a:r>
              <a:rPr lang="en-US" dirty="0">
                <a:latin typeface="Arial" panose="020B0604020202020204" pitchFamily="34" charset="0"/>
              </a:rPr>
              <a:t>quote </a:t>
            </a:r>
            <a:r>
              <a:rPr lang="en-US" b="1" dirty="0">
                <a:latin typeface="Courier"/>
                <a:cs typeface="Courier"/>
              </a:rPr>
              <a:t>‘.’ </a:t>
            </a:r>
            <a:r>
              <a:rPr lang="en-US" dirty="0" smtClean="0">
                <a:latin typeface="Arial" panose="020B0604020202020204" pitchFamily="34" charset="0"/>
              </a:rPr>
              <a:t>définit un caractère</a:t>
            </a:r>
            <a:endParaRPr lang="en-US" dirty="0">
              <a:latin typeface="Arial" panose="020B0604020202020204" pitchFamily="34" charset="0"/>
            </a:endParaRPr>
          </a:p>
          <a:p>
            <a:pPr lvl="1"/>
            <a:endParaRPr lang="en-US" b="1" dirty="0">
              <a:latin typeface="Arial" panose="020B0604020202020204" pitchFamily="34" charset="0"/>
              <a:cs typeface="MS PGothic" panose="020B0600070205080204" charset="-128"/>
            </a:endParaRPr>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2">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682">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682">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68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172" name="Rectangle 2"/>
          <p:cNvSpPr>
            <a:spLocks noGrp="1" noChangeArrowheads="1"/>
          </p:cNvSpPr>
          <p:nvPr>
            <p:ph type="ctrTitle"/>
          </p:nvPr>
        </p:nvSpPr>
        <p:spPr/>
        <p:txBody>
          <a:bodyPr/>
          <a:lstStyle/>
          <a:p>
            <a:r>
              <a:rPr lang="fr-FR" dirty="0">
                <a:latin typeface="Arial" panose="020B0604020202020204" pitchFamily="34" charset="0"/>
              </a:rPr>
              <a:t>Composants de base du langage C : </a:t>
            </a:r>
            <a:r>
              <a:rPr lang="fr-FR" dirty="0" smtClean="0">
                <a:latin typeface="Arial" panose="020B0604020202020204" pitchFamily="34" charset="0"/>
              </a:rPr>
              <a:t>Bibliothèques</a:t>
            </a:r>
            <a:endParaRPr lang="en-GB" dirty="0">
              <a:latin typeface="Arial" panose="020B0604020202020204" pitchFamily="34" charset="0"/>
            </a:endParaRPr>
          </a:p>
        </p:txBody>
      </p:sp>
      <p:sp>
        <p:nvSpPr>
          <p:cNvPr id="6"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re 1"/>
          <p:cNvSpPr>
            <a:spLocks noGrp="1"/>
          </p:cNvSpPr>
          <p:nvPr>
            <p:ph type="title"/>
          </p:nvPr>
        </p:nvSpPr>
        <p:spPr/>
        <p:txBody>
          <a:bodyPr/>
          <a:lstStyle/>
          <a:p>
            <a:r>
              <a:rPr lang="fr-FR" sz="2800" dirty="0">
                <a:latin typeface="Arial" panose="020B0604020202020204" pitchFamily="34" charset="0"/>
              </a:rPr>
              <a:t>Bibliothèques</a:t>
            </a:r>
            <a:endParaRPr lang="fr-FR" sz="2800" dirty="0">
              <a:latin typeface="Arial" panose="020B0604020202020204" pitchFamily="34" charset="0"/>
              <a:cs typeface="MS PGothic" panose="020B0600070205080204" charset="-128"/>
            </a:endParaRPr>
          </a:p>
        </p:txBody>
      </p:sp>
      <p:sp>
        <p:nvSpPr>
          <p:cNvPr id="3" name="Espace réservé du contenu 2"/>
          <p:cNvSpPr>
            <a:spLocks noGrp="1"/>
          </p:cNvSpPr>
          <p:nvPr>
            <p:ph idx="1"/>
          </p:nvPr>
        </p:nvSpPr>
        <p:spPr>
          <a:xfrm>
            <a:off x="323528" y="908720"/>
            <a:ext cx="8820472" cy="4537075"/>
          </a:xfrm>
        </p:spPr>
        <p:txBody>
          <a:bodyPr/>
          <a:lstStyle/>
          <a:p>
            <a:pPr>
              <a:defRPr/>
            </a:pPr>
            <a:r>
              <a:rPr lang="fr-FR" dirty="0"/>
              <a:t>En C, il y a beaucoup de fonctions déjà implémentées dans les bibliothèques </a:t>
            </a:r>
            <a:r>
              <a:rPr lang="en-GB" dirty="0" smtClean="0"/>
              <a:t> </a:t>
            </a:r>
            <a:endParaRPr lang="en-GB" dirty="0"/>
          </a:p>
          <a:p>
            <a:pPr lvl="1">
              <a:defRPr/>
            </a:pPr>
            <a:r>
              <a:rPr lang="en-GB" dirty="0" err="1" smtClean="0"/>
              <a:t>Inclut</a:t>
            </a:r>
            <a:r>
              <a:rPr lang="en-GB" dirty="0" smtClean="0"/>
              <a:t> </a:t>
            </a:r>
            <a:r>
              <a:rPr lang="en-GB" dirty="0"/>
              <a:t>les appels système</a:t>
            </a:r>
            <a:endParaRPr lang="en-GB" dirty="0"/>
          </a:p>
          <a:p>
            <a:pPr lvl="1">
              <a:defRPr/>
            </a:pPr>
            <a:r>
              <a:rPr lang="en-GB" dirty="0"/>
              <a:t>Calculs mathématiques</a:t>
            </a:r>
            <a:endParaRPr lang="en-GB" dirty="0"/>
          </a:p>
          <a:p>
            <a:pPr lvl="1">
              <a:defRPr/>
            </a:pPr>
            <a:r>
              <a:rPr lang="en-GB" dirty="0"/>
              <a:t>…</a:t>
            </a:r>
            <a:endParaRPr lang="en-GB" dirty="0"/>
          </a:p>
          <a:p>
            <a:pPr lvl="1">
              <a:defRPr/>
            </a:pPr>
            <a:endParaRPr lang="en-GB" dirty="0"/>
          </a:p>
          <a:p>
            <a:pPr>
              <a:defRPr/>
            </a:pPr>
            <a:r>
              <a:rPr lang="fr-FR" dirty="0"/>
              <a:t>Le programmeur peut et doit les </a:t>
            </a:r>
            <a:r>
              <a:rPr lang="fr-FR" dirty="0" smtClean="0"/>
              <a:t>utiliser</a:t>
            </a:r>
            <a:r>
              <a:rPr lang="en-GB" dirty="0" smtClean="0"/>
              <a:t> !</a:t>
            </a:r>
            <a:endParaRPr lang="en-GB" dirty="0" smtClean="0"/>
          </a:p>
          <a:p>
            <a:pPr lvl="1">
              <a:defRPr/>
            </a:pPr>
            <a:r>
              <a:rPr lang="fr-FR" dirty="0"/>
              <a:t>Ajouter la directive correspondante en tête du fichier de compilation</a:t>
            </a:r>
            <a:endParaRPr lang="en-GB" dirty="0" smtClean="0"/>
          </a:p>
          <a:p>
            <a:pPr lvl="1">
              <a:defRPr/>
            </a:pPr>
            <a:r>
              <a:rPr lang="en-GB" b="1" dirty="0" smtClean="0">
                <a:latin typeface="Courier"/>
                <a:cs typeface="Courier"/>
              </a:rPr>
              <a:t>#</a:t>
            </a:r>
            <a:r>
              <a:rPr lang="en-GB" b="1" dirty="0">
                <a:latin typeface="Courier"/>
                <a:cs typeface="Courier"/>
              </a:rPr>
              <a:t>include &lt;stdio.h&gt;</a:t>
            </a:r>
            <a:endParaRPr lang="en-GB" b="1" dirty="0">
              <a:latin typeface="Courier"/>
              <a:cs typeface="Courier"/>
            </a:endParaRPr>
          </a:p>
          <a:p>
            <a:pPr lvl="1">
              <a:defRPr/>
            </a:pPr>
            <a:r>
              <a:rPr lang="en-GB" b="1" dirty="0">
                <a:latin typeface="Courier"/>
                <a:cs typeface="Courier"/>
              </a:rPr>
              <a:t>#include &lt;</a:t>
            </a:r>
            <a:r>
              <a:rPr lang="en-GB" b="1" dirty="0" err="1">
                <a:latin typeface="Courier"/>
                <a:cs typeface="Courier"/>
              </a:rPr>
              <a:t>stdlib.h</a:t>
            </a:r>
            <a:r>
              <a:rPr lang="en-GB" b="1" dirty="0">
                <a:latin typeface="Courier"/>
                <a:cs typeface="Courier"/>
              </a:rPr>
              <a:t>&gt;</a:t>
            </a:r>
            <a:endParaRPr lang="en-GB" b="1" dirty="0">
              <a:latin typeface="Courier"/>
              <a:cs typeface="Courier"/>
            </a:endParaRPr>
          </a:p>
          <a:p>
            <a:pPr lvl="1">
              <a:defRPr/>
            </a:pPr>
            <a:r>
              <a:rPr lang="en-GB" b="1" dirty="0">
                <a:latin typeface="Courier"/>
                <a:cs typeface="Courier"/>
              </a:rPr>
              <a:t>#include &lt;</a:t>
            </a:r>
            <a:r>
              <a:rPr lang="en-GB" b="1" dirty="0" err="1">
                <a:latin typeface="Courier"/>
                <a:cs typeface="Courier"/>
              </a:rPr>
              <a:t>math.h</a:t>
            </a:r>
            <a:r>
              <a:rPr lang="en-GB" b="1" dirty="0">
                <a:latin typeface="Courier"/>
                <a:cs typeface="Courier"/>
              </a:rPr>
              <a:t>&gt;</a:t>
            </a:r>
            <a:endParaRPr lang="en-GB" b="1" dirty="0">
              <a:latin typeface="Courier"/>
              <a:cs typeface="Courier"/>
            </a:endParaRPr>
          </a:p>
          <a:p>
            <a:pPr lvl="1">
              <a:defRPr/>
            </a:pPr>
            <a:r>
              <a:rPr lang="en-GB" b="1" dirty="0">
                <a:latin typeface="Courier"/>
                <a:cs typeface="Courier"/>
              </a:rPr>
              <a:t>#include &lt;</a:t>
            </a:r>
            <a:r>
              <a:rPr lang="en-GB" b="1" dirty="0" err="1">
                <a:latin typeface="Courier"/>
                <a:cs typeface="Courier"/>
              </a:rPr>
              <a:t>string.h</a:t>
            </a:r>
            <a:r>
              <a:rPr lang="en-GB" b="1" dirty="0">
                <a:latin typeface="Courier"/>
                <a:cs typeface="Courier"/>
              </a:rPr>
              <a:t>&gt;</a:t>
            </a:r>
            <a:endParaRPr lang="en-GB" b="1" dirty="0">
              <a:latin typeface="Courier"/>
              <a:cs typeface="Courier"/>
            </a:endParaRPr>
          </a:p>
          <a:p>
            <a:pPr lvl="1">
              <a:defRPr/>
            </a:pPr>
            <a:r>
              <a:rPr lang="en-GB" dirty="0"/>
              <a:t>…</a:t>
            </a:r>
            <a:endParaRPr lang="en-GB" dirty="0"/>
          </a:p>
          <a:p>
            <a:pPr marL="542925" lvl="1" indent="0">
              <a:buNone/>
              <a:defRPr/>
            </a:pPr>
            <a:endParaRPr lang="en-GB" dirty="0"/>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re 1"/>
          <p:cNvSpPr>
            <a:spLocks noGrp="1"/>
          </p:cNvSpPr>
          <p:nvPr>
            <p:ph type="title"/>
          </p:nvPr>
        </p:nvSpPr>
        <p:spPr/>
        <p:txBody>
          <a:bodyPr/>
          <a:lstStyle/>
          <a:p>
            <a:r>
              <a:rPr lang="fr-FR" sz="2800" dirty="0" smtClean="0">
                <a:latin typeface="Arial" panose="020B0604020202020204" pitchFamily="34" charset="0"/>
                <a:cs typeface="MS PGothic" panose="020B0600070205080204" charset="-128"/>
              </a:rPr>
              <a:t>Deux fonctions E/S de base!</a:t>
            </a:r>
            <a:endParaRPr lang="fr-FR" sz="2800" dirty="0">
              <a:latin typeface="Arial" panose="020B0604020202020204" pitchFamily="34" charset="0"/>
              <a:cs typeface="MS PGothic" panose="020B0600070205080204" charset="-128"/>
            </a:endParaRPr>
          </a:p>
        </p:txBody>
      </p:sp>
      <p:sp>
        <p:nvSpPr>
          <p:cNvPr id="95234" name="Espace réservé du contenu 2"/>
          <p:cNvSpPr>
            <a:spLocks noGrp="1"/>
          </p:cNvSpPr>
          <p:nvPr>
            <p:ph idx="1"/>
          </p:nvPr>
        </p:nvSpPr>
        <p:spPr>
          <a:xfrm>
            <a:off x="323528" y="836712"/>
            <a:ext cx="8820472" cy="4537075"/>
          </a:xfrm>
        </p:spPr>
        <p:txBody>
          <a:bodyPr/>
          <a:lstStyle/>
          <a:p>
            <a:r>
              <a:rPr lang="fr-FR" dirty="0">
                <a:latin typeface="Arial" panose="020B0604020202020204" pitchFamily="34" charset="0"/>
                <a:cs typeface="MS PGothic" panose="020B0600070205080204" charset="-128"/>
              </a:rPr>
              <a:t>Nous avons deux fonctions principales pour lire et écrire sur l'entrée et la sortie </a:t>
            </a:r>
            <a:r>
              <a:rPr lang="fr-FR" dirty="0" smtClean="0">
                <a:latin typeface="Arial" panose="020B0604020202020204" pitchFamily="34" charset="0"/>
                <a:cs typeface="MS PGothic" panose="020B0600070205080204" charset="-128"/>
              </a:rPr>
              <a:t>standard</a:t>
            </a:r>
            <a:r>
              <a:rPr lang="fr-FR" dirty="0">
                <a:latin typeface="Arial" panose="020B0604020202020204" pitchFamily="34" charset="0"/>
                <a:cs typeface="MS PGothic" panose="020B0600070205080204" charset="-128"/>
              </a:rPr>
              <a:t> </a:t>
            </a:r>
            <a:r>
              <a:rPr lang="fr-FR" dirty="0" smtClean="0">
                <a:latin typeface="Arial" panose="020B0604020202020204" pitchFamily="34" charset="0"/>
                <a:ea typeface="MS PGothic" panose="020B0600070205080204" charset="-128"/>
                <a:cs typeface="MS PGothic" panose="020B0600070205080204" charset="-128"/>
              </a:rPr>
              <a:t>:</a:t>
            </a:r>
            <a:endParaRPr lang="fr-FR" dirty="0">
              <a:latin typeface="Arial" panose="020B0604020202020204" pitchFamily="34" charset="0"/>
              <a:ea typeface="MS PGothic" panose="020B0600070205080204" charset="-128"/>
              <a:cs typeface="MS PGothic" panose="020B0600070205080204" charset="-128"/>
            </a:endParaRPr>
          </a:p>
          <a:p>
            <a:pPr lvl="1"/>
            <a:r>
              <a:rPr lang="fr-FR" dirty="0" smtClean="0">
                <a:latin typeface="Arial" panose="020B0604020202020204" pitchFamily="34" charset="0"/>
              </a:rPr>
              <a:t>Écrire : </a:t>
            </a:r>
            <a:r>
              <a:rPr lang="fr-FR" b="1" dirty="0" err="1">
                <a:latin typeface="Courier"/>
                <a:ea typeface="MS PGothic" panose="020B0600070205080204" charset="-128"/>
                <a:cs typeface="Courier"/>
              </a:rPr>
              <a:t>int</a:t>
            </a:r>
            <a:r>
              <a:rPr lang="fr-FR" b="1" dirty="0">
                <a:latin typeface="Courier"/>
                <a:ea typeface="MS PGothic" panose="020B0600070205080204" charset="-128"/>
                <a:cs typeface="Courier"/>
              </a:rPr>
              <a:t> </a:t>
            </a:r>
            <a:r>
              <a:rPr lang="fr-FR" b="1" dirty="0" err="1">
                <a:latin typeface="Courier"/>
                <a:ea typeface="MS PGothic" panose="020B0600070205080204" charset="-128"/>
                <a:cs typeface="Courier"/>
              </a:rPr>
              <a:t>printf</a:t>
            </a:r>
            <a:r>
              <a:rPr lang="fr-FR" b="1" dirty="0">
                <a:latin typeface="Courier"/>
                <a:ea typeface="MS PGothic" panose="020B0600070205080204" charset="-128"/>
                <a:cs typeface="Courier"/>
              </a:rPr>
              <a:t>(format,e</a:t>
            </a:r>
            <a:r>
              <a:rPr lang="fr-FR" b="1" baseline="-25000" dirty="0">
                <a:latin typeface="Courier"/>
                <a:ea typeface="MS PGothic" panose="020B0600070205080204" charset="-128"/>
                <a:cs typeface="Courier"/>
              </a:rPr>
              <a:t>1</a:t>
            </a:r>
            <a:r>
              <a:rPr lang="fr-FR" b="1" dirty="0">
                <a:latin typeface="Courier"/>
                <a:ea typeface="MS PGothic" panose="020B0600070205080204" charset="-128"/>
                <a:cs typeface="Courier"/>
              </a:rPr>
              <a:t>,e</a:t>
            </a:r>
            <a:r>
              <a:rPr lang="fr-FR" b="1" baseline="-25000" dirty="0">
                <a:latin typeface="Courier"/>
                <a:ea typeface="MS PGothic" panose="020B0600070205080204" charset="-128"/>
                <a:cs typeface="Courier"/>
              </a:rPr>
              <a:t>2</a:t>
            </a:r>
            <a:r>
              <a:rPr lang="fr-FR" b="1" dirty="0">
                <a:latin typeface="Courier"/>
                <a:ea typeface="MS PGothic" panose="020B0600070205080204" charset="-128"/>
                <a:cs typeface="Courier"/>
              </a:rPr>
              <a:t>,…,e</a:t>
            </a:r>
            <a:r>
              <a:rPr lang="fr-FR" b="1" baseline="-25000" dirty="0">
                <a:latin typeface="Courier"/>
                <a:ea typeface="MS PGothic" panose="020B0600070205080204" charset="-128"/>
                <a:cs typeface="Courier"/>
              </a:rPr>
              <a:t>n</a:t>
            </a:r>
            <a:r>
              <a:rPr lang="fr-FR" b="1" dirty="0">
                <a:latin typeface="Courier"/>
                <a:ea typeface="MS PGothic" panose="020B0600070205080204" charset="-128"/>
                <a:cs typeface="Courier"/>
              </a:rPr>
              <a:t>);</a:t>
            </a:r>
            <a:endParaRPr lang="fr-FR" b="1" dirty="0">
              <a:latin typeface="Courier"/>
              <a:ea typeface="MS PGothic" panose="020B0600070205080204" charset="-128"/>
              <a:cs typeface="Courier"/>
            </a:endParaRPr>
          </a:p>
          <a:p>
            <a:pPr lvl="1"/>
            <a:r>
              <a:rPr lang="fr-FR" dirty="0" smtClean="0">
                <a:latin typeface="Arial" panose="020B0604020202020204" pitchFamily="34" charset="0"/>
                <a:cs typeface="Courier"/>
              </a:rPr>
              <a:t>Lire </a:t>
            </a:r>
            <a:r>
              <a:rPr lang="fr-FR" dirty="0" smtClean="0">
                <a:ea typeface="MS PGothic" panose="020B0600070205080204" charset="-128"/>
                <a:cs typeface="Courier"/>
              </a:rPr>
              <a:t>: </a:t>
            </a:r>
            <a:r>
              <a:rPr lang="fr-FR" b="1" dirty="0" err="1">
                <a:latin typeface="Courier"/>
                <a:ea typeface="MS PGothic" panose="020B0600070205080204" charset="-128"/>
                <a:cs typeface="Courier"/>
              </a:rPr>
              <a:t>int</a:t>
            </a:r>
            <a:r>
              <a:rPr lang="fr-FR" b="1" dirty="0">
                <a:latin typeface="Courier"/>
                <a:ea typeface="MS PGothic" panose="020B0600070205080204" charset="-128"/>
                <a:cs typeface="Courier"/>
              </a:rPr>
              <a:t> </a:t>
            </a:r>
            <a:r>
              <a:rPr lang="fr-FR" b="1" dirty="0" err="1">
                <a:latin typeface="Courier"/>
                <a:ea typeface="MS PGothic" panose="020B0600070205080204" charset="-128"/>
                <a:cs typeface="Courier"/>
              </a:rPr>
              <a:t>scanf</a:t>
            </a:r>
            <a:r>
              <a:rPr lang="fr-FR" b="1" dirty="0">
                <a:latin typeface="Courier"/>
                <a:ea typeface="MS PGothic" panose="020B0600070205080204" charset="-128"/>
                <a:cs typeface="Courier"/>
              </a:rPr>
              <a:t>(format,a</a:t>
            </a:r>
            <a:r>
              <a:rPr lang="fr-FR" b="1" baseline="-25000" dirty="0">
                <a:latin typeface="Courier"/>
                <a:ea typeface="MS PGothic" panose="020B0600070205080204" charset="-128"/>
                <a:cs typeface="Courier"/>
              </a:rPr>
              <a:t>1</a:t>
            </a:r>
            <a:r>
              <a:rPr lang="fr-FR" b="1" dirty="0">
                <a:latin typeface="Courier"/>
                <a:ea typeface="MS PGothic" panose="020B0600070205080204" charset="-128"/>
                <a:cs typeface="Courier"/>
              </a:rPr>
              <a:t>,a</a:t>
            </a:r>
            <a:r>
              <a:rPr lang="fr-FR" b="1" baseline="-25000" dirty="0">
                <a:latin typeface="Courier"/>
                <a:ea typeface="MS PGothic" panose="020B0600070205080204" charset="-128"/>
                <a:cs typeface="Courier"/>
              </a:rPr>
              <a:t>2</a:t>
            </a:r>
            <a:r>
              <a:rPr lang="fr-FR" b="1" dirty="0">
                <a:latin typeface="Courier"/>
                <a:ea typeface="MS PGothic" panose="020B0600070205080204" charset="-128"/>
                <a:cs typeface="Courier"/>
              </a:rPr>
              <a:t>,…,a</a:t>
            </a:r>
            <a:r>
              <a:rPr lang="fr-FR" b="1" baseline="-25000" dirty="0">
                <a:latin typeface="Courier"/>
                <a:ea typeface="MS PGothic" panose="020B0600070205080204" charset="-128"/>
                <a:cs typeface="Courier"/>
              </a:rPr>
              <a:t>n</a:t>
            </a:r>
            <a:r>
              <a:rPr lang="fr-FR" b="1" dirty="0">
                <a:latin typeface="Courier"/>
                <a:ea typeface="MS PGothic" panose="020B0600070205080204" charset="-128"/>
                <a:cs typeface="Courier"/>
              </a:rPr>
              <a:t> );</a:t>
            </a:r>
            <a:endParaRPr lang="fr-FR" b="1" dirty="0">
              <a:latin typeface="Courier"/>
              <a:ea typeface="MS PGothic" panose="020B0600070205080204" charset="-128"/>
              <a:cs typeface="Courier"/>
            </a:endParaRPr>
          </a:p>
          <a:p>
            <a:pPr lvl="1"/>
            <a:endParaRPr lang="fr-FR" b="1" dirty="0">
              <a:latin typeface="Courier"/>
              <a:ea typeface="MS PGothic" panose="020B0600070205080204" charset="-128"/>
              <a:cs typeface="Courier"/>
            </a:endParaRPr>
          </a:p>
          <a:p>
            <a:pPr lvl="1"/>
            <a:endParaRPr lang="fr-FR" sz="1000" b="1" dirty="0">
              <a:latin typeface="Arial" panose="020B0604020202020204" pitchFamily="34" charset="0"/>
              <a:ea typeface="MS PGothic" panose="020B0600070205080204" charset="-128"/>
            </a:endParaRPr>
          </a:p>
          <a:p>
            <a:pPr marL="363855" lvl="1" indent="-363855">
              <a:buSzTx/>
              <a:buBlip>
                <a:blip r:embed="rId1"/>
              </a:buBlip>
            </a:pPr>
            <a:r>
              <a:rPr lang="fr-FR" sz="2400" dirty="0">
                <a:latin typeface="Arial" panose="020B0604020202020204" pitchFamily="34" charset="0"/>
                <a:cs typeface="MS PGothic" panose="020B0600070205080204" charset="-128"/>
              </a:rPr>
              <a:t>Pour les utiliser, nous devons ajouter la directive</a:t>
            </a:r>
            <a:endParaRPr lang="fr-FR" sz="2400" dirty="0">
              <a:latin typeface="Arial" panose="020B0604020202020204" pitchFamily="34" charset="0"/>
              <a:cs typeface="MS PGothic" panose="020B0600070205080204" charset="-128"/>
            </a:endParaRPr>
          </a:p>
          <a:p>
            <a:pPr marL="0" lvl="1" indent="0">
              <a:buSzTx/>
              <a:buNone/>
            </a:pPr>
            <a:r>
              <a:rPr lang="en-GB" sz="2400" b="1" dirty="0" smtClean="0">
                <a:latin typeface="Courier"/>
                <a:cs typeface="Courier"/>
              </a:rPr>
              <a:t>#</a:t>
            </a:r>
            <a:r>
              <a:rPr lang="en-GB" sz="2400" b="1" dirty="0">
                <a:latin typeface="Courier"/>
                <a:cs typeface="Courier"/>
              </a:rPr>
              <a:t>include &lt;stdio.h&gt;</a:t>
            </a:r>
            <a:endParaRPr lang="en-GB" sz="2400" b="1" dirty="0">
              <a:latin typeface="Courier"/>
              <a:cs typeface="Courier"/>
            </a:endParaRPr>
          </a:p>
          <a:p>
            <a:pPr marL="0" lvl="1" indent="0">
              <a:buSzTx/>
              <a:buNone/>
            </a:pPr>
            <a:endParaRPr lang="en-GB" sz="800" b="1" dirty="0">
              <a:latin typeface="Courier"/>
              <a:cs typeface="Courier"/>
            </a:endParaRPr>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re 1"/>
          <p:cNvSpPr>
            <a:spLocks noGrp="1"/>
          </p:cNvSpPr>
          <p:nvPr>
            <p:ph type="title"/>
          </p:nvPr>
        </p:nvSpPr>
        <p:spPr/>
        <p:txBody>
          <a:bodyPr/>
          <a:lstStyle/>
          <a:p>
            <a:r>
              <a:rPr lang="fr-FR" sz="2800" dirty="0" smtClean="0">
                <a:latin typeface="Arial" panose="020B0604020202020204" pitchFamily="34" charset="0"/>
                <a:cs typeface="MS PGothic" panose="020B0600070205080204" charset="-128"/>
              </a:rPr>
              <a:t>Écriture </a:t>
            </a:r>
            <a:r>
              <a:rPr lang="fr-FR" sz="2800" dirty="0">
                <a:latin typeface="Arial" panose="020B0604020202020204" pitchFamily="34" charset="0"/>
                <a:cs typeface="MS PGothic" panose="020B0600070205080204" charset="-128"/>
              </a:rPr>
              <a:t>formulée : </a:t>
            </a:r>
            <a:r>
              <a:rPr lang="fr-FR" sz="2800" dirty="0" err="1">
                <a:latin typeface="Arial" panose="020B0604020202020204" pitchFamily="34" charset="0"/>
                <a:ea typeface="MS PGothic" panose="020B0600070205080204" charset="-128"/>
                <a:cs typeface="MS PGothic" panose="020B0600070205080204" charset="-128"/>
              </a:rPr>
              <a:t>printf</a:t>
            </a:r>
            <a:r>
              <a:rPr lang="fr-FR" sz="2800" dirty="0">
                <a:latin typeface="Arial" panose="020B0604020202020204" pitchFamily="34" charset="0"/>
                <a:ea typeface="MS PGothic" panose="020B0600070205080204" charset="-128"/>
                <a:cs typeface="MS PGothic" panose="020B0600070205080204" charset="-128"/>
              </a:rPr>
              <a:t>(…)</a:t>
            </a:r>
            <a:endParaRPr lang="fr-FR" sz="2800" dirty="0">
              <a:latin typeface="Arial" panose="020B0604020202020204" pitchFamily="34" charset="0"/>
              <a:ea typeface="MS PGothic" panose="020B0600070205080204" charset="-128"/>
              <a:cs typeface="MS PGothic" panose="020B0600070205080204" charset="-128"/>
            </a:endParaRPr>
          </a:p>
        </p:txBody>
      </p:sp>
      <p:sp>
        <p:nvSpPr>
          <p:cNvPr id="97282" name="Espace réservé du contenu 2"/>
          <p:cNvSpPr>
            <a:spLocks noGrp="1"/>
          </p:cNvSpPr>
          <p:nvPr>
            <p:ph idx="1"/>
          </p:nvPr>
        </p:nvSpPr>
        <p:spPr>
          <a:xfrm>
            <a:off x="359532" y="872716"/>
            <a:ext cx="8784468" cy="4537075"/>
          </a:xfrm>
        </p:spPr>
        <p:txBody>
          <a:bodyPr/>
          <a:lstStyle/>
          <a:p>
            <a:r>
              <a:rPr lang="en-GB" dirty="0" smtClean="0">
                <a:latin typeface="Arial" panose="020B0604020202020204" pitchFamily="34" charset="0"/>
                <a:cs typeface="MS PGothic" panose="020B0600070205080204" charset="-128"/>
              </a:rPr>
              <a:t>Syntaxe</a:t>
            </a:r>
            <a:endParaRPr lang="en-GB" dirty="0">
              <a:latin typeface="Arial" panose="020B0604020202020204" pitchFamily="34" charset="0"/>
              <a:cs typeface="MS PGothic" panose="020B0600070205080204" charset="-128"/>
            </a:endParaRPr>
          </a:p>
          <a:p>
            <a:pPr lvl="1"/>
            <a:r>
              <a:rPr lang="en-GB" b="1" dirty="0">
                <a:latin typeface="Courier"/>
                <a:cs typeface="Courier"/>
              </a:rPr>
              <a:t>int </a:t>
            </a:r>
            <a:r>
              <a:rPr lang="en-GB" b="1" dirty="0" err="1">
                <a:latin typeface="Courier"/>
                <a:cs typeface="Courier"/>
              </a:rPr>
              <a:t>printf</a:t>
            </a:r>
            <a:r>
              <a:rPr lang="en-GB" b="1" dirty="0">
                <a:latin typeface="Courier"/>
                <a:cs typeface="Courier"/>
              </a:rPr>
              <a:t>(format,e</a:t>
            </a:r>
            <a:r>
              <a:rPr lang="en-GB" b="1" baseline="-25000" dirty="0">
                <a:latin typeface="Courier"/>
                <a:cs typeface="Courier"/>
              </a:rPr>
              <a:t>1</a:t>
            </a:r>
            <a:r>
              <a:rPr lang="en-GB" b="1" dirty="0">
                <a:latin typeface="Courier"/>
                <a:cs typeface="Courier"/>
              </a:rPr>
              <a:t>,e</a:t>
            </a:r>
            <a:r>
              <a:rPr lang="en-GB" b="1" baseline="-25000" dirty="0">
                <a:latin typeface="Courier"/>
                <a:cs typeface="Courier"/>
              </a:rPr>
              <a:t>2</a:t>
            </a:r>
            <a:r>
              <a:rPr lang="en-GB" b="1" dirty="0">
                <a:latin typeface="Courier"/>
                <a:cs typeface="Courier"/>
              </a:rPr>
              <a:t>,…,e</a:t>
            </a:r>
            <a:r>
              <a:rPr lang="en-GB" b="1" baseline="-25000" dirty="0">
                <a:latin typeface="Courier"/>
                <a:cs typeface="Courier"/>
              </a:rPr>
              <a:t>n</a:t>
            </a:r>
            <a:r>
              <a:rPr lang="en-GB" b="1" dirty="0">
                <a:latin typeface="Courier"/>
                <a:cs typeface="Courier"/>
              </a:rPr>
              <a:t>);</a:t>
            </a:r>
            <a:endParaRPr lang="en-GB" b="1" dirty="0">
              <a:latin typeface="Courier"/>
              <a:cs typeface="Courier"/>
            </a:endParaRPr>
          </a:p>
          <a:p>
            <a:pPr lvl="1"/>
            <a:endParaRPr lang="en-GB" sz="1000" b="1" dirty="0">
              <a:latin typeface="Courier"/>
              <a:cs typeface="Courier"/>
            </a:endParaRPr>
          </a:p>
          <a:p>
            <a:r>
              <a:rPr lang="en-GB" dirty="0">
                <a:latin typeface="Arial" panose="020B0604020202020204" pitchFamily="34" charset="0"/>
                <a:cs typeface="MS PGothic" panose="020B0600070205080204" charset="-128"/>
              </a:rPr>
              <a:t>Description</a:t>
            </a:r>
            <a:endParaRPr lang="en-GB" dirty="0">
              <a:latin typeface="Arial" panose="020B0604020202020204" pitchFamily="34" charset="0"/>
              <a:cs typeface="MS PGothic" panose="020B0600070205080204" charset="-128"/>
            </a:endParaRPr>
          </a:p>
          <a:p>
            <a:pPr lvl="1"/>
            <a:r>
              <a:rPr lang="fr-FR" dirty="0" smtClean="0">
                <a:latin typeface="Arial" panose="020B0604020202020204" pitchFamily="34" charset="0"/>
              </a:rPr>
              <a:t>Écrit </a:t>
            </a:r>
            <a:r>
              <a:rPr lang="fr-FR" dirty="0">
                <a:latin typeface="Arial" panose="020B0604020202020204" pitchFamily="34" charset="0"/>
              </a:rPr>
              <a:t>(affiche) les paramètres </a:t>
            </a:r>
            <a:r>
              <a:rPr lang="en-GB" b="1" dirty="0">
                <a:latin typeface="Courier"/>
                <a:cs typeface="Courier"/>
              </a:rPr>
              <a:t>e</a:t>
            </a:r>
            <a:r>
              <a:rPr lang="en-GB" b="1" baseline="-25000" dirty="0">
                <a:latin typeface="Courier"/>
                <a:cs typeface="Courier"/>
              </a:rPr>
              <a:t>1</a:t>
            </a:r>
            <a:r>
              <a:rPr lang="en-GB" b="1" dirty="0">
                <a:latin typeface="Courier"/>
                <a:cs typeface="Courier"/>
              </a:rPr>
              <a:t>,e</a:t>
            </a:r>
            <a:r>
              <a:rPr lang="en-GB" b="1" baseline="-25000" dirty="0">
                <a:latin typeface="Courier"/>
                <a:cs typeface="Courier"/>
              </a:rPr>
              <a:t>2</a:t>
            </a:r>
            <a:r>
              <a:rPr lang="en-GB" b="1" dirty="0">
                <a:latin typeface="Courier"/>
                <a:cs typeface="Courier"/>
              </a:rPr>
              <a:t>,…,e</a:t>
            </a:r>
            <a:r>
              <a:rPr lang="en-GB" b="1" baseline="-25000" dirty="0">
                <a:latin typeface="Courier"/>
                <a:cs typeface="Courier"/>
              </a:rPr>
              <a:t>n</a:t>
            </a:r>
            <a:r>
              <a:rPr lang="fr-FR" dirty="0" smtClean="0">
                <a:latin typeface="Arial" panose="020B0604020202020204" pitchFamily="34" charset="0"/>
              </a:rPr>
              <a:t> </a:t>
            </a:r>
            <a:r>
              <a:rPr lang="fr-FR" dirty="0">
                <a:latin typeface="Arial" panose="020B0604020202020204" pitchFamily="34" charset="0"/>
              </a:rPr>
              <a:t>sur la sortie standard en fonction du</a:t>
            </a:r>
            <a:r>
              <a:rPr lang="fr-FR" b="1" dirty="0">
                <a:latin typeface="Arial" panose="020B0604020202020204" pitchFamily="34" charset="0"/>
              </a:rPr>
              <a:t> format </a:t>
            </a:r>
            <a:r>
              <a:rPr lang="fr-FR" dirty="0">
                <a:latin typeface="Arial" panose="020B0604020202020204" pitchFamily="34" charset="0"/>
              </a:rPr>
              <a:t>des paramètres </a:t>
            </a:r>
            <a:endParaRPr lang="en-GB" b="1" dirty="0">
              <a:latin typeface="Courier"/>
              <a:cs typeface="Courier"/>
            </a:endParaRPr>
          </a:p>
          <a:p>
            <a:pPr lvl="1"/>
            <a:r>
              <a:rPr lang="fr-FR" dirty="0">
                <a:latin typeface="Arial" panose="020B0604020202020204" pitchFamily="34" charset="0"/>
              </a:rPr>
              <a:t>Le format se compose d'expressions d'</a:t>
            </a:r>
            <a:r>
              <a:rPr lang="fr-FR" b="1" dirty="0">
                <a:latin typeface="Arial" panose="020B0604020202020204" pitchFamily="34" charset="0"/>
              </a:rPr>
              <a:t>E/S</a:t>
            </a:r>
            <a:r>
              <a:rPr lang="fr-FR" dirty="0">
                <a:latin typeface="Arial" panose="020B0604020202020204" pitchFamily="34" charset="0"/>
              </a:rPr>
              <a:t> et, éventuellement, de texte. </a:t>
            </a:r>
            <a:endParaRPr lang="fr-FR" dirty="0" smtClean="0">
              <a:latin typeface="Arial" panose="020B0604020202020204" pitchFamily="34" charset="0"/>
            </a:endParaRPr>
          </a:p>
          <a:p>
            <a:pPr lvl="1"/>
            <a:r>
              <a:rPr lang="fr-FR" dirty="0">
                <a:cs typeface="Courier"/>
              </a:rPr>
              <a:t>Chaque expression d'</a:t>
            </a:r>
            <a:r>
              <a:rPr lang="fr-FR" b="1" dirty="0">
                <a:cs typeface="Courier"/>
              </a:rPr>
              <a:t>E/S</a:t>
            </a:r>
            <a:r>
              <a:rPr lang="fr-FR" dirty="0">
                <a:cs typeface="Courier"/>
              </a:rPr>
              <a:t> décrit comment l'écriture d'un paramètre </a:t>
            </a:r>
            <a:r>
              <a:rPr lang="en-GB" b="1" dirty="0" err="1" smtClean="0">
                <a:latin typeface="Courier"/>
                <a:cs typeface="Courier"/>
              </a:rPr>
              <a:t>e</a:t>
            </a:r>
            <a:r>
              <a:rPr lang="en-GB" b="1" baseline="-25000" dirty="0" err="1" smtClean="0">
                <a:latin typeface="Courier"/>
                <a:cs typeface="Courier"/>
              </a:rPr>
              <a:t>i</a:t>
            </a:r>
            <a:r>
              <a:rPr lang="fr-FR" dirty="0" smtClean="0">
                <a:cs typeface="Courier"/>
              </a:rPr>
              <a:t> </a:t>
            </a:r>
            <a:r>
              <a:rPr lang="fr-FR" dirty="0">
                <a:cs typeface="Courier"/>
              </a:rPr>
              <a:t>sera effectuée en utilisant le caractère </a:t>
            </a:r>
            <a:r>
              <a:rPr lang="fr-FR" b="1" dirty="0" smtClean="0">
                <a:cs typeface="Courier"/>
              </a:rPr>
              <a:t>%</a:t>
            </a:r>
            <a:r>
              <a:rPr lang="fr-FR" dirty="0" smtClean="0">
                <a:cs typeface="Courier"/>
              </a:rPr>
              <a:t>.</a:t>
            </a:r>
            <a:endParaRPr lang="fr-FR" dirty="0" smtClean="0">
              <a:cs typeface="Courier"/>
            </a:endParaRPr>
          </a:p>
          <a:p>
            <a:pPr lvl="1"/>
            <a:r>
              <a:rPr lang="fr-FR" dirty="0">
                <a:latin typeface="Arial" panose="020B0604020202020204" pitchFamily="34" charset="0"/>
              </a:rPr>
              <a:t>Il peut avoir un nombre variable de paramètres, mais</a:t>
            </a:r>
            <a:endParaRPr lang="en-GB" dirty="0" smtClean="0">
              <a:latin typeface="Arial" panose="020B0604020202020204" pitchFamily="34" charset="0"/>
            </a:endParaRPr>
          </a:p>
          <a:p>
            <a:pPr lvl="2"/>
            <a:r>
              <a:rPr lang="fr-FR" dirty="0">
                <a:cs typeface="Courier"/>
              </a:rPr>
              <a:t>Le nombre </a:t>
            </a:r>
            <a:r>
              <a:rPr lang="en-GB" b="1" dirty="0" err="1" smtClean="0">
                <a:latin typeface="Courier"/>
                <a:cs typeface="Courier"/>
              </a:rPr>
              <a:t>e</a:t>
            </a:r>
            <a:r>
              <a:rPr lang="en-GB" b="1" baseline="-25000" dirty="0" err="1" smtClean="0">
                <a:latin typeface="Courier"/>
                <a:cs typeface="Courier"/>
              </a:rPr>
              <a:t>i</a:t>
            </a:r>
            <a:r>
              <a:rPr lang="fr-FR" b="1" dirty="0">
                <a:latin typeface="Courier"/>
                <a:cs typeface="Courier"/>
              </a:rPr>
              <a:t> </a:t>
            </a:r>
            <a:r>
              <a:rPr lang="fr-FR" dirty="0" smtClean="0">
                <a:cs typeface="Courier"/>
              </a:rPr>
              <a:t>doit </a:t>
            </a:r>
            <a:r>
              <a:rPr lang="fr-FR" dirty="0">
                <a:cs typeface="Courier"/>
              </a:rPr>
              <a:t>correspondre au nombre d'expressions d'E/S spécifiées dans </a:t>
            </a:r>
            <a:r>
              <a:rPr lang="fr-FR" dirty="0" smtClean="0">
                <a:cs typeface="Courier"/>
              </a:rPr>
              <a:t>le </a:t>
            </a:r>
            <a:r>
              <a:rPr lang="en-GB" dirty="0" smtClean="0">
                <a:cs typeface="Courier"/>
              </a:rPr>
              <a:t>format</a:t>
            </a:r>
            <a:r>
              <a:rPr lang="en-GB" dirty="0">
                <a:cs typeface="Courier"/>
              </a:rPr>
              <a:t>.</a:t>
            </a:r>
            <a:endParaRPr lang="en-GB" dirty="0" smtClean="0"/>
          </a:p>
          <a:p>
            <a:pPr lvl="2"/>
            <a:endParaRPr lang="en-GB" sz="1000" b="1" baseline="-25000" dirty="0">
              <a:latin typeface="Arial" panose="020B0604020202020204" pitchFamily="34" charset="0"/>
            </a:endParaRPr>
          </a:p>
          <a:p>
            <a:r>
              <a:rPr lang="en-GB" dirty="0" smtClean="0">
                <a:latin typeface="Arial" panose="020B0604020202020204" pitchFamily="34" charset="0"/>
                <a:cs typeface="MS PGothic" panose="020B0600070205080204" charset="-128"/>
              </a:rPr>
              <a:t>Résultat</a:t>
            </a:r>
            <a:endParaRPr lang="en-GB" dirty="0">
              <a:latin typeface="Arial" panose="020B0604020202020204" pitchFamily="34" charset="0"/>
              <a:cs typeface="MS PGothic" panose="020B0600070205080204" charset="-128"/>
            </a:endParaRPr>
          </a:p>
          <a:p>
            <a:pPr lvl="1"/>
            <a:r>
              <a:rPr lang="fr-FR" dirty="0">
                <a:latin typeface="Arial" panose="020B0604020202020204" pitchFamily="34" charset="0"/>
              </a:rPr>
              <a:t>Nombre de caractères affichés (valeur &lt; 0 en cas d'erreur)</a:t>
            </a:r>
            <a:endParaRPr lang="en-GB" dirty="0">
              <a:latin typeface="Arial" panose="020B0604020202020204" pitchFamily="34" charset="0"/>
            </a:endParaRPr>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28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728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7282">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728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7282">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7282">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7282">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728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re 1"/>
          <p:cNvSpPr>
            <a:spLocks noGrp="1"/>
          </p:cNvSpPr>
          <p:nvPr>
            <p:ph type="title"/>
          </p:nvPr>
        </p:nvSpPr>
        <p:spPr/>
        <p:txBody>
          <a:bodyPr/>
          <a:lstStyle/>
          <a:p>
            <a:r>
              <a:rPr lang="fr-FR" sz="2800" dirty="0">
                <a:latin typeface="Arial" panose="020B0604020202020204" pitchFamily="34" charset="0"/>
                <a:cs typeface="MS PGothic" panose="020B0600070205080204" charset="-128"/>
              </a:rPr>
              <a:t>Lecture formulée : </a:t>
            </a:r>
            <a:r>
              <a:rPr lang="fr-FR" sz="2800" dirty="0" err="1">
                <a:latin typeface="Arial" panose="020B0604020202020204" pitchFamily="34" charset="0"/>
                <a:ea typeface="MS PGothic" panose="020B0600070205080204" charset="-128"/>
                <a:cs typeface="MS PGothic" panose="020B0600070205080204" charset="-128"/>
              </a:rPr>
              <a:t>scanf</a:t>
            </a:r>
            <a:r>
              <a:rPr lang="fr-FR" sz="2800" dirty="0">
                <a:latin typeface="Arial" panose="020B0604020202020204" pitchFamily="34" charset="0"/>
                <a:ea typeface="MS PGothic" panose="020B0600070205080204" charset="-128"/>
                <a:cs typeface="MS PGothic" panose="020B0600070205080204" charset="-128"/>
              </a:rPr>
              <a:t>(…)</a:t>
            </a:r>
            <a:endParaRPr lang="fr-FR" sz="2800" dirty="0">
              <a:latin typeface="Arial" panose="020B0604020202020204" pitchFamily="34" charset="0"/>
              <a:ea typeface="MS PGothic" panose="020B0600070205080204" charset="-128"/>
              <a:cs typeface="MS PGothic" panose="020B0600070205080204" charset="-128"/>
            </a:endParaRPr>
          </a:p>
        </p:txBody>
      </p:sp>
      <p:sp>
        <p:nvSpPr>
          <p:cNvPr id="98306" name="Espace réservé du contenu 2"/>
          <p:cNvSpPr>
            <a:spLocks noGrp="1"/>
          </p:cNvSpPr>
          <p:nvPr>
            <p:ph idx="1"/>
          </p:nvPr>
        </p:nvSpPr>
        <p:spPr>
          <a:xfrm>
            <a:off x="251520" y="872716"/>
            <a:ext cx="8748972" cy="4537075"/>
          </a:xfrm>
        </p:spPr>
        <p:txBody>
          <a:bodyPr/>
          <a:lstStyle/>
          <a:p>
            <a:r>
              <a:rPr lang="en-US" dirty="0" smtClean="0">
                <a:latin typeface="Arial" panose="020B0604020202020204" pitchFamily="34" charset="0"/>
                <a:cs typeface="MS PGothic" panose="020B0600070205080204" charset="-128"/>
              </a:rPr>
              <a:t>Syntaxe</a:t>
            </a:r>
            <a:endParaRPr lang="en-US" dirty="0">
              <a:latin typeface="Arial" panose="020B0604020202020204" pitchFamily="34" charset="0"/>
              <a:cs typeface="MS PGothic" panose="020B0600070205080204" charset="-128"/>
            </a:endParaRPr>
          </a:p>
          <a:p>
            <a:pPr lvl="1"/>
            <a:r>
              <a:rPr lang="en-US" b="1" dirty="0">
                <a:latin typeface="Courier"/>
                <a:cs typeface="Courier"/>
              </a:rPr>
              <a:t>int </a:t>
            </a:r>
            <a:r>
              <a:rPr lang="en-US" b="1" dirty="0" err="1">
                <a:latin typeface="Courier"/>
                <a:cs typeface="Courier"/>
              </a:rPr>
              <a:t>scanf</a:t>
            </a:r>
            <a:r>
              <a:rPr lang="en-US" b="1" dirty="0">
                <a:latin typeface="Courier"/>
                <a:cs typeface="Courier"/>
              </a:rPr>
              <a:t>(format,a</a:t>
            </a:r>
            <a:r>
              <a:rPr lang="en-US" b="1" baseline="-25000" dirty="0">
                <a:latin typeface="Courier"/>
                <a:cs typeface="Courier"/>
              </a:rPr>
              <a:t>1</a:t>
            </a:r>
            <a:r>
              <a:rPr lang="en-US" b="1" dirty="0">
                <a:latin typeface="Courier"/>
                <a:cs typeface="Courier"/>
              </a:rPr>
              <a:t>,a</a:t>
            </a:r>
            <a:r>
              <a:rPr lang="en-US" b="1" baseline="-25000" dirty="0">
                <a:latin typeface="Courier"/>
                <a:cs typeface="Courier"/>
              </a:rPr>
              <a:t>2</a:t>
            </a:r>
            <a:r>
              <a:rPr lang="en-US" b="1" dirty="0">
                <a:latin typeface="Courier"/>
                <a:cs typeface="Courier"/>
              </a:rPr>
              <a:t>,…,a</a:t>
            </a:r>
            <a:r>
              <a:rPr lang="en-US" b="1" baseline="-25000" dirty="0">
                <a:latin typeface="Courier"/>
                <a:cs typeface="Courier"/>
              </a:rPr>
              <a:t>n</a:t>
            </a:r>
            <a:r>
              <a:rPr lang="en-US" b="1" dirty="0">
                <a:latin typeface="Courier"/>
                <a:cs typeface="Courier"/>
              </a:rPr>
              <a:t>);</a:t>
            </a:r>
            <a:endParaRPr lang="en-US" b="1" dirty="0">
              <a:latin typeface="Courier"/>
              <a:cs typeface="Courier"/>
            </a:endParaRPr>
          </a:p>
          <a:p>
            <a:pPr lvl="1"/>
            <a:endParaRPr lang="en-US" sz="1050" b="1" dirty="0">
              <a:latin typeface="Courier"/>
              <a:cs typeface="Courier"/>
            </a:endParaRPr>
          </a:p>
          <a:p>
            <a:r>
              <a:rPr lang="en-US" dirty="0">
                <a:latin typeface="Arial" panose="020B0604020202020204" pitchFamily="34" charset="0"/>
                <a:cs typeface="MS PGothic" panose="020B0600070205080204" charset="-128"/>
              </a:rPr>
              <a:t>Description</a:t>
            </a:r>
            <a:endParaRPr lang="en-US" dirty="0">
              <a:latin typeface="Arial" panose="020B0604020202020204" pitchFamily="34" charset="0"/>
              <a:cs typeface="MS PGothic" panose="020B0600070205080204" charset="-128"/>
            </a:endParaRPr>
          </a:p>
          <a:p>
            <a:pPr lvl="1"/>
            <a:r>
              <a:rPr lang="fr-FR" dirty="0">
                <a:latin typeface="Arial" panose="020B0604020202020204" pitchFamily="34" charset="0"/>
              </a:rPr>
              <a:t>Lit à partir de l'entrée standard (clavier) les valeurs et les interprète en fonction du format des paramètres. </a:t>
            </a:r>
            <a:endParaRPr lang="fr-FR" dirty="0" smtClean="0">
              <a:latin typeface="Arial" panose="020B0604020202020204" pitchFamily="34" charset="0"/>
            </a:endParaRPr>
          </a:p>
          <a:p>
            <a:pPr lvl="1"/>
            <a:r>
              <a:rPr lang="fr-FR" dirty="0">
                <a:cs typeface="Courier"/>
              </a:rPr>
              <a:t>Il affecte chaque valeur lue aux variables, dont les adresses sont données par les paramètres</a:t>
            </a:r>
            <a:r>
              <a:rPr lang="fr-FR" b="1" dirty="0">
                <a:latin typeface="Courier"/>
                <a:cs typeface="Courier"/>
              </a:rPr>
              <a:t> </a:t>
            </a:r>
            <a:r>
              <a:rPr lang="en-US" b="1" dirty="0" smtClean="0">
                <a:latin typeface="Courier"/>
                <a:cs typeface="Courier"/>
              </a:rPr>
              <a:t>a</a:t>
            </a:r>
            <a:r>
              <a:rPr lang="en-US" b="1" baseline="-25000" dirty="0" smtClean="0">
                <a:latin typeface="Courier"/>
                <a:cs typeface="Courier"/>
              </a:rPr>
              <a:t>1</a:t>
            </a:r>
            <a:r>
              <a:rPr lang="en-US" b="1" dirty="0" smtClean="0">
                <a:latin typeface="Courier"/>
                <a:cs typeface="Courier"/>
              </a:rPr>
              <a:t>,a</a:t>
            </a:r>
            <a:r>
              <a:rPr lang="en-US" b="1" baseline="-25000" dirty="0" smtClean="0">
                <a:latin typeface="Courier"/>
                <a:cs typeface="Courier"/>
              </a:rPr>
              <a:t>2</a:t>
            </a:r>
            <a:r>
              <a:rPr lang="en-US" b="1" dirty="0" smtClean="0">
                <a:latin typeface="Courier"/>
                <a:cs typeface="Courier"/>
              </a:rPr>
              <a:t>,…,a</a:t>
            </a:r>
            <a:r>
              <a:rPr lang="en-US" b="1" baseline="-25000" dirty="0" smtClean="0">
                <a:latin typeface="Courier"/>
                <a:cs typeface="Courier"/>
              </a:rPr>
              <a:t>n</a:t>
            </a:r>
            <a:endParaRPr lang="en-US" b="1" baseline="-25000" dirty="0" smtClean="0">
              <a:latin typeface="Courier"/>
              <a:cs typeface="Courier"/>
            </a:endParaRPr>
          </a:p>
          <a:p>
            <a:pPr lvl="2"/>
            <a:r>
              <a:rPr lang="fr-FR" dirty="0">
                <a:latin typeface="Arial" panose="020B0604020202020204" pitchFamily="34" charset="0"/>
              </a:rPr>
              <a:t>L'adresse d'une variable est notée par l'opérande</a:t>
            </a:r>
            <a:r>
              <a:rPr lang="en-US" dirty="0" smtClean="0">
                <a:latin typeface="Arial" panose="020B0604020202020204" pitchFamily="34" charset="0"/>
              </a:rPr>
              <a:t> </a:t>
            </a:r>
            <a:r>
              <a:rPr lang="en-US" b="1" dirty="0" smtClean="0">
                <a:latin typeface="Courier"/>
                <a:cs typeface="Courier"/>
              </a:rPr>
              <a:t>&amp;</a:t>
            </a:r>
            <a:r>
              <a:rPr lang="en-US" dirty="0" smtClean="0">
                <a:latin typeface="Arial" panose="020B0604020202020204" pitchFamily="34" charset="0"/>
              </a:rPr>
              <a:t> </a:t>
            </a:r>
            <a:r>
              <a:rPr lang="en-US" b="1" dirty="0" smtClean="0">
                <a:latin typeface="Courier"/>
                <a:cs typeface="Courier"/>
              </a:rPr>
              <a:t>&amp;nom_variable</a:t>
            </a:r>
            <a:endParaRPr lang="en-US" b="1" baseline="-25000" dirty="0" smtClean="0">
              <a:latin typeface="Courier"/>
              <a:cs typeface="Courier"/>
            </a:endParaRPr>
          </a:p>
          <a:p>
            <a:pPr lvl="1"/>
            <a:r>
              <a:rPr lang="fr-FR" dirty="0">
                <a:latin typeface="Arial" panose="020B0604020202020204" pitchFamily="34" charset="0"/>
              </a:rPr>
              <a:t>Il peut avoir un nombre variable de paramètres, mais</a:t>
            </a:r>
            <a:endParaRPr lang="en-US" dirty="0">
              <a:latin typeface="Arial" panose="020B0604020202020204" pitchFamily="34" charset="0"/>
            </a:endParaRPr>
          </a:p>
          <a:p>
            <a:pPr lvl="2"/>
            <a:r>
              <a:rPr lang="en-US" dirty="0" smtClean="0">
                <a:latin typeface="Arial" panose="020B0604020202020204" pitchFamily="34" charset="0"/>
              </a:rPr>
              <a:t>Le </a:t>
            </a:r>
            <a:r>
              <a:rPr lang="en-US" dirty="0" err="1" smtClean="0">
                <a:latin typeface="Arial" panose="020B0604020202020204" pitchFamily="34" charset="0"/>
              </a:rPr>
              <a:t>numéro</a:t>
            </a:r>
            <a:r>
              <a:rPr lang="en-US" dirty="0" smtClean="0">
                <a:latin typeface="Arial" panose="020B0604020202020204" pitchFamily="34" charset="0"/>
              </a:rPr>
              <a:t> de </a:t>
            </a:r>
            <a:r>
              <a:rPr lang="en-US" b="1" dirty="0" err="1">
                <a:latin typeface="Courier"/>
                <a:cs typeface="Courier"/>
              </a:rPr>
              <a:t>a</a:t>
            </a:r>
            <a:r>
              <a:rPr lang="en-US" b="1" baseline="-25000" dirty="0" err="1">
                <a:latin typeface="Courier"/>
                <a:cs typeface="Courier"/>
              </a:rPr>
              <a:t>i</a:t>
            </a:r>
            <a:r>
              <a:rPr lang="en-US" b="1" baseline="-25000" dirty="0">
                <a:latin typeface="Courier"/>
                <a:cs typeface="Courier"/>
              </a:rPr>
              <a:t> </a:t>
            </a:r>
            <a:r>
              <a:rPr lang="fr-FR" dirty="0">
                <a:latin typeface="Arial" panose="020B0604020202020204" pitchFamily="34" charset="0"/>
              </a:rPr>
              <a:t>doit correspondre au nombre d'expressions d'E/S spécifiées dans le format </a:t>
            </a:r>
            <a:endParaRPr lang="en-US" sz="1000" dirty="0">
              <a:latin typeface="Arial" panose="020B0604020202020204" pitchFamily="34" charset="0"/>
            </a:endParaRPr>
          </a:p>
          <a:p>
            <a:r>
              <a:rPr lang="en-US" dirty="0" smtClean="0">
                <a:latin typeface="Arial" panose="020B0604020202020204" pitchFamily="34" charset="0"/>
                <a:cs typeface="MS PGothic" panose="020B0600070205080204" charset="-128"/>
              </a:rPr>
              <a:t>Résultat</a:t>
            </a:r>
            <a:endParaRPr lang="en-US" dirty="0">
              <a:latin typeface="Arial" panose="020B0604020202020204" pitchFamily="34" charset="0"/>
              <a:cs typeface="MS PGothic" panose="020B0600070205080204" charset="-128"/>
            </a:endParaRPr>
          </a:p>
          <a:p>
            <a:pPr lvl="1"/>
            <a:r>
              <a:rPr lang="fr-FR" dirty="0">
                <a:latin typeface="Arial" panose="020B0604020202020204" pitchFamily="34" charset="0"/>
              </a:rPr>
              <a:t>Renvoie le nombre d'éléments correctement assignés</a:t>
            </a:r>
            <a:endParaRPr lang="en-US" dirty="0">
              <a:latin typeface="Arial" panose="020B0604020202020204" pitchFamily="34" charset="0"/>
            </a:endParaRPr>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30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830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830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830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830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8306">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830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re 1"/>
          <p:cNvSpPr>
            <a:spLocks noGrp="1"/>
          </p:cNvSpPr>
          <p:nvPr>
            <p:ph type="title"/>
          </p:nvPr>
        </p:nvSpPr>
        <p:spPr/>
        <p:txBody>
          <a:bodyPr/>
          <a:lstStyle/>
          <a:p>
            <a:r>
              <a:rPr lang="fr-FR" sz="2800" dirty="0">
                <a:latin typeface="Arial" panose="020B0604020202020204" pitchFamily="34" charset="0"/>
                <a:cs typeface="MS PGothic" panose="020B0600070205080204" charset="-128"/>
              </a:rPr>
              <a:t>Format of I/O expressions</a:t>
            </a:r>
            <a:endParaRPr lang="fr-FR" sz="2800" dirty="0">
              <a:latin typeface="Arial" panose="020B0604020202020204" pitchFamily="34" charset="0"/>
              <a:cs typeface="MS PGothic" panose="020B0600070205080204" charset="-128"/>
            </a:endParaRPr>
          </a:p>
        </p:txBody>
      </p:sp>
      <p:sp>
        <p:nvSpPr>
          <p:cNvPr id="96258" name="Espace réservé du contenu 2"/>
          <p:cNvSpPr>
            <a:spLocks noGrp="1"/>
          </p:cNvSpPr>
          <p:nvPr>
            <p:ph idx="1"/>
          </p:nvPr>
        </p:nvSpPr>
        <p:spPr>
          <a:xfrm>
            <a:off x="359532" y="944724"/>
            <a:ext cx="8784468" cy="4537075"/>
          </a:xfrm>
        </p:spPr>
        <p:txBody>
          <a:bodyPr/>
          <a:lstStyle/>
          <a:p>
            <a:r>
              <a:rPr lang="en-GB" b="1" dirty="0">
                <a:latin typeface="Courier"/>
                <a:cs typeface="Courier"/>
              </a:rPr>
              <a:t>%d</a:t>
            </a:r>
            <a:r>
              <a:rPr lang="en-GB" dirty="0">
                <a:cs typeface="Courier"/>
              </a:rPr>
              <a:t>: </a:t>
            </a:r>
            <a:r>
              <a:rPr lang="fr-FR" dirty="0">
                <a:cs typeface="Courier"/>
              </a:rPr>
              <a:t>implique que l'entrée/sortie est un entier signé</a:t>
            </a:r>
            <a:r>
              <a:rPr lang="en-GB" dirty="0" smtClean="0">
                <a:latin typeface="Arial" panose="020B0604020202020204" pitchFamily="34" charset="0"/>
              </a:rPr>
              <a:t> </a:t>
            </a:r>
            <a:r>
              <a:rPr lang="en-GB" dirty="0">
                <a:latin typeface="Arial" panose="020B0604020202020204" pitchFamily="34" charset="0"/>
              </a:rPr>
              <a:t>(</a:t>
            </a:r>
            <a:r>
              <a:rPr lang="en-GB" b="1" dirty="0">
                <a:latin typeface="Courier"/>
                <a:cs typeface="Courier"/>
              </a:rPr>
              <a:t>int</a:t>
            </a:r>
            <a:r>
              <a:rPr lang="en-GB" dirty="0">
                <a:latin typeface="Arial" panose="020B0604020202020204" pitchFamily="34" charset="0"/>
              </a:rPr>
              <a:t>)</a:t>
            </a:r>
            <a:endParaRPr lang="en-GB" dirty="0">
              <a:latin typeface="Arial" panose="020B0604020202020204" pitchFamily="34" charset="0"/>
            </a:endParaRPr>
          </a:p>
          <a:p>
            <a:r>
              <a:rPr lang="en-GB" b="1" dirty="0">
                <a:latin typeface="Courier"/>
                <a:cs typeface="Courier"/>
              </a:rPr>
              <a:t>%c</a:t>
            </a:r>
            <a:r>
              <a:rPr lang="en-GB" b="1" dirty="0">
                <a:latin typeface="Arial" panose="020B0604020202020204" pitchFamily="34" charset="0"/>
              </a:rPr>
              <a:t> </a:t>
            </a:r>
            <a:r>
              <a:rPr lang="en-GB" dirty="0">
                <a:latin typeface="Arial" panose="020B0604020202020204" pitchFamily="34" charset="0"/>
              </a:rPr>
              <a:t>: </a:t>
            </a:r>
            <a:r>
              <a:rPr lang="fr-FR" dirty="0">
                <a:latin typeface="Arial" panose="020B0604020202020204" pitchFamily="34" charset="0"/>
              </a:rPr>
              <a:t>implique que l'E/S est un caractère ASCII </a:t>
            </a:r>
            <a:r>
              <a:rPr lang="en-GB" dirty="0" smtClean="0">
                <a:latin typeface="Arial" panose="020B0604020202020204" pitchFamily="34" charset="0"/>
              </a:rPr>
              <a:t>(</a:t>
            </a:r>
            <a:r>
              <a:rPr lang="en-GB" b="1" dirty="0">
                <a:latin typeface="Courier"/>
                <a:cs typeface="Courier"/>
              </a:rPr>
              <a:t>char</a:t>
            </a:r>
            <a:r>
              <a:rPr lang="en-GB" dirty="0">
                <a:latin typeface="Arial" panose="020B0604020202020204" pitchFamily="34" charset="0"/>
              </a:rPr>
              <a:t>)</a:t>
            </a:r>
            <a:endParaRPr lang="en-GB" dirty="0">
              <a:latin typeface="Arial" panose="020B0604020202020204" pitchFamily="34" charset="0"/>
            </a:endParaRPr>
          </a:p>
          <a:p>
            <a:r>
              <a:rPr lang="en-GB" b="1" dirty="0">
                <a:latin typeface="Courier"/>
                <a:cs typeface="Courier"/>
              </a:rPr>
              <a:t>%f</a:t>
            </a:r>
            <a:r>
              <a:rPr lang="en-GB" b="1" dirty="0">
                <a:latin typeface="Arial" panose="020B0604020202020204" pitchFamily="34" charset="0"/>
              </a:rPr>
              <a:t> </a:t>
            </a:r>
            <a:r>
              <a:rPr lang="en-GB" dirty="0">
                <a:latin typeface="Arial" panose="020B0604020202020204" pitchFamily="34" charset="0"/>
              </a:rPr>
              <a:t>: </a:t>
            </a:r>
            <a:r>
              <a:rPr lang="fr-FR" dirty="0">
                <a:latin typeface="Arial" panose="020B0604020202020204" pitchFamily="34" charset="0"/>
              </a:rPr>
              <a:t>implique que l'entrée/sortie est un </a:t>
            </a:r>
            <a:r>
              <a:rPr lang="fr-FR" dirty="0" smtClean="0">
                <a:latin typeface="Arial" panose="020B0604020202020204" pitchFamily="34" charset="0"/>
              </a:rPr>
              <a:t>réel </a:t>
            </a:r>
            <a:r>
              <a:rPr lang="en-GB" dirty="0" smtClean="0">
                <a:latin typeface="Arial" panose="020B0604020202020204" pitchFamily="34" charset="0"/>
              </a:rPr>
              <a:t>(</a:t>
            </a:r>
            <a:r>
              <a:rPr lang="en-GB" b="1" dirty="0" smtClean="0">
                <a:latin typeface="Courier"/>
                <a:cs typeface="Courier"/>
              </a:rPr>
              <a:t>float</a:t>
            </a:r>
            <a:r>
              <a:rPr lang="en-GB" dirty="0">
                <a:latin typeface="Arial" panose="020B0604020202020204" pitchFamily="34" charset="0"/>
              </a:rPr>
              <a:t>).</a:t>
            </a:r>
            <a:endParaRPr lang="en-GB" b="1" dirty="0">
              <a:latin typeface="Courier"/>
              <a:cs typeface="Courier"/>
            </a:endParaRPr>
          </a:p>
          <a:p>
            <a:r>
              <a:rPr lang="en-GB" b="1" dirty="0">
                <a:latin typeface="Courier"/>
                <a:cs typeface="Courier"/>
              </a:rPr>
              <a:t>%lf</a:t>
            </a:r>
            <a:r>
              <a:rPr lang="en-GB" b="1" dirty="0">
                <a:latin typeface="Arial" panose="020B0604020202020204" pitchFamily="34" charset="0"/>
              </a:rPr>
              <a:t> </a:t>
            </a:r>
            <a:r>
              <a:rPr lang="en-GB" dirty="0">
                <a:latin typeface="Arial" panose="020B0604020202020204" pitchFamily="34" charset="0"/>
              </a:rPr>
              <a:t>: </a:t>
            </a:r>
            <a:r>
              <a:rPr lang="fr-FR" dirty="0">
                <a:latin typeface="Arial" panose="020B0604020202020204" pitchFamily="34" charset="0"/>
              </a:rPr>
              <a:t>implique que l'entrée/sortie est un double </a:t>
            </a:r>
            <a:r>
              <a:rPr lang="en-GB" dirty="0" smtClean="0">
                <a:latin typeface="Arial" panose="020B0604020202020204" pitchFamily="34" charset="0"/>
              </a:rPr>
              <a:t>(</a:t>
            </a:r>
            <a:r>
              <a:rPr lang="en-GB" b="1" dirty="0">
                <a:latin typeface="Courier"/>
                <a:cs typeface="Courier"/>
              </a:rPr>
              <a:t>double</a:t>
            </a:r>
            <a:r>
              <a:rPr lang="en-GB" dirty="0">
                <a:latin typeface="Arial" panose="020B0604020202020204" pitchFamily="34" charset="0"/>
              </a:rPr>
              <a:t>).</a:t>
            </a:r>
            <a:endParaRPr lang="en-GB" dirty="0">
              <a:latin typeface="Arial" panose="020B0604020202020204" pitchFamily="34" charset="0"/>
            </a:endParaRPr>
          </a:p>
          <a:p>
            <a:r>
              <a:rPr lang="en-GB" b="1" dirty="0">
                <a:latin typeface="Courier"/>
                <a:cs typeface="Courier"/>
              </a:rPr>
              <a:t>%x</a:t>
            </a:r>
            <a:r>
              <a:rPr lang="en-GB" dirty="0">
                <a:latin typeface="Arial" panose="020B0604020202020204" pitchFamily="34" charset="0"/>
              </a:rPr>
              <a:t>: </a:t>
            </a:r>
            <a:r>
              <a:rPr lang="fr-FR" dirty="0">
                <a:latin typeface="Arial" panose="020B0604020202020204" pitchFamily="34" charset="0"/>
              </a:rPr>
              <a:t>implique que l'E/S est un entier non signé à imprimer en utilisant la représentation </a:t>
            </a:r>
            <a:r>
              <a:rPr lang="fr-FR" dirty="0" smtClean="0">
                <a:latin typeface="Arial" panose="020B0604020202020204" pitchFamily="34" charset="0"/>
              </a:rPr>
              <a:t>hexadécimale</a:t>
            </a:r>
            <a:endParaRPr lang="fr-FR" dirty="0" smtClean="0">
              <a:latin typeface="Arial" panose="020B0604020202020204" pitchFamily="34" charset="0"/>
            </a:endParaRPr>
          </a:p>
          <a:p>
            <a:r>
              <a:rPr lang="en-GB" dirty="0" smtClean="0">
                <a:latin typeface="Arial" panose="020B0604020202020204" pitchFamily="34" charset="0"/>
              </a:rPr>
              <a:t> </a:t>
            </a:r>
            <a:r>
              <a:rPr lang="en-GB" b="1" dirty="0">
                <a:latin typeface="Courier"/>
                <a:cs typeface="Courier"/>
              </a:rPr>
              <a:t>%s</a:t>
            </a:r>
            <a:r>
              <a:rPr lang="en-GB" b="1" dirty="0">
                <a:latin typeface="Arial" panose="020B0604020202020204" pitchFamily="34" charset="0"/>
              </a:rPr>
              <a:t> </a:t>
            </a:r>
            <a:r>
              <a:rPr lang="en-GB" dirty="0">
                <a:latin typeface="Arial" panose="020B0604020202020204" pitchFamily="34" charset="0"/>
              </a:rPr>
              <a:t>: </a:t>
            </a:r>
            <a:r>
              <a:rPr lang="fr-FR" dirty="0">
                <a:latin typeface="Arial" panose="020B0604020202020204" pitchFamily="34" charset="0"/>
              </a:rPr>
              <a:t>implique que l'entrée/sortie est une chaîne de caractères </a:t>
            </a:r>
            <a:r>
              <a:rPr lang="en-GB" dirty="0" smtClean="0">
                <a:latin typeface="Arial" panose="020B0604020202020204" pitchFamily="34" charset="0"/>
              </a:rPr>
              <a:t> </a:t>
            </a:r>
            <a:endParaRPr lang="en-GB" dirty="0">
              <a:latin typeface="Arial" panose="020B0604020202020204" pitchFamily="34" charset="0"/>
            </a:endParaRPr>
          </a:p>
          <a:p>
            <a:r>
              <a:rPr lang="en-GB" dirty="0">
                <a:latin typeface="Arial" panose="020B0604020202020204" pitchFamily="34" charset="0"/>
              </a:rPr>
              <a:t>….</a:t>
            </a:r>
            <a:endParaRPr lang="en-GB" dirty="0">
              <a:latin typeface="Arial" panose="020B0604020202020204" pitchFamily="34" charset="0"/>
            </a:endParaRPr>
          </a:p>
          <a:p>
            <a:r>
              <a:rPr lang="en-GB" dirty="0" smtClean="0">
                <a:latin typeface="Arial" panose="020B0604020202020204" pitchFamily="34" charset="0"/>
              </a:rPr>
              <a:t>Plus d’informations  : </a:t>
            </a:r>
            <a:r>
              <a:rPr lang="en-GB" b="1" dirty="0">
                <a:latin typeface="Courier"/>
                <a:cs typeface="Courier"/>
              </a:rPr>
              <a:t>man format </a:t>
            </a:r>
            <a:r>
              <a:rPr lang="en-GB" dirty="0" smtClean="0">
                <a:latin typeface="Arial" panose="020B0604020202020204" pitchFamily="34" charset="0"/>
              </a:rPr>
              <a:t>ou </a:t>
            </a:r>
            <a:r>
              <a:rPr lang="en-GB" b="1" dirty="0" err="1">
                <a:latin typeface="Courier" pitchFamily="49" charset="0"/>
              </a:rPr>
              <a:t>google</a:t>
            </a:r>
            <a:r>
              <a:rPr lang="en-GB" dirty="0">
                <a:latin typeface="Arial" panose="020B0604020202020204" pitchFamily="34" charset="0"/>
              </a:rPr>
              <a:t> </a:t>
            </a:r>
            <a:r>
              <a:rPr lang="en-GB" b="1" dirty="0" err="1">
                <a:latin typeface="Courier"/>
                <a:cs typeface="Courier"/>
              </a:rPr>
              <a:t>printf</a:t>
            </a:r>
            <a:endParaRPr lang="en-GB" b="1" dirty="0">
              <a:latin typeface="Courier"/>
              <a:cs typeface="Courier"/>
            </a:endParaRPr>
          </a:p>
          <a:p>
            <a:pPr lvl="1"/>
            <a:endParaRPr lang="en-GB" sz="1000" dirty="0">
              <a:latin typeface="Arial" panose="020B0604020202020204" pitchFamily="34" charset="0"/>
            </a:endParaRPr>
          </a:p>
          <a:p>
            <a:r>
              <a:rPr lang="en-GB" dirty="0" smtClean="0">
                <a:latin typeface="Arial" panose="020B0604020202020204" pitchFamily="34" charset="0"/>
                <a:cs typeface="MS PGothic" panose="020B0600070205080204" charset="-128"/>
              </a:rPr>
              <a:t>Remarque</a:t>
            </a:r>
            <a:endParaRPr lang="en-GB" dirty="0">
              <a:latin typeface="Arial" panose="020B0604020202020204" pitchFamily="34" charset="0"/>
              <a:cs typeface="MS PGothic" panose="020B0600070205080204" charset="-128"/>
            </a:endParaRPr>
          </a:p>
          <a:p>
            <a:pPr lvl="1"/>
            <a:r>
              <a:rPr lang="fr-FR" dirty="0">
                <a:latin typeface="Arial" panose="020B0604020202020204" pitchFamily="34" charset="0"/>
              </a:rPr>
              <a:t>Le format peut également contenir du texte normal (ce qui ne contient pas le caractère %).</a:t>
            </a:r>
            <a:endParaRPr lang="en-GB" dirty="0">
              <a:latin typeface="Arial" panose="020B0604020202020204" pitchFamily="34" charset="0"/>
            </a:endParaRPr>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re 1"/>
          <p:cNvSpPr>
            <a:spLocks noGrp="1"/>
          </p:cNvSpPr>
          <p:nvPr>
            <p:ph type="title"/>
          </p:nvPr>
        </p:nvSpPr>
        <p:spPr/>
        <p:txBody>
          <a:bodyPr/>
          <a:lstStyle/>
          <a:p>
            <a:r>
              <a:rPr lang="fr-FR" sz="2800" dirty="0" smtClean="0">
                <a:latin typeface="Arial" panose="020B0604020202020204" pitchFamily="34" charset="0"/>
                <a:ea typeface="MS PGothic" panose="020B0600070205080204" charset="-128"/>
                <a:cs typeface="MS PGothic" panose="020B0600070205080204" charset="-128"/>
              </a:rPr>
              <a:t>Exemple</a:t>
            </a:r>
            <a:endParaRPr lang="fr-FR" sz="2800" dirty="0">
              <a:latin typeface="Arial" panose="020B0604020202020204" pitchFamily="34" charset="0"/>
              <a:ea typeface="MS PGothic" panose="020B0600070205080204" charset="-128"/>
              <a:cs typeface="MS PGothic" panose="020B0600070205080204" charset="-128"/>
            </a:endParaRPr>
          </a:p>
        </p:txBody>
      </p:sp>
      <p:pic>
        <p:nvPicPr>
          <p:cNvPr id="99331" name="Image 4" descr="Capture d’écran 2014-08-26 à 16.46.34.pn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296928" y="1556792"/>
            <a:ext cx="6839468" cy="4179744"/>
          </a:xfrm>
          <a:prstGeom prst="rect">
            <a:avLst/>
          </a:prstGeom>
          <a:noFill/>
          <a:ln w="9525">
            <a:solidFill>
              <a:schemeClr val="tx2"/>
            </a:solidFill>
            <a:miter lim="800000"/>
            <a:headEnd/>
            <a:tailEnd/>
          </a:ln>
        </p:spPr>
      </p:pic>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re 1"/>
          <p:cNvSpPr>
            <a:spLocks noGrp="1"/>
          </p:cNvSpPr>
          <p:nvPr>
            <p:ph type="title"/>
          </p:nvPr>
        </p:nvSpPr>
        <p:spPr>
          <a:xfrm>
            <a:off x="-72516" y="627584"/>
            <a:ext cx="8604956" cy="497160"/>
          </a:xfrm>
        </p:spPr>
        <p:txBody>
          <a:bodyPr/>
          <a:lstStyle/>
          <a:p>
            <a:pPr>
              <a:defRPr/>
            </a:pPr>
            <a:r>
              <a:rPr lang="fr-FR" sz="2800" dirty="0"/>
              <a:t>Que se passe-t-il si nous utilisons un mauvais format ?</a:t>
            </a:r>
            <a:endParaRPr lang="en-GB" sz="2800" dirty="0"/>
          </a:p>
        </p:txBody>
      </p:sp>
      <p:sp>
        <p:nvSpPr>
          <p:cNvPr id="3" name="Espace réservé du contenu 2"/>
          <p:cNvSpPr>
            <a:spLocks noGrp="1"/>
          </p:cNvSpPr>
          <p:nvPr>
            <p:ph idx="1"/>
          </p:nvPr>
        </p:nvSpPr>
        <p:spPr>
          <a:xfrm>
            <a:off x="1372" y="1304764"/>
            <a:ext cx="9142628" cy="4968552"/>
          </a:xfrm>
        </p:spPr>
        <p:txBody>
          <a:bodyPr/>
          <a:lstStyle/>
          <a:p>
            <a:pPr>
              <a:defRPr/>
            </a:pPr>
            <a:r>
              <a:rPr lang="fr-FR" sz="2300" dirty="0"/>
              <a:t>Habituellement, nous n'avons qu'un avertissement du </a:t>
            </a:r>
            <a:r>
              <a:rPr lang="fr-FR" sz="2300" dirty="0" smtClean="0"/>
              <a:t>compilateur</a:t>
            </a:r>
            <a:endParaRPr lang="fr-FR" sz="2300" dirty="0" smtClean="0"/>
          </a:p>
          <a:p>
            <a:pPr>
              <a:defRPr/>
            </a:pPr>
            <a:r>
              <a:rPr lang="en-GB" sz="2300" dirty="0" smtClean="0"/>
              <a:t>Question </a:t>
            </a:r>
            <a:r>
              <a:rPr lang="en-GB" sz="2300" dirty="0"/>
              <a:t>: </a:t>
            </a:r>
            <a:r>
              <a:rPr lang="fr-FR" sz="2300" dirty="0" smtClean="0"/>
              <a:t>Qu‘affiche le </a:t>
            </a:r>
            <a:r>
              <a:rPr lang="fr-FR" sz="2300" dirty="0"/>
              <a:t>programme suivant </a:t>
            </a:r>
            <a:r>
              <a:rPr lang="fr-FR" sz="2300" dirty="0" smtClean="0"/>
              <a:t>?</a:t>
            </a:r>
            <a:endParaRPr lang="en-GB" sz="2300" dirty="0"/>
          </a:p>
          <a:p>
            <a:pPr marL="0" indent="0">
              <a:buNone/>
              <a:defRPr/>
            </a:pPr>
            <a:endParaRPr lang="en-GB" dirty="0"/>
          </a:p>
          <a:p>
            <a:pPr>
              <a:defRPr/>
            </a:pPr>
            <a:endParaRPr lang="en-GB" dirty="0"/>
          </a:p>
          <a:p>
            <a:pPr>
              <a:defRPr/>
            </a:pPr>
            <a:endParaRPr lang="en-GB" dirty="0"/>
          </a:p>
          <a:p>
            <a:pPr marL="0" indent="0">
              <a:buFont typeface="Wingdings" panose="05000000000000000000" charset="0"/>
              <a:buNone/>
              <a:defRPr/>
            </a:pPr>
            <a:endParaRPr lang="en-GB" dirty="0"/>
          </a:p>
          <a:p>
            <a:pPr>
              <a:defRPr/>
            </a:pPr>
            <a:r>
              <a:rPr lang="en-GB" sz="2300" dirty="0" smtClean="0"/>
              <a:t>Réponse </a:t>
            </a:r>
            <a:r>
              <a:rPr lang="en-GB" sz="2300" dirty="0"/>
              <a:t>: Défaut de segmentation (core dumped) </a:t>
            </a:r>
            <a:r>
              <a:rPr lang="en-GB" sz="2300" dirty="0" smtClean="0">
                <a:solidFill>
                  <a:srgbClr val="000000"/>
                </a:solidFill>
              </a:rPr>
              <a:t>ou </a:t>
            </a:r>
            <a:r>
              <a:rPr lang="en-GB" sz="2300" dirty="0">
                <a:solidFill>
                  <a:srgbClr val="000000"/>
                </a:solidFill>
              </a:rPr>
              <a:t>unexpected behaviour (comportement </a:t>
            </a:r>
            <a:r>
              <a:rPr lang="en-GB" sz="2300" dirty="0" smtClean="0">
                <a:solidFill>
                  <a:srgbClr val="000000"/>
                </a:solidFill>
              </a:rPr>
              <a:t>inattendu)</a:t>
            </a:r>
            <a:endParaRPr lang="en-GB" sz="2300" dirty="0">
              <a:solidFill>
                <a:srgbClr val="000000"/>
              </a:solidFill>
            </a:endParaRPr>
          </a:p>
          <a:p>
            <a:pPr lvl="1">
              <a:defRPr/>
            </a:pPr>
            <a:r>
              <a:rPr lang="fr-FR" dirty="0"/>
              <a:t>tente d'imprimer une chaîne de caractères stockée dans la mémoire à partir de l'adresse 1654 et dont la fin est indiquée par le caractère \0.</a:t>
            </a:r>
            <a:r>
              <a:rPr lang="en-GB" dirty="0" smtClean="0"/>
              <a:t>.</a:t>
            </a:r>
            <a:endParaRPr lang="en-GB" dirty="0"/>
          </a:p>
          <a:p>
            <a:pPr lvl="2">
              <a:defRPr/>
            </a:pPr>
            <a:r>
              <a:rPr lang="fr-FR" dirty="0"/>
              <a:t>A la fin, le programme va essayer d'accéder à une adresse illégale</a:t>
            </a:r>
            <a:r>
              <a:rPr lang="fr-FR" dirty="0" smtClean="0"/>
              <a:t>.</a:t>
            </a:r>
            <a:endParaRPr lang="en-GB" dirty="0"/>
          </a:p>
          <a:p>
            <a:pPr lvl="1">
              <a:defRPr/>
            </a:pPr>
            <a:r>
              <a:rPr lang="en-GB" dirty="0" err="1"/>
              <a:t>Erreur</a:t>
            </a:r>
            <a:r>
              <a:rPr lang="en-GB" dirty="0"/>
              <a:t> </a:t>
            </a:r>
            <a:r>
              <a:rPr lang="en-GB" dirty="0" err="1"/>
              <a:t>très</a:t>
            </a:r>
            <a:r>
              <a:rPr lang="en-GB" dirty="0"/>
              <a:t> courante !</a:t>
            </a:r>
            <a:endParaRPr lang="en-GB" dirty="0"/>
          </a:p>
        </p:txBody>
      </p:sp>
      <p:pic>
        <p:nvPicPr>
          <p:cNvPr id="100356" name="Image 4" descr="Capture d’écran 2014-08-26 à 16.50.23.pn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329231" y="2240868"/>
            <a:ext cx="3034857" cy="1728192"/>
          </a:xfrm>
          <a:prstGeom prst="rect">
            <a:avLst/>
          </a:prstGeom>
          <a:noFill/>
          <a:ln w="9525">
            <a:solidFill>
              <a:schemeClr val="tx2"/>
            </a:solidFill>
            <a:miter lim="800000"/>
            <a:headEnd/>
            <a:tailEnd/>
          </a:ln>
        </p:spPr>
      </p:pic>
      <p:sp>
        <p:nvSpPr>
          <p:cNvPr id="6"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8"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re 1"/>
          <p:cNvSpPr>
            <a:spLocks noGrp="1"/>
          </p:cNvSpPr>
          <p:nvPr>
            <p:ph type="title"/>
          </p:nvPr>
        </p:nvSpPr>
        <p:spPr>
          <a:xfrm>
            <a:off x="179512" y="617612"/>
            <a:ext cx="10171856" cy="533400"/>
          </a:xfrm>
        </p:spPr>
        <p:txBody>
          <a:bodyPr/>
          <a:lstStyle/>
          <a:p>
            <a:r>
              <a:rPr lang="fr-FR" sz="2800" dirty="0" smtClean="0">
                <a:latin typeface="Arial" panose="020B0604020202020204" pitchFamily="34" charset="0"/>
                <a:cs typeface="MS PGothic" panose="020B0600070205080204" charset="-128"/>
              </a:rPr>
              <a:t>Conversion du </a:t>
            </a:r>
            <a:r>
              <a:rPr lang="fr-FR" sz="2800" dirty="0">
                <a:latin typeface="Arial" panose="020B0604020202020204" pitchFamily="34" charset="0"/>
                <a:cs typeface="MS PGothic" panose="020B0600070205080204" charset="-128"/>
              </a:rPr>
              <a:t>type : Fonctions intégrées de </a:t>
            </a:r>
            <a:br>
              <a:rPr lang="fr-FR" sz="2800" dirty="0" smtClean="0">
                <a:latin typeface="Arial" panose="020B0604020202020204" pitchFamily="34" charset="0"/>
                <a:cs typeface="MS PGothic" panose="020B0600070205080204" charset="-128"/>
              </a:rPr>
            </a:br>
            <a:r>
              <a:rPr lang="fr-FR" sz="2800" dirty="0" smtClean="0">
                <a:latin typeface="Arial" panose="020B0604020202020204" pitchFamily="34" charset="0"/>
                <a:cs typeface="MS PGothic" panose="020B0600070205080204" charset="-128"/>
              </a:rPr>
              <a:t>conversion </a:t>
            </a:r>
            <a:r>
              <a:rPr lang="fr-FR" sz="2800" dirty="0">
                <a:latin typeface="Arial" panose="020B0604020202020204" pitchFamily="34" charset="0"/>
                <a:cs typeface="MS PGothic" panose="020B0600070205080204" charset="-128"/>
              </a:rPr>
              <a:t>de type</a:t>
            </a:r>
            <a:endParaRPr lang="fr-FR" sz="2800" dirty="0">
              <a:latin typeface="Arial" panose="020B0604020202020204" pitchFamily="34" charset="0"/>
              <a:cs typeface="MS PGothic" panose="020B0600070205080204" charset="-128"/>
            </a:endParaRPr>
          </a:p>
        </p:txBody>
      </p:sp>
      <p:sp>
        <p:nvSpPr>
          <p:cNvPr id="78850" name="Espace réservé du contenu 2"/>
          <p:cNvSpPr>
            <a:spLocks noGrp="1"/>
          </p:cNvSpPr>
          <p:nvPr>
            <p:ph idx="1"/>
          </p:nvPr>
        </p:nvSpPr>
        <p:spPr>
          <a:xfrm>
            <a:off x="395536" y="1700808"/>
            <a:ext cx="8867328" cy="3600400"/>
          </a:xfrm>
        </p:spPr>
        <p:txBody>
          <a:bodyPr/>
          <a:lstStyle/>
          <a:p>
            <a:r>
              <a:rPr lang="en-GB" b="1" dirty="0">
                <a:latin typeface="Courier"/>
                <a:cs typeface="Courier"/>
              </a:rPr>
              <a:t>atof() </a:t>
            </a:r>
            <a:r>
              <a:rPr lang="en-GB" dirty="0"/>
              <a:t>: </a:t>
            </a:r>
            <a:r>
              <a:rPr lang="en-GB" dirty="0" smtClean="0"/>
              <a:t>convertit une chaîne de caractères en </a:t>
            </a:r>
            <a:r>
              <a:rPr lang="en-GB" dirty="0" err="1" smtClean="0"/>
              <a:t>réel</a:t>
            </a:r>
            <a:endParaRPr lang="en-GB" b="1" dirty="0">
              <a:latin typeface="Courier"/>
              <a:cs typeface="Courier"/>
            </a:endParaRPr>
          </a:p>
          <a:p>
            <a:r>
              <a:rPr lang="en-GB" b="1" dirty="0" err="1">
                <a:latin typeface="Courier"/>
                <a:cs typeface="Courier"/>
              </a:rPr>
              <a:t>atoi</a:t>
            </a:r>
            <a:r>
              <a:rPr lang="en-GB" b="1" dirty="0">
                <a:latin typeface="Courier"/>
                <a:cs typeface="Courier"/>
              </a:rPr>
              <a:t>()</a:t>
            </a:r>
            <a:r>
              <a:rPr lang="en-GB" dirty="0"/>
              <a:t> : </a:t>
            </a:r>
            <a:r>
              <a:rPr lang="en-GB" dirty="0" smtClean="0"/>
              <a:t>convertit une chaîne de caractères en entier</a:t>
            </a:r>
            <a:endParaRPr lang="en-GB" b="1" dirty="0">
              <a:latin typeface="Courier"/>
              <a:cs typeface="Courier"/>
            </a:endParaRPr>
          </a:p>
          <a:p>
            <a:r>
              <a:rPr lang="en-GB" b="1" dirty="0" err="1">
                <a:latin typeface="Courier"/>
                <a:cs typeface="Courier"/>
              </a:rPr>
              <a:t>atol</a:t>
            </a:r>
            <a:r>
              <a:rPr lang="en-GB" b="1" dirty="0">
                <a:latin typeface="Courier"/>
                <a:cs typeface="Courier"/>
              </a:rPr>
              <a:t>()</a:t>
            </a:r>
            <a:r>
              <a:rPr lang="en-GB" dirty="0"/>
              <a:t> : convert </a:t>
            </a:r>
            <a:r>
              <a:rPr lang="en-GB" dirty="0" smtClean="0"/>
              <a:t>une chaîne de caractères en entier </a:t>
            </a:r>
            <a:r>
              <a:rPr lang="en-GB" dirty="0"/>
              <a:t>long</a:t>
            </a:r>
            <a:endParaRPr lang="en-GB" b="1" dirty="0">
              <a:latin typeface="Courier"/>
              <a:cs typeface="Courier"/>
            </a:endParaRPr>
          </a:p>
          <a:p>
            <a:r>
              <a:rPr lang="en-GB" b="1" dirty="0" err="1">
                <a:latin typeface="Courier"/>
                <a:cs typeface="Courier"/>
              </a:rPr>
              <a:t>itoa</a:t>
            </a:r>
            <a:r>
              <a:rPr lang="en-GB" b="1" dirty="0">
                <a:latin typeface="Courier"/>
                <a:cs typeface="Courier"/>
              </a:rPr>
              <a:t>()</a:t>
            </a:r>
            <a:r>
              <a:rPr lang="en-GB" dirty="0"/>
              <a:t> : </a:t>
            </a:r>
            <a:r>
              <a:rPr lang="en-GB" dirty="0" smtClean="0"/>
              <a:t>convertit un entier en chaîne de caractères</a:t>
            </a:r>
            <a:endParaRPr lang="en-GB" b="1" dirty="0">
              <a:latin typeface="Courier"/>
              <a:cs typeface="Courier"/>
            </a:endParaRPr>
          </a:p>
          <a:p>
            <a:r>
              <a:rPr lang="en-GB" b="1" dirty="0" err="1">
                <a:latin typeface="Courier"/>
                <a:cs typeface="Courier"/>
              </a:rPr>
              <a:t>ltoa</a:t>
            </a:r>
            <a:r>
              <a:rPr lang="en-GB" b="1" dirty="0">
                <a:latin typeface="Courier"/>
                <a:cs typeface="Courier"/>
              </a:rPr>
              <a:t>()</a:t>
            </a:r>
            <a:r>
              <a:rPr lang="en-GB" dirty="0"/>
              <a:t> : </a:t>
            </a:r>
            <a:r>
              <a:rPr lang="en-GB" dirty="0" smtClean="0"/>
              <a:t>convertit entier </a:t>
            </a:r>
            <a:r>
              <a:rPr lang="en-GB" dirty="0"/>
              <a:t>long </a:t>
            </a:r>
            <a:r>
              <a:rPr lang="en-GB" dirty="0" smtClean="0"/>
              <a:t>en chaîne de caractères</a:t>
            </a:r>
            <a:endParaRPr lang="en-GB" dirty="0"/>
          </a:p>
        </p:txBody>
      </p:sp>
      <p:sp>
        <p:nvSpPr>
          <p:cNvPr id="6"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8"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Allons……</a:t>
            </a:r>
            <a:endParaRPr lang="en-US" sz="2800" dirty="0"/>
          </a:p>
        </p:txBody>
      </p:sp>
      <p:sp>
        <p:nvSpPr>
          <p:cNvPr id="3" name="Content Placeholder 2"/>
          <p:cNvSpPr>
            <a:spLocks noGrp="1"/>
          </p:cNvSpPr>
          <p:nvPr>
            <p:ph idx="1"/>
          </p:nvPr>
        </p:nvSpPr>
        <p:spPr>
          <a:xfrm>
            <a:off x="1979712" y="2312876"/>
            <a:ext cx="4716524" cy="1404156"/>
          </a:xfrm>
        </p:spPr>
        <p:txBody>
          <a:bodyPr/>
          <a:lstStyle/>
          <a:p>
            <a:pPr marL="0" indent="0" algn="ctr">
              <a:buNone/>
            </a:pPr>
            <a:r>
              <a:rPr lang="en-US" sz="3200" b="1" dirty="0">
                <a:solidFill>
                  <a:srgbClr val="800000"/>
                </a:solidFill>
              </a:rPr>
              <a:t>Kahoot time !</a:t>
            </a:r>
            <a:endParaRPr lang="en-US" sz="3200" b="1" dirty="0">
              <a:solidFill>
                <a:srgbClr val="800000"/>
              </a:solidFill>
            </a:endParaRPr>
          </a:p>
          <a:p>
            <a:pPr marL="0" indent="0" algn="ctr">
              <a:buNone/>
            </a:pPr>
            <a:r>
              <a:rPr lang="en-US" sz="3200" b="1" dirty="0">
                <a:solidFill>
                  <a:srgbClr val="800000"/>
                </a:solidFill>
              </a:rPr>
              <a:t>(6 Q)</a:t>
            </a:r>
            <a:endParaRPr lang="en-US" sz="3200" b="1" dirty="0">
              <a:solidFill>
                <a:srgbClr val="800000"/>
              </a:solidFill>
            </a:endParaRPr>
          </a:p>
        </p:txBody>
      </p:sp>
      <p:sp>
        <p:nvSpPr>
          <p:cNvPr id="7"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6"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172" name="Rectangle 2"/>
          <p:cNvSpPr>
            <a:spLocks noGrp="1" noChangeArrowheads="1"/>
          </p:cNvSpPr>
          <p:nvPr>
            <p:ph type="ctrTitle"/>
          </p:nvPr>
        </p:nvSpPr>
        <p:spPr/>
        <p:txBody>
          <a:bodyPr/>
          <a:lstStyle/>
          <a:p>
            <a:r>
              <a:rPr lang="fr-FR" dirty="0">
                <a:latin typeface="Arial" panose="020B0604020202020204" pitchFamily="34" charset="0"/>
              </a:rPr>
              <a:t>Composants de base du langage C : structures de contrôle</a:t>
            </a:r>
            <a:endParaRPr lang="en-GB" dirty="0">
              <a:latin typeface="Arial" panose="020B0604020202020204" pitchFamily="34" charset="0"/>
            </a:endParaRPr>
          </a:p>
        </p:txBody>
      </p:sp>
      <p:sp>
        <p:nvSpPr>
          <p:cNvPr id="6"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CustomShape 3"/>
          <p:cNvSpPr/>
          <p:nvPr/>
        </p:nvSpPr>
        <p:spPr>
          <a:xfrm>
            <a:off x="857183" y="2492896"/>
            <a:ext cx="3120197" cy="3162327"/>
          </a:xfrm>
          <a:prstGeom prst="rect">
            <a:avLst/>
          </a:prstGeom>
          <a:solidFill>
            <a:srgbClr val="F9F9F9"/>
          </a:solidFill>
        </p:spPr>
        <p:txBody>
          <a:bodyPr lIns="92070" tIns="46035" rIns="92070" bIns="46035"/>
          <a:lstStyle/>
          <a:p>
            <a:pPr algn="l">
              <a:lnSpc>
                <a:spcPct val="100000"/>
              </a:lnSpc>
              <a:buSzPct val="25000"/>
              <a:buFont typeface="StarSymbol"/>
              <a:buChar char=""/>
            </a:pPr>
            <a:r>
              <a:rPr lang="fr-FR" sz="2000" b="1" dirty="0" err="1">
                <a:latin typeface="Courier New" panose="02070309020205020404"/>
                <a:ea typeface="Courier New" panose="02070309020205020404"/>
              </a:rPr>
              <a:t>int</a:t>
            </a:r>
            <a:r>
              <a:rPr lang="fr-FR" sz="2000" b="1" dirty="0">
                <a:latin typeface="Courier New" panose="02070309020205020404"/>
                <a:ea typeface="Courier New" panose="02070309020205020404"/>
              </a:rPr>
              <a:t> i=7;</a:t>
            </a:r>
            <a:endParaRPr sz="2000" dirty="0"/>
          </a:p>
          <a:p>
            <a:pPr algn="l">
              <a:lnSpc>
                <a:spcPct val="100000"/>
              </a:lnSpc>
              <a:buSzPct val="25000"/>
              <a:buFont typeface="StarSymbol"/>
              <a:buChar char=""/>
            </a:pPr>
            <a:r>
              <a:rPr lang="fr-FR" sz="2000" b="1" dirty="0" err="1">
                <a:latin typeface="Courier New" panose="02070309020205020404"/>
                <a:ea typeface="Courier New" panose="02070309020205020404"/>
              </a:rPr>
              <a:t>while</a:t>
            </a:r>
            <a:r>
              <a:rPr lang="fr-FR" sz="2000" b="1" dirty="0">
                <a:latin typeface="Courier New" panose="02070309020205020404"/>
                <a:ea typeface="Courier New" panose="02070309020205020404"/>
              </a:rPr>
              <a:t>(i) {</a:t>
            </a:r>
            <a:endParaRPr sz="2000" dirty="0"/>
          </a:p>
          <a:p>
            <a:pPr algn="l">
              <a:lnSpc>
                <a:spcPct val="100000"/>
              </a:lnSpc>
              <a:buSzPct val="25000"/>
              <a:buFont typeface="StarSymbol"/>
              <a:buChar char=""/>
            </a:pPr>
            <a:r>
              <a:rPr lang="fr-FR" sz="2000" b="1" dirty="0">
                <a:latin typeface="Courier New" panose="02070309020205020404"/>
                <a:ea typeface="Courier New" panose="02070309020205020404"/>
              </a:rPr>
              <a:t>  i--;</a:t>
            </a:r>
            <a:endParaRPr sz="2000" dirty="0"/>
          </a:p>
          <a:p>
            <a:pPr algn="l">
              <a:lnSpc>
                <a:spcPct val="100000"/>
              </a:lnSpc>
              <a:buSzPct val="25000"/>
              <a:buFont typeface="StarSymbol"/>
              <a:buChar char=""/>
            </a:pPr>
            <a:r>
              <a:rPr lang="fr-FR" sz="2000" b="1" dirty="0">
                <a:latin typeface="Courier New" panose="02070309020205020404"/>
                <a:ea typeface="Courier New" panose="02070309020205020404"/>
              </a:rPr>
              <a:t>  …</a:t>
            </a:r>
            <a:endParaRPr sz="2000" dirty="0"/>
          </a:p>
          <a:p>
            <a:pPr algn="l">
              <a:lnSpc>
                <a:spcPct val="100000"/>
              </a:lnSpc>
              <a:buSzPct val="25000"/>
              <a:buFont typeface="StarSymbol"/>
              <a:buChar char=""/>
            </a:pPr>
            <a:r>
              <a:rPr lang="fr-FR" sz="2000" b="1" dirty="0">
                <a:latin typeface="Courier New" panose="02070309020205020404"/>
                <a:ea typeface="Courier New" panose="02070309020205020404"/>
              </a:rPr>
              <a:t>}</a:t>
            </a:r>
            <a:endParaRPr sz="2000" dirty="0"/>
          </a:p>
          <a:p>
            <a:pPr algn="l">
              <a:lnSpc>
                <a:spcPct val="100000"/>
              </a:lnSpc>
              <a:buSzPct val="25000"/>
              <a:buFont typeface="StarSymbol"/>
              <a:buChar char=""/>
            </a:pPr>
            <a:endParaRPr sz="2000" dirty="0"/>
          </a:p>
          <a:p>
            <a:pPr algn="l">
              <a:lnSpc>
                <a:spcPct val="100000"/>
              </a:lnSpc>
              <a:buSzPct val="25000"/>
              <a:buFont typeface="StarSymbol"/>
              <a:buChar char=""/>
            </a:pPr>
            <a:r>
              <a:rPr lang="fr-FR" sz="2000" b="1" dirty="0" err="1">
                <a:latin typeface="Courier New" panose="02070309020205020404"/>
                <a:ea typeface="Courier New" panose="02070309020205020404"/>
              </a:rPr>
              <a:t>int</a:t>
            </a:r>
            <a:r>
              <a:rPr lang="fr-FR" sz="2000" b="1" dirty="0">
                <a:latin typeface="Courier New" panose="02070309020205020404"/>
                <a:ea typeface="Courier New" panose="02070309020205020404"/>
              </a:rPr>
              <a:t> i=7;</a:t>
            </a:r>
            <a:endParaRPr sz="2000" dirty="0"/>
          </a:p>
          <a:p>
            <a:pPr algn="l">
              <a:lnSpc>
                <a:spcPct val="100000"/>
              </a:lnSpc>
              <a:buSzPct val="25000"/>
              <a:buFont typeface="StarSymbol"/>
              <a:buChar char=""/>
            </a:pPr>
            <a:r>
              <a:rPr lang="fr-FR" sz="2000" b="1" dirty="0" err="1">
                <a:latin typeface="Courier New" panose="02070309020205020404"/>
                <a:ea typeface="Courier New" panose="02070309020205020404"/>
              </a:rPr>
              <a:t>while</a:t>
            </a:r>
            <a:r>
              <a:rPr lang="fr-FR" sz="2000" b="1" dirty="0">
                <a:latin typeface="Courier New" panose="02070309020205020404"/>
                <a:ea typeface="Courier New" panose="02070309020205020404"/>
              </a:rPr>
              <a:t>(i!=0) {</a:t>
            </a:r>
            <a:endParaRPr sz="2000" dirty="0"/>
          </a:p>
          <a:p>
            <a:pPr algn="l">
              <a:lnSpc>
                <a:spcPct val="100000"/>
              </a:lnSpc>
              <a:buSzPct val="25000"/>
              <a:buFont typeface="StarSymbol"/>
              <a:buChar char=""/>
            </a:pPr>
            <a:r>
              <a:rPr lang="fr-FR" sz="2000" b="1" dirty="0">
                <a:latin typeface="Courier New" panose="02070309020205020404"/>
                <a:ea typeface="Courier New" panose="02070309020205020404"/>
              </a:rPr>
              <a:t>  i--;</a:t>
            </a:r>
            <a:endParaRPr sz="2000" dirty="0"/>
          </a:p>
          <a:p>
            <a:pPr algn="l">
              <a:lnSpc>
                <a:spcPct val="100000"/>
              </a:lnSpc>
              <a:buSzPct val="25000"/>
              <a:buFont typeface="StarSymbol"/>
              <a:buChar char=""/>
            </a:pPr>
            <a:r>
              <a:rPr lang="fr-FR" sz="2000" b="1" dirty="0">
                <a:latin typeface="Courier New" panose="02070309020205020404"/>
                <a:ea typeface="Courier New" panose="02070309020205020404"/>
              </a:rPr>
              <a:t>  …</a:t>
            </a:r>
            <a:endParaRPr sz="2000" dirty="0"/>
          </a:p>
          <a:p>
            <a:pPr algn="l">
              <a:lnSpc>
                <a:spcPct val="100000"/>
              </a:lnSpc>
              <a:buSzPct val="25000"/>
              <a:buFont typeface="StarSymbol"/>
              <a:buChar char=""/>
            </a:pPr>
            <a:r>
              <a:rPr lang="fr-FR" sz="2000" b="1" dirty="0">
                <a:latin typeface="Courier New" panose="02070309020205020404"/>
                <a:ea typeface="Courier New" panose="02070309020205020404"/>
              </a:rPr>
              <a:t>} </a:t>
            </a:r>
            <a:endParaRPr sz="2000" dirty="0"/>
          </a:p>
          <a:p>
            <a:pPr algn="l">
              <a:lnSpc>
                <a:spcPct val="100000"/>
              </a:lnSpc>
              <a:buSzPct val="25000"/>
              <a:buFont typeface="StarSymbol"/>
              <a:buChar char=""/>
            </a:pPr>
            <a:endParaRPr sz="2000" dirty="0"/>
          </a:p>
          <a:p>
            <a:pPr algn="l">
              <a:lnSpc>
                <a:spcPct val="100000"/>
              </a:lnSpc>
              <a:buSzPct val="25000"/>
              <a:buFont typeface="StarSymbol"/>
              <a:buChar char=""/>
            </a:pPr>
            <a:endParaRPr sz="2000" dirty="0"/>
          </a:p>
        </p:txBody>
      </p:sp>
      <p:sp>
        <p:nvSpPr>
          <p:cNvPr id="217" name="Line 4"/>
          <p:cNvSpPr/>
          <p:nvPr/>
        </p:nvSpPr>
        <p:spPr>
          <a:xfrm flipV="1">
            <a:off x="2830945" y="4257092"/>
            <a:ext cx="1741055" cy="924513"/>
          </a:xfrm>
          <a:prstGeom prst="line">
            <a:avLst/>
          </a:prstGeom>
          <a:ln w="76320">
            <a:solidFill>
              <a:srgbClr val="FF0033"/>
            </a:solidFill>
            <a:miter/>
            <a:tailEnd type="triangle" w="med" len="med"/>
          </a:ln>
        </p:spPr>
      </p:sp>
      <p:sp>
        <p:nvSpPr>
          <p:cNvPr id="218" name="Line 5"/>
          <p:cNvSpPr/>
          <p:nvPr/>
        </p:nvSpPr>
        <p:spPr>
          <a:xfrm>
            <a:off x="2611361" y="3178331"/>
            <a:ext cx="1996643" cy="646714"/>
          </a:xfrm>
          <a:prstGeom prst="line">
            <a:avLst/>
          </a:prstGeom>
          <a:ln w="76320">
            <a:solidFill>
              <a:srgbClr val="FF0033"/>
            </a:solidFill>
            <a:miter/>
            <a:tailEnd type="triangle" w="med" len="med"/>
          </a:ln>
        </p:spPr>
      </p:sp>
      <p:sp>
        <p:nvSpPr>
          <p:cNvPr id="219" name="CustomShape 6"/>
          <p:cNvSpPr/>
          <p:nvPr/>
        </p:nvSpPr>
        <p:spPr>
          <a:xfrm>
            <a:off x="4680012" y="3732021"/>
            <a:ext cx="4212468" cy="684076"/>
          </a:xfrm>
          <a:prstGeom prst="rect">
            <a:avLst/>
          </a:prstGeom>
          <a:ln w="6350">
            <a:solidFill>
              <a:schemeClr val="tx1"/>
            </a:solidFill>
          </a:ln>
        </p:spPr>
        <p:txBody>
          <a:bodyPr lIns="77149" tIns="38733" rIns="77149" bIns="38733"/>
          <a:lstStyle/>
          <a:p>
            <a:pPr algn="just">
              <a:lnSpc>
                <a:spcPct val="100000"/>
              </a:lnSpc>
              <a:buSzPct val="25000"/>
            </a:pPr>
            <a:r>
              <a:rPr lang="fr-FR" sz="2000" dirty="0">
                <a:latin typeface="Arial" panose="020B0604020202020204"/>
              </a:rPr>
              <a:t>Les deux façons sont équivalentes, MAIS la deuxième est plus lisible</a:t>
            </a:r>
            <a:r>
              <a:rPr lang="en-GB" sz="2000" dirty="0" smtClean="0">
                <a:latin typeface="Arial" panose="020B0604020202020204"/>
              </a:rPr>
              <a:t>! </a:t>
            </a:r>
            <a:endParaRPr lang="en-GB" sz="2000" dirty="0"/>
          </a:p>
        </p:txBody>
      </p:sp>
      <p:sp>
        <p:nvSpPr>
          <p:cNvPr id="8" name="Titre 1"/>
          <p:cNvSpPr>
            <a:spLocks noGrp="1"/>
          </p:cNvSpPr>
          <p:nvPr>
            <p:ph type="title"/>
          </p:nvPr>
        </p:nvSpPr>
        <p:spPr>
          <a:xfrm>
            <a:off x="304800" y="152400"/>
            <a:ext cx="7772400" cy="533400"/>
          </a:xfrm>
        </p:spPr>
        <p:txBody>
          <a:bodyPr/>
          <a:lstStyle/>
          <a:p>
            <a:r>
              <a:rPr lang="fr-FR" sz="2800" dirty="0">
                <a:latin typeface="Arial" panose="020B0604020202020204" pitchFamily="34" charset="0"/>
                <a:cs typeface="MS PGothic" panose="020B0600070205080204" charset="-128"/>
              </a:rPr>
              <a:t>Structures de contrôle</a:t>
            </a:r>
            <a:endParaRPr lang="fr-FR" sz="2800" dirty="0">
              <a:latin typeface="Arial" panose="020B0604020202020204" pitchFamily="34" charset="0"/>
              <a:ea typeface="MS PGothic" panose="020B0600070205080204" charset="-128"/>
              <a:cs typeface="MS PGothic" panose="020B0600070205080204" charset="-128"/>
            </a:endParaRPr>
          </a:p>
        </p:txBody>
      </p:sp>
      <p:sp>
        <p:nvSpPr>
          <p:cNvPr id="9" name="Espace réservé du contenu 2"/>
          <p:cNvSpPr txBox="1"/>
          <p:nvPr/>
        </p:nvSpPr>
        <p:spPr>
          <a:xfrm>
            <a:off x="457200" y="914400"/>
            <a:ext cx="8261350" cy="5257800"/>
          </a:xfrm>
          <a:prstGeom prst="rect">
            <a:avLst/>
          </a:prstGeom>
        </p:spPr>
        <p:txBody>
          <a:bodyPr/>
          <a:lstStyle>
            <a:lvl1pPr marL="363855" indent="-363855" algn="l" rtl="0" eaLnBrk="0" fontAlgn="base" hangingPunct="0">
              <a:spcBef>
                <a:spcPct val="20000"/>
              </a:spcBef>
              <a:spcAft>
                <a:spcPct val="0"/>
              </a:spcAft>
              <a:buClr>
                <a:schemeClr val="bg2"/>
              </a:buClr>
              <a:buFont typeface="Monotype Sorts" charset="0"/>
              <a:buBlip>
                <a:blip r:embed="rId1"/>
              </a:buBlip>
              <a:defRPr sz="2400">
                <a:solidFill>
                  <a:srgbClr val="000208"/>
                </a:solidFill>
                <a:latin typeface="+mn-lt"/>
                <a:ea typeface="MS PGothic" panose="020B0600070205080204" charset="-128"/>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2"/>
              </a:buBlip>
              <a:defRPr sz="2000">
                <a:solidFill>
                  <a:srgbClr val="000208"/>
                </a:solidFill>
                <a:latin typeface="+mn-lt"/>
                <a:ea typeface="MS PGothic" panose="020B0600070205080204" charset="-128"/>
              </a:defRPr>
            </a:lvl2pPr>
            <a:lvl3pPr marL="992505" indent="269875" algn="l" rtl="0" eaLnBrk="0" fontAlgn="base" hangingPunct="0">
              <a:spcBef>
                <a:spcPct val="20000"/>
              </a:spcBef>
              <a:spcAft>
                <a:spcPct val="0"/>
              </a:spcAft>
              <a:buClr>
                <a:schemeClr val="bg2"/>
              </a:buClr>
              <a:buFont typeface="Monotype Sorts" charset="0"/>
              <a:buBlip>
                <a:blip r:embed="rId3"/>
              </a:buBlip>
              <a:defRPr sz="2000">
                <a:solidFill>
                  <a:srgbClr val="000208"/>
                </a:solidFill>
                <a:latin typeface="+mn-lt"/>
                <a:ea typeface="MS PGothic" panose="020B0600070205080204" charset="-128"/>
              </a:defRPr>
            </a:lvl3pPr>
            <a:lvl4pPr marL="1441450" indent="257175" algn="l" rtl="0" eaLnBrk="0" fontAlgn="base" hangingPunct="0">
              <a:spcBef>
                <a:spcPct val="20000"/>
              </a:spcBef>
              <a:spcAft>
                <a:spcPct val="0"/>
              </a:spcAft>
              <a:buClr>
                <a:srgbClr val="F60000"/>
              </a:buClr>
              <a:buFont typeface="Wingdings" panose="05000000000000000000" charset="0"/>
              <a:buChar char="§"/>
              <a:defRPr sz="1600">
                <a:solidFill>
                  <a:srgbClr val="000208"/>
                </a:solidFill>
                <a:latin typeface="+mn-lt"/>
                <a:ea typeface="MS PGothic" panose="020B0600070205080204" charset="-128"/>
              </a:defRPr>
            </a:lvl4pPr>
            <a:lvl5pPr marL="2060575" indent="-182880" algn="l" rtl="0" eaLnBrk="0" fontAlgn="base" hangingPunct="0">
              <a:spcBef>
                <a:spcPct val="20000"/>
              </a:spcBef>
              <a:spcAft>
                <a:spcPct val="0"/>
              </a:spcAft>
              <a:buClr>
                <a:srgbClr val="FFCC00"/>
              </a:buClr>
              <a:buChar char="•"/>
              <a:defRPr sz="1600">
                <a:solidFill>
                  <a:srgbClr val="000208"/>
                </a:solidFill>
                <a:latin typeface="+mn-lt"/>
                <a:ea typeface="MS PGothic" panose="020B0600070205080204" charset="-128"/>
              </a:defRPr>
            </a:lvl5pPr>
            <a:lvl6pPr marL="2517775" indent="-182880" algn="l" rtl="0" eaLnBrk="0" fontAlgn="base" hangingPunct="0">
              <a:spcBef>
                <a:spcPct val="20000"/>
              </a:spcBef>
              <a:spcAft>
                <a:spcPct val="0"/>
              </a:spcAft>
              <a:buClr>
                <a:srgbClr val="FFCC00"/>
              </a:buClr>
              <a:buChar char="•"/>
              <a:defRPr sz="1600">
                <a:solidFill>
                  <a:srgbClr val="000208"/>
                </a:solidFill>
                <a:latin typeface="+mn-lt"/>
              </a:defRPr>
            </a:lvl6pPr>
            <a:lvl7pPr marL="2974975" indent="-182880" algn="l" rtl="0" eaLnBrk="0" fontAlgn="base" hangingPunct="0">
              <a:spcBef>
                <a:spcPct val="20000"/>
              </a:spcBef>
              <a:spcAft>
                <a:spcPct val="0"/>
              </a:spcAft>
              <a:buClr>
                <a:srgbClr val="FFCC00"/>
              </a:buClr>
              <a:buChar char="•"/>
              <a:defRPr sz="1600">
                <a:solidFill>
                  <a:srgbClr val="000208"/>
                </a:solidFill>
                <a:latin typeface="+mn-lt"/>
              </a:defRPr>
            </a:lvl7pPr>
            <a:lvl8pPr marL="3432175" indent="-182880" algn="l" rtl="0" eaLnBrk="0" fontAlgn="base" hangingPunct="0">
              <a:spcBef>
                <a:spcPct val="20000"/>
              </a:spcBef>
              <a:spcAft>
                <a:spcPct val="0"/>
              </a:spcAft>
              <a:buClr>
                <a:srgbClr val="FFCC00"/>
              </a:buClr>
              <a:buChar char="•"/>
              <a:defRPr sz="1600">
                <a:solidFill>
                  <a:srgbClr val="000208"/>
                </a:solidFill>
                <a:latin typeface="+mn-lt"/>
              </a:defRPr>
            </a:lvl8pPr>
            <a:lvl9pPr marL="3889375" indent="-182880"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latin typeface="Arial" panose="020B0604020202020204" pitchFamily="34" charset="0"/>
                <a:cs typeface="MS PGothic" panose="020B0600070205080204" charset="-128"/>
              </a:rPr>
              <a:t>Similaire à ceux de JAVA et des Scripts</a:t>
            </a:r>
            <a:endParaRPr lang="en-GB" dirty="0">
              <a:latin typeface="Arial" panose="020B0604020202020204" pitchFamily="34" charset="0"/>
              <a:cs typeface="MS PGothic" panose="020B0600070205080204" charset="-128"/>
            </a:endParaRPr>
          </a:p>
          <a:p>
            <a:pPr lvl="1"/>
            <a:r>
              <a:rPr lang="en-GB" dirty="0">
                <a:latin typeface="Arial" panose="020B0604020202020204" pitchFamily="34" charset="0"/>
                <a:cs typeface="MS PGothic" panose="020B0600070205080204" charset="-128"/>
              </a:rPr>
              <a:t>PAS de type BOOLEAN </a:t>
            </a:r>
            <a:r>
              <a:rPr lang="en-GB" dirty="0" smtClean="0">
                <a:latin typeface="Arial" panose="020B0604020202020204" pitchFamily="34" charset="0"/>
                <a:cs typeface="MS PGothic" panose="020B0600070205080204" charset="-128"/>
              </a:rPr>
              <a:t>!</a:t>
            </a:r>
            <a:endParaRPr lang="en-GB" dirty="0">
              <a:latin typeface="Arial" panose="020B0604020202020204" pitchFamily="34" charset="0"/>
              <a:cs typeface="MS PGothic" panose="020B0600070205080204" charset="-128"/>
            </a:endParaRPr>
          </a:p>
          <a:p>
            <a:pPr lvl="1"/>
            <a:endParaRPr lang="en-GB" dirty="0">
              <a:latin typeface="Arial" panose="020B0604020202020204" pitchFamily="34" charset="0"/>
              <a:cs typeface="MS PGothic" panose="020B0600070205080204" charset="-128"/>
            </a:endParaRPr>
          </a:p>
          <a:p>
            <a:r>
              <a:rPr lang="en-GB" dirty="0" smtClean="0">
                <a:latin typeface="Arial" panose="020B0604020202020204" pitchFamily="34" charset="0"/>
                <a:cs typeface="MS PGothic" panose="020B0600070205080204" charset="-128"/>
              </a:rPr>
              <a:t>Exemple</a:t>
            </a:r>
            <a:endParaRPr lang="en-GB" dirty="0">
              <a:latin typeface="Courier"/>
              <a:cs typeface="Courier"/>
            </a:endParaRPr>
          </a:p>
        </p:txBody>
      </p:sp>
      <p:sp>
        <p:nvSpPr>
          <p:cNvPr id="14" name="Espace réservé du numéro de diapositive 4"/>
          <p:cNvSpPr txBox="1"/>
          <p:nvPr/>
        </p:nvSpPr>
        <p:spPr>
          <a:xfrm>
            <a:off x="7381292" y="6400800"/>
            <a:ext cx="1511188" cy="381000"/>
          </a:xfrm>
          <a:prstGeom prst="rect">
            <a:avLst/>
          </a:prstGeom>
          <a:noFill/>
        </p:spPr>
        <p:txBody>
          <a:bodyPr/>
          <a:lstStyle>
            <a:defPPr>
              <a:defRPr lang="en-US"/>
            </a:defPPr>
            <a:lvl1pPr marL="342900" indent="-3429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1pPr>
            <a:lvl2pPr marL="742950" indent="-28575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2pPr>
            <a:lvl3pPr marL="9144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3pPr>
            <a:lvl4pPr marL="1600200" indent="-2286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4pPr>
            <a:lvl5pPr marL="2057400" indent="-2286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5pPr>
            <a:lvl6pPr marL="25146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6pPr>
            <a:lvl7pPr marL="29718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7pPr>
            <a:lvl8pPr marL="34290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8pPr>
            <a:lvl9pPr marL="38862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9pPr>
          </a:lstStyle>
          <a:p>
            <a:pPr lvl="2"/>
            <a:fld id="{7A20496B-0CAA-CF4F-A60A-C2F15B752635}" type="slidenum">
              <a:rPr lang="fr-FR" sz="1400" smtClean="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10" name="Espace réservé du pied de page 3"/>
          <p:cNvSpPr txBox="1"/>
          <p:nvPr/>
        </p:nvSpPr>
        <p:spPr>
          <a:xfrm>
            <a:off x="395536" y="6400800"/>
            <a:ext cx="5624264" cy="457200"/>
          </a:xfrm>
          <a:prstGeom prst="rect">
            <a:avLst/>
          </a:prstGeom>
          <a:noFill/>
        </p:spPr>
        <p:txBody>
          <a:bodyPr/>
          <a:lstStyle>
            <a:defPPr>
              <a:defRPr lang="en-US"/>
            </a:defPPr>
            <a:lvl1pPr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1pPr>
            <a:lvl2pPr marL="742950" indent="-28575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2pPr>
            <a:lvl3pPr marL="1143000" indent="-2286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3pPr>
            <a:lvl4pPr marL="1600200" indent="-2286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4pPr>
            <a:lvl5pPr marL="2057400" indent="-2286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5pPr>
            <a:lvl6pPr marL="25146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6pPr>
            <a:lvl7pPr marL="29718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7pPr>
            <a:lvl8pPr marL="34290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8pPr>
            <a:lvl9pPr marL="38862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panose="020B0604020202020204" pitchFamily="34" charset="0"/>
                <a:ea typeface="MS PGothic" panose="020B0600070205080204" charset="-128"/>
                <a:cs typeface="+mn-cs"/>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re 1"/>
          <p:cNvSpPr>
            <a:spLocks noGrp="1"/>
          </p:cNvSpPr>
          <p:nvPr>
            <p:ph type="title"/>
          </p:nvPr>
        </p:nvSpPr>
        <p:spPr/>
        <p:txBody>
          <a:bodyPr/>
          <a:lstStyle/>
          <a:p>
            <a:r>
              <a:rPr lang="fr-FR" sz="2800" dirty="0" smtClean="0">
                <a:latin typeface="Arial" panose="020B0604020202020204" pitchFamily="34" charset="0"/>
                <a:ea typeface="MS PGothic" panose="020B0600070205080204" charset="-128"/>
                <a:cs typeface="MS PGothic" panose="020B0600070205080204" charset="-128"/>
              </a:rPr>
              <a:t>Conditions : </a:t>
            </a:r>
            <a:r>
              <a:rPr lang="fr-FR" sz="2800" dirty="0">
                <a:latin typeface="Arial" panose="020B0604020202020204" pitchFamily="34" charset="0"/>
                <a:ea typeface="MS PGothic" panose="020B0600070205080204" charset="-128"/>
                <a:cs typeface="MS PGothic" panose="020B0600070205080204" charset="-128"/>
              </a:rPr>
              <a:t>If</a:t>
            </a:r>
            <a:endParaRPr lang="fr-FR" sz="2800" dirty="0">
              <a:latin typeface="Arial" panose="020B0604020202020204" pitchFamily="34" charset="0"/>
              <a:ea typeface="MS PGothic" panose="020B0600070205080204" charset="-128"/>
              <a:cs typeface="MS PGothic" panose="020B0600070205080204" charset="-128"/>
            </a:endParaRPr>
          </a:p>
        </p:txBody>
      </p:sp>
      <p:sp>
        <p:nvSpPr>
          <p:cNvPr id="81922" name="Espace réservé du contenu 2"/>
          <p:cNvSpPr>
            <a:spLocks noGrp="1"/>
          </p:cNvSpPr>
          <p:nvPr>
            <p:ph idx="1"/>
          </p:nvPr>
        </p:nvSpPr>
        <p:spPr/>
        <p:txBody>
          <a:bodyPr/>
          <a:lstStyle/>
          <a:p>
            <a:r>
              <a:rPr lang="fr-FR" dirty="0" smtClean="0">
                <a:latin typeface="Arial" panose="020B0604020202020204" pitchFamily="34" charset="0"/>
                <a:ea typeface="MS PGothic" panose="020B0600070205080204" charset="-128"/>
                <a:cs typeface="MS PGothic" panose="020B0600070205080204" charset="-128"/>
              </a:rPr>
              <a:t>Syntaxe :</a:t>
            </a:r>
            <a:br>
              <a:rPr lang="fr-FR" dirty="0">
                <a:latin typeface="Arial" panose="020B0604020202020204" pitchFamily="34" charset="0"/>
                <a:ea typeface="MS PGothic" panose="020B0600070205080204" charset="-128"/>
                <a:cs typeface="MS PGothic" panose="020B0600070205080204" charset="-128"/>
              </a:rPr>
            </a:br>
            <a:r>
              <a:rPr lang="fr-FR" sz="2000" dirty="0">
                <a:latin typeface="Courier"/>
                <a:cs typeface="Courier"/>
              </a:rPr>
              <a:t> </a:t>
            </a:r>
            <a:r>
              <a:rPr lang="fr-FR" sz="2000" b="1" dirty="0">
                <a:latin typeface="Courier"/>
                <a:cs typeface="Courier"/>
              </a:rPr>
              <a:t>if (expression) {</a:t>
            </a:r>
            <a:endParaRPr lang="fr-FR" sz="2000" b="1" dirty="0">
              <a:latin typeface="Courier"/>
              <a:cs typeface="Courier"/>
            </a:endParaRPr>
          </a:p>
          <a:p>
            <a:pPr marL="542925" lvl="1" indent="0">
              <a:buNone/>
            </a:pPr>
            <a:r>
              <a:rPr lang="fr-FR" b="1" dirty="0">
                <a:latin typeface="Courier"/>
                <a:cs typeface="Courier"/>
              </a:rPr>
              <a:t>	</a:t>
            </a:r>
            <a:r>
              <a:rPr lang="fr-FR" b="1" dirty="0" smtClean="0">
                <a:latin typeface="Courier"/>
                <a:cs typeface="Courier"/>
              </a:rPr>
              <a:t>liste d’instructions1</a:t>
            </a:r>
            <a:endParaRPr lang="fr-FR" b="1" dirty="0">
              <a:latin typeface="Courier"/>
              <a:cs typeface="Courier"/>
            </a:endParaRPr>
          </a:p>
          <a:p>
            <a:pPr marL="542925" lvl="1" indent="0">
              <a:buNone/>
            </a:pPr>
            <a:r>
              <a:rPr lang="fr-FR" b="1" dirty="0">
                <a:latin typeface="Courier"/>
                <a:cs typeface="Courier"/>
              </a:rPr>
              <a:t>}</a:t>
            </a:r>
            <a:br>
              <a:rPr lang="fr-FR" b="1" dirty="0">
                <a:latin typeface="Courier"/>
                <a:cs typeface="Courier"/>
              </a:rPr>
            </a:br>
            <a:r>
              <a:rPr lang="fr-FR" dirty="0">
                <a:latin typeface="Courier"/>
                <a:cs typeface="Courier"/>
              </a:rPr>
              <a:t> </a:t>
            </a:r>
            <a:r>
              <a:rPr lang="fr-FR" b="1" dirty="0" smtClean="0">
                <a:latin typeface="Courier"/>
                <a:cs typeface="Courier"/>
              </a:rPr>
              <a:t>if </a:t>
            </a:r>
            <a:r>
              <a:rPr lang="fr-FR" b="1" dirty="0">
                <a:latin typeface="Courier"/>
                <a:cs typeface="Courier"/>
              </a:rPr>
              <a:t>(expression) {</a:t>
            </a:r>
            <a:endParaRPr lang="fr-FR" b="1" dirty="0">
              <a:latin typeface="Courier"/>
              <a:cs typeface="Courier"/>
            </a:endParaRPr>
          </a:p>
          <a:p>
            <a:pPr marL="542925" lvl="1" indent="0">
              <a:buNone/>
            </a:pPr>
            <a:r>
              <a:rPr lang="fr-FR" b="1" dirty="0">
                <a:latin typeface="Courier"/>
                <a:cs typeface="Courier"/>
              </a:rPr>
              <a:t>	</a:t>
            </a:r>
            <a:r>
              <a:rPr lang="fr-FR" b="1" dirty="0" smtClean="0">
                <a:latin typeface="Courier"/>
                <a:cs typeface="Courier"/>
              </a:rPr>
              <a:t>liste d’instructions1</a:t>
            </a:r>
            <a:endParaRPr lang="fr-FR" b="1" dirty="0">
              <a:latin typeface="Courier"/>
              <a:cs typeface="Courier"/>
            </a:endParaRPr>
          </a:p>
          <a:p>
            <a:pPr marL="542925" lvl="1" indent="0">
              <a:buNone/>
            </a:pPr>
            <a:r>
              <a:rPr lang="fr-FR" b="1" dirty="0">
                <a:latin typeface="Courier"/>
                <a:cs typeface="Courier"/>
              </a:rPr>
              <a:t>} else{</a:t>
            </a:r>
            <a:endParaRPr lang="fr-FR" b="1" dirty="0">
              <a:latin typeface="Courier"/>
              <a:cs typeface="Courier"/>
            </a:endParaRPr>
          </a:p>
          <a:p>
            <a:pPr marL="542925" lvl="1" indent="0">
              <a:buNone/>
            </a:pPr>
            <a:r>
              <a:rPr lang="fr-FR" b="1" dirty="0">
                <a:latin typeface="Courier"/>
                <a:cs typeface="Courier"/>
              </a:rPr>
              <a:t>	</a:t>
            </a:r>
            <a:r>
              <a:rPr lang="fr-FR" b="1" dirty="0" smtClean="0">
                <a:latin typeface="Courier"/>
                <a:cs typeface="Courier"/>
              </a:rPr>
              <a:t>liste d’instructions2</a:t>
            </a:r>
            <a:endParaRPr lang="fr-FR" b="1" dirty="0">
              <a:latin typeface="Courier"/>
              <a:cs typeface="Courier"/>
            </a:endParaRPr>
          </a:p>
          <a:p>
            <a:pPr marL="542925" lvl="1" indent="0">
              <a:buNone/>
            </a:pPr>
            <a:r>
              <a:rPr lang="fr-FR" b="1" dirty="0">
                <a:latin typeface="Courier"/>
                <a:cs typeface="Courier"/>
              </a:rPr>
              <a:t>} </a:t>
            </a:r>
            <a:endParaRPr lang="fr-FR" b="1" dirty="0">
              <a:latin typeface="Courier"/>
              <a:cs typeface="Courier"/>
            </a:endParaRPr>
          </a:p>
          <a:p>
            <a:pPr marL="0" indent="0">
              <a:buNone/>
            </a:pPr>
            <a:endParaRPr lang="fr-FR" sz="1000" b="1" dirty="0">
              <a:latin typeface="Arial" panose="020B0604020202020204" pitchFamily="34" charset="0"/>
              <a:ea typeface="MS PGothic" panose="020B0600070205080204" charset="-128"/>
              <a:cs typeface="MS PGothic" panose="020B0600070205080204" charset="-128"/>
            </a:endParaRPr>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Conditions : instruction ternaire</a:t>
            </a:r>
            <a:endParaRPr lang="en-US" sz="2800" dirty="0"/>
          </a:p>
        </p:txBody>
      </p:sp>
      <p:sp>
        <p:nvSpPr>
          <p:cNvPr id="3" name="Content Placeholder 2"/>
          <p:cNvSpPr>
            <a:spLocks noGrp="1"/>
          </p:cNvSpPr>
          <p:nvPr>
            <p:ph idx="1"/>
          </p:nvPr>
        </p:nvSpPr>
        <p:spPr/>
        <p:txBody>
          <a:bodyPr/>
          <a:lstStyle/>
          <a:p>
            <a:r>
              <a:rPr lang="en-US" dirty="0" smtClean="0"/>
              <a:t>Syntaxe :</a:t>
            </a:r>
            <a:endParaRPr lang="en-US" dirty="0"/>
          </a:p>
          <a:p>
            <a:pPr marL="0" indent="0">
              <a:buNone/>
            </a:pPr>
            <a:r>
              <a:rPr lang="en-US" b="1" dirty="0">
                <a:latin typeface="Courier"/>
                <a:cs typeface="Courier"/>
              </a:rPr>
              <a:t>expression1 ? expression2 : expression3;</a:t>
            </a:r>
            <a:r>
              <a:rPr lang="en-US" dirty="0"/>
              <a:t> </a:t>
            </a:r>
            <a:endParaRPr lang="en-US" dirty="0"/>
          </a:p>
          <a:p>
            <a:endParaRPr lang="en-US" dirty="0"/>
          </a:p>
          <a:p>
            <a:r>
              <a:rPr lang="fr-FR" dirty="0"/>
              <a:t>La valeur d'une instruction ternaire (comme un multiplexeur ?) est déterminée de la manière suivante </a:t>
            </a:r>
            <a:r>
              <a:rPr lang="en-US" dirty="0" smtClean="0"/>
              <a:t>:</a:t>
            </a:r>
            <a:endParaRPr lang="en-US" dirty="0"/>
          </a:p>
          <a:p>
            <a:pPr lvl="1"/>
            <a:r>
              <a:rPr lang="en-US" b="1" dirty="0">
                <a:latin typeface="Courier"/>
                <a:cs typeface="Courier"/>
              </a:rPr>
              <a:t>expression1</a:t>
            </a:r>
            <a:r>
              <a:rPr lang="en-US" dirty="0"/>
              <a:t> </a:t>
            </a:r>
            <a:r>
              <a:rPr lang="en-US" dirty="0" smtClean="0"/>
              <a:t>est évaluée. </a:t>
            </a:r>
            <a:endParaRPr lang="en-US" dirty="0"/>
          </a:p>
          <a:p>
            <a:pPr lvl="1"/>
            <a:r>
              <a:rPr lang="en-US" dirty="0" smtClean="0"/>
              <a:t>Si c’est vrai, alors </a:t>
            </a:r>
            <a:r>
              <a:rPr lang="en-US" b="1" dirty="0">
                <a:latin typeface="Courier"/>
                <a:cs typeface="Courier"/>
              </a:rPr>
              <a:t>expression2</a:t>
            </a:r>
            <a:r>
              <a:rPr lang="en-US" dirty="0"/>
              <a:t> </a:t>
            </a:r>
            <a:r>
              <a:rPr lang="fr-FR" dirty="0"/>
              <a:t>est </a:t>
            </a:r>
            <a:r>
              <a:rPr lang="fr-FR" dirty="0" smtClean="0"/>
              <a:t>évaluée </a:t>
            </a:r>
            <a:r>
              <a:rPr lang="fr-FR" dirty="0"/>
              <a:t>et devient le résultat de l'expression entière.</a:t>
            </a:r>
            <a:endParaRPr lang="fr-FR" dirty="0"/>
          </a:p>
          <a:p>
            <a:pPr lvl="1"/>
            <a:r>
              <a:rPr lang="en-US" dirty="0" smtClean="0"/>
              <a:t>Si c’est faux, alors </a:t>
            </a:r>
            <a:r>
              <a:rPr lang="en-US" b="1" dirty="0">
                <a:latin typeface="Courier"/>
                <a:cs typeface="Courier"/>
              </a:rPr>
              <a:t>expression3</a:t>
            </a:r>
            <a:r>
              <a:rPr lang="en-US" dirty="0"/>
              <a:t> </a:t>
            </a:r>
            <a:r>
              <a:rPr lang="en-US" dirty="0" smtClean="0"/>
              <a:t>est évaluée et sa valeur devient le résultat de l’expression</a:t>
            </a:r>
            <a:r>
              <a:rPr lang="en-US" dirty="0"/>
              <a:t>.</a:t>
            </a:r>
            <a:endParaRPr lang="en-US" dirty="0"/>
          </a:p>
          <a:p>
            <a:endParaRPr lang="en-US" dirty="0"/>
          </a:p>
        </p:txBody>
      </p:sp>
      <p:sp>
        <p:nvSpPr>
          <p:cNvPr id="6"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8"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re 1"/>
          <p:cNvSpPr>
            <a:spLocks noGrp="1"/>
          </p:cNvSpPr>
          <p:nvPr>
            <p:ph type="title"/>
          </p:nvPr>
        </p:nvSpPr>
        <p:spPr/>
        <p:txBody>
          <a:bodyPr/>
          <a:lstStyle/>
          <a:p>
            <a:r>
              <a:rPr lang="fr-FR" sz="2800" dirty="0" smtClean="0">
                <a:latin typeface="Arial" panose="020B0604020202020204" pitchFamily="34" charset="0"/>
                <a:ea typeface="MS PGothic" panose="020B0600070205080204" charset="-128"/>
                <a:cs typeface="MS PGothic" panose="020B0600070205080204" charset="-128"/>
              </a:rPr>
              <a:t>Conditions : </a:t>
            </a:r>
            <a:r>
              <a:rPr lang="fr-FR" sz="2800" dirty="0">
                <a:latin typeface="Arial" panose="020B0604020202020204" pitchFamily="34" charset="0"/>
                <a:ea typeface="MS PGothic" panose="020B0600070205080204" charset="-128"/>
                <a:cs typeface="MS PGothic" panose="020B0600070205080204" charset="-128"/>
              </a:rPr>
              <a:t>switch </a:t>
            </a:r>
            <a:r>
              <a:rPr lang="fr-FR" sz="2800" dirty="0">
                <a:latin typeface="Arial" panose="020B0604020202020204" pitchFamily="34" charset="0"/>
                <a:cs typeface="MS PGothic" panose="020B0600070205080204" charset="-128"/>
              </a:rPr>
              <a:t>- </a:t>
            </a:r>
            <a:r>
              <a:rPr lang="fr-FR" sz="2800" dirty="0">
                <a:latin typeface="Arial" panose="020B0604020202020204" pitchFamily="34" charset="0"/>
                <a:ea typeface="MS PGothic" panose="020B0600070205080204" charset="-128"/>
                <a:cs typeface="MS PGothic" panose="020B0600070205080204" charset="-128"/>
              </a:rPr>
              <a:t>case</a:t>
            </a:r>
            <a:endParaRPr lang="fr-FR" sz="2800" dirty="0">
              <a:latin typeface="Arial" panose="020B0604020202020204" pitchFamily="34" charset="0"/>
              <a:ea typeface="MS PGothic" panose="020B0600070205080204" charset="-128"/>
              <a:cs typeface="MS PGothic" panose="020B0600070205080204" charset="-128"/>
            </a:endParaRPr>
          </a:p>
        </p:txBody>
      </p:sp>
      <p:sp>
        <p:nvSpPr>
          <p:cNvPr id="81922" name="Espace réservé du contenu 2"/>
          <p:cNvSpPr>
            <a:spLocks noGrp="1"/>
          </p:cNvSpPr>
          <p:nvPr>
            <p:ph idx="1"/>
          </p:nvPr>
        </p:nvSpPr>
        <p:spPr/>
        <p:txBody>
          <a:bodyPr/>
          <a:lstStyle/>
          <a:p>
            <a:r>
              <a:rPr lang="fr-FR" dirty="0" smtClean="0">
                <a:latin typeface="Arial" panose="020B0604020202020204" pitchFamily="34" charset="0"/>
                <a:ea typeface="MS PGothic" panose="020B0600070205080204" charset="-128"/>
                <a:cs typeface="MS PGothic" panose="020B0600070205080204" charset="-128"/>
              </a:rPr>
              <a:t>Syntaxe:</a:t>
            </a:r>
            <a:br>
              <a:rPr lang="fr-FR" dirty="0">
                <a:latin typeface="Arial" panose="020B0604020202020204" pitchFamily="34" charset="0"/>
                <a:ea typeface="MS PGothic" panose="020B0600070205080204" charset="-128"/>
                <a:cs typeface="MS PGothic" panose="020B0600070205080204" charset="-128"/>
              </a:rPr>
            </a:br>
            <a:r>
              <a:rPr lang="fr-FR" sz="2000" dirty="0">
                <a:latin typeface="Courier"/>
                <a:cs typeface="Courier"/>
              </a:rPr>
              <a:t> </a:t>
            </a:r>
            <a:r>
              <a:rPr lang="fr-FR" sz="2000" b="1" dirty="0">
                <a:latin typeface="Courier"/>
                <a:cs typeface="Courier"/>
              </a:rPr>
              <a:t>switch(expression) {</a:t>
            </a:r>
            <a:endParaRPr lang="fr-FR" sz="2000" b="1" dirty="0">
              <a:latin typeface="Courier"/>
              <a:cs typeface="Courier"/>
            </a:endParaRPr>
          </a:p>
          <a:p>
            <a:pPr marL="542925" lvl="1" indent="0">
              <a:buNone/>
            </a:pPr>
            <a:r>
              <a:rPr lang="fr-FR" b="1" dirty="0">
                <a:latin typeface="Courier"/>
                <a:cs typeface="Courier"/>
              </a:rPr>
              <a:t>	case constant-expression1: </a:t>
            </a:r>
            <a:endParaRPr lang="fr-FR" b="1" dirty="0">
              <a:latin typeface="Courier"/>
              <a:cs typeface="Courier"/>
            </a:endParaRPr>
          </a:p>
          <a:p>
            <a:pPr marL="542925" lvl="1" indent="0">
              <a:buNone/>
            </a:pPr>
            <a:r>
              <a:rPr lang="fr-FR" b="1" dirty="0">
                <a:latin typeface="Courier"/>
                <a:cs typeface="Courier"/>
              </a:rPr>
              <a:t>		</a:t>
            </a:r>
            <a:r>
              <a:rPr lang="fr-FR" b="1" dirty="0" smtClean="0">
                <a:latin typeface="Courier"/>
                <a:cs typeface="Courier"/>
              </a:rPr>
              <a:t>liste d’instructions1 </a:t>
            </a:r>
            <a:r>
              <a:rPr lang="fr-FR" b="1" dirty="0">
                <a:latin typeface="Courier"/>
                <a:cs typeface="Courier"/>
              </a:rPr>
              <a:t>;</a:t>
            </a:r>
            <a:endParaRPr lang="fr-FR" b="1" dirty="0">
              <a:latin typeface="Courier"/>
              <a:cs typeface="Courier"/>
            </a:endParaRPr>
          </a:p>
          <a:p>
            <a:pPr marL="542925" lvl="1" indent="0">
              <a:buNone/>
            </a:pPr>
            <a:r>
              <a:rPr lang="fr-FR" b="1" dirty="0">
                <a:latin typeface="Courier"/>
                <a:cs typeface="Courier"/>
              </a:rPr>
              <a:t>		break ; 				</a:t>
            </a:r>
            <a:r>
              <a:rPr lang="fr-FR" dirty="0">
                <a:cs typeface="Courier"/>
              </a:rPr>
              <a:t>(</a:t>
            </a:r>
            <a:r>
              <a:rPr lang="fr-FR" dirty="0" smtClean="0">
                <a:cs typeface="Courier"/>
              </a:rPr>
              <a:t>optionnel</a:t>
            </a:r>
            <a:r>
              <a:rPr lang="fr-FR" dirty="0">
                <a:cs typeface="Courier"/>
              </a:rPr>
              <a:t>)</a:t>
            </a:r>
            <a:endParaRPr lang="fr-FR" dirty="0">
              <a:cs typeface="Courier"/>
            </a:endParaRPr>
          </a:p>
          <a:p>
            <a:pPr marL="542925" lvl="1" indent="0">
              <a:buNone/>
            </a:pPr>
            <a:r>
              <a:rPr lang="fr-FR" b="1" dirty="0">
                <a:latin typeface="Courier"/>
                <a:cs typeface="Courier"/>
              </a:rPr>
              <a:t>	case constant-expression2:</a:t>
            </a:r>
            <a:br>
              <a:rPr lang="fr-FR" b="1" dirty="0">
                <a:latin typeface="Courier"/>
                <a:cs typeface="Courier"/>
              </a:rPr>
            </a:br>
            <a:r>
              <a:rPr lang="fr-FR" dirty="0">
                <a:latin typeface="Courier"/>
                <a:cs typeface="Courier"/>
              </a:rPr>
              <a:t> </a:t>
            </a:r>
            <a:r>
              <a:rPr lang="fr-FR" b="1" dirty="0">
                <a:latin typeface="Courier"/>
                <a:cs typeface="Courier"/>
              </a:rPr>
              <a:t>		</a:t>
            </a:r>
            <a:r>
              <a:rPr lang="fr-FR" b="1" dirty="0" smtClean="0">
                <a:latin typeface="Courier"/>
                <a:cs typeface="Courier"/>
              </a:rPr>
              <a:t>liste d’instruction2 </a:t>
            </a:r>
            <a:r>
              <a:rPr lang="fr-FR" b="1" dirty="0">
                <a:latin typeface="Courier"/>
                <a:cs typeface="Courier"/>
              </a:rPr>
              <a:t>;</a:t>
            </a:r>
            <a:endParaRPr lang="fr-FR" b="1" dirty="0">
              <a:latin typeface="Courier"/>
              <a:cs typeface="Courier"/>
            </a:endParaRPr>
          </a:p>
          <a:p>
            <a:pPr marL="542925" lvl="1" indent="0">
              <a:buNone/>
            </a:pPr>
            <a:r>
              <a:rPr lang="fr-FR" b="1" dirty="0">
                <a:latin typeface="Courier"/>
                <a:cs typeface="Courier"/>
              </a:rPr>
              <a:t>		break ;</a:t>
            </a:r>
            <a:endParaRPr lang="fr-FR" b="1" dirty="0">
              <a:latin typeface="Courier"/>
              <a:cs typeface="Courier"/>
            </a:endParaRPr>
          </a:p>
          <a:p>
            <a:pPr marL="542925" lvl="1" indent="0">
              <a:buNone/>
            </a:pPr>
            <a:r>
              <a:rPr lang="fr-FR" b="1" dirty="0">
                <a:latin typeface="Courier"/>
                <a:cs typeface="Courier"/>
              </a:rPr>
              <a:t>	default: 					</a:t>
            </a:r>
            <a:r>
              <a:rPr lang="fr-FR" dirty="0">
                <a:cs typeface="Courier"/>
              </a:rPr>
              <a:t>(</a:t>
            </a:r>
            <a:r>
              <a:rPr lang="fr-FR" dirty="0" smtClean="0">
                <a:cs typeface="Courier"/>
              </a:rPr>
              <a:t>optionnel</a:t>
            </a:r>
            <a:r>
              <a:rPr lang="fr-FR" dirty="0">
                <a:cs typeface="Courier"/>
              </a:rPr>
              <a:t>)</a:t>
            </a:r>
            <a:endParaRPr lang="fr-FR" dirty="0">
              <a:cs typeface="Courier"/>
            </a:endParaRPr>
          </a:p>
          <a:p>
            <a:pPr marL="542925" lvl="1" indent="0">
              <a:buNone/>
            </a:pPr>
            <a:r>
              <a:rPr lang="fr-FR" dirty="0">
                <a:latin typeface="Courier"/>
                <a:cs typeface="Courier"/>
              </a:rPr>
              <a:t> </a:t>
            </a:r>
            <a:r>
              <a:rPr lang="fr-FR" b="1" dirty="0">
                <a:latin typeface="Courier"/>
                <a:cs typeface="Courier"/>
              </a:rPr>
              <a:t>		</a:t>
            </a:r>
            <a:r>
              <a:rPr lang="fr-FR" b="1" dirty="0" smtClean="0">
                <a:latin typeface="Courier"/>
                <a:cs typeface="Courier"/>
              </a:rPr>
              <a:t>liste d’instructions3 </a:t>
            </a:r>
            <a:r>
              <a:rPr lang="fr-FR" b="1" dirty="0">
                <a:latin typeface="Courier"/>
                <a:cs typeface="Courier"/>
              </a:rPr>
              <a:t>;</a:t>
            </a:r>
            <a:endParaRPr lang="fr-FR" b="1" dirty="0">
              <a:latin typeface="Courier"/>
              <a:cs typeface="Courier"/>
            </a:endParaRPr>
          </a:p>
          <a:p>
            <a:pPr marL="542925" lvl="1" indent="0">
              <a:buNone/>
            </a:pPr>
            <a:r>
              <a:rPr lang="fr-FR" b="1" dirty="0">
                <a:latin typeface="Courier"/>
                <a:cs typeface="Courier"/>
              </a:rPr>
              <a:t>} </a:t>
            </a:r>
            <a:endParaRPr lang="fr-FR" b="1" dirty="0">
              <a:latin typeface="Courier"/>
              <a:cs typeface="Courier"/>
            </a:endParaRPr>
          </a:p>
          <a:p>
            <a:pPr marL="0" indent="0">
              <a:buNone/>
            </a:pPr>
            <a:endParaRPr lang="fr-FR" sz="1000" b="1" dirty="0">
              <a:latin typeface="Arial" panose="020B0604020202020204" pitchFamily="34" charset="0"/>
              <a:ea typeface="MS PGothic" panose="020B0600070205080204" charset="-128"/>
              <a:cs typeface="MS PGothic" panose="020B0600070205080204" charset="-128"/>
            </a:endParaRPr>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re 1"/>
          <p:cNvSpPr>
            <a:spLocks noGrp="1"/>
          </p:cNvSpPr>
          <p:nvPr>
            <p:ph type="title"/>
          </p:nvPr>
        </p:nvSpPr>
        <p:spPr/>
        <p:txBody>
          <a:bodyPr/>
          <a:lstStyle/>
          <a:p>
            <a:r>
              <a:rPr lang="fr-FR" sz="2800" dirty="0" smtClean="0">
                <a:latin typeface="Arial" panose="020B0604020202020204" pitchFamily="34" charset="0"/>
                <a:cs typeface="MS PGothic" panose="020B0600070205080204" charset="-128"/>
              </a:rPr>
              <a:t>Boucles</a:t>
            </a:r>
            <a:endParaRPr lang="fr-FR" sz="2800" dirty="0">
              <a:latin typeface="Arial" panose="020B0604020202020204" pitchFamily="34" charset="0"/>
              <a:cs typeface="MS PGothic" panose="020B0600070205080204" charset="-128"/>
            </a:endParaRPr>
          </a:p>
        </p:txBody>
      </p:sp>
      <p:sp>
        <p:nvSpPr>
          <p:cNvPr id="3" name="Espace réservé du contenu 2"/>
          <p:cNvSpPr>
            <a:spLocks noGrp="1"/>
          </p:cNvSpPr>
          <p:nvPr>
            <p:ph idx="1"/>
          </p:nvPr>
        </p:nvSpPr>
        <p:spPr>
          <a:xfrm>
            <a:off x="323528" y="908720"/>
            <a:ext cx="8820472" cy="4537075"/>
          </a:xfrm>
        </p:spPr>
        <p:txBody>
          <a:bodyPr/>
          <a:lstStyle/>
          <a:p>
            <a:pPr>
              <a:defRPr/>
            </a:pPr>
            <a:r>
              <a:rPr lang="fr-FR" dirty="0" smtClean="0"/>
              <a:t>Syntaxe </a:t>
            </a:r>
            <a:r>
              <a:rPr lang="fr-FR" dirty="0"/>
              <a:t>while</a:t>
            </a:r>
            <a:br>
              <a:rPr lang="fr-FR" dirty="0"/>
            </a:br>
            <a:r>
              <a:rPr lang="fr-FR" sz="2000" dirty="0">
                <a:latin typeface="Courier"/>
                <a:cs typeface="Courier"/>
              </a:rPr>
              <a:t> </a:t>
            </a:r>
            <a:r>
              <a:rPr lang="fr-FR" sz="2000" b="1" dirty="0" err="1">
                <a:latin typeface="Courier"/>
                <a:cs typeface="Courier"/>
              </a:rPr>
              <a:t>while</a:t>
            </a:r>
            <a:r>
              <a:rPr lang="fr-FR" sz="2000" b="1" dirty="0">
                <a:latin typeface="Courier"/>
                <a:cs typeface="Courier"/>
              </a:rPr>
              <a:t> (expression) {</a:t>
            </a:r>
            <a:endParaRPr lang="fr-FR" sz="2000" b="1" dirty="0">
              <a:latin typeface="Courier"/>
              <a:cs typeface="Courier"/>
            </a:endParaRPr>
          </a:p>
          <a:p>
            <a:pPr marL="0" indent="0">
              <a:buNone/>
              <a:defRPr/>
            </a:pPr>
            <a:r>
              <a:rPr lang="fr-FR" sz="2000" b="1" dirty="0">
                <a:latin typeface="Courier"/>
                <a:cs typeface="Courier"/>
              </a:rPr>
              <a:t>	</a:t>
            </a:r>
            <a:r>
              <a:rPr lang="fr-FR" sz="2000" b="1" dirty="0" smtClean="0">
                <a:latin typeface="Courier"/>
                <a:cs typeface="Courier"/>
              </a:rPr>
              <a:t>liste d’instructions </a:t>
            </a:r>
            <a:r>
              <a:rPr lang="fr-FR" sz="2000" b="1" dirty="0">
                <a:latin typeface="Courier"/>
                <a:cs typeface="Courier"/>
              </a:rPr>
              <a:t>;</a:t>
            </a:r>
            <a:endParaRPr lang="fr-FR" sz="2000" b="1" dirty="0">
              <a:latin typeface="Courier"/>
              <a:cs typeface="Courier"/>
            </a:endParaRPr>
          </a:p>
          <a:p>
            <a:pPr marL="0" indent="0">
              <a:buNone/>
              <a:defRPr/>
            </a:pPr>
            <a:r>
              <a:rPr lang="fr-FR" sz="2000" b="1" dirty="0">
                <a:latin typeface="Courier"/>
                <a:cs typeface="Courier"/>
              </a:rPr>
              <a:t>     }</a:t>
            </a:r>
            <a:endParaRPr lang="fr-FR" sz="2000" b="1" dirty="0">
              <a:latin typeface="Courier"/>
              <a:cs typeface="Courier"/>
            </a:endParaRPr>
          </a:p>
          <a:p>
            <a:pPr>
              <a:defRPr/>
            </a:pPr>
            <a:r>
              <a:rPr lang="fr-FR" dirty="0" smtClean="0"/>
              <a:t>Syntaxe </a:t>
            </a:r>
            <a:r>
              <a:rPr lang="fr-FR" dirty="0"/>
              <a:t>do-</a:t>
            </a:r>
            <a:r>
              <a:rPr lang="fr-FR" dirty="0" err="1"/>
              <a:t>while</a:t>
            </a:r>
            <a:br>
              <a:rPr lang="fr-FR" dirty="0"/>
            </a:br>
            <a:r>
              <a:rPr lang="fr-FR" sz="2000" b="1" dirty="0">
                <a:latin typeface="Courier"/>
                <a:cs typeface="Courier"/>
              </a:rPr>
              <a:t>do {</a:t>
            </a:r>
            <a:endParaRPr lang="fr-FR" sz="2000" b="1" dirty="0">
              <a:latin typeface="Courier"/>
              <a:cs typeface="Courier"/>
            </a:endParaRPr>
          </a:p>
          <a:p>
            <a:pPr marL="0" indent="0">
              <a:buNone/>
              <a:defRPr/>
            </a:pPr>
            <a:r>
              <a:rPr lang="fr-FR" sz="2000" b="1" dirty="0">
                <a:latin typeface="Courier"/>
                <a:cs typeface="Courier"/>
              </a:rPr>
              <a:t>	</a:t>
            </a:r>
            <a:r>
              <a:rPr lang="fr-FR" sz="2000" b="1" dirty="0" smtClean="0">
                <a:latin typeface="Courier"/>
                <a:cs typeface="Courier"/>
              </a:rPr>
              <a:t>liste d’instructions</a:t>
            </a:r>
            <a:endParaRPr lang="fr-FR" sz="2000" b="1" dirty="0">
              <a:latin typeface="Courier"/>
              <a:cs typeface="Courier"/>
            </a:endParaRPr>
          </a:p>
          <a:p>
            <a:pPr marL="0" indent="0">
              <a:buNone/>
              <a:defRPr/>
            </a:pPr>
            <a:r>
              <a:rPr lang="fr-FR" sz="2000" b="1" dirty="0">
                <a:latin typeface="Courier"/>
                <a:cs typeface="Courier"/>
              </a:rPr>
              <a:t>     } while (expression) ;</a:t>
            </a:r>
            <a:endParaRPr lang="fr-FR" sz="2000" b="1" dirty="0">
              <a:latin typeface="Courier"/>
              <a:cs typeface="Courier"/>
            </a:endParaRPr>
          </a:p>
          <a:p>
            <a:pPr>
              <a:defRPr/>
            </a:pPr>
            <a:endParaRPr lang="fr-FR" sz="1000" dirty="0"/>
          </a:p>
          <a:p>
            <a:pPr>
              <a:defRPr/>
            </a:pPr>
            <a:r>
              <a:rPr lang="fr-FR" dirty="0" smtClean="0"/>
              <a:t>Syntaxe </a:t>
            </a:r>
            <a:r>
              <a:rPr lang="fr-FR" dirty="0"/>
              <a:t>for</a:t>
            </a:r>
            <a:br>
              <a:rPr lang="fr-FR" dirty="0"/>
            </a:br>
            <a:r>
              <a:rPr lang="fr-FR" dirty="0"/>
              <a:t> </a:t>
            </a:r>
            <a:r>
              <a:rPr lang="fr-FR" sz="2000" b="1" dirty="0">
                <a:latin typeface="Courier"/>
                <a:cs typeface="Courier"/>
              </a:rPr>
              <a:t>for(expression1; expression2; expression3) { </a:t>
            </a:r>
            <a:endParaRPr lang="fr-FR" sz="2000" b="1" dirty="0">
              <a:latin typeface="Courier"/>
              <a:cs typeface="Courier"/>
            </a:endParaRPr>
          </a:p>
          <a:p>
            <a:pPr marL="0" indent="0">
              <a:buNone/>
              <a:defRPr/>
            </a:pPr>
            <a:r>
              <a:rPr lang="fr-FR" sz="2000" b="1" dirty="0">
                <a:latin typeface="Courier"/>
                <a:cs typeface="Courier"/>
              </a:rPr>
              <a:t>	</a:t>
            </a:r>
            <a:r>
              <a:rPr lang="fr-FR" sz="2000" b="1" dirty="0" smtClean="0">
                <a:latin typeface="Courier"/>
                <a:cs typeface="Courier"/>
              </a:rPr>
              <a:t>liste d’instructions </a:t>
            </a:r>
            <a:r>
              <a:rPr lang="fr-FR" sz="2000" b="1" dirty="0">
                <a:latin typeface="Courier"/>
                <a:cs typeface="Courier"/>
              </a:rPr>
              <a:t>;</a:t>
            </a:r>
            <a:endParaRPr lang="fr-FR" sz="2000" b="1" dirty="0">
              <a:latin typeface="Courier"/>
              <a:cs typeface="Courier"/>
            </a:endParaRPr>
          </a:p>
          <a:p>
            <a:pPr marL="0" indent="0">
              <a:buNone/>
              <a:defRPr/>
            </a:pPr>
            <a:r>
              <a:rPr lang="fr-FR" sz="2000" b="1" dirty="0">
                <a:latin typeface="Courier"/>
                <a:cs typeface="Courier"/>
              </a:rPr>
              <a:t>   }</a:t>
            </a:r>
            <a:endParaRPr lang="fr-FR" sz="2000" b="1" dirty="0">
              <a:latin typeface="Courier"/>
              <a:cs typeface="Courier"/>
            </a:endParaRPr>
          </a:p>
          <a:p>
            <a:pPr lvl="1">
              <a:defRPr/>
            </a:pPr>
            <a:r>
              <a:rPr lang="fr-FR" b="1" dirty="0">
                <a:latin typeface="Courier"/>
                <a:cs typeface="Courier"/>
              </a:rPr>
              <a:t>expression1</a:t>
            </a:r>
            <a:r>
              <a:rPr lang="fr-FR" dirty="0">
                <a:cs typeface="Courier"/>
              </a:rPr>
              <a:t>: </a:t>
            </a:r>
            <a:r>
              <a:rPr lang="fr-FR" dirty="0" smtClean="0">
                <a:cs typeface="Courier"/>
              </a:rPr>
              <a:t>initialisation</a:t>
            </a:r>
            <a:endParaRPr lang="fr-FR" dirty="0">
              <a:cs typeface="Courier"/>
            </a:endParaRPr>
          </a:p>
          <a:p>
            <a:pPr lvl="1">
              <a:defRPr/>
            </a:pPr>
            <a:r>
              <a:rPr lang="fr-FR" b="1" dirty="0">
                <a:latin typeface="Courier"/>
                <a:cs typeface="Courier"/>
              </a:rPr>
              <a:t>expression2</a:t>
            </a:r>
            <a:r>
              <a:rPr lang="fr-FR" dirty="0">
                <a:cs typeface="Courier"/>
              </a:rPr>
              <a:t>: condition of </a:t>
            </a:r>
            <a:r>
              <a:rPr lang="fr-FR" dirty="0" smtClean="0">
                <a:cs typeface="Courier"/>
              </a:rPr>
              <a:t>terminaison</a:t>
            </a:r>
            <a:endParaRPr lang="fr-FR" dirty="0">
              <a:cs typeface="Courier"/>
            </a:endParaRPr>
          </a:p>
          <a:p>
            <a:pPr lvl="1">
              <a:defRPr/>
            </a:pPr>
            <a:r>
              <a:rPr lang="fr-FR" b="1" dirty="0">
                <a:latin typeface="Courier"/>
                <a:cs typeface="Courier"/>
              </a:rPr>
              <a:t>expression3</a:t>
            </a:r>
            <a:r>
              <a:rPr lang="fr-FR" dirty="0">
                <a:cs typeface="Courier"/>
              </a:rPr>
              <a:t>: </a:t>
            </a:r>
            <a:r>
              <a:rPr lang="fr-FR" dirty="0" smtClean="0">
                <a:cs typeface="Courier"/>
              </a:rPr>
              <a:t>étape</a:t>
            </a:r>
            <a:endParaRPr lang="fr-FR" dirty="0">
              <a:cs typeface="Courier"/>
            </a:endParaRPr>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re 1"/>
          <p:cNvSpPr>
            <a:spLocks noGrp="1"/>
          </p:cNvSpPr>
          <p:nvPr>
            <p:ph type="title"/>
          </p:nvPr>
        </p:nvSpPr>
        <p:spPr/>
        <p:txBody>
          <a:bodyPr/>
          <a:lstStyle/>
          <a:p>
            <a:r>
              <a:rPr lang="fr-FR" sz="2800" dirty="0">
                <a:latin typeface="Arial" panose="020B0604020202020204" pitchFamily="34" charset="0"/>
                <a:cs typeface="MS PGothic" panose="020B0600070205080204" charset="-128"/>
              </a:rPr>
              <a:t>Les boucles : Instructions de contrôle</a:t>
            </a:r>
            <a:endParaRPr lang="fr-FR" sz="2800" dirty="0">
              <a:latin typeface="Arial" panose="020B0604020202020204" pitchFamily="34" charset="0"/>
              <a:cs typeface="MS PGothic" panose="020B0600070205080204" charset="-128"/>
            </a:endParaRPr>
          </a:p>
        </p:txBody>
      </p:sp>
      <p:sp>
        <p:nvSpPr>
          <p:cNvPr id="3" name="Espace réservé du contenu 2"/>
          <p:cNvSpPr>
            <a:spLocks noGrp="1"/>
          </p:cNvSpPr>
          <p:nvPr>
            <p:ph idx="1"/>
          </p:nvPr>
        </p:nvSpPr>
        <p:spPr>
          <a:xfrm>
            <a:off x="323528" y="944153"/>
            <a:ext cx="8820472" cy="4537075"/>
          </a:xfrm>
        </p:spPr>
        <p:txBody>
          <a:bodyPr/>
          <a:lstStyle/>
          <a:p>
            <a:pPr>
              <a:defRPr/>
            </a:pPr>
            <a:r>
              <a:rPr lang="fr-FR" dirty="0"/>
              <a:t>Modifier l'exécution de sa séquence normale</a:t>
            </a:r>
            <a:endParaRPr lang="en-GB" dirty="0"/>
          </a:p>
          <a:p>
            <a:pPr>
              <a:defRPr/>
            </a:pPr>
            <a:endParaRPr lang="en-GB" dirty="0"/>
          </a:p>
          <a:p>
            <a:pPr>
              <a:defRPr/>
            </a:pPr>
            <a:r>
              <a:rPr lang="en-GB" dirty="0"/>
              <a:t>Instruction </a:t>
            </a:r>
            <a:r>
              <a:rPr lang="en-GB" b="1" dirty="0">
                <a:latin typeface="Courier"/>
                <a:cs typeface="Courier"/>
              </a:rPr>
              <a:t>break;</a:t>
            </a:r>
            <a:endParaRPr lang="en-GB" b="1" dirty="0">
              <a:latin typeface="Courier"/>
              <a:cs typeface="Courier"/>
            </a:endParaRPr>
          </a:p>
          <a:p>
            <a:pPr lvl="1">
              <a:defRPr/>
            </a:pPr>
            <a:r>
              <a:rPr lang="fr-FR" dirty="0"/>
              <a:t>Termine </a:t>
            </a:r>
            <a:r>
              <a:rPr lang="fr-FR" b="1" dirty="0"/>
              <a:t>la boucle</a:t>
            </a:r>
            <a:r>
              <a:rPr lang="fr-FR" dirty="0"/>
              <a:t> ou l'instruction </a:t>
            </a:r>
            <a:r>
              <a:rPr lang="fr-FR" b="1" dirty="0"/>
              <a:t>switch</a:t>
            </a:r>
            <a:r>
              <a:rPr lang="fr-FR" dirty="0"/>
              <a:t> </a:t>
            </a:r>
            <a:r>
              <a:rPr lang="en-GB" dirty="0" smtClean="0"/>
              <a:t> </a:t>
            </a:r>
            <a:endParaRPr lang="en-GB" dirty="0"/>
          </a:p>
          <a:p>
            <a:pPr lvl="1">
              <a:defRPr/>
            </a:pPr>
            <a:r>
              <a:rPr lang="fr-FR" dirty="0"/>
              <a:t>Transfère l'exécution à l'instruction qui suit immédiatement la FIN de la boucle ou </a:t>
            </a:r>
            <a:r>
              <a:rPr lang="fr-FR" dirty="0" smtClean="0"/>
              <a:t>de </a:t>
            </a:r>
            <a:r>
              <a:rPr lang="en-GB" dirty="0" smtClean="0"/>
              <a:t>switch</a:t>
            </a:r>
            <a:r>
              <a:rPr lang="en-GB" dirty="0"/>
              <a:t>.</a:t>
            </a:r>
            <a:endParaRPr lang="en-GB" dirty="0"/>
          </a:p>
          <a:p>
            <a:pPr lvl="1">
              <a:defRPr/>
            </a:pPr>
            <a:endParaRPr lang="en-GB" sz="1000" b="1" dirty="0"/>
          </a:p>
          <a:p>
            <a:pPr>
              <a:defRPr/>
            </a:pPr>
            <a:r>
              <a:rPr lang="en-GB" dirty="0"/>
              <a:t>Instruction </a:t>
            </a:r>
            <a:r>
              <a:rPr lang="en-GB" b="1" dirty="0">
                <a:latin typeface="Courier"/>
                <a:cs typeface="Courier"/>
              </a:rPr>
              <a:t>continue;</a:t>
            </a:r>
            <a:endParaRPr lang="en-GB" b="1" dirty="0">
              <a:latin typeface="Courier"/>
              <a:cs typeface="Courier"/>
            </a:endParaRPr>
          </a:p>
          <a:p>
            <a:pPr lvl="1">
              <a:defRPr/>
            </a:pPr>
            <a:r>
              <a:rPr lang="fr-FR" dirty="0"/>
              <a:t>Permet à la boucle de sauter le reste </a:t>
            </a:r>
            <a:r>
              <a:rPr lang="fr-FR" dirty="0" smtClean="0"/>
              <a:t>du CORPS</a:t>
            </a:r>
            <a:endParaRPr lang="en-GB" dirty="0"/>
          </a:p>
          <a:p>
            <a:pPr lvl="1">
              <a:defRPr/>
            </a:pPr>
            <a:r>
              <a:rPr lang="fr-FR" dirty="0"/>
              <a:t>Reteste immédiatement l'expression de la condition avant de la réitérer</a:t>
            </a:r>
            <a:r>
              <a:rPr lang="fr-FR" dirty="0" smtClean="0"/>
              <a:t>.</a:t>
            </a:r>
            <a:endParaRPr lang="en-GB" dirty="0"/>
          </a:p>
          <a:p>
            <a:pPr>
              <a:defRPr/>
            </a:pPr>
            <a:endParaRPr lang="en-GB" dirty="0"/>
          </a:p>
          <a:p>
            <a:pPr>
              <a:defRPr/>
            </a:pPr>
            <a:r>
              <a:rPr lang="en-GB" dirty="0"/>
              <a:t>Instruction </a:t>
            </a:r>
            <a:r>
              <a:rPr lang="en-GB" b="1" dirty="0">
                <a:solidFill>
                  <a:srgbClr val="000000"/>
                </a:solidFill>
                <a:latin typeface="Courier"/>
                <a:cs typeface="Courier"/>
              </a:rPr>
              <a:t>goto label;</a:t>
            </a:r>
            <a:endParaRPr lang="en-GB" b="1" dirty="0">
              <a:solidFill>
                <a:srgbClr val="000000"/>
              </a:solidFill>
              <a:latin typeface="Courier"/>
              <a:cs typeface="Courier"/>
            </a:endParaRPr>
          </a:p>
          <a:p>
            <a:pPr lvl="1">
              <a:defRPr/>
            </a:pPr>
            <a:r>
              <a:rPr lang="en-GB" b="1" dirty="0" smtClean="0">
                <a:solidFill>
                  <a:srgbClr val="FF0000"/>
                </a:solidFill>
              </a:rPr>
              <a:t>NE JAMAIS UTILISER goto </a:t>
            </a:r>
            <a:r>
              <a:rPr lang="en-GB" b="1" dirty="0">
                <a:solidFill>
                  <a:srgbClr val="FF0000"/>
                </a:solidFill>
              </a:rPr>
              <a:t>! </a:t>
            </a:r>
            <a:r>
              <a:rPr lang="en-GB" b="1" dirty="0" smtClean="0">
                <a:solidFill>
                  <a:srgbClr val="FF0000"/>
                </a:solidFill>
              </a:rPr>
              <a:t>(sauf </a:t>
            </a:r>
            <a:r>
              <a:rPr lang="en-GB" b="1" dirty="0">
                <a:solidFill>
                  <a:srgbClr val="FF0000"/>
                </a:solidFill>
              </a:rPr>
              <a:t>cas particuliers)</a:t>
            </a:r>
            <a:endParaRPr lang="en-GB" b="1" dirty="0">
              <a:solidFill>
                <a:srgbClr val="FF0000"/>
              </a:solidFill>
            </a:endParaRPr>
          </a:p>
          <a:p>
            <a:pPr marL="542925" lvl="1" indent="0">
              <a:buNone/>
              <a:defRPr/>
            </a:pPr>
            <a:endParaRPr lang="en-GB" sz="1000" b="1" dirty="0"/>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re 1"/>
          <p:cNvSpPr>
            <a:spLocks noGrp="1"/>
          </p:cNvSpPr>
          <p:nvPr>
            <p:ph type="title"/>
          </p:nvPr>
        </p:nvSpPr>
        <p:spPr/>
        <p:txBody>
          <a:bodyPr/>
          <a:lstStyle/>
          <a:p>
            <a:r>
              <a:rPr lang="fr-FR" sz="2800" dirty="0" smtClean="0">
                <a:latin typeface="Arial" panose="020B0604020202020204" pitchFamily="34" charset="0"/>
                <a:cs typeface="MS PGothic" panose="020B0600070205080204" charset="-128"/>
              </a:rPr>
              <a:t>Autres types d’objets</a:t>
            </a:r>
            <a:endParaRPr lang="fr-FR" sz="2800" dirty="0">
              <a:latin typeface="Arial" panose="020B0604020202020204" pitchFamily="34" charset="0"/>
              <a:ea typeface="MS PGothic" panose="020B0600070205080204" charset="-128"/>
              <a:cs typeface="MS PGothic" panose="020B0600070205080204" charset="-128"/>
            </a:endParaRPr>
          </a:p>
        </p:txBody>
      </p:sp>
      <p:sp>
        <p:nvSpPr>
          <p:cNvPr id="70658" name="Espace réservé du contenu 2"/>
          <p:cNvSpPr>
            <a:spLocks noGrp="1"/>
          </p:cNvSpPr>
          <p:nvPr>
            <p:ph idx="1"/>
          </p:nvPr>
        </p:nvSpPr>
        <p:spPr>
          <a:xfrm>
            <a:off x="359532" y="1124744"/>
            <a:ext cx="8784468" cy="5400675"/>
          </a:xfrm>
        </p:spPr>
        <p:txBody>
          <a:bodyPr/>
          <a:lstStyle/>
          <a:p>
            <a:r>
              <a:rPr lang="en-US" dirty="0" smtClean="0"/>
              <a:t> Types de données dérivées :</a:t>
            </a:r>
            <a:endParaRPr lang="en-US" dirty="0"/>
          </a:p>
          <a:p>
            <a:pPr lvl="1"/>
            <a:r>
              <a:rPr lang="en-US" dirty="0"/>
              <a:t>t</a:t>
            </a:r>
            <a:r>
              <a:rPr lang="en-US" dirty="0" smtClean="0"/>
              <a:t>ype pointeur </a:t>
            </a:r>
            <a:endParaRPr lang="en-US" dirty="0" smtClean="0"/>
          </a:p>
          <a:p>
            <a:pPr lvl="1"/>
            <a:r>
              <a:rPr lang="en-US" dirty="0"/>
              <a:t>t</a:t>
            </a:r>
            <a:r>
              <a:rPr lang="en-US" dirty="0" smtClean="0"/>
              <a:t>ype tableau</a:t>
            </a:r>
            <a:endParaRPr lang="en-US" dirty="0"/>
          </a:p>
          <a:p>
            <a:pPr lvl="1"/>
            <a:r>
              <a:rPr lang="en-US" dirty="0"/>
              <a:t>t</a:t>
            </a:r>
            <a:r>
              <a:rPr lang="en-US" dirty="0" smtClean="0"/>
              <a:t>ype structure</a:t>
            </a:r>
            <a:endParaRPr lang="en-US" dirty="0"/>
          </a:p>
          <a:p>
            <a:pPr lvl="1"/>
            <a:r>
              <a:rPr lang="en-US" dirty="0"/>
              <a:t>t</a:t>
            </a:r>
            <a:r>
              <a:rPr lang="en-US" dirty="0" smtClean="0"/>
              <a:t>ype union</a:t>
            </a:r>
            <a:endParaRPr lang="en-US" dirty="0"/>
          </a:p>
          <a:p>
            <a:pPr marL="542925" lvl="1" indent="0">
              <a:buNone/>
            </a:pPr>
            <a:endParaRPr lang="en-US" dirty="0">
              <a:latin typeface="Arial" panose="020B0604020202020204" pitchFamily="34" charset="0"/>
              <a:cs typeface="MS PGothic" panose="020B0600070205080204" charset="-128"/>
            </a:endParaRPr>
          </a:p>
          <a:p>
            <a:r>
              <a:rPr lang="en-GB" dirty="0" smtClean="0"/>
              <a:t>Types énumérés : </a:t>
            </a:r>
            <a:endParaRPr lang="en-GB" dirty="0"/>
          </a:p>
          <a:p>
            <a:pPr lvl="1"/>
            <a:r>
              <a:rPr lang="fr-FR" dirty="0"/>
              <a:t>Types arithmétiques utilisés pour définir les </a:t>
            </a:r>
            <a:r>
              <a:rPr lang="fr-FR" dirty="0" smtClean="0"/>
              <a:t>variables</a:t>
            </a:r>
            <a:endParaRPr lang="fr-FR" dirty="0" smtClean="0"/>
          </a:p>
          <a:p>
            <a:pPr lvl="1"/>
            <a:r>
              <a:rPr lang="fr-FR" dirty="0"/>
              <a:t>Les variables ne peuvent attribuer que certaines valeurs entières discrètes.</a:t>
            </a:r>
            <a:endParaRPr lang="en-GB" dirty="0"/>
          </a:p>
          <a:p>
            <a:pPr marL="0" indent="0">
              <a:buNone/>
            </a:pPr>
            <a:endParaRPr lang="en-GB" dirty="0">
              <a:latin typeface="Arial" panose="020B0604020202020204" pitchFamily="34" charset="0"/>
              <a:cs typeface="MS PGothic" panose="020B0600070205080204" charset="-128"/>
            </a:endParaRPr>
          </a:p>
          <a:p>
            <a:r>
              <a:rPr lang="en-GB" dirty="0" smtClean="0">
                <a:cs typeface="Courier"/>
              </a:rPr>
              <a:t>Type fonction </a:t>
            </a:r>
            <a:endParaRPr lang="en-GB" dirty="0">
              <a:cs typeface="Courier"/>
            </a:endParaRPr>
          </a:p>
          <a:p>
            <a:r>
              <a:rPr lang="en-GB" dirty="0" smtClean="0">
                <a:latin typeface="Arial" panose="020B0604020202020204" pitchFamily="34" charset="0"/>
                <a:cs typeface="MS PGothic" panose="020B0600070205080204" charset="-128"/>
              </a:rPr>
              <a:t>Type </a:t>
            </a:r>
            <a:r>
              <a:rPr lang="en-GB" b="1" dirty="0">
                <a:latin typeface="Courier"/>
                <a:cs typeface="Courier"/>
              </a:rPr>
              <a:t>Void</a:t>
            </a:r>
            <a:r>
              <a:rPr lang="en-GB" b="1" dirty="0">
                <a:latin typeface="Arial" panose="020B0604020202020204" pitchFamily="34" charset="0"/>
                <a:cs typeface="MS PGothic" panose="020B0600070205080204" charset="-128"/>
              </a:rPr>
              <a:t> </a:t>
            </a:r>
            <a:endParaRPr lang="en-GB" dirty="0">
              <a:latin typeface="Arial" panose="020B0604020202020204" pitchFamily="34" charset="0"/>
              <a:cs typeface="MS PGothic" panose="020B0600070205080204" charset="-128"/>
            </a:endParaRPr>
          </a:p>
        </p:txBody>
      </p:sp>
      <p:sp>
        <p:nvSpPr>
          <p:cNvPr id="5" name="Espace réservé du numéro de diapositive 4"/>
          <p:cNvSpPr>
            <a:spLocks noGrp="1"/>
          </p:cNvSpPr>
          <p:nvPr>
            <p:ph type="sldNum" sz="quarter" idx="11"/>
          </p:nvPr>
        </p:nvSpPr>
        <p:spPr>
          <a:xfrm>
            <a:off x="6336196" y="6400800"/>
            <a:ext cx="1511188" cy="381000"/>
          </a:xfrm>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7A20496B-0CAA-CF4F-A60A-C2F15B752635}"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58">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0658">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0658">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0658">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065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p:spPr>
        <p:txBody>
          <a:bodyPr/>
          <a:lstStyle>
            <a:lvl1pPr marL="342900" indent="-342900">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lvl="2"/>
            <a:fld id="{5DEDF2FF-B025-0041-ABAD-B4936E7D52CC}" type="slidenum">
              <a:rPr lang="fr-FR" sz="1400">
                <a:solidFill>
                  <a:srgbClr val="000208"/>
                </a:solidFill>
                <a:latin typeface="Times New Roman" panose="02020603050405020304" charset="0"/>
              </a:rPr>
            </a:fld>
            <a:endParaRPr lang="fr-FR" sz="1400">
              <a:solidFill>
                <a:srgbClr val="000208"/>
              </a:solidFill>
              <a:latin typeface="Times New Roman" panose="02020603050405020304" charset="0"/>
            </a:endParaRPr>
          </a:p>
        </p:txBody>
      </p:sp>
      <p:sp>
        <p:nvSpPr>
          <p:cNvPr id="7172" name="Rectangle 2"/>
          <p:cNvSpPr>
            <a:spLocks noGrp="1" noChangeArrowheads="1"/>
          </p:cNvSpPr>
          <p:nvPr>
            <p:ph type="ctrTitle"/>
          </p:nvPr>
        </p:nvSpPr>
        <p:spPr/>
        <p:txBody>
          <a:bodyPr/>
          <a:lstStyle/>
          <a:p>
            <a:r>
              <a:rPr lang="en-GB" dirty="0">
                <a:latin typeface="Arial" panose="020B0604020202020204" pitchFamily="34" charset="0"/>
              </a:rPr>
              <a:t>CM 5:</a:t>
            </a:r>
            <a:br>
              <a:rPr lang="en-GB" dirty="0">
                <a:latin typeface="Arial" panose="020B0604020202020204" pitchFamily="34" charset="0"/>
              </a:rPr>
            </a:br>
            <a:r>
              <a:rPr lang="en-GB" dirty="0" smtClean="0">
                <a:latin typeface="Arial" panose="020B0604020202020204" pitchFamily="34" charset="0"/>
              </a:rPr>
              <a:t>Pointeurs et Tableaux</a:t>
            </a:r>
            <a:endParaRPr lang="en-GB" dirty="0">
              <a:latin typeface="Arial" panose="020B0604020202020204" pitchFamily="34" charset="0"/>
            </a:endParaRPr>
          </a:p>
        </p:txBody>
      </p:sp>
      <p:sp>
        <p:nvSpPr>
          <p:cNvPr id="6" name="Espace réservé du pied de page 3"/>
          <p:cNvSpPr>
            <a:spLocks noGrp="1"/>
          </p:cNvSpPr>
          <p:nvPr>
            <p:ph type="ftr" sz="quarter" idx="10"/>
          </p:nvPr>
        </p:nvSpPr>
        <p:spPr>
          <a:xfrm>
            <a:off x="395536" y="6400800"/>
            <a:ext cx="5624264" cy="457200"/>
          </a:xfrm>
          <a:noFill/>
        </p:spPr>
        <p:txBody>
          <a:bodyPr/>
          <a:lstStyle>
            <a:lvl1pPr>
              <a:defRPr sz="800">
                <a:solidFill>
                  <a:srgbClr val="010507"/>
                </a:solidFill>
                <a:latin typeface="Arial" panose="020B0604020202020204" pitchFamily="34" charset="0"/>
                <a:ea typeface="MS PGothic" panose="020B0600070205080204" charset="-128"/>
              </a:defRPr>
            </a:lvl1pPr>
            <a:lvl2pPr marL="742950" indent="-285750">
              <a:defRPr sz="800">
                <a:solidFill>
                  <a:srgbClr val="010507"/>
                </a:solidFill>
                <a:latin typeface="Arial" panose="020B0604020202020204" pitchFamily="34" charset="0"/>
                <a:ea typeface="MS PGothic" panose="020B0600070205080204" charset="-128"/>
              </a:defRPr>
            </a:lvl2pPr>
            <a:lvl3pPr marL="1143000" indent="-228600">
              <a:defRPr sz="800">
                <a:solidFill>
                  <a:srgbClr val="010507"/>
                </a:solidFill>
                <a:latin typeface="Arial" panose="020B0604020202020204" pitchFamily="34" charset="0"/>
                <a:ea typeface="MS PGothic" panose="020B0600070205080204" charset="-128"/>
              </a:defRPr>
            </a:lvl3pPr>
            <a:lvl4pPr marL="1600200" indent="-228600">
              <a:defRPr sz="800">
                <a:solidFill>
                  <a:srgbClr val="010507"/>
                </a:solidFill>
                <a:latin typeface="Arial" panose="020B0604020202020204" pitchFamily="34" charset="0"/>
                <a:ea typeface="MS PGothic" panose="020B0600070205080204" charset="-128"/>
              </a:defRPr>
            </a:lvl4pPr>
            <a:lvl5pPr marL="2057400" indent="-228600">
              <a:defRPr sz="800">
                <a:solidFill>
                  <a:srgbClr val="010507"/>
                </a:solidFill>
                <a:latin typeface="Arial" panose="020B0604020202020204" pitchFamily="34" charset="0"/>
                <a:ea typeface="MS PGothic" panose="020B0600070205080204" charset="-128"/>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panose="020B0604020202020204" pitchFamily="34" charset="0"/>
                <a:ea typeface="MS PGothic" panose="020B0600070205080204" charset="-128"/>
              </a:defRPr>
            </a:lvl9pPr>
          </a:lstStyle>
          <a:p>
            <a:pPr>
              <a:defRPr/>
            </a:pPr>
            <a:r>
              <a:rPr lang="fr-FR" sz="1800" dirty="0"/>
              <a:t>		 L3Info – C/Unix</a:t>
            </a:r>
            <a:endParaRPr lang="fr-FR" sz="1800" dirty="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DEFAULTFONTSIZE" val="10"/>
  <p:tag name="DEFAULTWIDTH" val="490"/>
  <p:tag name="DEFAULTHEIGHT" val="411"/>
</p:tagLst>
</file>

<file path=ppt/theme/theme1.xml><?xml version="1.0" encoding="utf-8"?>
<a:theme xmlns:a="http://schemas.openxmlformats.org/drawingml/2006/main" name="Copie de Irisa">
  <a:themeElements>
    <a:clrScheme name="Copie de Irisa.pot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003366"/>
      </a:hlink>
      <a:folHlink>
        <a:srgbClr val="2B72FF"/>
      </a:folHlink>
    </a:clrScheme>
    <a:fontScheme name="Copie de Irisa.po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 cap="flat" cmpd="sng" algn="ctr">
          <a:solidFill>
            <a:srgbClr val="000208"/>
          </a:solidFill>
          <a:prstDash val="solid"/>
          <a:round/>
          <a:headEnd type="none" w="lg" len="lg"/>
          <a:tailEnd type="none" w="med" len="med"/>
        </a:ln>
      </a:spPr>
      <a:bodyPr vert="horz" wrap="none" lIns="92075" tIns="46038" rIns="92075" bIns="46038" numCol="1" rtlCol="0" anchor="ctr" anchorCtr="0" compatLnSpc="1">
        <a:normAutofit/>
      </a:bodyPr>
      <a:lstStyle>
        <a:def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defRPr kumimoji="0" sz="2000" b="0" i="0" u="none" strike="noStrike" cap="none" normalizeH="0" baseline="0" dirty="0" smtClean="0">
            <a:ln>
              <a:noFill/>
            </a:ln>
            <a:solidFill>
              <a:srgbClr val="010507"/>
            </a:solidFill>
            <a:effectLst/>
            <a:latin typeface="Arial" panose="020B0604020202020204" pitchFamily="34" charset="0"/>
          </a:defRPr>
        </a:defPPr>
      </a:lstStyle>
    </a:spDef>
    <a:lnDef>
      <a:spPr bwMode="auto">
        <a:noFill/>
        <a:ln w="6350" cap="flat" cmpd="sng" algn="ctr">
          <a:solidFill>
            <a:srgbClr val="000208"/>
          </a:solidFill>
          <a:prstDash val="solid"/>
          <a:round/>
          <a:headEnd type="none" w="lg" len="lg"/>
          <a:tailEnd type="triangle"/>
        </a:ln>
      </a:spPr>
      <a:bodyPr/>
      <a:lstStyle/>
    </a:lnDef>
  </a:objectDefaults>
  <a:extraClrSchemeLst>
    <a:extraClrScheme>
      <a:clrScheme name="Copie de Irisa.pot 1">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Copie de Irisa.pot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003366"/>
        </a:hlink>
        <a:folHlink>
          <a:srgbClr val="2B72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ception personnalisé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apsules">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6350" cap="flat" cmpd="sng" algn="ctr">
          <a:solidFill>
            <a:srgbClr val="000208"/>
          </a:solidFill>
          <a:prstDash val="solid"/>
          <a:round/>
          <a:headEnd type="none" w="lg" len="lg"/>
          <a:tailEnd type="none" w="med" len="med"/>
        </a:ln>
      </a:spPr>
      <a:bodyPr vert="horz" wrap="none" lIns="92075" tIns="46038" rIns="92075" bIns="46038" numCol="1" anchor="ctr" anchorCtr="0" compatLnSpc="1">
        <a:spAutoFit/>
      </a:bodyPr>
      <a:lstStyle>
        <a:def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defRPr kumimoji="0" lang="en-US" sz="800" b="0" i="0" u="none" strike="noStrike" cap="none" normalizeH="0" baseline="0" smtClean="0">
            <a:ln>
              <a:noFill/>
            </a:ln>
            <a:solidFill>
              <a:srgbClr val="010507"/>
            </a:solidFill>
            <a:effectLst/>
            <a:latin typeface="Arial" panose="020B0604020202020204" pitchFamily="34" charset="0"/>
          </a:defRPr>
        </a:defPPr>
      </a:lstStyle>
    </a:spDef>
    <a:lnDef>
      <a:spPr bwMode="auto">
        <a:xfrm>
          <a:off x="0" y="0"/>
          <a:ext cx="1" cy="1"/>
        </a:xfrm>
        <a:custGeom>
          <a:avLst/>
          <a:gdLst/>
          <a:ahLst/>
          <a:cxnLst/>
          <a:rect l="0" t="0" r="0" b="0"/>
          <a:pathLst/>
        </a:custGeom>
        <a:noFill/>
        <a:ln w="6350" cap="flat" cmpd="sng" algn="ctr">
          <a:solidFill>
            <a:srgbClr val="000208"/>
          </a:solidFill>
          <a:prstDash val="solid"/>
          <a:round/>
          <a:headEnd type="none" w="lg" len="lg"/>
          <a:tailEnd type="none" w="med" len="med"/>
        </a:ln>
      </a:spPr>
      <a:bodyPr vert="horz" wrap="none" lIns="92075" tIns="46038" rIns="92075" bIns="46038" numCol="1" anchor="ctr" anchorCtr="0" compatLnSpc="1">
        <a:spAutoFit/>
      </a:bodyPr>
      <a:lstStyle>
        <a:def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defRPr kumimoji="0" lang="en-US" sz="800" b="0" i="0" u="none" strike="noStrike" cap="none" normalizeH="0" baseline="0" smtClean="0">
            <a:ln>
              <a:noFill/>
            </a:ln>
            <a:solidFill>
              <a:srgbClr val="010507"/>
            </a:solidFill>
            <a:effectLst/>
            <a:latin typeface="Arial" panose="020B0604020202020204" pitchFamily="34" charset="0"/>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
      <a:clrScheme name="Capsules 9">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003366"/>
        </a:hlink>
        <a:folHlink>
          <a:srgbClr val="2B72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ème Offic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C:\MSOffice\Modeles\Copie de Irisa.pot</Template>
  <TotalTime>0</TotalTime>
  <Words>36049</Words>
  <Application>WPS Presentation</Application>
  <PresentationFormat>Affichage à l'écran (4:3)</PresentationFormat>
  <Paragraphs>1969</Paragraphs>
  <Slides>98</Slides>
  <Notes>31</Notes>
  <HiddenSlides>0</HiddenSlides>
  <MMClips>0</MMClips>
  <ScaleCrop>false</ScaleCrop>
  <HeadingPairs>
    <vt:vector size="6" baseType="variant">
      <vt:variant>
        <vt:lpstr>已用的字体</vt:lpstr>
      </vt:variant>
      <vt:variant>
        <vt:i4>20</vt:i4>
      </vt:variant>
      <vt:variant>
        <vt:lpstr>主题</vt:lpstr>
      </vt:variant>
      <vt:variant>
        <vt:i4>3</vt:i4>
      </vt:variant>
      <vt:variant>
        <vt:lpstr>幻灯片标题</vt:lpstr>
      </vt:variant>
      <vt:variant>
        <vt:i4>98</vt:i4>
      </vt:variant>
    </vt:vector>
  </HeadingPairs>
  <TitlesOfParts>
    <vt:vector size="121" baseType="lpstr">
      <vt:lpstr>Arial</vt:lpstr>
      <vt:lpstr>SimSun</vt:lpstr>
      <vt:lpstr>Wingdings</vt:lpstr>
      <vt:lpstr>Monotype Sorts</vt:lpstr>
      <vt:lpstr>Wingdings</vt:lpstr>
      <vt:lpstr>MS PGothic</vt:lpstr>
      <vt:lpstr>Monotype Sorts</vt:lpstr>
      <vt:lpstr>Times New Roman</vt:lpstr>
      <vt:lpstr>ZapfDingbats</vt:lpstr>
      <vt:lpstr>Calibri</vt:lpstr>
      <vt:lpstr>Courier New</vt:lpstr>
      <vt:lpstr>Courier</vt:lpstr>
      <vt:lpstr>Courier New</vt:lpstr>
      <vt:lpstr>Wingdings</vt:lpstr>
      <vt:lpstr>Microsoft YaHei</vt:lpstr>
      <vt:lpstr>Arial Unicode MS</vt:lpstr>
      <vt:lpstr>Arial</vt:lpstr>
      <vt:lpstr>StarSymbol</vt:lpstr>
      <vt:lpstr>Courier</vt:lpstr>
      <vt:lpstr>Ohno</vt:lpstr>
      <vt:lpstr>Copie de Irisa</vt:lpstr>
      <vt:lpstr>Conception personnalisée</vt:lpstr>
      <vt:lpstr>Capsules</vt:lpstr>
      <vt:lpstr>Partie 2 : Langage C</vt:lpstr>
      <vt:lpstr>Grandes lignes</vt:lpstr>
      <vt:lpstr>CM 3 : Introduction, Structure et outils</vt:lpstr>
      <vt:lpstr>Pourquoi C ?</vt:lpstr>
      <vt:lpstr>What this course covers?</vt:lpstr>
      <vt:lpstr>C language</vt:lpstr>
      <vt:lpstr>Structure du programme C  et compilation</vt:lpstr>
      <vt:lpstr>Structure du programme C</vt:lpstr>
      <vt:lpstr>Communication entre les fichiers .c </vt:lpstr>
      <vt:lpstr>Communication entre les fichiers .c</vt:lpstr>
      <vt:lpstr>Directive #include</vt:lpstr>
      <vt:lpstr>Communication entre les fichiers .c : Exemple</vt:lpstr>
      <vt:lpstr>Communication among .c files: Example</vt:lpstr>
      <vt:lpstr>Communication entre fichiers .c : Exemple</vt:lpstr>
      <vt:lpstr>Règles générales </vt:lpstr>
      <vt:lpstr>Structure du fichier .c </vt:lpstr>
      <vt:lpstr>Structure du fichier .h </vt:lpstr>
      <vt:lpstr>Structure du fichier .c : Exemple</vt:lpstr>
      <vt:lpstr>Même exemple divisé en 3 fichiers</vt:lpstr>
      <vt:lpstr>Compilation JAVA </vt:lpstr>
      <vt:lpstr>Compilation JAVA</vt:lpstr>
      <vt:lpstr>Compilation C</vt:lpstr>
      <vt:lpstr>Compilation C</vt:lpstr>
      <vt:lpstr>Compilation C</vt:lpstr>
      <vt:lpstr>Compilation C : GCC</vt:lpstr>
      <vt:lpstr>GCC : un fichier de compilation</vt:lpstr>
      <vt:lpstr>GCC : plusieurs fichiers de compilation </vt:lpstr>
      <vt:lpstr>Compilation C : L’outil  make</vt:lpstr>
      <vt:lpstr>L’outil make: Exemple</vt:lpstr>
      <vt:lpstr>L’outil make: Exemple</vt:lpstr>
      <vt:lpstr>L’outil make: Exemple</vt:lpstr>
      <vt:lpstr>L’outil make: Exemple</vt:lpstr>
      <vt:lpstr>Structure du Makefile</vt:lpstr>
      <vt:lpstr>Structure du Makefile : Exemple</vt:lpstr>
      <vt:lpstr>Structure du Makefile: Exemple</vt:lpstr>
      <vt:lpstr>Structure du Makefile: Exemple</vt:lpstr>
      <vt:lpstr>Structure du Makefile : Exemple</vt:lpstr>
      <vt:lpstr>Structure  du Makefile: Exemple 2</vt:lpstr>
      <vt:lpstr>Structure du Makefile: Exemple 2</vt:lpstr>
      <vt:lpstr>Messages d'erreur courants de compilation</vt:lpstr>
      <vt:lpstr>Débogage</vt:lpstr>
      <vt:lpstr>OUTIL GDB</vt:lpstr>
      <vt:lpstr>OUTIL GDB: Commandes</vt:lpstr>
      <vt:lpstr>OUTIL Valgrind</vt:lpstr>
      <vt:lpstr>… avant d'entrer dans les détails de la syntaxe C …</vt:lpstr>
      <vt:lpstr>Le style du code est très important !</vt:lpstr>
      <vt:lpstr>CM 4:  Composants de base du langage C : types de données primitifs, bibliothèques et structures de contrôle.</vt:lpstr>
      <vt:lpstr>Instructions &amp; Commentaires</vt:lpstr>
      <vt:lpstr>Représentation des valeurs</vt:lpstr>
      <vt:lpstr>Définition de l'objet de données</vt:lpstr>
      <vt:lpstr>Types de données primitives : Spécification des types</vt:lpstr>
      <vt:lpstr>Types de données primitives : Taille</vt:lpstr>
      <vt:lpstr>Primitive data types: Min values</vt:lpstr>
      <vt:lpstr>Types de données primitives : Float</vt:lpstr>
      <vt:lpstr>Définition des objets de données primitifs : Exemples</vt:lpstr>
      <vt:lpstr>Opérateurs</vt:lpstr>
      <vt:lpstr>Opérateurs Arithmétiques</vt:lpstr>
      <vt:lpstr>Opérateurs relationnels</vt:lpstr>
      <vt:lpstr>Opérateurs logiques</vt:lpstr>
      <vt:lpstr>Opérateurs binaires</vt:lpstr>
      <vt:lpstr>Opérateurs d'assignation</vt:lpstr>
      <vt:lpstr>Erreur courante : Affectation Vs Test</vt:lpstr>
      <vt:lpstr>Allons…</vt:lpstr>
      <vt:lpstr>Alors, que se passe-t-il si on mélange les types dans une opération? </vt:lpstr>
      <vt:lpstr>Et pendant l'affectation ?</vt:lpstr>
      <vt:lpstr>Types de données primitifs : Conversion implicite</vt:lpstr>
      <vt:lpstr>Conversion explicite : Opérateur de coulée</vt:lpstr>
      <vt:lpstr>Avec la conversion implicite ou explicite</vt:lpstr>
      <vt:lpstr>Et, quand on fait une représentation différente ?</vt:lpstr>
      <vt:lpstr>Conversion de type : Exemples</vt:lpstr>
      <vt:lpstr>Conversion de type : Exemples</vt:lpstr>
      <vt:lpstr>Conversion de type : problèmes habituels</vt:lpstr>
      <vt:lpstr>Conversion de type : Problèmes habituels</vt:lpstr>
      <vt:lpstr>Allocation variable et durée de vie</vt:lpstr>
      <vt:lpstr>Allocation variable et durée de vie</vt:lpstr>
      <vt:lpstr>Allocation variable et durée de vie</vt:lpstr>
      <vt:lpstr>Objets de données : Qualificatifs</vt:lpstr>
      <vt:lpstr>Macros de type objet</vt:lpstr>
      <vt:lpstr>Autres constantes réservées</vt:lpstr>
      <vt:lpstr>Composants de base du langage C : Bibliothèques</vt:lpstr>
      <vt:lpstr>Bibliothèques</vt:lpstr>
      <vt:lpstr>Deux fonctions E/S de base!</vt:lpstr>
      <vt:lpstr>Écriture formulée : printf(…)</vt:lpstr>
      <vt:lpstr>Lecture formulée : scanf(…)</vt:lpstr>
      <vt:lpstr>Format of I/O expressions</vt:lpstr>
      <vt:lpstr>Exemple</vt:lpstr>
      <vt:lpstr>Que se passe-t-il si nous utilisons un mauvais format ?</vt:lpstr>
      <vt:lpstr>Conversion du type : Fonctions intégrées de  conversion de type</vt:lpstr>
      <vt:lpstr>Allons……</vt:lpstr>
      <vt:lpstr>Composants de base du langage C : structures de contrôle</vt:lpstr>
      <vt:lpstr>Structures de contrôle</vt:lpstr>
      <vt:lpstr>Conditions : If</vt:lpstr>
      <vt:lpstr>Conditions : instruction ternaire</vt:lpstr>
      <vt:lpstr>Conditions : switch - case</vt:lpstr>
      <vt:lpstr>Boucles</vt:lpstr>
      <vt:lpstr>Les boucles : Instructions de contrôle</vt:lpstr>
      <vt:lpstr>Autres types d’objets</vt:lpstr>
      <vt:lpstr>CM 5: Pointeurs et Tableaux</vt:lpstr>
    </vt:vector>
  </TitlesOfParts>
  <Company>Irisa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Étude des techniques de partitionnement de réseaux de processeurs pour l'implantation sur circuits programmables</dc:title>
  <dc:creator>sderrien</dc:creator>
  <cp:lastModifiedBy>HP</cp:lastModifiedBy>
  <cp:revision>3778</cp:revision>
  <cp:lastPrinted>2018-09-24T16:47:00Z</cp:lastPrinted>
  <dcterms:created xsi:type="dcterms:W3CDTF">2002-11-12T15:03:00Z</dcterms:created>
  <dcterms:modified xsi:type="dcterms:W3CDTF">2023-11-21T14:26:05Z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DDFC1C9AAC074CA98D67D2D8762C2E92_12</vt:lpwstr>
  </property>
  <property fmtid="{D5CDD505-2E9C-101B-9397-08002B2CF9AE}" pid="3" name="KSOProductBuildVer">
    <vt:lpwstr>1036-12.2.0.13266</vt:lpwstr>
  </property>
</Properties>
</file>