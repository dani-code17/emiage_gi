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74" r:id="rId2"/>
    <p:sldMasterId id="2147483649" r:id="rId3"/>
  </p:sldMasterIdLst>
  <p:notesMasterIdLst>
    <p:notesMasterId r:id="rId311"/>
  </p:notesMasterIdLst>
  <p:handoutMasterIdLst>
    <p:handoutMasterId r:id="rId312"/>
  </p:handoutMasterIdLst>
  <p:sldIdLst>
    <p:sldId id="1326" r:id="rId4"/>
    <p:sldId id="1335" r:id="rId5"/>
    <p:sldId id="1720" r:id="rId6"/>
    <p:sldId id="1336" r:id="rId7"/>
    <p:sldId id="1447" r:id="rId8"/>
    <p:sldId id="1337" r:id="rId9"/>
    <p:sldId id="1448" r:id="rId10"/>
    <p:sldId id="1528" r:id="rId11"/>
    <p:sldId id="1552" r:id="rId12"/>
    <p:sldId id="1551" r:id="rId13"/>
    <p:sldId id="1555" r:id="rId14"/>
    <p:sldId id="1864" r:id="rId15"/>
    <p:sldId id="1865" r:id="rId16"/>
    <p:sldId id="1866" r:id="rId17"/>
    <p:sldId id="1919" r:id="rId18"/>
    <p:sldId id="1529" r:id="rId19"/>
    <p:sldId id="1553" r:id="rId20"/>
    <p:sldId id="1836" r:id="rId21"/>
    <p:sldId id="1837" r:id="rId22"/>
    <p:sldId id="1339" r:id="rId23"/>
    <p:sldId id="1526" r:id="rId24"/>
    <p:sldId id="1525" r:id="rId25"/>
    <p:sldId id="1893" r:id="rId26"/>
    <p:sldId id="1527" r:id="rId27"/>
    <p:sldId id="1539" r:id="rId28"/>
    <p:sldId id="1540" r:id="rId29"/>
    <p:sldId id="1863" r:id="rId30"/>
    <p:sldId id="1454" r:id="rId31"/>
    <p:sldId id="1543" r:id="rId32"/>
    <p:sldId id="1556" r:id="rId33"/>
    <p:sldId id="1920" r:id="rId34"/>
    <p:sldId id="1921" r:id="rId35"/>
    <p:sldId id="1455" r:id="rId36"/>
    <p:sldId id="1547" r:id="rId37"/>
    <p:sldId id="1922" r:id="rId38"/>
    <p:sldId id="2185" r:id="rId39"/>
    <p:sldId id="1924" r:id="rId40"/>
    <p:sldId id="1456" r:id="rId41"/>
    <p:sldId id="1530" r:id="rId42"/>
    <p:sldId id="1462" r:id="rId43"/>
    <p:sldId id="1532" r:id="rId44"/>
    <p:sldId id="1533" r:id="rId45"/>
    <p:sldId id="1534" r:id="rId46"/>
    <p:sldId id="1535" r:id="rId47"/>
    <p:sldId id="1564" r:id="rId48"/>
    <p:sldId id="1463" r:id="rId49"/>
    <p:sldId id="1565" r:id="rId50"/>
    <p:sldId id="1593" r:id="rId51"/>
    <p:sldId id="1953" r:id="rId52"/>
    <p:sldId id="1959" r:id="rId53"/>
    <p:sldId id="1894" r:id="rId54"/>
    <p:sldId id="1930" r:id="rId55"/>
    <p:sldId id="1944" r:id="rId56"/>
    <p:sldId id="1945" r:id="rId57"/>
    <p:sldId id="1960" r:id="rId58"/>
    <p:sldId id="1954" r:id="rId59"/>
    <p:sldId id="1972" r:id="rId60"/>
    <p:sldId id="1967" r:id="rId61"/>
    <p:sldId id="1968" r:id="rId62"/>
    <p:sldId id="1970" r:id="rId63"/>
    <p:sldId id="1971" r:id="rId64"/>
    <p:sldId id="1974" r:id="rId65"/>
    <p:sldId id="1982" r:id="rId66"/>
    <p:sldId id="1934" r:id="rId67"/>
    <p:sldId id="1947" r:id="rId68"/>
    <p:sldId id="1928" r:id="rId69"/>
    <p:sldId id="1936" r:id="rId70"/>
    <p:sldId id="1961" r:id="rId71"/>
    <p:sldId id="1964" r:id="rId72"/>
    <p:sldId id="1937" r:id="rId73"/>
    <p:sldId id="1946" r:id="rId74"/>
    <p:sldId id="1965" r:id="rId75"/>
    <p:sldId id="1966" r:id="rId76"/>
    <p:sldId id="2055" r:id="rId77"/>
    <p:sldId id="2056" r:id="rId78"/>
    <p:sldId id="2057" r:id="rId79"/>
    <p:sldId id="1925" r:id="rId80"/>
    <p:sldId id="1847" r:id="rId81"/>
    <p:sldId id="1980" r:id="rId82"/>
    <p:sldId id="1872" r:id="rId83"/>
    <p:sldId id="1873" r:id="rId84"/>
    <p:sldId id="1874" r:id="rId85"/>
    <p:sldId id="1875" r:id="rId86"/>
    <p:sldId id="1876" r:id="rId87"/>
    <p:sldId id="1877" r:id="rId88"/>
    <p:sldId id="1878" r:id="rId89"/>
    <p:sldId id="1879" r:id="rId90"/>
    <p:sldId id="1831" r:id="rId91"/>
    <p:sldId id="1981" r:id="rId92"/>
    <p:sldId id="1979" r:id="rId93"/>
    <p:sldId id="1606" r:id="rId94"/>
    <p:sldId id="1624" r:id="rId95"/>
    <p:sldId id="1630" r:id="rId96"/>
    <p:sldId id="1627" r:id="rId97"/>
    <p:sldId id="1609" r:id="rId98"/>
    <p:sldId id="1626" r:id="rId99"/>
    <p:sldId id="1976" r:id="rId100"/>
    <p:sldId id="1599" r:id="rId101"/>
    <p:sldId id="1842" r:id="rId102"/>
    <p:sldId id="1849" r:id="rId103"/>
    <p:sldId id="1915" r:id="rId104"/>
    <p:sldId id="1984" r:id="rId105"/>
    <p:sldId id="1986" r:id="rId106"/>
    <p:sldId id="2156" r:id="rId107"/>
    <p:sldId id="1987" r:id="rId108"/>
    <p:sldId id="1988" r:id="rId109"/>
    <p:sldId id="1917" r:id="rId110"/>
    <p:sldId id="1843" r:id="rId111"/>
    <p:sldId id="1990" r:id="rId112"/>
    <p:sldId id="1989" r:id="rId113"/>
    <p:sldId id="1991" r:id="rId114"/>
    <p:sldId id="1992" r:id="rId115"/>
    <p:sldId id="2119" r:id="rId116"/>
    <p:sldId id="1994" r:id="rId117"/>
    <p:sldId id="1995" r:id="rId118"/>
    <p:sldId id="1733" r:id="rId119"/>
    <p:sldId id="2002" r:id="rId120"/>
    <p:sldId id="2004" r:id="rId121"/>
    <p:sldId id="2007" r:id="rId122"/>
    <p:sldId id="1850" r:id="rId123"/>
    <p:sldId id="1918" r:id="rId124"/>
    <p:sldId id="2009" r:id="rId125"/>
    <p:sldId id="2015" r:id="rId126"/>
    <p:sldId id="2013" r:id="rId127"/>
    <p:sldId id="2028" r:id="rId128"/>
    <p:sldId id="2071" r:id="rId129"/>
    <p:sldId id="2115" r:id="rId130"/>
    <p:sldId id="2123" r:id="rId131"/>
    <p:sldId id="2022" r:id="rId132"/>
    <p:sldId id="2024" r:id="rId133"/>
    <p:sldId id="2027" r:id="rId134"/>
    <p:sldId id="2031" r:id="rId135"/>
    <p:sldId id="2124" r:id="rId136"/>
    <p:sldId id="1688" r:id="rId137"/>
    <p:sldId id="2029" r:id="rId138"/>
    <p:sldId id="2032" r:id="rId139"/>
    <p:sldId id="2038" r:id="rId140"/>
    <p:sldId id="2041" r:id="rId141"/>
    <p:sldId id="2042" r:id="rId142"/>
    <p:sldId id="1667" r:id="rId143"/>
    <p:sldId id="1892" r:id="rId144"/>
    <p:sldId id="1567" r:id="rId145"/>
    <p:sldId id="1478" r:id="rId146"/>
    <p:sldId id="2050" r:id="rId147"/>
    <p:sldId id="2048" r:id="rId148"/>
    <p:sldId id="2068" r:id="rId149"/>
    <p:sldId id="2069" r:id="rId150"/>
    <p:sldId id="2046" r:id="rId151"/>
    <p:sldId id="1479" r:id="rId152"/>
    <p:sldId id="2052" r:id="rId153"/>
    <p:sldId id="2053" r:id="rId154"/>
    <p:sldId id="2051" r:id="rId155"/>
    <p:sldId id="2121" r:id="rId156"/>
    <p:sldId id="2061" r:id="rId157"/>
    <p:sldId id="2062" r:id="rId158"/>
    <p:sldId id="2157" r:id="rId159"/>
    <p:sldId id="2159" r:id="rId160"/>
    <p:sldId id="2158" r:id="rId161"/>
    <p:sldId id="2065" r:id="rId162"/>
    <p:sldId id="2066" r:id="rId163"/>
    <p:sldId id="2160" r:id="rId164"/>
    <p:sldId id="2161" r:id="rId165"/>
    <p:sldId id="2162" r:id="rId166"/>
    <p:sldId id="2163" r:id="rId167"/>
    <p:sldId id="2133" r:id="rId168"/>
    <p:sldId id="2164" r:id="rId169"/>
    <p:sldId id="2165" r:id="rId170"/>
    <p:sldId id="2132" r:id="rId171"/>
    <p:sldId id="2166" r:id="rId172"/>
    <p:sldId id="2167" r:id="rId173"/>
    <p:sldId id="2168" r:id="rId174"/>
    <p:sldId id="2120" r:id="rId175"/>
    <p:sldId id="2060" r:id="rId176"/>
    <p:sldId id="1670" r:id="rId177"/>
    <p:sldId id="2070" r:id="rId178"/>
    <p:sldId id="1896" r:id="rId179"/>
    <p:sldId id="1834" r:id="rId180"/>
    <p:sldId id="1835" r:id="rId181"/>
    <p:sldId id="1852" r:id="rId182"/>
    <p:sldId id="2145" r:id="rId183"/>
    <p:sldId id="1853" r:id="rId184"/>
    <p:sldId id="2075" r:id="rId185"/>
    <p:sldId id="1854" r:id="rId186"/>
    <p:sldId id="1855" r:id="rId187"/>
    <p:sldId id="2146" r:id="rId188"/>
    <p:sldId id="2076" r:id="rId189"/>
    <p:sldId id="1856" r:id="rId190"/>
    <p:sldId id="1857" r:id="rId191"/>
    <p:sldId id="1858" r:id="rId192"/>
    <p:sldId id="1859" r:id="rId193"/>
    <p:sldId id="2155" r:id="rId194"/>
    <p:sldId id="2084" r:id="rId195"/>
    <p:sldId id="2085" r:id="rId196"/>
    <p:sldId id="2122" r:id="rId197"/>
    <p:sldId id="1860" r:id="rId198"/>
    <p:sldId id="2080" r:id="rId199"/>
    <p:sldId id="2081" r:id="rId200"/>
    <p:sldId id="1909" r:id="rId201"/>
    <p:sldId id="1568" r:id="rId202"/>
    <p:sldId id="2137" r:id="rId203"/>
    <p:sldId id="1839" r:id="rId204"/>
    <p:sldId id="2139" r:id="rId205"/>
    <p:sldId id="2138" r:id="rId206"/>
    <p:sldId id="2140" r:id="rId207"/>
    <p:sldId id="2141" r:id="rId208"/>
    <p:sldId id="2135" r:id="rId209"/>
    <p:sldId id="1841" r:id="rId210"/>
    <p:sldId id="1840" r:id="rId211"/>
    <p:sldId id="1754" r:id="rId212"/>
    <p:sldId id="1910" r:id="rId213"/>
    <p:sldId id="2136" r:id="rId214"/>
    <p:sldId id="1748" r:id="rId215"/>
    <p:sldId id="1761" r:id="rId216"/>
    <p:sldId id="1760" r:id="rId217"/>
    <p:sldId id="1801" r:id="rId218"/>
    <p:sldId id="2170" r:id="rId219"/>
    <p:sldId id="2173" r:id="rId220"/>
    <p:sldId id="2174" r:id="rId221"/>
    <p:sldId id="2175" r:id="rId222"/>
    <p:sldId id="2178" r:id="rId223"/>
    <p:sldId id="2180" r:id="rId224"/>
    <p:sldId id="2181" r:id="rId225"/>
    <p:sldId id="2183" r:id="rId226"/>
    <p:sldId id="2184" r:id="rId227"/>
    <p:sldId id="1762" r:id="rId228"/>
    <p:sldId id="2150" r:id="rId229"/>
    <p:sldId id="2152" r:id="rId230"/>
    <p:sldId id="1768" r:id="rId231"/>
    <p:sldId id="2153" r:id="rId232"/>
    <p:sldId id="1769" r:id="rId233"/>
    <p:sldId id="2147" r:id="rId234"/>
    <p:sldId id="2154" r:id="rId235"/>
    <p:sldId id="1776" r:id="rId236"/>
    <p:sldId id="1778" r:id="rId237"/>
    <p:sldId id="1779" r:id="rId238"/>
    <p:sldId id="1774" r:id="rId239"/>
    <p:sldId id="2148" r:id="rId240"/>
    <p:sldId id="1780" r:id="rId241"/>
    <p:sldId id="2149" r:id="rId242"/>
    <p:sldId id="1781" r:id="rId243"/>
    <p:sldId id="1783" r:id="rId244"/>
    <p:sldId id="1782" r:id="rId245"/>
    <p:sldId id="1784" r:id="rId246"/>
    <p:sldId id="1785" r:id="rId247"/>
    <p:sldId id="1786" r:id="rId248"/>
    <p:sldId id="1797" r:id="rId249"/>
    <p:sldId id="1798" r:id="rId250"/>
    <p:sldId id="1791" r:id="rId251"/>
    <p:sldId id="1799" r:id="rId252"/>
    <p:sldId id="1796" r:id="rId253"/>
    <p:sldId id="1800" r:id="rId254"/>
    <p:sldId id="1750" r:id="rId255"/>
    <p:sldId id="1737" r:id="rId256"/>
    <p:sldId id="1805" r:id="rId257"/>
    <p:sldId id="1745" r:id="rId258"/>
    <p:sldId id="1746" r:id="rId259"/>
    <p:sldId id="1803" r:id="rId260"/>
    <p:sldId id="1804" r:id="rId261"/>
    <p:sldId id="2142" r:id="rId262"/>
    <p:sldId id="1816" r:id="rId263"/>
    <p:sldId id="1820" r:id="rId264"/>
    <p:sldId id="1747" r:id="rId265"/>
    <p:sldId id="1819" r:id="rId266"/>
    <p:sldId id="2143" r:id="rId267"/>
    <p:sldId id="1817" r:id="rId268"/>
    <p:sldId id="1821" r:id="rId269"/>
    <p:sldId id="2144" r:id="rId270"/>
    <p:sldId id="1823" r:id="rId271"/>
    <p:sldId id="2086" r:id="rId272"/>
    <p:sldId id="2087" r:id="rId273"/>
    <p:sldId id="2088" r:id="rId274"/>
    <p:sldId id="2091" r:id="rId275"/>
    <p:sldId id="2116" r:id="rId276"/>
    <p:sldId id="2092" r:id="rId277"/>
    <p:sldId id="2117" r:id="rId278"/>
    <p:sldId id="2093" r:id="rId279"/>
    <p:sldId id="2094" r:id="rId280"/>
    <p:sldId id="2118" r:id="rId281"/>
    <p:sldId id="2096" r:id="rId282"/>
    <p:sldId id="2127" r:id="rId283"/>
    <p:sldId id="2097" r:id="rId284"/>
    <p:sldId id="2098" r:id="rId285"/>
    <p:sldId id="2099" r:id="rId286"/>
    <p:sldId id="2101" r:id="rId287"/>
    <p:sldId id="2126" r:id="rId288"/>
    <p:sldId id="2102" r:id="rId289"/>
    <p:sldId id="2125" r:id="rId290"/>
    <p:sldId id="2105" r:id="rId291"/>
    <p:sldId id="2106" r:id="rId292"/>
    <p:sldId id="2107" r:id="rId293"/>
    <p:sldId id="2108" r:id="rId294"/>
    <p:sldId id="2109" r:id="rId295"/>
    <p:sldId id="2110" r:id="rId296"/>
    <p:sldId id="2111" r:id="rId297"/>
    <p:sldId id="2112" r:id="rId298"/>
    <p:sldId id="2113" r:id="rId299"/>
    <p:sldId id="2114" r:id="rId300"/>
    <p:sldId id="1569" r:id="rId301"/>
    <p:sldId id="1712" r:id="rId302"/>
    <p:sldId id="1663" r:id="rId303"/>
    <p:sldId id="1809" r:id="rId304"/>
    <p:sldId id="1810" r:id="rId305"/>
    <p:sldId id="1811" r:id="rId306"/>
    <p:sldId id="1812" r:id="rId307"/>
    <p:sldId id="1813" r:id="rId308"/>
    <p:sldId id="1814" r:id="rId309"/>
    <p:sldId id="1664" r:id="rId310"/>
  </p:sldIdLst>
  <p:sldSz cx="9144000" cy="6858000" type="screen4x3"/>
  <p:notesSz cx="9931400" cy="6794500"/>
  <p:custDataLst>
    <p:tags r:id="rId313"/>
  </p:custDataLst>
  <p:defaultTextStyle>
    <a:defPPr>
      <a:defRPr lang="en-US"/>
    </a:defPPr>
    <a:lvl1pPr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1pPr>
    <a:lvl2pPr marL="4572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9144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3pPr>
    <a:lvl4pPr marL="1371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18288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286000" algn="l" defTabSz="457200" rtl="0" eaLnBrk="1" latinLnBrk="0" hangingPunct="1">
      <a:defRPr sz="800" kern="1200">
        <a:solidFill>
          <a:srgbClr val="010507"/>
        </a:solidFill>
        <a:latin typeface="Arial" charset="0"/>
        <a:ea typeface="ＭＳ Ｐゴシック" charset="0"/>
        <a:cs typeface="+mn-cs"/>
      </a:defRPr>
    </a:lvl6pPr>
    <a:lvl7pPr marL="2743200" algn="l" defTabSz="457200" rtl="0" eaLnBrk="1" latinLnBrk="0" hangingPunct="1">
      <a:defRPr sz="800" kern="1200">
        <a:solidFill>
          <a:srgbClr val="010507"/>
        </a:solidFill>
        <a:latin typeface="Arial" charset="0"/>
        <a:ea typeface="ＭＳ Ｐゴシック" charset="0"/>
        <a:cs typeface="+mn-cs"/>
      </a:defRPr>
    </a:lvl7pPr>
    <a:lvl8pPr marL="3200400" algn="l" defTabSz="457200" rtl="0" eaLnBrk="1" latinLnBrk="0" hangingPunct="1">
      <a:defRPr sz="800" kern="1200">
        <a:solidFill>
          <a:srgbClr val="010507"/>
        </a:solidFill>
        <a:latin typeface="Arial" charset="0"/>
        <a:ea typeface="ＭＳ Ｐゴシック" charset="0"/>
        <a:cs typeface="+mn-cs"/>
      </a:defRPr>
    </a:lvl8pPr>
    <a:lvl9pPr marL="3657600" algn="l" defTabSz="457200" rtl="0" eaLnBrk="1" latinLnBrk="0" hangingPunct="1">
      <a:defRPr sz="800" kern="1200">
        <a:solidFill>
          <a:srgbClr val="010507"/>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 uri="{2D200454-40CA-4A62-9FC3-DE9A4176ACB9}">
      <p15:notesGuideLst xmlns:p15="http://schemas.microsoft.com/office/powerpoint/2012/main">
        <p15:guide id="1" orient="horz" pos="1605">
          <p15:clr>
            <a:srgbClr val="A4A3A4"/>
          </p15:clr>
        </p15:guide>
        <p15:guide id="2" pos="417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66"/>
    <a:srgbClr val="FF00FF"/>
    <a:srgbClr val="FF0000"/>
    <a:srgbClr val="79F7FF"/>
    <a:srgbClr val="99CCFF"/>
    <a:srgbClr val="A70524"/>
    <a:srgbClr val="EAEAEA"/>
    <a:srgbClr val="FFCC00"/>
    <a:srgbClr val="FF9933"/>
    <a:srgbClr val="08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34" autoAdjust="0"/>
    <p:restoredTop sz="89593" autoAdjust="0"/>
  </p:normalViewPr>
  <p:slideViewPr>
    <p:cSldViewPr>
      <p:cViewPr varScale="1">
        <p:scale>
          <a:sx n="64" d="100"/>
          <a:sy n="64" d="100"/>
        </p:scale>
        <p:origin x="1686" y="60"/>
      </p:cViewPr>
      <p:guideLst>
        <p:guide orient="horz" pos="4319"/>
        <p:guide pos="575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Lst>
  </p:outlineViewPr>
  <p:notesTextViewPr>
    <p:cViewPr>
      <p:scale>
        <a:sx n="100" d="100"/>
        <a:sy n="100" d="100"/>
      </p:scale>
      <p:origin x="0" y="0"/>
    </p:cViewPr>
  </p:notesTextViewPr>
  <p:sorterViewPr>
    <p:cViewPr>
      <p:scale>
        <a:sx n="150" d="100"/>
        <a:sy n="150" d="100"/>
      </p:scale>
      <p:origin x="0" y="0"/>
    </p:cViewPr>
  </p:sorterViewPr>
  <p:notesViewPr>
    <p:cSldViewPr>
      <p:cViewPr>
        <p:scale>
          <a:sx n="100" d="100"/>
          <a:sy n="100" d="100"/>
        </p:scale>
        <p:origin x="-990" y="-270"/>
      </p:cViewPr>
      <p:guideLst>
        <p:guide orient="horz" pos="1605"/>
        <p:guide pos="4173"/>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99" Type="http://schemas.openxmlformats.org/officeDocument/2006/relationships/slide" Target="slides/slide296.xml"/><Relationship Id="rId303" Type="http://schemas.openxmlformats.org/officeDocument/2006/relationships/slide" Target="slides/slide300.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slide" Target="slides/slide223.xml"/><Relationship Id="rId247" Type="http://schemas.openxmlformats.org/officeDocument/2006/relationships/slide" Target="slides/slide244.xml"/><Relationship Id="rId107" Type="http://schemas.openxmlformats.org/officeDocument/2006/relationships/slide" Target="slides/slide104.xml"/><Relationship Id="rId268" Type="http://schemas.openxmlformats.org/officeDocument/2006/relationships/slide" Target="slides/slide265.xml"/><Relationship Id="rId289" Type="http://schemas.openxmlformats.org/officeDocument/2006/relationships/slide" Target="slides/slide286.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314" Type="http://schemas.openxmlformats.org/officeDocument/2006/relationships/presProps" Target="presProps.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37" Type="http://schemas.openxmlformats.org/officeDocument/2006/relationships/slide" Target="slides/slide234.xml"/><Relationship Id="rId258" Type="http://schemas.openxmlformats.org/officeDocument/2006/relationships/slide" Target="slides/slide255.xml"/><Relationship Id="rId279" Type="http://schemas.openxmlformats.org/officeDocument/2006/relationships/slide" Target="slides/slide276.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290" Type="http://schemas.openxmlformats.org/officeDocument/2006/relationships/slide" Target="slides/slide287.xml"/><Relationship Id="rId304" Type="http://schemas.openxmlformats.org/officeDocument/2006/relationships/slide" Target="slides/slide301.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227" Type="http://schemas.openxmlformats.org/officeDocument/2006/relationships/slide" Target="slides/slide224.xml"/><Relationship Id="rId248" Type="http://schemas.openxmlformats.org/officeDocument/2006/relationships/slide" Target="slides/slide245.xml"/><Relationship Id="rId269" Type="http://schemas.openxmlformats.org/officeDocument/2006/relationships/slide" Target="slides/slide266.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280" Type="http://schemas.openxmlformats.org/officeDocument/2006/relationships/slide" Target="slides/slide277.xml"/><Relationship Id="rId315" Type="http://schemas.openxmlformats.org/officeDocument/2006/relationships/viewProps" Target="viewProps.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217" Type="http://schemas.openxmlformats.org/officeDocument/2006/relationships/slide" Target="slides/slide214.xml"/><Relationship Id="rId6" Type="http://schemas.openxmlformats.org/officeDocument/2006/relationships/slide" Target="slides/slide3.xml"/><Relationship Id="rId238" Type="http://schemas.openxmlformats.org/officeDocument/2006/relationships/slide" Target="slides/slide235.xml"/><Relationship Id="rId259" Type="http://schemas.openxmlformats.org/officeDocument/2006/relationships/slide" Target="slides/slide256.xml"/><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slide" Target="slides/slide267.xml"/><Relationship Id="rId291" Type="http://schemas.openxmlformats.org/officeDocument/2006/relationships/slide" Target="slides/slide288.xml"/><Relationship Id="rId305" Type="http://schemas.openxmlformats.org/officeDocument/2006/relationships/slide" Target="slides/slide302.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228" Type="http://schemas.openxmlformats.org/officeDocument/2006/relationships/slide" Target="slides/slide225.xml"/><Relationship Id="rId249" Type="http://schemas.openxmlformats.org/officeDocument/2006/relationships/slide" Target="slides/slide246.xml"/><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slide" Target="slides/slide257.xml"/><Relationship Id="rId281" Type="http://schemas.openxmlformats.org/officeDocument/2006/relationships/slide" Target="slides/slide278.xml"/><Relationship Id="rId316" Type="http://schemas.openxmlformats.org/officeDocument/2006/relationships/theme" Target="theme/theme1.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18" Type="http://schemas.openxmlformats.org/officeDocument/2006/relationships/slide" Target="slides/slide215.xml"/><Relationship Id="rId239" Type="http://schemas.openxmlformats.org/officeDocument/2006/relationships/slide" Target="slides/slide236.xml"/><Relationship Id="rId250" Type="http://schemas.openxmlformats.org/officeDocument/2006/relationships/slide" Target="slides/slide247.xml"/><Relationship Id="rId271" Type="http://schemas.openxmlformats.org/officeDocument/2006/relationships/slide" Target="slides/slide268.xml"/><Relationship Id="rId292" Type="http://schemas.openxmlformats.org/officeDocument/2006/relationships/slide" Target="slides/slide289.xml"/><Relationship Id="rId306" Type="http://schemas.openxmlformats.org/officeDocument/2006/relationships/slide" Target="slides/slide303.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199" Type="http://schemas.openxmlformats.org/officeDocument/2006/relationships/slide" Target="slides/slide196.xml"/><Relationship Id="rId203" Type="http://schemas.openxmlformats.org/officeDocument/2006/relationships/slide" Target="slides/slide200.xml"/><Relationship Id="rId208" Type="http://schemas.openxmlformats.org/officeDocument/2006/relationships/slide" Target="slides/slide205.xml"/><Relationship Id="rId229" Type="http://schemas.openxmlformats.org/officeDocument/2006/relationships/slide" Target="slides/slide226.xml"/><Relationship Id="rId19" Type="http://schemas.openxmlformats.org/officeDocument/2006/relationships/slide" Target="slides/slide16.xml"/><Relationship Id="rId224" Type="http://schemas.openxmlformats.org/officeDocument/2006/relationships/slide" Target="slides/slide221.xml"/><Relationship Id="rId240" Type="http://schemas.openxmlformats.org/officeDocument/2006/relationships/slide" Target="slides/slide237.xml"/><Relationship Id="rId245" Type="http://schemas.openxmlformats.org/officeDocument/2006/relationships/slide" Target="slides/slide242.xml"/><Relationship Id="rId261" Type="http://schemas.openxmlformats.org/officeDocument/2006/relationships/slide" Target="slides/slide258.xml"/><Relationship Id="rId266" Type="http://schemas.openxmlformats.org/officeDocument/2006/relationships/slide" Target="slides/slide263.xml"/><Relationship Id="rId287" Type="http://schemas.openxmlformats.org/officeDocument/2006/relationships/slide" Target="slides/slide284.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282" Type="http://schemas.openxmlformats.org/officeDocument/2006/relationships/slide" Target="slides/slide279.xml"/><Relationship Id="rId312" Type="http://schemas.openxmlformats.org/officeDocument/2006/relationships/handoutMaster" Target="handoutMasters/handoutMaster1.xml"/><Relationship Id="rId31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219" Type="http://schemas.openxmlformats.org/officeDocument/2006/relationships/slide" Target="slides/slide216.xml"/><Relationship Id="rId3" Type="http://schemas.openxmlformats.org/officeDocument/2006/relationships/slideMaster" Target="slideMasters/slideMaster3.xml"/><Relationship Id="rId214" Type="http://schemas.openxmlformats.org/officeDocument/2006/relationships/slide" Target="slides/slide211.xml"/><Relationship Id="rId230" Type="http://schemas.openxmlformats.org/officeDocument/2006/relationships/slide" Target="slides/slide227.xml"/><Relationship Id="rId235" Type="http://schemas.openxmlformats.org/officeDocument/2006/relationships/slide" Target="slides/slide232.xml"/><Relationship Id="rId251" Type="http://schemas.openxmlformats.org/officeDocument/2006/relationships/slide" Target="slides/slide248.xml"/><Relationship Id="rId256" Type="http://schemas.openxmlformats.org/officeDocument/2006/relationships/slide" Target="slides/slide253.xml"/><Relationship Id="rId277" Type="http://schemas.openxmlformats.org/officeDocument/2006/relationships/slide" Target="slides/slide274.xml"/><Relationship Id="rId298" Type="http://schemas.openxmlformats.org/officeDocument/2006/relationships/slide" Target="slides/slide295.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72" Type="http://schemas.openxmlformats.org/officeDocument/2006/relationships/slide" Target="slides/slide269.xml"/><Relationship Id="rId293" Type="http://schemas.openxmlformats.org/officeDocument/2006/relationships/slide" Target="slides/slide290.xml"/><Relationship Id="rId302" Type="http://schemas.openxmlformats.org/officeDocument/2006/relationships/slide" Target="slides/slide299.xml"/><Relationship Id="rId307" Type="http://schemas.openxmlformats.org/officeDocument/2006/relationships/slide" Target="slides/slide30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slide" Target="slides/slide206.xml"/><Relationship Id="rId190" Type="http://schemas.openxmlformats.org/officeDocument/2006/relationships/slide" Target="slides/slide187.xml"/><Relationship Id="rId204" Type="http://schemas.openxmlformats.org/officeDocument/2006/relationships/slide" Target="slides/slide201.xml"/><Relationship Id="rId220" Type="http://schemas.openxmlformats.org/officeDocument/2006/relationships/slide" Target="slides/slide217.xml"/><Relationship Id="rId225" Type="http://schemas.openxmlformats.org/officeDocument/2006/relationships/slide" Target="slides/slide222.xml"/><Relationship Id="rId241" Type="http://schemas.openxmlformats.org/officeDocument/2006/relationships/slide" Target="slides/slide238.xml"/><Relationship Id="rId246" Type="http://schemas.openxmlformats.org/officeDocument/2006/relationships/slide" Target="slides/slide243.xml"/><Relationship Id="rId267" Type="http://schemas.openxmlformats.org/officeDocument/2006/relationships/slide" Target="slides/slide264.xml"/><Relationship Id="rId288" Type="http://schemas.openxmlformats.org/officeDocument/2006/relationships/slide" Target="slides/slide285.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262" Type="http://schemas.openxmlformats.org/officeDocument/2006/relationships/slide" Target="slides/slide259.xml"/><Relationship Id="rId283" Type="http://schemas.openxmlformats.org/officeDocument/2006/relationships/slide" Target="slides/slide280.xml"/><Relationship Id="rId313" Type="http://schemas.openxmlformats.org/officeDocument/2006/relationships/tags" Target="tags/tag1.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slide" Target="slides/slide20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slide" Target="slides/slide254.xml"/><Relationship Id="rId278" Type="http://schemas.openxmlformats.org/officeDocument/2006/relationships/slide" Target="slides/slide275.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slide" Target="slides/slide249.xml"/><Relationship Id="rId273" Type="http://schemas.openxmlformats.org/officeDocument/2006/relationships/slide" Target="slides/slide270.xml"/><Relationship Id="rId294" Type="http://schemas.openxmlformats.org/officeDocument/2006/relationships/slide" Target="slides/slide291.xml"/><Relationship Id="rId308" Type="http://schemas.openxmlformats.org/officeDocument/2006/relationships/slide" Target="slides/slide305.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slide" Target="slides/slide239.xml"/><Relationship Id="rId263" Type="http://schemas.openxmlformats.org/officeDocument/2006/relationships/slide" Target="slides/slide260.xml"/><Relationship Id="rId284" Type="http://schemas.openxmlformats.org/officeDocument/2006/relationships/slide" Target="slides/slide281.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slide" Target="slides/slide250.xml"/><Relationship Id="rId274" Type="http://schemas.openxmlformats.org/officeDocument/2006/relationships/slide" Target="slides/slide271.xml"/><Relationship Id="rId295" Type="http://schemas.openxmlformats.org/officeDocument/2006/relationships/slide" Target="slides/slide292.xml"/><Relationship Id="rId309" Type="http://schemas.openxmlformats.org/officeDocument/2006/relationships/slide" Target="slides/slide306.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slide" Target="slides/slide240.xml"/><Relationship Id="rId264" Type="http://schemas.openxmlformats.org/officeDocument/2006/relationships/slide" Target="slides/slide261.xml"/><Relationship Id="rId285" Type="http://schemas.openxmlformats.org/officeDocument/2006/relationships/slide" Target="slides/slide28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310" Type="http://schemas.openxmlformats.org/officeDocument/2006/relationships/slide" Target="slides/slide307.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slide" Target="slides/slide25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slide" Target="slides/slide272.xml"/><Relationship Id="rId296" Type="http://schemas.openxmlformats.org/officeDocument/2006/relationships/slide" Target="slides/slide293.xml"/><Relationship Id="rId300" Type="http://schemas.openxmlformats.org/officeDocument/2006/relationships/slide" Target="slides/slide297.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slide" Target="slides/slide241.xml"/><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slide" Target="slides/slide262.xml"/><Relationship Id="rId286" Type="http://schemas.openxmlformats.org/officeDocument/2006/relationships/slide" Target="slides/slide283.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311" Type="http://schemas.openxmlformats.org/officeDocument/2006/relationships/notesMaster" Target="notesMasters/notesMaster1.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slide" Target="slides/slide252.xml"/><Relationship Id="rId276" Type="http://schemas.openxmlformats.org/officeDocument/2006/relationships/slide" Target="slides/slide273.xml"/><Relationship Id="rId297" Type="http://schemas.openxmlformats.org/officeDocument/2006/relationships/slide" Target="slides/slide294.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301" Type="http://schemas.openxmlformats.org/officeDocument/2006/relationships/slide" Target="slides/slide298.xml"/></Relationships>
</file>

<file path=ppt/_rels/viewProps.xml.rels><?xml version="1.0" encoding="UTF-8" standalone="yes"?>
<Relationships xmlns="http://schemas.openxmlformats.org/package/2006/relationships"><Relationship Id="rId8" Type="http://schemas.openxmlformats.org/officeDocument/2006/relationships/slide" Target="slides/slide232.xml"/><Relationship Id="rId13" Type="http://schemas.openxmlformats.org/officeDocument/2006/relationships/slide" Target="slides/slide237.xml"/><Relationship Id="rId18" Type="http://schemas.openxmlformats.org/officeDocument/2006/relationships/slide" Target="slides/slide242.xml"/><Relationship Id="rId26" Type="http://schemas.openxmlformats.org/officeDocument/2006/relationships/slide" Target="slides/slide250.xml"/><Relationship Id="rId3" Type="http://schemas.openxmlformats.org/officeDocument/2006/relationships/slide" Target="slides/slide227.xml"/><Relationship Id="rId21" Type="http://schemas.openxmlformats.org/officeDocument/2006/relationships/slide" Target="slides/slide245.xml"/><Relationship Id="rId7" Type="http://schemas.openxmlformats.org/officeDocument/2006/relationships/slide" Target="slides/slide231.xml"/><Relationship Id="rId12" Type="http://schemas.openxmlformats.org/officeDocument/2006/relationships/slide" Target="slides/slide236.xml"/><Relationship Id="rId17" Type="http://schemas.openxmlformats.org/officeDocument/2006/relationships/slide" Target="slides/slide241.xml"/><Relationship Id="rId25" Type="http://schemas.openxmlformats.org/officeDocument/2006/relationships/slide" Target="slides/slide249.xml"/><Relationship Id="rId2" Type="http://schemas.openxmlformats.org/officeDocument/2006/relationships/slide" Target="slides/slide226.xml"/><Relationship Id="rId16" Type="http://schemas.openxmlformats.org/officeDocument/2006/relationships/slide" Target="slides/slide240.xml"/><Relationship Id="rId20" Type="http://schemas.openxmlformats.org/officeDocument/2006/relationships/slide" Target="slides/slide244.xml"/><Relationship Id="rId1" Type="http://schemas.openxmlformats.org/officeDocument/2006/relationships/slide" Target="slides/slide225.xml"/><Relationship Id="rId6" Type="http://schemas.openxmlformats.org/officeDocument/2006/relationships/slide" Target="slides/slide230.xml"/><Relationship Id="rId11" Type="http://schemas.openxmlformats.org/officeDocument/2006/relationships/slide" Target="slides/slide235.xml"/><Relationship Id="rId24" Type="http://schemas.openxmlformats.org/officeDocument/2006/relationships/slide" Target="slides/slide248.xml"/><Relationship Id="rId5" Type="http://schemas.openxmlformats.org/officeDocument/2006/relationships/slide" Target="slides/slide229.xml"/><Relationship Id="rId15" Type="http://schemas.openxmlformats.org/officeDocument/2006/relationships/slide" Target="slides/slide239.xml"/><Relationship Id="rId23" Type="http://schemas.openxmlformats.org/officeDocument/2006/relationships/slide" Target="slides/slide247.xml"/><Relationship Id="rId28" Type="http://schemas.openxmlformats.org/officeDocument/2006/relationships/slide" Target="slides/slide252.xml"/><Relationship Id="rId10" Type="http://schemas.openxmlformats.org/officeDocument/2006/relationships/slide" Target="slides/slide234.xml"/><Relationship Id="rId19" Type="http://schemas.openxmlformats.org/officeDocument/2006/relationships/slide" Target="slides/slide243.xml"/><Relationship Id="rId4" Type="http://schemas.openxmlformats.org/officeDocument/2006/relationships/slide" Target="slides/slide228.xml"/><Relationship Id="rId9" Type="http://schemas.openxmlformats.org/officeDocument/2006/relationships/slide" Target="slides/slide233.xml"/><Relationship Id="rId14" Type="http://schemas.openxmlformats.org/officeDocument/2006/relationships/slide" Target="slides/slide238.xml"/><Relationship Id="rId22" Type="http://schemas.openxmlformats.org/officeDocument/2006/relationships/slide" Target="slides/slide246.xml"/><Relationship Id="rId27" Type="http://schemas.openxmlformats.org/officeDocument/2006/relationships/slide" Target="slides/slide2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5" name="Rectangle 3"/>
          <p:cNvSpPr>
            <a:spLocks noGrp="1" noChangeArrowheads="1"/>
          </p:cNvSpPr>
          <p:nvPr>
            <p:ph type="dt" sz="quarter" idx="1"/>
          </p:nvPr>
        </p:nvSpPr>
        <p:spPr bwMode="auto">
          <a:xfrm>
            <a:off x="5629275"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r"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6" name="Rectangle 4"/>
          <p:cNvSpPr>
            <a:spLocks noGrp="1" noChangeArrowheads="1"/>
          </p:cNvSpPr>
          <p:nvPr>
            <p:ph type="ftr" sz="quarter" idx="2"/>
          </p:nvPr>
        </p:nvSpPr>
        <p:spPr bwMode="auto">
          <a:xfrm>
            <a:off x="0"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7" name="Rectangle 5"/>
          <p:cNvSpPr>
            <a:spLocks noGrp="1" noChangeArrowheads="1"/>
          </p:cNvSpPr>
          <p:nvPr>
            <p:ph type="sldNum" sz="quarter" idx="3"/>
          </p:nvPr>
        </p:nvSpPr>
        <p:spPr bwMode="auto">
          <a:xfrm>
            <a:off x="5629275"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r" defTabSz="925513">
              <a:spcBef>
                <a:spcPct val="0"/>
              </a:spcBef>
              <a:buClrTx/>
              <a:buSzTx/>
              <a:buFontTx/>
              <a:buNone/>
              <a:defRPr sz="1100" i="1">
                <a:solidFill>
                  <a:schemeClr val="tx1"/>
                </a:solidFill>
                <a:latin typeface="Times New Roman" charset="0"/>
              </a:defRPr>
            </a:lvl1pPr>
          </a:lstStyle>
          <a:p>
            <a:fld id="{AF383F6B-18B0-1542-A614-EC775359FC3F}" type="slidenum">
              <a:rPr lang="fr-FR"/>
              <a:pPr/>
              <a:t>‹N°›</a:t>
            </a:fld>
            <a:endParaRPr lang="fr-FR"/>
          </a:p>
        </p:txBody>
      </p:sp>
    </p:spTree>
    <p:extLst>
      <p:ext uri="{BB962C8B-B14F-4D97-AF65-F5344CB8AC3E}">
        <p14:creationId xmlns:p14="http://schemas.microsoft.com/office/powerpoint/2010/main" val="29325584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2051" name="Rectangle 3"/>
          <p:cNvSpPr>
            <a:spLocks noGrp="1" noChangeArrowheads="1"/>
          </p:cNvSpPr>
          <p:nvPr>
            <p:ph type="dt" idx="1"/>
          </p:nvPr>
        </p:nvSpPr>
        <p:spPr bwMode="auto">
          <a:xfrm>
            <a:off x="5629275"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r"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41988" name="Rectangle 4"/>
          <p:cNvSpPr>
            <a:spLocks noGrp="1" noRot="1" noChangeAspect="1" noChangeArrowheads="1" noTextEdit="1"/>
          </p:cNvSpPr>
          <p:nvPr>
            <p:ph type="sldImg" idx="2"/>
          </p:nvPr>
        </p:nvSpPr>
        <p:spPr bwMode="auto">
          <a:xfrm>
            <a:off x="3278188" y="512763"/>
            <a:ext cx="3386137" cy="2540000"/>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 uri="{FAA26D3D-D897-4be2-8F04-BA451C77F1D7}">
              <ma14:placeholderFlag xmlns:ma14="http://schemas.microsoft.com/office/mac/drawingml/2011/main" xmlns="" val="1"/>
            </a:ext>
          </a:extLst>
        </p:spPr>
      </p:sp>
      <p:sp>
        <p:nvSpPr>
          <p:cNvPr id="2053" name="Rectangle 5"/>
          <p:cNvSpPr>
            <a:spLocks noGrp="1" noChangeArrowheads="1"/>
          </p:cNvSpPr>
          <p:nvPr>
            <p:ph type="body" sz="quarter" idx="3"/>
          </p:nvPr>
        </p:nvSpPr>
        <p:spPr bwMode="auto">
          <a:xfrm>
            <a:off x="1325563" y="3227388"/>
            <a:ext cx="7280275" cy="3060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006" tIns="46503" rIns="93006" bIns="46503"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054" name="Rectangle 6"/>
          <p:cNvSpPr>
            <a:spLocks noGrp="1" noChangeArrowheads="1"/>
          </p:cNvSpPr>
          <p:nvPr>
            <p:ph type="ftr" sz="quarter" idx="4"/>
          </p:nvPr>
        </p:nvSpPr>
        <p:spPr bwMode="auto">
          <a:xfrm>
            <a:off x="0"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2055" name="Rectangle 7"/>
          <p:cNvSpPr>
            <a:spLocks noGrp="1" noChangeArrowheads="1"/>
          </p:cNvSpPr>
          <p:nvPr>
            <p:ph type="sldNum" sz="quarter" idx="5"/>
          </p:nvPr>
        </p:nvSpPr>
        <p:spPr bwMode="auto">
          <a:xfrm>
            <a:off x="5629275"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r" defTabSz="925513">
              <a:spcBef>
                <a:spcPct val="0"/>
              </a:spcBef>
              <a:buClrTx/>
              <a:buSzTx/>
              <a:buFontTx/>
              <a:buNone/>
              <a:defRPr sz="1100" i="1">
                <a:solidFill>
                  <a:schemeClr val="tx1"/>
                </a:solidFill>
                <a:latin typeface="Times New Roman" charset="0"/>
              </a:defRPr>
            </a:lvl1pPr>
          </a:lstStyle>
          <a:p>
            <a:fld id="{B4E1F8BA-42AC-4F4D-A3C8-1DE9704DC2C9}" type="slidenum">
              <a:rPr lang="fr-FR"/>
              <a:pPr/>
              <a:t>‹N°›</a:t>
            </a:fld>
            <a:endParaRPr lang="fr-FR"/>
          </a:p>
        </p:txBody>
      </p:sp>
    </p:spTree>
    <p:extLst>
      <p:ext uri="{BB962C8B-B14F-4D97-AF65-F5344CB8AC3E}">
        <p14:creationId xmlns:p14="http://schemas.microsoft.com/office/powerpoint/2010/main" val="35011522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 Target="../slides/slide284.xml"/><Relationship Id="rId1" Type="http://schemas.openxmlformats.org/officeDocument/2006/relationships/notesMaster" Target="../notesMasters/notesMaster1.xml"/><Relationship Id="rId5" Type="http://schemas.openxmlformats.org/officeDocument/2006/relationships/hyperlink" Target="http://www.opengroup.org/onlinepubs/000095399/basedefs/string.h.html" TargetMode="External"/><Relationship Id="rId4" Type="http://schemas.openxmlformats.org/officeDocument/2006/relationships/image" Target="../media/image30.png"/></Relationships>
</file>

<file path=ppt/notesSlides/_rels/note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 Target="../slides/slide285.xml"/><Relationship Id="rId1" Type="http://schemas.openxmlformats.org/officeDocument/2006/relationships/notesMaster" Target="../notesMasters/notesMaster1.xml"/><Relationship Id="rId5" Type="http://schemas.openxmlformats.org/officeDocument/2006/relationships/hyperlink" Target="http://www.opengroup.org/onlinepubs/000095399/basedefs/string.h.html" TargetMode="External"/><Relationship Id="rId4" Type="http://schemas.openxmlformats.org/officeDocument/2006/relationships/image" Target="../media/image30.png"/></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err="1"/>
              <a:t>Loosy</a:t>
            </a:r>
            <a:r>
              <a:rPr lang="en-GB" dirty="0"/>
              <a:t>/weakly typed language: argument passed in</a:t>
            </a:r>
            <a:r>
              <a:rPr lang="en-GB" baseline="0" dirty="0"/>
              <a:t> a function call</a:t>
            </a:r>
            <a:r>
              <a:rPr lang="en-GB" dirty="0"/>
              <a:t> does not match with the expected type</a:t>
            </a:r>
            <a:r>
              <a:rPr lang="en-GB" dirty="0">
                <a:sym typeface="Wingdings"/>
              </a:rPr>
              <a:t> </a:t>
            </a:r>
            <a:r>
              <a:rPr lang="en-GB" dirty="0"/>
              <a:t> produce unpredictable results or may perform implicit type conversion.(strong</a:t>
            </a:r>
            <a:r>
              <a:rPr lang="en-GB" baseline="0" dirty="0"/>
              <a:t> type </a:t>
            </a:r>
            <a:r>
              <a:rPr lang="en-GB" baseline="0" dirty="0">
                <a:sym typeface="Wingdings"/>
              </a:rPr>
              <a:t> refuse to compile</a:t>
            </a:r>
            <a:r>
              <a:rPr lang="en-GB" dirty="0"/>
              <a:t>)</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6</a:t>
            </a:fld>
            <a:endParaRPr lang="fr-FR"/>
          </a:p>
        </p:txBody>
      </p:sp>
    </p:spTree>
    <p:extLst>
      <p:ext uri="{BB962C8B-B14F-4D97-AF65-F5344CB8AC3E}">
        <p14:creationId xmlns:p14="http://schemas.microsoft.com/office/powerpoint/2010/main" val="2268904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a:t>
            </a:r>
            <a:r>
              <a:rPr lang="en-US" b="1" dirty="0"/>
              <a:t>declared</a:t>
            </a:r>
            <a:r>
              <a:rPr lang="en-US" dirty="0"/>
              <a:t> when the compiler is </a:t>
            </a:r>
            <a:r>
              <a:rPr lang="en-US" b="1" dirty="0"/>
              <a:t>informed that a variable exists (and this is its type); it does not allocate the storage f</a:t>
            </a:r>
            <a:r>
              <a:rPr lang="en-US" dirty="0"/>
              <a:t>or the variable at that point.</a:t>
            </a:r>
          </a:p>
          <a:p>
            <a:r>
              <a:rPr lang="en-US" dirty="0"/>
              <a:t>A variable is </a:t>
            </a:r>
            <a:r>
              <a:rPr lang="en-US" b="1" dirty="0"/>
              <a:t>defined</a:t>
            </a:r>
            <a:r>
              <a:rPr lang="en-US" dirty="0"/>
              <a:t> when the </a:t>
            </a:r>
            <a:r>
              <a:rPr lang="en-US" b="1" dirty="0"/>
              <a:t>compiler allocates the storage for the variable</a:t>
            </a:r>
            <a:r>
              <a:rPr lang="en-US" dirty="0"/>
              <a:t>.</a:t>
            </a:r>
          </a:p>
          <a:p>
            <a:endParaRPr lang="en-US" dirty="0"/>
          </a:p>
          <a:p>
            <a:r>
              <a:rPr lang="en-US" dirty="0"/>
              <a:t>Variables:</a:t>
            </a:r>
            <a:r>
              <a:rPr lang="en-US" baseline="0" dirty="0"/>
              <a:t> it is only a declaration if it has extern, otherwise variable definition</a:t>
            </a:r>
          </a:p>
          <a:p>
            <a:r>
              <a:rPr lang="en-US" baseline="0" dirty="0"/>
              <a:t>Functions: function prototype is a declaration, otherwise function body</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10</a:t>
            </a:fld>
            <a:endParaRPr lang="fr-FR"/>
          </a:p>
        </p:txBody>
      </p:sp>
    </p:spTree>
    <p:extLst>
      <p:ext uri="{BB962C8B-B14F-4D97-AF65-F5344CB8AC3E}">
        <p14:creationId xmlns:p14="http://schemas.microsoft.com/office/powerpoint/2010/main" val="298736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a:t>
            </a:r>
            <a:r>
              <a:rPr lang="en-US" b="1" dirty="0"/>
              <a:t>declared</a:t>
            </a:r>
            <a:r>
              <a:rPr lang="en-US" dirty="0"/>
              <a:t> when the compiler is </a:t>
            </a:r>
            <a:r>
              <a:rPr lang="en-US" b="1" dirty="0"/>
              <a:t>informed that a variable exists (and this is its type); it does not allocate the storage f</a:t>
            </a:r>
            <a:r>
              <a:rPr lang="en-US" dirty="0"/>
              <a:t>or the variable at that point.</a:t>
            </a:r>
          </a:p>
          <a:p>
            <a:r>
              <a:rPr lang="en-US" dirty="0"/>
              <a:t>A variable is </a:t>
            </a:r>
            <a:r>
              <a:rPr lang="en-US" b="1" dirty="0"/>
              <a:t>defined</a:t>
            </a:r>
            <a:r>
              <a:rPr lang="en-US" dirty="0"/>
              <a:t> when the </a:t>
            </a:r>
            <a:r>
              <a:rPr lang="en-US" b="1" dirty="0"/>
              <a:t>compiler allocates the storage for the variable</a:t>
            </a:r>
            <a:r>
              <a:rPr lang="en-US" dirty="0"/>
              <a:t>.</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12</a:t>
            </a:fld>
            <a:endParaRPr lang="fr-FR"/>
          </a:p>
        </p:txBody>
      </p:sp>
    </p:spTree>
    <p:extLst>
      <p:ext uri="{BB962C8B-B14F-4D97-AF65-F5344CB8AC3E}">
        <p14:creationId xmlns:p14="http://schemas.microsoft.com/office/powerpoint/2010/main" val="3665016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Espace réservé de l'image des diapositives 1"/>
          <p:cNvSpPr>
            <a:spLocks noGrp="1" noRot="1" noChangeAspect="1"/>
          </p:cNvSpPr>
          <p:nvPr>
            <p:ph type="sldImg"/>
          </p:nvPr>
        </p:nvSpPr>
        <p:spPr>
          <a:ln/>
        </p:spPr>
      </p:sp>
      <p:sp>
        <p:nvSpPr>
          <p:cNvPr id="65538"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r>
              <a:rPr lang="fr-FR">
                <a:ea typeface="ＭＳ Ｐゴシック" charset="0"/>
                <a:cs typeface="ＭＳ Ｐゴシック" charset="0"/>
              </a:rPr>
              <a:t>#include « ppcm.h »</a:t>
            </a:r>
          </a:p>
          <a:p>
            <a:r>
              <a:rPr lang="fr-FR">
                <a:ea typeface="ＭＳ Ｐゴシック" charset="0"/>
                <a:cs typeface="ＭＳ Ｐゴシック" charset="0"/>
              </a:rPr>
              <a:t>Extern enlever</a:t>
            </a:r>
          </a:p>
          <a:p>
            <a:endParaRPr lang="fr-FR">
              <a:ea typeface="ＭＳ Ｐゴシック" charset="0"/>
              <a:cs typeface="ＭＳ Ｐゴシック" charset="0"/>
            </a:endParaRPr>
          </a:p>
          <a:p>
            <a:r>
              <a:rPr lang="fr-FR">
                <a:ea typeface="ＭＳ Ｐゴシック" charset="0"/>
                <a:cs typeface="ＭＳ Ｐゴシック" charset="0"/>
              </a:rPr>
              <a:t>problème de doubles définitions</a:t>
            </a:r>
          </a:p>
          <a:p>
            <a:r>
              <a:rPr lang="fr-FR">
                <a:ea typeface="ＭＳ Ｐゴシック" charset="0"/>
                <a:cs typeface="ＭＳ Ｐゴシック" charset="0"/>
              </a:rPr>
              <a:t>⇒ protection avec des macros</a:t>
            </a:r>
          </a:p>
          <a:p>
            <a:endParaRPr lang="fr-FR">
              <a:ea typeface="ＭＳ Ｐゴシック" charset="0"/>
              <a:cs typeface="ＭＳ Ｐゴシック" charset="0"/>
            </a:endParaRPr>
          </a:p>
          <a:p>
            <a:r>
              <a:rPr lang="fr-FR" sz="2400" b="1">
                <a:cs typeface="ＭＳ Ｐゴシック" charset="0"/>
              </a:rPr>
              <a:t>Exercice A FAIRE : makefile !!!</a:t>
            </a:r>
          </a:p>
          <a:p>
            <a:endParaRPr lang="fr-FR">
              <a:ea typeface="ＭＳ Ｐゴシック" charset="0"/>
              <a:cs typeface="ＭＳ Ｐゴシック" charset="0"/>
            </a:endParaRPr>
          </a:p>
        </p:txBody>
      </p:sp>
      <p:sp>
        <p:nvSpPr>
          <p:cNvPr id="65539"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22297F50-7D0A-7143-8219-A1FB098AC07B}" type="slidenum">
              <a:rPr lang="fr-FR" sz="1200">
                <a:latin typeface="Times New Roman" charset="0"/>
              </a:rPr>
              <a:pPr/>
              <a:t>19</a:t>
            </a:fld>
            <a:endParaRPr lang="fr-FR" sz="1200">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More portable</a:t>
            </a:r>
            <a:r>
              <a:rPr lang="en-US" baseline="0" dirty="0"/>
              <a:t> as everything is copies into one file (no need for </a:t>
            </a:r>
            <a:r>
              <a:rPr lang="en-US" baseline="0" dirty="0" err="1"/>
              <a:t>libraris</a:t>
            </a:r>
            <a:r>
              <a:rPr lang="en-US" baseline="0" dirty="0"/>
              <a:t>)</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Less portable as it wants the same system</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Faster</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a:t>
            </a:fld>
            <a:endParaRPr lang="fr-FR"/>
          </a:p>
        </p:txBody>
      </p:sp>
    </p:spTree>
    <p:extLst>
      <p:ext uri="{BB962C8B-B14F-4D97-AF65-F5344CB8AC3E}">
        <p14:creationId xmlns:p14="http://schemas.microsoft.com/office/powerpoint/2010/main" val="3455308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More portable</a:t>
            </a:r>
            <a:r>
              <a:rPr lang="en-US" baseline="0" dirty="0"/>
              <a:t> as everything is copies into one file (no need for </a:t>
            </a:r>
            <a:r>
              <a:rPr lang="en-US" baseline="0" dirty="0" err="1"/>
              <a:t>libraris</a:t>
            </a:r>
            <a:r>
              <a:rPr lang="en-US" baseline="0" dirty="0"/>
              <a:t>)</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Less portable as it wants the same system</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Faster</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23</a:t>
            </a:fld>
            <a:endParaRPr lang="fr-FR"/>
          </a:p>
        </p:txBody>
      </p:sp>
    </p:spTree>
    <p:extLst>
      <p:ext uri="{BB962C8B-B14F-4D97-AF65-F5344CB8AC3E}">
        <p14:creationId xmlns:p14="http://schemas.microsoft.com/office/powerpoint/2010/main" val="3455308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statique</a:t>
            </a:r>
            <a:r>
              <a:rPr lang="en-US" dirty="0"/>
              <a:t> : le </a:t>
            </a:r>
            <a:r>
              <a:rPr lang="en-US" dirty="0" err="1"/>
              <a:t>fichier</a:t>
            </a:r>
            <a:r>
              <a:rPr lang="en-US" dirty="0"/>
              <a:t> objet et la </a:t>
            </a:r>
            <a:r>
              <a:rPr lang="en-US" dirty="0" err="1"/>
              <a:t>bibliothèque</a:t>
            </a:r>
            <a:r>
              <a:rPr lang="en-US" dirty="0"/>
              <a:t> </a:t>
            </a:r>
            <a:r>
              <a:rPr lang="en-US" dirty="0" err="1"/>
              <a:t>sont</a:t>
            </a:r>
            <a:r>
              <a:rPr lang="en-US" dirty="0"/>
              <a:t> </a:t>
            </a:r>
            <a:r>
              <a:rPr lang="en-US" dirty="0" err="1"/>
              <a:t>liés</a:t>
            </a:r>
            <a:r>
              <a:rPr lang="en-US" dirty="0"/>
              <a:t> </a:t>
            </a:r>
            <a:r>
              <a:rPr lang="en-US" dirty="0" err="1"/>
              <a:t>dans</a:t>
            </a:r>
            <a:r>
              <a:rPr lang="en-US" dirty="0"/>
              <a:t> le </a:t>
            </a:r>
            <a:r>
              <a:rPr lang="en-US" dirty="0" err="1"/>
              <a:t>même</a:t>
            </a:r>
            <a:r>
              <a:rPr lang="en-US" dirty="0"/>
              <a:t> </a:t>
            </a:r>
            <a:r>
              <a:rPr lang="en-US" dirty="0" err="1"/>
              <a:t>fichier</a:t>
            </a:r>
            <a:r>
              <a:rPr lang="en-US" dirty="0"/>
              <a:t> </a:t>
            </a:r>
            <a:r>
              <a:rPr lang="en-US" dirty="0" err="1"/>
              <a:t>exécutable</a:t>
            </a:r>
            <a:r>
              <a:rPr lang="en-US" dirty="0"/>
              <a:t> ;</a:t>
            </a:r>
          </a:p>
          <a:p>
            <a:r>
              <a:rPr lang="en-US" dirty="0"/>
              <a:t> </a:t>
            </a:r>
            <a:r>
              <a:rPr lang="en-US" dirty="0" err="1"/>
              <a:t>dynamique</a:t>
            </a:r>
            <a:r>
              <a:rPr lang="en-US" dirty="0"/>
              <a:t> : le </a:t>
            </a:r>
            <a:r>
              <a:rPr lang="en-US" dirty="0" err="1"/>
              <a:t>fichier</a:t>
            </a:r>
            <a:r>
              <a:rPr lang="en-US" dirty="0"/>
              <a:t> objet </a:t>
            </a:r>
            <a:r>
              <a:rPr lang="en-US" dirty="0" err="1"/>
              <a:t>est</a:t>
            </a:r>
            <a:r>
              <a:rPr lang="en-US" dirty="0"/>
              <a:t> </a:t>
            </a:r>
            <a:r>
              <a:rPr lang="en-US" dirty="0" err="1"/>
              <a:t>lié</a:t>
            </a:r>
            <a:r>
              <a:rPr lang="en-US" dirty="0"/>
              <a:t> avec la </a:t>
            </a:r>
            <a:r>
              <a:rPr lang="en-US" dirty="0" err="1"/>
              <a:t>bibliothèque</a:t>
            </a:r>
            <a:r>
              <a:rPr lang="en-US" dirty="0"/>
              <a:t>, </a:t>
            </a:r>
            <a:r>
              <a:rPr lang="en-US" dirty="0" err="1"/>
              <a:t>mais</a:t>
            </a:r>
            <a:r>
              <a:rPr lang="en-US" dirty="0"/>
              <a:t> pas </a:t>
            </a:r>
            <a:r>
              <a:rPr lang="en-US" dirty="0" err="1"/>
              <a:t>dans</a:t>
            </a:r>
            <a:r>
              <a:rPr lang="en-US" dirty="0"/>
              <a:t> le </a:t>
            </a:r>
            <a:r>
              <a:rPr lang="en-US" dirty="0" err="1"/>
              <a:t>même</a:t>
            </a:r>
            <a:r>
              <a:rPr lang="en-US" dirty="0"/>
              <a:t> </a:t>
            </a:r>
            <a:r>
              <a:rPr lang="en-US" dirty="0" err="1"/>
              <a:t>fichier</a:t>
            </a:r>
            <a:r>
              <a:rPr lang="en-US" dirty="0"/>
              <a:t> </a:t>
            </a:r>
            <a:r>
              <a:rPr lang="en-US" dirty="0" err="1"/>
              <a:t>exécutable</a:t>
            </a:r>
            <a:r>
              <a:rPr lang="en-US" dirty="0"/>
              <a:t> ; les liens </a:t>
            </a:r>
            <a:r>
              <a:rPr lang="en-US" dirty="0" err="1"/>
              <a:t>dynamiques</a:t>
            </a:r>
            <a:r>
              <a:rPr lang="en-US" dirty="0"/>
              <a:t> </a:t>
            </a:r>
            <a:r>
              <a:rPr lang="en-US" dirty="0" err="1"/>
              <a:t>sont</a:t>
            </a:r>
            <a:r>
              <a:rPr lang="en-US" dirty="0"/>
              <a:t> </a:t>
            </a:r>
            <a:r>
              <a:rPr lang="en-US" dirty="0" err="1"/>
              <a:t>établis</a:t>
            </a:r>
            <a:r>
              <a:rPr lang="en-US" dirty="0"/>
              <a:t> pendant </a:t>
            </a:r>
            <a:r>
              <a:rPr lang="en-US" dirty="0" err="1"/>
              <a:t>l'exécution</a:t>
            </a:r>
            <a:r>
              <a:rPr lang="en-US" dirty="0"/>
              <a:t> du </a:t>
            </a:r>
            <a:r>
              <a:rPr lang="en-US" dirty="0" err="1"/>
              <a:t>fichier</a:t>
            </a:r>
            <a:r>
              <a:rPr lang="en-US" dirty="0"/>
              <a:t> </a:t>
            </a:r>
            <a:r>
              <a:rPr lang="en-US" dirty="0" err="1"/>
              <a:t>exécutable</a:t>
            </a:r>
            <a:r>
              <a:rPr lang="en-US" dirty="0"/>
              <a:t>, </a:t>
            </a:r>
            <a:r>
              <a:rPr lang="en-US" dirty="0" err="1"/>
              <a:t>c'est</a:t>
            </a:r>
            <a:r>
              <a:rPr lang="en-US" dirty="0"/>
              <a:t>-</a:t>
            </a:r>
            <a:r>
              <a:rPr lang="en-US" dirty="0" err="1"/>
              <a:t>à</a:t>
            </a:r>
            <a:r>
              <a:rPr lang="en-US" dirty="0"/>
              <a:t>-dire du </a:t>
            </a:r>
            <a:r>
              <a:rPr lang="en-US" dirty="0" err="1"/>
              <a:t>programme</a:t>
            </a:r>
            <a:r>
              <a:rPr lang="en-US" dirty="0"/>
              <a:t> </a:t>
            </a:r>
            <a:r>
              <a:rPr lang="en-US" dirty="0" err="1"/>
              <a:t>exécutable</a:t>
            </a:r>
            <a:r>
              <a:rPr lang="en-US" dirty="0"/>
              <a:t>.</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24</a:t>
            </a:fld>
            <a:endParaRPr lang="fr-FR"/>
          </a:p>
        </p:txBody>
      </p:sp>
    </p:spTree>
    <p:extLst>
      <p:ext uri="{BB962C8B-B14F-4D97-AF65-F5344CB8AC3E}">
        <p14:creationId xmlns:p14="http://schemas.microsoft.com/office/powerpoint/2010/main" val="909495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Espace réservé de l'image des diapositives 1"/>
          <p:cNvSpPr>
            <a:spLocks noGrp="1" noRot="1" noChangeAspect="1"/>
          </p:cNvSpPr>
          <p:nvPr>
            <p:ph type="sldImg"/>
          </p:nvPr>
        </p:nvSpPr>
        <p:spPr>
          <a:ln/>
        </p:spPr>
      </p:sp>
      <p:sp>
        <p:nvSpPr>
          <p:cNvPr id="59394"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r>
              <a:rPr lang="fr-FR" dirty="0">
                <a:ea typeface="ＭＳ Ｐゴシック" charset="0"/>
                <a:cs typeface="ＭＳ Ｐゴシック" charset="0"/>
              </a:rPr>
              <a:t>$@ Le nom de la cible </a:t>
            </a:r>
          </a:p>
          <a:p>
            <a:r>
              <a:rPr lang="fr-FR" dirty="0">
                <a:ea typeface="ＭＳ Ｐゴシック" charset="0"/>
                <a:cs typeface="ＭＳ Ｐゴシック" charset="0"/>
              </a:rPr>
              <a:t>$&lt; Le nom de la première dépendance </a:t>
            </a:r>
          </a:p>
          <a:p>
            <a:r>
              <a:rPr lang="fr-FR" dirty="0">
                <a:ea typeface="ＭＳ Ｐゴシック" charset="0"/>
                <a:cs typeface="ＭＳ Ｐゴシック" charset="0"/>
              </a:rPr>
              <a:t>$^ La liste des dépendances </a:t>
            </a:r>
          </a:p>
          <a:p>
            <a:r>
              <a:rPr lang="fr-FR" dirty="0">
                <a:ea typeface="ＭＳ Ｐゴシック" charset="0"/>
                <a:cs typeface="ＭＳ Ｐゴシック" charset="0"/>
              </a:rPr>
              <a:t>$? La liste des dépendances plus récentes que la cible </a:t>
            </a:r>
          </a:p>
          <a:p>
            <a:r>
              <a:rPr lang="fr-FR" dirty="0">
                <a:ea typeface="ＭＳ Ｐゴシック" charset="0"/>
                <a:cs typeface="ＭＳ Ｐゴシック" charset="0"/>
              </a:rPr>
              <a:t>$* Le nom du fichier sans suffixe</a:t>
            </a:r>
          </a:p>
          <a:p>
            <a:endParaRPr lang="fr-FR" dirty="0">
              <a:ea typeface="ＭＳ Ｐゴシック" charset="0"/>
              <a:cs typeface="ＭＳ Ｐゴシック" charset="0"/>
            </a:endParaRPr>
          </a:p>
          <a:p>
            <a:r>
              <a:rPr lang="fr-FR" b="1" dirty="0">
                <a:ea typeface="ＭＳ Ｐゴシック" charset="0"/>
                <a:cs typeface="ＭＳ Ｐゴシック" charset="0"/>
              </a:rPr>
              <a:t>-</a:t>
            </a:r>
            <a:r>
              <a:rPr lang="fr-FR" b="1" dirty="0" err="1">
                <a:ea typeface="ＭＳ Ｐゴシック" charset="0"/>
                <a:cs typeface="ＭＳ Ｐゴシック" charset="0"/>
              </a:rPr>
              <a:t>ansi</a:t>
            </a:r>
            <a:r>
              <a:rPr lang="fr-FR" b="1" dirty="0">
                <a:ea typeface="ＭＳ Ｐゴシック" charset="0"/>
                <a:cs typeface="ＭＳ Ｐゴシック" charset="0"/>
              </a:rPr>
              <a:t> </a:t>
            </a:r>
            <a:r>
              <a:rPr lang="fr-FR" dirty="0">
                <a:ea typeface="ＭＳ Ｐゴシック" charset="0"/>
                <a:cs typeface="ＭＳ Ｐゴシック" charset="0"/>
              </a:rPr>
              <a:t>: norme qui garantie la portabilité</a:t>
            </a:r>
          </a:p>
          <a:p>
            <a:r>
              <a:rPr lang="fr-FR" b="1" dirty="0">
                <a:ea typeface="ＭＳ Ｐゴシック" charset="0"/>
                <a:cs typeface="ＭＳ Ｐゴシック" charset="0"/>
              </a:rPr>
              <a:t>-Wall </a:t>
            </a:r>
            <a:r>
              <a:rPr lang="fr-FR" dirty="0">
                <a:ea typeface="ＭＳ Ｐゴシック" charset="0"/>
                <a:cs typeface="ＭＳ Ｐゴシック" charset="0"/>
              </a:rPr>
              <a:t>: affiche des avertissements</a:t>
            </a:r>
          </a:p>
        </p:txBody>
      </p:sp>
      <p:sp>
        <p:nvSpPr>
          <p:cNvPr id="59395"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4991435A-8A41-1A4D-984F-01122D4CA528}" type="slidenum">
              <a:rPr lang="fr-FR" sz="1200">
                <a:latin typeface="Times New Roman" charset="0"/>
              </a:rPr>
              <a:pPr/>
              <a:t>38</a:t>
            </a:fld>
            <a:endParaRPr lang="fr-FR" sz="1200">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Espace réservé de l'image des diapositives 1"/>
          <p:cNvSpPr>
            <a:spLocks noGrp="1" noRot="1" noChangeAspect="1"/>
          </p:cNvSpPr>
          <p:nvPr>
            <p:ph type="sldImg"/>
          </p:nvPr>
        </p:nvSpPr>
        <p:spPr>
          <a:ln/>
        </p:spPr>
      </p:sp>
      <p:sp>
        <p:nvSpPr>
          <p:cNvPr id="59394"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r>
              <a:rPr lang="fr-FR" dirty="0">
                <a:ea typeface="ＭＳ Ｐゴシック" charset="0"/>
                <a:cs typeface="ＭＳ Ｐゴシック" charset="0"/>
              </a:rPr>
              <a:t>$@ Le nom de la cible (</a:t>
            </a:r>
            <a:r>
              <a:rPr lang="fr-FR" dirty="0" err="1">
                <a:ea typeface="ＭＳ Ｐゴシック" charset="0"/>
                <a:cs typeface="ＭＳ Ｐゴシック" charset="0"/>
              </a:rPr>
              <a:t>left</a:t>
            </a:r>
            <a:r>
              <a:rPr lang="fr-FR" dirty="0">
                <a:ea typeface="ＭＳ Ｐゴシック" charset="0"/>
                <a:cs typeface="ＭＳ Ｐゴシック" charset="0"/>
              </a:rPr>
              <a:t> </a:t>
            </a:r>
            <a:r>
              <a:rPr lang="fr-FR" dirty="0" err="1">
                <a:ea typeface="ＭＳ Ｐゴシック" charset="0"/>
                <a:cs typeface="ＭＳ Ｐゴシック" charset="0"/>
              </a:rPr>
              <a:t>side</a:t>
            </a:r>
            <a:r>
              <a:rPr lang="fr-FR" dirty="0">
                <a:ea typeface="ＭＳ Ｐゴシック" charset="0"/>
                <a:cs typeface="ＭＳ Ｐゴシック" charset="0"/>
              </a:rPr>
              <a:t> of : </a:t>
            </a:r>
            <a:r>
              <a:rPr lang="fr-FR" dirty="0">
                <a:ea typeface="ＭＳ Ｐゴシック" charset="0"/>
                <a:cs typeface="ＭＳ Ｐゴシック" charset="0"/>
                <a:sym typeface="Wingdings"/>
              </a:rPr>
              <a:t>)</a:t>
            </a:r>
            <a:endParaRPr lang="fr-FR" dirty="0">
              <a:ea typeface="ＭＳ Ｐゴシック" charset="0"/>
              <a:cs typeface="ＭＳ Ｐゴシック" charset="0"/>
            </a:endParaRPr>
          </a:p>
          <a:p>
            <a:r>
              <a:rPr lang="fr-FR" dirty="0">
                <a:ea typeface="ＭＳ Ｐゴシック" charset="0"/>
                <a:cs typeface="ＭＳ Ｐゴシック" charset="0"/>
              </a:rPr>
              <a:t>$&lt; Le nom de la première dépendance </a:t>
            </a:r>
            <a:r>
              <a:rPr lang="fr-FR" dirty="0" err="1">
                <a:ea typeface="ＭＳ Ｐゴシック" charset="0"/>
                <a:cs typeface="ＭＳ Ｐゴシック" charset="0"/>
              </a:rPr>
              <a:t>usually</a:t>
            </a:r>
            <a:r>
              <a:rPr lang="fr-FR" dirty="0">
                <a:ea typeface="ＭＳ Ｐゴシック" charset="0"/>
                <a:cs typeface="ＭＳ Ｐゴシック" charset="0"/>
              </a:rPr>
              <a:t> the source file</a:t>
            </a:r>
          </a:p>
          <a:p>
            <a:r>
              <a:rPr lang="fr-FR" dirty="0">
                <a:ea typeface="ＭＳ Ｐゴシック" charset="0"/>
                <a:cs typeface="ＭＳ Ｐゴシック" charset="0"/>
              </a:rPr>
              <a:t>$^ La liste des dépendances (right </a:t>
            </a:r>
            <a:r>
              <a:rPr lang="fr-FR" dirty="0" err="1">
                <a:ea typeface="ＭＳ Ｐゴシック" charset="0"/>
                <a:cs typeface="ＭＳ Ｐゴシック" charset="0"/>
              </a:rPr>
              <a:t>side</a:t>
            </a:r>
            <a:r>
              <a:rPr lang="fr-FR" dirty="0">
                <a:ea typeface="ＭＳ Ｐゴシック" charset="0"/>
                <a:cs typeface="ＭＳ Ｐゴシック" charset="0"/>
              </a:rPr>
              <a:t> of : )</a:t>
            </a:r>
          </a:p>
          <a:p>
            <a:r>
              <a:rPr lang="fr-FR" dirty="0">
                <a:ea typeface="ＭＳ Ｐゴシック" charset="0"/>
                <a:cs typeface="ＭＳ Ｐゴシック" charset="0"/>
              </a:rPr>
              <a:t>$? La liste des dépendances plus récentes que la cible </a:t>
            </a:r>
          </a:p>
          <a:p>
            <a:r>
              <a:rPr lang="fr-FR" dirty="0">
                <a:ea typeface="ＭＳ Ｐゴシック" charset="0"/>
                <a:cs typeface="ＭＳ Ｐゴシック" charset="0"/>
              </a:rPr>
              <a:t>$* Le nom du fichier sans suffixe</a:t>
            </a:r>
          </a:p>
          <a:p>
            <a:endParaRPr lang="fr-FR" dirty="0">
              <a:ea typeface="ＭＳ Ｐゴシック" charset="0"/>
              <a:cs typeface="ＭＳ Ｐゴシック" charset="0"/>
            </a:endParaRPr>
          </a:p>
          <a:p>
            <a:r>
              <a:rPr lang="fr-FR" dirty="0">
                <a:ea typeface="ＭＳ Ｐゴシック" charset="0"/>
                <a:cs typeface="ＭＳ Ｐゴシック" charset="0"/>
              </a:rPr>
              <a:t>PHONY: to </a:t>
            </a:r>
            <a:r>
              <a:rPr lang="fr-FR" dirty="0" err="1">
                <a:ea typeface="ＭＳ Ｐゴシック" charset="0"/>
                <a:cs typeface="ＭＳ Ｐゴシック" charset="0"/>
              </a:rPr>
              <a:t>indicate</a:t>
            </a:r>
            <a:r>
              <a:rPr lang="fr-FR" dirty="0">
                <a:ea typeface="ＭＳ Ｐゴシック" charset="0"/>
                <a:cs typeface="ＭＳ Ｐゴシック" charset="0"/>
              </a:rPr>
              <a:t> </a:t>
            </a:r>
            <a:r>
              <a:rPr lang="fr-FR" dirty="0" err="1">
                <a:ea typeface="ＭＳ Ｐゴシック" charset="0"/>
                <a:cs typeface="ＭＳ Ｐゴシック" charset="0"/>
              </a:rPr>
              <a:t>that</a:t>
            </a:r>
            <a:r>
              <a:rPr lang="fr-FR" dirty="0">
                <a:ea typeface="ＭＳ Ｐゴシック" charset="0"/>
                <a:cs typeface="ＭＳ Ｐゴシック" charset="0"/>
              </a:rPr>
              <a:t> </a:t>
            </a:r>
            <a:r>
              <a:rPr lang="fr-FR" dirty="0" err="1">
                <a:ea typeface="ＭＳ Ｐゴシック" charset="0"/>
                <a:cs typeface="ＭＳ Ｐゴシック" charset="0"/>
              </a:rPr>
              <a:t>they</a:t>
            </a:r>
            <a:r>
              <a:rPr lang="fr-FR" baseline="0" dirty="0">
                <a:ea typeface="ＭＳ Ｐゴシック" charset="0"/>
                <a:cs typeface="ＭＳ Ｐゴシック" charset="0"/>
              </a:rPr>
              <a:t> are not </a:t>
            </a:r>
            <a:r>
              <a:rPr lang="fr-FR" baseline="0" dirty="0" err="1">
                <a:ea typeface="ＭＳ Ｐゴシック" charset="0"/>
                <a:cs typeface="ＭＳ Ｐゴシック" charset="0"/>
              </a:rPr>
              <a:t>targets</a:t>
            </a:r>
            <a:r>
              <a:rPr lang="fr-FR" baseline="0" dirty="0">
                <a:ea typeface="ＭＳ Ｐゴシック" charset="0"/>
                <a:cs typeface="ＭＳ Ｐゴシック" charset="0"/>
              </a:rPr>
              <a:t> </a:t>
            </a:r>
            <a:r>
              <a:rPr lang="fr-FR" baseline="0" dirty="0" err="1">
                <a:ea typeface="ＭＳ Ｐゴシック" charset="0"/>
                <a:cs typeface="ＭＳ Ｐゴシック" charset="0"/>
              </a:rPr>
              <a:t>so</a:t>
            </a:r>
            <a:r>
              <a:rPr lang="fr-FR" baseline="0" dirty="0">
                <a:ea typeface="ＭＳ Ｐゴシック" charset="0"/>
                <a:cs typeface="ＭＳ Ｐゴシック" charset="0"/>
              </a:rPr>
              <a:t> </a:t>
            </a:r>
            <a:r>
              <a:rPr lang="fr-FR" baseline="0" dirty="0" err="1">
                <a:ea typeface="ＭＳ Ｐゴシック" charset="0"/>
                <a:cs typeface="ＭＳ Ｐゴシック" charset="0"/>
              </a:rPr>
              <a:t>they</a:t>
            </a:r>
            <a:r>
              <a:rPr lang="fr-FR" baseline="0" dirty="0">
                <a:ea typeface="ＭＳ Ｐゴシック" charset="0"/>
                <a:cs typeface="ＭＳ Ｐゴシック" charset="0"/>
              </a:rPr>
              <a:t> </a:t>
            </a:r>
            <a:r>
              <a:rPr lang="fr-FR" baseline="0" dirty="0" err="1">
                <a:ea typeface="ＭＳ Ｐゴシック" charset="0"/>
                <a:cs typeface="ＭＳ Ｐゴシック" charset="0"/>
              </a:rPr>
              <a:t>run</a:t>
            </a:r>
            <a:r>
              <a:rPr lang="fr-FR" baseline="0" dirty="0">
                <a:ea typeface="ＭＳ Ｐゴシック" charset="0"/>
                <a:cs typeface="ＭＳ Ｐゴシック" charset="0"/>
              </a:rPr>
              <a:t> </a:t>
            </a:r>
            <a:r>
              <a:rPr lang="fr-FR" baseline="0" dirty="0" err="1">
                <a:ea typeface="ＭＳ Ｐゴシック" charset="0"/>
                <a:cs typeface="ＭＳ Ｐゴシック" charset="0"/>
              </a:rPr>
              <a:t>commands</a:t>
            </a:r>
            <a:r>
              <a:rPr lang="fr-FR" baseline="0" dirty="0">
                <a:ea typeface="ＭＳ Ｐゴシック" charset="0"/>
                <a:cs typeface="ＭＳ Ｐゴシック" charset="0"/>
              </a:rPr>
              <a:t>, no </a:t>
            </a:r>
            <a:r>
              <a:rPr lang="fr-FR" baseline="0" dirty="0" err="1">
                <a:ea typeface="ＭＳ Ｐゴシック" charset="0"/>
                <a:cs typeface="ＭＳ Ｐゴシック" charset="0"/>
              </a:rPr>
              <a:t>dependencis</a:t>
            </a:r>
            <a:endParaRPr lang="fr-FR" baseline="0" dirty="0">
              <a:ea typeface="ＭＳ Ｐゴシック" charset="0"/>
              <a:cs typeface="ＭＳ Ｐゴシック" charset="0"/>
            </a:endParaRPr>
          </a:p>
          <a:p>
            <a:endParaRPr lang="fr-FR" dirty="0">
              <a:ea typeface="ＭＳ Ｐゴシック" charset="0"/>
              <a:cs typeface="ＭＳ Ｐゴシック" charset="0"/>
            </a:endParaRPr>
          </a:p>
          <a:p>
            <a:r>
              <a:rPr lang="fr-FR" dirty="0">
                <a:ea typeface="ＭＳ Ｐゴシック" charset="0"/>
                <a:cs typeface="ＭＳ Ｐゴシック" charset="0"/>
              </a:rPr>
              <a:t>% match </a:t>
            </a:r>
            <a:r>
              <a:rPr lang="fr-FR" dirty="0" err="1">
                <a:ea typeface="ＭＳ Ｐゴシック" charset="0"/>
                <a:cs typeface="ＭＳ Ｐゴシック" charset="0"/>
              </a:rPr>
              <a:t>any</a:t>
            </a:r>
            <a:r>
              <a:rPr lang="fr-FR" dirty="0">
                <a:ea typeface="ＭＳ Ｐゴシック" charset="0"/>
                <a:cs typeface="ＭＳ Ｐゴシック" charset="0"/>
              </a:rPr>
              <a:t> not </a:t>
            </a:r>
            <a:r>
              <a:rPr lang="fr-FR" dirty="0" err="1">
                <a:ea typeface="ＭＳ Ｐゴシック" charset="0"/>
                <a:cs typeface="ＭＳ Ｐゴシック" charset="0"/>
              </a:rPr>
              <a:t>empty</a:t>
            </a:r>
            <a:r>
              <a:rPr lang="fr-FR" dirty="0">
                <a:ea typeface="ＭＳ Ｐゴシック" charset="0"/>
                <a:cs typeface="ＭＳ Ｐゴシック" charset="0"/>
              </a:rPr>
              <a:t> string</a:t>
            </a:r>
          </a:p>
          <a:p>
            <a:r>
              <a:rPr lang="fr-FR" b="1" dirty="0">
                <a:ea typeface="ＭＳ Ｐゴシック" charset="0"/>
                <a:cs typeface="ＭＳ Ｐゴシック" charset="0"/>
              </a:rPr>
              <a:t>-</a:t>
            </a:r>
            <a:r>
              <a:rPr lang="fr-FR" b="1" dirty="0" err="1">
                <a:ea typeface="ＭＳ Ｐゴシック" charset="0"/>
                <a:cs typeface="ＭＳ Ｐゴシック" charset="0"/>
              </a:rPr>
              <a:t>ansi</a:t>
            </a:r>
            <a:r>
              <a:rPr lang="fr-FR" b="1" dirty="0">
                <a:ea typeface="ＭＳ Ｐゴシック" charset="0"/>
                <a:cs typeface="ＭＳ Ｐゴシック" charset="0"/>
              </a:rPr>
              <a:t> </a:t>
            </a:r>
            <a:r>
              <a:rPr lang="fr-FR" dirty="0">
                <a:ea typeface="ＭＳ Ｐゴシック" charset="0"/>
                <a:cs typeface="ＭＳ Ｐゴシック" charset="0"/>
              </a:rPr>
              <a:t>: norme qui garantie la portabilité</a:t>
            </a:r>
          </a:p>
          <a:p>
            <a:r>
              <a:rPr lang="fr-FR" b="1" dirty="0">
                <a:ea typeface="ＭＳ Ｐゴシック" charset="0"/>
                <a:cs typeface="ＭＳ Ｐゴシック" charset="0"/>
              </a:rPr>
              <a:t>-Wall </a:t>
            </a:r>
            <a:r>
              <a:rPr lang="fr-FR" dirty="0">
                <a:ea typeface="ＭＳ Ｐゴシック" charset="0"/>
                <a:cs typeface="ＭＳ Ｐゴシック" charset="0"/>
              </a:rPr>
              <a:t>: affiche des avertissements</a:t>
            </a:r>
          </a:p>
        </p:txBody>
      </p:sp>
      <p:sp>
        <p:nvSpPr>
          <p:cNvPr id="59395"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4991435A-8A41-1A4D-984F-01122D4CA528}" type="slidenum">
              <a:rPr lang="fr-FR" sz="1200">
                <a:latin typeface="Times New Roman" charset="0"/>
              </a:rPr>
              <a:pPr/>
              <a:t>39</a:t>
            </a:fld>
            <a:endParaRPr lang="fr-FR" sz="1200">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Espace réservé de l'image des diapositives 1"/>
          <p:cNvSpPr>
            <a:spLocks noGrp="1" noRot="1" noChangeAspect="1"/>
          </p:cNvSpPr>
          <p:nvPr>
            <p:ph type="sldImg"/>
          </p:nvPr>
        </p:nvSpPr>
        <p:spPr>
          <a:ln/>
        </p:spPr>
      </p:sp>
      <p:sp>
        <p:nvSpPr>
          <p:cNvPr id="133122"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r>
              <a:rPr lang="fr-FR">
                <a:ea typeface="ＭＳ Ｐゴシック" charset="0"/>
                <a:cs typeface="ＭＳ Ｐゴシック" charset="0"/>
              </a:rPr>
              <a:t>Fuites mémoire</a:t>
            </a:r>
          </a:p>
        </p:txBody>
      </p:sp>
      <p:sp>
        <p:nvSpPr>
          <p:cNvPr id="133123"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AD907178-4C4F-F347-8EB8-4793A4D08356}" type="slidenum">
              <a:rPr lang="fr-FR" sz="1200">
                <a:latin typeface="Times New Roman" charset="0"/>
              </a:rPr>
              <a:pPr/>
              <a:t>41</a:t>
            </a:fld>
            <a:endParaRPr lang="fr-FR" sz="1200">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produce debugging information in the operating system’s native format</a:t>
            </a:r>
          </a:p>
          <a:p>
            <a:r>
              <a:rPr lang="en-US" dirty="0"/>
              <a:t>-</a:t>
            </a:r>
            <a:r>
              <a:rPr lang="en-US" dirty="0" err="1"/>
              <a:t>ggdb</a:t>
            </a:r>
            <a:r>
              <a:rPr lang="en-US" dirty="0"/>
              <a:t>: produce debugging information for use by GDB. This means to use the most expressive format available (DWARF, stabs, or the native format if neither of those are supported), including GDB extensions if at all possible. </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42</a:t>
            </a:fld>
            <a:endParaRPr lang="fr-FR"/>
          </a:p>
        </p:txBody>
      </p:sp>
    </p:spTree>
    <p:extLst>
      <p:ext uri="{BB962C8B-B14F-4D97-AF65-F5344CB8AC3E}">
        <p14:creationId xmlns:p14="http://schemas.microsoft.com/office/powerpoint/2010/main" val="4273057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err="1">
                <a:solidFill>
                  <a:srgbClr val="000000"/>
                </a:solidFill>
                <a:latin typeface="Courier"/>
                <a:cs typeface="Courier"/>
              </a:rPr>
              <a:t>gcc</a:t>
            </a:r>
            <a:r>
              <a:rPr lang="en-US" dirty="0">
                <a:solidFill>
                  <a:srgbClr val="000000"/>
                </a:solidFill>
              </a:rPr>
              <a:t> </a:t>
            </a:r>
            <a:r>
              <a:rPr lang="en-US" dirty="0"/>
              <a:t>compiler:</a:t>
            </a:r>
          </a:p>
          <a:p>
            <a:pPr lvl="1"/>
            <a:r>
              <a:rPr lang="en-US" dirty="0"/>
              <a:t>converts these numbers to Unsigned Binary or Two’s Complement</a:t>
            </a:r>
          </a:p>
          <a:p>
            <a:pPr lvl="1"/>
            <a:r>
              <a:rPr lang="en-US" dirty="0"/>
              <a:t>doesn't record how the numbers were originally represented.</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49</a:t>
            </a:fld>
            <a:endParaRPr lang="fr-FR"/>
          </a:p>
        </p:txBody>
      </p:sp>
    </p:spTree>
    <p:extLst>
      <p:ext uri="{BB962C8B-B14F-4D97-AF65-F5344CB8AC3E}">
        <p14:creationId xmlns:p14="http://schemas.microsoft.com/office/powerpoint/2010/main" val="1275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50</a:t>
            </a:fld>
            <a:endParaRPr lang="fr-FR"/>
          </a:p>
        </p:txBody>
      </p:sp>
    </p:spTree>
    <p:extLst>
      <p:ext uri="{BB962C8B-B14F-4D97-AF65-F5344CB8AC3E}">
        <p14:creationId xmlns:p14="http://schemas.microsoft.com/office/powerpoint/2010/main" val="3636480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32-bit floating point representation single precision:</a:t>
            </a:r>
            <a:r>
              <a:rPr lang="en-GB" dirty="0"/>
              <a:t> </a:t>
            </a:r>
            <a:br>
              <a:rPr lang="en-GB" dirty="0"/>
            </a:br>
            <a:r>
              <a:rPr lang="en-GB" dirty="0"/>
              <a:t>    </a:t>
            </a:r>
            <a:r>
              <a:rPr lang="en-GB" dirty="0" err="1"/>
              <a:t>i</a:t>
            </a:r>
            <a:r>
              <a:rPr lang="en-GB" dirty="0"/>
              <a:t>) Sign - 1 </a:t>
            </a:r>
            <a:br>
              <a:rPr lang="en-GB" dirty="0"/>
            </a:br>
            <a:r>
              <a:rPr lang="en-GB" dirty="0"/>
              <a:t>    ii) Exponent  - 8</a:t>
            </a:r>
            <a:br>
              <a:rPr lang="en-GB" dirty="0"/>
            </a:br>
            <a:r>
              <a:rPr lang="en-GB" dirty="0"/>
              <a:t>    iii) Mantissa - 23</a:t>
            </a:r>
            <a:endParaRPr lang="en-FR" dirty="0"/>
          </a:p>
        </p:txBody>
      </p:sp>
      <p:sp>
        <p:nvSpPr>
          <p:cNvPr id="4" name="Slide Number Placeholder 3"/>
          <p:cNvSpPr>
            <a:spLocks noGrp="1"/>
          </p:cNvSpPr>
          <p:nvPr>
            <p:ph type="sldNum" sz="quarter" idx="5"/>
          </p:nvPr>
        </p:nvSpPr>
        <p:spPr/>
        <p:txBody>
          <a:bodyPr/>
          <a:lstStyle/>
          <a:p>
            <a:fld id="{B4E1F8BA-42AC-4F4D-A3C8-1DE9704DC2C9}" type="slidenum">
              <a:rPr lang="fr-FR" smtClean="0"/>
              <a:pPr/>
              <a:t>54</a:t>
            </a:fld>
            <a:endParaRPr lang="fr-FR"/>
          </a:p>
        </p:txBody>
      </p:sp>
    </p:spTree>
    <p:extLst>
      <p:ext uri="{BB962C8B-B14F-4D97-AF65-F5344CB8AC3E}">
        <p14:creationId xmlns:p14="http://schemas.microsoft.com/office/powerpoint/2010/main" val="4190443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55</a:t>
            </a:fld>
            <a:endParaRPr lang="fr-FR"/>
          </a:p>
        </p:txBody>
      </p:sp>
    </p:spTree>
    <p:extLst>
      <p:ext uri="{BB962C8B-B14F-4D97-AF65-F5344CB8AC3E}">
        <p14:creationId xmlns:p14="http://schemas.microsoft.com/office/powerpoint/2010/main" val="3636480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56</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57</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58</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59</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60</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61</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63</a:t>
            </a:fld>
            <a:endParaRPr lang="fr-FR"/>
          </a:p>
        </p:txBody>
      </p:sp>
    </p:spTree>
    <p:extLst>
      <p:ext uri="{BB962C8B-B14F-4D97-AF65-F5344CB8AC3E}">
        <p14:creationId xmlns:p14="http://schemas.microsoft.com/office/powerpoint/2010/main" val="3691718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Implicit: </a:t>
            </a:r>
          </a:p>
          <a:p>
            <a:r>
              <a:rPr lang="en-US" dirty="0"/>
              <a:t>1.5+1.6 = 3.1 </a:t>
            </a:r>
            <a:r>
              <a:rPr lang="en-US" dirty="0">
                <a:sym typeface="Wingdings"/>
              </a:rPr>
              <a:t> converted through truncation (lower </a:t>
            </a:r>
            <a:r>
              <a:rPr lang="en-US" dirty="0" err="1">
                <a:sym typeface="Wingdings"/>
              </a:rPr>
              <a:t>int</a:t>
            </a:r>
            <a:r>
              <a:rPr lang="en-US" dirty="0">
                <a:sym typeface="Wingdings"/>
              </a:rPr>
              <a:t>) to 3 </a:t>
            </a:r>
          </a:p>
          <a:p>
            <a:endParaRPr lang="en-US" dirty="0">
              <a:sym typeface="Wingdings"/>
            </a:endParaRPr>
          </a:p>
          <a:p>
            <a:r>
              <a:rPr lang="en-US" dirty="0"/>
              <a:t>Explicit:</a:t>
            </a:r>
          </a:p>
          <a:p>
            <a:r>
              <a:rPr lang="en-US" dirty="0"/>
              <a:t>1.5 </a:t>
            </a:r>
            <a:r>
              <a:rPr lang="en-US" dirty="0">
                <a:sym typeface="Wingdings"/>
              </a:rPr>
              <a:t> casting</a:t>
            </a:r>
            <a:r>
              <a:rPr lang="en-US" baseline="0" dirty="0">
                <a:sym typeface="Wingdings"/>
              </a:rPr>
              <a:t> converted to 1</a:t>
            </a:r>
          </a:p>
          <a:p>
            <a:r>
              <a:rPr lang="en-US" baseline="0" dirty="0">
                <a:sym typeface="Wingdings"/>
              </a:rPr>
              <a:t>1.6  casting converted to 1</a:t>
            </a:r>
          </a:p>
          <a:p>
            <a:r>
              <a:rPr lang="en-US" dirty="0"/>
              <a:t>Addition, so x</a:t>
            </a:r>
            <a:r>
              <a:rPr lang="en-US" baseline="0" dirty="0"/>
              <a:t> =2</a:t>
            </a:r>
          </a:p>
          <a:p>
            <a:endParaRPr lang="en-US" baseline="0" dirty="0"/>
          </a:p>
          <a:p>
            <a:r>
              <a:rPr lang="en-US" baseline="0" dirty="0"/>
              <a:t>Implicit: 0 the division of </a:t>
            </a:r>
            <a:r>
              <a:rPr lang="en-US" baseline="0" dirty="0" err="1"/>
              <a:t>int</a:t>
            </a:r>
            <a:r>
              <a:rPr lang="en-US" baseline="0" dirty="0"/>
              <a:t> is considered </a:t>
            </a:r>
            <a:r>
              <a:rPr lang="en-US" baseline="0" dirty="0" err="1"/>
              <a:t>int</a:t>
            </a:r>
            <a:r>
              <a:rPr lang="en-US" baseline="0" dirty="0"/>
              <a:t>, so it ignores the remainder</a:t>
            </a:r>
          </a:p>
          <a:p>
            <a:r>
              <a:rPr lang="en-US" baseline="0" dirty="0"/>
              <a:t>Explicit: 0.6, as one of the values is casted to float</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70</a:t>
            </a:fld>
            <a:endParaRPr lang="fr-FR"/>
          </a:p>
        </p:txBody>
      </p:sp>
    </p:spTree>
    <p:extLst>
      <p:ext uri="{BB962C8B-B14F-4D97-AF65-F5344CB8AC3E}">
        <p14:creationId xmlns:p14="http://schemas.microsoft.com/office/powerpoint/2010/main" val="4261516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Implicit: </a:t>
            </a:r>
          </a:p>
          <a:p>
            <a:r>
              <a:rPr lang="en-US" dirty="0"/>
              <a:t>1.5+1.6 = 3.1 </a:t>
            </a:r>
            <a:r>
              <a:rPr lang="en-US" dirty="0">
                <a:sym typeface="Wingdings"/>
              </a:rPr>
              <a:t> converted through truncation (lower </a:t>
            </a:r>
            <a:r>
              <a:rPr lang="en-US" dirty="0" err="1">
                <a:sym typeface="Wingdings"/>
              </a:rPr>
              <a:t>int</a:t>
            </a:r>
            <a:r>
              <a:rPr lang="en-US" dirty="0">
                <a:sym typeface="Wingdings"/>
              </a:rPr>
              <a:t>) to 3 </a:t>
            </a:r>
          </a:p>
          <a:p>
            <a:endParaRPr lang="en-US" dirty="0">
              <a:sym typeface="Wingdings"/>
            </a:endParaRPr>
          </a:p>
          <a:p>
            <a:r>
              <a:rPr lang="en-US" dirty="0"/>
              <a:t>Explicit:</a:t>
            </a:r>
          </a:p>
          <a:p>
            <a:r>
              <a:rPr lang="en-US" dirty="0"/>
              <a:t>1.5 </a:t>
            </a:r>
            <a:r>
              <a:rPr lang="en-US" dirty="0">
                <a:sym typeface="Wingdings"/>
              </a:rPr>
              <a:t> casting</a:t>
            </a:r>
            <a:r>
              <a:rPr lang="en-US" baseline="0" dirty="0">
                <a:sym typeface="Wingdings"/>
              </a:rPr>
              <a:t> converted to 1</a:t>
            </a:r>
          </a:p>
          <a:p>
            <a:r>
              <a:rPr lang="en-US" baseline="0" dirty="0">
                <a:sym typeface="Wingdings"/>
              </a:rPr>
              <a:t>1.6  casting converted to 1</a:t>
            </a:r>
          </a:p>
          <a:p>
            <a:r>
              <a:rPr lang="en-US" dirty="0"/>
              <a:t>Addition, so x</a:t>
            </a:r>
            <a:r>
              <a:rPr lang="en-US" baseline="0" dirty="0"/>
              <a:t> =2</a:t>
            </a:r>
          </a:p>
          <a:p>
            <a:endParaRPr lang="en-US" baseline="0" dirty="0"/>
          </a:p>
          <a:p>
            <a:r>
              <a:rPr lang="en-US" baseline="0" dirty="0"/>
              <a:t>Implicit: 0 the division of </a:t>
            </a:r>
            <a:r>
              <a:rPr lang="en-US" baseline="0" dirty="0" err="1"/>
              <a:t>int</a:t>
            </a:r>
            <a:r>
              <a:rPr lang="en-US" baseline="0" dirty="0"/>
              <a:t> is considered </a:t>
            </a:r>
            <a:r>
              <a:rPr lang="en-US" baseline="0" dirty="0" err="1"/>
              <a:t>int</a:t>
            </a:r>
            <a:r>
              <a:rPr lang="en-US" baseline="0" dirty="0"/>
              <a:t>, so it ignores the remainder</a:t>
            </a:r>
          </a:p>
          <a:p>
            <a:r>
              <a:rPr lang="en-US" baseline="0" dirty="0"/>
              <a:t>Explicit: 0.6, as one of the values is casted to float</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71</a:t>
            </a:fld>
            <a:endParaRPr lang="fr-FR"/>
          </a:p>
        </p:txBody>
      </p:sp>
    </p:spTree>
    <p:extLst>
      <p:ext uri="{BB962C8B-B14F-4D97-AF65-F5344CB8AC3E}">
        <p14:creationId xmlns:p14="http://schemas.microsoft.com/office/powerpoint/2010/main" val="4261516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Unsigned char a = -1</a:t>
            </a:r>
          </a:p>
          <a:p>
            <a:r>
              <a:rPr lang="en-US" dirty="0"/>
              <a:t>Promote: Int 0xFFFF FFFF </a:t>
            </a:r>
          </a:p>
          <a:p>
            <a:r>
              <a:rPr lang="en-US" dirty="0"/>
              <a:t>Demote: 0xFF</a:t>
            </a:r>
          </a:p>
          <a:p>
            <a:r>
              <a:rPr lang="en-US" dirty="0"/>
              <a:t>A= -1 + maximum number that can be </a:t>
            </a:r>
            <a:r>
              <a:rPr lang="en-US" dirty="0" err="1"/>
              <a:t>representeed</a:t>
            </a:r>
            <a:r>
              <a:rPr lang="en-US" dirty="0"/>
              <a:t> + 1 (modulo N bits to represent the type)</a:t>
            </a:r>
          </a:p>
          <a:p>
            <a:r>
              <a:rPr lang="en-US" dirty="0"/>
              <a:t>A= -1 + 15 +1 = 15 (FF)</a:t>
            </a:r>
          </a:p>
          <a:p>
            <a:endParaRPr lang="en-US" dirty="0"/>
          </a:p>
          <a:p>
            <a:endParaRPr lang="en-US" baseline="0" dirty="0">
              <a:sym typeface="Wingdings"/>
            </a:endParaRPr>
          </a:p>
          <a:p>
            <a:pPr marL="228600" indent="-228600">
              <a:buAutoNum type="arabicParenR"/>
            </a:pPr>
            <a:r>
              <a:rPr lang="en-US" dirty="0"/>
              <a:t>Malicious users can often specify negative integers through various program interfaces and undermine an application's logic. </a:t>
            </a:r>
          </a:p>
          <a:p>
            <a:pPr marL="228600" indent="-228600">
              <a:buAutoNum type="arabicParenR"/>
            </a:pPr>
            <a:endParaRPr lang="en-US" dirty="0"/>
          </a:p>
          <a:p>
            <a:pPr marL="228600" indent="-228600">
              <a:buAutoNum type="arabicParenR"/>
            </a:pPr>
            <a:r>
              <a:rPr lang="en-US" dirty="0"/>
              <a:t>While (length --) do </a:t>
            </a:r>
            <a:r>
              <a:rPr lang="en-US" dirty="0" err="1"/>
              <a:t>sth</a:t>
            </a:r>
            <a:r>
              <a:rPr lang="en-US" dirty="0"/>
              <a:t> and you pass unsigned length and during the function call this become a very positive number! Check if</a:t>
            </a:r>
            <a:r>
              <a:rPr lang="en-US" baseline="0" dirty="0"/>
              <a:t> the passed argument is &gt;</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72</a:t>
            </a:fld>
            <a:endParaRPr lang="fr-FR"/>
          </a:p>
        </p:txBody>
      </p:sp>
    </p:spTree>
    <p:extLst>
      <p:ext uri="{BB962C8B-B14F-4D97-AF65-F5344CB8AC3E}">
        <p14:creationId xmlns:p14="http://schemas.microsoft.com/office/powerpoint/2010/main" val="2800031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TRUNCATION:</a:t>
            </a:r>
          </a:p>
          <a:p>
            <a:r>
              <a:rPr lang="en-US" dirty="0"/>
              <a:t>The 16</a:t>
            </a:r>
            <a:r>
              <a:rPr lang="en-US" baseline="0" dirty="0"/>
              <a:t> MSD of f are truncated </a:t>
            </a:r>
            <a:r>
              <a:rPr lang="en-US" baseline="0" dirty="0">
                <a:sym typeface="Wingdings"/>
              </a:rPr>
              <a:t> g = 0x5678</a:t>
            </a:r>
          </a:p>
          <a:p>
            <a:endParaRPr lang="en-US" baseline="0" dirty="0">
              <a:sym typeface="Wingdings"/>
            </a:endParaRPr>
          </a:p>
          <a:p>
            <a:pPr marL="228600" indent="-228600">
              <a:buAutoNum type="arabicParenR"/>
            </a:pPr>
            <a:r>
              <a:rPr lang="en-US" dirty="0"/>
              <a:t>Malicious users can often specify negative integers through various program interfaces and undermine an application's logic. </a:t>
            </a:r>
          </a:p>
          <a:p>
            <a:pPr marL="228600" indent="-228600">
              <a:buAutoNum type="arabicParenR"/>
            </a:pPr>
            <a:endParaRPr lang="en-US" dirty="0"/>
          </a:p>
          <a:p>
            <a:pPr marL="228600" indent="-228600">
              <a:buAutoNum type="arabicParenR"/>
            </a:pPr>
            <a:r>
              <a:rPr lang="en-US" dirty="0"/>
              <a:t>While (length --) do </a:t>
            </a:r>
            <a:r>
              <a:rPr lang="en-US" dirty="0" err="1"/>
              <a:t>sth</a:t>
            </a:r>
            <a:r>
              <a:rPr lang="en-US" dirty="0"/>
              <a:t> and you pass unsigned length and during the function call this become a very positive number! Check if</a:t>
            </a:r>
            <a:r>
              <a:rPr lang="en-US" baseline="0" dirty="0"/>
              <a:t> the passed argument is &gt;</a:t>
            </a:r>
          </a:p>
          <a:p>
            <a:pPr marL="228600" indent="-228600">
              <a:buAutoNum type="arabicParenR"/>
            </a:pPr>
            <a:endParaRPr lang="en-US" baseline="0" dirty="0"/>
          </a:p>
          <a:p>
            <a:pPr algn="l"/>
            <a:endParaRPr lang="en-GB" sz="1200" b="1" dirty="0">
              <a:latin typeface="Courier"/>
              <a:cs typeface="Courier"/>
            </a:endParaRPr>
          </a:p>
          <a:p>
            <a:pPr algn="l"/>
            <a:r>
              <a:rPr lang="en-GB" sz="1200" b="1" dirty="0">
                <a:latin typeface="Courier"/>
                <a:cs typeface="Courier"/>
              </a:rPr>
              <a:t>Execute CONVERSION 2</a:t>
            </a:r>
          </a:p>
          <a:p>
            <a:pPr algn="l"/>
            <a:r>
              <a:rPr lang="en-GB" sz="1200" b="1" dirty="0">
                <a:latin typeface="Courier"/>
                <a:cs typeface="Courier"/>
              </a:rPr>
              <a:t>Unsigned SHORT </a:t>
            </a:r>
            <a:r>
              <a:rPr lang="en-GB" sz="1200" b="1" dirty="0">
                <a:latin typeface="Courier"/>
                <a:cs typeface="Courier"/>
                <a:sym typeface="Wingdings" pitchFamily="2" charset="2"/>
              </a:rPr>
              <a:t> int</a:t>
            </a:r>
            <a:endParaRPr lang="en-GB" sz="1200" b="1" dirty="0">
              <a:latin typeface="Courier"/>
              <a:cs typeface="Courier"/>
            </a:endParaRPr>
          </a:p>
          <a:p>
            <a:pPr algn="l"/>
            <a:r>
              <a:rPr lang="en-GB" sz="1200" b="1" dirty="0">
                <a:latin typeface="Courier"/>
                <a:cs typeface="Courier"/>
              </a:rPr>
              <a:t>(</a:t>
            </a:r>
            <a:r>
              <a:rPr lang="en-GB" sz="1200" b="1" dirty="0" err="1">
                <a:latin typeface="Courier"/>
                <a:cs typeface="Courier"/>
              </a:rPr>
              <a:t>uc</a:t>
            </a:r>
            <a:r>
              <a:rPr lang="en-GB" sz="1200" b="1" dirty="0">
                <a:latin typeface="Courier"/>
                <a:cs typeface="Courier"/>
              </a:rPr>
              <a:t> &gt; -1 )</a:t>
            </a:r>
          </a:p>
          <a:p>
            <a:pPr algn="l"/>
            <a:r>
              <a:rPr lang="en-GB" sz="1200" b="1" dirty="0">
                <a:latin typeface="Courier"/>
                <a:cs typeface="Courier"/>
              </a:rPr>
              <a:t>(int 0x0000 0000 &gt; -1)</a:t>
            </a:r>
          </a:p>
          <a:p>
            <a:pPr algn="l"/>
            <a:r>
              <a:rPr lang="en-GB" sz="1200" b="1" dirty="0">
                <a:latin typeface="Courier"/>
                <a:cs typeface="Courier"/>
              </a:rPr>
              <a:t>TRUE</a:t>
            </a:r>
          </a:p>
          <a:p>
            <a:pPr algn="l"/>
            <a:endParaRPr lang="en-GB" sz="1200" b="1" dirty="0">
              <a:latin typeface="Courier"/>
              <a:cs typeface="Courier"/>
            </a:endParaRPr>
          </a:p>
          <a:p>
            <a:pPr algn="l"/>
            <a:r>
              <a:rPr lang="en-GB" sz="1200" b="1" dirty="0">
                <a:latin typeface="Courier"/>
                <a:cs typeface="Courier"/>
              </a:rPr>
              <a:t>INTEGERS</a:t>
            </a: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-1 )</a:t>
            </a: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unsigned int (-1))</a:t>
            </a:r>
          </a:p>
          <a:p>
            <a:pPr algn="l"/>
            <a:r>
              <a:rPr lang="en-GB" sz="1200" b="1" dirty="0">
                <a:latin typeface="Courier"/>
                <a:cs typeface="Courier"/>
              </a:rPr>
              <a:t>(</a:t>
            </a:r>
            <a:r>
              <a:rPr lang="en-GB" sz="1200" b="1" dirty="0" err="1">
                <a:latin typeface="Courier"/>
                <a:cs typeface="Courier"/>
              </a:rPr>
              <a:t>ui</a:t>
            </a:r>
            <a:r>
              <a:rPr lang="en-GB" sz="1200" b="1" dirty="0">
                <a:latin typeface="Courier"/>
                <a:cs typeface="Courier"/>
              </a:rPr>
              <a:t> &gt; 0xFFFF FFFF)</a:t>
            </a:r>
          </a:p>
          <a:p>
            <a:pPr algn="l"/>
            <a:r>
              <a:rPr lang="en-GB" sz="1200" kern="1200" dirty="0">
                <a:solidFill>
                  <a:schemeClr val="tx1"/>
                </a:solidFill>
                <a:latin typeface="Times New Roman" pitchFamily="18" charset="0"/>
                <a:ea typeface="ＭＳ Ｐゴシック" charset="0"/>
                <a:cs typeface="Courier"/>
              </a:rPr>
              <a:t>Result: False = 0</a:t>
            </a:r>
          </a:p>
          <a:p>
            <a:pPr marL="228600" indent="-228600">
              <a:buAutoNum type="arabicParenR"/>
            </a:pP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73</a:t>
            </a:fld>
            <a:endParaRPr lang="fr-FR"/>
          </a:p>
        </p:txBody>
      </p:sp>
    </p:spTree>
    <p:extLst>
      <p:ext uri="{BB962C8B-B14F-4D97-AF65-F5344CB8AC3E}">
        <p14:creationId xmlns:p14="http://schemas.microsoft.com/office/powerpoint/2010/main" val="2800031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Static is </a:t>
            </a:r>
            <a:r>
              <a:rPr lang="en-GB" b="1" dirty="0"/>
              <a:t>a keyword used in C</a:t>
            </a:r>
            <a:r>
              <a:rPr lang="en-GB" dirty="0"/>
              <a:t> programming language. It can be used with both variables and functions, i.e., we can declare a static variable and static function as well. An ordinary variable is limited to the scope in which it is defined, while the scope of the static variable is throughout the program. Initialized ONCE</a:t>
            </a:r>
          </a:p>
          <a:p>
            <a:endParaRPr lang="en-GB" dirty="0"/>
          </a:p>
          <a:p>
            <a:r>
              <a:rPr lang="en-GB" dirty="0"/>
              <a:t>#include&lt;</a:t>
            </a:r>
            <a:r>
              <a:rPr lang="en-GB" dirty="0" err="1"/>
              <a:t>stdio.h</a:t>
            </a:r>
            <a:r>
              <a:rPr lang="en-GB" dirty="0"/>
              <a:t>&gt;</a:t>
            </a:r>
          </a:p>
          <a:p>
            <a:r>
              <a:rPr lang="en-GB" dirty="0"/>
              <a:t>int fun()</a:t>
            </a:r>
          </a:p>
          <a:p>
            <a:r>
              <a:rPr lang="en-GB" dirty="0"/>
              <a:t>{</a:t>
            </a:r>
          </a:p>
          <a:p>
            <a:r>
              <a:rPr lang="en-GB" dirty="0"/>
              <a:t>  static int count = 0;</a:t>
            </a:r>
          </a:p>
          <a:p>
            <a:r>
              <a:rPr lang="en-GB" dirty="0"/>
              <a:t>  count++;</a:t>
            </a:r>
          </a:p>
          <a:p>
            <a:r>
              <a:rPr lang="en-GB" dirty="0"/>
              <a:t>  return count;</a:t>
            </a:r>
          </a:p>
          <a:p>
            <a:r>
              <a:rPr lang="en-GB" dirty="0"/>
              <a:t>}</a:t>
            </a:r>
          </a:p>
          <a:p>
            <a:r>
              <a:rPr lang="en-GB" dirty="0"/>
              <a:t>  </a:t>
            </a:r>
          </a:p>
          <a:p>
            <a:r>
              <a:rPr lang="en-GB" dirty="0"/>
              <a:t>int main()</a:t>
            </a:r>
          </a:p>
          <a:p>
            <a:r>
              <a:rPr lang="en-GB" dirty="0"/>
              <a:t>{</a:t>
            </a:r>
          </a:p>
          <a:p>
            <a:r>
              <a:rPr lang="en-GB" dirty="0"/>
              <a:t>  </a:t>
            </a:r>
            <a:r>
              <a:rPr lang="en-GB" dirty="0" err="1"/>
              <a:t>printf</a:t>
            </a:r>
            <a:r>
              <a:rPr lang="en-GB" dirty="0"/>
              <a:t>("%d ", fun());</a:t>
            </a:r>
          </a:p>
          <a:p>
            <a:r>
              <a:rPr lang="en-GB" dirty="0"/>
              <a:t>  </a:t>
            </a:r>
            <a:r>
              <a:rPr lang="en-GB" dirty="0" err="1"/>
              <a:t>printf</a:t>
            </a:r>
            <a:r>
              <a:rPr lang="en-GB" dirty="0"/>
              <a:t>("%d ", fun());</a:t>
            </a:r>
          </a:p>
          <a:p>
            <a:r>
              <a:rPr lang="en-GB" dirty="0"/>
              <a:t>  return 0;</a:t>
            </a:r>
          </a:p>
          <a:p>
            <a:r>
              <a:rPr lang="en-GB" dirty="0"/>
              <a:t>}</a:t>
            </a:r>
          </a:p>
          <a:p>
            <a:endParaRPr lang="en-FR" dirty="0"/>
          </a:p>
        </p:txBody>
      </p:sp>
      <p:sp>
        <p:nvSpPr>
          <p:cNvPr id="4" name="Slide Number Placeholder 3"/>
          <p:cNvSpPr>
            <a:spLocks noGrp="1"/>
          </p:cNvSpPr>
          <p:nvPr>
            <p:ph type="sldNum" sz="quarter" idx="5"/>
          </p:nvPr>
        </p:nvSpPr>
        <p:spPr/>
        <p:txBody>
          <a:bodyPr/>
          <a:lstStyle/>
          <a:p>
            <a:fld id="{B4E1F8BA-42AC-4F4D-A3C8-1DE9704DC2C9}" type="slidenum">
              <a:rPr lang="fr-FR" smtClean="0"/>
              <a:pPr/>
              <a:t>74</a:t>
            </a:fld>
            <a:endParaRPr lang="fr-FR"/>
          </a:p>
        </p:txBody>
      </p:sp>
    </p:spTree>
    <p:extLst>
      <p:ext uri="{BB962C8B-B14F-4D97-AF65-F5344CB8AC3E}">
        <p14:creationId xmlns:p14="http://schemas.microsoft.com/office/powerpoint/2010/main" val="2315583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Warnign</a:t>
            </a:r>
            <a:r>
              <a:rPr lang="en-US" dirty="0"/>
              <a:t> of compiler, weakly language</a:t>
            </a:r>
          </a:p>
        </p:txBody>
      </p:sp>
      <p:sp>
        <p:nvSpPr>
          <p:cNvPr id="4" name="Slide Number Placeholder 3"/>
          <p:cNvSpPr>
            <a:spLocks noGrp="1"/>
          </p:cNvSpPr>
          <p:nvPr>
            <p:ph type="sldNum" sz="quarter" idx="10"/>
          </p:nvPr>
        </p:nvSpPr>
        <p:spPr/>
        <p:txBody>
          <a:bodyPr/>
          <a:lstStyle/>
          <a:p>
            <a:fld id="{B4E1F8BA-42AC-4F4D-A3C8-1DE9704DC2C9}" type="slidenum">
              <a:rPr lang="fr-FR" smtClean="0"/>
              <a:pPr/>
              <a:t>87</a:t>
            </a:fld>
            <a:endParaRPr lang="fr-FR"/>
          </a:p>
        </p:txBody>
      </p:sp>
    </p:spTree>
    <p:extLst>
      <p:ext uri="{BB962C8B-B14F-4D97-AF65-F5344CB8AC3E}">
        <p14:creationId xmlns:p14="http://schemas.microsoft.com/office/powerpoint/2010/main" val="2607153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TRUNCATION:</a:t>
            </a:r>
          </a:p>
          <a:p>
            <a:r>
              <a:rPr lang="en-US" dirty="0"/>
              <a:t>The 16</a:t>
            </a:r>
            <a:r>
              <a:rPr lang="en-US" baseline="0" dirty="0"/>
              <a:t> MSD of f are truncated </a:t>
            </a:r>
            <a:r>
              <a:rPr lang="en-US" baseline="0" dirty="0">
                <a:sym typeface="Wingdings"/>
              </a:rPr>
              <a:t> g = 0x5678</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88</a:t>
            </a:fld>
            <a:endParaRPr lang="fr-FR"/>
          </a:p>
        </p:txBody>
      </p:sp>
    </p:spTree>
    <p:extLst>
      <p:ext uri="{BB962C8B-B14F-4D97-AF65-F5344CB8AC3E}">
        <p14:creationId xmlns:p14="http://schemas.microsoft.com/office/powerpoint/2010/main" val="2800031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type is converted to the same type </a:t>
            </a:r>
            <a:r>
              <a:rPr lang="en-US" dirty="0">
                <a:sym typeface="Wingdings"/>
              </a:rPr>
              <a:t> The higher size!</a:t>
            </a:r>
          </a:p>
          <a:p>
            <a:endParaRPr lang="en-US" dirty="0">
              <a:sym typeface="Wingdings"/>
            </a:endParaRPr>
          </a:p>
          <a:p>
            <a:r>
              <a:rPr lang="en-US" dirty="0">
                <a:sym typeface="Wingdings"/>
              </a:rPr>
              <a:t>-- Small integers are always converted to INT</a:t>
            </a:r>
          </a:p>
          <a:p>
            <a:r>
              <a:rPr lang="en-US" dirty="0">
                <a:sym typeface="Wingdings"/>
              </a:rPr>
              <a:t>-5 </a:t>
            </a:r>
            <a:r>
              <a:rPr lang="en-US" dirty="0">
                <a:sym typeface="Wingdings" pitchFamily="2" charset="2"/>
              </a:rPr>
              <a:t></a:t>
            </a:r>
            <a:r>
              <a:rPr lang="en-US" dirty="0">
                <a:sym typeface="Wingdings"/>
              </a:rPr>
              <a:t> 1111 1011 (2s complement)</a:t>
            </a:r>
          </a:p>
          <a:p>
            <a:r>
              <a:rPr lang="en-US" dirty="0">
                <a:sym typeface="Wingdings"/>
              </a:rPr>
              <a:t>A = 0xFB</a:t>
            </a:r>
          </a:p>
          <a:p>
            <a:r>
              <a:rPr lang="en-US" dirty="0">
                <a:sym typeface="Wingdings"/>
              </a:rPr>
              <a:t>B = 0xFB</a:t>
            </a:r>
          </a:p>
          <a:p>
            <a:r>
              <a:rPr lang="en-US" dirty="0">
                <a:sym typeface="Wingdings"/>
              </a:rPr>
              <a:t>INTEGERS</a:t>
            </a:r>
          </a:p>
          <a:p>
            <a:r>
              <a:rPr lang="en-US" dirty="0">
                <a:sym typeface="Wingdings"/>
              </a:rPr>
              <a:t>A=0xFFFF FFFB</a:t>
            </a:r>
          </a:p>
          <a:p>
            <a:r>
              <a:rPr lang="en-US" dirty="0">
                <a:sym typeface="Wingdings"/>
              </a:rPr>
              <a:t>B=0x0000 00FB</a:t>
            </a:r>
          </a:p>
          <a:p>
            <a:endParaRPr lang="en-US" dirty="0">
              <a:sym typeface="Wingdings"/>
            </a:endParaRPr>
          </a:p>
          <a:p>
            <a:r>
              <a:rPr lang="en-US" dirty="0">
                <a:sym typeface="Wingdings"/>
              </a:rPr>
              <a:t>-- Signed integers will be converted to unsigned INT (larger)</a:t>
            </a:r>
          </a:p>
          <a:p>
            <a:r>
              <a:rPr lang="en-US" dirty="0">
                <a:sym typeface="Wingdings"/>
              </a:rPr>
              <a:t>-5 </a:t>
            </a:r>
            <a:r>
              <a:rPr lang="en-US" dirty="0">
                <a:sym typeface="Wingdings" pitchFamily="2" charset="2"/>
              </a:rPr>
              <a:t></a:t>
            </a:r>
            <a:r>
              <a:rPr lang="en-US" dirty="0">
                <a:sym typeface="Wingdings"/>
              </a:rPr>
              <a:t> 1111 1011 (2s complement)</a:t>
            </a:r>
          </a:p>
          <a:p>
            <a:r>
              <a:rPr lang="en-US" dirty="0">
                <a:sym typeface="Wingdings"/>
              </a:rPr>
              <a:t>A = FFFF FFFB</a:t>
            </a:r>
          </a:p>
          <a:p>
            <a:r>
              <a:rPr lang="en-US" dirty="0">
                <a:sym typeface="Wingdings"/>
              </a:rPr>
              <a:t>B = FFFF FFFB</a:t>
            </a:r>
          </a:p>
          <a:p>
            <a:r>
              <a:rPr lang="en-US" dirty="0">
                <a:sym typeface="Wingdings"/>
              </a:rPr>
              <a:t>INT -- &gt; Unsigned so sign is interpreted as 1 so big value</a:t>
            </a:r>
          </a:p>
          <a:p>
            <a:r>
              <a:rPr lang="en-US" dirty="0">
                <a:sym typeface="Wingdings"/>
              </a:rPr>
              <a:t>A=0xFFFF FFFB</a:t>
            </a:r>
          </a:p>
          <a:p>
            <a:r>
              <a:rPr lang="en-US" dirty="0">
                <a:sym typeface="Wingdings"/>
              </a:rPr>
              <a:t>B=0xFFFF FFFB</a:t>
            </a:r>
          </a:p>
          <a:p>
            <a:endParaRPr lang="en-US" dirty="0">
              <a:sym typeface="Wingdings"/>
            </a:endParaRPr>
          </a:p>
          <a:p>
            <a:endParaRPr lang="en-US" dirty="0">
              <a:sym typeface="Wingdings"/>
            </a:endParaRPr>
          </a:p>
          <a:p>
            <a:r>
              <a:rPr lang="en-US" dirty="0" err="1">
                <a:sym typeface="Wingdings"/>
              </a:rPr>
              <a:t>Ints</a:t>
            </a:r>
            <a:r>
              <a:rPr lang="en-US" dirty="0">
                <a:sym typeface="Wingdings"/>
              </a:rPr>
              <a:t> (4B)</a:t>
            </a:r>
            <a:r>
              <a:rPr lang="en-US" baseline="0" dirty="0">
                <a:sym typeface="Wingdings"/>
              </a:rPr>
              <a:t> and characters (1B) are promoted to Floats (4B) IMPLICITLY</a:t>
            </a:r>
          </a:p>
          <a:p>
            <a:endParaRPr lang="en-US" baseline="0" dirty="0">
              <a:sym typeface="Wingdings"/>
            </a:endParaRPr>
          </a:p>
          <a:p>
            <a:r>
              <a:rPr lang="en-US" baseline="0" dirty="0">
                <a:sym typeface="Wingdings"/>
              </a:rPr>
              <a:t>A=65 (</a:t>
            </a:r>
            <a:r>
              <a:rPr lang="en-US" baseline="0" dirty="0" err="1">
                <a:sym typeface="Wingdings"/>
              </a:rPr>
              <a:t>dec</a:t>
            </a:r>
            <a:r>
              <a:rPr lang="en-US" baseline="0" dirty="0">
                <a:sym typeface="Wingdings"/>
              </a:rPr>
              <a:t>)</a:t>
            </a:r>
          </a:p>
          <a:p>
            <a:r>
              <a:rPr lang="en-US" baseline="0" dirty="0">
                <a:sym typeface="Wingdings"/>
              </a:rPr>
              <a:t>B=66 (</a:t>
            </a:r>
            <a:r>
              <a:rPr lang="en-US" baseline="0" dirty="0" err="1">
                <a:sym typeface="Wingdings"/>
              </a:rPr>
              <a:t>dec</a:t>
            </a:r>
            <a:r>
              <a:rPr lang="en-US" baseline="0" dirty="0">
                <a:sym typeface="Wingdings"/>
              </a:rPr>
              <a:t>)</a:t>
            </a:r>
          </a:p>
          <a:p>
            <a:r>
              <a:rPr lang="en-US" dirty="0"/>
              <a:t>2+12870 = 12872(</a:t>
            </a:r>
            <a:r>
              <a:rPr lang="en-US" dirty="0" err="1"/>
              <a:t>dec</a:t>
            </a:r>
            <a:r>
              <a:rPr lang="en-US" dirty="0"/>
              <a:t>)</a:t>
            </a:r>
          </a:p>
          <a:p>
            <a:endParaRPr lang="en-US" dirty="0"/>
          </a:p>
          <a:p>
            <a:r>
              <a:rPr lang="en-US" dirty="0"/>
              <a:t>Now,</a:t>
            </a:r>
            <a:r>
              <a:rPr lang="en-US" baseline="0" dirty="0"/>
              <a:t> the final result is demoted to character (1B) which cannot hold a value more than 255, so 872 </a:t>
            </a:r>
            <a:r>
              <a:rPr lang="en-US" baseline="0" dirty="0">
                <a:sym typeface="Wingdings"/>
              </a:rPr>
              <a:t> 72  in character this is H</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89</a:t>
            </a:fld>
            <a:endParaRPr lang="fr-FR"/>
          </a:p>
        </p:txBody>
      </p:sp>
    </p:spTree>
    <p:extLst>
      <p:ext uri="{BB962C8B-B14F-4D97-AF65-F5344CB8AC3E}">
        <p14:creationId xmlns:p14="http://schemas.microsoft.com/office/powerpoint/2010/main" val="36917183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B4E1F8BA-42AC-4F4D-A3C8-1DE9704DC2C9}" type="slidenum">
              <a:rPr lang="fr-FR" smtClean="0"/>
              <a:pPr/>
              <a:t>102</a:t>
            </a:fld>
            <a:endParaRPr lang="fr-FR"/>
          </a:p>
        </p:txBody>
      </p:sp>
    </p:spTree>
    <p:extLst>
      <p:ext uri="{BB962C8B-B14F-4D97-AF65-F5344CB8AC3E}">
        <p14:creationId xmlns:p14="http://schemas.microsoft.com/office/powerpoint/2010/main" val="32524066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 </a:t>
            </a:r>
            <a:r>
              <a:rPr lang="en-GB" altLang="ja-JP" dirty="0">
                <a:latin typeface="Arial" charset="0"/>
              </a:rPr>
              <a:t>results is </a:t>
            </a:r>
            <a:r>
              <a:rPr lang="en-GB" altLang="ja-JP" sz="1200" dirty="0">
                <a:latin typeface="Arial" charset="0"/>
              </a:rPr>
              <a:t>an object pointer with the value </a:t>
            </a:r>
            <a:r>
              <a:rPr lang="en-GB" b="1" dirty="0">
                <a:solidFill>
                  <a:schemeClr val="tx1"/>
                </a:solidFill>
                <a:latin typeface="Courier"/>
                <a:cs typeface="Courier"/>
              </a:rPr>
              <a:t>0x1010</a:t>
            </a:r>
            <a:endParaRPr lang="en-GB" altLang="ja-JP" sz="1200" b="1"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111</a:t>
            </a:fld>
            <a:endParaRPr lang="fr-FR"/>
          </a:p>
        </p:txBody>
      </p:sp>
    </p:spTree>
    <p:extLst>
      <p:ext uri="{BB962C8B-B14F-4D97-AF65-F5344CB8AC3E}">
        <p14:creationId xmlns:p14="http://schemas.microsoft.com/office/powerpoint/2010/main" val="829192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 </a:t>
            </a:r>
            <a:r>
              <a:rPr lang="en-GB" altLang="ja-JP" dirty="0">
                <a:latin typeface="Arial" charset="0"/>
              </a:rPr>
              <a:t>results is </a:t>
            </a:r>
            <a:r>
              <a:rPr lang="en-GB" altLang="ja-JP" sz="1200" dirty="0">
                <a:latin typeface="Arial" charset="0"/>
              </a:rPr>
              <a:t>an object pointer with the value </a:t>
            </a:r>
            <a:r>
              <a:rPr lang="en-GB" b="1" dirty="0">
                <a:solidFill>
                  <a:schemeClr val="tx1"/>
                </a:solidFill>
                <a:latin typeface="Courier"/>
                <a:cs typeface="Courier"/>
              </a:rPr>
              <a:t>0x1010</a:t>
            </a:r>
            <a:endParaRPr lang="en-GB" altLang="ja-JP" sz="1200" b="1"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112</a:t>
            </a:fld>
            <a:endParaRPr lang="fr-FR"/>
          </a:p>
        </p:txBody>
      </p:sp>
    </p:spTree>
    <p:extLst>
      <p:ext uri="{BB962C8B-B14F-4D97-AF65-F5344CB8AC3E}">
        <p14:creationId xmlns:p14="http://schemas.microsoft.com/office/powerpoint/2010/main" val="8291927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 </a:t>
            </a:r>
            <a:r>
              <a:rPr lang="en-GB" altLang="ja-JP" dirty="0">
                <a:latin typeface="Arial" charset="0"/>
              </a:rPr>
              <a:t>results is </a:t>
            </a:r>
            <a:r>
              <a:rPr lang="en-GB" altLang="ja-JP" sz="1200" dirty="0">
                <a:latin typeface="Arial" charset="0"/>
              </a:rPr>
              <a:t>an object pointer with the value </a:t>
            </a:r>
            <a:r>
              <a:rPr lang="en-GB" b="1" dirty="0">
                <a:solidFill>
                  <a:schemeClr val="tx1"/>
                </a:solidFill>
                <a:latin typeface="Courier"/>
                <a:cs typeface="Courier"/>
              </a:rPr>
              <a:t>0x1010</a:t>
            </a:r>
            <a:endParaRPr lang="en-GB" altLang="ja-JP" sz="1200" b="1"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113</a:t>
            </a:fld>
            <a:endParaRPr lang="fr-FR"/>
          </a:p>
        </p:txBody>
      </p:sp>
    </p:spTree>
    <p:extLst>
      <p:ext uri="{BB962C8B-B14F-4D97-AF65-F5344CB8AC3E}">
        <p14:creationId xmlns:p14="http://schemas.microsoft.com/office/powerpoint/2010/main" val="829192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 </a:t>
            </a:r>
            <a:r>
              <a:rPr lang="en-GB" altLang="ja-JP" dirty="0">
                <a:latin typeface="Arial" charset="0"/>
              </a:rPr>
              <a:t>results is </a:t>
            </a:r>
            <a:r>
              <a:rPr lang="en-GB" altLang="ja-JP" sz="1200" dirty="0">
                <a:latin typeface="Arial" charset="0"/>
              </a:rPr>
              <a:t>an object pointer with the value </a:t>
            </a:r>
            <a:r>
              <a:rPr lang="en-GB" b="1" dirty="0">
                <a:solidFill>
                  <a:schemeClr val="tx1"/>
                </a:solidFill>
                <a:latin typeface="Courier"/>
                <a:cs typeface="Courier"/>
              </a:rPr>
              <a:t>0x1010</a:t>
            </a:r>
            <a:endParaRPr lang="en-GB" altLang="ja-JP" sz="1200" b="1"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114</a:t>
            </a:fld>
            <a:endParaRPr lang="fr-FR"/>
          </a:p>
        </p:txBody>
      </p:sp>
    </p:spTree>
    <p:extLst>
      <p:ext uri="{BB962C8B-B14F-4D97-AF65-F5344CB8AC3E}">
        <p14:creationId xmlns:p14="http://schemas.microsoft.com/office/powerpoint/2010/main" val="8291927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 </a:t>
            </a:r>
            <a:r>
              <a:rPr lang="en-GB" altLang="ja-JP" dirty="0">
                <a:latin typeface="Arial" charset="0"/>
              </a:rPr>
              <a:t>results is </a:t>
            </a:r>
            <a:r>
              <a:rPr lang="en-GB" altLang="ja-JP" sz="1200" dirty="0">
                <a:latin typeface="Arial" charset="0"/>
              </a:rPr>
              <a:t>an object pointer with the value </a:t>
            </a:r>
            <a:r>
              <a:rPr lang="en-GB" b="1" dirty="0">
                <a:solidFill>
                  <a:schemeClr val="tx1"/>
                </a:solidFill>
                <a:latin typeface="Courier"/>
                <a:cs typeface="Courier"/>
              </a:rPr>
              <a:t>0x1010</a:t>
            </a:r>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ja-JP" sz="1200" dirty="0">
                <a:latin typeface="Arial" charset="0"/>
              </a:rPr>
              <a:t>result is an object </a:t>
            </a:r>
            <a:r>
              <a:rPr lang="en-GB" altLang="ja-JP" sz="1200" b="1" dirty="0" err="1">
                <a:latin typeface="Courier"/>
                <a:cs typeface="Courier"/>
              </a:rPr>
              <a:t>int</a:t>
            </a:r>
            <a:r>
              <a:rPr lang="en-GB" altLang="ja-JP" sz="1200" dirty="0">
                <a:latin typeface="Arial" charset="0"/>
              </a:rPr>
              <a:t> </a:t>
            </a:r>
            <a:r>
              <a:rPr lang="en-GB" altLang="ja-JP" dirty="0">
                <a:latin typeface="Arial" charset="0"/>
              </a:rPr>
              <a:t>with a value </a:t>
            </a:r>
            <a:r>
              <a:rPr lang="en-GB" altLang="ja-JP" sz="1200" dirty="0">
                <a:latin typeface="Arial" charset="0"/>
              </a:rPr>
              <a:t>20</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altLang="ja-JP" sz="1200" b="1"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115</a:t>
            </a:fld>
            <a:endParaRPr lang="fr-FR"/>
          </a:p>
        </p:txBody>
      </p:sp>
    </p:spTree>
    <p:extLst>
      <p:ext uri="{BB962C8B-B14F-4D97-AF65-F5344CB8AC3E}">
        <p14:creationId xmlns:p14="http://schemas.microsoft.com/office/powerpoint/2010/main" val="8291927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ＭＳ Ｐゴシック" charset="0"/>
                <a:cs typeface="+mn-cs"/>
              </a:rPr>
              <a:t>effffa94</a:t>
            </a:r>
          </a:p>
          <a:p>
            <a:r>
              <a:rPr lang="en-US" sz="1200" kern="1200" dirty="0">
                <a:solidFill>
                  <a:schemeClr val="tx1"/>
                </a:solidFill>
                <a:effectLst/>
                <a:latin typeface="Times New Roman" pitchFamily="18" charset="0"/>
                <a:ea typeface="ＭＳ Ｐゴシック" charset="0"/>
                <a:cs typeface="+mn-cs"/>
              </a:rPr>
              <a:t>effffa98</a:t>
            </a:r>
          </a:p>
          <a:p>
            <a:r>
              <a:rPr lang="en-US" sz="1200" kern="1200" dirty="0">
                <a:solidFill>
                  <a:schemeClr val="tx1"/>
                </a:solidFill>
                <a:effectLst/>
                <a:latin typeface="Times New Roman" pitchFamily="18" charset="0"/>
                <a:ea typeface="ＭＳ Ｐゴシック" charset="0"/>
                <a:cs typeface="+mn-cs"/>
              </a:rPr>
              <a:t>15</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116</a:t>
            </a:fld>
            <a:endParaRPr lang="fr-FR"/>
          </a:p>
        </p:txBody>
      </p:sp>
    </p:spTree>
    <p:extLst>
      <p:ext uri="{BB962C8B-B14F-4D97-AF65-F5344CB8AC3E}">
        <p14:creationId xmlns:p14="http://schemas.microsoft.com/office/powerpoint/2010/main" val="546538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118</a:t>
            </a:fld>
            <a:endParaRPr lang="fr-FR"/>
          </a:p>
        </p:txBody>
      </p:sp>
    </p:spTree>
    <p:extLst>
      <p:ext uri="{BB962C8B-B14F-4D97-AF65-F5344CB8AC3E}">
        <p14:creationId xmlns:p14="http://schemas.microsoft.com/office/powerpoint/2010/main" val="33329846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is stored in stack</a:t>
            </a:r>
          </a:p>
          <a:p>
            <a:r>
              <a:rPr lang="en-US" dirty="0"/>
              <a:t>There are</a:t>
            </a:r>
            <a:r>
              <a:rPr lang="en-US" baseline="0" dirty="0"/>
              <a:t> local variables, return addresses</a:t>
            </a:r>
          </a:p>
          <a:p>
            <a:r>
              <a:rPr lang="en-US" baseline="0" dirty="0"/>
              <a:t>If you write more far away than the string YOU DESTROY STH! </a:t>
            </a:r>
            <a:r>
              <a:rPr lang="en-US" baseline="0" dirty="0">
                <a:sym typeface="Wingdings"/>
              </a:rPr>
              <a:t> Difficult error to detect…</a:t>
            </a:r>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126</a:t>
            </a:fld>
            <a:endParaRPr lang="fr-FR"/>
          </a:p>
        </p:txBody>
      </p:sp>
    </p:spTree>
    <p:extLst>
      <p:ext uri="{BB962C8B-B14F-4D97-AF65-F5344CB8AC3E}">
        <p14:creationId xmlns:p14="http://schemas.microsoft.com/office/powerpoint/2010/main" val="1761900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So, what's the lesson? </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134</a:t>
            </a:fld>
            <a:endParaRPr lang="fr-FR"/>
          </a:p>
        </p:txBody>
      </p:sp>
    </p:spTree>
    <p:extLst>
      <p:ext uri="{BB962C8B-B14F-4D97-AF65-F5344CB8AC3E}">
        <p14:creationId xmlns:p14="http://schemas.microsoft.com/office/powerpoint/2010/main" val="35316891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b="1" dirty="0" err="1">
                <a:latin typeface="Courier"/>
                <a:cs typeface="Courier"/>
              </a:rPr>
              <a:t>L’argument</a:t>
            </a:r>
            <a:r>
              <a:rPr lang="en-GB" b="1" dirty="0">
                <a:latin typeface="Courier"/>
                <a:cs typeface="Courier"/>
              </a:rPr>
              <a:t> n°1 </a:t>
            </a:r>
            <a:r>
              <a:rPr lang="en-GB" b="1" dirty="0" err="1">
                <a:latin typeface="Courier"/>
                <a:cs typeface="Courier"/>
              </a:rPr>
              <a:t>vaut</a:t>
            </a:r>
            <a:r>
              <a:rPr lang="en-GB" b="1" dirty="0">
                <a:latin typeface="Courier"/>
                <a:cs typeface="Courier"/>
              </a:rPr>
              <a:t> foo</a:t>
            </a:r>
            <a:br>
              <a:rPr lang="en-GB" b="1" dirty="0">
                <a:latin typeface="Courier"/>
                <a:cs typeface="Courier"/>
              </a:rPr>
            </a:br>
            <a:r>
              <a:rPr lang="en-GB" b="1" dirty="0" err="1">
                <a:latin typeface="Courier"/>
                <a:cs typeface="Courier"/>
              </a:rPr>
              <a:t>L’argument</a:t>
            </a:r>
            <a:r>
              <a:rPr lang="en-GB" b="1" dirty="0">
                <a:latin typeface="Courier"/>
                <a:cs typeface="Courier"/>
              </a:rPr>
              <a:t> n°2 </a:t>
            </a:r>
            <a:r>
              <a:rPr lang="en-GB" b="1" dirty="0" err="1">
                <a:latin typeface="Courier"/>
                <a:cs typeface="Courier"/>
              </a:rPr>
              <a:t>vaut</a:t>
            </a:r>
            <a:r>
              <a:rPr lang="en-GB" b="1" dirty="0">
                <a:latin typeface="Courier"/>
                <a:cs typeface="Courier"/>
              </a:rPr>
              <a:t> 12</a:t>
            </a:r>
            <a:br>
              <a:rPr lang="en-GB" b="1" dirty="0">
                <a:latin typeface="Courier"/>
                <a:cs typeface="Courier"/>
              </a:rPr>
            </a:br>
            <a:r>
              <a:rPr lang="en-GB" b="1" dirty="0" err="1">
                <a:latin typeface="Courier"/>
                <a:cs typeface="Courier"/>
              </a:rPr>
              <a:t>L’argument</a:t>
            </a:r>
            <a:r>
              <a:rPr lang="en-GB" b="1" dirty="0">
                <a:latin typeface="Courier"/>
                <a:cs typeface="Courier"/>
              </a:rPr>
              <a:t> n°3 </a:t>
            </a:r>
            <a:r>
              <a:rPr lang="en-GB" b="1" dirty="0" err="1">
                <a:latin typeface="Courier"/>
                <a:cs typeface="Courier"/>
              </a:rPr>
              <a:t>vaut</a:t>
            </a:r>
            <a:r>
              <a:rPr lang="en-GB" b="1" dirty="0">
                <a:latin typeface="Courier"/>
                <a:cs typeface="Courier"/>
              </a:rPr>
              <a:t> bar</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178</a:t>
            </a:fld>
            <a:endParaRPr lang="fr-FR"/>
          </a:p>
        </p:txBody>
      </p:sp>
    </p:spTree>
    <p:extLst>
      <p:ext uri="{BB962C8B-B14F-4D97-AF65-F5344CB8AC3E}">
        <p14:creationId xmlns:p14="http://schemas.microsoft.com/office/powerpoint/2010/main" val="827537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charset="0"/>
                <a:cs typeface="ＭＳ Ｐゴシック" charset="0"/>
              </a:rPr>
              <a:t>Memory to store the program variables:</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181</a:t>
            </a:fld>
            <a:endParaRPr lang="fr-FR"/>
          </a:p>
        </p:txBody>
      </p:sp>
    </p:spTree>
    <p:extLst>
      <p:ext uri="{BB962C8B-B14F-4D97-AF65-F5344CB8AC3E}">
        <p14:creationId xmlns:p14="http://schemas.microsoft.com/office/powerpoint/2010/main" val="41880364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charset="0"/>
                <a:cs typeface="ＭＳ Ｐゴシック" charset="0"/>
              </a:rPr>
              <a:t>Memory to store the program variables:</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182</a:t>
            </a:fld>
            <a:endParaRPr lang="fr-FR"/>
          </a:p>
        </p:txBody>
      </p:sp>
    </p:spTree>
    <p:extLst>
      <p:ext uri="{BB962C8B-B14F-4D97-AF65-F5344CB8AC3E}">
        <p14:creationId xmlns:p14="http://schemas.microsoft.com/office/powerpoint/2010/main" val="4188036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object that has an incoming reference is deleted or </a:t>
            </a:r>
            <a:r>
              <a:rPr lang="en-US" dirty="0" err="1"/>
              <a:t>deallocated</a:t>
            </a:r>
            <a:r>
              <a:rPr lang="en-US" dirty="0"/>
              <a:t>, without modifying the value of the pointer, so that the pointer still points to the memory location of the </a:t>
            </a:r>
            <a:r>
              <a:rPr lang="en-US" dirty="0" err="1"/>
              <a:t>deallocated</a:t>
            </a:r>
            <a:r>
              <a:rPr lang="en-US" dirty="0"/>
              <a:t> memory. </a:t>
            </a:r>
          </a:p>
        </p:txBody>
      </p:sp>
      <p:sp>
        <p:nvSpPr>
          <p:cNvPr id="4" name="Slide Number Placeholder 3"/>
          <p:cNvSpPr>
            <a:spLocks noGrp="1"/>
          </p:cNvSpPr>
          <p:nvPr>
            <p:ph type="sldNum" sz="quarter" idx="10"/>
          </p:nvPr>
        </p:nvSpPr>
        <p:spPr/>
        <p:txBody>
          <a:bodyPr/>
          <a:lstStyle/>
          <a:p>
            <a:fld id="{B4E1F8BA-42AC-4F4D-A3C8-1DE9704DC2C9}" type="slidenum">
              <a:rPr lang="fr-FR" smtClean="0"/>
              <a:pPr/>
              <a:t>183</a:t>
            </a:fld>
            <a:endParaRPr lang="fr-FR"/>
          </a:p>
        </p:txBody>
      </p:sp>
    </p:spTree>
    <p:extLst>
      <p:ext uri="{BB962C8B-B14F-4D97-AF65-F5344CB8AC3E}">
        <p14:creationId xmlns:p14="http://schemas.microsoft.com/office/powerpoint/2010/main" val="40018132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187</a:t>
            </a:fld>
            <a:endParaRPr lang="fr-FR"/>
          </a:p>
        </p:txBody>
      </p:sp>
    </p:spTree>
    <p:extLst>
      <p:ext uri="{BB962C8B-B14F-4D97-AF65-F5344CB8AC3E}">
        <p14:creationId xmlns:p14="http://schemas.microsoft.com/office/powerpoint/2010/main" val="20148731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Null</a:t>
            </a:r>
          </a:p>
        </p:txBody>
      </p:sp>
      <p:sp>
        <p:nvSpPr>
          <p:cNvPr id="4" name="Slide Number Placeholder 3"/>
          <p:cNvSpPr>
            <a:spLocks noGrp="1"/>
          </p:cNvSpPr>
          <p:nvPr>
            <p:ph type="sldNum" sz="quarter" idx="10"/>
          </p:nvPr>
        </p:nvSpPr>
        <p:spPr/>
        <p:txBody>
          <a:bodyPr/>
          <a:lstStyle/>
          <a:p>
            <a:fld id="{B4E1F8BA-42AC-4F4D-A3C8-1DE9704DC2C9}" type="slidenum">
              <a:rPr lang="fr-FR" smtClean="0"/>
              <a:pPr/>
              <a:t>188</a:t>
            </a:fld>
            <a:endParaRPr lang="fr-FR"/>
          </a:p>
        </p:txBody>
      </p:sp>
    </p:spTree>
    <p:extLst>
      <p:ext uri="{BB962C8B-B14F-4D97-AF65-F5344CB8AC3E}">
        <p14:creationId xmlns:p14="http://schemas.microsoft.com/office/powerpoint/2010/main" val="5967951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a:t>
            </a:r>
            <a:r>
              <a:rPr lang="en-US" baseline="0" dirty="0" err="1"/>
              <a:t>malloc</a:t>
            </a:r>
            <a:r>
              <a:rPr lang="en-US" baseline="0" dirty="0"/>
              <a:t> allocates 10 pointers to </a:t>
            </a:r>
            <a:r>
              <a:rPr lang="en-US" baseline="0" dirty="0" err="1"/>
              <a:t>int</a:t>
            </a:r>
            <a:endParaRPr lang="en-US" baseline="0" dirty="0"/>
          </a:p>
          <a:p>
            <a:r>
              <a:rPr lang="en-US" baseline="0" dirty="0"/>
              <a:t>The second </a:t>
            </a:r>
            <a:r>
              <a:rPr lang="en-US" baseline="0" dirty="0" err="1"/>
              <a:t>malloc</a:t>
            </a:r>
            <a:r>
              <a:rPr lang="en-US" baseline="0" dirty="0"/>
              <a:t> allocates 10 integers!</a:t>
            </a:r>
          </a:p>
          <a:p>
            <a:r>
              <a:rPr lang="en-US" baseline="0" dirty="0"/>
              <a:t>So we have to do free all the </a:t>
            </a:r>
            <a:r>
              <a:rPr lang="en-US" baseline="0" dirty="0" err="1"/>
              <a:t>mallocs</a:t>
            </a:r>
            <a:r>
              <a:rPr lang="en-US" baseline="0" dirty="0"/>
              <a:t> for each table of integers</a:t>
            </a:r>
          </a:p>
          <a:p>
            <a:r>
              <a:rPr lang="en-US" baseline="0" dirty="0"/>
              <a:t>And also free for the table of pointers</a:t>
            </a:r>
          </a:p>
          <a:p>
            <a:endParaRPr lang="en-US" baseline="0" dirty="0"/>
          </a:p>
          <a:p>
            <a:pPr marL="0" indent="0">
              <a:buNone/>
            </a:pPr>
            <a:r>
              <a:rPr lang="en-US" sz="1200" b="1" dirty="0">
                <a:latin typeface="Courier"/>
                <a:cs typeface="Courier"/>
              </a:rPr>
              <a:t>for (</a:t>
            </a:r>
            <a:r>
              <a:rPr lang="en-US" sz="1200" b="1" dirty="0" err="1">
                <a:latin typeface="Courier"/>
                <a:cs typeface="Courier"/>
              </a:rPr>
              <a:t>i</a:t>
            </a:r>
            <a:r>
              <a:rPr lang="en-US" sz="1200" b="1" dirty="0">
                <a:latin typeface="Courier"/>
                <a:cs typeface="Courier"/>
              </a:rPr>
              <a:t> = 0 ; </a:t>
            </a:r>
            <a:r>
              <a:rPr lang="en-US" sz="1200" b="1" dirty="0" err="1">
                <a:latin typeface="Courier"/>
                <a:cs typeface="Courier"/>
              </a:rPr>
              <a:t>i</a:t>
            </a:r>
            <a:r>
              <a:rPr lang="en-US" sz="1200" b="1" dirty="0">
                <a:latin typeface="Courier"/>
                <a:cs typeface="Courier"/>
              </a:rPr>
              <a:t> != 10 ; </a:t>
            </a:r>
            <a:r>
              <a:rPr lang="en-US" sz="1200" b="1" dirty="0" err="1">
                <a:latin typeface="Courier"/>
                <a:cs typeface="Courier"/>
              </a:rPr>
              <a:t>i</a:t>
            </a:r>
            <a:r>
              <a:rPr lang="en-US" sz="1200" b="1" dirty="0">
                <a:latin typeface="Courier"/>
                <a:cs typeface="Courier"/>
              </a:rPr>
              <a:t>++) {</a:t>
            </a:r>
          </a:p>
          <a:p>
            <a:pPr marL="0" indent="0">
              <a:buNone/>
            </a:pPr>
            <a:r>
              <a:rPr lang="en-US" sz="1200" b="1" dirty="0">
                <a:latin typeface="Courier"/>
                <a:cs typeface="Courier"/>
              </a:rPr>
              <a:t>	free(</a:t>
            </a:r>
            <a:r>
              <a:rPr lang="en-US" sz="1200" b="1" dirty="0" err="1">
                <a:latin typeface="Courier"/>
                <a:cs typeface="Courier"/>
              </a:rPr>
              <a:t>my_array</a:t>
            </a:r>
            <a:r>
              <a:rPr lang="en-US" sz="1200" b="1" dirty="0">
                <a:latin typeface="Courier"/>
                <a:cs typeface="Courier"/>
              </a:rPr>
              <a:t>[</a:t>
            </a:r>
            <a:r>
              <a:rPr lang="en-US" sz="1200" b="1" dirty="0" err="1">
                <a:latin typeface="Courier"/>
                <a:cs typeface="Courier"/>
              </a:rPr>
              <a:t>i</a:t>
            </a:r>
            <a:r>
              <a:rPr lang="en-US" sz="1200" b="1" dirty="0">
                <a:latin typeface="Courier"/>
                <a:cs typeface="Courier"/>
              </a:rPr>
              <a:t>]);</a:t>
            </a:r>
          </a:p>
          <a:p>
            <a:pPr marL="0" indent="0">
              <a:buNone/>
            </a:pPr>
            <a:r>
              <a:rPr lang="en-US" sz="1200" b="1" dirty="0">
                <a:latin typeface="Courier"/>
                <a:cs typeface="Courier"/>
              </a:rPr>
              <a:t>}</a:t>
            </a:r>
          </a:p>
          <a:p>
            <a:pPr marL="0" indent="0">
              <a:buNone/>
            </a:pPr>
            <a:r>
              <a:rPr lang="en-US" sz="1200" b="1" dirty="0">
                <a:latin typeface="Courier"/>
                <a:cs typeface="Courier"/>
              </a:rPr>
              <a:t>free(</a:t>
            </a:r>
            <a:r>
              <a:rPr lang="en-US" sz="1200" b="1" dirty="0" err="1">
                <a:latin typeface="Courier"/>
                <a:cs typeface="Courier"/>
              </a:rPr>
              <a:t>my_array</a:t>
            </a:r>
            <a:r>
              <a:rPr lang="en-US" sz="1200" b="1" dirty="0">
                <a:latin typeface="Courier"/>
                <a:cs typeface="Courier"/>
              </a:rPr>
              <a:t>);</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192</a:t>
            </a:fld>
            <a:endParaRPr lang="fr-FR"/>
          </a:p>
        </p:txBody>
      </p:sp>
    </p:spTree>
    <p:extLst>
      <p:ext uri="{BB962C8B-B14F-4D97-AF65-F5344CB8AC3E}">
        <p14:creationId xmlns:p14="http://schemas.microsoft.com/office/powerpoint/2010/main" val="20673081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a:t>
            </a:r>
            <a:r>
              <a:rPr lang="en-US" baseline="0" dirty="0" err="1"/>
              <a:t>malloc</a:t>
            </a:r>
            <a:r>
              <a:rPr lang="en-US" baseline="0" dirty="0"/>
              <a:t> allocates 10 pointers to </a:t>
            </a:r>
            <a:r>
              <a:rPr lang="en-US" baseline="0" dirty="0" err="1"/>
              <a:t>int</a:t>
            </a:r>
            <a:endParaRPr lang="en-US" baseline="0" dirty="0"/>
          </a:p>
          <a:p>
            <a:r>
              <a:rPr lang="en-US" baseline="0" dirty="0"/>
              <a:t>The second </a:t>
            </a:r>
            <a:r>
              <a:rPr lang="en-US" baseline="0" dirty="0" err="1"/>
              <a:t>malloc</a:t>
            </a:r>
            <a:r>
              <a:rPr lang="en-US" baseline="0" dirty="0"/>
              <a:t> allocates 10 integers!</a:t>
            </a:r>
          </a:p>
          <a:p>
            <a:r>
              <a:rPr lang="en-US" baseline="0" dirty="0"/>
              <a:t>So we have to do free all the </a:t>
            </a:r>
            <a:r>
              <a:rPr lang="en-US" baseline="0" dirty="0" err="1"/>
              <a:t>mallocs</a:t>
            </a:r>
            <a:r>
              <a:rPr lang="en-US" baseline="0" dirty="0"/>
              <a:t> for each table of integers</a:t>
            </a:r>
          </a:p>
          <a:p>
            <a:r>
              <a:rPr lang="en-US" baseline="0" dirty="0"/>
              <a:t>And also free for the table of pointers</a:t>
            </a:r>
          </a:p>
          <a:p>
            <a:endParaRPr lang="en-US" baseline="0" dirty="0"/>
          </a:p>
          <a:p>
            <a:pPr marL="0" indent="0">
              <a:buNone/>
            </a:pPr>
            <a:r>
              <a:rPr lang="en-US" sz="1200" b="1" dirty="0">
                <a:latin typeface="Courier"/>
                <a:cs typeface="Courier"/>
              </a:rPr>
              <a:t>for (</a:t>
            </a:r>
            <a:r>
              <a:rPr lang="en-US" sz="1200" b="1" dirty="0" err="1">
                <a:latin typeface="Courier"/>
                <a:cs typeface="Courier"/>
              </a:rPr>
              <a:t>i</a:t>
            </a:r>
            <a:r>
              <a:rPr lang="en-US" sz="1200" b="1" dirty="0">
                <a:latin typeface="Courier"/>
                <a:cs typeface="Courier"/>
              </a:rPr>
              <a:t> = 0 ; </a:t>
            </a:r>
            <a:r>
              <a:rPr lang="en-US" sz="1200" b="1" dirty="0" err="1">
                <a:latin typeface="Courier"/>
                <a:cs typeface="Courier"/>
              </a:rPr>
              <a:t>i</a:t>
            </a:r>
            <a:r>
              <a:rPr lang="en-US" sz="1200" b="1" dirty="0">
                <a:latin typeface="Courier"/>
                <a:cs typeface="Courier"/>
              </a:rPr>
              <a:t> != 10 ; </a:t>
            </a:r>
            <a:r>
              <a:rPr lang="en-US" sz="1200" b="1" dirty="0" err="1">
                <a:latin typeface="Courier"/>
                <a:cs typeface="Courier"/>
              </a:rPr>
              <a:t>i</a:t>
            </a:r>
            <a:r>
              <a:rPr lang="en-US" sz="1200" b="1" dirty="0">
                <a:latin typeface="Courier"/>
                <a:cs typeface="Courier"/>
              </a:rPr>
              <a:t>++) {</a:t>
            </a:r>
          </a:p>
          <a:p>
            <a:pPr marL="0" indent="0">
              <a:buNone/>
            </a:pPr>
            <a:r>
              <a:rPr lang="en-US" sz="1200" b="1" dirty="0">
                <a:latin typeface="Courier"/>
                <a:cs typeface="Courier"/>
              </a:rPr>
              <a:t>	free(</a:t>
            </a:r>
            <a:r>
              <a:rPr lang="en-US" sz="1200" b="1" dirty="0" err="1">
                <a:latin typeface="Courier"/>
                <a:cs typeface="Courier"/>
              </a:rPr>
              <a:t>my_array</a:t>
            </a:r>
            <a:r>
              <a:rPr lang="en-US" sz="1200" b="1" dirty="0">
                <a:latin typeface="Courier"/>
                <a:cs typeface="Courier"/>
              </a:rPr>
              <a:t>[</a:t>
            </a:r>
            <a:r>
              <a:rPr lang="en-US" sz="1200" b="1" dirty="0" err="1">
                <a:latin typeface="Courier"/>
                <a:cs typeface="Courier"/>
              </a:rPr>
              <a:t>i</a:t>
            </a:r>
            <a:r>
              <a:rPr lang="en-US" sz="1200" b="1" dirty="0">
                <a:latin typeface="Courier"/>
                <a:cs typeface="Courier"/>
              </a:rPr>
              <a:t>]);</a:t>
            </a:r>
          </a:p>
          <a:p>
            <a:pPr marL="0" indent="0">
              <a:buNone/>
            </a:pPr>
            <a:r>
              <a:rPr lang="en-US" sz="1200" b="1" dirty="0">
                <a:latin typeface="Courier"/>
                <a:cs typeface="Courier"/>
              </a:rPr>
              <a:t>}</a:t>
            </a:r>
          </a:p>
          <a:p>
            <a:pPr marL="0" indent="0">
              <a:buNone/>
            </a:pPr>
            <a:r>
              <a:rPr lang="en-US" sz="1200" b="1" dirty="0">
                <a:latin typeface="Courier"/>
                <a:cs typeface="Courier"/>
              </a:rPr>
              <a:t>free(</a:t>
            </a:r>
            <a:r>
              <a:rPr lang="en-US" sz="1200" b="1" dirty="0" err="1">
                <a:latin typeface="Courier"/>
                <a:cs typeface="Courier"/>
              </a:rPr>
              <a:t>my_array</a:t>
            </a:r>
            <a:r>
              <a:rPr lang="en-US" sz="1200" b="1" dirty="0">
                <a:latin typeface="Courier"/>
                <a:cs typeface="Courier"/>
              </a:rPr>
              <a:t>);</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193</a:t>
            </a:fld>
            <a:endParaRPr lang="fr-FR"/>
          </a:p>
        </p:txBody>
      </p:sp>
    </p:spTree>
    <p:extLst>
      <p:ext uri="{BB962C8B-B14F-4D97-AF65-F5344CB8AC3E}">
        <p14:creationId xmlns:p14="http://schemas.microsoft.com/office/powerpoint/2010/main" val="20673081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a:t>
            </a:r>
            <a:r>
              <a:rPr lang="en-US" baseline="0" dirty="0" err="1"/>
              <a:t>malloc</a:t>
            </a:r>
            <a:r>
              <a:rPr lang="en-US" baseline="0" dirty="0"/>
              <a:t> allocates 10 pointers to </a:t>
            </a:r>
            <a:r>
              <a:rPr lang="en-US" baseline="0" dirty="0" err="1"/>
              <a:t>int</a:t>
            </a:r>
            <a:endParaRPr lang="en-US" baseline="0" dirty="0"/>
          </a:p>
          <a:p>
            <a:r>
              <a:rPr lang="en-US" baseline="0" dirty="0"/>
              <a:t>The second </a:t>
            </a:r>
            <a:r>
              <a:rPr lang="en-US" baseline="0" dirty="0" err="1"/>
              <a:t>malloc</a:t>
            </a:r>
            <a:r>
              <a:rPr lang="en-US" baseline="0" dirty="0"/>
              <a:t> allocates 10 integers!</a:t>
            </a:r>
          </a:p>
          <a:p>
            <a:r>
              <a:rPr lang="en-US" baseline="0" dirty="0"/>
              <a:t>So we have to do free all the </a:t>
            </a:r>
            <a:r>
              <a:rPr lang="en-US" baseline="0" dirty="0" err="1"/>
              <a:t>mallocs</a:t>
            </a:r>
            <a:r>
              <a:rPr lang="en-US" baseline="0" dirty="0"/>
              <a:t> for each table of integers</a:t>
            </a:r>
          </a:p>
          <a:p>
            <a:r>
              <a:rPr lang="en-US" baseline="0" dirty="0"/>
              <a:t>And also free for the table of pointers</a:t>
            </a:r>
          </a:p>
          <a:p>
            <a:endParaRPr lang="en-US" baseline="0" dirty="0"/>
          </a:p>
          <a:p>
            <a:pPr marL="0" indent="0">
              <a:buNone/>
            </a:pPr>
            <a:r>
              <a:rPr lang="en-US" sz="1200" b="1" dirty="0">
                <a:latin typeface="Courier"/>
                <a:cs typeface="Courier"/>
              </a:rPr>
              <a:t>for (</a:t>
            </a:r>
            <a:r>
              <a:rPr lang="en-US" sz="1200" b="1" dirty="0" err="1">
                <a:latin typeface="Courier"/>
                <a:cs typeface="Courier"/>
              </a:rPr>
              <a:t>i</a:t>
            </a:r>
            <a:r>
              <a:rPr lang="en-US" sz="1200" b="1" dirty="0">
                <a:latin typeface="Courier"/>
                <a:cs typeface="Courier"/>
              </a:rPr>
              <a:t> = 0 ; </a:t>
            </a:r>
            <a:r>
              <a:rPr lang="en-US" sz="1200" b="1" dirty="0" err="1">
                <a:latin typeface="Courier"/>
                <a:cs typeface="Courier"/>
              </a:rPr>
              <a:t>i</a:t>
            </a:r>
            <a:r>
              <a:rPr lang="en-US" sz="1200" b="1" dirty="0">
                <a:latin typeface="Courier"/>
                <a:cs typeface="Courier"/>
              </a:rPr>
              <a:t> != 10 ; </a:t>
            </a:r>
            <a:r>
              <a:rPr lang="en-US" sz="1200" b="1" dirty="0" err="1">
                <a:latin typeface="Courier"/>
                <a:cs typeface="Courier"/>
              </a:rPr>
              <a:t>i</a:t>
            </a:r>
            <a:r>
              <a:rPr lang="en-US" sz="1200" b="1" dirty="0">
                <a:latin typeface="Courier"/>
                <a:cs typeface="Courier"/>
              </a:rPr>
              <a:t>++) {</a:t>
            </a:r>
          </a:p>
          <a:p>
            <a:pPr marL="0" indent="0">
              <a:buNone/>
            </a:pPr>
            <a:r>
              <a:rPr lang="en-US" sz="1200" b="1" dirty="0">
                <a:latin typeface="Courier"/>
                <a:cs typeface="Courier"/>
              </a:rPr>
              <a:t>	free(</a:t>
            </a:r>
            <a:r>
              <a:rPr lang="en-US" sz="1200" b="1" dirty="0" err="1">
                <a:latin typeface="Courier"/>
                <a:cs typeface="Courier"/>
              </a:rPr>
              <a:t>my_array</a:t>
            </a:r>
            <a:r>
              <a:rPr lang="en-US" sz="1200" b="1" dirty="0">
                <a:latin typeface="Courier"/>
                <a:cs typeface="Courier"/>
              </a:rPr>
              <a:t>[</a:t>
            </a:r>
            <a:r>
              <a:rPr lang="en-US" sz="1200" b="1" dirty="0" err="1">
                <a:latin typeface="Courier"/>
                <a:cs typeface="Courier"/>
              </a:rPr>
              <a:t>i</a:t>
            </a:r>
            <a:r>
              <a:rPr lang="en-US" sz="1200" b="1" dirty="0">
                <a:latin typeface="Courier"/>
                <a:cs typeface="Courier"/>
              </a:rPr>
              <a:t>]);</a:t>
            </a:r>
          </a:p>
          <a:p>
            <a:pPr marL="0" indent="0">
              <a:buNone/>
            </a:pPr>
            <a:r>
              <a:rPr lang="en-US" sz="1200" b="1" dirty="0">
                <a:latin typeface="Courier"/>
                <a:cs typeface="Courier"/>
              </a:rPr>
              <a:t>}</a:t>
            </a:r>
          </a:p>
          <a:p>
            <a:pPr marL="0" indent="0">
              <a:buNone/>
            </a:pPr>
            <a:r>
              <a:rPr lang="en-US" sz="1200" b="1" dirty="0">
                <a:latin typeface="Courier"/>
                <a:cs typeface="Courier"/>
              </a:rPr>
              <a:t>free(</a:t>
            </a:r>
            <a:r>
              <a:rPr lang="en-US" sz="1200" b="1" dirty="0" err="1">
                <a:latin typeface="Courier"/>
                <a:cs typeface="Courier"/>
              </a:rPr>
              <a:t>my_array</a:t>
            </a:r>
            <a:r>
              <a:rPr lang="en-US" sz="1200" b="1" dirty="0">
                <a:latin typeface="Courier"/>
                <a:cs typeface="Courier"/>
              </a:rPr>
              <a:t>);</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195</a:t>
            </a:fld>
            <a:endParaRPr lang="fr-FR"/>
          </a:p>
        </p:txBody>
      </p:sp>
    </p:spTree>
    <p:extLst>
      <p:ext uri="{BB962C8B-B14F-4D97-AF65-F5344CB8AC3E}">
        <p14:creationId xmlns:p14="http://schemas.microsoft.com/office/powerpoint/2010/main" val="20673081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a:t>
            </a:r>
            <a:r>
              <a:rPr lang="en-US" baseline="0" dirty="0" err="1"/>
              <a:t>malloc</a:t>
            </a:r>
            <a:r>
              <a:rPr lang="en-US" baseline="0" dirty="0"/>
              <a:t> allocates 10 pointers to </a:t>
            </a:r>
            <a:r>
              <a:rPr lang="en-US" baseline="0" dirty="0" err="1"/>
              <a:t>int</a:t>
            </a:r>
            <a:endParaRPr lang="en-US" baseline="0" dirty="0"/>
          </a:p>
          <a:p>
            <a:r>
              <a:rPr lang="en-US" baseline="0" dirty="0"/>
              <a:t>The second </a:t>
            </a:r>
            <a:r>
              <a:rPr lang="en-US" baseline="0" dirty="0" err="1"/>
              <a:t>malloc</a:t>
            </a:r>
            <a:r>
              <a:rPr lang="en-US" baseline="0" dirty="0"/>
              <a:t> allocates 10 integers!</a:t>
            </a:r>
          </a:p>
          <a:p>
            <a:r>
              <a:rPr lang="en-US" baseline="0" dirty="0"/>
              <a:t>So we have to do free all the </a:t>
            </a:r>
            <a:r>
              <a:rPr lang="en-US" baseline="0" dirty="0" err="1"/>
              <a:t>mallocs</a:t>
            </a:r>
            <a:r>
              <a:rPr lang="en-US" baseline="0" dirty="0"/>
              <a:t> for each table of integers</a:t>
            </a:r>
          </a:p>
          <a:p>
            <a:r>
              <a:rPr lang="en-US" baseline="0" dirty="0"/>
              <a:t>And also free for the table of pointers</a:t>
            </a:r>
          </a:p>
          <a:p>
            <a:endParaRPr lang="en-US" baseline="0" dirty="0"/>
          </a:p>
          <a:p>
            <a:pPr marL="0" indent="0">
              <a:buNone/>
            </a:pPr>
            <a:r>
              <a:rPr lang="en-US" sz="1200" b="1" dirty="0">
                <a:latin typeface="Courier"/>
                <a:cs typeface="Courier"/>
              </a:rPr>
              <a:t>for (</a:t>
            </a:r>
            <a:r>
              <a:rPr lang="en-US" sz="1200" b="1" dirty="0" err="1">
                <a:latin typeface="Courier"/>
                <a:cs typeface="Courier"/>
              </a:rPr>
              <a:t>i</a:t>
            </a:r>
            <a:r>
              <a:rPr lang="en-US" sz="1200" b="1" dirty="0">
                <a:latin typeface="Courier"/>
                <a:cs typeface="Courier"/>
              </a:rPr>
              <a:t> = 0 ; </a:t>
            </a:r>
            <a:r>
              <a:rPr lang="en-US" sz="1200" b="1" dirty="0" err="1">
                <a:latin typeface="Courier"/>
                <a:cs typeface="Courier"/>
              </a:rPr>
              <a:t>i</a:t>
            </a:r>
            <a:r>
              <a:rPr lang="en-US" sz="1200" b="1" dirty="0">
                <a:latin typeface="Courier"/>
                <a:cs typeface="Courier"/>
              </a:rPr>
              <a:t> != 10 ; </a:t>
            </a:r>
            <a:r>
              <a:rPr lang="en-US" sz="1200" b="1" dirty="0" err="1">
                <a:latin typeface="Courier"/>
                <a:cs typeface="Courier"/>
              </a:rPr>
              <a:t>i</a:t>
            </a:r>
            <a:r>
              <a:rPr lang="en-US" sz="1200" b="1" dirty="0">
                <a:latin typeface="Courier"/>
                <a:cs typeface="Courier"/>
              </a:rPr>
              <a:t>++) {</a:t>
            </a:r>
          </a:p>
          <a:p>
            <a:pPr marL="0" indent="0">
              <a:buNone/>
            </a:pPr>
            <a:r>
              <a:rPr lang="en-US" sz="1200" b="1" dirty="0">
                <a:latin typeface="Courier"/>
                <a:cs typeface="Courier"/>
              </a:rPr>
              <a:t>	free(</a:t>
            </a:r>
            <a:r>
              <a:rPr lang="en-US" sz="1200" b="1" dirty="0" err="1">
                <a:latin typeface="Courier"/>
                <a:cs typeface="Courier"/>
              </a:rPr>
              <a:t>my_array</a:t>
            </a:r>
            <a:r>
              <a:rPr lang="en-US" sz="1200" b="1" dirty="0">
                <a:latin typeface="Courier"/>
                <a:cs typeface="Courier"/>
              </a:rPr>
              <a:t>[</a:t>
            </a:r>
            <a:r>
              <a:rPr lang="en-US" sz="1200" b="1" dirty="0" err="1">
                <a:latin typeface="Courier"/>
                <a:cs typeface="Courier"/>
              </a:rPr>
              <a:t>i</a:t>
            </a:r>
            <a:r>
              <a:rPr lang="en-US" sz="1200" b="1" dirty="0">
                <a:latin typeface="Courier"/>
                <a:cs typeface="Courier"/>
              </a:rPr>
              <a:t>]);</a:t>
            </a:r>
          </a:p>
          <a:p>
            <a:pPr marL="0" indent="0">
              <a:buNone/>
            </a:pPr>
            <a:r>
              <a:rPr lang="en-US" sz="1200" b="1" dirty="0">
                <a:latin typeface="Courier"/>
                <a:cs typeface="Courier"/>
              </a:rPr>
              <a:t>}</a:t>
            </a:r>
          </a:p>
          <a:p>
            <a:pPr marL="0" indent="0">
              <a:buNone/>
            </a:pPr>
            <a:r>
              <a:rPr lang="en-US" sz="1200" b="1" dirty="0">
                <a:latin typeface="Courier"/>
                <a:cs typeface="Courier"/>
              </a:rPr>
              <a:t>free(</a:t>
            </a:r>
            <a:r>
              <a:rPr lang="en-US" sz="1200" b="1" dirty="0" err="1">
                <a:latin typeface="Courier"/>
                <a:cs typeface="Courier"/>
              </a:rPr>
              <a:t>my_array</a:t>
            </a:r>
            <a:r>
              <a:rPr lang="en-US" sz="1200" b="1" dirty="0">
                <a:latin typeface="Courier"/>
                <a:cs typeface="Courier"/>
              </a:rPr>
              <a:t>);</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196</a:t>
            </a:fld>
            <a:endParaRPr lang="fr-FR"/>
          </a:p>
        </p:txBody>
      </p:sp>
    </p:spTree>
    <p:extLst>
      <p:ext uri="{BB962C8B-B14F-4D97-AF65-F5344CB8AC3E}">
        <p14:creationId xmlns:p14="http://schemas.microsoft.com/office/powerpoint/2010/main" val="20673081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a:t>
            </a:r>
            <a:r>
              <a:rPr lang="en-US" baseline="0" dirty="0" err="1"/>
              <a:t>malloc</a:t>
            </a:r>
            <a:r>
              <a:rPr lang="en-US" baseline="0" dirty="0"/>
              <a:t> allocates 10 pointers to </a:t>
            </a:r>
            <a:r>
              <a:rPr lang="en-US" baseline="0" dirty="0" err="1"/>
              <a:t>int</a:t>
            </a:r>
            <a:endParaRPr lang="en-US" baseline="0" dirty="0"/>
          </a:p>
          <a:p>
            <a:r>
              <a:rPr lang="en-US" baseline="0" dirty="0"/>
              <a:t>The second </a:t>
            </a:r>
            <a:r>
              <a:rPr lang="en-US" baseline="0" dirty="0" err="1"/>
              <a:t>malloc</a:t>
            </a:r>
            <a:r>
              <a:rPr lang="en-US" baseline="0" dirty="0"/>
              <a:t> allocates 10 integers!</a:t>
            </a:r>
          </a:p>
          <a:p>
            <a:r>
              <a:rPr lang="en-US" baseline="0" dirty="0"/>
              <a:t>So we have to do free all the </a:t>
            </a:r>
            <a:r>
              <a:rPr lang="en-US" baseline="0" dirty="0" err="1"/>
              <a:t>mallocs</a:t>
            </a:r>
            <a:r>
              <a:rPr lang="en-US" baseline="0" dirty="0"/>
              <a:t> for each table of integers</a:t>
            </a:r>
          </a:p>
          <a:p>
            <a:r>
              <a:rPr lang="en-US" baseline="0" dirty="0"/>
              <a:t>And also free for the table of pointers</a:t>
            </a:r>
          </a:p>
          <a:p>
            <a:endParaRPr lang="en-US" baseline="0" dirty="0"/>
          </a:p>
          <a:p>
            <a:pPr marL="0" indent="0">
              <a:buNone/>
            </a:pPr>
            <a:r>
              <a:rPr lang="en-US" sz="1200" b="1" dirty="0">
                <a:latin typeface="Courier"/>
                <a:cs typeface="Courier"/>
              </a:rPr>
              <a:t>for (</a:t>
            </a:r>
            <a:r>
              <a:rPr lang="en-US" sz="1200" b="1" dirty="0" err="1">
                <a:latin typeface="Courier"/>
                <a:cs typeface="Courier"/>
              </a:rPr>
              <a:t>i</a:t>
            </a:r>
            <a:r>
              <a:rPr lang="en-US" sz="1200" b="1" dirty="0">
                <a:latin typeface="Courier"/>
                <a:cs typeface="Courier"/>
              </a:rPr>
              <a:t> = 0 ; </a:t>
            </a:r>
            <a:r>
              <a:rPr lang="en-US" sz="1200" b="1" dirty="0" err="1">
                <a:latin typeface="Courier"/>
                <a:cs typeface="Courier"/>
              </a:rPr>
              <a:t>i</a:t>
            </a:r>
            <a:r>
              <a:rPr lang="en-US" sz="1200" b="1" dirty="0">
                <a:latin typeface="Courier"/>
                <a:cs typeface="Courier"/>
              </a:rPr>
              <a:t> != 10 ; </a:t>
            </a:r>
            <a:r>
              <a:rPr lang="en-US" sz="1200" b="1" dirty="0" err="1">
                <a:latin typeface="Courier"/>
                <a:cs typeface="Courier"/>
              </a:rPr>
              <a:t>i</a:t>
            </a:r>
            <a:r>
              <a:rPr lang="en-US" sz="1200" b="1" dirty="0">
                <a:latin typeface="Courier"/>
                <a:cs typeface="Courier"/>
              </a:rPr>
              <a:t>++) {</a:t>
            </a:r>
          </a:p>
          <a:p>
            <a:pPr marL="0" indent="0">
              <a:buNone/>
            </a:pPr>
            <a:r>
              <a:rPr lang="en-US" sz="1200" b="1" dirty="0">
                <a:latin typeface="Courier"/>
                <a:cs typeface="Courier"/>
              </a:rPr>
              <a:t>	free(</a:t>
            </a:r>
            <a:r>
              <a:rPr lang="en-US" sz="1200" b="1" dirty="0" err="1">
                <a:latin typeface="Courier"/>
                <a:cs typeface="Courier"/>
              </a:rPr>
              <a:t>my_array</a:t>
            </a:r>
            <a:r>
              <a:rPr lang="en-US" sz="1200" b="1" dirty="0">
                <a:latin typeface="Courier"/>
                <a:cs typeface="Courier"/>
              </a:rPr>
              <a:t>[</a:t>
            </a:r>
            <a:r>
              <a:rPr lang="en-US" sz="1200" b="1" dirty="0" err="1">
                <a:latin typeface="Courier"/>
                <a:cs typeface="Courier"/>
              </a:rPr>
              <a:t>i</a:t>
            </a:r>
            <a:r>
              <a:rPr lang="en-US" sz="1200" b="1" dirty="0">
                <a:latin typeface="Courier"/>
                <a:cs typeface="Courier"/>
              </a:rPr>
              <a:t>]);</a:t>
            </a:r>
          </a:p>
          <a:p>
            <a:pPr marL="0" indent="0">
              <a:buNone/>
            </a:pPr>
            <a:r>
              <a:rPr lang="en-US" sz="1200" b="1" dirty="0">
                <a:latin typeface="Courier"/>
                <a:cs typeface="Courier"/>
              </a:rPr>
              <a:t>}</a:t>
            </a:r>
          </a:p>
          <a:p>
            <a:pPr marL="0" indent="0">
              <a:buNone/>
            </a:pPr>
            <a:r>
              <a:rPr lang="en-US" sz="1200" b="1" dirty="0">
                <a:latin typeface="Courier"/>
                <a:cs typeface="Courier"/>
              </a:rPr>
              <a:t>free(</a:t>
            </a:r>
            <a:r>
              <a:rPr lang="en-US" sz="1200" b="1" dirty="0" err="1">
                <a:latin typeface="Courier"/>
                <a:cs typeface="Courier"/>
              </a:rPr>
              <a:t>my_array</a:t>
            </a:r>
            <a:r>
              <a:rPr lang="en-US" sz="1200" b="1" dirty="0">
                <a:latin typeface="Courier"/>
                <a:cs typeface="Courier"/>
              </a:rPr>
              <a:t>);</a:t>
            </a:r>
          </a:p>
          <a:p>
            <a:endParaRPr lang="en-US" baseline="0"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197</a:t>
            </a:fld>
            <a:endParaRPr lang="fr-FR"/>
          </a:p>
        </p:txBody>
      </p:sp>
    </p:spTree>
    <p:extLst>
      <p:ext uri="{BB962C8B-B14F-4D97-AF65-F5344CB8AC3E}">
        <p14:creationId xmlns:p14="http://schemas.microsoft.com/office/powerpoint/2010/main" val="20673081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Espace réservé de l'image des diapositives 1"/>
          <p:cNvSpPr>
            <a:spLocks noGrp="1" noRot="1" noChangeAspect="1"/>
          </p:cNvSpPr>
          <p:nvPr>
            <p:ph type="sldImg"/>
          </p:nvPr>
        </p:nvSpPr>
        <p:spPr>
          <a:ln/>
        </p:spPr>
      </p:sp>
      <p:sp>
        <p:nvSpPr>
          <p:cNvPr id="75778"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r>
              <a:rPr lang="fr-FR">
                <a:ea typeface="ＭＳ Ｐゴシック" charset="0"/>
                <a:cs typeface="ＭＳ Ｐゴシック" charset="0"/>
              </a:rPr>
              <a:t>La remarque veut dire que l’on ne met pas de identificateur juste après enum et que l’on peut utiliser le type directement dans le code en utilisant BOOLEEN (pas besoin de enum)</a:t>
            </a:r>
          </a:p>
        </p:txBody>
      </p:sp>
      <p:sp>
        <p:nvSpPr>
          <p:cNvPr id="75779"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63742166-CA91-AB4E-ABF7-4E8016333785}" type="slidenum">
              <a:rPr lang="fr-FR" sz="1200">
                <a:latin typeface="Times New Roman" charset="0"/>
              </a:rPr>
              <a:pPr/>
              <a:t>207</a:t>
            </a:fld>
            <a:endParaRPr lang="fr-FR" sz="1200">
              <a:latin typeface="Times New Roman"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have to be shifted except</a:t>
            </a:r>
            <a:r>
              <a:rPr lang="en-US" baseline="0" dirty="0"/>
              <a:t> 100</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213</a:t>
            </a:fld>
            <a:endParaRPr lang="fr-FR"/>
          </a:p>
        </p:txBody>
      </p:sp>
    </p:spTree>
    <p:extLst>
      <p:ext uri="{BB962C8B-B14F-4D97-AF65-F5344CB8AC3E}">
        <p14:creationId xmlns:p14="http://schemas.microsoft.com/office/powerpoint/2010/main" val="38762709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215</a:t>
            </a:fld>
            <a:endParaRPr lang="fr-FR"/>
          </a:p>
        </p:txBody>
      </p:sp>
    </p:spTree>
    <p:extLst>
      <p:ext uri="{BB962C8B-B14F-4D97-AF65-F5344CB8AC3E}">
        <p14:creationId xmlns:p14="http://schemas.microsoft.com/office/powerpoint/2010/main" val="37226994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216</a:t>
            </a:fld>
            <a:endParaRPr lang="fr-FR"/>
          </a:p>
        </p:txBody>
      </p:sp>
    </p:spTree>
    <p:extLst>
      <p:ext uri="{BB962C8B-B14F-4D97-AF65-F5344CB8AC3E}">
        <p14:creationId xmlns:p14="http://schemas.microsoft.com/office/powerpoint/2010/main" val="6035896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217</a:t>
            </a:fld>
            <a:endParaRPr lang="fr-FR"/>
          </a:p>
        </p:txBody>
      </p:sp>
    </p:spTree>
    <p:extLst>
      <p:ext uri="{BB962C8B-B14F-4D97-AF65-F5344CB8AC3E}">
        <p14:creationId xmlns:p14="http://schemas.microsoft.com/office/powerpoint/2010/main" val="39462925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218</a:t>
            </a:fld>
            <a:endParaRPr lang="fr-FR"/>
          </a:p>
        </p:txBody>
      </p:sp>
    </p:spTree>
    <p:extLst>
      <p:ext uri="{BB962C8B-B14F-4D97-AF65-F5344CB8AC3E}">
        <p14:creationId xmlns:p14="http://schemas.microsoft.com/office/powerpoint/2010/main" val="30950385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219</a:t>
            </a:fld>
            <a:endParaRPr lang="fr-FR"/>
          </a:p>
        </p:txBody>
      </p:sp>
    </p:spTree>
    <p:extLst>
      <p:ext uri="{BB962C8B-B14F-4D97-AF65-F5344CB8AC3E}">
        <p14:creationId xmlns:p14="http://schemas.microsoft.com/office/powerpoint/2010/main" val="31205628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220</a:t>
            </a:fld>
            <a:endParaRPr lang="fr-FR"/>
          </a:p>
        </p:txBody>
      </p:sp>
    </p:spTree>
    <p:extLst>
      <p:ext uri="{BB962C8B-B14F-4D97-AF65-F5344CB8AC3E}">
        <p14:creationId xmlns:p14="http://schemas.microsoft.com/office/powerpoint/2010/main" val="32204736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221</a:t>
            </a:fld>
            <a:endParaRPr lang="fr-FR"/>
          </a:p>
        </p:txBody>
      </p:sp>
    </p:spTree>
    <p:extLst>
      <p:ext uri="{BB962C8B-B14F-4D97-AF65-F5344CB8AC3E}">
        <p14:creationId xmlns:p14="http://schemas.microsoft.com/office/powerpoint/2010/main" val="304439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222</a:t>
            </a:fld>
            <a:endParaRPr lang="fr-FR"/>
          </a:p>
        </p:txBody>
      </p:sp>
    </p:spTree>
    <p:extLst>
      <p:ext uri="{BB962C8B-B14F-4D97-AF65-F5344CB8AC3E}">
        <p14:creationId xmlns:p14="http://schemas.microsoft.com/office/powerpoint/2010/main" val="336252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223</a:t>
            </a:fld>
            <a:endParaRPr lang="fr-FR"/>
          </a:p>
        </p:txBody>
      </p:sp>
    </p:spTree>
    <p:extLst>
      <p:ext uri="{BB962C8B-B14F-4D97-AF65-F5344CB8AC3E}">
        <p14:creationId xmlns:p14="http://schemas.microsoft.com/office/powerpoint/2010/main" val="15050042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a:t>
            </a:r>
            <a:r>
              <a:rPr lang="en-US" baseline="0" dirty="0"/>
              <a:t> a pointer does not mean that we have reserved the memory!!!</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224</a:t>
            </a:fld>
            <a:endParaRPr lang="fr-FR"/>
          </a:p>
        </p:txBody>
      </p:sp>
    </p:spTree>
    <p:extLst>
      <p:ext uri="{BB962C8B-B14F-4D97-AF65-F5344CB8AC3E}">
        <p14:creationId xmlns:p14="http://schemas.microsoft.com/office/powerpoint/2010/main" val="3762986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r>
              <a:rPr lang="en-US" dirty="0"/>
              <a:t>127 FOR THE CHARACTER IN ASCII</a:t>
            </a:r>
          </a:p>
          <a:p>
            <a:r>
              <a:rPr lang="en-US" dirty="0"/>
              <a:t>8 AS</a:t>
            </a:r>
            <a:r>
              <a:rPr lang="en-US" baseline="0" dirty="0"/>
              <a:t> WE HAVE 8 CHARACTERS SO MODULO WITH 1016</a:t>
            </a:r>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r>
              <a:rPr lang="en-US" dirty="0"/>
              <a:t>127 FOR THE CHARACTER IN ASCII</a:t>
            </a:r>
          </a:p>
          <a:p>
            <a:r>
              <a:rPr lang="en-US" dirty="0"/>
              <a:t>8 AS</a:t>
            </a:r>
            <a:r>
              <a:rPr lang="en-US" baseline="0" dirty="0"/>
              <a:t> WE HAVE 8 CHARACTERS SO MODULO WITH 1016</a:t>
            </a:r>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r>
              <a:rPr lang="en-US" dirty="0"/>
              <a:t>If the elements</a:t>
            </a:r>
            <a:r>
              <a:rPr lang="en-US" baseline="0" dirty="0"/>
              <a:t> </a:t>
            </a:r>
            <a:r>
              <a:rPr lang="en-US" dirty="0"/>
              <a:t>are</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1266"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5362"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5362"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5362"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Rectangle 1"/>
          <p:cNvSpPr>
            <a:spLocks noGrp="1" noRot="1" noChangeAspect="1" noChangeArrowheads="1" noTextEdit="1"/>
          </p:cNvSpPr>
          <p:nvPr>
            <p:ph type="sldImg"/>
          </p:nvPr>
        </p:nvSpPr>
        <p:spPr bwMode="auto">
          <a:xfrm>
            <a:off x="0" y="225425"/>
            <a:ext cx="1588"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338" name="Text Box 2"/>
          <p:cNvSpPr txBox="1">
            <a:spLocks noGrp="1" noChangeArrowheads="1"/>
          </p:cNvSpPr>
          <p:nvPr>
            <p:ph type="body" idx="1"/>
          </p:nvPr>
        </p:nvSpPr>
        <p:spPr bwMode="auto">
          <a:xfrm>
            <a:off x="728764" y="3207335"/>
            <a:ext cx="8480771" cy="30174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274</a:t>
            </a:fld>
            <a:endParaRPr lang="fr-FR"/>
          </a:p>
        </p:txBody>
      </p:sp>
    </p:spTree>
    <p:extLst>
      <p:ext uri="{BB962C8B-B14F-4D97-AF65-F5344CB8AC3E}">
        <p14:creationId xmlns:p14="http://schemas.microsoft.com/office/powerpoint/2010/main" val="30742264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(which can lead to buffer overflows).</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275</a:t>
            </a:fld>
            <a:endParaRPr lang="fr-FR"/>
          </a:p>
        </p:txBody>
      </p:sp>
    </p:spTree>
    <p:extLst>
      <p:ext uri="{BB962C8B-B14F-4D97-AF65-F5344CB8AC3E}">
        <p14:creationId xmlns:p14="http://schemas.microsoft.com/office/powerpoint/2010/main" val="9561212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(which can lead to buffer overflows).</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276</a:t>
            </a:fld>
            <a:endParaRPr lang="fr-FR"/>
          </a:p>
        </p:txBody>
      </p:sp>
    </p:spTree>
    <p:extLst>
      <p:ext uri="{BB962C8B-B14F-4D97-AF65-F5344CB8AC3E}">
        <p14:creationId xmlns:p14="http://schemas.microsoft.com/office/powerpoint/2010/main" val="12635162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277</a:t>
            </a:fld>
            <a:endParaRPr lang="fr-FR"/>
          </a:p>
        </p:txBody>
      </p:sp>
    </p:spTree>
    <p:extLst>
      <p:ext uri="{BB962C8B-B14F-4D97-AF65-F5344CB8AC3E}">
        <p14:creationId xmlns:p14="http://schemas.microsoft.com/office/powerpoint/2010/main" val="22029077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278</a:t>
            </a:fld>
            <a:endParaRPr lang="fr-FR"/>
          </a:p>
        </p:txBody>
      </p:sp>
    </p:spTree>
    <p:extLst>
      <p:ext uri="{BB962C8B-B14F-4D97-AF65-F5344CB8AC3E}">
        <p14:creationId xmlns:p14="http://schemas.microsoft.com/office/powerpoint/2010/main" val="40109365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279</a:t>
            </a:fld>
            <a:endParaRPr lang="fr-FR"/>
          </a:p>
        </p:txBody>
      </p:sp>
    </p:spTree>
    <p:extLst>
      <p:ext uri="{BB962C8B-B14F-4D97-AF65-F5344CB8AC3E}">
        <p14:creationId xmlns:p14="http://schemas.microsoft.com/office/powerpoint/2010/main" val="3723677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pPr>
            <a:r>
              <a:rPr lang="en-US" sz="1200" dirty="0">
                <a:solidFill>
                  <a:srgbClr val="000000"/>
                </a:solidFill>
                <a:latin typeface="Courier"/>
                <a:ea typeface="Courier 10 Pitch"/>
                <a:cs typeface="Courier"/>
              </a:rPr>
              <a:t>Ares</a:t>
            </a:r>
          </a:p>
          <a:p>
            <a:pPr algn="l">
              <a:lnSpc>
                <a:spcPct val="100000"/>
              </a:lnSpc>
            </a:pPr>
            <a:endParaRPr lang="en-US" sz="1200" dirty="0">
              <a:solidFill>
                <a:srgbClr val="000000"/>
              </a:solidFill>
              <a:latin typeface="Courier"/>
              <a:ea typeface="Courier 10 Pitch"/>
              <a:cs typeface="Courier"/>
            </a:endParaRPr>
          </a:p>
          <a:p>
            <a:pPr algn="l">
              <a:lnSpc>
                <a:spcPct val="100000"/>
              </a:lnSpc>
            </a:pPr>
            <a:r>
              <a:rPr lang="en-US" sz="1200" dirty="0">
                <a:solidFill>
                  <a:srgbClr val="000000"/>
                </a:solidFill>
                <a:latin typeface="Courier"/>
                <a:ea typeface="Courier 10 Pitch"/>
                <a:cs typeface="Courier"/>
              </a:rPr>
              <a:t>BUT Copy of text1</a:t>
            </a:r>
            <a:r>
              <a:rPr lang="en-US" sz="1200" baseline="0" dirty="0">
                <a:solidFill>
                  <a:srgbClr val="000000"/>
                </a:solidFill>
                <a:latin typeface="Courier"/>
                <a:ea typeface="Courier 10 Pitch"/>
                <a:cs typeface="Courier"/>
              </a:rPr>
              <a:t> </a:t>
            </a:r>
            <a:r>
              <a:rPr lang="en-US" sz="1200" dirty="0">
                <a:solidFill>
                  <a:srgbClr val="000000"/>
                </a:solidFill>
                <a:latin typeface="Courier"/>
                <a:ea typeface="Courier 10 Pitch"/>
                <a:cs typeface="Courier"/>
              </a:rPr>
              <a:t>to text2, if the size is not enough, we risk to destroy the data stored after text2 or have a « segmentation fault » ! */</a:t>
            </a:r>
          </a:p>
          <a:p>
            <a:pPr algn="l">
              <a:lnSpc>
                <a:spcPct val="100000"/>
              </a:lnSpc>
            </a:pPr>
            <a:endParaRPr lang="en-US" sz="1200" dirty="0">
              <a:latin typeface="Courier"/>
              <a:cs typeface="Courier"/>
            </a:endParaRPr>
          </a:p>
          <a:p>
            <a:pPr algn="l">
              <a:lnSpc>
                <a:spcPct val="100000"/>
              </a:lnSpc>
            </a:pPr>
            <a:r>
              <a:rPr lang="en-US" sz="1200" dirty="0">
                <a:solidFill>
                  <a:srgbClr val="000000"/>
                </a:solidFill>
                <a:latin typeface="Courier"/>
                <a:cs typeface="Courier"/>
              </a:rPr>
              <a:t> </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282</a:t>
            </a:fld>
            <a:endParaRPr lang="fr-FR"/>
          </a:p>
        </p:txBody>
      </p:sp>
    </p:spTree>
    <p:extLst>
      <p:ext uri="{BB962C8B-B14F-4D97-AF65-F5344CB8AC3E}">
        <p14:creationId xmlns:p14="http://schemas.microsoft.com/office/powerpoint/2010/main" val="320447263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800" dirty="0"/>
              <a:t>Syntax:</a:t>
            </a:r>
          </a:p>
          <a:p>
            <a:pPr algn="l"/>
            <a:endParaRPr lang="en-GB" sz="1800" b="1" dirty="0"/>
          </a:p>
          <a:p>
            <a:pPr algn="l">
              <a:buBlip>
                <a:blip r:embed="rId3"/>
              </a:buBlip>
            </a:pPr>
            <a:r>
              <a:rPr lang="en-GB" sz="1800" b="1" dirty="0"/>
              <a:t>Synopsis</a:t>
            </a:r>
            <a:endParaRPr lang="en-GB" sz="1800" dirty="0"/>
          </a:p>
          <a:p>
            <a:pPr lvl="1" algn="l">
              <a:lnSpc>
                <a:spcPct val="100000"/>
              </a:lnSpc>
              <a:buBlip>
                <a:blip r:embed="rId4"/>
              </a:buBlip>
            </a:pPr>
            <a:r>
              <a:rPr lang="en-GB" sz="1800" b="1" dirty="0">
                <a:latin typeface="Courier New"/>
                <a:ea typeface="Courier New"/>
              </a:rPr>
              <a:t>#include &lt;</a:t>
            </a:r>
            <a:r>
              <a:rPr lang="en-GB" sz="1800" b="1" dirty="0">
                <a:solidFill>
                  <a:srgbClr val="CCCCFF"/>
                </a:solidFill>
                <a:latin typeface="Courier New"/>
                <a:ea typeface="Courier New"/>
                <a:hlinkClick r:id="rId5"/>
              </a:rPr>
              <a:t>string.h</a:t>
            </a:r>
            <a:r>
              <a:rPr lang="en-GB" sz="1800" b="1" dirty="0">
                <a:latin typeface="Courier New"/>
                <a:ea typeface="Courier New"/>
              </a:rPr>
              <a:t>&gt;</a:t>
            </a:r>
            <a:endParaRPr lang="en-GB" sz="1800" dirty="0"/>
          </a:p>
          <a:p>
            <a:pPr lvl="1" algn="l">
              <a:lnSpc>
                <a:spcPct val="100000"/>
              </a:lnSpc>
              <a:buBlip>
                <a:blip r:embed="rId4"/>
              </a:buBlip>
            </a:pPr>
            <a:r>
              <a:rPr lang="en-GB" sz="1800" b="1" dirty="0" err="1">
                <a:latin typeface="Courier New"/>
                <a:ea typeface="Courier New"/>
              </a:rPr>
              <a:t>int</a:t>
            </a:r>
            <a:r>
              <a:rPr lang="en-GB" sz="1800" b="1" dirty="0">
                <a:latin typeface="Courier New"/>
                <a:ea typeface="Courier New"/>
              </a:rPr>
              <a:t> </a:t>
            </a:r>
            <a:r>
              <a:rPr lang="en-GB" sz="1800" b="1" dirty="0" err="1">
                <a:latin typeface="Courier New"/>
                <a:ea typeface="Courier New"/>
              </a:rPr>
              <a:t>strcmp</a:t>
            </a:r>
            <a:r>
              <a:rPr lang="en-GB" sz="1800" b="1" dirty="0">
                <a:latin typeface="Courier New"/>
                <a:ea typeface="Courier New"/>
              </a:rPr>
              <a:t>(char *</a:t>
            </a:r>
            <a:r>
              <a:rPr lang="en-GB" sz="1800" b="1" i="1" dirty="0">
                <a:latin typeface="Courier New"/>
                <a:ea typeface="Courier New"/>
              </a:rPr>
              <a:t>s1</a:t>
            </a:r>
            <a:r>
              <a:rPr lang="en-GB" sz="1800" b="1" dirty="0">
                <a:latin typeface="Courier New"/>
                <a:ea typeface="Courier New"/>
              </a:rPr>
              <a:t>, char *</a:t>
            </a:r>
            <a:r>
              <a:rPr lang="en-GB" sz="1800" b="1" i="1" dirty="0">
                <a:latin typeface="Courier New"/>
                <a:ea typeface="Courier New"/>
              </a:rPr>
              <a:t>s2</a:t>
            </a:r>
            <a:r>
              <a:rPr lang="en-GB" sz="1800" b="1" dirty="0">
                <a:latin typeface="Courier New"/>
                <a:ea typeface="Courier New"/>
              </a:rPr>
              <a:t>);</a:t>
            </a:r>
            <a:endParaRPr lang="en-GB" sz="1800" dirty="0"/>
          </a:p>
          <a:p>
            <a:pPr algn="l">
              <a:lnSpc>
                <a:spcPct val="100000"/>
              </a:lnSpc>
              <a:buBlip>
                <a:blip r:embed="rId3"/>
              </a:buBlip>
            </a:pPr>
            <a:r>
              <a:rPr lang="en-GB" sz="1800" b="1" dirty="0"/>
              <a:t>Description</a:t>
            </a:r>
            <a:endParaRPr lang="en-GB" sz="1800" dirty="0"/>
          </a:p>
          <a:p>
            <a:pPr lvl="1" algn="l">
              <a:lnSpc>
                <a:spcPct val="100000"/>
              </a:lnSpc>
              <a:buBlip>
                <a:blip r:embed="rId4"/>
              </a:buBlip>
            </a:pPr>
            <a:r>
              <a:rPr lang="en-GB" sz="1800" dirty="0"/>
              <a:t>La </a:t>
            </a:r>
            <a:r>
              <a:rPr lang="en-GB" sz="1800" dirty="0" err="1"/>
              <a:t>fonction</a:t>
            </a:r>
            <a:r>
              <a:rPr lang="en-GB" sz="1800" dirty="0"/>
              <a:t> </a:t>
            </a:r>
            <a:r>
              <a:rPr lang="en-GB" sz="1800" i="1" dirty="0" err="1"/>
              <a:t>strcmp</a:t>
            </a:r>
            <a:r>
              <a:rPr lang="en-GB" sz="1800" dirty="0"/>
              <a:t>() compare </a:t>
            </a:r>
            <a:r>
              <a:rPr lang="en-GB" sz="1800" dirty="0" err="1"/>
              <a:t>deux</a:t>
            </a:r>
            <a:r>
              <a:rPr lang="en-GB" sz="1800" dirty="0"/>
              <a:t> </a:t>
            </a:r>
            <a:r>
              <a:rPr lang="en-GB" sz="1800" dirty="0" err="1"/>
              <a:t>chaînes</a:t>
            </a:r>
            <a:r>
              <a:rPr lang="en-GB" sz="1800" dirty="0"/>
              <a:t> de </a:t>
            </a:r>
            <a:r>
              <a:rPr lang="en-GB" sz="1800" dirty="0" err="1"/>
              <a:t>caractères</a:t>
            </a:r>
            <a:r>
              <a:rPr lang="en-GB" sz="1800" dirty="0"/>
              <a:t> </a:t>
            </a:r>
            <a:r>
              <a:rPr lang="en-GB" sz="1800" i="1" dirty="0"/>
              <a:t>s1</a:t>
            </a:r>
            <a:r>
              <a:rPr lang="en-GB" sz="1800" dirty="0"/>
              <a:t> et </a:t>
            </a:r>
            <a:r>
              <a:rPr lang="en-GB" sz="1800" i="1" dirty="0"/>
              <a:t>s2</a:t>
            </a:r>
            <a:r>
              <a:rPr lang="en-GB" sz="1800" dirty="0"/>
              <a:t> </a:t>
            </a:r>
            <a:r>
              <a:rPr lang="en-GB" sz="1800" dirty="0" err="1"/>
              <a:t>toutes</a:t>
            </a:r>
            <a:r>
              <a:rPr lang="en-GB" sz="1800" dirty="0"/>
              <a:t> </a:t>
            </a:r>
            <a:r>
              <a:rPr lang="en-GB" sz="1800" dirty="0" err="1"/>
              <a:t>deux</a:t>
            </a:r>
            <a:r>
              <a:rPr lang="en-GB" sz="1800" dirty="0"/>
              <a:t> </a:t>
            </a:r>
            <a:r>
              <a:rPr lang="en-GB" sz="1800" dirty="0" err="1"/>
              <a:t>terminées</a:t>
            </a:r>
            <a:r>
              <a:rPr lang="en-GB" sz="1800" dirty="0"/>
              <a:t> par le </a:t>
            </a:r>
            <a:r>
              <a:rPr lang="en-GB" sz="1800" dirty="0" err="1"/>
              <a:t>caractère</a:t>
            </a:r>
            <a:r>
              <a:rPr lang="en-GB" sz="1800" dirty="0"/>
              <a:t> ‘\0’..</a:t>
            </a:r>
          </a:p>
          <a:p>
            <a:pPr algn="l">
              <a:lnSpc>
                <a:spcPct val="100000"/>
              </a:lnSpc>
              <a:buBlip>
                <a:blip r:embed="rId3"/>
              </a:buBlip>
            </a:pPr>
            <a:r>
              <a:rPr lang="en-GB" sz="1800" b="1" dirty="0" err="1"/>
              <a:t>Valeur</a:t>
            </a:r>
            <a:r>
              <a:rPr lang="en-GB" sz="1800" b="1" dirty="0"/>
              <a:t> de retour</a:t>
            </a:r>
            <a:endParaRPr lang="en-GB" sz="1800" dirty="0"/>
          </a:p>
          <a:p>
            <a:pPr lvl="1" algn="l">
              <a:lnSpc>
                <a:spcPct val="100000"/>
              </a:lnSpc>
              <a:buBlip>
                <a:blip r:embed="rId4"/>
              </a:buBlip>
            </a:pPr>
            <a:r>
              <a:rPr lang="en-GB" sz="1800" dirty="0" err="1"/>
              <a:t>Une</a:t>
            </a:r>
            <a:r>
              <a:rPr lang="en-GB" sz="1800" dirty="0"/>
              <a:t> </a:t>
            </a:r>
            <a:r>
              <a:rPr lang="en-GB" sz="1800" dirty="0" err="1"/>
              <a:t>fois</a:t>
            </a:r>
            <a:r>
              <a:rPr lang="en-GB" sz="1800" dirty="0"/>
              <a:t> </a:t>
            </a:r>
            <a:r>
              <a:rPr lang="en-GB" sz="1800" dirty="0" err="1"/>
              <a:t>terminée</a:t>
            </a:r>
            <a:r>
              <a:rPr lang="en-GB" sz="1800" dirty="0"/>
              <a:t>, </a:t>
            </a:r>
            <a:r>
              <a:rPr lang="en-GB" sz="1800" i="1" dirty="0" err="1"/>
              <a:t>strcmp</a:t>
            </a:r>
            <a:r>
              <a:rPr lang="en-GB" sz="1800" dirty="0"/>
              <a:t>() </a:t>
            </a:r>
            <a:r>
              <a:rPr lang="en-GB" sz="1800" dirty="0" err="1"/>
              <a:t>retourne</a:t>
            </a:r>
            <a:r>
              <a:rPr lang="en-GB" sz="1800" dirty="0"/>
              <a:t> un </a:t>
            </a:r>
            <a:r>
              <a:rPr lang="en-GB" sz="1800" dirty="0" err="1"/>
              <a:t>entier</a:t>
            </a:r>
            <a:r>
              <a:rPr lang="en-GB" sz="1800" dirty="0"/>
              <a:t> de </a:t>
            </a:r>
            <a:r>
              <a:rPr lang="en-GB" sz="1800" dirty="0" err="1"/>
              <a:t>valeur</a:t>
            </a:r>
            <a:r>
              <a:rPr lang="en-GB" sz="1800" dirty="0"/>
              <a:t> </a:t>
            </a:r>
            <a:r>
              <a:rPr lang="en-GB" sz="1800" dirty="0" err="1"/>
              <a:t>respectivement</a:t>
            </a:r>
            <a:r>
              <a:rPr lang="en-GB" sz="1800" dirty="0"/>
              <a:t>  </a:t>
            </a:r>
            <a:r>
              <a:rPr lang="en-GB" sz="1800" dirty="0" err="1"/>
              <a:t>supérieure</a:t>
            </a:r>
            <a:r>
              <a:rPr lang="en-GB" sz="1800" dirty="0"/>
              <a:t>, </a:t>
            </a:r>
            <a:r>
              <a:rPr lang="en-GB" sz="1800" dirty="0" err="1"/>
              <a:t>égale</a:t>
            </a:r>
            <a:r>
              <a:rPr lang="en-GB" sz="1800" dirty="0"/>
              <a:t> </a:t>
            </a:r>
            <a:r>
              <a:rPr lang="en-GB" sz="1800" dirty="0" err="1"/>
              <a:t>ou</a:t>
            </a:r>
            <a:r>
              <a:rPr lang="en-GB" sz="1800" dirty="0"/>
              <a:t> </a:t>
            </a:r>
            <a:r>
              <a:rPr lang="en-GB" sz="1800" dirty="0" err="1"/>
              <a:t>inférieure</a:t>
            </a:r>
            <a:r>
              <a:rPr lang="en-GB" sz="1800" dirty="0"/>
              <a:t> </a:t>
            </a:r>
            <a:r>
              <a:rPr lang="en-GB" sz="1800" dirty="0" err="1"/>
              <a:t>à</a:t>
            </a:r>
            <a:r>
              <a:rPr lang="en-GB" sz="1800" dirty="0"/>
              <a:t> 0, </a:t>
            </a:r>
            <a:r>
              <a:rPr lang="en-GB" sz="1800" dirty="0" err="1"/>
              <a:t>dans</a:t>
            </a:r>
            <a:r>
              <a:rPr lang="en-GB" sz="1800" dirty="0"/>
              <a:t> le </a:t>
            </a:r>
            <a:r>
              <a:rPr lang="en-GB" sz="1800" dirty="0" err="1"/>
              <a:t>cas</a:t>
            </a:r>
            <a:r>
              <a:rPr lang="en-GB" sz="1800" dirty="0"/>
              <a:t> la </a:t>
            </a:r>
            <a:r>
              <a:rPr lang="en-GB" sz="1800" dirty="0" err="1"/>
              <a:t>chaîne</a:t>
            </a:r>
            <a:r>
              <a:rPr lang="en-GB" sz="1800" dirty="0"/>
              <a:t> </a:t>
            </a:r>
            <a:r>
              <a:rPr lang="en-GB" sz="1800" dirty="0" err="1"/>
              <a:t>désignée</a:t>
            </a:r>
            <a:r>
              <a:rPr lang="en-GB" sz="1800" dirty="0"/>
              <a:t> par </a:t>
            </a:r>
            <a:r>
              <a:rPr lang="en-GB" sz="1800" i="1" dirty="0"/>
              <a:t>s1</a:t>
            </a:r>
            <a:r>
              <a:rPr lang="en-GB" sz="1800" dirty="0"/>
              <a:t> (resp.) </a:t>
            </a:r>
            <a:r>
              <a:rPr lang="en-GB" sz="1800" dirty="0" err="1"/>
              <a:t>succède</a:t>
            </a:r>
            <a:r>
              <a:rPr lang="en-GB" sz="1800" dirty="0"/>
              <a:t> </a:t>
            </a:r>
            <a:r>
              <a:rPr lang="en-GB" sz="1800" dirty="0" err="1"/>
              <a:t>à</a:t>
            </a:r>
            <a:r>
              <a:rPr lang="en-GB" sz="1800" dirty="0"/>
              <a:t>, </a:t>
            </a:r>
            <a:r>
              <a:rPr lang="en-GB" sz="1800" dirty="0" err="1"/>
              <a:t>est</a:t>
            </a:r>
            <a:r>
              <a:rPr lang="en-GB" sz="1800" dirty="0"/>
              <a:t> </a:t>
            </a:r>
            <a:r>
              <a:rPr lang="en-GB" sz="1800" dirty="0" err="1"/>
              <a:t>égale</a:t>
            </a:r>
            <a:r>
              <a:rPr lang="en-GB" sz="1800" dirty="0"/>
              <a:t> </a:t>
            </a:r>
            <a:r>
              <a:rPr lang="en-GB" sz="1800" dirty="0" err="1"/>
              <a:t>à</a:t>
            </a:r>
            <a:r>
              <a:rPr lang="en-GB" sz="1800" dirty="0"/>
              <a:t>, </a:t>
            </a:r>
            <a:r>
              <a:rPr lang="en-GB" sz="1800" dirty="0" err="1"/>
              <a:t>ou</a:t>
            </a:r>
            <a:r>
              <a:rPr lang="en-GB" sz="1800" dirty="0"/>
              <a:t> </a:t>
            </a:r>
            <a:r>
              <a:rPr lang="en-GB" sz="1800" dirty="0" err="1"/>
              <a:t>précède</a:t>
            </a:r>
            <a:r>
              <a:rPr lang="en-GB" sz="1800" dirty="0"/>
              <a:t> la </a:t>
            </a:r>
            <a:r>
              <a:rPr lang="en-GB" sz="1800" dirty="0" err="1"/>
              <a:t>chaîne</a:t>
            </a:r>
            <a:r>
              <a:rPr lang="en-GB" sz="1800" dirty="0"/>
              <a:t> </a:t>
            </a:r>
            <a:r>
              <a:rPr lang="en-GB" sz="1800" i="1" dirty="0"/>
              <a:t>s2</a:t>
            </a:r>
            <a:r>
              <a:rPr lang="en-GB" sz="1800" dirty="0"/>
              <a:t>..</a:t>
            </a:r>
          </a:p>
          <a:p>
            <a:pPr algn="l">
              <a:lnSpc>
                <a:spcPct val="100000"/>
              </a:lnSpc>
              <a:buBlip>
                <a:blip r:embed="rId3"/>
              </a:buBlip>
            </a:pPr>
            <a:r>
              <a:rPr lang="en-GB" sz="1800" b="1" dirty="0" err="1"/>
              <a:t>Erreurs</a:t>
            </a:r>
            <a:endParaRPr lang="en-GB" sz="1800" dirty="0"/>
          </a:p>
          <a:p>
            <a:pPr lvl="1" algn="l">
              <a:lnSpc>
                <a:spcPct val="100000"/>
              </a:lnSpc>
              <a:buBlip>
                <a:blip r:embed="rId4"/>
              </a:buBlip>
            </a:pPr>
            <a:r>
              <a:rPr lang="en-GB" sz="1800" dirty="0"/>
              <a:t>Pas </a:t>
            </a:r>
            <a:r>
              <a:rPr lang="en-GB" sz="1800" dirty="0" err="1"/>
              <a:t>d’erreurs</a:t>
            </a:r>
            <a:r>
              <a:rPr lang="en-GB" sz="1800" dirty="0"/>
              <a:t> </a:t>
            </a:r>
            <a:r>
              <a:rPr lang="en-GB" sz="1800" dirty="0" err="1"/>
              <a:t>définies</a:t>
            </a:r>
            <a:r>
              <a:rPr lang="en-GB" sz="1800" dirty="0"/>
              <a:t>.</a:t>
            </a:r>
          </a:p>
          <a:p>
            <a:pPr algn="l">
              <a:lnSpc>
                <a:spcPct val="100000"/>
              </a:lnSpc>
              <a:buSzPct val="25000"/>
              <a:buFont typeface="StarSymbol"/>
              <a:buChar char=""/>
            </a:pPr>
            <a:endParaRPr lang="en-GB" sz="1800"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284</a:t>
            </a:fld>
            <a:endParaRPr lang="fr-FR"/>
          </a:p>
        </p:txBody>
      </p:sp>
    </p:spTree>
    <p:extLst>
      <p:ext uri="{BB962C8B-B14F-4D97-AF65-F5344CB8AC3E}">
        <p14:creationId xmlns:p14="http://schemas.microsoft.com/office/powerpoint/2010/main" val="299023983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800" dirty="0"/>
              <a:t>Syntax:</a:t>
            </a:r>
          </a:p>
          <a:p>
            <a:pPr algn="l"/>
            <a:endParaRPr lang="en-GB" sz="1800" b="1" dirty="0"/>
          </a:p>
          <a:p>
            <a:pPr algn="l">
              <a:buBlip>
                <a:blip r:embed="rId3"/>
              </a:buBlip>
            </a:pPr>
            <a:r>
              <a:rPr lang="en-GB" sz="1800" b="1" dirty="0"/>
              <a:t>Synopsis</a:t>
            </a:r>
            <a:endParaRPr lang="en-GB" sz="1800" dirty="0"/>
          </a:p>
          <a:p>
            <a:pPr lvl="1" algn="l">
              <a:lnSpc>
                <a:spcPct val="100000"/>
              </a:lnSpc>
              <a:buBlip>
                <a:blip r:embed="rId4"/>
              </a:buBlip>
            </a:pPr>
            <a:r>
              <a:rPr lang="en-GB" sz="1800" b="1" dirty="0">
                <a:latin typeface="Courier New"/>
                <a:ea typeface="Courier New"/>
              </a:rPr>
              <a:t>#include &lt;</a:t>
            </a:r>
            <a:r>
              <a:rPr lang="en-GB" sz="1800" b="1" dirty="0">
                <a:solidFill>
                  <a:srgbClr val="CCCCFF"/>
                </a:solidFill>
                <a:latin typeface="Courier New"/>
                <a:ea typeface="Courier New"/>
                <a:hlinkClick r:id="rId5"/>
              </a:rPr>
              <a:t>string.h</a:t>
            </a:r>
            <a:r>
              <a:rPr lang="en-GB" sz="1800" b="1" dirty="0">
                <a:latin typeface="Courier New"/>
                <a:ea typeface="Courier New"/>
              </a:rPr>
              <a:t>&gt;</a:t>
            </a:r>
            <a:endParaRPr lang="en-GB" sz="1800" dirty="0"/>
          </a:p>
          <a:p>
            <a:pPr lvl="1" algn="l">
              <a:lnSpc>
                <a:spcPct val="100000"/>
              </a:lnSpc>
              <a:buBlip>
                <a:blip r:embed="rId4"/>
              </a:buBlip>
            </a:pPr>
            <a:r>
              <a:rPr lang="en-GB" sz="1800" b="1" dirty="0" err="1">
                <a:latin typeface="Courier New"/>
                <a:ea typeface="Courier New"/>
              </a:rPr>
              <a:t>int</a:t>
            </a:r>
            <a:r>
              <a:rPr lang="en-GB" sz="1800" b="1" dirty="0">
                <a:latin typeface="Courier New"/>
                <a:ea typeface="Courier New"/>
              </a:rPr>
              <a:t> </a:t>
            </a:r>
            <a:r>
              <a:rPr lang="en-GB" sz="1800" b="1" dirty="0" err="1">
                <a:latin typeface="Courier New"/>
                <a:ea typeface="Courier New"/>
              </a:rPr>
              <a:t>strcmp</a:t>
            </a:r>
            <a:r>
              <a:rPr lang="en-GB" sz="1800" b="1" dirty="0">
                <a:latin typeface="Courier New"/>
                <a:ea typeface="Courier New"/>
              </a:rPr>
              <a:t>(char *</a:t>
            </a:r>
            <a:r>
              <a:rPr lang="en-GB" sz="1800" b="1" i="1" dirty="0">
                <a:latin typeface="Courier New"/>
                <a:ea typeface="Courier New"/>
              </a:rPr>
              <a:t>s1</a:t>
            </a:r>
            <a:r>
              <a:rPr lang="en-GB" sz="1800" b="1" dirty="0">
                <a:latin typeface="Courier New"/>
                <a:ea typeface="Courier New"/>
              </a:rPr>
              <a:t>, char *</a:t>
            </a:r>
            <a:r>
              <a:rPr lang="en-GB" sz="1800" b="1" i="1" dirty="0">
                <a:latin typeface="Courier New"/>
                <a:ea typeface="Courier New"/>
              </a:rPr>
              <a:t>s2</a:t>
            </a:r>
            <a:r>
              <a:rPr lang="en-GB" sz="1800" b="1" dirty="0">
                <a:latin typeface="Courier New"/>
                <a:ea typeface="Courier New"/>
              </a:rPr>
              <a:t>);</a:t>
            </a:r>
            <a:endParaRPr lang="en-GB" sz="1800" dirty="0"/>
          </a:p>
          <a:p>
            <a:pPr algn="l">
              <a:lnSpc>
                <a:spcPct val="100000"/>
              </a:lnSpc>
              <a:buBlip>
                <a:blip r:embed="rId3"/>
              </a:buBlip>
            </a:pPr>
            <a:r>
              <a:rPr lang="en-GB" sz="1800" b="1" dirty="0"/>
              <a:t>Description</a:t>
            </a:r>
            <a:endParaRPr lang="en-GB" sz="1800" dirty="0"/>
          </a:p>
          <a:p>
            <a:pPr lvl="1" algn="l">
              <a:lnSpc>
                <a:spcPct val="100000"/>
              </a:lnSpc>
              <a:buBlip>
                <a:blip r:embed="rId4"/>
              </a:buBlip>
            </a:pPr>
            <a:r>
              <a:rPr lang="en-GB" sz="1800" dirty="0"/>
              <a:t>La </a:t>
            </a:r>
            <a:r>
              <a:rPr lang="en-GB" sz="1800" dirty="0" err="1"/>
              <a:t>fonction</a:t>
            </a:r>
            <a:r>
              <a:rPr lang="en-GB" sz="1800" dirty="0"/>
              <a:t> </a:t>
            </a:r>
            <a:r>
              <a:rPr lang="en-GB" sz="1800" i="1" dirty="0" err="1"/>
              <a:t>strcmp</a:t>
            </a:r>
            <a:r>
              <a:rPr lang="en-GB" sz="1800" dirty="0"/>
              <a:t>() compare </a:t>
            </a:r>
            <a:r>
              <a:rPr lang="en-GB" sz="1800" dirty="0" err="1"/>
              <a:t>deux</a:t>
            </a:r>
            <a:r>
              <a:rPr lang="en-GB" sz="1800" dirty="0"/>
              <a:t> </a:t>
            </a:r>
            <a:r>
              <a:rPr lang="en-GB" sz="1800" dirty="0" err="1"/>
              <a:t>chaînes</a:t>
            </a:r>
            <a:r>
              <a:rPr lang="en-GB" sz="1800" dirty="0"/>
              <a:t> de </a:t>
            </a:r>
            <a:r>
              <a:rPr lang="en-GB" sz="1800" dirty="0" err="1"/>
              <a:t>caractères</a:t>
            </a:r>
            <a:r>
              <a:rPr lang="en-GB" sz="1800" dirty="0"/>
              <a:t> </a:t>
            </a:r>
            <a:r>
              <a:rPr lang="en-GB" sz="1800" i="1" dirty="0"/>
              <a:t>s1</a:t>
            </a:r>
            <a:r>
              <a:rPr lang="en-GB" sz="1800" dirty="0"/>
              <a:t> et </a:t>
            </a:r>
            <a:r>
              <a:rPr lang="en-GB" sz="1800" i="1" dirty="0"/>
              <a:t>s2</a:t>
            </a:r>
            <a:r>
              <a:rPr lang="en-GB" sz="1800" dirty="0"/>
              <a:t> </a:t>
            </a:r>
            <a:r>
              <a:rPr lang="en-GB" sz="1800" dirty="0" err="1"/>
              <a:t>toutes</a:t>
            </a:r>
            <a:r>
              <a:rPr lang="en-GB" sz="1800" dirty="0"/>
              <a:t> </a:t>
            </a:r>
            <a:r>
              <a:rPr lang="en-GB" sz="1800" dirty="0" err="1"/>
              <a:t>deux</a:t>
            </a:r>
            <a:r>
              <a:rPr lang="en-GB" sz="1800" dirty="0"/>
              <a:t> </a:t>
            </a:r>
            <a:r>
              <a:rPr lang="en-GB" sz="1800" dirty="0" err="1"/>
              <a:t>terminées</a:t>
            </a:r>
            <a:r>
              <a:rPr lang="en-GB" sz="1800" dirty="0"/>
              <a:t> par le </a:t>
            </a:r>
            <a:r>
              <a:rPr lang="en-GB" sz="1800" dirty="0" err="1"/>
              <a:t>caractère</a:t>
            </a:r>
            <a:r>
              <a:rPr lang="en-GB" sz="1800" dirty="0"/>
              <a:t> ‘\0’..</a:t>
            </a:r>
          </a:p>
          <a:p>
            <a:pPr algn="l">
              <a:lnSpc>
                <a:spcPct val="100000"/>
              </a:lnSpc>
              <a:buBlip>
                <a:blip r:embed="rId3"/>
              </a:buBlip>
            </a:pPr>
            <a:r>
              <a:rPr lang="en-GB" sz="1800" b="1" dirty="0" err="1"/>
              <a:t>Valeur</a:t>
            </a:r>
            <a:r>
              <a:rPr lang="en-GB" sz="1800" b="1" dirty="0"/>
              <a:t> de retour</a:t>
            </a:r>
            <a:endParaRPr lang="en-GB" sz="1800" dirty="0"/>
          </a:p>
          <a:p>
            <a:pPr lvl="1" algn="l">
              <a:lnSpc>
                <a:spcPct val="100000"/>
              </a:lnSpc>
              <a:buBlip>
                <a:blip r:embed="rId4"/>
              </a:buBlip>
            </a:pPr>
            <a:r>
              <a:rPr lang="en-GB" sz="1800" dirty="0" err="1"/>
              <a:t>Une</a:t>
            </a:r>
            <a:r>
              <a:rPr lang="en-GB" sz="1800" dirty="0"/>
              <a:t> </a:t>
            </a:r>
            <a:r>
              <a:rPr lang="en-GB" sz="1800" dirty="0" err="1"/>
              <a:t>fois</a:t>
            </a:r>
            <a:r>
              <a:rPr lang="en-GB" sz="1800" dirty="0"/>
              <a:t> </a:t>
            </a:r>
            <a:r>
              <a:rPr lang="en-GB" sz="1800" dirty="0" err="1"/>
              <a:t>terminée</a:t>
            </a:r>
            <a:r>
              <a:rPr lang="en-GB" sz="1800" dirty="0"/>
              <a:t>, </a:t>
            </a:r>
            <a:r>
              <a:rPr lang="en-GB" sz="1800" i="1" dirty="0" err="1"/>
              <a:t>strcmp</a:t>
            </a:r>
            <a:r>
              <a:rPr lang="en-GB" sz="1800" dirty="0"/>
              <a:t>() </a:t>
            </a:r>
            <a:r>
              <a:rPr lang="en-GB" sz="1800" dirty="0" err="1"/>
              <a:t>retourne</a:t>
            </a:r>
            <a:r>
              <a:rPr lang="en-GB" sz="1800" dirty="0"/>
              <a:t> un </a:t>
            </a:r>
            <a:r>
              <a:rPr lang="en-GB" sz="1800" dirty="0" err="1"/>
              <a:t>entier</a:t>
            </a:r>
            <a:r>
              <a:rPr lang="en-GB" sz="1800" dirty="0"/>
              <a:t> de </a:t>
            </a:r>
            <a:r>
              <a:rPr lang="en-GB" sz="1800" dirty="0" err="1"/>
              <a:t>valeur</a:t>
            </a:r>
            <a:r>
              <a:rPr lang="en-GB" sz="1800" dirty="0"/>
              <a:t> </a:t>
            </a:r>
            <a:r>
              <a:rPr lang="en-GB" sz="1800" dirty="0" err="1"/>
              <a:t>respectivement</a:t>
            </a:r>
            <a:r>
              <a:rPr lang="en-GB" sz="1800" dirty="0"/>
              <a:t>  </a:t>
            </a:r>
            <a:r>
              <a:rPr lang="en-GB" sz="1800" dirty="0" err="1"/>
              <a:t>supérieure</a:t>
            </a:r>
            <a:r>
              <a:rPr lang="en-GB" sz="1800" dirty="0"/>
              <a:t>, </a:t>
            </a:r>
            <a:r>
              <a:rPr lang="en-GB" sz="1800" dirty="0" err="1"/>
              <a:t>égale</a:t>
            </a:r>
            <a:r>
              <a:rPr lang="en-GB" sz="1800" dirty="0"/>
              <a:t> </a:t>
            </a:r>
            <a:r>
              <a:rPr lang="en-GB" sz="1800" dirty="0" err="1"/>
              <a:t>ou</a:t>
            </a:r>
            <a:r>
              <a:rPr lang="en-GB" sz="1800" dirty="0"/>
              <a:t> </a:t>
            </a:r>
            <a:r>
              <a:rPr lang="en-GB" sz="1800" dirty="0" err="1"/>
              <a:t>inférieure</a:t>
            </a:r>
            <a:r>
              <a:rPr lang="en-GB" sz="1800" dirty="0"/>
              <a:t> </a:t>
            </a:r>
            <a:r>
              <a:rPr lang="en-GB" sz="1800" dirty="0" err="1"/>
              <a:t>à</a:t>
            </a:r>
            <a:r>
              <a:rPr lang="en-GB" sz="1800" dirty="0"/>
              <a:t> 0, </a:t>
            </a:r>
            <a:r>
              <a:rPr lang="en-GB" sz="1800" dirty="0" err="1"/>
              <a:t>dans</a:t>
            </a:r>
            <a:r>
              <a:rPr lang="en-GB" sz="1800" dirty="0"/>
              <a:t> le </a:t>
            </a:r>
            <a:r>
              <a:rPr lang="en-GB" sz="1800" dirty="0" err="1"/>
              <a:t>cas</a:t>
            </a:r>
            <a:r>
              <a:rPr lang="en-GB" sz="1800" dirty="0"/>
              <a:t> la </a:t>
            </a:r>
            <a:r>
              <a:rPr lang="en-GB" sz="1800" dirty="0" err="1"/>
              <a:t>chaîne</a:t>
            </a:r>
            <a:r>
              <a:rPr lang="en-GB" sz="1800" dirty="0"/>
              <a:t> </a:t>
            </a:r>
            <a:r>
              <a:rPr lang="en-GB" sz="1800" dirty="0" err="1"/>
              <a:t>désignée</a:t>
            </a:r>
            <a:r>
              <a:rPr lang="en-GB" sz="1800" dirty="0"/>
              <a:t> par </a:t>
            </a:r>
            <a:r>
              <a:rPr lang="en-GB" sz="1800" i="1" dirty="0"/>
              <a:t>s1</a:t>
            </a:r>
            <a:r>
              <a:rPr lang="en-GB" sz="1800" dirty="0"/>
              <a:t> (resp.) </a:t>
            </a:r>
            <a:r>
              <a:rPr lang="en-GB" sz="1800" dirty="0" err="1"/>
              <a:t>succède</a:t>
            </a:r>
            <a:r>
              <a:rPr lang="en-GB" sz="1800" dirty="0"/>
              <a:t> </a:t>
            </a:r>
            <a:r>
              <a:rPr lang="en-GB" sz="1800" dirty="0" err="1"/>
              <a:t>à</a:t>
            </a:r>
            <a:r>
              <a:rPr lang="en-GB" sz="1800" dirty="0"/>
              <a:t>, </a:t>
            </a:r>
            <a:r>
              <a:rPr lang="en-GB" sz="1800" dirty="0" err="1"/>
              <a:t>est</a:t>
            </a:r>
            <a:r>
              <a:rPr lang="en-GB" sz="1800" dirty="0"/>
              <a:t> </a:t>
            </a:r>
            <a:r>
              <a:rPr lang="en-GB" sz="1800" dirty="0" err="1"/>
              <a:t>égale</a:t>
            </a:r>
            <a:r>
              <a:rPr lang="en-GB" sz="1800" dirty="0"/>
              <a:t> </a:t>
            </a:r>
            <a:r>
              <a:rPr lang="en-GB" sz="1800" dirty="0" err="1"/>
              <a:t>à</a:t>
            </a:r>
            <a:r>
              <a:rPr lang="en-GB" sz="1800" dirty="0"/>
              <a:t>, </a:t>
            </a:r>
            <a:r>
              <a:rPr lang="en-GB" sz="1800" dirty="0" err="1"/>
              <a:t>ou</a:t>
            </a:r>
            <a:r>
              <a:rPr lang="en-GB" sz="1800" dirty="0"/>
              <a:t> </a:t>
            </a:r>
            <a:r>
              <a:rPr lang="en-GB" sz="1800" dirty="0" err="1"/>
              <a:t>précède</a:t>
            </a:r>
            <a:r>
              <a:rPr lang="en-GB" sz="1800" dirty="0"/>
              <a:t> la </a:t>
            </a:r>
            <a:r>
              <a:rPr lang="en-GB" sz="1800" dirty="0" err="1"/>
              <a:t>chaîne</a:t>
            </a:r>
            <a:r>
              <a:rPr lang="en-GB" sz="1800" dirty="0"/>
              <a:t> </a:t>
            </a:r>
            <a:r>
              <a:rPr lang="en-GB" sz="1800" i="1" dirty="0"/>
              <a:t>s2</a:t>
            </a:r>
            <a:r>
              <a:rPr lang="en-GB" sz="1800" dirty="0"/>
              <a:t>..</a:t>
            </a:r>
          </a:p>
          <a:p>
            <a:pPr algn="l">
              <a:lnSpc>
                <a:spcPct val="100000"/>
              </a:lnSpc>
              <a:buBlip>
                <a:blip r:embed="rId3"/>
              </a:buBlip>
            </a:pPr>
            <a:r>
              <a:rPr lang="en-GB" sz="1800" b="1" dirty="0" err="1"/>
              <a:t>Erreurs</a:t>
            </a:r>
            <a:endParaRPr lang="en-GB" sz="1800" dirty="0"/>
          </a:p>
          <a:p>
            <a:pPr lvl="1" algn="l">
              <a:lnSpc>
                <a:spcPct val="100000"/>
              </a:lnSpc>
              <a:buBlip>
                <a:blip r:embed="rId4"/>
              </a:buBlip>
            </a:pPr>
            <a:r>
              <a:rPr lang="en-GB" sz="1800" dirty="0"/>
              <a:t>Pas </a:t>
            </a:r>
            <a:r>
              <a:rPr lang="en-GB" sz="1800" dirty="0" err="1"/>
              <a:t>d’erreurs</a:t>
            </a:r>
            <a:r>
              <a:rPr lang="en-GB" sz="1800" dirty="0"/>
              <a:t> </a:t>
            </a:r>
            <a:r>
              <a:rPr lang="en-GB" sz="1800" dirty="0" err="1"/>
              <a:t>définies</a:t>
            </a:r>
            <a:r>
              <a:rPr lang="en-GB" sz="1800" dirty="0"/>
              <a:t>.</a:t>
            </a:r>
          </a:p>
          <a:p>
            <a:pPr algn="l">
              <a:lnSpc>
                <a:spcPct val="100000"/>
              </a:lnSpc>
              <a:buSzPct val="25000"/>
              <a:buFont typeface="StarSymbol"/>
              <a:buChar char=""/>
            </a:pPr>
            <a:endParaRPr lang="en-GB" sz="1800"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285</a:t>
            </a:fld>
            <a:endParaRPr lang="fr-FR"/>
          </a:p>
        </p:txBody>
      </p:sp>
    </p:spTree>
    <p:extLst>
      <p:ext uri="{BB962C8B-B14F-4D97-AF65-F5344CB8AC3E}">
        <p14:creationId xmlns:p14="http://schemas.microsoft.com/office/powerpoint/2010/main" val="29392238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in </a:t>
            </a:r>
            <a:r>
              <a:rPr lang="en-US" dirty="0" err="1"/>
              <a:t>legicographic</a:t>
            </a:r>
            <a:r>
              <a:rPr lang="en-US" dirty="0"/>
              <a:t>- alphabetical</a:t>
            </a:r>
            <a:r>
              <a:rPr lang="en-US" baseline="0" dirty="0"/>
              <a:t> order</a:t>
            </a:r>
          </a:p>
          <a:p>
            <a:r>
              <a:rPr lang="en-US" baseline="0" dirty="0"/>
              <a:t>“at”  </a:t>
            </a:r>
            <a:r>
              <a:rPr lang="en-US" baseline="0" dirty="0" err="1"/>
              <a:t>aplhabetically</a:t>
            </a:r>
            <a:r>
              <a:rPr lang="en-US" baseline="0" dirty="0"/>
              <a:t> before “is”!!!</a:t>
            </a:r>
          </a:p>
          <a:p>
            <a:r>
              <a:rPr lang="en-US" baseline="0" dirty="0"/>
              <a:t>So result is nom1 is less that nom2 –&gt; c programming at L3 info is less that C programming is fun!</a:t>
            </a:r>
          </a:p>
          <a:p>
            <a:endParaRPr lang="en-US" baseline="0" dirty="0"/>
          </a:p>
          <a:p>
            <a:r>
              <a:rPr lang="en-US" dirty="0"/>
              <a:t>A value </a:t>
            </a:r>
            <a:r>
              <a:rPr lang="en-US" b="1" dirty="0"/>
              <a:t>greater than zero </a:t>
            </a:r>
            <a:r>
              <a:rPr lang="en-US" dirty="0"/>
              <a:t>indicates that the </a:t>
            </a:r>
            <a:r>
              <a:rPr lang="en-US" b="1" dirty="0"/>
              <a:t>first character </a:t>
            </a:r>
            <a:r>
              <a:rPr lang="en-US" dirty="0"/>
              <a:t>that does not match has a greater value in the first string than in the second</a:t>
            </a:r>
            <a:r>
              <a:rPr lang="en-US" baseline="0" dirty="0"/>
              <a:t> bot (</a:t>
            </a:r>
            <a:r>
              <a:rPr lang="en-US" baseline="0" dirty="0" err="1"/>
              <a:t>ihterpretted</a:t>
            </a:r>
            <a:r>
              <a:rPr lang="en-US" baseline="0" dirty="0"/>
              <a:t> as </a:t>
            </a:r>
            <a:r>
              <a:rPr lang="en-US" b="1" dirty="0"/>
              <a:t>unsigned char)</a:t>
            </a:r>
            <a:endParaRPr lang="en-US" dirty="0"/>
          </a:p>
          <a:p>
            <a:r>
              <a:rPr lang="en-US" dirty="0"/>
              <a:t>A</a:t>
            </a:r>
            <a:r>
              <a:rPr lang="en-US" baseline="0" dirty="0"/>
              <a:t> </a:t>
            </a:r>
            <a:r>
              <a:rPr lang="en-US" dirty="0"/>
              <a:t>value less than zero indicates the the </a:t>
            </a:r>
            <a:r>
              <a:rPr lang="en-US" b="1" dirty="0"/>
              <a:t>first character </a:t>
            </a:r>
            <a:r>
              <a:rPr lang="en-US" dirty="0"/>
              <a:t>that does not match has a greater value in the second string than in the first</a:t>
            </a:r>
          </a:p>
          <a:p>
            <a:endParaRPr lang="en-US" dirty="0"/>
          </a:p>
          <a:p>
            <a:r>
              <a:rPr lang="en-US" dirty="0"/>
              <a:t>a=97 in </a:t>
            </a:r>
            <a:r>
              <a:rPr lang="en-US" dirty="0" err="1"/>
              <a:t>dec</a:t>
            </a:r>
            <a:endParaRPr lang="en-US" dirty="0"/>
          </a:p>
          <a:p>
            <a:r>
              <a:rPr lang="en-US" dirty="0" err="1"/>
              <a:t>i</a:t>
            </a:r>
            <a:r>
              <a:rPr lang="en-US" dirty="0"/>
              <a:t>=105 In</a:t>
            </a:r>
            <a:r>
              <a:rPr lang="en-US" baseline="0" dirty="0"/>
              <a:t> </a:t>
            </a:r>
            <a:r>
              <a:rPr lang="en-US" baseline="0" dirty="0" err="1"/>
              <a:t>dec</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286</a:t>
            </a:fld>
            <a:endParaRPr lang="fr-FR"/>
          </a:p>
        </p:txBody>
      </p:sp>
    </p:spTree>
    <p:extLst>
      <p:ext uri="{BB962C8B-B14F-4D97-AF65-F5344CB8AC3E}">
        <p14:creationId xmlns:p14="http://schemas.microsoft.com/office/powerpoint/2010/main" val="72460992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Strncpy</a:t>
            </a:r>
            <a:r>
              <a:rPr lang="en-US" dirty="0"/>
              <a:t> 6 </a:t>
            </a:r>
            <a:r>
              <a:rPr lang="en-US" dirty="0">
                <a:sym typeface="Wingdings"/>
              </a:rPr>
              <a:t> so, no \0 at s2</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287</a:t>
            </a:fld>
            <a:endParaRPr lang="fr-FR"/>
          </a:p>
        </p:txBody>
      </p:sp>
    </p:spTree>
    <p:extLst>
      <p:ext uri="{BB962C8B-B14F-4D97-AF65-F5344CB8AC3E}">
        <p14:creationId xmlns:p14="http://schemas.microsoft.com/office/powerpoint/2010/main" val="115560586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t>
            </a:r>
            <a:r>
              <a:rPr lang="en-FR" dirty="0"/>
              <a:t>ake link with castin in SYS (uint8_t) and (int16_t)</a:t>
            </a:r>
          </a:p>
        </p:txBody>
      </p:sp>
      <p:sp>
        <p:nvSpPr>
          <p:cNvPr id="4" name="Slide Number Placeholder 3"/>
          <p:cNvSpPr>
            <a:spLocks noGrp="1"/>
          </p:cNvSpPr>
          <p:nvPr>
            <p:ph type="sldNum" sz="quarter" idx="5"/>
          </p:nvPr>
        </p:nvSpPr>
        <p:spPr/>
        <p:txBody>
          <a:bodyPr/>
          <a:lstStyle/>
          <a:p>
            <a:fld id="{B4E1F8BA-42AC-4F4D-A3C8-1DE9704DC2C9}" type="slidenum">
              <a:rPr lang="fr-FR" smtClean="0"/>
              <a:pPr/>
              <a:t>294</a:t>
            </a:fld>
            <a:endParaRPr lang="fr-FR"/>
          </a:p>
        </p:txBody>
      </p:sp>
    </p:spTree>
    <p:extLst>
      <p:ext uri="{BB962C8B-B14F-4D97-AF65-F5344CB8AC3E}">
        <p14:creationId xmlns:p14="http://schemas.microsoft.com/office/powerpoint/2010/main" val="296475151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000000"/>
                </a:solidFill>
                <a:latin typeface="Courier"/>
                <a:cs typeface="Courier"/>
              </a:rPr>
              <a:t>Hello Balthazar, you have</a:t>
            </a:r>
            <a:r>
              <a:rPr lang="en-US" sz="1200" b="1" baseline="0" dirty="0">
                <a:solidFill>
                  <a:srgbClr val="000000"/>
                </a:solidFill>
                <a:latin typeface="Courier"/>
                <a:cs typeface="Courier"/>
              </a:rPr>
              <a:t> 21</a:t>
            </a:r>
            <a:r>
              <a:rPr lang="en-US" sz="1200" b="1" dirty="0">
                <a:solidFill>
                  <a:srgbClr val="000000"/>
                </a:solidFill>
                <a:latin typeface="Courier"/>
                <a:cs typeface="Courier"/>
              </a:rPr>
              <a:t> years</a:t>
            </a:r>
          </a:p>
          <a:p>
            <a:r>
              <a:rPr lang="en-US" sz="1200" b="1" dirty="0">
                <a:solidFill>
                  <a:srgbClr val="000000"/>
                </a:solidFill>
                <a:latin typeface="Courier"/>
                <a:cs typeface="Courier"/>
              </a:rPr>
              <a:t>Your age is written 0x15</a:t>
            </a:r>
            <a:r>
              <a:rPr lang="en-US" sz="1200" b="1" baseline="0" dirty="0">
                <a:solidFill>
                  <a:srgbClr val="000000"/>
                </a:solidFill>
                <a:latin typeface="Courier"/>
                <a:cs typeface="Courier"/>
              </a:rPr>
              <a:t> </a:t>
            </a:r>
            <a:r>
              <a:rPr lang="en-US" sz="1200" b="1" dirty="0">
                <a:solidFill>
                  <a:srgbClr val="000000"/>
                </a:solidFill>
                <a:latin typeface="Courier"/>
                <a:cs typeface="Courier"/>
              </a:rPr>
              <a:t>in hex</a:t>
            </a:r>
          </a:p>
          <a:p>
            <a:r>
              <a:rPr lang="en-US" sz="1200" b="1" dirty="0">
                <a:solidFill>
                  <a:srgbClr val="000000"/>
                </a:solidFill>
                <a:latin typeface="Courier"/>
                <a:cs typeface="Courier"/>
              </a:rPr>
              <a:t>Your name start with the letter B</a:t>
            </a:r>
          </a:p>
          <a:p>
            <a:r>
              <a:rPr lang="en-US" sz="1200" b="1" dirty="0">
                <a:solidFill>
                  <a:srgbClr val="000000"/>
                </a:solidFill>
                <a:latin typeface="Courier"/>
                <a:cs typeface="Courier"/>
              </a:rPr>
              <a:t>Your bank account balance is 1000.25</a:t>
            </a:r>
          </a:p>
          <a:p>
            <a:r>
              <a:rPr lang="en-US" sz="1200" b="1" dirty="0">
                <a:solidFill>
                  <a:srgbClr val="000000"/>
                </a:solidFill>
                <a:latin typeface="Courier"/>
                <a:cs typeface="Courier"/>
              </a:rPr>
              <a:t>The address of the table name 0x3472A000</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299</a:t>
            </a:fld>
            <a:endParaRPr lang="fr-FR"/>
          </a:p>
        </p:txBody>
      </p:sp>
    </p:spTree>
    <p:extLst>
      <p:ext uri="{BB962C8B-B14F-4D97-AF65-F5344CB8AC3E}">
        <p14:creationId xmlns:p14="http://schemas.microsoft.com/office/powerpoint/2010/main" val="213005186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Espace réservé de l'image des diapositives 1"/>
          <p:cNvSpPr>
            <a:spLocks noGrp="1" noRot="1" noChangeAspect="1"/>
          </p:cNvSpPr>
          <p:nvPr>
            <p:ph type="sldImg"/>
          </p:nvPr>
        </p:nvSpPr>
        <p:spPr>
          <a:ln/>
        </p:spPr>
      </p:sp>
      <p:sp>
        <p:nvSpPr>
          <p:cNvPr id="111618"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fr-FR">
              <a:ea typeface="ＭＳ Ｐゴシック" charset="0"/>
              <a:cs typeface="ＭＳ Ｐゴシック" charset="0"/>
            </a:endParaRPr>
          </a:p>
        </p:txBody>
      </p:sp>
      <p:sp>
        <p:nvSpPr>
          <p:cNvPr id="111619"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B64A9E2F-7B30-9242-924C-0B6746654ED0}" type="slidenum">
              <a:rPr lang="fr-FR" sz="1200">
                <a:latin typeface="Times New Roman" charset="0"/>
              </a:rPr>
              <a:pPr/>
              <a:t>300</a:t>
            </a:fld>
            <a:endParaRPr lang="fr-FR" sz="1200">
              <a:latin typeface="Times New Roman"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Espace réservé de l'image des diapositives 1"/>
          <p:cNvSpPr>
            <a:spLocks noGrp="1" noRot="1" noChangeAspect="1"/>
          </p:cNvSpPr>
          <p:nvPr>
            <p:ph type="sldImg"/>
          </p:nvPr>
        </p:nvSpPr>
        <p:spPr>
          <a:ln/>
        </p:spPr>
      </p:sp>
      <p:sp>
        <p:nvSpPr>
          <p:cNvPr id="114690" name="Espace réservé des commentaires 2"/>
          <p:cNvSpPr>
            <a:spLocks noGrp="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p>
            <a:endParaRPr lang="fr-FR" dirty="0">
              <a:ea typeface="ＭＳ Ｐゴシック" charset="0"/>
              <a:cs typeface="ＭＳ Ｐゴシック" charset="0"/>
            </a:endParaRPr>
          </a:p>
        </p:txBody>
      </p:sp>
      <p:sp>
        <p:nvSpPr>
          <p:cNvPr id="114691" name="Espace réservé du numéro de diapositive 3"/>
          <p:cNvSpPr>
            <a:spLocks noGrp="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lstStyle>
            <a:lvl1pPr defTabSz="920389" eaLnBrk="0" hangingPunct="0">
              <a:defRPr sz="2400">
                <a:solidFill>
                  <a:schemeClr val="tx1"/>
                </a:solidFill>
                <a:latin typeface="Arial" charset="0"/>
                <a:ea typeface="ＭＳ Ｐゴシック" charset="0"/>
                <a:cs typeface="ＭＳ Ｐゴシック" charset="0"/>
              </a:defRPr>
            </a:lvl1pPr>
            <a:lvl2pPr marL="749116" indent="-288122" defTabSz="920389" eaLnBrk="0" hangingPunct="0">
              <a:defRPr sz="2400">
                <a:solidFill>
                  <a:schemeClr val="tx1"/>
                </a:solidFill>
                <a:latin typeface="Arial" charset="0"/>
                <a:ea typeface="ＭＳ Ｐゴシック" charset="0"/>
              </a:defRPr>
            </a:lvl2pPr>
            <a:lvl3pPr marL="1152487" indent="-230497" defTabSz="920389" eaLnBrk="0" hangingPunct="0">
              <a:defRPr sz="2400">
                <a:solidFill>
                  <a:schemeClr val="tx1"/>
                </a:solidFill>
                <a:latin typeface="Arial" charset="0"/>
                <a:ea typeface="ＭＳ Ｐゴシック" charset="0"/>
              </a:defRPr>
            </a:lvl3pPr>
            <a:lvl4pPr marL="1613482" indent="-230497" defTabSz="920389" eaLnBrk="0" hangingPunct="0">
              <a:defRPr sz="2400">
                <a:solidFill>
                  <a:schemeClr val="tx1"/>
                </a:solidFill>
                <a:latin typeface="Arial" charset="0"/>
                <a:ea typeface="ＭＳ Ｐゴシック" charset="0"/>
              </a:defRPr>
            </a:lvl4pPr>
            <a:lvl5pPr marL="2074476" indent="-230497" defTabSz="920389" eaLnBrk="0" hangingPunct="0">
              <a:defRPr sz="2400">
                <a:solidFill>
                  <a:schemeClr val="tx1"/>
                </a:solidFill>
                <a:latin typeface="Arial" charset="0"/>
                <a:ea typeface="ＭＳ Ｐゴシック" charset="0"/>
              </a:defRPr>
            </a:lvl5pPr>
            <a:lvl6pPr marL="2535471" indent="-230497" defTabSz="920389" eaLnBrk="0" fontAlgn="base" hangingPunct="0">
              <a:spcBef>
                <a:spcPct val="0"/>
              </a:spcBef>
              <a:spcAft>
                <a:spcPct val="0"/>
              </a:spcAft>
              <a:defRPr sz="2400">
                <a:solidFill>
                  <a:schemeClr val="tx1"/>
                </a:solidFill>
                <a:latin typeface="Arial" charset="0"/>
                <a:ea typeface="ＭＳ Ｐゴシック" charset="0"/>
              </a:defRPr>
            </a:lvl6pPr>
            <a:lvl7pPr marL="2996466" indent="-230497" defTabSz="920389" eaLnBrk="0" fontAlgn="base" hangingPunct="0">
              <a:spcBef>
                <a:spcPct val="0"/>
              </a:spcBef>
              <a:spcAft>
                <a:spcPct val="0"/>
              </a:spcAft>
              <a:defRPr sz="2400">
                <a:solidFill>
                  <a:schemeClr val="tx1"/>
                </a:solidFill>
                <a:latin typeface="Arial" charset="0"/>
                <a:ea typeface="ＭＳ Ｐゴシック" charset="0"/>
              </a:defRPr>
            </a:lvl7pPr>
            <a:lvl8pPr marL="3457461" indent="-230497" defTabSz="920389" eaLnBrk="0" fontAlgn="base" hangingPunct="0">
              <a:spcBef>
                <a:spcPct val="0"/>
              </a:spcBef>
              <a:spcAft>
                <a:spcPct val="0"/>
              </a:spcAft>
              <a:defRPr sz="2400">
                <a:solidFill>
                  <a:schemeClr val="tx1"/>
                </a:solidFill>
                <a:latin typeface="Arial" charset="0"/>
                <a:ea typeface="ＭＳ Ｐゴシック" charset="0"/>
              </a:defRPr>
            </a:lvl8pPr>
            <a:lvl9pPr marL="3918455" indent="-230497" defTabSz="920389" eaLnBrk="0" fontAlgn="base" hangingPunct="0">
              <a:spcBef>
                <a:spcPct val="0"/>
              </a:spcBef>
              <a:spcAft>
                <a:spcPct val="0"/>
              </a:spcAft>
              <a:defRPr sz="2400">
                <a:solidFill>
                  <a:schemeClr val="tx1"/>
                </a:solidFill>
                <a:latin typeface="Arial" charset="0"/>
                <a:ea typeface="ＭＳ Ｐゴシック" charset="0"/>
              </a:defRPr>
            </a:lvl9pPr>
          </a:lstStyle>
          <a:p>
            <a:fld id="{D112D6BA-CC2C-0B49-AE57-C85B8041F1DA}" type="slidenum">
              <a:rPr lang="fr-FR" sz="1200">
                <a:latin typeface="Times New Roman" charset="0"/>
              </a:rPr>
              <a:pPr/>
              <a:t>307</a:t>
            </a:fld>
            <a:endParaRPr lang="fr-FR" sz="1200">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lvl1pPr algn="ctr">
              <a:defRPr/>
            </a:lvl1pPr>
          </a:lstStyle>
          <a:p>
            <a:r>
              <a:rPr lang="fr-FR"/>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endParaRPr lang="en-US"/>
          </a:p>
        </p:txBody>
      </p:sp>
      <p:sp>
        <p:nvSpPr>
          <p:cNvPr id="4" name="Espace réservé du pied de page 3"/>
          <p:cNvSpPr>
            <a:spLocks noGrp="1"/>
          </p:cNvSpPr>
          <p:nvPr>
            <p:ph type="ftr" sz="quarter" idx="10"/>
          </p:nvPr>
        </p:nvSpPr>
        <p:spPr/>
        <p:txBody>
          <a:bodyPr/>
          <a:lstStyle>
            <a:lvl1pPr>
              <a:defRPr>
                <a:ea typeface="ＭＳ Ｐゴシック" charset="0"/>
              </a:defRPr>
            </a:lvl1pPr>
          </a:lstStyle>
          <a:p>
            <a:pPr>
              <a:defRPr/>
            </a:pPr>
            <a:r>
              <a:rPr lang="fr-FR"/>
              <a:t>L3Info – C/Unix</a:t>
            </a:r>
            <a:endParaRPr lang="fr-FR" dirty="0"/>
          </a:p>
        </p:txBody>
      </p:sp>
      <p:sp>
        <p:nvSpPr>
          <p:cNvPr id="5" name="Espace réservé du numéro de diapositive 4"/>
          <p:cNvSpPr>
            <a:spLocks noGrp="1"/>
          </p:cNvSpPr>
          <p:nvPr>
            <p:ph type="sldNum" sz="quarter" idx="11"/>
          </p:nvPr>
        </p:nvSpPr>
        <p:spPr/>
        <p:txBody>
          <a:bodyPr/>
          <a:lstStyle>
            <a:lvl3pPr lvl="2">
              <a:defRPr/>
            </a:lvl3pPr>
          </a:lstStyle>
          <a:p>
            <a:pPr lvl="2"/>
            <a:fld id="{CA38BD18-D798-534D-9B89-0B66A0BD44A9}" type="slidenum">
              <a:rPr lang="fr-FR"/>
              <a:pPr lvl="2"/>
              <a:t>‹N°›</a:t>
            </a:fld>
            <a:endParaRPr lang="fr-FR"/>
          </a:p>
        </p:txBody>
      </p:sp>
    </p:spTree>
    <p:extLst>
      <p:ext uri="{BB962C8B-B14F-4D97-AF65-F5344CB8AC3E}">
        <p14:creationId xmlns:p14="http://schemas.microsoft.com/office/powerpoint/2010/main" val="395052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pied de page 3"/>
          <p:cNvSpPr>
            <a:spLocks noGrp="1"/>
          </p:cNvSpPr>
          <p:nvPr>
            <p:ph type="ftr" sz="quarter" idx="10"/>
          </p:nvPr>
        </p:nvSpPr>
        <p:spPr/>
        <p:txBody>
          <a:bodyPr/>
          <a:lstStyle>
            <a:lvl1pPr>
              <a:defRPr>
                <a:ea typeface="ＭＳ Ｐゴシック" charset="0"/>
              </a:defRPr>
            </a:lvl1pPr>
          </a:lstStyle>
          <a:p>
            <a:pPr>
              <a:defRPr/>
            </a:pPr>
            <a:r>
              <a:rPr lang="fr-FR"/>
              <a:t>L3Info – C/Unix</a:t>
            </a:r>
            <a:endParaRPr lang="fr-FR" dirty="0"/>
          </a:p>
        </p:txBody>
      </p:sp>
      <p:sp>
        <p:nvSpPr>
          <p:cNvPr id="5" name="Espace réservé du numéro de diapositive 4"/>
          <p:cNvSpPr>
            <a:spLocks noGrp="1"/>
          </p:cNvSpPr>
          <p:nvPr>
            <p:ph type="sldNum" sz="quarter" idx="11"/>
          </p:nvPr>
        </p:nvSpPr>
        <p:spPr/>
        <p:txBody>
          <a:bodyPr/>
          <a:lstStyle>
            <a:lvl3pPr lvl="2">
              <a:defRPr/>
            </a:lvl3pPr>
          </a:lstStyle>
          <a:p>
            <a:pPr lvl="2"/>
            <a:fld id="{28BEB0BA-EEE4-5F45-9179-3BC54B76BCCF}" type="slidenum">
              <a:rPr lang="fr-FR"/>
              <a:pPr lvl="2"/>
              <a:t>‹N°›</a:t>
            </a:fld>
            <a:endParaRPr lang="fr-FR"/>
          </a:p>
        </p:txBody>
      </p:sp>
    </p:spTree>
    <p:extLst>
      <p:ext uri="{BB962C8B-B14F-4D97-AF65-F5344CB8AC3E}">
        <p14:creationId xmlns:p14="http://schemas.microsoft.com/office/powerpoint/2010/main" val="83002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5" name="Rectangle 4"/>
          <p:cNvSpPr>
            <a:spLocks noGrp="1" noChangeArrowheads="1"/>
          </p:cNvSpPr>
          <p:nvPr>
            <p:ph type="sldNum" sz="quarter" idx="11"/>
          </p:nvPr>
        </p:nvSpPr>
        <p:spPr>
          <a:ln/>
        </p:spPr>
        <p:txBody>
          <a:bodyPr/>
          <a:lstStyle>
            <a:lvl3pPr lvl="2">
              <a:defRPr/>
            </a:lvl3pPr>
          </a:lstStyle>
          <a:p>
            <a:pPr lvl="2"/>
            <a:fld id="{3E774EF3-E5C1-9947-94FD-7ED4E25DF744}" type="slidenum">
              <a:rPr lang="fr-FR"/>
              <a:pPr lvl="2"/>
              <a:t>‹N°›</a:t>
            </a:fld>
            <a:endParaRPr lang="fr-FR"/>
          </a:p>
        </p:txBody>
      </p:sp>
    </p:spTree>
    <p:extLst>
      <p:ext uri="{BB962C8B-B14F-4D97-AF65-F5344CB8AC3E}">
        <p14:creationId xmlns:p14="http://schemas.microsoft.com/office/powerpoint/2010/main" val="3836302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457200"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64075"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6" name="Rectangle 4"/>
          <p:cNvSpPr>
            <a:spLocks noGrp="1" noChangeArrowheads="1"/>
          </p:cNvSpPr>
          <p:nvPr>
            <p:ph type="sldNum" sz="quarter" idx="11"/>
          </p:nvPr>
        </p:nvSpPr>
        <p:spPr>
          <a:ln/>
        </p:spPr>
        <p:txBody>
          <a:bodyPr/>
          <a:lstStyle>
            <a:lvl3pPr lvl="2">
              <a:defRPr/>
            </a:lvl3pPr>
          </a:lstStyle>
          <a:p>
            <a:pPr lvl="2"/>
            <a:fld id="{C42D0CE1-2123-814B-AF4A-593A8946C394}" type="slidenum">
              <a:rPr lang="fr-FR"/>
              <a:pPr lvl="2"/>
              <a:t>‹N°›</a:t>
            </a:fld>
            <a:endParaRPr lang="fr-FR"/>
          </a:p>
        </p:txBody>
      </p:sp>
    </p:spTree>
    <p:extLst>
      <p:ext uri="{BB962C8B-B14F-4D97-AF65-F5344CB8AC3E}">
        <p14:creationId xmlns:p14="http://schemas.microsoft.com/office/powerpoint/2010/main" val="1653265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8" name="Rectangle 4"/>
          <p:cNvSpPr>
            <a:spLocks noGrp="1" noChangeArrowheads="1"/>
          </p:cNvSpPr>
          <p:nvPr>
            <p:ph type="sldNum" sz="quarter" idx="11"/>
          </p:nvPr>
        </p:nvSpPr>
        <p:spPr>
          <a:ln/>
        </p:spPr>
        <p:txBody>
          <a:bodyPr/>
          <a:lstStyle>
            <a:lvl3pPr lvl="2">
              <a:defRPr/>
            </a:lvl3pPr>
          </a:lstStyle>
          <a:p>
            <a:pPr lvl="2"/>
            <a:fld id="{D368282F-3455-474C-BCD6-6333CCA985B1}" type="slidenum">
              <a:rPr lang="fr-FR"/>
              <a:pPr lvl="2"/>
              <a:t>‹N°›</a:t>
            </a:fld>
            <a:endParaRPr lang="fr-FR"/>
          </a:p>
        </p:txBody>
      </p:sp>
    </p:spTree>
    <p:extLst>
      <p:ext uri="{BB962C8B-B14F-4D97-AF65-F5344CB8AC3E}">
        <p14:creationId xmlns:p14="http://schemas.microsoft.com/office/powerpoint/2010/main" val="4104502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4" name="Rectangle 4"/>
          <p:cNvSpPr>
            <a:spLocks noGrp="1" noChangeArrowheads="1"/>
          </p:cNvSpPr>
          <p:nvPr>
            <p:ph type="sldNum" sz="quarter" idx="11"/>
          </p:nvPr>
        </p:nvSpPr>
        <p:spPr>
          <a:ln/>
        </p:spPr>
        <p:txBody>
          <a:bodyPr/>
          <a:lstStyle>
            <a:lvl3pPr lvl="2">
              <a:defRPr/>
            </a:lvl3pPr>
          </a:lstStyle>
          <a:p>
            <a:pPr lvl="2"/>
            <a:fld id="{FC95157D-BEDD-8742-A6E7-50239084E47D}" type="slidenum">
              <a:rPr lang="fr-FR"/>
              <a:pPr lvl="2"/>
              <a:t>‹N°›</a:t>
            </a:fld>
            <a:endParaRPr lang="fr-FR"/>
          </a:p>
        </p:txBody>
      </p:sp>
    </p:spTree>
    <p:extLst>
      <p:ext uri="{BB962C8B-B14F-4D97-AF65-F5344CB8AC3E}">
        <p14:creationId xmlns:p14="http://schemas.microsoft.com/office/powerpoint/2010/main" val="4148885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3" name="Rectangle 4"/>
          <p:cNvSpPr>
            <a:spLocks noGrp="1" noChangeArrowheads="1"/>
          </p:cNvSpPr>
          <p:nvPr>
            <p:ph type="sldNum" sz="quarter" idx="11"/>
          </p:nvPr>
        </p:nvSpPr>
        <p:spPr>
          <a:ln/>
        </p:spPr>
        <p:txBody>
          <a:bodyPr/>
          <a:lstStyle>
            <a:lvl3pPr lvl="2">
              <a:defRPr/>
            </a:lvl3pPr>
          </a:lstStyle>
          <a:p>
            <a:pPr lvl="2"/>
            <a:fld id="{727894EC-6C46-9F44-A76B-25ED247F1F1D}" type="slidenum">
              <a:rPr lang="fr-FR"/>
              <a:pPr lvl="2"/>
              <a:t>‹N°›</a:t>
            </a:fld>
            <a:endParaRPr lang="fr-FR"/>
          </a:p>
        </p:txBody>
      </p:sp>
    </p:spTree>
    <p:extLst>
      <p:ext uri="{BB962C8B-B14F-4D97-AF65-F5344CB8AC3E}">
        <p14:creationId xmlns:p14="http://schemas.microsoft.com/office/powerpoint/2010/main" val="179797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6" name="Rectangle 4"/>
          <p:cNvSpPr>
            <a:spLocks noGrp="1" noChangeArrowheads="1"/>
          </p:cNvSpPr>
          <p:nvPr>
            <p:ph type="sldNum" sz="quarter" idx="11"/>
          </p:nvPr>
        </p:nvSpPr>
        <p:spPr>
          <a:ln/>
        </p:spPr>
        <p:txBody>
          <a:bodyPr/>
          <a:lstStyle>
            <a:lvl3pPr lvl="2">
              <a:defRPr/>
            </a:lvl3pPr>
          </a:lstStyle>
          <a:p>
            <a:pPr lvl="2"/>
            <a:fld id="{785B45ED-D439-C14C-910A-9C7162D5B3CF}" type="slidenum">
              <a:rPr lang="fr-FR"/>
              <a:pPr lvl="2"/>
              <a:t>‹N°›</a:t>
            </a:fld>
            <a:endParaRPr lang="fr-FR"/>
          </a:p>
        </p:txBody>
      </p:sp>
    </p:spTree>
    <p:extLst>
      <p:ext uri="{BB962C8B-B14F-4D97-AF65-F5344CB8AC3E}">
        <p14:creationId xmlns:p14="http://schemas.microsoft.com/office/powerpoint/2010/main" val="105562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6" name="Rectangle 4"/>
          <p:cNvSpPr>
            <a:spLocks noGrp="1" noChangeArrowheads="1"/>
          </p:cNvSpPr>
          <p:nvPr>
            <p:ph type="sldNum" sz="quarter" idx="11"/>
          </p:nvPr>
        </p:nvSpPr>
        <p:spPr>
          <a:ln/>
        </p:spPr>
        <p:txBody>
          <a:bodyPr/>
          <a:lstStyle>
            <a:lvl3pPr lvl="2">
              <a:defRPr/>
            </a:lvl3pPr>
          </a:lstStyle>
          <a:p>
            <a:pPr lvl="2"/>
            <a:fld id="{D0463F5A-E913-544D-A518-8145CC7103A2}" type="slidenum">
              <a:rPr lang="fr-FR"/>
              <a:pPr lvl="2"/>
              <a:t>‹N°›</a:t>
            </a:fld>
            <a:endParaRPr lang="fr-FR"/>
          </a:p>
        </p:txBody>
      </p:sp>
    </p:spTree>
    <p:extLst>
      <p:ext uri="{BB962C8B-B14F-4D97-AF65-F5344CB8AC3E}">
        <p14:creationId xmlns:p14="http://schemas.microsoft.com/office/powerpoint/2010/main" val="384129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5" name="Rectangle 4"/>
          <p:cNvSpPr>
            <a:spLocks noGrp="1" noChangeArrowheads="1"/>
          </p:cNvSpPr>
          <p:nvPr>
            <p:ph type="sldNum" sz="quarter" idx="11"/>
          </p:nvPr>
        </p:nvSpPr>
        <p:spPr>
          <a:ln/>
        </p:spPr>
        <p:txBody>
          <a:bodyPr/>
          <a:lstStyle>
            <a:lvl3pPr lvl="2">
              <a:defRPr/>
            </a:lvl3pPr>
          </a:lstStyle>
          <a:p>
            <a:pPr lvl="2"/>
            <a:fld id="{FA077D25-1380-2842-B79B-713DA2B8138B}" type="slidenum">
              <a:rPr lang="fr-FR"/>
              <a:pPr lvl="2"/>
              <a:t>‹N°›</a:t>
            </a:fld>
            <a:endParaRPr lang="fr-FR"/>
          </a:p>
        </p:txBody>
      </p:sp>
    </p:spTree>
    <p:extLst>
      <p:ext uri="{BB962C8B-B14F-4D97-AF65-F5344CB8AC3E}">
        <p14:creationId xmlns:p14="http://schemas.microsoft.com/office/powerpoint/2010/main" val="4012626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5113" y="152400"/>
            <a:ext cx="2103437" cy="6019800"/>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304800" y="152400"/>
            <a:ext cx="6157913" cy="60198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5" name="Rectangle 4"/>
          <p:cNvSpPr>
            <a:spLocks noGrp="1" noChangeArrowheads="1"/>
          </p:cNvSpPr>
          <p:nvPr>
            <p:ph type="sldNum" sz="quarter" idx="11"/>
          </p:nvPr>
        </p:nvSpPr>
        <p:spPr>
          <a:ln/>
        </p:spPr>
        <p:txBody>
          <a:bodyPr/>
          <a:lstStyle>
            <a:lvl3pPr lvl="2">
              <a:defRPr/>
            </a:lvl3pPr>
          </a:lstStyle>
          <a:p>
            <a:pPr lvl="2"/>
            <a:fld id="{D3C5E950-4BE6-EB49-86D7-C3A8A1B3C51F}" type="slidenum">
              <a:rPr lang="fr-FR"/>
              <a:pPr lvl="2"/>
              <a:t>‹N°›</a:t>
            </a:fld>
            <a:endParaRPr lang="fr-FR"/>
          </a:p>
        </p:txBody>
      </p:sp>
    </p:spTree>
    <p:extLst>
      <p:ext uri="{BB962C8B-B14F-4D97-AF65-F5344CB8AC3E}">
        <p14:creationId xmlns:p14="http://schemas.microsoft.com/office/powerpoint/2010/main" val="4294433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p:nvPr>
        </p:nvSpPr>
        <p:spPr>
          <a:xfrm>
            <a:off x="457200"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64075"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6" name="Rectangle 4"/>
          <p:cNvSpPr>
            <a:spLocks noGrp="1" noChangeArrowheads="1"/>
          </p:cNvSpPr>
          <p:nvPr>
            <p:ph type="sldNum" sz="quarter" idx="11"/>
          </p:nvPr>
        </p:nvSpPr>
        <p:spPr>
          <a:ln/>
        </p:spPr>
        <p:txBody>
          <a:bodyPr/>
          <a:lstStyle>
            <a:lvl3pPr lvl="2">
              <a:defRPr/>
            </a:lvl3pPr>
          </a:lstStyle>
          <a:p>
            <a:pPr lvl="2"/>
            <a:fld id="{E4FB2761-C727-EF42-A217-0A71038DF1A9}" type="slidenum">
              <a:rPr lang="fr-FR"/>
              <a:pPr lvl="2"/>
              <a:t>‹N°›</a:t>
            </a:fld>
            <a:endParaRPr lang="fr-FR"/>
          </a:p>
        </p:txBody>
      </p:sp>
    </p:spTree>
    <p:extLst>
      <p:ext uri="{BB962C8B-B14F-4D97-AF65-F5344CB8AC3E}">
        <p14:creationId xmlns:p14="http://schemas.microsoft.com/office/powerpoint/2010/main" val="1287488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p:nvPr>
        </p:nvSpPr>
        <p:spPr>
          <a:xfrm>
            <a:off x="457200"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quarter" idx="2"/>
          </p:nvPr>
        </p:nvSpPr>
        <p:spPr>
          <a:xfrm>
            <a:off x="4664075" y="914400"/>
            <a:ext cx="4054475" cy="25527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contenu 4"/>
          <p:cNvSpPr>
            <a:spLocks noGrp="1"/>
          </p:cNvSpPr>
          <p:nvPr>
            <p:ph sz="quarter" idx="3"/>
          </p:nvPr>
        </p:nvSpPr>
        <p:spPr>
          <a:xfrm>
            <a:off x="4664075" y="3619500"/>
            <a:ext cx="4054475" cy="25527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Rectangle 3"/>
          <p:cNvSpPr>
            <a:spLocks noGrp="1" noChangeArrowheads="1"/>
          </p:cNvSpPr>
          <p:nvPr>
            <p:ph type="ftr" sz="quarter" idx="10"/>
          </p:nvPr>
        </p:nvSpPr>
        <p:spPr>
          <a:ln/>
        </p:spPr>
        <p:txBody>
          <a:bodyPr/>
          <a:lstStyle>
            <a:lvl1pPr>
              <a:defRPr/>
            </a:lvl1pPr>
          </a:lstStyle>
          <a:p>
            <a:pPr>
              <a:defRPr/>
            </a:pPr>
            <a:r>
              <a:rPr lang="fr-FR"/>
              <a:t>L3Info – C/Unix</a:t>
            </a:r>
            <a:endParaRPr lang="fr-FR" dirty="0"/>
          </a:p>
        </p:txBody>
      </p:sp>
      <p:sp>
        <p:nvSpPr>
          <p:cNvPr id="7" name="Rectangle 4"/>
          <p:cNvSpPr>
            <a:spLocks noGrp="1" noChangeArrowheads="1"/>
          </p:cNvSpPr>
          <p:nvPr>
            <p:ph type="sldNum" sz="quarter" idx="11"/>
          </p:nvPr>
        </p:nvSpPr>
        <p:spPr>
          <a:ln/>
        </p:spPr>
        <p:txBody>
          <a:bodyPr/>
          <a:lstStyle>
            <a:lvl3pPr lvl="2">
              <a:defRPr/>
            </a:lvl3pPr>
          </a:lstStyle>
          <a:p>
            <a:pPr lvl="2"/>
            <a:fld id="{BEC507FD-B07A-F442-8813-F7DE140A1B64}" type="slidenum">
              <a:rPr lang="fr-FR"/>
              <a:pPr lvl="2"/>
              <a:t>‹N°›</a:t>
            </a:fld>
            <a:endParaRPr lang="fr-FR"/>
          </a:p>
        </p:txBody>
      </p:sp>
    </p:spTree>
    <p:extLst>
      <p:ext uri="{BB962C8B-B14F-4D97-AF65-F5344CB8AC3E}">
        <p14:creationId xmlns:p14="http://schemas.microsoft.com/office/powerpoint/2010/main" val="3605036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04493" y="-501309"/>
            <a:ext cx="7772501" cy="1185505"/>
          </a:xfrm>
          <a:prstGeom prst="rect">
            <a:avLst/>
          </a:prstGeom>
        </p:spPr>
        <p:txBody>
          <a:bodyPr wrap="none" lIns="92070" tIns="46035" rIns="92070" bIns="46035" anchor="b"/>
          <a:lstStyle/>
          <a:p>
            <a:endParaRPr/>
          </a:p>
        </p:txBody>
      </p:sp>
      <p:sp>
        <p:nvSpPr>
          <p:cNvPr id="21" name="PlaceHolder 2"/>
          <p:cNvSpPr>
            <a:spLocks noGrp="1"/>
          </p:cNvSpPr>
          <p:nvPr>
            <p:ph type="body"/>
          </p:nvPr>
        </p:nvSpPr>
        <p:spPr>
          <a:xfrm>
            <a:off x="456273" y="914439"/>
            <a:ext cx="4031810" cy="3977811"/>
          </a:xfrm>
          <a:prstGeom prst="rect">
            <a:avLst/>
          </a:prstGeom>
        </p:spPr>
        <p:txBody>
          <a:bodyPr wrap="none" lIns="92070" tIns="46035" rIns="92070" bIns="46035"/>
          <a:lstStyle/>
          <a:p>
            <a:endParaRPr/>
          </a:p>
        </p:txBody>
      </p:sp>
      <p:sp>
        <p:nvSpPr>
          <p:cNvPr id="22" name="PlaceHolder 3"/>
          <p:cNvSpPr>
            <a:spLocks noGrp="1"/>
          </p:cNvSpPr>
          <p:nvPr>
            <p:ph type="body"/>
          </p:nvPr>
        </p:nvSpPr>
        <p:spPr>
          <a:xfrm>
            <a:off x="4689937" y="914439"/>
            <a:ext cx="4031810" cy="1897135"/>
          </a:xfrm>
          <a:prstGeom prst="rect">
            <a:avLst/>
          </a:prstGeom>
        </p:spPr>
        <p:txBody>
          <a:bodyPr wrap="none" lIns="92070" tIns="46035" rIns="92070" bIns="46035"/>
          <a:lstStyle/>
          <a:p>
            <a:endParaRPr/>
          </a:p>
        </p:txBody>
      </p:sp>
      <p:sp>
        <p:nvSpPr>
          <p:cNvPr id="23" name="PlaceHolder 4"/>
          <p:cNvSpPr>
            <a:spLocks noGrp="1"/>
          </p:cNvSpPr>
          <p:nvPr>
            <p:ph type="body"/>
          </p:nvPr>
        </p:nvSpPr>
        <p:spPr>
          <a:xfrm>
            <a:off x="4689937" y="2991849"/>
            <a:ext cx="4031810" cy="1897135"/>
          </a:xfrm>
          <a:prstGeom prst="rect">
            <a:avLst/>
          </a:prstGeom>
        </p:spPr>
        <p:txBody>
          <a:bodyPr wrap="none" lIns="92070" tIns="46035" rIns="92070" bIns="46035"/>
          <a:lstStyle/>
          <a:p>
            <a:endParaRPr/>
          </a:p>
        </p:txBody>
      </p:sp>
    </p:spTree>
    <p:extLst>
      <p:ext uri="{BB962C8B-B14F-4D97-AF65-F5344CB8AC3E}">
        <p14:creationId xmlns:p14="http://schemas.microsoft.com/office/powerpoint/2010/main" val="1806284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lvl1pPr>
              <a:defRPr/>
            </a:lvl1pPr>
          </a:lstStyle>
          <a:p>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6" name="Espace réservé du numéro de diapositive 5"/>
          <p:cNvSpPr>
            <a:spLocks noGrp="1"/>
          </p:cNvSpPr>
          <p:nvPr>
            <p:ph type="sldNum" sz="quarter" idx="12"/>
          </p:nvPr>
        </p:nvSpPr>
        <p:spPr/>
        <p:txBody>
          <a:bodyPr/>
          <a:lstStyle>
            <a:lvl1pPr>
              <a:defRPr/>
            </a:lvl1pPr>
          </a:lstStyle>
          <a:p>
            <a:fld id="{CF829AC0-0BDF-1D49-B938-F7B5BF9DF18E}" type="slidenum">
              <a:rPr lang="en-US"/>
              <a:pPr/>
              <a:t>‹N°›</a:t>
            </a:fld>
            <a:endParaRPr lang="en-US"/>
          </a:p>
        </p:txBody>
      </p:sp>
    </p:spTree>
    <p:extLst>
      <p:ext uri="{BB962C8B-B14F-4D97-AF65-F5344CB8AC3E}">
        <p14:creationId xmlns:p14="http://schemas.microsoft.com/office/powerpoint/2010/main" val="1048780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6" name="Espace réservé du numéro de diapositive 5"/>
          <p:cNvSpPr>
            <a:spLocks noGrp="1"/>
          </p:cNvSpPr>
          <p:nvPr>
            <p:ph type="sldNum" sz="quarter" idx="12"/>
          </p:nvPr>
        </p:nvSpPr>
        <p:spPr/>
        <p:txBody>
          <a:bodyPr/>
          <a:lstStyle>
            <a:lvl1pPr>
              <a:defRPr/>
            </a:lvl1pPr>
          </a:lstStyle>
          <a:p>
            <a:fld id="{477DA547-AA4F-6E4D-B9E8-819232868B88}" type="slidenum">
              <a:rPr lang="en-US"/>
              <a:pPr/>
              <a:t>‹N°›</a:t>
            </a:fld>
            <a:endParaRPr lang="en-US"/>
          </a:p>
        </p:txBody>
      </p:sp>
    </p:spTree>
    <p:extLst>
      <p:ext uri="{BB962C8B-B14F-4D97-AF65-F5344CB8AC3E}">
        <p14:creationId xmlns:p14="http://schemas.microsoft.com/office/powerpoint/2010/main" val="660144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lvl1pPr>
          </a:lstStyle>
          <a:p>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6" name="Espace réservé du numéro de diapositive 5"/>
          <p:cNvSpPr>
            <a:spLocks noGrp="1"/>
          </p:cNvSpPr>
          <p:nvPr>
            <p:ph type="sldNum" sz="quarter" idx="12"/>
          </p:nvPr>
        </p:nvSpPr>
        <p:spPr/>
        <p:txBody>
          <a:bodyPr/>
          <a:lstStyle>
            <a:lvl1pPr>
              <a:defRPr/>
            </a:lvl1pPr>
          </a:lstStyle>
          <a:p>
            <a:fld id="{02FFB5A7-CC74-544B-8272-4F01AE294B49}" type="slidenum">
              <a:rPr lang="en-US"/>
              <a:pPr/>
              <a:t>‹N°›</a:t>
            </a:fld>
            <a:endParaRPr lang="en-US"/>
          </a:p>
        </p:txBody>
      </p:sp>
    </p:spTree>
    <p:extLst>
      <p:ext uri="{BB962C8B-B14F-4D97-AF65-F5344CB8AC3E}">
        <p14:creationId xmlns:p14="http://schemas.microsoft.com/office/powerpoint/2010/main" val="2129266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3"/>
          <p:cNvSpPr>
            <a:spLocks noGrp="1"/>
          </p:cNvSpPr>
          <p:nvPr>
            <p:ph type="dt" sz="half" idx="10"/>
          </p:nvPr>
        </p:nvSpPr>
        <p:spPr/>
        <p:txBody>
          <a:bodyPr/>
          <a:lstStyle>
            <a:lvl1pPr>
              <a:defRPr/>
            </a:lvl1pPr>
          </a:lstStyle>
          <a:p>
            <a:endParaRPr lang="en-US"/>
          </a:p>
        </p:txBody>
      </p:sp>
      <p:sp>
        <p:nvSpPr>
          <p:cNvPr id="6"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7" name="Espace réservé du numéro de diapositive 5"/>
          <p:cNvSpPr>
            <a:spLocks noGrp="1"/>
          </p:cNvSpPr>
          <p:nvPr>
            <p:ph type="sldNum" sz="quarter" idx="12"/>
          </p:nvPr>
        </p:nvSpPr>
        <p:spPr/>
        <p:txBody>
          <a:bodyPr/>
          <a:lstStyle>
            <a:lvl1pPr>
              <a:defRPr/>
            </a:lvl1pPr>
          </a:lstStyle>
          <a:p>
            <a:fld id="{34FE8FD7-01FB-6047-91F3-A8DC4EAC9DAA}" type="slidenum">
              <a:rPr lang="en-US"/>
              <a:pPr/>
              <a:t>‹N°›</a:t>
            </a:fld>
            <a:endParaRPr lang="en-US"/>
          </a:p>
        </p:txBody>
      </p:sp>
    </p:spTree>
    <p:extLst>
      <p:ext uri="{BB962C8B-B14F-4D97-AF65-F5344CB8AC3E}">
        <p14:creationId xmlns:p14="http://schemas.microsoft.com/office/powerpoint/2010/main" val="4091113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3"/>
          <p:cNvSpPr>
            <a:spLocks noGrp="1"/>
          </p:cNvSpPr>
          <p:nvPr>
            <p:ph type="dt" sz="half" idx="10"/>
          </p:nvPr>
        </p:nvSpPr>
        <p:spPr/>
        <p:txBody>
          <a:bodyPr/>
          <a:lstStyle>
            <a:lvl1pPr>
              <a:defRPr/>
            </a:lvl1pPr>
          </a:lstStyle>
          <a:p>
            <a:endParaRPr lang="en-US"/>
          </a:p>
        </p:txBody>
      </p:sp>
      <p:sp>
        <p:nvSpPr>
          <p:cNvPr id="8"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9" name="Espace réservé du numéro de diapositive 5"/>
          <p:cNvSpPr>
            <a:spLocks noGrp="1"/>
          </p:cNvSpPr>
          <p:nvPr>
            <p:ph type="sldNum" sz="quarter" idx="12"/>
          </p:nvPr>
        </p:nvSpPr>
        <p:spPr/>
        <p:txBody>
          <a:bodyPr/>
          <a:lstStyle>
            <a:lvl1pPr>
              <a:defRPr/>
            </a:lvl1pPr>
          </a:lstStyle>
          <a:p>
            <a:fld id="{43216B5A-6C24-3243-8012-2A20830DC083}" type="slidenum">
              <a:rPr lang="en-US"/>
              <a:pPr/>
              <a:t>‹N°›</a:t>
            </a:fld>
            <a:endParaRPr lang="en-US"/>
          </a:p>
        </p:txBody>
      </p:sp>
    </p:spTree>
    <p:extLst>
      <p:ext uri="{BB962C8B-B14F-4D97-AF65-F5344CB8AC3E}">
        <p14:creationId xmlns:p14="http://schemas.microsoft.com/office/powerpoint/2010/main" val="766624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3"/>
          <p:cNvSpPr>
            <a:spLocks noGrp="1"/>
          </p:cNvSpPr>
          <p:nvPr>
            <p:ph type="dt" sz="half" idx="10"/>
          </p:nvPr>
        </p:nvSpPr>
        <p:spPr/>
        <p:txBody>
          <a:bodyPr/>
          <a:lstStyle>
            <a:lvl1pPr>
              <a:defRPr/>
            </a:lvl1pPr>
          </a:lstStyle>
          <a:p>
            <a:endParaRPr lang="en-US"/>
          </a:p>
        </p:txBody>
      </p:sp>
      <p:sp>
        <p:nvSpPr>
          <p:cNvPr id="4"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5" name="Espace réservé du numéro de diapositive 5"/>
          <p:cNvSpPr>
            <a:spLocks noGrp="1"/>
          </p:cNvSpPr>
          <p:nvPr>
            <p:ph type="sldNum" sz="quarter" idx="12"/>
          </p:nvPr>
        </p:nvSpPr>
        <p:spPr/>
        <p:txBody>
          <a:bodyPr/>
          <a:lstStyle>
            <a:lvl1pPr>
              <a:defRPr/>
            </a:lvl1pPr>
          </a:lstStyle>
          <a:p>
            <a:fld id="{D51139FF-F582-7E4E-A88B-3ECDC8AAB745}" type="slidenum">
              <a:rPr lang="en-US"/>
              <a:pPr/>
              <a:t>‹N°›</a:t>
            </a:fld>
            <a:endParaRPr lang="en-US"/>
          </a:p>
        </p:txBody>
      </p:sp>
    </p:spTree>
    <p:extLst>
      <p:ext uri="{BB962C8B-B14F-4D97-AF65-F5344CB8AC3E}">
        <p14:creationId xmlns:p14="http://schemas.microsoft.com/office/powerpoint/2010/main" val="765379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endParaRPr lang="en-US"/>
          </a:p>
        </p:txBody>
      </p:sp>
      <p:sp>
        <p:nvSpPr>
          <p:cNvPr id="3"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4" name="Espace réservé du numéro de diapositive 5"/>
          <p:cNvSpPr>
            <a:spLocks noGrp="1"/>
          </p:cNvSpPr>
          <p:nvPr>
            <p:ph type="sldNum" sz="quarter" idx="12"/>
          </p:nvPr>
        </p:nvSpPr>
        <p:spPr/>
        <p:txBody>
          <a:bodyPr/>
          <a:lstStyle>
            <a:lvl1pPr>
              <a:defRPr/>
            </a:lvl1pPr>
          </a:lstStyle>
          <a:p>
            <a:fld id="{A56F0691-4F01-E740-8155-005A50D59D17}" type="slidenum">
              <a:rPr lang="en-US"/>
              <a:pPr/>
              <a:t>‹N°›</a:t>
            </a:fld>
            <a:endParaRPr lang="en-US"/>
          </a:p>
        </p:txBody>
      </p:sp>
    </p:spTree>
    <p:extLst>
      <p:ext uri="{BB962C8B-B14F-4D97-AF65-F5344CB8AC3E}">
        <p14:creationId xmlns:p14="http://schemas.microsoft.com/office/powerpoint/2010/main" val="11301834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endParaRPr lang="en-US"/>
          </a:p>
        </p:txBody>
      </p:sp>
      <p:sp>
        <p:nvSpPr>
          <p:cNvPr id="6"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7" name="Espace réservé du numéro de diapositive 5"/>
          <p:cNvSpPr>
            <a:spLocks noGrp="1"/>
          </p:cNvSpPr>
          <p:nvPr>
            <p:ph type="sldNum" sz="quarter" idx="12"/>
          </p:nvPr>
        </p:nvSpPr>
        <p:spPr/>
        <p:txBody>
          <a:bodyPr/>
          <a:lstStyle>
            <a:lvl1pPr>
              <a:defRPr/>
            </a:lvl1pPr>
          </a:lstStyle>
          <a:p>
            <a:fld id="{45ADC215-532A-C149-8BA5-DC08A4E0256E}" type="slidenum">
              <a:rPr lang="en-US"/>
              <a:pPr/>
              <a:t>‹N°›</a:t>
            </a:fld>
            <a:endParaRPr lang="en-US"/>
          </a:p>
        </p:txBody>
      </p:sp>
    </p:spTree>
    <p:extLst>
      <p:ext uri="{BB962C8B-B14F-4D97-AF65-F5344CB8AC3E}">
        <p14:creationId xmlns:p14="http://schemas.microsoft.com/office/powerpoint/2010/main" val="736961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endParaRPr lang="en-US"/>
          </a:p>
        </p:txBody>
      </p:sp>
      <p:sp>
        <p:nvSpPr>
          <p:cNvPr id="6"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7" name="Espace réservé du numéro de diapositive 5"/>
          <p:cNvSpPr>
            <a:spLocks noGrp="1"/>
          </p:cNvSpPr>
          <p:nvPr>
            <p:ph type="sldNum" sz="quarter" idx="12"/>
          </p:nvPr>
        </p:nvSpPr>
        <p:spPr/>
        <p:txBody>
          <a:bodyPr/>
          <a:lstStyle>
            <a:lvl1pPr>
              <a:defRPr/>
            </a:lvl1pPr>
          </a:lstStyle>
          <a:p>
            <a:fld id="{FBCBA679-7A7F-AC4E-B107-217FE90787D2}" type="slidenum">
              <a:rPr lang="en-US"/>
              <a:pPr/>
              <a:t>‹N°›</a:t>
            </a:fld>
            <a:endParaRPr lang="en-US"/>
          </a:p>
        </p:txBody>
      </p:sp>
    </p:spTree>
    <p:extLst>
      <p:ext uri="{BB962C8B-B14F-4D97-AF65-F5344CB8AC3E}">
        <p14:creationId xmlns:p14="http://schemas.microsoft.com/office/powerpoint/2010/main" val="2196428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6" name="Espace réservé du numéro de diapositive 5"/>
          <p:cNvSpPr>
            <a:spLocks noGrp="1"/>
          </p:cNvSpPr>
          <p:nvPr>
            <p:ph type="sldNum" sz="quarter" idx="12"/>
          </p:nvPr>
        </p:nvSpPr>
        <p:spPr/>
        <p:txBody>
          <a:bodyPr/>
          <a:lstStyle>
            <a:lvl1pPr>
              <a:defRPr/>
            </a:lvl1pPr>
          </a:lstStyle>
          <a:p>
            <a:fld id="{D3FB07FF-AFC7-3E46-8DD2-ACF8BB5D852E}" type="slidenum">
              <a:rPr lang="en-US"/>
              <a:pPr/>
              <a:t>‹N°›</a:t>
            </a:fld>
            <a:endParaRPr lang="en-US"/>
          </a:p>
        </p:txBody>
      </p:sp>
    </p:spTree>
    <p:extLst>
      <p:ext uri="{BB962C8B-B14F-4D97-AF65-F5344CB8AC3E}">
        <p14:creationId xmlns:p14="http://schemas.microsoft.com/office/powerpoint/2010/main" val="4074692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L3Info – C/Unix</a:t>
            </a:r>
          </a:p>
        </p:txBody>
      </p:sp>
      <p:sp>
        <p:nvSpPr>
          <p:cNvPr id="6" name="Espace réservé du numéro de diapositive 5"/>
          <p:cNvSpPr>
            <a:spLocks noGrp="1"/>
          </p:cNvSpPr>
          <p:nvPr>
            <p:ph type="sldNum" sz="quarter" idx="12"/>
          </p:nvPr>
        </p:nvSpPr>
        <p:spPr/>
        <p:txBody>
          <a:bodyPr/>
          <a:lstStyle>
            <a:lvl1pPr>
              <a:defRPr/>
            </a:lvl1pPr>
          </a:lstStyle>
          <a:p>
            <a:fld id="{9CDDCA8E-D198-AF49-B55C-7966A8C8E1EC}" type="slidenum">
              <a:rPr lang="en-US"/>
              <a:pPr/>
              <a:t>‹N°›</a:t>
            </a:fld>
            <a:endParaRPr lang="en-US"/>
          </a:p>
        </p:txBody>
      </p:sp>
    </p:spTree>
    <p:extLst>
      <p:ext uri="{BB962C8B-B14F-4D97-AF65-F5344CB8AC3E}">
        <p14:creationId xmlns:p14="http://schemas.microsoft.com/office/powerpoint/2010/main" val="32240543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eaLnBrk="1" hangingPunct="1">
                <a:spcBef>
                  <a:spcPct val="0"/>
                </a:spcBef>
                <a:buClrTx/>
                <a:buSzTx/>
                <a:buFontTx/>
                <a:buNone/>
                <a:defRPr/>
              </a:pPr>
              <a:endParaRPr kumimoji="1" lang="en-GB" altLang="en-US" sz="2400">
                <a:solidFill>
                  <a:schemeClr val="tx1"/>
                </a:solidFill>
                <a:latin typeface="Times New Roman" pitchFamily="18" charset="0"/>
                <a:ea typeface="+mn-ea"/>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eaLnBrk="1" hangingPunct="1">
                <a:spcBef>
                  <a:spcPct val="0"/>
                </a:spcBef>
                <a:buClrTx/>
                <a:buSzTx/>
                <a:buFontTx/>
                <a:buNone/>
                <a:defRPr/>
              </a:pPr>
              <a:endParaRPr kumimoji="1" lang="en-GB" altLang="en-US" sz="2400">
                <a:solidFill>
                  <a:schemeClr val="tx1"/>
                </a:solidFill>
                <a:latin typeface="Times New Roman" pitchFamily="18" charset="0"/>
                <a:ea typeface="+mn-ea"/>
              </a:endParaRPr>
            </a:p>
          </p:txBody>
        </p:sp>
      </p:grpSp>
      <p:grpSp>
        <p:nvGrpSpPr>
          <p:cNvPr id="7"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9" name="AutoShape 7"/>
            <p:cNvSpPr>
              <a:spLocks noChangeArrowheads="1"/>
            </p:cNvSpPr>
            <p:nvPr/>
          </p:nvSpPr>
          <p:spPr bwMode="auto">
            <a:xfrm>
              <a:off x="5196" y="3080"/>
              <a:ext cx="164" cy="201"/>
            </a:xfrm>
            <a:prstGeom prst="flowChartDelay">
              <a:avLst/>
            </a:prstGeom>
            <a:solidFill>
              <a:schemeClr va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grpSp>
      <p:sp>
        <p:nvSpPr>
          <p:cNvPr id="535560"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pPr lvl="0"/>
            <a:r>
              <a:rPr lang="fr-FR" noProof="0"/>
              <a:t>Cliquez pour modifier le style des sous-titres du masque</a:t>
            </a:r>
          </a:p>
        </p:txBody>
      </p:sp>
      <p:sp>
        <p:nvSpPr>
          <p:cNvPr id="535564"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fr-FR" noProof="0"/>
              <a:t>Cliquez pour modifier le style du titre</a:t>
            </a:r>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fr-FR"/>
          </a:p>
        </p:txBody>
      </p:sp>
      <p:sp>
        <p:nvSpPr>
          <p:cNvPr id="11" name="Rectangle 10"/>
          <p:cNvSpPr>
            <a:spLocks noGrp="1" noChangeArrowheads="1"/>
          </p:cNvSpPr>
          <p:nvPr>
            <p:ph type="ftr" sz="quarter" idx="11"/>
          </p:nvPr>
        </p:nvSpPr>
        <p:spPr/>
        <p:txBody>
          <a:bodyPr/>
          <a:lstStyle>
            <a:lvl1pPr algn="r">
              <a:defRPr/>
            </a:lvl1pPr>
          </a:lstStyle>
          <a:p>
            <a:pPr>
              <a:defRPr/>
            </a:pPr>
            <a:r>
              <a:rPr lang="fr-FR"/>
              <a:t>L3Info – C/Unix</a:t>
            </a:r>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lvl1pPr>
          </a:lstStyle>
          <a:p>
            <a:fld id="{AD49E8A2-2A82-7B43-BA81-67F909C48401}" type="slidenum">
              <a:rPr lang="fr-FR"/>
              <a:pPr/>
              <a:t>‹N°›</a:t>
            </a:fld>
            <a:endParaRPr lang="fr-FR"/>
          </a:p>
        </p:txBody>
      </p:sp>
    </p:spTree>
    <p:extLst>
      <p:ext uri="{BB962C8B-B14F-4D97-AF65-F5344CB8AC3E}">
        <p14:creationId xmlns:p14="http://schemas.microsoft.com/office/powerpoint/2010/main" val="30191511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6" name="Rectangle 13"/>
          <p:cNvSpPr>
            <a:spLocks noGrp="1" noChangeArrowheads="1"/>
          </p:cNvSpPr>
          <p:nvPr>
            <p:ph type="sldNum" sz="quarter" idx="12"/>
          </p:nvPr>
        </p:nvSpPr>
        <p:spPr>
          <a:ln/>
        </p:spPr>
        <p:txBody>
          <a:bodyPr/>
          <a:lstStyle>
            <a:lvl1pPr>
              <a:defRPr/>
            </a:lvl1pPr>
          </a:lstStyle>
          <a:p>
            <a:fld id="{F14FC8E9-CE98-E749-AE4F-C557F5F21765}" type="slidenum">
              <a:rPr lang="fr-FR"/>
              <a:pPr/>
              <a:t>‹N°›</a:t>
            </a:fld>
            <a:endParaRPr lang="fr-FR"/>
          </a:p>
        </p:txBody>
      </p:sp>
    </p:spTree>
    <p:extLst>
      <p:ext uri="{BB962C8B-B14F-4D97-AF65-F5344CB8AC3E}">
        <p14:creationId xmlns:p14="http://schemas.microsoft.com/office/powerpoint/2010/main" val="33263813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6" name="Rectangle 13"/>
          <p:cNvSpPr>
            <a:spLocks noGrp="1" noChangeArrowheads="1"/>
          </p:cNvSpPr>
          <p:nvPr>
            <p:ph type="sldNum" sz="quarter" idx="12"/>
          </p:nvPr>
        </p:nvSpPr>
        <p:spPr>
          <a:ln/>
        </p:spPr>
        <p:txBody>
          <a:bodyPr/>
          <a:lstStyle>
            <a:lvl1pPr>
              <a:defRPr/>
            </a:lvl1pPr>
          </a:lstStyle>
          <a:p>
            <a:fld id="{F3DA2C21-717B-EA49-BCB0-D5EA71619B58}" type="slidenum">
              <a:rPr lang="fr-FR"/>
              <a:pPr/>
              <a:t>‹N°›</a:t>
            </a:fld>
            <a:endParaRPr lang="fr-FR"/>
          </a:p>
        </p:txBody>
      </p:sp>
    </p:spTree>
    <p:extLst>
      <p:ext uri="{BB962C8B-B14F-4D97-AF65-F5344CB8AC3E}">
        <p14:creationId xmlns:p14="http://schemas.microsoft.com/office/powerpoint/2010/main" val="3309507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7" name="Rectangle 13"/>
          <p:cNvSpPr>
            <a:spLocks noGrp="1" noChangeArrowheads="1"/>
          </p:cNvSpPr>
          <p:nvPr>
            <p:ph type="sldNum" sz="quarter" idx="12"/>
          </p:nvPr>
        </p:nvSpPr>
        <p:spPr>
          <a:ln/>
        </p:spPr>
        <p:txBody>
          <a:bodyPr/>
          <a:lstStyle>
            <a:lvl1pPr>
              <a:defRPr/>
            </a:lvl1pPr>
          </a:lstStyle>
          <a:p>
            <a:fld id="{C610EC4E-EE35-C047-9F98-1371F8059A21}" type="slidenum">
              <a:rPr lang="fr-FR"/>
              <a:pPr/>
              <a:t>‹N°›</a:t>
            </a:fld>
            <a:endParaRPr lang="fr-FR"/>
          </a:p>
        </p:txBody>
      </p:sp>
    </p:spTree>
    <p:extLst>
      <p:ext uri="{BB962C8B-B14F-4D97-AF65-F5344CB8AC3E}">
        <p14:creationId xmlns:p14="http://schemas.microsoft.com/office/powerpoint/2010/main" val="3169567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fr-FR"/>
          </a:p>
        </p:txBody>
      </p:sp>
      <p:sp>
        <p:nvSpPr>
          <p:cNvPr id="8"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9" name="Rectangle 13"/>
          <p:cNvSpPr>
            <a:spLocks noGrp="1" noChangeArrowheads="1"/>
          </p:cNvSpPr>
          <p:nvPr>
            <p:ph type="sldNum" sz="quarter" idx="12"/>
          </p:nvPr>
        </p:nvSpPr>
        <p:spPr>
          <a:ln/>
        </p:spPr>
        <p:txBody>
          <a:bodyPr/>
          <a:lstStyle>
            <a:lvl1pPr>
              <a:defRPr/>
            </a:lvl1pPr>
          </a:lstStyle>
          <a:p>
            <a:fld id="{4155590F-C747-9441-B5B8-8BF11ED4D7DF}" type="slidenum">
              <a:rPr lang="fr-FR"/>
              <a:pPr/>
              <a:t>‹N°›</a:t>
            </a:fld>
            <a:endParaRPr lang="fr-FR"/>
          </a:p>
        </p:txBody>
      </p:sp>
    </p:spTree>
    <p:extLst>
      <p:ext uri="{BB962C8B-B14F-4D97-AF65-F5344CB8AC3E}">
        <p14:creationId xmlns:p14="http://schemas.microsoft.com/office/powerpoint/2010/main" val="2356908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fr-FR"/>
          </a:p>
        </p:txBody>
      </p:sp>
      <p:sp>
        <p:nvSpPr>
          <p:cNvPr id="4"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5" name="Rectangle 13"/>
          <p:cNvSpPr>
            <a:spLocks noGrp="1" noChangeArrowheads="1"/>
          </p:cNvSpPr>
          <p:nvPr>
            <p:ph type="sldNum" sz="quarter" idx="12"/>
          </p:nvPr>
        </p:nvSpPr>
        <p:spPr>
          <a:ln/>
        </p:spPr>
        <p:txBody>
          <a:bodyPr/>
          <a:lstStyle>
            <a:lvl1pPr>
              <a:defRPr/>
            </a:lvl1pPr>
          </a:lstStyle>
          <a:p>
            <a:fld id="{6F562F5A-EA7A-0141-838B-4883AF1D3239}" type="slidenum">
              <a:rPr lang="fr-FR"/>
              <a:pPr/>
              <a:t>‹N°›</a:t>
            </a:fld>
            <a:endParaRPr lang="fr-FR"/>
          </a:p>
        </p:txBody>
      </p:sp>
    </p:spTree>
    <p:extLst>
      <p:ext uri="{BB962C8B-B14F-4D97-AF65-F5344CB8AC3E}">
        <p14:creationId xmlns:p14="http://schemas.microsoft.com/office/powerpoint/2010/main" val="1148661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fr-FR"/>
          </a:p>
        </p:txBody>
      </p:sp>
      <p:sp>
        <p:nvSpPr>
          <p:cNvPr id="3"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4" name="Rectangle 13"/>
          <p:cNvSpPr>
            <a:spLocks noGrp="1" noChangeArrowheads="1"/>
          </p:cNvSpPr>
          <p:nvPr>
            <p:ph type="sldNum" sz="quarter" idx="12"/>
          </p:nvPr>
        </p:nvSpPr>
        <p:spPr>
          <a:ln/>
        </p:spPr>
        <p:txBody>
          <a:bodyPr/>
          <a:lstStyle>
            <a:lvl1pPr>
              <a:defRPr/>
            </a:lvl1pPr>
          </a:lstStyle>
          <a:p>
            <a:fld id="{AF505768-23CE-3C4F-921A-DD84EC280084}" type="slidenum">
              <a:rPr lang="fr-FR"/>
              <a:pPr/>
              <a:t>‹N°›</a:t>
            </a:fld>
            <a:endParaRPr lang="fr-FR"/>
          </a:p>
        </p:txBody>
      </p:sp>
    </p:spTree>
    <p:extLst>
      <p:ext uri="{BB962C8B-B14F-4D97-AF65-F5344CB8AC3E}">
        <p14:creationId xmlns:p14="http://schemas.microsoft.com/office/powerpoint/2010/main" val="40272657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7" name="Rectangle 13"/>
          <p:cNvSpPr>
            <a:spLocks noGrp="1" noChangeArrowheads="1"/>
          </p:cNvSpPr>
          <p:nvPr>
            <p:ph type="sldNum" sz="quarter" idx="12"/>
          </p:nvPr>
        </p:nvSpPr>
        <p:spPr>
          <a:ln/>
        </p:spPr>
        <p:txBody>
          <a:bodyPr/>
          <a:lstStyle>
            <a:lvl1pPr>
              <a:defRPr/>
            </a:lvl1pPr>
          </a:lstStyle>
          <a:p>
            <a:fld id="{2E627622-34AE-8942-B2FF-1A554E759B0A}" type="slidenum">
              <a:rPr lang="fr-FR"/>
              <a:pPr/>
              <a:t>‹N°›</a:t>
            </a:fld>
            <a:endParaRPr lang="fr-FR"/>
          </a:p>
        </p:txBody>
      </p:sp>
    </p:spTree>
    <p:extLst>
      <p:ext uri="{BB962C8B-B14F-4D97-AF65-F5344CB8AC3E}">
        <p14:creationId xmlns:p14="http://schemas.microsoft.com/office/powerpoint/2010/main" val="23300043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7" name="Rectangle 13"/>
          <p:cNvSpPr>
            <a:spLocks noGrp="1" noChangeArrowheads="1"/>
          </p:cNvSpPr>
          <p:nvPr>
            <p:ph type="sldNum" sz="quarter" idx="12"/>
          </p:nvPr>
        </p:nvSpPr>
        <p:spPr>
          <a:ln/>
        </p:spPr>
        <p:txBody>
          <a:bodyPr/>
          <a:lstStyle>
            <a:lvl1pPr>
              <a:defRPr/>
            </a:lvl1pPr>
          </a:lstStyle>
          <a:p>
            <a:fld id="{F6D24310-F2A9-9C46-89F2-75A2512C81F8}" type="slidenum">
              <a:rPr lang="fr-FR"/>
              <a:pPr/>
              <a:t>‹N°›</a:t>
            </a:fld>
            <a:endParaRPr lang="fr-FR"/>
          </a:p>
        </p:txBody>
      </p:sp>
    </p:spTree>
    <p:extLst>
      <p:ext uri="{BB962C8B-B14F-4D97-AF65-F5344CB8AC3E}">
        <p14:creationId xmlns:p14="http://schemas.microsoft.com/office/powerpoint/2010/main" val="226367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6" name="Rectangle 13"/>
          <p:cNvSpPr>
            <a:spLocks noGrp="1" noChangeArrowheads="1"/>
          </p:cNvSpPr>
          <p:nvPr>
            <p:ph type="sldNum" sz="quarter" idx="12"/>
          </p:nvPr>
        </p:nvSpPr>
        <p:spPr>
          <a:ln/>
        </p:spPr>
        <p:txBody>
          <a:bodyPr/>
          <a:lstStyle>
            <a:lvl1pPr>
              <a:defRPr/>
            </a:lvl1pPr>
          </a:lstStyle>
          <a:p>
            <a:fld id="{A8788FF4-34FB-1249-9028-D320382708C7}" type="slidenum">
              <a:rPr lang="fr-FR"/>
              <a:pPr/>
              <a:t>‹N°›</a:t>
            </a:fld>
            <a:endParaRPr lang="fr-FR"/>
          </a:p>
        </p:txBody>
      </p:sp>
    </p:spTree>
    <p:extLst>
      <p:ext uri="{BB962C8B-B14F-4D97-AF65-F5344CB8AC3E}">
        <p14:creationId xmlns:p14="http://schemas.microsoft.com/office/powerpoint/2010/main" val="40811586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5600" y="762000"/>
            <a:ext cx="1981200" cy="5324475"/>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762000" y="762000"/>
            <a:ext cx="5791200" cy="532447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r>
              <a:rPr lang="fr-FR"/>
              <a:t>L3Info – C/Unix</a:t>
            </a:r>
          </a:p>
        </p:txBody>
      </p:sp>
      <p:sp>
        <p:nvSpPr>
          <p:cNvPr id="6" name="Rectangle 13"/>
          <p:cNvSpPr>
            <a:spLocks noGrp="1" noChangeArrowheads="1"/>
          </p:cNvSpPr>
          <p:nvPr>
            <p:ph type="sldNum" sz="quarter" idx="12"/>
          </p:nvPr>
        </p:nvSpPr>
        <p:spPr>
          <a:ln/>
        </p:spPr>
        <p:txBody>
          <a:bodyPr/>
          <a:lstStyle>
            <a:lvl1pPr>
              <a:defRPr/>
            </a:lvl1pPr>
          </a:lstStyle>
          <a:p>
            <a:fld id="{15C925F8-BDA7-5F4E-9AC0-E145D47AE9C6}" type="slidenum">
              <a:rPr lang="fr-FR"/>
              <a:pPr/>
              <a:t>‹N°›</a:t>
            </a:fld>
            <a:endParaRPr lang="fr-FR"/>
          </a:p>
        </p:txBody>
      </p:sp>
    </p:spTree>
    <p:extLst>
      <p:ext uri="{BB962C8B-B14F-4D97-AF65-F5344CB8AC3E}">
        <p14:creationId xmlns:p14="http://schemas.microsoft.com/office/powerpoint/2010/main" val="2724009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ftr" sz="quarter" idx="3"/>
          </p:nvPr>
        </p:nvSpPr>
        <p:spPr bwMode="auto">
          <a:xfrm>
            <a:off x="143508" y="6400800"/>
            <a:ext cx="587629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spcBef>
                <a:spcPct val="0"/>
              </a:spcBef>
              <a:buClrTx/>
              <a:buSzTx/>
              <a:buFontTx/>
              <a:buNone/>
              <a:defRPr sz="1800" b="0">
                <a:solidFill>
                  <a:srgbClr val="000208"/>
                </a:solidFill>
                <a:ea typeface="+mn-ea"/>
                <a:cs typeface="Arial" charset="0"/>
              </a:defRPr>
            </a:lvl1pPr>
          </a:lstStyle>
          <a:p>
            <a:pPr>
              <a:defRPr/>
            </a:pPr>
            <a:r>
              <a:rPr lang="fr-FR"/>
              <a:t>L3Info – C/Unix</a:t>
            </a:r>
            <a:endParaRPr lang="fr-FR" dirty="0"/>
          </a:p>
        </p:txBody>
      </p:sp>
      <p:sp>
        <p:nvSpPr>
          <p:cNvPr id="1028" name="Rectangle 4"/>
          <p:cNvSpPr>
            <a:spLocks noGrp="1" noChangeArrowheads="1"/>
          </p:cNvSpPr>
          <p:nvPr>
            <p:ph type="sldNum" sz="quarter" idx="4"/>
          </p:nvPr>
        </p:nvSpPr>
        <p:spPr bwMode="auto">
          <a:xfrm>
            <a:off x="6336196" y="6400800"/>
            <a:ext cx="1511188"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3pPr lvl="2" algn="r">
              <a:spcBef>
                <a:spcPct val="0"/>
              </a:spcBef>
              <a:buClrTx/>
              <a:buSzTx/>
              <a:buFontTx/>
              <a:buNone/>
              <a:defRPr sz="1400">
                <a:solidFill>
                  <a:srgbClr val="000208"/>
                </a:solidFill>
                <a:latin typeface="Times New Roman" charset="0"/>
              </a:defRPr>
            </a:lvl3pPr>
          </a:lstStyle>
          <a:p>
            <a:pPr lvl="2"/>
            <a:fld id="{F69A22CF-7763-DA45-8E98-D5D81C05D40E}" type="slidenum">
              <a:rPr lang="fr-FR" smtClean="0"/>
              <a:pPr lvl="2"/>
              <a:t>‹N°›</a:t>
            </a:fld>
            <a:endParaRPr lang="fr-FR" dirty="0"/>
          </a:p>
        </p:txBody>
      </p:sp>
      <p:sp>
        <p:nvSpPr>
          <p:cNvPr id="2" name="Line 5"/>
          <p:cNvSpPr>
            <a:spLocks noChangeShapeType="1"/>
          </p:cNvSpPr>
          <p:nvPr/>
        </p:nvSpPr>
        <p:spPr bwMode="auto">
          <a:xfrm>
            <a:off x="0" y="685800"/>
            <a:ext cx="7696200" cy="0"/>
          </a:xfrm>
          <a:prstGeom prst="line">
            <a:avLst/>
          </a:prstGeom>
          <a:noFill/>
          <a:ln w="28575">
            <a:solidFill>
              <a:srgbClr val="730B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fr-FR"/>
          </a:p>
        </p:txBody>
      </p:sp>
      <p:sp>
        <p:nvSpPr>
          <p:cNvPr id="1029" name="Rectangle 6"/>
          <p:cNvSpPr>
            <a:spLocks noGrp="1" noChangeArrowheads="1"/>
          </p:cNvSpPr>
          <p:nvPr>
            <p:ph type="title"/>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p>
            <a:pPr lvl="0"/>
            <a:r>
              <a:rPr lang="fr-FR"/>
              <a:t>Cliquez pour modifier le</a:t>
            </a:r>
          </a:p>
        </p:txBody>
      </p:sp>
      <p:sp>
        <p:nvSpPr>
          <p:cNvPr id="1030" name="Rectangle 7"/>
          <p:cNvSpPr>
            <a:spLocks noGrp="1" noChangeArrowheads="1"/>
          </p:cNvSpPr>
          <p:nvPr>
            <p:ph type="body" idx="1"/>
          </p:nvPr>
        </p:nvSpPr>
        <p:spPr bwMode="auto">
          <a:xfrm>
            <a:off x="457200" y="914400"/>
            <a:ext cx="8261350"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fr-FR" dirty="0"/>
              <a:t>Cliquez pour modifier les styles de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1031" name="Picture 15"/>
          <p:cNvPicPr>
            <a:picLocks noChangeAspect="1" noChangeArrowheads="1"/>
          </p:cNvPicPr>
          <p:nvPr userDrawn="1"/>
        </p:nvPicPr>
        <p:blipFill>
          <a:blip r:embed="rId16" cstate="email">
            <a:extLst>
              <a:ext uri="{28A0092B-C50C-407E-A947-70E740481C1C}">
                <a14:useLocalDpi xmlns:a14="http://schemas.microsoft.com/office/drawing/2010/main" val="0"/>
              </a:ext>
            </a:extLst>
          </a:blip>
          <a:srcRect/>
          <a:stretch>
            <a:fillRect/>
          </a:stretch>
        </p:blipFill>
        <p:spPr bwMode="auto">
          <a:xfrm>
            <a:off x="7239000" y="152400"/>
            <a:ext cx="1676400" cy="684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 bg1="lt1" tx1="dk1" bg2="lt2" tx2="dk2" accent1="accent1" accent2="accent2" accent3="accent3" accent4="accent4" accent5="accent5" accent6="accent6" hlink="hlink" folHlink="folHlink"/>
  <p:sldLayoutIdLst>
    <p:sldLayoutId id="2147483759" r:id="rId1"/>
    <p:sldLayoutId id="2147483760"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62" r:id="rId14"/>
  </p:sldLayoutIdLst>
  <p:hf hdr="0" dt="0"/>
  <p:txStyles>
    <p:title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p:titleStyle>
    <p:bodyStyle>
      <a:lvl1pPr marL="363538" indent="-363538" algn="l" rtl="0" eaLnBrk="0" fontAlgn="base" hangingPunct="0">
        <a:spcBef>
          <a:spcPct val="20000"/>
        </a:spcBef>
        <a:spcAft>
          <a:spcPct val="0"/>
        </a:spcAft>
        <a:buClr>
          <a:schemeClr val="bg2"/>
        </a:buClr>
        <a:buFont typeface="Monotype Sorts" charset="0"/>
        <a:buBlip>
          <a:blip r:embed="rId17"/>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18"/>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19"/>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fr-FR"/>
              <a:t>Modifiez le style du titre</a:t>
            </a:r>
            <a:endParaRPr lang="en-US"/>
          </a:p>
        </p:txBody>
      </p:sp>
      <p:sp>
        <p:nvSpPr>
          <p:cNvPr id="2051"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endParaRPr lang="en-US"/>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buFont typeface="Monotype Sorts" pitchFamily="2" charset="2"/>
              <a:buNone/>
              <a:defRPr sz="1200">
                <a:solidFill>
                  <a:schemeClr val="tx1">
                    <a:tint val="75000"/>
                  </a:schemeClr>
                </a:solidFill>
                <a:ea typeface="+mn-ea"/>
              </a:defRPr>
            </a:lvl1pPr>
          </a:lstStyle>
          <a:p>
            <a:pPr>
              <a:defRPr/>
            </a:pPr>
            <a:r>
              <a:rPr lang="en-US"/>
              <a:t>L3Info – C/Unix</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E4E8B71-4F0B-6542-919C-2A19F27CD69B}" type="slidenum">
              <a:rPr lang="en-US"/>
              <a:pPr/>
              <a:t>‹N°›</a:t>
            </a:fld>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0" y="0"/>
            <a:ext cx="7620000" cy="6858000"/>
            <a:chOff x="0" y="0"/>
            <a:chExt cx="4800" cy="4320"/>
          </a:xfrm>
        </p:grpSpPr>
        <p:grpSp>
          <p:nvGrpSpPr>
            <p:cNvPr id="3080" name="Group 3"/>
            <p:cNvGrpSpPr>
              <a:grpSpLocks/>
            </p:cNvGrpSpPr>
            <p:nvPr userDrawn="1"/>
          </p:nvGrpSpPr>
          <p:grpSpPr bwMode="auto">
            <a:xfrm>
              <a:off x="0" y="0"/>
              <a:ext cx="2016" cy="4320"/>
              <a:chOff x="0" y="0"/>
              <a:chExt cx="2016" cy="4320"/>
            </a:xfrm>
          </p:grpSpPr>
          <p:sp>
            <p:nvSpPr>
              <p:cNvPr id="3084" name="Rectangle 4"/>
              <p:cNvSpPr>
                <a:spLocks noChangeArrowheads="1"/>
              </p:cNvSpPr>
              <p:nvPr userDrawn="1"/>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3085" name="Freeform 5"/>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xmlns=""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fr-FR"/>
              </a:p>
            </p:txBody>
          </p:sp>
        </p:grpSp>
        <p:grpSp>
          <p:nvGrpSpPr>
            <p:cNvPr id="3081" name="Group 6"/>
            <p:cNvGrpSpPr>
              <a:grpSpLocks/>
            </p:cNvGrpSpPr>
            <p:nvPr/>
          </p:nvGrpSpPr>
          <p:grpSpPr bwMode="auto">
            <a:xfrm>
              <a:off x="144" y="1248"/>
              <a:ext cx="4656" cy="201"/>
              <a:chOff x="144" y="1248"/>
              <a:chExt cx="4656" cy="201"/>
            </a:xfrm>
          </p:grpSpPr>
          <p:sp>
            <p:nvSpPr>
              <p:cNvPr id="3082" name="AutoShape 7"/>
              <p:cNvSpPr>
                <a:spLocks noChangeArrowheads="1"/>
              </p:cNvSpPr>
              <p:nvPr/>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3083" name="AutoShape 8"/>
              <p:cNvSpPr>
                <a:spLocks noChangeArrowheads="1"/>
              </p:cNvSpPr>
              <p:nvPr/>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grpSp>
      </p:grpSp>
      <p:sp>
        <p:nvSpPr>
          <p:cNvPr id="3075"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fr-FR"/>
              <a:t>Cliquez pour modifier le style du titre</a:t>
            </a:r>
          </a:p>
        </p:txBody>
      </p:sp>
      <p:sp>
        <p:nvSpPr>
          <p:cNvPr id="3076" name="Rectangle 10"/>
          <p:cNvSpPr>
            <a:spLocks noGrp="1" noChangeArrowheads="1"/>
          </p:cNvSpPr>
          <p:nvPr>
            <p:ph type="body" idx="1"/>
          </p:nvPr>
        </p:nvSpPr>
        <p:spPr bwMode="auto">
          <a:xfrm>
            <a:off x="838200" y="2362200"/>
            <a:ext cx="7693025" cy="3724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34539" name="Rectangle 11"/>
          <p:cNvSpPr>
            <a:spLocks noGrp="1" noChangeArrowheads="1"/>
          </p:cNvSpPr>
          <p:nvPr>
            <p:ph type="dt" sz="half" idx="2"/>
          </p:nvPr>
        </p:nvSpPr>
        <p:spPr bwMode="auto">
          <a:xfrm>
            <a:off x="2438400" y="6248400"/>
            <a:ext cx="2130425"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400">
                <a:solidFill>
                  <a:schemeClr val="tx1"/>
                </a:solidFill>
                <a:ea typeface="+mn-ea"/>
              </a:defRPr>
            </a:lvl1pPr>
          </a:lstStyle>
          <a:p>
            <a:pPr>
              <a:defRPr/>
            </a:pPr>
            <a:endParaRPr lang="fr-FR"/>
          </a:p>
        </p:txBody>
      </p:sp>
      <p:sp>
        <p:nvSpPr>
          <p:cNvPr id="534540" name="Rectangle 12"/>
          <p:cNvSpPr>
            <a:spLocks noGrp="1" noChangeArrowheads="1"/>
          </p:cNvSpPr>
          <p:nvPr>
            <p:ph type="ftr" sz="quarter" idx="3"/>
          </p:nvPr>
        </p:nvSpPr>
        <p:spPr bwMode="auto">
          <a:xfrm>
            <a:off x="5791200" y="6248400"/>
            <a:ext cx="2897188"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400">
                <a:solidFill>
                  <a:schemeClr val="tx1"/>
                </a:solidFill>
                <a:ea typeface="+mn-ea"/>
              </a:defRPr>
            </a:lvl1pPr>
          </a:lstStyle>
          <a:p>
            <a:pPr>
              <a:defRPr/>
            </a:pPr>
            <a:r>
              <a:rPr lang="fr-FR"/>
              <a:t>L3Info – C/Unix</a:t>
            </a:r>
          </a:p>
        </p:txBody>
      </p:sp>
      <p:sp>
        <p:nvSpPr>
          <p:cNvPr id="534541" name="Rectangle 13"/>
          <p:cNvSpPr>
            <a:spLocks noGrp="1" noChangeArrowheads="1"/>
          </p:cNvSpPr>
          <p:nvPr>
            <p:ph type="sldNum" sz="quarter" idx="4"/>
          </p:nvPr>
        </p:nvSpPr>
        <p:spPr bwMode="auto">
          <a:xfrm>
            <a:off x="84138" y="6242050"/>
            <a:ext cx="587375" cy="488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algn="l" eaLnBrk="1" hangingPunct="1">
              <a:spcBef>
                <a:spcPct val="0"/>
              </a:spcBef>
              <a:buClrTx/>
              <a:buSzTx/>
              <a:buFontTx/>
              <a:buNone/>
              <a:defRPr sz="2600" b="1">
                <a:solidFill>
                  <a:schemeClr val="bg1"/>
                </a:solidFill>
              </a:defRPr>
            </a:lvl1pPr>
          </a:lstStyle>
          <a:p>
            <a:fld id="{264356B5-DC53-A34E-89F3-96436E855D76}" type="slidenum">
              <a:rPr lang="fr-FR"/>
              <a:pPr/>
              <a:t>‹N°›</a:t>
            </a:fld>
            <a:endParaRPr lang="fr-FR"/>
          </a:p>
        </p:txBody>
      </p:sp>
    </p:spTree>
  </p:cSld>
  <p:clrMap bg1="lt1" tx1="dk1" bg2="lt2" tx2="dk2" accent1="accent1" accent2="accent2" accent3="accent3" accent4="accent4" accent5="accent5" accent6="accent6" hlink="hlink" folHlink="folHlink"/>
  <p:sldLayoutIdLst>
    <p:sldLayoutId id="2147483761"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dt="0"/>
  <p:txStyles>
    <p:titleStyle>
      <a:lvl1pPr algn="l" rtl="0" eaLnBrk="0" fontAlgn="base" hangingPunct="0">
        <a:lnSpc>
          <a:spcPct val="90000"/>
        </a:lnSpc>
        <a:spcBef>
          <a:spcPct val="0"/>
        </a:spcBef>
        <a:spcAft>
          <a:spcPct val="0"/>
        </a:spcAft>
        <a:defRPr sz="3600" b="1">
          <a:solidFill>
            <a:schemeClr val="tx2"/>
          </a:solidFill>
          <a:latin typeface="+mj-lt"/>
          <a:ea typeface="ＭＳ Ｐゴシック" charset="0"/>
          <a:cs typeface="+mj-cs"/>
        </a:defRPr>
      </a:lvl1pPr>
      <a:lvl2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2pPr>
      <a:lvl3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3pPr>
      <a:lvl4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4pPr>
      <a:lvl5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charset="0"/>
        <a:buChar char="l"/>
        <a:defRPr sz="28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tx1"/>
        </a:buClr>
        <a:buSzPct val="75000"/>
        <a:buFont typeface="Wingdings" charset="0"/>
        <a:buChar char="l"/>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tx1"/>
        </a:buClr>
        <a:buSzPct val="65000"/>
        <a:buFont typeface="Wingdings" charset="0"/>
        <a:buChar char="l"/>
        <a:defRPr>
          <a:solidFill>
            <a:schemeClr val="tx1"/>
          </a:solidFill>
          <a:latin typeface="+mn-lt"/>
          <a:ea typeface="ＭＳ Ｐゴシック" charset="0"/>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hyperlink" Target="http://fr.wikipedia.org/wiki/Dennis_Ritchi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fr.wikipedia.org/wiki/Ken_Thompson"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image" Target="../media/image27.wmf"/></Relationships>
</file>

<file path=ppt/slides/_rels/slide2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2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2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2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1</a:t>
            </a:fld>
            <a:endParaRPr lang="fr-FR" sz="1400" dirty="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err="1">
                <a:latin typeface="Arial" charset="0"/>
              </a:rPr>
              <a:t>Partie</a:t>
            </a:r>
            <a:r>
              <a:rPr lang="en-GB" dirty="0">
                <a:latin typeface="Arial" charset="0"/>
              </a:rPr>
              <a:t> B:</a:t>
            </a:r>
            <a:br>
              <a:rPr lang="en-GB" dirty="0">
                <a:latin typeface="Arial" charset="0"/>
              </a:rPr>
            </a:br>
            <a:r>
              <a:rPr lang="en-GB" dirty="0" err="1">
                <a:latin typeface="Arial" charset="0"/>
              </a:rPr>
              <a:t>Langage</a:t>
            </a:r>
            <a:r>
              <a:rPr lang="en-GB" dirty="0">
                <a:latin typeface="Arial" charset="0"/>
              </a:rPr>
              <a:t> C</a:t>
            </a:r>
          </a:p>
        </p:txBody>
      </p:sp>
      <p:sp>
        <p:nvSpPr>
          <p:cNvPr id="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52734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a:t>
            </a:fld>
            <a:endParaRPr lang="fr-FR" sz="1400" dirty="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PLAN</a:t>
            </a:r>
          </a:p>
        </p:txBody>
      </p:sp>
      <p:sp>
        <p:nvSpPr>
          <p:cNvPr id="19" name="Rectangle 3"/>
          <p:cNvSpPr txBox="1">
            <a:spLocks noChangeArrowheads="1"/>
          </p:cNvSpPr>
          <p:nvPr/>
        </p:nvSpPr>
        <p:spPr bwMode="auto">
          <a:xfrm>
            <a:off x="395536" y="1088740"/>
            <a:ext cx="8039236" cy="42124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rgbClr val="040001"/>
                </a:solidFill>
              </a:rPr>
              <a:t>Introduction</a:t>
            </a:r>
            <a:endParaRPr lang="en-GB" dirty="0"/>
          </a:p>
          <a:p>
            <a:r>
              <a:rPr lang="en-GB" dirty="0">
                <a:solidFill>
                  <a:srgbClr val="040001"/>
                </a:solidFill>
              </a:rPr>
              <a:t>Structure du programme C et compilation</a:t>
            </a:r>
            <a:endParaRPr lang="en-GB" dirty="0"/>
          </a:p>
          <a:p>
            <a:r>
              <a:rPr lang="en-GB" dirty="0">
                <a:solidFill>
                  <a:srgbClr val="040001"/>
                </a:solidFill>
              </a:rPr>
              <a:t>Les </a:t>
            </a:r>
            <a:r>
              <a:rPr lang="en-GB" dirty="0" err="1">
                <a:solidFill>
                  <a:srgbClr val="040001"/>
                </a:solidFill>
              </a:rPr>
              <a:t>composants</a:t>
            </a:r>
            <a:r>
              <a:rPr lang="en-GB" dirty="0">
                <a:solidFill>
                  <a:srgbClr val="040001"/>
                </a:solidFill>
              </a:rPr>
              <a:t> de base du </a:t>
            </a:r>
            <a:r>
              <a:rPr lang="en-GB" dirty="0" err="1">
                <a:solidFill>
                  <a:srgbClr val="040001"/>
                </a:solidFill>
              </a:rPr>
              <a:t>langage</a:t>
            </a:r>
            <a:r>
              <a:rPr lang="en-GB" dirty="0">
                <a:solidFill>
                  <a:srgbClr val="040001"/>
                </a:solidFill>
              </a:rPr>
              <a:t> C</a:t>
            </a:r>
          </a:p>
          <a:p>
            <a:r>
              <a:rPr lang="en-GB" dirty="0" err="1">
                <a:solidFill>
                  <a:srgbClr val="040001"/>
                </a:solidFill>
              </a:rPr>
              <a:t>Pointeur</a:t>
            </a:r>
            <a:r>
              <a:rPr lang="en-GB" dirty="0">
                <a:solidFill>
                  <a:srgbClr val="040001"/>
                </a:solidFill>
              </a:rPr>
              <a:t> et tableaux</a:t>
            </a:r>
          </a:p>
          <a:p>
            <a:r>
              <a:rPr lang="en-GB" dirty="0" err="1">
                <a:solidFill>
                  <a:srgbClr val="040001"/>
                </a:solidFill>
              </a:rPr>
              <a:t>Fonctions</a:t>
            </a:r>
            <a:r>
              <a:rPr lang="en-GB" dirty="0">
                <a:solidFill>
                  <a:srgbClr val="040001"/>
                </a:solidFill>
              </a:rPr>
              <a:t> et </a:t>
            </a:r>
            <a:r>
              <a:rPr lang="en-GB" dirty="0" err="1">
                <a:solidFill>
                  <a:srgbClr val="040001"/>
                </a:solidFill>
              </a:rPr>
              <a:t>paramètres</a:t>
            </a:r>
            <a:endParaRPr lang="en-GB" dirty="0">
              <a:solidFill>
                <a:srgbClr val="040001"/>
              </a:solidFill>
            </a:endParaRPr>
          </a:p>
          <a:p>
            <a:r>
              <a:rPr lang="en-GB" dirty="0">
                <a:solidFill>
                  <a:srgbClr val="040001"/>
                </a:solidFill>
              </a:rPr>
              <a:t>Allocation </a:t>
            </a:r>
            <a:r>
              <a:rPr lang="en-GB" dirty="0" err="1">
                <a:solidFill>
                  <a:srgbClr val="040001"/>
                </a:solidFill>
              </a:rPr>
              <a:t>dynamique</a:t>
            </a:r>
            <a:r>
              <a:rPr lang="en-GB" dirty="0">
                <a:solidFill>
                  <a:srgbClr val="040001"/>
                </a:solidFill>
              </a:rPr>
              <a:t> de </a:t>
            </a:r>
            <a:r>
              <a:rPr lang="en-GB" dirty="0" err="1">
                <a:solidFill>
                  <a:srgbClr val="040001"/>
                </a:solidFill>
              </a:rPr>
              <a:t>mémoire</a:t>
            </a:r>
            <a:endParaRPr lang="en-GB" dirty="0">
              <a:solidFill>
                <a:srgbClr val="040001"/>
              </a:solidFill>
            </a:endParaRPr>
          </a:p>
          <a:p>
            <a:r>
              <a:rPr lang="fr-FR" dirty="0">
                <a:solidFill>
                  <a:srgbClr val="040001"/>
                </a:solidFill>
              </a:rPr>
              <a:t>Structures, Listes et Tables de hachage</a:t>
            </a:r>
          </a:p>
          <a:p>
            <a:r>
              <a:rPr lang="en-GB" dirty="0" err="1">
                <a:solidFill>
                  <a:srgbClr val="040001"/>
                </a:solidFill>
              </a:rPr>
              <a:t>Chaînes</a:t>
            </a:r>
            <a:r>
              <a:rPr lang="en-GB" dirty="0">
                <a:solidFill>
                  <a:srgbClr val="040001"/>
                </a:solidFill>
              </a:rPr>
              <a:t> de </a:t>
            </a:r>
            <a:r>
              <a:rPr lang="en-GB" dirty="0" err="1">
                <a:solidFill>
                  <a:srgbClr val="040001"/>
                </a:solidFill>
              </a:rPr>
              <a:t>caractères</a:t>
            </a:r>
            <a:endParaRPr lang="en-GB" dirty="0">
              <a:solidFill>
                <a:srgbClr val="040001"/>
              </a:solidFill>
            </a:endParaRPr>
          </a:p>
          <a:p>
            <a:r>
              <a:rPr lang="en-GB" dirty="0">
                <a:solidFill>
                  <a:srgbClr val="040001"/>
                </a:solidFill>
              </a:rPr>
              <a:t>Entrées/Sorties (I/O)</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02436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CM 3:</a:t>
            </a:r>
            <a:br>
              <a:rPr lang="en-GB" dirty="0">
                <a:latin typeface="Arial" charset="0"/>
              </a:rPr>
            </a:br>
            <a:r>
              <a:rPr lang="en-GB" dirty="0">
                <a:latin typeface="Arial" charset="0"/>
              </a:rPr>
              <a:t>Introduction, Structure et </a:t>
            </a:r>
            <a:r>
              <a:rPr lang="en-GB" dirty="0" err="1">
                <a:latin typeface="Arial" charset="0"/>
              </a:rPr>
              <a:t>Outils</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1358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Pourquoi C ?</a:t>
            </a:r>
          </a:p>
        </p:txBody>
      </p:sp>
      <p:sp>
        <p:nvSpPr>
          <p:cNvPr id="19" name="Rectangle 3"/>
          <p:cNvSpPr txBox="1">
            <a:spLocks noChangeArrowheads="1"/>
          </p:cNvSpPr>
          <p:nvPr/>
        </p:nvSpPr>
        <p:spPr bwMode="auto">
          <a:xfrm>
            <a:off x="539552" y="1149034"/>
            <a:ext cx="8399276" cy="47885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JAVA est un langage évolué</a:t>
            </a:r>
            <a:endParaRPr lang="en-GB" dirty="0"/>
          </a:p>
          <a:p>
            <a:pPr lvl="1"/>
            <a:r>
              <a:rPr lang="fr-FR" dirty="0"/>
              <a:t>Une abstraction élevée par rapport aux objets physiques</a:t>
            </a:r>
            <a:endParaRPr lang="en-GB" dirty="0"/>
          </a:p>
          <a:p>
            <a:pPr lvl="1"/>
            <a:r>
              <a:rPr lang="fr-FR" dirty="0"/>
              <a:t>Utile lorsque nous voulons être abstraits du matériel</a:t>
            </a:r>
            <a:endParaRPr lang="en-GB" dirty="0"/>
          </a:p>
          <a:p>
            <a:pPr lvl="2"/>
            <a:r>
              <a:rPr lang="en-GB" sz="2000" dirty="0" err="1"/>
              <a:t>Ingénierie</a:t>
            </a:r>
            <a:r>
              <a:rPr lang="en-GB" sz="2000" dirty="0"/>
              <a:t> </a:t>
            </a:r>
            <a:r>
              <a:rPr lang="en-GB" sz="2000" dirty="0" err="1"/>
              <a:t>logicielle</a:t>
            </a:r>
            <a:endParaRPr lang="en-GB" sz="2000" dirty="0"/>
          </a:p>
          <a:p>
            <a:pPr lvl="2"/>
            <a:endParaRPr lang="en-GB" dirty="0"/>
          </a:p>
          <a:p>
            <a:r>
              <a:rPr lang="fr-FR" dirty="0"/>
              <a:t>C est plus proche du matériel</a:t>
            </a:r>
            <a:endParaRPr lang="en-GB" dirty="0"/>
          </a:p>
          <a:p>
            <a:pPr lvl="1"/>
            <a:r>
              <a:rPr lang="fr-FR" dirty="0"/>
              <a:t>Contrôle relativement ce qui se passe dans la mémoire</a:t>
            </a:r>
            <a:endParaRPr lang="en-GB" dirty="0"/>
          </a:p>
          <a:p>
            <a:pPr lvl="1"/>
            <a:r>
              <a:rPr lang="fr-FR" dirty="0"/>
              <a:t>Manipulation des objets physiques du matériel</a:t>
            </a:r>
            <a:endParaRPr lang="en-GB" dirty="0"/>
          </a:p>
          <a:p>
            <a:pPr lvl="2"/>
            <a:r>
              <a:rPr lang="en-GB" sz="2000" dirty="0" err="1"/>
              <a:t>Ingénierie</a:t>
            </a:r>
            <a:r>
              <a:rPr lang="en-GB" sz="2000" dirty="0"/>
              <a:t> </a:t>
            </a:r>
            <a:r>
              <a:rPr lang="en-GB" sz="2000" dirty="0" err="1"/>
              <a:t>système</a:t>
            </a:r>
            <a:endParaRPr lang="en-GB" sz="2000" dirty="0"/>
          </a:p>
          <a:p>
            <a:pPr lvl="2"/>
            <a:endParaRPr lang="en-GB" dirty="0"/>
          </a:p>
          <a:p>
            <a:r>
              <a:rPr lang="fr-FR" dirty="0"/>
              <a:t>Les principaux systèmes d'exploitation sont écrits en C</a:t>
            </a:r>
            <a:endParaRPr lang="en-GB" dirty="0"/>
          </a:p>
          <a:p>
            <a:pPr lvl="1"/>
            <a:r>
              <a:rPr lang="en-GB" dirty="0"/>
              <a:t>Unix, GNU/Linux, etc.</a:t>
            </a:r>
          </a:p>
          <a:p>
            <a:pPr marL="542925" lvl="1" indent="0">
              <a:buNone/>
            </a:pPr>
            <a:endParaRPr lang="en-GB" sz="800" dirty="0"/>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3329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80628"/>
            <a:ext cx="4267200" cy="533400"/>
          </a:xfrm>
        </p:spPr>
        <p:txBody>
          <a:bodyPr/>
          <a:lstStyle/>
          <a:p>
            <a:r>
              <a:rPr lang="en-GB" sz="2800" dirty="0">
                <a:latin typeface="Arial" charset="0"/>
              </a:rPr>
              <a:t>Que </a:t>
            </a:r>
            <a:r>
              <a:rPr lang="en-GB" sz="2800" dirty="0" err="1">
                <a:latin typeface="Arial" charset="0"/>
              </a:rPr>
              <a:t>couvre</a:t>
            </a:r>
            <a:r>
              <a:rPr lang="en-GB" sz="2800" dirty="0">
                <a:latin typeface="Arial" charset="0"/>
              </a:rPr>
              <a:t> </a:t>
            </a:r>
            <a:r>
              <a:rPr lang="en-GB" sz="2800" dirty="0" err="1">
                <a:latin typeface="Arial" charset="0"/>
              </a:rPr>
              <a:t>ce</a:t>
            </a:r>
            <a:r>
              <a:rPr lang="en-GB" sz="2800" dirty="0">
                <a:latin typeface="Arial" charset="0"/>
              </a:rPr>
              <a:t> </a:t>
            </a:r>
            <a:r>
              <a:rPr lang="en-GB" sz="2800" dirty="0" err="1">
                <a:latin typeface="Arial" charset="0"/>
              </a:rPr>
              <a:t>cours</a:t>
            </a:r>
            <a:r>
              <a:rPr lang="en-GB" sz="2800" dirty="0">
                <a:latin typeface="Arial" charset="0"/>
              </a:rPr>
              <a:t> ?</a:t>
            </a:r>
          </a:p>
        </p:txBody>
      </p:sp>
      <p:sp>
        <p:nvSpPr>
          <p:cNvPr id="19" name="Rectangle 3"/>
          <p:cNvSpPr txBox="1">
            <a:spLocks noChangeArrowheads="1"/>
          </p:cNvSpPr>
          <p:nvPr/>
        </p:nvSpPr>
        <p:spPr bwMode="auto">
          <a:xfrm>
            <a:off x="359532" y="908720"/>
            <a:ext cx="8424936" cy="5492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rPr>
              <a:t>Il ne s'agit PAS d'un autre cours de programmation avec une présentation approfondie de la syntaxe du langage</a:t>
            </a:r>
            <a:r>
              <a:rPr lang="en-GB" dirty="0">
                <a:latin typeface="Arial" charset="0"/>
              </a:rPr>
              <a:t>, </a:t>
            </a:r>
          </a:p>
          <a:p>
            <a:pPr lvl="1"/>
            <a:r>
              <a:rPr lang="fr-FR" dirty="0"/>
              <a:t>des différences avec JAVA, des syntaxes similaires mais toujours très différentes </a:t>
            </a:r>
            <a:r>
              <a:rPr lang="en-GB" dirty="0">
                <a:latin typeface="Arial" charset="0"/>
              </a:rPr>
              <a:t>!</a:t>
            </a:r>
          </a:p>
          <a:p>
            <a:pPr lvl="1"/>
            <a:r>
              <a:rPr lang="fr-FR" dirty="0">
                <a:latin typeface="Arial" charset="0"/>
              </a:rPr>
              <a:t>Principalement les parties 'délicates' du langage C </a:t>
            </a:r>
            <a:r>
              <a:rPr lang="en-GB" dirty="0">
                <a:latin typeface="Arial" charset="0"/>
              </a:rPr>
              <a:t>!</a:t>
            </a:r>
            <a:endParaRPr lang="en-GB" dirty="0"/>
          </a:p>
          <a:p>
            <a:pPr lvl="1"/>
            <a:endParaRPr lang="en-GB" sz="800" dirty="0"/>
          </a:p>
          <a:p>
            <a:r>
              <a:rPr lang="fr-FR" dirty="0"/>
              <a:t>Devenir un maître de la programmation en langage C est long et difficile</a:t>
            </a:r>
            <a:endParaRPr lang="en-GB" dirty="0"/>
          </a:p>
          <a:p>
            <a:pPr lvl="1"/>
            <a:r>
              <a:rPr lang="fr-FR" dirty="0"/>
              <a:t>Cela nécessite de la pratique, de la pratique et encore de la pratique</a:t>
            </a:r>
            <a:endParaRPr lang="en-GB" sz="800" dirty="0"/>
          </a:p>
          <a:p>
            <a:r>
              <a:rPr lang="fr-FR" dirty="0"/>
              <a:t>Mais, il y a beaucoup de documentation</a:t>
            </a:r>
            <a:r>
              <a:rPr lang="en-GB" dirty="0"/>
              <a:t> !</a:t>
            </a:r>
          </a:p>
          <a:p>
            <a:pPr lvl="1"/>
            <a:r>
              <a:rPr lang="fr-FR" dirty="0"/>
              <a:t>Les fonctions des bibliothèques sont documentées</a:t>
            </a:r>
            <a:endParaRPr lang="en-GB" dirty="0"/>
          </a:p>
          <a:p>
            <a:pPr lvl="2"/>
            <a:r>
              <a:rPr lang="en-GB" sz="2000" dirty="0" err="1"/>
              <a:t>Exemple</a:t>
            </a:r>
            <a:r>
              <a:rPr lang="en-GB" sz="2000" dirty="0"/>
              <a:t> : </a:t>
            </a:r>
            <a:r>
              <a:rPr lang="en-GB" sz="2000" b="1" dirty="0">
                <a:latin typeface="Courier New"/>
                <a:ea typeface="Courier New"/>
              </a:rPr>
              <a:t>man </a:t>
            </a:r>
            <a:r>
              <a:rPr lang="en-GB" sz="2000" b="1" dirty="0" err="1">
                <a:latin typeface="Courier New"/>
                <a:ea typeface="Courier New"/>
              </a:rPr>
              <a:t>fprintf</a:t>
            </a:r>
            <a:endParaRPr lang="en-GB" sz="2000" dirty="0"/>
          </a:p>
          <a:p>
            <a:pPr lvl="1"/>
            <a:r>
              <a:rPr lang="fr-FR" dirty="0"/>
              <a:t>Google est votre meilleur ami… non pas pour copier-coller, mais pour lire et comprendre </a:t>
            </a:r>
            <a:r>
              <a:rPr lang="en-GB" dirty="0"/>
              <a:t> ! </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7816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 language</a:t>
            </a:r>
          </a:p>
        </p:txBody>
      </p:sp>
      <p:sp>
        <p:nvSpPr>
          <p:cNvPr id="19" name="Rectangle 3"/>
          <p:cNvSpPr txBox="1">
            <a:spLocks noChangeArrowheads="1"/>
          </p:cNvSpPr>
          <p:nvPr/>
        </p:nvSpPr>
        <p:spPr bwMode="auto">
          <a:xfrm>
            <a:off x="143508" y="908720"/>
            <a:ext cx="8939336" cy="55806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Développé par </a:t>
            </a:r>
            <a:r>
              <a:rPr lang="en-GB" dirty="0">
                <a:solidFill>
                  <a:srgbClr val="CCCCFF"/>
                </a:solidFill>
                <a:hlinkClick r:id="rId6"/>
              </a:rPr>
              <a:t>Thompson</a:t>
            </a:r>
            <a:r>
              <a:rPr lang="en-GB" dirty="0"/>
              <a:t> &amp; </a:t>
            </a:r>
            <a:r>
              <a:rPr lang="en-GB" dirty="0">
                <a:solidFill>
                  <a:srgbClr val="CCCCFF"/>
                </a:solidFill>
                <a:hlinkClick r:id="rId7"/>
              </a:rPr>
              <a:t>Ritchie</a:t>
            </a:r>
            <a:r>
              <a:rPr lang="en-GB" dirty="0"/>
              <a:t> in 1972</a:t>
            </a:r>
          </a:p>
          <a:p>
            <a:r>
              <a:rPr lang="fr-FR" dirty="0"/>
              <a:t>Initialement développé : 90-95 % du noyau Unix</a:t>
            </a:r>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fr-FR" dirty="0"/>
              <a:t>Il a été normalisé par l'American National Standards Institute (ANSI) en 1989 (C ANSI</a:t>
            </a:r>
            <a:r>
              <a:rPr lang="en-GB" dirty="0"/>
              <a:t>)</a:t>
            </a:r>
          </a:p>
          <a:p>
            <a:r>
              <a:rPr lang="fr-FR" dirty="0"/>
              <a:t>Langage faiblement typé (</a:t>
            </a:r>
            <a:r>
              <a:rPr lang="fr-FR" dirty="0">
                <a:solidFill>
                  <a:srgbClr val="FF0000"/>
                </a:solidFill>
              </a:rPr>
              <a:t>donc, les avertissements sont importants !</a:t>
            </a:r>
            <a:r>
              <a:rPr lang="en-GB" dirty="0"/>
              <a:t>)</a:t>
            </a:r>
          </a:p>
        </p:txBody>
      </p:sp>
      <p:pic>
        <p:nvPicPr>
          <p:cNvPr id="6" name="Picture 5"/>
          <p:cNvPicPr/>
          <p:nvPr/>
        </p:nvPicPr>
        <p:blipFill>
          <a:blip r:embed="rId8"/>
          <a:stretch>
            <a:fillRect/>
          </a:stretch>
        </p:blipFill>
        <p:spPr>
          <a:xfrm>
            <a:off x="2303748" y="1952836"/>
            <a:ext cx="4434796" cy="2664296"/>
          </a:xfrm>
          <a:prstGeom prst="rect">
            <a:avLst/>
          </a:prstGeom>
        </p:spPr>
      </p:pic>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1332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7</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fr-FR" dirty="0">
                <a:latin typeface="Arial" charset="0"/>
              </a:rPr>
              <a:t>Structure d'un programme C et compilation</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2644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Structure d'un programme en C</a:t>
            </a:r>
            <a:endParaRPr lang="en-US" sz="2800" dirty="0">
              <a:latin typeface="Arial" charset="0"/>
            </a:endParaRP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298638" y="1101315"/>
            <a:ext cx="8534400" cy="29883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Un programme est enregistré dans un ou plusieurs fichiers de compilation C</a:t>
            </a:r>
            <a:endParaRPr lang="en-US" dirty="0"/>
          </a:p>
          <a:p>
            <a:endParaRPr lang="en-US" sz="800" dirty="0"/>
          </a:p>
          <a:p>
            <a:r>
              <a:rPr lang="fr-FR" dirty="0">
                <a:latin typeface="Arial" charset="0"/>
                <a:cs typeface="ＭＳ Ｐゴシック" charset="0"/>
              </a:rPr>
              <a:t>Un fichier de compilation se compose d'un fichier source ou d'un fichier d'en-tête</a:t>
            </a:r>
            <a:endParaRPr lang="en-US" dirty="0">
              <a:latin typeface="Arial" charset="0"/>
              <a:cs typeface="ＭＳ Ｐゴシック" charset="0"/>
            </a:endParaRPr>
          </a:p>
          <a:p>
            <a:pPr marL="0" indent="0">
              <a:buNone/>
            </a:pPr>
            <a:endParaRPr lang="en-US" sz="800" dirty="0">
              <a:latin typeface="Arial" charset="0"/>
              <a:cs typeface="ＭＳ Ｐゴシック" charset="0"/>
            </a:endParaRPr>
          </a:p>
          <a:p>
            <a:pPr lvl="1"/>
            <a:r>
              <a:rPr lang="en-US" dirty="0" err="1">
                <a:latin typeface="Arial" charset="0"/>
                <a:cs typeface="ＭＳ Ｐゴシック" charset="0"/>
              </a:rPr>
              <a:t>Fichier</a:t>
            </a:r>
            <a:r>
              <a:rPr lang="en-US" dirty="0">
                <a:latin typeface="Arial" charset="0"/>
                <a:cs typeface="ＭＳ Ｐゴシック" charset="0"/>
              </a:rPr>
              <a:t> Source </a:t>
            </a:r>
            <a:r>
              <a:rPr lang="en-US" b="1" dirty="0">
                <a:latin typeface="Courier"/>
                <a:cs typeface="Courier"/>
              </a:rPr>
              <a:t>.c </a:t>
            </a:r>
            <a:r>
              <a:rPr lang="en-US" dirty="0">
                <a:cs typeface="Courier"/>
                <a:sym typeface="Wingdings"/>
              </a:rPr>
              <a:t> code</a:t>
            </a:r>
            <a:endParaRPr lang="en-US" dirty="0">
              <a:cs typeface="Courier"/>
            </a:endParaRPr>
          </a:p>
          <a:p>
            <a:pPr lvl="1"/>
            <a:r>
              <a:rPr lang="en-US" dirty="0" err="1">
                <a:latin typeface="Arial" charset="0"/>
                <a:cs typeface="ＭＳ Ｐゴシック" charset="0"/>
              </a:rPr>
              <a:t>Fichier</a:t>
            </a:r>
            <a:r>
              <a:rPr lang="en-US" dirty="0">
                <a:latin typeface="Arial" charset="0"/>
                <a:cs typeface="ＭＳ Ｐゴシック" charset="0"/>
              </a:rPr>
              <a:t> Header </a:t>
            </a:r>
            <a:r>
              <a:rPr lang="en-US" b="1" dirty="0">
                <a:latin typeface="Courier"/>
                <a:cs typeface="Courier"/>
              </a:rPr>
              <a:t>.h </a:t>
            </a:r>
            <a:r>
              <a:rPr lang="en-US" dirty="0">
                <a:cs typeface="Courier"/>
                <a:sym typeface="Wingdings"/>
              </a:rPr>
              <a:t> </a:t>
            </a:r>
            <a:r>
              <a:rPr lang="en-US" dirty="0" err="1">
                <a:cs typeface="Courier"/>
                <a:sym typeface="Wingdings"/>
              </a:rPr>
              <a:t>declarrations</a:t>
            </a:r>
            <a:endParaRPr lang="en-US" dirty="0">
              <a:sym typeface="Wingdings"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2799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Communication entre </a:t>
            </a:r>
            <a:r>
              <a:rPr lang="en-US" sz="2800" dirty="0" err="1">
                <a:latin typeface="Arial" charset="0"/>
              </a:rPr>
              <a:t>fichiers</a:t>
            </a:r>
            <a:r>
              <a:rPr lang="en-US" sz="2800" dirty="0">
                <a:latin typeface="Arial" charset="0"/>
              </a:rPr>
              <a:t> .c</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0" y="644116"/>
            <a:ext cx="8951626" cy="59852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b="1" dirty="0">
                <a:latin typeface="Courier"/>
                <a:cs typeface="Courier"/>
              </a:rPr>
              <a:t>code2.c </a:t>
            </a:r>
            <a:r>
              <a:rPr lang="fr-FR" dirty="0">
                <a:latin typeface="Arial" charset="0"/>
                <a:cs typeface="ＭＳ Ｐゴシック" charset="0"/>
              </a:rPr>
              <a:t>peut </a:t>
            </a:r>
            <a:r>
              <a:rPr lang="fr-FR" b="1" dirty="0">
                <a:latin typeface="Arial" charset="0"/>
                <a:cs typeface="ＭＳ Ｐゴシック" charset="0"/>
              </a:rPr>
              <a:t>utiliser </a:t>
            </a:r>
            <a:r>
              <a:rPr lang="fr-FR" dirty="0">
                <a:latin typeface="Arial" charset="0"/>
                <a:cs typeface="ＭＳ Ｐゴシック" charset="0"/>
              </a:rPr>
              <a:t>les fonctions et les variables globales définies </a:t>
            </a:r>
            <a:r>
              <a:rPr lang="en-US" dirty="0">
                <a:latin typeface="Arial" charset="0"/>
                <a:cs typeface="ＭＳ Ｐゴシック" charset="0"/>
              </a:rPr>
              <a:t>:</a:t>
            </a:r>
          </a:p>
          <a:p>
            <a:pPr lvl="1"/>
            <a:r>
              <a:rPr lang="fr-FR" dirty="0">
                <a:latin typeface="Arial" charset="0"/>
                <a:cs typeface="ＭＳ Ｐゴシック" charset="0"/>
              </a:rPr>
              <a:t>localement dans le code du fichier de compilation </a:t>
            </a:r>
            <a:r>
              <a:rPr lang="en-US" b="1" dirty="0">
                <a:latin typeface="Courier"/>
                <a:cs typeface="Courier"/>
              </a:rPr>
              <a:t>code2.c </a:t>
            </a:r>
            <a:endParaRPr lang="en-US" dirty="0">
              <a:latin typeface="Arial" charset="0"/>
              <a:cs typeface="ＭＳ Ｐゴシック" charset="0"/>
            </a:endParaRPr>
          </a:p>
          <a:p>
            <a:pPr lvl="1"/>
            <a:r>
              <a:rPr lang="fr-FR" dirty="0">
                <a:latin typeface="Arial" charset="0"/>
                <a:cs typeface="ＭＳ Ｐゴシック" charset="0"/>
              </a:rPr>
              <a:t>dans un autre fichier de compilation </a:t>
            </a:r>
            <a:r>
              <a:rPr lang="en-US" b="1" dirty="0">
                <a:latin typeface="Courier"/>
                <a:cs typeface="Courier"/>
              </a:rPr>
              <a:t>code1.c </a:t>
            </a:r>
            <a:r>
              <a:rPr lang="en-US" dirty="0">
                <a:latin typeface="Arial" charset="0"/>
                <a:cs typeface="ＭＳ Ｐゴシック" charset="0"/>
              </a:rPr>
              <a:t>(</a:t>
            </a:r>
            <a:r>
              <a:rPr lang="en-US" b="1" dirty="0">
                <a:latin typeface="Courier"/>
                <a:cs typeface="Courier"/>
              </a:rPr>
              <a:t>code1.c</a:t>
            </a:r>
            <a:r>
              <a:rPr lang="en-US" dirty="0">
                <a:latin typeface="Arial" charset="0"/>
                <a:cs typeface="ＭＳ Ｐゴシック" charset="0"/>
              </a:rPr>
              <a:t> les </a:t>
            </a:r>
            <a:r>
              <a:rPr lang="en-US" dirty="0" err="1">
                <a:latin typeface="Arial" charset="0"/>
                <a:cs typeface="ＭＳ Ｐゴシック" charset="0"/>
              </a:rPr>
              <a:t>exporte</a:t>
            </a:r>
            <a:r>
              <a:rPr lang="en-US" dirty="0">
                <a:latin typeface="Arial" charset="0"/>
                <a:cs typeface="ＭＳ Ｐゴシック" charset="0"/>
              </a:rPr>
              <a:t>)</a:t>
            </a:r>
          </a:p>
          <a:p>
            <a:endParaRPr lang="en-US" sz="800" dirty="0">
              <a:latin typeface="Arial" charset="0"/>
              <a:cs typeface="ＭＳ Ｐゴシック" charset="0"/>
            </a:endParaRPr>
          </a:p>
          <a:p>
            <a:r>
              <a:rPr lang="en-US" b="1" dirty="0">
                <a:latin typeface="Courier"/>
                <a:cs typeface="Courier"/>
              </a:rPr>
              <a:t>code1.c </a:t>
            </a:r>
            <a:r>
              <a:rPr lang="fr-FR" b="1" dirty="0">
                <a:latin typeface="Arial" charset="0"/>
                <a:cs typeface="ＭＳ Ｐゴシック" charset="0"/>
              </a:rPr>
              <a:t>définit</a:t>
            </a:r>
            <a:r>
              <a:rPr lang="fr-FR" dirty="0">
                <a:latin typeface="Arial" charset="0"/>
                <a:cs typeface="ＭＳ Ｐゴシック" charset="0"/>
              </a:rPr>
              <a:t> les fonctions et les variables globales </a:t>
            </a:r>
            <a:r>
              <a:rPr lang="en-US" dirty="0">
                <a:latin typeface="Arial" charset="0"/>
                <a:cs typeface="ＭＳ Ｐゴシック" charset="0"/>
              </a:rPr>
              <a:t>:</a:t>
            </a:r>
          </a:p>
          <a:p>
            <a:pPr lvl="1"/>
            <a:r>
              <a:rPr lang="fr-FR" dirty="0">
                <a:latin typeface="Arial" charset="0"/>
                <a:cs typeface="ＭＳ Ｐゴシック" charset="0"/>
              </a:rPr>
              <a:t>exportées par </a:t>
            </a:r>
            <a:r>
              <a:rPr lang="en-US" b="1" dirty="0">
                <a:latin typeface="Courier"/>
                <a:cs typeface="Courier"/>
              </a:rPr>
              <a:t>code1.c</a:t>
            </a:r>
            <a:r>
              <a:rPr lang="fr-FR" dirty="0">
                <a:latin typeface="Arial" charset="0"/>
                <a:cs typeface="ＭＳ Ｐゴシック" charset="0"/>
              </a:rPr>
              <a:t> pour être utilisées par un autre fichier </a:t>
            </a:r>
            <a:r>
              <a:rPr lang="en-US" b="1" dirty="0">
                <a:latin typeface="Courier"/>
                <a:cs typeface="Courier"/>
              </a:rPr>
              <a:t>code2.c</a:t>
            </a:r>
            <a:endParaRPr lang="en-US" dirty="0">
              <a:latin typeface="Arial" charset="0"/>
              <a:cs typeface="ＭＳ Ｐゴシック" charset="0"/>
            </a:endParaRPr>
          </a:p>
          <a:p>
            <a:pPr lvl="1"/>
            <a:r>
              <a:rPr lang="en-US" dirty="0" err="1">
                <a:latin typeface="Arial" charset="0"/>
                <a:cs typeface="ＭＳ Ｐゴシック" charset="0"/>
              </a:rPr>
              <a:t>utilisées</a:t>
            </a:r>
            <a:r>
              <a:rPr lang="en-US" dirty="0">
                <a:latin typeface="Arial" charset="0"/>
                <a:cs typeface="ＭＳ Ｐゴシック" charset="0"/>
              </a:rPr>
              <a:t> </a:t>
            </a:r>
            <a:r>
              <a:rPr lang="en-US" dirty="0" err="1">
                <a:latin typeface="Arial" charset="0"/>
                <a:cs typeface="ＭＳ Ｐゴシック" charset="0"/>
              </a:rPr>
              <a:t>localement</a:t>
            </a:r>
            <a:r>
              <a:rPr lang="en-US" dirty="0">
                <a:latin typeface="Arial" charset="0"/>
                <a:cs typeface="ＭＳ Ｐゴシック" charset="0"/>
              </a:rPr>
              <a:t> dans </a:t>
            </a:r>
            <a:r>
              <a:rPr lang="en-US" b="1" dirty="0">
                <a:latin typeface="Courier"/>
                <a:cs typeface="Courier"/>
              </a:rPr>
              <a:t>code1.c</a:t>
            </a:r>
          </a:p>
          <a:p>
            <a:pPr marL="0" indent="0">
              <a:buNone/>
            </a:pPr>
            <a:endParaRPr lang="en-US" dirty="0">
              <a:latin typeface="Arial" charset="0"/>
              <a:cs typeface="ＭＳ Ｐゴシック" charset="0"/>
            </a:endParaRPr>
          </a:p>
        </p:txBody>
      </p:sp>
      <p:sp>
        <p:nvSpPr>
          <p:cNvPr id="2" name="Rectangle 1"/>
          <p:cNvSpPr/>
          <p:nvPr/>
        </p:nvSpPr>
        <p:spPr bwMode="auto">
          <a:xfrm>
            <a:off x="5904148" y="4185084"/>
            <a:ext cx="2628292" cy="2088232"/>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 name="TextBox 2"/>
          <p:cNvSpPr txBox="1"/>
          <p:nvPr/>
        </p:nvSpPr>
        <p:spPr>
          <a:xfrm>
            <a:off x="5867937" y="4617132"/>
            <a:ext cx="2605200" cy="369332"/>
          </a:xfrm>
          <a:prstGeom prst="rect">
            <a:avLst/>
          </a:prstGeom>
          <a:noFill/>
        </p:spPr>
        <p:txBody>
          <a:bodyPr wrap="none" rtlCol="0">
            <a:spAutoFit/>
          </a:bodyPr>
          <a:lstStyle/>
          <a:p>
            <a:r>
              <a:rPr lang="en-US" sz="1800" dirty="0" err="1">
                <a:solidFill>
                  <a:srgbClr val="FF0000"/>
                </a:solidFill>
              </a:rPr>
              <a:t>Définition</a:t>
            </a:r>
            <a:r>
              <a:rPr lang="en-US" sz="1800" dirty="0">
                <a:solidFill>
                  <a:srgbClr val="FF0000"/>
                </a:solidFill>
              </a:rPr>
              <a:t> de variable </a:t>
            </a:r>
            <a:r>
              <a:rPr lang="en-US" sz="1800" b="1" dirty="0">
                <a:solidFill>
                  <a:srgbClr val="FF0000"/>
                </a:solidFill>
                <a:latin typeface="Courier New"/>
                <a:cs typeface="Courier New"/>
              </a:rPr>
              <a:t>a</a:t>
            </a:r>
            <a:r>
              <a:rPr lang="en-US" sz="1800" dirty="0">
                <a:solidFill>
                  <a:srgbClr val="FF0000"/>
                </a:solidFill>
              </a:rPr>
              <a:t>;</a:t>
            </a:r>
          </a:p>
        </p:txBody>
      </p:sp>
      <p:sp>
        <p:nvSpPr>
          <p:cNvPr id="9" name="Rectangle 8"/>
          <p:cNvSpPr/>
          <p:nvPr/>
        </p:nvSpPr>
        <p:spPr bwMode="auto">
          <a:xfrm>
            <a:off x="1511660" y="4149080"/>
            <a:ext cx="2628292" cy="2088232"/>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0" name="TextBox 9"/>
          <p:cNvSpPr txBox="1"/>
          <p:nvPr/>
        </p:nvSpPr>
        <p:spPr>
          <a:xfrm>
            <a:off x="1616312" y="5121188"/>
            <a:ext cx="1771640" cy="369332"/>
          </a:xfrm>
          <a:prstGeom prst="rect">
            <a:avLst/>
          </a:prstGeom>
          <a:noFill/>
        </p:spPr>
        <p:txBody>
          <a:bodyPr wrap="none" rtlCol="0">
            <a:spAutoFit/>
          </a:bodyPr>
          <a:lstStyle/>
          <a:p>
            <a:r>
              <a:rPr lang="en-US" sz="1800" dirty="0" err="1"/>
              <a:t>Utilisation</a:t>
            </a:r>
            <a:r>
              <a:rPr lang="en-US" sz="1800" dirty="0"/>
              <a:t> de </a:t>
            </a:r>
            <a:r>
              <a:rPr lang="en-US" sz="1800" b="1" dirty="0">
                <a:latin typeface="Courier New"/>
                <a:cs typeface="Courier New"/>
              </a:rPr>
              <a:t>b</a:t>
            </a:r>
            <a:r>
              <a:rPr lang="en-US" sz="1800" dirty="0"/>
              <a:t>;</a:t>
            </a:r>
          </a:p>
        </p:txBody>
      </p:sp>
      <p:sp>
        <p:nvSpPr>
          <p:cNvPr id="4" name="Rectangle 3"/>
          <p:cNvSpPr/>
          <p:nvPr/>
        </p:nvSpPr>
        <p:spPr>
          <a:xfrm>
            <a:off x="6606636" y="3825044"/>
            <a:ext cx="1262059" cy="400110"/>
          </a:xfrm>
          <a:prstGeom prst="rect">
            <a:avLst/>
          </a:prstGeom>
        </p:spPr>
        <p:txBody>
          <a:bodyPr wrap="none">
            <a:spAutoFit/>
          </a:bodyPr>
          <a:lstStyle/>
          <a:p>
            <a:r>
              <a:rPr lang="en-US" sz="2000" b="1" dirty="0">
                <a:latin typeface="Courier"/>
                <a:cs typeface="Courier"/>
              </a:rPr>
              <a:t>code1.c</a:t>
            </a:r>
            <a:endParaRPr lang="en-US" sz="2000" dirty="0"/>
          </a:p>
        </p:txBody>
      </p:sp>
      <p:sp>
        <p:nvSpPr>
          <p:cNvPr id="12" name="Rectangle 11"/>
          <p:cNvSpPr/>
          <p:nvPr/>
        </p:nvSpPr>
        <p:spPr>
          <a:xfrm>
            <a:off x="2159732" y="3753036"/>
            <a:ext cx="1262059" cy="400110"/>
          </a:xfrm>
          <a:prstGeom prst="rect">
            <a:avLst/>
          </a:prstGeom>
        </p:spPr>
        <p:txBody>
          <a:bodyPr wrap="none">
            <a:spAutoFit/>
          </a:bodyPr>
          <a:lstStyle/>
          <a:p>
            <a:r>
              <a:rPr lang="en-US" sz="2000" b="1" dirty="0">
                <a:latin typeface="Courier"/>
                <a:cs typeface="Courier"/>
              </a:rPr>
              <a:t>code2.c</a:t>
            </a:r>
            <a:endParaRPr lang="en-US" sz="2000" dirty="0"/>
          </a:p>
        </p:txBody>
      </p:sp>
      <p:sp>
        <p:nvSpPr>
          <p:cNvPr id="7" name="Rectangle 6"/>
          <p:cNvSpPr/>
          <p:nvPr/>
        </p:nvSpPr>
        <p:spPr>
          <a:xfrm>
            <a:off x="1462952" y="4535832"/>
            <a:ext cx="2605200" cy="369332"/>
          </a:xfrm>
          <a:prstGeom prst="rect">
            <a:avLst/>
          </a:prstGeom>
        </p:spPr>
        <p:txBody>
          <a:bodyPr wrap="none">
            <a:spAutoFit/>
          </a:bodyPr>
          <a:lstStyle/>
          <a:p>
            <a:r>
              <a:rPr lang="en-US" sz="1800" dirty="0" err="1"/>
              <a:t>Définition</a:t>
            </a:r>
            <a:r>
              <a:rPr lang="en-US" sz="1800" dirty="0"/>
              <a:t> de variable </a:t>
            </a:r>
            <a:r>
              <a:rPr lang="en-US" sz="1800" b="1" dirty="0">
                <a:latin typeface="Courier New"/>
                <a:cs typeface="Courier New"/>
              </a:rPr>
              <a:t>b</a:t>
            </a:r>
            <a:r>
              <a:rPr lang="en-US" sz="1800" dirty="0"/>
              <a:t>;</a:t>
            </a:r>
          </a:p>
        </p:txBody>
      </p:sp>
      <p:sp>
        <p:nvSpPr>
          <p:cNvPr id="15" name="TextBox 14"/>
          <p:cNvSpPr txBox="1"/>
          <p:nvPr/>
        </p:nvSpPr>
        <p:spPr>
          <a:xfrm>
            <a:off x="1616312" y="5661248"/>
            <a:ext cx="2451840" cy="369332"/>
          </a:xfrm>
          <a:prstGeom prst="rect">
            <a:avLst/>
          </a:prstGeom>
          <a:noFill/>
        </p:spPr>
        <p:txBody>
          <a:bodyPr wrap="square" rtlCol="0">
            <a:spAutoFit/>
          </a:bodyPr>
          <a:lstStyle/>
          <a:p>
            <a:r>
              <a:rPr lang="en-US" sz="1800" dirty="0" err="1">
                <a:solidFill>
                  <a:srgbClr val="FF0000"/>
                </a:solidFill>
              </a:rPr>
              <a:t>Utilisation</a:t>
            </a:r>
            <a:r>
              <a:rPr lang="en-US" sz="1800" dirty="0">
                <a:solidFill>
                  <a:srgbClr val="FF0000"/>
                </a:solidFill>
              </a:rPr>
              <a:t> de </a:t>
            </a:r>
            <a:r>
              <a:rPr lang="en-US" sz="1800" b="1" dirty="0">
                <a:solidFill>
                  <a:srgbClr val="FF0000"/>
                </a:solidFill>
                <a:latin typeface="Courier New"/>
                <a:cs typeface="Courier New"/>
              </a:rPr>
              <a:t>a</a:t>
            </a:r>
            <a:r>
              <a:rPr lang="en-US" sz="1800" dirty="0">
                <a:solidFill>
                  <a:srgbClr val="FF0000"/>
                </a:solidFill>
              </a:rPr>
              <a:t>;</a:t>
            </a:r>
          </a:p>
        </p:txBody>
      </p:sp>
      <p:sp>
        <p:nvSpPr>
          <p:cNvPr id="16" name="TextBox 15"/>
          <p:cNvSpPr txBox="1"/>
          <p:nvPr/>
        </p:nvSpPr>
        <p:spPr>
          <a:xfrm>
            <a:off x="6039009" y="4967880"/>
            <a:ext cx="1771640" cy="369332"/>
          </a:xfrm>
          <a:prstGeom prst="rect">
            <a:avLst/>
          </a:prstGeom>
          <a:noFill/>
        </p:spPr>
        <p:txBody>
          <a:bodyPr wrap="none" rtlCol="0">
            <a:spAutoFit/>
          </a:bodyPr>
          <a:lstStyle/>
          <a:p>
            <a:r>
              <a:rPr lang="en-US" sz="1800" dirty="0" err="1">
                <a:solidFill>
                  <a:srgbClr val="FF0000"/>
                </a:solidFill>
              </a:rPr>
              <a:t>Utilisation</a:t>
            </a:r>
            <a:r>
              <a:rPr lang="en-US" sz="1800" dirty="0">
                <a:solidFill>
                  <a:srgbClr val="FF0000"/>
                </a:solidFill>
              </a:rPr>
              <a:t> de </a:t>
            </a:r>
            <a:r>
              <a:rPr lang="en-US" sz="1800" b="1" dirty="0">
                <a:solidFill>
                  <a:srgbClr val="FF0000"/>
                </a:solidFill>
                <a:latin typeface="Courier New"/>
                <a:cs typeface="Courier New"/>
              </a:rPr>
              <a:t>a</a:t>
            </a:r>
            <a:r>
              <a:rPr lang="en-US" sz="1800" dirty="0">
                <a:solidFill>
                  <a:srgbClr val="FF0000"/>
                </a:solidFill>
              </a:rPr>
              <a:t>;</a:t>
            </a:r>
          </a:p>
        </p:txBody>
      </p: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360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charset="0"/>
              </a:rPr>
              <a:t>Communication entre </a:t>
            </a:r>
            <a:r>
              <a:rPr lang="en-US" sz="2800" dirty="0" err="1">
                <a:latin typeface="Arial" charset="0"/>
              </a:rPr>
              <a:t>fichiers</a:t>
            </a:r>
            <a:r>
              <a:rPr lang="en-US" sz="2800" dirty="0">
                <a:latin typeface="Arial" charset="0"/>
              </a:rPr>
              <a:t> .c</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295908" y="1124744"/>
            <a:ext cx="8390892" cy="50765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La définition des variables globales et constantes est, par défaut, locale </a:t>
            </a:r>
            <a:r>
              <a:rPr lang="en-GB" dirty="0"/>
              <a:t>:</a:t>
            </a:r>
          </a:p>
          <a:p>
            <a:pPr lvl="1"/>
            <a:r>
              <a:rPr lang="fr-FR" dirty="0"/>
              <a:t>définies dans </a:t>
            </a:r>
            <a:r>
              <a:rPr lang="en-GB" b="1" dirty="0">
                <a:latin typeface="Courier"/>
                <a:cs typeface="Courier"/>
              </a:rPr>
              <a:t>code1.c </a:t>
            </a:r>
            <a:r>
              <a:rPr lang="en-GB" dirty="0">
                <a:sym typeface="Wingdings"/>
              </a:rPr>
              <a:t></a:t>
            </a:r>
            <a:r>
              <a:rPr lang="fr-FR" dirty="0"/>
              <a:t> </a:t>
            </a:r>
            <a:r>
              <a:rPr lang="en-GB" dirty="0"/>
              <a:t>in “</a:t>
            </a:r>
            <a:r>
              <a:rPr lang="en-GB" dirty="0" err="1"/>
              <a:t>vues</a:t>
            </a:r>
            <a:r>
              <a:rPr lang="en-GB" dirty="0"/>
              <a:t>” </a:t>
            </a:r>
            <a:r>
              <a:rPr lang="fr-FR" dirty="0"/>
              <a:t>uniquement par </a:t>
            </a:r>
            <a:r>
              <a:rPr lang="en-GB" b="1" dirty="0">
                <a:latin typeface="Courier"/>
                <a:cs typeface="Courier"/>
              </a:rPr>
              <a:t>code1.c</a:t>
            </a:r>
            <a:endParaRPr lang="en-GB" dirty="0"/>
          </a:p>
          <a:p>
            <a:endParaRPr lang="en-GB" b="1" dirty="0">
              <a:latin typeface="Courier"/>
              <a:cs typeface="Courier"/>
            </a:endParaRPr>
          </a:p>
          <a:p>
            <a:r>
              <a:rPr lang="fr-FR" dirty="0"/>
              <a:t>Pour que le fichier </a:t>
            </a:r>
            <a:r>
              <a:rPr lang="en-GB" b="1" dirty="0">
                <a:latin typeface="Courier"/>
                <a:cs typeface="Courier"/>
              </a:rPr>
              <a:t>code2.c</a:t>
            </a:r>
            <a:r>
              <a:rPr lang="en-GB" dirty="0">
                <a:cs typeface="Courier"/>
              </a:rPr>
              <a:t> </a:t>
            </a:r>
            <a:r>
              <a:rPr lang="en-GB" dirty="0">
                <a:cs typeface="Courier"/>
                <a:sym typeface="Wingdings"/>
              </a:rPr>
              <a:t></a:t>
            </a:r>
            <a:r>
              <a:rPr lang="en-GB" dirty="0">
                <a:cs typeface="Courier"/>
              </a:rPr>
              <a:t> </a:t>
            </a:r>
            <a:r>
              <a:rPr lang="fr-FR" dirty="0"/>
              <a:t>puisse </a:t>
            </a:r>
            <a:r>
              <a:rPr lang="en-GB" dirty="0"/>
              <a:t>“</a:t>
            </a:r>
            <a:r>
              <a:rPr lang="en-GB" dirty="0" err="1"/>
              <a:t>voir</a:t>
            </a:r>
            <a:r>
              <a:rPr lang="en-GB" dirty="0"/>
              <a:t>” </a:t>
            </a:r>
            <a:r>
              <a:rPr lang="fr-FR" dirty="0"/>
              <a:t>la variable globale, celle-ci doit être exportée </a:t>
            </a:r>
            <a:r>
              <a:rPr lang="en-GB" dirty="0"/>
              <a:t>:</a:t>
            </a:r>
          </a:p>
          <a:p>
            <a:pPr lvl="1"/>
            <a:r>
              <a:rPr lang="fr-FR" b="1" dirty="0"/>
              <a:t>les déclarations </a:t>
            </a:r>
            <a:r>
              <a:rPr lang="fr-FR" dirty="0"/>
              <a:t>sont placées dans le fichier d'en-tête </a:t>
            </a:r>
            <a:r>
              <a:rPr lang="en-GB" b="1" dirty="0">
                <a:latin typeface="Courier"/>
                <a:cs typeface="Courier"/>
              </a:rPr>
              <a:t>code1.h</a:t>
            </a:r>
          </a:p>
          <a:p>
            <a:pPr lvl="2"/>
            <a:r>
              <a:rPr lang="en-GB" sz="2000" b="1" dirty="0">
                <a:solidFill>
                  <a:schemeClr val="tx2"/>
                </a:solidFill>
                <a:latin typeface="Courier New"/>
                <a:cs typeface="Courier New"/>
              </a:rPr>
              <a:t>e</a:t>
            </a:r>
            <a:r>
              <a:rPr lang="en-US" sz="2000" b="1" dirty="0" err="1">
                <a:solidFill>
                  <a:schemeClr val="tx2"/>
                </a:solidFill>
                <a:latin typeface="Courier New"/>
                <a:cs typeface="Courier New"/>
              </a:rPr>
              <a:t>xtern</a:t>
            </a:r>
            <a:r>
              <a:rPr lang="en-US" sz="2000" dirty="0">
                <a:solidFill>
                  <a:schemeClr val="tx2"/>
                </a:solidFill>
                <a:cs typeface="Courier New"/>
              </a:rPr>
              <a:t>: </a:t>
            </a:r>
            <a:r>
              <a:rPr lang="fr-FR" sz="2000" dirty="0">
                <a:solidFill>
                  <a:schemeClr val="tx2"/>
                </a:solidFill>
                <a:cs typeface="Courier New"/>
              </a:rPr>
              <a:t> pour que la variable globale soit visible par d'autres fichiers</a:t>
            </a:r>
            <a:r>
              <a:rPr lang="en-US" sz="2000" dirty="0">
                <a:solidFill>
                  <a:schemeClr val="tx2"/>
                </a:solidFill>
                <a:cs typeface="Courier New"/>
              </a:rPr>
              <a:t> </a:t>
            </a:r>
            <a:r>
              <a:rPr lang="en-US" sz="2000" b="1" dirty="0">
                <a:latin typeface="Courier"/>
                <a:cs typeface="Courier"/>
              </a:rPr>
              <a:t>.c</a:t>
            </a:r>
            <a:endParaRPr lang="en-GB" dirty="0">
              <a:cs typeface="Courier"/>
            </a:endParaRPr>
          </a:p>
          <a:p>
            <a:pPr lvl="1"/>
            <a:r>
              <a:rPr lang="fr-FR" b="1" dirty="0">
                <a:latin typeface="Arial" charset="0"/>
                <a:cs typeface="ＭＳ Ｐゴシック" charset="0"/>
              </a:rPr>
              <a:t>les définitions </a:t>
            </a:r>
            <a:r>
              <a:rPr lang="fr-FR" dirty="0">
                <a:latin typeface="Arial" charset="0"/>
                <a:cs typeface="ＭＳ Ｐゴシック" charset="0"/>
              </a:rPr>
              <a:t>sont dans le fichier source</a:t>
            </a:r>
            <a:r>
              <a:rPr lang="en-US" dirty="0">
                <a:latin typeface="Arial" charset="0"/>
                <a:cs typeface="ＭＳ Ｐゴシック" charset="0"/>
              </a:rPr>
              <a:t> </a:t>
            </a:r>
            <a:r>
              <a:rPr lang="en-US" b="1" dirty="0">
                <a:latin typeface="Courier"/>
                <a:cs typeface="Courier"/>
              </a:rPr>
              <a:t>code1.c </a:t>
            </a:r>
          </a:p>
          <a:p>
            <a:pPr lvl="1"/>
            <a:r>
              <a:rPr lang="en-US" b="1" dirty="0">
                <a:latin typeface="Courier"/>
                <a:cs typeface="Courier"/>
              </a:rPr>
              <a:t>code2.c</a:t>
            </a:r>
            <a:r>
              <a:rPr lang="fr-FR" b="1" dirty="0">
                <a:latin typeface="Courier"/>
                <a:cs typeface="Courier"/>
              </a:rPr>
              <a:t> </a:t>
            </a:r>
            <a:r>
              <a:rPr lang="fr-FR" dirty="0">
                <a:latin typeface="Courier"/>
                <a:cs typeface="Courier"/>
              </a:rPr>
              <a:t>inclut l'en-tête code1.h de code1.c à travers la directive</a:t>
            </a:r>
            <a:r>
              <a:rPr lang="fr-FR" b="1" dirty="0">
                <a:latin typeface="Courier"/>
                <a:cs typeface="Courier"/>
              </a:rPr>
              <a:t> #include</a:t>
            </a:r>
            <a:endParaRPr lang="en-US" sz="2000" b="1" dirty="0">
              <a:latin typeface="Courier"/>
              <a:cs typeface="Courier"/>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0992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Directive #include</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609600" y="872716"/>
            <a:ext cx="8390892"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cs typeface="ＭＳ Ｐゴシック" charset="0"/>
              </a:rPr>
              <a:t>Syntax:</a:t>
            </a:r>
            <a:endParaRPr lang="en-GB" sz="2000" b="1" dirty="0">
              <a:latin typeface="Arial" charset="0"/>
              <a:ea typeface="Courier New"/>
              <a:cs typeface="ＭＳ Ｐゴシック" charset="0"/>
            </a:endParaRPr>
          </a:p>
          <a:p>
            <a:pPr marL="0" indent="0">
              <a:buNone/>
            </a:pPr>
            <a:r>
              <a:rPr lang="en-GB" sz="2000" b="1" dirty="0">
                <a:latin typeface="Courier New"/>
                <a:ea typeface="Courier New"/>
              </a:rPr>
              <a:t>#include &lt;</a:t>
            </a:r>
            <a:r>
              <a:rPr lang="en-GB" sz="2000" b="1" dirty="0" err="1">
                <a:latin typeface="Courier New"/>
                <a:ea typeface="Courier New"/>
              </a:rPr>
              <a:t>filename.h</a:t>
            </a:r>
            <a:r>
              <a:rPr lang="en-GB" sz="2000" b="1" dirty="0">
                <a:latin typeface="Courier New"/>
                <a:ea typeface="Courier New"/>
              </a:rPr>
              <a:t>&gt;</a:t>
            </a:r>
            <a:r>
              <a:rPr lang="en-GB" sz="2000" dirty="0"/>
              <a:t>   </a:t>
            </a:r>
            <a:r>
              <a:rPr lang="en-GB" sz="2000" b="1" dirty="0"/>
              <a:t>(1)</a:t>
            </a:r>
            <a:endParaRPr lang="en-GB" sz="900" dirty="0"/>
          </a:p>
          <a:p>
            <a:pPr marL="0" indent="0">
              <a:buNone/>
            </a:pPr>
            <a:r>
              <a:rPr lang="en-GB" sz="2000" b="1" dirty="0">
                <a:latin typeface="Courier New"/>
                <a:ea typeface="Courier New"/>
              </a:rPr>
              <a:t>#include "</a:t>
            </a:r>
            <a:r>
              <a:rPr lang="en-GB" sz="2000" b="1" dirty="0" err="1">
                <a:latin typeface="Courier New"/>
                <a:ea typeface="Courier New"/>
              </a:rPr>
              <a:t>filename.h</a:t>
            </a:r>
            <a:r>
              <a:rPr lang="en-GB" sz="2000" b="1" dirty="0">
                <a:latin typeface="Courier New"/>
                <a:ea typeface="Courier New"/>
              </a:rPr>
              <a:t>"</a:t>
            </a:r>
            <a:r>
              <a:rPr lang="en-GB" sz="2000" dirty="0"/>
              <a:t>   </a:t>
            </a:r>
            <a:r>
              <a:rPr lang="en-GB" sz="2000" b="1" dirty="0"/>
              <a:t>(2)</a:t>
            </a:r>
            <a:endParaRPr lang="en-GB" sz="900" dirty="0"/>
          </a:p>
          <a:p>
            <a:endParaRPr lang="en-GB" dirty="0"/>
          </a:p>
          <a:p>
            <a:r>
              <a:rPr lang="en-GB" dirty="0"/>
              <a:t>Description </a:t>
            </a:r>
          </a:p>
          <a:p>
            <a:pPr lvl="1"/>
            <a:r>
              <a:rPr lang="en-GB" dirty="0"/>
              <a:t>(1) and (2): Include the file called </a:t>
            </a:r>
            <a:r>
              <a:rPr lang="en-GB" b="1" dirty="0">
                <a:latin typeface="Courier New"/>
                <a:ea typeface="Courier New"/>
              </a:rPr>
              <a:t>filename </a:t>
            </a:r>
            <a:r>
              <a:rPr lang="en-GB" dirty="0"/>
              <a:t>which is stored in the folder </a:t>
            </a:r>
          </a:p>
          <a:p>
            <a:pPr marL="542925" lvl="1" indent="0">
              <a:buNone/>
            </a:pPr>
            <a:r>
              <a:rPr lang="en-GB" b="1" dirty="0">
                <a:latin typeface="Courier New"/>
                <a:ea typeface="Courier New"/>
              </a:rPr>
              <a:t>/</a:t>
            </a:r>
            <a:r>
              <a:rPr lang="en-GB" b="1" dirty="0" err="1">
                <a:latin typeface="Courier New"/>
                <a:ea typeface="Courier New"/>
              </a:rPr>
              <a:t>usr</a:t>
            </a:r>
            <a:r>
              <a:rPr lang="en-GB" b="1" dirty="0">
                <a:latin typeface="Courier New"/>
                <a:ea typeface="Courier New"/>
              </a:rPr>
              <a:t>/include</a:t>
            </a:r>
            <a:endParaRPr lang="en-GB" dirty="0"/>
          </a:p>
          <a:p>
            <a:pPr lvl="1"/>
            <a:r>
              <a:rPr lang="en-GB" dirty="0"/>
              <a:t>Only (2): Search the file called </a:t>
            </a:r>
            <a:r>
              <a:rPr lang="en-GB" b="1" dirty="0">
                <a:latin typeface="Courier New"/>
                <a:ea typeface="Courier New"/>
              </a:rPr>
              <a:t>filename</a:t>
            </a:r>
            <a:r>
              <a:rPr lang="en-GB" dirty="0"/>
              <a:t> in the</a:t>
            </a:r>
            <a:r>
              <a:rPr lang="en-GB" b="1" dirty="0"/>
              <a:t> working directory</a:t>
            </a:r>
            <a:endParaRPr lang="en-GB" dirty="0"/>
          </a:p>
          <a:p>
            <a:pPr lvl="2"/>
            <a:r>
              <a:rPr lang="en-GB" sz="2000" dirty="0"/>
              <a:t>if the file is saved in another directory you have to give the path </a:t>
            </a:r>
            <a:r>
              <a:rPr lang="en-GB" sz="2000" b="1" dirty="0">
                <a:latin typeface="Courier New"/>
                <a:ea typeface="Courier New"/>
              </a:rPr>
              <a:t>”path/filename”</a:t>
            </a:r>
            <a:endParaRPr lang="en-GB" dirty="0"/>
          </a:p>
          <a:p>
            <a:r>
              <a:rPr lang="en-GB" dirty="0"/>
              <a:t>Functionality:</a:t>
            </a:r>
          </a:p>
          <a:p>
            <a:pPr lvl="1"/>
            <a:r>
              <a:rPr lang="en-GB" dirty="0"/>
              <a:t>I</a:t>
            </a:r>
            <a:r>
              <a:rPr lang="en-GB" sz="2000" dirty="0"/>
              <a:t>ncludes (before compilation) the content of </a:t>
            </a:r>
            <a:r>
              <a:rPr lang="en-GB" b="1" dirty="0">
                <a:latin typeface="Courier New"/>
                <a:ea typeface="Courier New"/>
              </a:rPr>
              <a:t>filename</a:t>
            </a:r>
            <a:r>
              <a:rPr lang="en-GB" sz="2000" dirty="0"/>
              <a:t>. </a:t>
            </a:r>
            <a:r>
              <a:rPr lang="en-GB" dirty="0"/>
              <a:t>This text is treated as it was part of the current file </a:t>
            </a:r>
            <a:r>
              <a:rPr lang="en-GB" b="1" dirty="0">
                <a:latin typeface="Courier"/>
                <a:cs typeface="Courier"/>
              </a:rPr>
              <a:t>.c</a:t>
            </a:r>
            <a:endParaRPr lang="en-GB" sz="2000" b="1" dirty="0">
              <a:latin typeface="Courier"/>
              <a:cs typeface="Courier"/>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2220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charset="0"/>
              </a:rPr>
              <a:t>Communication among .c files: Example</a:t>
            </a:r>
          </a:p>
        </p:txBody>
      </p:sp>
      <p:sp>
        <p:nvSpPr>
          <p:cNvPr id="19" name="Rectangle 3"/>
          <p:cNvSpPr txBox="1">
            <a:spLocks noChangeArrowheads="1"/>
          </p:cNvSpPr>
          <p:nvPr/>
        </p:nvSpPr>
        <p:spPr bwMode="auto">
          <a:xfrm>
            <a:off x="457200" y="980728"/>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solidFill>
                <a:schemeClr val="tx2"/>
              </a:solidFill>
              <a:latin typeface="Arial" charset="0"/>
            </a:endParaRPr>
          </a:p>
        </p:txBody>
      </p:sp>
      <p:sp>
        <p:nvSpPr>
          <p:cNvPr id="2" name="Rectangle 1"/>
          <p:cNvSpPr/>
          <p:nvPr/>
        </p:nvSpPr>
        <p:spPr>
          <a:xfrm>
            <a:off x="143508" y="908720"/>
            <a:ext cx="9901100" cy="1465016"/>
          </a:xfrm>
          <a:prstGeom prst="rect">
            <a:avLst/>
          </a:prstGeom>
        </p:spPr>
        <p:txBody>
          <a:bodyPr wrap="square">
            <a:spAutoFit/>
          </a:bodyPr>
          <a:lstStyle/>
          <a:p>
            <a:pPr algn="l"/>
            <a:r>
              <a:rPr lang="en-US" sz="1600" b="1" dirty="0">
                <a:solidFill>
                  <a:srgbClr val="000000"/>
                </a:solidFill>
                <a:latin typeface="Courier New"/>
                <a:cs typeface="Courier New"/>
              </a:rPr>
              <a:t>#include </a:t>
            </a:r>
            <a:r>
              <a:rPr lang="en-US" sz="1600" b="1" dirty="0">
                <a:solidFill>
                  <a:schemeClr val="tx2"/>
                </a:solidFill>
                <a:latin typeface="Courier New"/>
                <a:cs typeface="Courier New"/>
              </a:rPr>
              <a:t>"</a:t>
            </a:r>
            <a:r>
              <a:rPr lang="en-US" sz="1600" b="1" dirty="0">
                <a:solidFill>
                  <a:srgbClr val="FF0000"/>
                </a:solidFill>
                <a:latin typeface="Courier New"/>
                <a:cs typeface="Courier New"/>
              </a:rPr>
              <a:t>code1.h</a:t>
            </a:r>
            <a:r>
              <a:rPr lang="en-US" sz="1600" b="1" dirty="0">
                <a:solidFill>
                  <a:srgbClr val="000000"/>
                </a:solidFill>
                <a:latin typeface="Courier New"/>
                <a:cs typeface="Courier New"/>
              </a:rPr>
              <a:t>"  </a:t>
            </a:r>
            <a:r>
              <a:rPr lang="en-US" sz="1600" dirty="0">
                <a:solidFill>
                  <a:srgbClr val="000000"/>
                </a:solidFill>
                <a:latin typeface="Courier New"/>
                <a:cs typeface="Courier New"/>
              </a:rPr>
              <a:t>/* Declaration made available here */</a:t>
            </a:r>
          </a:p>
          <a:p>
            <a:pPr algn="l"/>
            <a:endParaRPr lang="en-US" sz="700" b="1" dirty="0">
              <a:solidFill>
                <a:srgbClr val="000000"/>
              </a:solidFill>
              <a:latin typeface="Courier New"/>
              <a:cs typeface="Courier New"/>
            </a:endParaRPr>
          </a:p>
          <a:p>
            <a:pPr algn="l"/>
            <a:r>
              <a:rPr lang="en-US" sz="1600" dirty="0">
                <a:solidFill>
                  <a:srgbClr val="000000"/>
                </a:solidFill>
                <a:latin typeface="Courier New"/>
                <a:cs typeface="Courier New"/>
              </a:rPr>
              <a:t>/* Variable </a:t>
            </a:r>
            <a:r>
              <a:rPr lang="en-US" sz="1600" b="1" dirty="0">
                <a:solidFill>
                  <a:srgbClr val="000000"/>
                </a:solidFill>
                <a:latin typeface="Courier New"/>
                <a:cs typeface="Courier New"/>
              </a:rPr>
              <a:t>defined</a:t>
            </a:r>
            <a:r>
              <a:rPr lang="en-US" sz="1600" dirty="0">
                <a:solidFill>
                  <a:srgbClr val="000000"/>
                </a:solidFill>
                <a:latin typeface="Courier New"/>
                <a:cs typeface="Courier New"/>
              </a:rPr>
              <a:t> and initialized here */</a:t>
            </a:r>
          </a:p>
          <a:p>
            <a:pPr algn="l"/>
            <a:r>
              <a:rPr lang="en-US" sz="1600" b="1" dirty="0" err="1">
                <a:solidFill>
                  <a:srgbClr val="000000"/>
                </a:solidFill>
                <a:latin typeface="Courier New"/>
                <a:cs typeface="Courier New"/>
              </a:rPr>
              <a:t>int</a:t>
            </a:r>
            <a:r>
              <a:rPr lang="en-US" sz="1600" b="1" dirty="0">
                <a:solidFill>
                  <a:srgbClr val="000000"/>
                </a:solidFill>
                <a:latin typeface="Courier New"/>
                <a:cs typeface="Courier New"/>
              </a:rPr>
              <a:t> </a:t>
            </a:r>
            <a:r>
              <a:rPr lang="en-US" sz="1600" b="1" dirty="0" err="1">
                <a:solidFill>
                  <a:srgbClr val="FF0000"/>
                </a:solidFill>
                <a:latin typeface="Courier New"/>
                <a:cs typeface="Courier New"/>
              </a:rPr>
              <a:t>global_variable</a:t>
            </a:r>
            <a:r>
              <a:rPr lang="en-US" sz="1600" b="1" dirty="0">
                <a:solidFill>
                  <a:srgbClr val="000000"/>
                </a:solidFill>
                <a:latin typeface="Courier New"/>
                <a:cs typeface="Courier New"/>
              </a:rPr>
              <a:t> = 1; </a:t>
            </a:r>
            <a:r>
              <a:rPr lang="en-US" sz="1600" dirty="0">
                <a:solidFill>
                  <a:srgbClr val="000000"/>
                </a:solidFill>
                <a:latin typeface="Courier New"/>
                <a:cs typeface="Courier New"/>
              </a:rPr>
              <a:t>/* Definition checked against declaration */</a:t>
            </a:r>
          </a:p>
          <a:p>
            <a:pPr algn="l"/>
            <a:endParaRPr lang="en-US" sz="600" b="1" dirty="0">
              <a:solidFill>
                <a:srgbClr val="000000"/>
              </a:solidFill>
              <a:latin typeface="Courier New"/>
              <a:cs typeface="Courier New"/>
            </a:endParaRPr>
          </a:p>
          <a:p>
            <a:pPr algn="l"/>
            <a:r>
              <a:rPr lang="en-US" sz="1600" b="1" dirty="0" err="1">
                <a:solidFill>
                  <a:srgbClr val="000000"/>
                </a:solidFill>
                <a:latin typeface="Courier New"/>
                <a:cs typeface="Courier New"/>
              </a:rPr>
              <a:t>int</a:t>
            </a:r>
            <a:r>
              <a:rPr lang="en-US" sz="1600" b="1" dirty="0">
                <a:solidFill>
                  <a:srgbClr val="000000"/>
                </a:solidFill>
                <a:latin typeface="Courier New"/>
                <a:cs typeface="Courier New"/>
              </a:rPr>
              <a:t> increment(void) { return </a:t>
            </a:r>
            <a:r>
              <a:rPr lang="en-US" sz="1600" b="1" dirty="0" err="1">
                <a:solidFill>
                  <a:srgbClr val="FF0000"/>
                </a:solidFill>
                <a:latin typeface="Courier New"/>
                <a:cs typeface="Courier New"/>
              </a:rPr>
              <a:t>global_variable</a:t>
            </a:r>
            <a:r>
              <a:rPr lang="en-US" sz="1600" b="1" dirty="0">
                <a:solidFill>
                  <a:srgbClr val="000000"/>
                </a:solidFill>
                <a:latin typeface="Courier New"/>
                <a:cs typeface="Courier New"/>
              </a:rPr>
              <a:t>++; }</a:t>
            </a:r>
          </a:p>
        </p:txBody>
      </p:sp>
      <p:sp>
        <p:nvSpPr>
          <p:cNvPr id="3" name="Rectangle 2"/>
          <p:cNvSpPr/>
          <p:nvPr/>
        </p:nvSpPr>
        <p:spPr bwMode="auto">
          <a:xfrm>
            <a:off x="72008" y="872716"/>
            <a:ext cx="9036496" cy="1836204"/>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chemeClr val="tx2"/>
              </a:solidFill>
              <a:effectLst/>
              <a:latin typeface="Arial" charset="0"/>
            </a:endParaRPr>
          </a:p>
        </p:txBody>
      </p:sp>
      <p:sp>
        <p:nvSpPr>
          <p:cNvPr id="4" name="TextBox 3"/>
          <p:cNvSpPr txBox="1"/>
          <p:nvPr/>
        </p:nvSpPr>
        <p:spPr>
          <a:xfrm>
            <a:off x="8097419" y="908720"/>
            <a:ext cx="1046581" cy="338554"/>
          </a:xfrm>
          <a:prstGeom prst="rect">
            <a:avLst/>
          </a:prstGeom>
          <a:noFill/>
        </p:spPr>
        <p:txBody>
          <a:bodyPr wrap="none" rtlCol="0">
            <a:spAutoFit/>
          </a:bodyPr>
          <a:lstStyle/>
          <a:p>
            <a:r>
              <a:rPr lang="en-US" sz="1600" b="1" dirty="0">
                <a:solidFill>
                  <a:schemeClr val="tx2"/>
                </a:solidFill>
                <a:latin typeface="Courier New"/>
                <a:cs typeface="Courier New"/>
              </a:rPr>
              <a:t>code1.c</a:t>
            </a:r>
          </a:p>
        </p:txBody>
      </p:sp>
      <p:grpSp>
        <p:nvGrpSpPr>
          <p:cNvPr id="11" name="Group 10"/>
          <p:cNvGrpSpPr/>
          <p:nvPr/>
        </p:nvGrpSpPr>
        <p:grpSpPr>
          <a:xfrm>
            <a:off x="94998" y="2600908"/>
            <a:ext cx="9057374" cy="720080"/>
            <a:chOff x="94998" y="2708920"/>
            <a:chExt cx="9057374" cy="720080"/>
          </a:xfrm>
        </p:grpSpPr>
        <p:sp>
          <p:nvSpPr>
            <p:cNvPr id="5" name="Rectangle 4"/>
            <p:cNvSpPr/>
            <p:nvPr/>
          </p:nvSpPr>
          <p:spPr>
            <a:xfrm>
              <a:off x="107504" y="2708920"/>
              <a:ext cx="9036496" cy="634020"/>
            </a:xfrm>
            <a:prstGeom prst="rect">
              <a:avLst/>
            </a:prstGeom>
          </p:spPr>
          <p:txBody>
            <a:bodyPr wrap="square">
              <a:spAutoFit/>
            </a:bodyPr>
            <a:lstStyle/>
            <a:p>
              <a:pPr algn="l"/>
              <a:endParaRPr lang="en-US" sz="1600" b="1" dirty="0">
                <a:solidFill>
                  <a:schemeClr val="tx2"/>
                </a:solidFill>
                <a:latin typeface="Courier New"/>
                <a:cs typeface="Courier New"/>
              </a:endParaRPr>
            </a:p>
            <a:p>
              <a:pPr algn="l"/>
              <a:r>
                <a:rPr lang="en-US" sz="1600" b="1" dirty="0">
                  <a:solidFill>
                    <a:schemeClr val="tx2"/>
                  </a:solidFill>
                  <a:latin typeface="Courier New"/>
                  <a:cs typeface="Courier New"/>
                </a:rPr>
                <a:t>extern </a:t>
              </a:r>
              <a:r>
                <a:rPr lang="en-US" sz="1600" b="1" dirty="0" err="1">
                  <a:solidFill>
                    <a:schemeClr val="tx2"/>
                  </a:solidFill>
                  <a:latin typeface="Courier New"/>
                  <a:cs typeface="Courier New"/>
                </a:rPr>
                <a:t>int</a:t>
              </a:r>
              <a:r>
                <a:rPr lang="en-US" sz="1600" b="1" dirty="0">
                  <a:solidFill>
                    <a:schemeClr val="tx2"/>
                  </a:solidFill>
                  <a:latin typeface="Courier New"/>
                  <a:cs typeface="Courier New"/>
                </a:rPr>
                <a:t> </a:t>
              </a:r>
              <a:r>
                <a:rPr lang="en-US" sz="1600" b="1" dirty="0" err="1">
                  <a:solidFill>
                    <a:srgbClr val="FF0000"/>
                  </a:solidFill>
                  <a:latin typeface="Courier New"/>
                  <a:cs typeface="Courier New"/>
                </a:rPr>
                <a:t>global_variable</a:t>
              </a:r>
              <a:r>
                <a:rPr lang="en-US" sz="1600" b="1" dirty="0">
                  <a:solidFill>
                    <a:schemeClr val="tx2"/>
                  </a:solidFill>
                  <a:latin typeface="Courier New"/>
                  <a:cs typeface="Courier New"/>
                </a:rPr>
                <a:t>;  </a:t>
              </a:r>
              <a:r>
                <a:rPr lang="en-US" sz="1600" dirty="0">
                  <a:solidFill>
                    <a:schemeClr val="tx2"/>
                  </a:solidFill>
                  <a:latin typeface="Courier New"/>
                  <a:cs typeface="Courier New"/>
                </a:rPr>
                <a:t>/* </a:t>
              </a:r>
              <a:r>
                <a:rPr lang="en-US" sz="1600" b="1" dirty="0">
                  <a:solidFill>
                    <a:schemeClr val="tx2"/>
                  </a:solidFill>
                  <a:latin typeface="Courier New"/>
                  <a:cs typeface="Courier New"/>
                </a:rPr>
                <a:t>Declaration</a:t>
              </a:r>
              <a:r>
                <a:rPr lang="en-US" sz="1600" dirty="0">
                  <a:solidFill>
                    <a:schemeClr val="tx2"/>
                  </a:solidFill>
                  <a:latin typeface="Courier New"/>
                  <a:cs typeface="Courier New"/>
                </a:rPr>
                <a:t> of the variable */</a:t>
              </a:r>
            </a:p>
          </p:txBody>
        </p:sp>
        <p:sp>
          <p:nvSpPr>
            <p:cNvPr id="7" name="Rectangle 6"/>
            <p:cNvSpPr/>
            <p:nvPr/>
          </p:nvSpPr>
          <p:spPr>
            <a:xfrm>
              <a:off x="8105791" y="2960948"/>
              <a:ext cx="1046581" cy="338554"/>
            </a:xfrm>
            <a:prstGeom prst="rect">
              <a:avLst/>
            </a:prstGeom>
          </p:spPr>
          <p:txBody>
            <a:bodyPr wrap="none">
              <a:spAutoFit/>
            </a:bodyPr>
            <a:lstStyle/>
            <a:p>
              <a:pPr algn="l"/>
              <a:r>
                <a:rPr lang="en-US" sz="1600" b="1" dirty="0">
                  <a:solidFill>
                    <a:schemeClr val="tx2"/>
                  </a:solidFill>
                  <a:latin typeface="Courier New"/>
                  <a:cs typeface="Courier New"/>
                </a:rPr>
                <a:t>code1.h</a:t>
              </a:r>
            </a:p>
          </p:txBody>
        </p:sp>
        <p:sp>
          <p:nvSpPr>
            <p:cNvPr id="12" name="Rectangle 11"/>
            <p:cNvSpPr/>
            <p:nvPr/>
          </p:nvSpPr>
          <p:spPr bwMode="auto">
            <a:xfrm>
              <a:off x="94998" y="2960948"/>
              <a:ext cx="9049002" cy="468052"/>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1" i="0" u="none" strike="noStrike" cap="none" normalizeH="0" baseline="0" dirty="0">
                <a:ln>
                  <a:noFill/>
                </a:ln>
                <a:solidFill>
                  <a:schemeClr val="tx2"/>
                </a:solidFill>
                <a:effectLst/>
                <a:latin typeface="Arial" charset="0"/>
              </a:endParaRPr>
            </a:p>
          </p:txBody>
        </p:sp>
      </p:grpSp>
      <p:sp>
        <p:nvSpPr>
          <p:cNvPr id="14" name="Rectangle 13"/>
          <p:cNvSpPr/>
          <p:nvPr/>
        </p:nvSpPr>
        <p:spPr bwMode="auto">
          <a:xfrm>
            <a:off x="107504" y="3501008"/>
            <a:ext cx="9036496" cy="216024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chemeClr val="tx2"/>
              </a:solidFill>
              <a:effectLst/>
              <a:latin typeface="Arial" charset="0"/>
            </a:endParaRPr>
          </a:p>
        </p:txBody>
      </p:sp>
      <p:sp>
        <p:nvSpPr>
          <p:cNvPr id="8" name="Rectangle 7"/>
          <p:cNvSpPr/>
          <p:nvPr/>
        </p:nvSpPr>
        <p:spPr>
          <a:xfrm>
            <a:off x="143508" y="3465004"/>
            <a:ext cx="9000492" cy="1926681"/>
          </a:xfrm>
          <a:prstGeom prst="rect">
            <a:avLst/>
          </a:prstGeom>
        </p:spPr>
        <p:txBody>
          <a:bodyPr wrap="square">
            <a:spAutoFit/>
          </a:bodyPr>
          <a:lstStyle/>
          <a:p>
            <a:pPr algn="l"/>
            <a:r>
              <a:rPr lang="en-US" sz="1600" b="1" dirty="0">
                <a:solidFill>
                  <a:schemeClr val="tx2"/>
                </a:solidFill>
                <a:latin typeface="Courier New"/>
                <a:cs typeface="Courier New"/>
              </a:rPr>
              <a:t>#include "</a:t>
            </a:r>
            <a:r>
              <a:rPr lang="en-US" sz="1600" b="1" dirty="0">
                <a:solidFill>
                  <a:srgbClr val="FF0000"/>
                </a:solidFill>
                <a:latin typeface="Courier New"/>
                <a:cs typeface="Courier New"/>
              </a:rPr>
              <a:t>code1.h</a:t>
            </a:r>
            <a:r>
              <a:rPr lang="en-US" sz="1600" b="1" dirty="0">
                <a:solidFill>
                  <a:srgbClr val="000000"/>
                </a:solidFill>
                <a:latin typeface="Courier New"/>
                <a:cs typeface="Courier New"/>
              </a:rPr>
              <a:t>"</a:t>
            </a:r>
            <a:endParaRPr lang="en-US" sz="1600" b="1" dirty="0">
              <a:solidFill>
                <a:schemeClr val="tx2"/>
              </a:solidFill>
              <a:latin typeface="Courier New"/>
              <a:cs typeface="Courier New"/>
            </a:endParaRPr>
          </a:p>
          <a:p>
            <a:pPr algn="l"/>
            <a:r>
              <a:rPr lang="en-US" sz="1600" b="1" dirty="0">
                <a:solidFill>
                  <a:schemeClr val="tx2"/>
                </a:solidFill>
                <a:latin typeface="Courier New"/>
                <a:cs typeface="Courier New"/>
              </a:rPr>
              <a:t>#include &lt;</a:t>
            </a:r>
            <a:r>
              <a:rPr lang="en-US" sz="1600" b="1" dirty="0" err="1">
                <a:solidFill>
                  <a:schemeClr val="tx2"/>
                </a:solidFill>
                <a:latin typeface="Courier New"/>
                <a:cs typeface="Courier New"/>
              </a:rPr>
              <a:t>stdio.h</a:t>
            </a:r>
            <a:r>
              <a:rPr lang="en-US" sz="1600" b="1" dirty="0">
                <a:solidFill>
                  <a:schemeClr val="tx2"/>
                </a:solidFill>
                <a:latin typeface="Courier New"/>
                <a:cs typeface="Courier New"/>
              </a:rPr>
              <a:t>&gt;</a:t>
            </a:r>
          </a:p>
          <a:p>
            <a:pPr algn="l"/>
            <a:endParaRPr lang="en-US" sz="600" b="1" dirty="0">
              <a:solidFill>
                <a:schemeClr val="tx2"/>
              </a:solidFill>
              <a:latin typeface="Courier New"/>
              <a:cs typeface="Courier New"/>
            </a:endParaRPr>
          </a:p>
          <a:p>
            <a:pPr algn="l"/>
            <a:r>
              <a:rPr lang="en-US" sz="1600" b="1" dirty="0">
                <a:solidFill>
                  <a:schemeClr val="tx2"/>
                </a:solidFill>
                <a:latin typeface="Courier New"/>
                <a:cs typeface="Courier New"/>
              </a:rPr>
              <a:t>void </a:t>
            </a:r>
            <a:r>
              <a:rPr lang="en-US" sz="1600" b="1" dirty="0" err="1">
                <a:solidFill>
                  <a:schemeClr val="tx2"/>
                </a:solidFill>
                <a:latin typeface="Courier New"/>
                <a:cs typeface="Courier New"/>
              </a:rPr>
              <a:t>use_it</a:t>
            </a:r>
            <a:r>
              <a:rPr lang="en-US" sz="1600" b="1" dirty="0">
                <a:solidFill>
                  <a:schemeClr val="tx2"/>
                </a:solidFill>
                <a:latin typeface="Courier New"/>
                <a:cs typeface="Courier New"/>
              </a:rPr>
              <a:t>(void)</a:t>
            </a:r>
          </a:p>
          <a:p>
            <a:pPr algn="l"/>
            <a:r>
              <a:rPr lang="en-US" sz="1600" b="1" dirty="0">
                <a:solidFill>
                  <a:schemeClr val="tx2"/>
                </a:solidFill>
                <a:latin typeface="Courier New"/>
                <a:cs typeface="Courier New"/>
              </a:rPr>
              <a:t>{</a:t>
            </a:r>
          </a:p>
          <a:p>
            <a:pPr algn="l"/>
            <a:r>
              <a:rPr lang="en-US" sz="1600" b="1" dirty="0">
                <a:solidFill>
                  <a:schemeClr val="tx2"/>
                </a:solidFill>
                <a:latin typeface="Courier New"/>
                <a:cs typeface="Courier New"/>
              </a:rPr>
              <a:t>    </a:t>
            </a:r>
            <a:r>
              <a:rPr lang="en-US" sz="1600" b="1" dirty="0" err="1">
                <a:solidFill>
                  <a:schemeClr val="tx2"/>
                </a:solidFill>
                <a:latin typeface="Courier New"/>
                <a:cs typeface="Courier New"/>
              </a:rPr>
              <a:t>printf</a:t>
            </a:r>
            <a:r>
              <a:rPr lang="en-US" sz="1600" b="1" dirty="0">
                <a:solidFill>
                  <a:schemeClr val="tx2"/>
                </a:solidFill>
                <a:latin typeface="Courier New"/>
                <a:cs typeface="Courier New"/>
              </a:rPr>
              <a:t>("Global variable: %d\n", </a:t>
            </a:r>
            <a:r>
              <a:rPr lang="en-US" sz="1600" b="1" dirty="0" err="1">
                <a:solidFill>
                  <a:srgbClr val="FF0000"/>
                </a:solidFill>
                <a:latin typeface="Courier New"/>
                <a:cs typeface="Courier New"/>
              </a:rPr>
              <a:t>global_variable</a:t>
            </a:r>
            <a:r>
              <a:rPr lang="en-US" sz="1600" b="1" dirty="0">
                <a:solidFill>
                  <a:schemeClr val="tx2"/>
                </a:solidFill>
                <a:latin typeface="Courier New"/>
                <a:cs typeface="Courier New"/>
              </a:rPr>
              <a:t>);</a:t>
            </a:r>
          </a:p>
          <a:p>
            <a:pPr algn="l"/>
            <a:r>
              <a:rPr lang="en-US" sz="1600" b="1" dirty="0">
                <a:solidFill>
                  <a:schemeClr val="tx2"/>
                </a:solidFill>
                <a:latin typeface="Courier New"/>
                <a:cs typeface="Courier New"/>
              </a:rPr>
              <a:t>}</a:t>
            </a:r>
          </a:p>
        </p:txBody>
      </p:sp>
      <p:sp>
        <p:nvSpPr>
          <p:cNvPr id="15" name="Rectangle 14"/>
          <p:cNvSpPr/>
          <p:nvPr/>
        </p:nvSpPr>
        <p:spPr>
          <a:xfrm>
            <a:off x="8097419" y="3501008"/>
            <a:ext cx="1046581" cy="338554"/>
          </a:xfrm>
          <a:prstGeom prst="rect">
            <a:avLst/>
          </a:prstGeom>
        </p:spPr>
        <p:txBody>
          <a:bodyPr wrap="none">
            <a:spAutoFit/>
          </a:bodyPr>
          <a:lstStyle/>
          <a:p>
            <a:pPr algn="l"/>
            <a:r>
              <a:rPr lang="en-US" sz="1600" b="1" dirty="0">
                <a:solidFill>
                  <a:schemeClr val="tx2"/>
                </a:solidFill>
                <a:latin typeface="Courier New"/>
                <a:cs typeface="Courier New"/>
              </a:rPr>
              <a:t>code2.c</a:t>
            </a:r>
          </a:p>
        </p:txBody>
      </p:sp>
      <p:sp>
        <p:nvSpPr>
          <p:cNvPr id="1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371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charset="0"/>
              </a:rPr>
              <a:t>Communication entre </a:t>
            </a:r>
            <a:r>
              <a:rPr lang="en-US" sz="2800" dirty="0" err="1">
                <a:latin typeface="Arial" charset="0"/>
              </a:rPr>
              <a:t>fichiers</a:t>
            </a:r>
            <a:r>
              <a:rPr lang="en-US" sz="2800" dirty="0">
                <a:latin typeface="Arial" charset="0"/>
              </a:rPr>
              <a:t> .c : </a:t>
            </a:r>
            <a:r>
              <a:rPr lang="en-US" sz="2800" dirty="0" err="1">
                <a:latin typeface="Arial" charset="0"/>
              </a:rPr>
              <a:t>Exemple</a:t>
            </a:r>
            <a:endParaRPr lang="en-US" sz="2800" dirty="0">
              <a:latin typeface="Arial" charset="0"/>
            </a:endParaRPr>
          </a:p>
        </p:txBody>
      </p:sp>
      <p:sp>
        <p:nvSpPr>
          <p:cNvPr id="19" name="Rectangle 3"/>
          <p:cNvSpPr txBox="1">
            <a:spLocks noChangeArrowheads="1"/>
          </p:cNvSpPr>
          <p:nvPr/>
        </p:nvSpPr>
        <p:spPr bwMode="auto">
          <a:xfrm>
            <a:off x="457200" y="980728"/>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grpSp>
        <p:nvGrpSpPr>
          <p:cNvPr id="10" name="Group 9"/>
          <p:cNvGrpSpPr/>
          <p:nvPr/>
        </p:nvGrpSpPr>
        <p:grpSpPr>
          <a:xfrm>
            <a:off x="72008" y="872716"/>
            <a:ext cx="9972600" cy="792088"/>
            <a:chOff x="72008" y="872716"/>
            <a:chExt cx="9972600" cy="792088"/>
          </a:xfrm>
        </p:grpSpPr>
        <p:sp>
          <p:nvSpPr>
            <p:cNvPr id="2" name="Rectangle 1"/>
            <p:cNvSpPr/>
            <p:nvPr/>
          </p:nvSpPr>
          <p:spPr>
            <a:xfrm>
              <a:off x="143508" y="908720"/>
              <a:ext cx="9901100" cy="634020"/>
            </a:xfrm>
            <a:prstGeom prst="rect">
              <a:avLst/>
            </a:prstGeom>
          </p:spPr>
          <p:txBody>
            <a:bodyPr wrap="square">
              <a:spAutoFit/>
            </a:bodyPr>
            <a:lstStyle/>
            <a:p>
              <a:pPr algn="l"/>
              <a:r>
                <a:rPr lang="en-US" sz="1600" b="1" dirty="0">
                  <a:latin typeface="Courier New"/>
                  <a:cs typeface="Courier New"/>
                </a:rPr>
                <a:t>extern void </a:t>
              </a:r>
              <a:r>
                <a:rPr lang="en-US" sz="1600" b="1" dirty="0" err="1">
                  <a:solidFill>
                    <a:srgbClr val="3366FF"/>
                  </a:solidFill>
                  <a:latin typeface="Courier New"/>
                  <a:cs typeface="Courier New"/>
                </a:rPr>
                <a:t>use_it</a:t>
              </a:r>
              <a:r>
                <a:rPr lang="en-US" sz="1600" b="1" dirty="0">
                  <a:latin typeface="Courier New"/>
                  <a:cs typeface="Courier New"/>
                </a:rPr>
                <a:t>(void); </a:t>
              </a:r>
            </a:p>
            <a:p>
              <a:pPr algn="l"/>
              <a:r>
                <a:rPr lang="en-US" sz="1600" b="1" dirty="0">
                  <a:latin typeface="Courier New"/>
                  <a:cs typeface="Courier New"/>
                </a:rPr>
                <a:t>extern </a:t>
              </a:r>
              <a:r>
                <a:rPr lang="en-US" sz="1600" b="1" dirty="0" err="1">
                  <a:latin typeface="Courier New"/>
                  <a:cs typeface="Courier New"/>
                </a:rPr>
                <a:t>int</a:t>
              </a:r>
              <a:r>
                <a:rPr lang="en-US" sz="1600" b="1" dirty="0">
                  <a:latin typeface="Courier New"/>
                  <a:cs typeface="Courier New"/>
                </a:rPr>
                <a:t> </a:t>
              </a:r>
              <a:r>
                <a:rPr lang="en-US" sz="1600" b="1" dirty="0">
                  <a:solidFill>
                    <a:srgbClr val="3366FF"/>
                  </a:solidFill>
                  <a:latin typeface="Courier New"/>
                  <a:cs typeface="Courier New"/>
                </a:rPr>
                <a:t>increment</a:t>
              </a:r>
              <a:r>
                <a:rPr lang="en-US" sz="1600" b="1" dirty="0">
                  <a:latin typeface="Courier New"/>
                  <a:cs typeface="Courier New"/>
                </a:rPr>
                <a:t>(void);</a:t>
              </a:r>
            </a:p>
          </p:txBody>
        </p:sp>
        <p:sp>
          <p:nvSpPr>
            <p:cNvPr id="3" name="Rectangle 2"/>
            <p:cNvSpPr/>
            <p:nvPr/>
          </p:nvSpPr>
          <p:spPr bwMode="auto">
            <a:xfrm>
              <a:off x="72008" y="872716"/>
              <a:ext cx="9036496" cy="792088"/>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Courier New"/>
                <a:cs typeface="Courier New"/>
              </a:endParaRPr>
            </a:p>
          </p:txBody>
        </p:sp>
        <p:sp>
          <p:nvSpPr>
            <p:cNvPr id="4" name="TextBox 3"/>
            <p:cNvSpPr txBox="1"/>
            <p:nvPr/>
          </p:nvSpPr>
          <p:spPr>
            <a:xfrm>
              <a:off x="8158984" y="908720"/>
              <a:ext cx="923450" cy="338554"/>
            </a:xfrm>
            <a:prstGeom prst="rect">
              <a:avLst/>
            </a:prstGeom>
            <a:noFill/>
          </p:spPr>
          <p:txBody>
            <a:bodyPr wrap="none" rtlCol="0">
              <a:spAutoFit/>
            </a:bodyPr>
            <a:lstStyle/>
            <a:p>
              <a:r>
                <a:rPr lang="en-US" sz="1600" b="1" dirty="0" err="1">
                  <a:latin typeface="Courier New"/>
                  <a:cs typeface="Courier New"/>
                </a:rPr>
                <a:t>prog.h</a:t>
              </a:r>
              <a:endParaRPr lang="en-US" sz="1600" b="1" dirty="0">
                <a:latin typeface="Courier New"/>
                <a:cs typeface="Courier New"/>
              </a:endParaRPr>
            </a:p>
          </p:txBody>
        </p:sp>
      </p:grpSp>
      <p:sp>
        <p:nvSpPr>
          <p:cNvPr id="14" name="Rectangle 13"/>
          <p:cNvSpPr/>
          <p:nvPr/>
        </p:nvSpPr>
        <p:spPr bwMode="auto">
          <a:xfrm>
            <a:off x="35496" y="2276872"/>
            <a:ext cx="9036496" cy="3852428"/>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9" name="Group 8"/>
          <p:cNvGrpSpPr/>
          <p:nvPr/>
        </p:nvGrpSpPr>
        <p:grpSpPr>
          <a:xfrm>
            <a:off x="143508" y="2240868"/>
            <a:ext cx="9000492" cy="554578"/>
            <a:chOff x="143508" y="3537012"/>
            <a:chExt cx="9000492" cy="554578"/>
          </a:xfrm>
        </p:grpSpPr>
        <p:sp>
          <p:nvSpPr>
            <p:cNvPr id="8" name="Rectangle 7"/>
            <p:cNvSpPr/>
            <p:nvPr/>
          </p:nvSpPr>
          <p:spPr>
            <a:xfrm>
              <a:off x="143508" y="3753036"/>
              <a:ext cx="9000492" cy="338554"/>
            </a:xfrm>
            <a:prstGeom prst="rect">
              <a:avLst/>
            </a:prstGeom>
          </p:spPr>
          <p:txBody>
            <a:bodyPr wrap="square">
              <a:spAutoFit/>
            </a:bodyPr>
            <a:lstStyle/>
            <a:p>
              <a:pPr algn="l"/>
              <a:endParaRPr lang="en-US" sz="1600" b="1" dirty="0">
                <a:latin typeface="Courier New"/>
                <a:cs typeface="Courier New"/>
              </a:endParaRPr>
            </a:p>
          </p:txBody>
        </p:sp>
        <p:sp>
          <p:nvSpPr>
            <p:cNvPr id="15" name="Rectangle 14"/>
            <p:cNvSpPr/>
            <p:nvPr/>
          </p:nvSpPr>
          <p:spPr>
            <a:xfrm>
              <a:off x="8097419" y="3537012"/>
              <a:ext cx="923450" cy="338554"/>
            </a:xfrm>
            <a:prstGeom prst="rect">
              <a:avLst/>
            </a:prstGeom>
          </p:spPr>
          <p:txBody>
            <a:bodyPr wrap="none">
              <a:spAutoFit/>
            </a:bodyPr>
            <a:lstStyle/>
            <a:p>
              <a:pPr algn="l"/>
              <a:r>
                <a:rPr lang="en-US" sz="1600" b="1" dirty="0" err="1">
                  <a:latin typeface="Courier New"/>
                  <a:cs typeface="Courier New"/>
                </a:rPr>
                <a:t>prog.c</a:t>
              </a:r>
              <a:endParaRPr lang="en-US" sz="1600" b="1" dirty="0">
                <a:latin typeface="Courier New"/>
                <a:cs typeface="Courier New"/>
              </a:endParaRPr>
            </a:p>
          </p:txBody>
        </p:sp>
      </p:grpSp>
      <p:sp>
        <p:nvSpPr>
          <p:cNvPr id="6" name="Rectangle 5"/>
          <p:cNvSpPr/>
          <p:nvPr/>
        </p:nvSpPr>
        <p:spPr>
          <a:xfrm>
            <a:off x="0" y="2324602"/>
            <a:ext cx="9324528" cy="3717941"/>
          </a:xfrm>
          <a:prstGeom prst="rect">
            <a:avLst/>
          </a:prstGeom>
        </p:spPr>
        <p:txBody>
          <a:bodyPr wrap="square">
            <a:spAutoFit/>
          </a:bodyPr>
          <a:lstStyle/>
          <a:p>
            <a:pPr algn="just"/>
            <a:r>
              <a:rPr lang="en-US" sz="1600" b="1" dirty="0">
                <a:latin typeface="Courier New"/>
                <a:cs typeface="Courier New"/>
              </a:rPr>
              <a:t>#include "</a:t>
            </a:r>
            <a:r>
              <a:rPr lang="en-US" sz="1600" b="1" dirty="0">
                <a:solidFill>
                  <a:srgbClr val="FF0000"/>
                </a:solidFill>
                <a:latin typeface="Courier New"/>
                <a:cs typeface="Courier New"/>
              </a:rPr>
              <a:t>code1.h</a:t>
            </a:r>
            <a:r>
              <a:rPr lang="en-US" sz="1600" b="1" dirty="0">
                <a:latin typeface="Courier New"/>
                <a:cs typeface="Courier New"/>
              </a:rPr>
              <a:t>"</a:t>
            </a:r>
          </a:p>
          <a:p>
            <a:pPr algn="just"/>
            <a:r>
              <a:rPr lang="en-US" sz="1600" b="1" dirty="0">
                <a:latin typeface="Courier New"/>
                <a:cs typeface="Courier New"/>
              </a:rPr>
              <a:t>#include "</a:t>
            </a:r>
            <a:r>
              <a:rPr lang="en-US" sz="1600" b="1" dirty="0" err="1">
                <a:solidFill>
                  <a:schemeClr val="accent1"/>
                </a:solidFill>
                <a:latin typeface="Courier New"/>
                <a:cs typeface="Courier New"/>
              </a:rPr>
              <a:t>prog.h</a:t>
            </a:r>
            <a:r>
              <a:rPr lang="en-US" sz="1600" b="1" dirty="0">
                <a:latin typeface="Courier New"/>
                <a:cs typeface="Courier New"/>
              </a:rPr>
              <a:t>"</a:t>
            </a:r>
          </a:p>
          <a:p>
            <a:pPr algn="just"/>
            <a:r>
              <a:rPr lang="en-US" sz="1600" b="1" dirty="0">
                <a:latin typeface="Courier New"/>
                <a:cs typeface="Courier New"/>
              </a:rPr>
              <a:t>#include &lt;</a:t>
            </a:r>
            <a:r>
              <a:rPr lang="en-US" sz="1600" b="1" dirty="0" err="1">
                <a:latin typeface="Courier New"/>
                <a:cs typeface="Courier New"/>
              </a:rPr>
              <a:t>stdio.h</a:t>
            </a:r>
            <a:r>
              <a:rPr lang="en-US" sz="1600" b="1" dirty="0">
                <a:latin typeface="Courier New"/>
                <a:cs typeface="Courier New"/>
              </a:rPr>
              <a:t>&gt;</a:t>
            </a:r>
          </a:p>
          <a:p>
            <a:pPr algn="just"/>
            <a:endParaRPr lang="en-US" sz="700" b="1" dirty="0">
              <a:latin typeface="Courier New"/>
              <a:cs typeface="Courier New"/>
            </a:endParaRPr>
          </a:p>
          <a:p>
            <a:pPr algn="just"/>
            <a:r>
              <a:rPr lang="en-US" sz="1600" b="1" dirty="0" err="1">
                <a:latin typeface="Courier New"/>
                <a:cs typeface="Courier New"/>
              </a:rPr>
              <a:t>int</a:t>
            </a:r>
            <a:r>
              <a:rPr lang="en-US" sz="1600" b="1" dirty="0">
                <a:latin typeface="Courier New"/>
                <a:cs typeface="Courier New"/>
              </a:rPr>
              <a:t> main(void)</a:t>
            </a:r>
          </a:p>
          <a:p>
            <a:pPr algn="just"/>
            <a:r>
              <a:rPr lang="en-US" sz="1600" b="1" dirty="0">
                <a:latin typeface="Courier New"/>
                <a:cs typeface="Courier New"/>
              </a:rPr>
              <a:t>{</a:t>
            </a:r>
          </a:p>
          <a:p>
            <a:pPr algn="just"/>
            <a:r>
              <a:rPr lang="en-US" sz="1600" b="1" dirty="0">
                <a:latin typeface="Courier New"/>
                <a:cs typeface="Courier New"/>
              </a:rPr>
              <a:t>    </a:t>
            </a:r>
            <a:r>
              <a:rPr lang="en-US" sz="1600" b="1" dirty="0" err="1">
                <a:solidFill>
                  <a:schemeClr val="accent1"/>
                </a:solidFill>
                <a:latin typeface="Courier New"/>
                <a:cs typeface="Courier New"/>
              </a:rPr>
              <a:t>use_it</a:t>
            </a:r>
            <a:r>
              <a:rPr lang="en-US" sz="1600" b="1" dirty="0">
                <a:latin typeface="Courier New"/>
                <a:cs typeface="Courier New"/>
              </a:rPr>
              <a:t>();</a:t>
            </a:r>
          </a:p>
          <a:p>
            <a:pPr algn="just"/>
            <a:r>
              <a:rPr lang="en-US" sz="1600" b="1" dirty="0">
                <a:latin typeface="Courier New"/>
                <a:cs typeface="Courier New"/>
              </a:rPr>
              <a:t>    </a:t>
            </a:r>
            <a:r>
              <a:rPr lang="en-US" sz="1600" b="1" dirty="0" err="1">
                <a:solidFill>
                  <a:srgbClr val="FF0000"/>
                </a:solidFill>
                <a:latin typeface="Courier New"/>
                <a:cs typeface="Courier New"/>
              </a:rPr>
              <a:t>global_variable</a:t>
            </a:r>
            <a:r>
              <a:rPr lang="en-US" sz="1600" b="1" dirty="0">
                <a:latin typeface="Courier New"/>
                <a:cs typeface="Courier New"/>
              </a:rPr>
              <a:t> += 10;</a:t>
            </a:r>
          </a:p>
          <a:p>
            <a:pPr algn="just"/>
            <a:r>
              <a:rPr lang="en-US" sz="1600" b="1" dirty="0">
                <a:latin typeface="Courier New"/>
                <a:cs typeface="Courier New"/>
              </a:rPr>
              <a:t>    </a:t>
            </a:r>
            <a:r>
              <a:rPr lang="en-US" sz="1600" b="1" dirty="0" err="1">
                <a:solidFill>
                  <a:schemeClr val="accent1"/>
                </a:solidFill>
                <a:latin typeface="Courier New"/>
                <a:cs typeface="Courier New"/>
              </a:rPr>
              <a:t>use_it</a:t>
            </a:r>
            <a:r>
              <a:rPr lang="en-US" sz="1600" b="1" dirty="0">
                <a:latin typeface="Courier New"/>
                <a:cs typeface="Courier New"/>
              </a:rPr>
              <a:t>();</a:t>
            </a:r>
          </a:p>
          <a:p>
            <a:pPr algn="just"/>
            <a:r>
              <a:rPr lang="en-US" sz="1600" b="1" dirty="0">
                <a:solidFill>
                  <a:srgbClr val="3366FF"/>
                </a:solidFill>
                <a:latin typeface="Courier New"/>
                <a:cs typeface="Courier New"/>
              </a:rPr>
              <a:t>    increment</a:t>
            </a:r>
            <a:r>
              <a:rPr lang="en-US" sz="1600" b="1" dirty="0">
                <a:latin typeface="Courier New"/>
                <a:cs typeface="Courier New"/>
              </a:rPr>
              <a:t>();</a:t>
            </a:r>
          </a:p>
          <a:p>
            <a:pPr algn="just"/>
            <a:r>
              <a:rPr lang="en-US" sz="1600" b="1" dirty="0">
                <a:latin typeface="Courier New"/>
                <a:cs typeface="Courier New"/>
              </a:rPr>
              <a:t>    </a:t>
            </a:r>
            <a:r>
              <a:rPr lang="en-US" sz="1600" b="1" dirty="0" err="1">
                <a:solidFill>
                  <a:schemeClr val="accent1"/>
                </a:solidFill>
                <a:latin typeface="Courier New"/>
                <a:cs typeface="Courier New"/>
              </a:rPr>
              <a:t>use_it</a:t>
            </a:r>
            <a:r>
              <a:rPr lang="en-US" sz="1600" b="1" dirty="0">
                <a:latin typeface="Courier New"/>
                <a:cs typeface="Courier New"/>
              </a:rPr>
              <a:t>();</a:t>
            </a:r>
          </a:p>
          <a:p>
            <a:pPr algn="just"/>
            <a:r>
              <a:rPr lang="en-US" sz="1600" b="1" dirty="0">
                <a:latin typeface="Courier New"/>
                <a:cs typeface="Courier New"/>
              </a:rPr>
              <a:t>    return 0;</a:t>
            </a:r>
          </a:p>
          <a:p>
            <a:pPr algn="just"/>
            <a:r>
              <a:rPr lang="en-US" sz="1600" b="1" dirty="0">
                <a:latin typeface="Courier New"/>
                <a:cs typeface="Courier New"/>
              </a:rPr>
              <a:t>}</a:t>
            </a:r>
          </a:p>
        </p:txBody>
      </p:sp>
      <p:sp>
        <p:nvSpPr>
          <p:cNvPr id="1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178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2400"/>
            <a:ext cx="8515672" cy="533400"/>
          </a:xfrm>
        </p:spPr>
        <p:txBody>
          <a:bodyPr/>
          <a:lstStyle/>
          <a:p>
            <a:r>
              <a:rPr lang="en-US" sz="2800" dirty="0">
                <a:latin typeface="Arial" charset="0"/>
              </a:rPr>
              <a:t>Communication entre </a:t>
            </a:r>
            <a:r>
              <a:rPr lang="en-US" sz="2800" dirty="0" err="1">
                <a:latin typeface="Arial" charset="0"/>
              </a:rPr>
              <a:t>fichiers</a:t>
            </a:r>
            <a:r>
              <a:rPr lang="en-US" sz="2800" dirty="0">
                <a:latin typeface="Arial" charset="0"/>
              </a:rPr>
              <a:t> .c : </a:t>
            </a:r>
            <a:r>
              <a:rPr lang="en-US" sz="2800" dirty="0" err="1">
                <a:latin typeface="Arial" charset="0"/>
              </a:rPr>
              <a:t>Exemple</a:t>
            </a:r>
            <a:endParaRPr lang="en-US" sz="2800" dirty="0">
              <a:latin typeface="Arial" charset="0"/>
            </a:endParaRPr>
          </a:p>
        </p:txBody>
      </p:sp>
      <p:sp>
        <p:nvSpPr>
          <p:cNvPr id="19" name="Rectangle 3"/>
          <p:cNvSpPr txBox="1">
            <a:spLocks noChangeArrowheads="1"/>
          </p:cNvSpPr>
          <p:nvPr/>
        </p:nvSpPr>
        <p:spPr bwMode="auto">
          <a:xfrm>
            <a:off x="457200" y="980728"/>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solidFill>
                <a:schemeClr val="tx2"/>
              </a:solidFill>
              <a:latin typeface="Arial" charset="0"/>
            </a:endParaRPr>
          </a:p>
        </p:txBody>
      </p:sp>
      <p:sp>
        <p:nvSpPr>
          <p:cNvPr id="2" name="Rectangle 1"/>
          <p:cNvSpPr/>
          <p:nvPr/>
        </p:nvSpPr>
        <p:spPr>
          <a:xfrm>
            <a:off x="143508" y="908720"/>
            <a:ext cx="9901100" cy="1760482"/>
          </a:xfrm>
          <a:prstGeom prst="rect">
            <a:avLst/>
          </a:prstGeom>
        </p:spPr>
        <p:txBody>
          <a:bodyPr wrap="square">
            <a:spAutoFit/>
          </a:bodyPr>
          <a:lstStyle/>
          <a:p>
            <a:pPr algn="l"/>
            <a:r>
              <a:rPr lang="en-US" sz="1600" b="1" dirty="0">
                <a:solidFill>
                  <a:srgbClr val="000000"/>
                </a:solidFill>
                <a:latin typeface="Courier New"/>
                <a:cs typeface="Courier New"/>
              </a:rPr>
              <a:t>#include </a:t>
            </a:r>
            <a:r>
              <a:rPr lang="en-US" sz="1600" b="1" dirty="0">
                <a:solidFill>
                  <a:schemeClr val="tx2"/>
                </a:solidFill>
                <a:latin typeface="Courier New"/>
                <a:cs typeface="Courier New"/>
              </a:rPr>
              <a:t>"</a:t>
            </a:r>
            <a:r>
              <a:rPr lang="en-US" sz="1600" b="1" dirty="0">
                <a:solidFill>
                  <a:srgbClr val="FF0000"/>
                </a:solidFill>
                <a:latin typeface="Courier New"/>
                <a:cs typeface="Courier New"/>
              </a:rPr>
              <a:t>code1.h</a:t>
            </a:r>
            <a:r>
              <a:rPr lang="en-US" sz="1600" b="1" dirty="0">
                <a:solidFill>
                  <a:srgbClr val="000000"/>
                </a:solidFill>
                <a:latin typeface="Courier New"/>
                <a:cs typeface="Courier New"/>
              </a:rPr>
              <a:t>"  </a:t>
            </a:r>
            <a:r>
              <a:rPr lang="en-US" sz="1600" dirty="0">
                <a:solidFill>
                  <a:srgbClr val="000000"/>
                </a:solidFill>
                <a:latin typeface="Courier New"/>
                <a:cs typeface="Courier New"/>
              </a:rPr>
              <a:t>/* Declaration made available here */</a:t>
            </a:r>
          </a:p>
          <a:p>
            <a:pPr algn="l"/>
            <a:r>
              <a:rPr lang="en-US" sz="1600" b="1" dirty="0">
                <a:solidFill>
                  <a:srgbClr val="000000"/>
                </a:solidFill>
                <a:latin typeface="Courier New"/>
                <a:cs typeface="Courier New"/>
              </a:rPr>
              <a:t>#include </a:t>
            </a:r>
            <a:r>
              <a:rPr lang="en-US" sz="1600" b="1" dirty="0">
                <a:solidFill>
                  <a:schemeClr val="tx2"/>
                </a:solidFill>
                <a:latin typeface="Courier New"/>
                <a:cs typeface="Courier New"/>
              </a:rPr>
              <a:t>"</a:t>
            </a:r>
            <a:r>
              <a:rPr lang="en-US" sz="1600" b="1" dirty="0" err="1">
                <a:solidFill>
                  <a:srgbClr val="3366FF"/>
                </a:solidFill>
                <a:latin typeface="Courier New"/>
                <a:cs typeface="Courier New"/>
              </a:rPr>
              <a:t>prog</a:t>
            </a:r>
            <a:r>
              <a:rPr lang="en-US" sz="1600" b="1" dirty="0" err="1">
                <a:solidFill>
                  <a:srgbClr val="000000"/>
                </a:solidFill>
                <a:latin typeface="Courier New"/>
                <a:cs typeface="Courier New"/>
              </a:rPr>
              <a:t>.h</a:t>
            </a:r>
            <a:r>
              <a:rPr lang="en-US" sz="1600" b="1" dirty="0">
                <a:solidFill>
                  <a:srgbClr val="000000"/>
                </a:solidFill>
                <a:latin typeface="Courier New"/>
                <a:cs typeface="Courier New"/>
              </a:rPr>
              <a:t>"</a:t>
            </a:r>
            <a:endParaRPr lang="en-US" sz="1600" dirty="0">
              <a:solidFill>
                <a:srgbClr val="000000"/>
              </a:solidFill>
              <a:latin typeface="Courier New"/>
              <a:cs typeface="Courier New"/>
            </a:endParaRPr>
          </a:p>
          <a:p>
            <a:pPr algn="l"/>
            <a:endParaRPr lang="en-US" sz="700" b="1" dirty="0">
              <a:solidFill>
                <a:srgbClr val="000000"/>
              </a:solidFill>
              <a:latin typeface="Courier New"/>
              <a:cs typeface="Courier New"/>
            </a:endParaRPr>
          </a:p>
          <a:p>
            <a:pPr algn="l"/>
            <a:r>
              <a:rPr lang="en-US" sz="1600" dirty="0">
                <a:solidFill>
                  <a:srgbClr val="000000"/>
                </a:solidFill>
                <a:latin typeface="Courier New"/>
                <a:cs typeface="Courier New"/>
              </a:rPr>
              <a:t>/* Variable defined here */</a:t>
            </a:r>
          </a:p>
          <a:p>
            <a:pPr algn="l"/>
            <a:r>
              <a:rPr lang="en-US" sz="1600" b="1" dirty="0" err="1">
                <a:solidFill>
                  <a:srgbClr val="000000"/>
                </a:solidFill>
                <a:latin typeface="Courier New"/>
                <a:cs typeface="Courier New"/>
              </a:rPr>
              <a:t>int</a:t>
            </a:r>
            <a:r>
              <a:rPr lang="en-US" sz="1600" b="1" dirty="0">
                <a:solidFill>
                  <a:srgbClr val="000000"/>
                </a:solidFill>
                <a:latin typeface="Courier New"/>
                <a:cs typeface="Courier New"/>
              </a:rPr>
              <a:t> </a:t>
            </a:r>
            <a:r>
              <a:rPr lang="en-US" sz="1600" b="1" dirty="0" err="1">
                <a:solidFill>
                  <a:srgbClr val="FF0000"/>
                </a:solidFill>
                <a:latin typeface="Courier New"/>
                <a:cs typeface="Courier New"/>
              </a:rPr>
              <a:t>global_variable</a:t>
            </a:r>
            <a:r>
              <a:rPr lang="en-US" sz="1600" b="1" dirty="0">
                <a:solidFill>
                  <a:srgbClr val="000000"/>
                </a:solidFill>
                <a:latin typeface="Courier New"/>
                <a:cs typeface="Courier New"/>
              </a:rPr>
              <a:t> = 1; </a:t>
            </a:r>
            <a:r>
              <a:rPr lang="en-US" sz="1600" dirty="0">
                <a:solidFill>
                  <a:srgbClr val="000000"/>
                </a:solidFill>
                <a:latin typeface="Courier New"/>
                <a:cs typeface="Courier New"/>
              </a:rPr>
              <a:t>/* Definition checked against declaration */</a:t>
            </a:r>
          </a:p>
          <a:p>
            <a:pPr algn="l"/>
            <a:endParaRPr lang="en-US" sz="600" b="1" dirty="0">
              <a:solidFill>
                <a:srgbClr val="000000"/>
              </a:solidFill>
              <a:latin typeface="Courier New"/>
              <a:cs typeface="Courier New"/>
            </a:endParaRPr>
          </a:p>
          <a:p>
            <a:pPr algn="l"/>
            <a:r>
              <a:rPr lang="en-US" sz="1600" b="1" dirty="0" err="1">
                <a:solidFill>
                  <a:srgbClr val="000000"/>
                </a:solidFill>
                <a:latin typeface="Courier New"/>
                <a:cs typeface="Courier New"/>
              </a:rPr>
              <a:t>int</a:t>
            </a:r>
            <a:r>
              <a:rPr lang="en-US" sz="1600" b="1" dirty="0">
                <a:solidFill>
                  <a:srgbClr val="000000"/>
                </a:solidFill>
                <a:latin typeface="Courier New"/>
                <a:cs typeface="Courier New"/>
              </a:rPr>
              <a:t> increment(void) { return </a:t>
            </a:r>
            <a:r>
              <a:rPr lang="en-US" sz="1600" b="1" dirty="0" err="1">
                <a:solidFill>
                  <a:srgbClr val="FF0000"/>
                </a:solidFill>
                <a:latin typeface="Courier New"/>
                <a:cs typeface="Courier New"/>
              </a:rPr>
              <a:t>global_variable</a:t>
            </a:r>
            <a:r>
              <a:rPr lang="en-US" sz="1600" b="1" dirty="0">
                <a:solidFill>
                  <a:srgbClr val="000000"/>
                </a:solidFill>
                <a:latin typeface="Courier New"/>
                <a:cs typeface="Courier New"/>
              </a:rPr>
              <a:t>++; }</a:t>
            </a:r>
          </a:p>
        </p:txBody>
      </p:sp>
      <p:sp>
        <p:nvSpPr>
          <p:cNvPr id="3" name="Rectangle 2"/>
          <p:cNvSpPr/>
          <p:nvPr/>
        </p:nvSpPr>
        <p:spPr bwMode="auto">
          <a:xfrm>
            <a:off x="72008" y="872716"/>
            <a:ext cx="9036496" cy="1836204"/>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chemeClr val="tx2"/>
              </a:solidFill>
              <a:effectLst/>
              <a:latin typeface="Arial" charset="0"/>
            </a:endParaRPr>
          </a:p>
        </p:txBody>
      </p:sp>
      <p:sp>
        <p:nvSpPr>
          <p:cNvPr id="4" name="TextBox 3"/>
          <p:cNvSpPr txBox="1"/>
          <p:nvPr/>
        </p:nvSpPr>
        <p:spPr>
          <a:xfrm>
            <a:off x="8097419" y="908720"/>
            <a:ext cx="1046581" cy="338554"/>
          </a:xfrm>
          <a:prstGeom prst="rect">
            <a:avLst/>
          </a:prstGeom>
          <a:noFill/>
        </p:spPr>
        <p:txBody>
          <a:bodyPr wrap="none" rtlCol="0">
            <a:spAutoFit/>
          </a:bodyPr>
          <a:lstStyle/>
          <a:p>
            <a:r>
              <a:rPr lang="en-US" sz="1600" b="1" dirty="0">
                <a:solidFill>
                  <a:schemeClr val="tx2"/>
                </a:solidFill>
                <a:latin typeface="Courier New"/>
                <a:cs typeface="Courier New"/>
              </a:rPr>
              <a:t>code1.c</a:t>
            </a:r>
          </a:p>
        </p:txBody>
      </p:sp>
      <p:grpSp>
        <p:nvGrpSpPr>
          <p:cNvPr id="11" name="Group 10"/>
          <p:cNvGrpSpPr/>
          <p:nvPr/>
        </p:nvGrpSpPr>
        <p:grpSpPr>
          <a:xfrm>
            <a:off x="94998" y="2600908"/>
            <a:ext cx="9057374" cy="720080"/>
            <a:chOff x="94998" y="2708920"/>
            <a:chExt cx="9057374" cy="720080"/>
          </a:xfrm>
        </p:grpSpPr>
        <p:sp>
          <p:nvSpPr>
            <p:cNvPr id="5" name="Rectangle 4"/>
            <p:cNvSpPr/>
            <p:nvPr/>
          </p:nvSpPr>
          <p:spPr>
            <a:xfrm>
              <a:off x="107504" y="2708920"/>
              <a:ext cx="9036496" cy="634020"/>
            </a:xfrm>
            <a:prstGeom prst="rect">
              <a:avLst/>
            </a:prstGeom>
          </p:spPr>
          <p:txBody>
            <a:bodyPr wrap="square">
              <a:spAutoFit/>
            </a:bodyPr>
            <a:lstStyle/>
            <a:p>
              <a:pPr algn="l"/>
              <a:endParaRPr lang="en-US" sz="1600" b="1" dirty="0">
                <a:solidFill>
                  <a:schemeClr val="tx2"/>
                </a:solidFill>
                <a:latin typeface="Courier New"/>
                <a:cs typeface="Courier New"/>
              </a:endParaRPr>
            </a:p>
            <a:p>
              <a:pPr algn="l"/>
              <a:r>
                <a:rPr lang="en-US" sz="1600" b="1" dirty="0">
                  <a:solidFill>
                    <a:schemeClr val="tx2"/>
                  </a:solidFill>
                  <a:latin typeface="Courier New"/>
                  <a:cs typeface="Courier New"/>
                </a:rPr>
                <a:t>extern </a:t>
              </a:r>
              <a:r>
                <a:rPr lang="en-US" sz="1600" b="1" dirty="0" err="1">
                  <a:solidFill>
                    <a:schemeClr val="tx2"/>
                  </a:solidFill>
                  <a:latin typeface="Courier New"/>
                  <a:cs typeface="Courier New"/>
                </a:rPr>
                <a:t>int</a:t>
              </a:r>
              <a:r>
                <a:rPr lang="en-US" sz="1600" b="1" dirty="0">
                  <a:solidFill>
                    <a:schemeClr val="tx2"/>
                  </a:solidFill>
                  <a:latin typeface="Courier New"/>
                  <a:cs typeface="Courier New"/>
                </a:rPr>
                <a:t> </a:t>
              </a:r>
              <a:r>
                <a:rPr lang="en-US" sz="1600" b="1" dirty="0" err="1">
                  <a:solidFill>
                    <a:schemeClr val="tx2"/>
                  </a:solidFill>
                  <a:latin typeface="Courier New"/>
                  <a:cs typeface="Courier New"/>
                </a:rPr>
                <a:t>global_variable</a:t>
              </a:r>
              <a:r>
                <a:rPr lang="en-US" sz="1600" b="1" dirty="0">
                  <a:solidFill>
                    <a:schemeClr val="tx2"/>
                  </a:solidFill>
                  <a:latin typeface="Courier New"/>
                  <a:cs typeface="Courier New"/>
                </a:rPr>
                <a:t>;  </a:t>
              </a:r>
              <a:r>
                <a:rPr lang="en-US" sz="1600" dirty="0">
                  <a:solidFill>
                    <a:schemeClr val="tx2"/>
                  </a:solidFill>
                  <a:latin typeface="Courier New"/>
                  <a:cs typeface="Courier New"/>
                </a:rPr>
                <a:t>/* Declaration of the variable */</a:t>
              </a:r>
            </a:p>
          </p:txBody>
        </p:sp>
        <p:sp>
          <p:nvSpPr>
            <p:cNvPr id="7" name="Rectangle 6"/>
            <p:cNvSpPr/>
            <p:nvPr/>
          </p:nvSpPr>
          <p:spPr>
            <a:xfrm>
              <a:off x="8105791" y="2960948"/>
              <a:ext cx="1046581" cy="338554"/>
            </a:xfrm>
            <a:prstGeom prst="rect">
              <a:avLst/>
            </a:prstGeom>
          </p:spPr>
          <p:txBody>
            <a:bodyPr wrap="none">
              <a:spAutoFit/>
            </a:bodyPr>
            <a:lstStyle/>
            <a:p>
              <a:pPr algn="l"/>
              <a:r>
                <a:rPr lang="en-US" sz="1600" b="1" dirty="0">
                  <a:solidFill>
                    <a:schemeClr val="tx2"/>
                  </a:solidFill>
                  <a:latin typeface="Courier New"/>
                  <a:cs typeface="Courier New"/>
                </a:rPr>
                <a:t>code1.h</a:t>
              </a:r>
            </a:p>
          </p:txBody>
        </p:sp>
        <p:sp>
          <p:nvSpPr>
            <p:cNvPr id="12" name="Rectangle 11"/>
            <p:cNvSpPr/>
            <p:nvPr/>
          </p:nvSpPr>
          <p:spPr bwMode="auto">
            <a:xfrm>
              <a:off x="94998" y="2960948"/>
              <a:ext cx="9049002" cy="468052"/>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1" i="0" u="none" strike="noStrike" cap="none" normalizeH="0" baseline="0" dirty="0">
                <a:ln>
                  <a:noFill/>
                </a:ln>
                <a:solidFill>
                  <a:schemeClr val="tx2"/>
                </a:solidFill>
                <a:effectLst/>
                <a:latin typeface="Arial" charset="0"/>
              </a:endParaRPr>
            </a:p>
          </p:txBody>
        </p:sp>
      </p:grpSp>
      <p:sp>
        <p:nvSpPr>
          <p:cNvPr id="14" name="Rectangle 13"/>
          <p:cNvSpPr/>
          <p:nvPr/>
        </p:nvSpPr>
        <p:spPr bwMode="auto">
          <a:xfrm>
            <a:off x="107504" y="3501008"/>
            <a:ext cx="9036496" cy="216024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chemeClr val="tx2"/>
              </a:solidFill>
              <a:effectLst/>
              <a:latin typeface="Arial" charset="0"/>
            </a:endParaRPr>
          </a:p>
        </p:txBody>
      </p:sp>
      <p:sp>
        <p:nvSpPr>
          <p:cNvPr id="8" name="Rectangle 7"/>
          <p:cNvSpPr/>
          <p:nvPr/>
        </p:nvSpPr>
        <p:spPr>
          <a:xfrm>
            <a:off x="143508" y="3465004"/>
            <a:ext cx="9000492" cy="2222147"/>
          </a:xfrm>
          <a:prstGeom prst="rect">
            <a:avLst/>
          </a:prstGeom>
        </p:spPr>
        <p:txBody>
          <a:bodyPr wrap="square">
            <a:spAutoFit/>
          </a:bodyPr>
          <a:lstStyle/>
          <a:p>
            <a:pPr algn="l"/>
            <a:r>
              <a:rPr lang="en-US" sz="1600" b="1" dirty="0">
                <a:solidFill>
                  <a:schemeClr val="tx2"/>
                </a:solidFill>
                <a:latin typeface="Courier New"/>
                <a:cs typeface="Courier New"/>
              </a:rPr>
              <a:t>#include "</a:t>
            </a:r>
            <a:r>
              <a:rPr lang="en-US" sz="1600" b="1" dirty="0">
                <a:solidFill>
                  <a:srgbClr val="FF0000"/>
                </a:solidFill>
                <a:latin typeface="Courier New"/>
                <a:cs typeface="Courier New"/>
              </a:rPr>
              <a:t>code1.h</a:t>
            </a:r>
            <a:r>
              <a:rPr lang="en-US" sz="1600" b="1" dirty="0">
                <a:solidFill>
                  <a:srgbClr val="000000"/>
                </a:solidFill>
                <a:latin typeface="Courier New"/>
                <a:cs typeface="Courier New"/>
              </a:rPr>
              <a:t>"</a:t>
            </a:r>
            <a:endParaRPr lang="en-US" sz="1600" b="1" dirty="0">
              <a:solidFill>
                <a:schemeClr val="tx2"/>
              </a:solidFill>
              <a:latin typeface="Courier New"/>
              <a:cs typeface="Courier New"/>
            </a:endParaRPr>
          </a:p>
          <a:p>
            <a:pPr algn="l"/>
            <a:r>
              <a:rPr lang="en-US" sz="1600" b="1" dirty="0">
                <a:solidFill>
                  <a:srgbClr val="000000"/>
                </a:solidFill>
                <a:latin typeface="Courier New"/>
                <a:cs typeface="Courier New"/>
              </a:rPr>
              <a:t>#include </a:t>
            </a:r>
            <a:r>
              <a:rPr lang="en-US" sz="1600" b="1" dirty="0">
                <a:solidFill>
                  <a:schemeClr val="tx2"/>
                </a:solidFill>
                <a:latin typeface="Courier New"/>
                <a:cs typeface="Courier New"/>
              </a:rPr>
              <a:t>"</a:t>
            </a:r>
            <a:r>
              <a:rPr lang="en-US" sz="1600" b="1" dirty="0" err="1">
                <a:solidFill>
                  <a:srgbClr val="3366FF"/>
                </a:solidFill>
                <a:latin typeface="Courier New"/>
                <a:cs typeface="Courier New"/>
              </a:rPr>
              <a:t>prog.h</a:t>
            </a:r>
            <a:r>
              <a:rPr lang="en-US" sz="1600" b="1" dirty="0">
                <a:solidFill>
                  <a:srgbClr val="000000"/>
                </a:solidFill>
                <a:latin typeface="Courier New"/>
                <a:cs typeface="Courier New"/>
              </a:rPr>
              <a:t>"</a:t>
            </a:r>
            <a:endParaRPr lang="en-US" sz="1600" b="1" dirty="0">
              <a:solidFill>
                <a:schemeClr val="tx2"/>
              </a:solidFill>
              <a:latin typeface="Courier New"/>
              <a:cs typeface="Courier New"/>
            </a:endParaRPr>
          </a:p>
          <a:p>
            <a:pPr algn="l"/>
            <a:r>
              <a:rPr lang="en-US" sz="1600" b="1" dirty="0">
                <a:solidFill>
                  <a:schemeClr val="tx2"/>
                </a:solidFill>
                <a:latin typeface="Courier New"/>
                <a:cs typeface="Courier New"/>
              </a:rPr>
              <a:t>#include &lt;</a:t>
            </a:r>
            <a:r>
              <a:rPr lang="en-US" sz="1600" b="1" dirty="0" err="1">
                <a:solidFill>
                  <a:schemeClr val="tx2"/>
                </a:solidFill>
                <a:latin typeface="Courier New"/>
                <a:cs typeface="Courier New"/>
              </a:rPr>
              <a:t>stdio.h</a:t>
            </a:r>
            <a:r>
              <a:rPr lang="en-US" sz="1600" b="1" dirty="0">
                <a:solidFill>
                  <a:schemeClr val="tx2"/>
                </a:solidFill>
                <a:latin typeface="Courier New"/>
                <a:cs typeface="Courier New"/>
              </a:rPr>
              <a:t>&gt;</a:t>
            </a:r>
          </a:p>
          <a:p>
            <a:pPr algn="l"/>
            <a:endParaRPr lang="en-US" sz="600" b="1" dirty="0">
              <a:solidFill>
                <a:schemeClr val="tx2"/>
              </a:solidFill>
              <a:latin typeface="Courier New"/>
              <a:cs typeface="Courier New"/>
            </a:endParaRPr>
          </a:p>
          <a:p>
            <a:pPr algn="l"/>
            <a:r>
              <a:rPr lang="en-US" sz="1600" b="1" dirty="0">
                <a:solidFill>
                  <a:schemeClr val="tx2"/>
                </a:solidFill>
                <a:latin typeface="Courier New"/>
                <a:cs typeface="Courier New"/>
              </a:rPr>
              <a:t>void </a:t>
            </a:r>
            <a:r>
              <a:rPr lang="en-US" sz="1600" b="1" dirty="0" err="1">
                <a:solidFill>
                  <a:schemeClr val="tx2"/>
                </a:solidFill>
                <a:latin typeface="Courier New"/>
                <a:cs typeface="Courier New"/>
              </a:rPr>
              <a:t>use_it</a:t>
            </a:r>
            <a:r>
              <a:rPr lang="en-US" sz="1600" b="1" dirty="0">
                <a:solidFill>
                  <a:schemeClr val="tx2"/>
                </a:solidFill>
                <a:latin typeface="Courier New"/>
                <a:cs typeface="Courier New"/>
              </a:rPr>
              <a:t>(void)</a:t>
            </a:r>
          </a:p>
          <a:p>
            <a:pPr algn="l"/>
            <a:r>
              <a:rPr lang="en-US" sz="1600" b="1" dirty="0">
                <a:solidFill>
                  <a:schemeClr val="tx2"/>
                </a:solidFill>
                <a:latin typeface="Courier New"/>
                <a:cs typeface="Courier New"/>
              </a:rPr>
              <a:t>{</a:t>
            </a:r>
          </a:p>
          <a:p>
            <a:pPr algn="l"/>
            <a:r>
              <a:rPr lang="en-US" sz="1600" b="1" dirty="0">
                <a:solidFill>
                  <a:schemeClr val="tx2"/>
                </a:solidFill>
                <a:latin typeface="Courier New"/>
                <a:cs typeface="Courier New"/>
              </a:rPr>
              <a:t>    </a:t>
            </a:r>
            <a:r>
              <a:rPr lang="en-US" sz="1600" b="1" dirty="0" err="1">
                <a:solidFill>
                  <a:schemeClr val="tx2"/>
                </a:solidFill>
                <a:latin typeface="Courier New"/>
                <a:cs typeface="Courier New"/>
              </a:rPr>
              <a:t>printf</a:t>
            </a:r>
            <a:r>
              <a:rPr lang="en-US" sz="1600" b="1" dirty="0">
                <a:solidFill>
                  <a:schemeClr val="tx2"/>
                </a:solidFill>
                <a:latin typeface="Courier New"/>
                <a:cs typeface="Courier New"/>
              </a:rPr>
              <a:t>("Global variable: %d\n", </a:t>
            </a:r>
            <a:r>
              <a:rPr lang="en-US" sz="1600" b="1" dirty="0" err="1">
                <a:solidFill>
                  <a:srgbClr val="FF0000"/>
                </a:solidFill>
                <a:latin typeface="Courier New"/>
                <a:cs typeface="Courier New"/>
              </a:rPr>
              <a:t>global_variable</a:t>
            </a:r>
            <a:r>
              <a:rPr lang="en-US" sz="1600" b="1" dirty="0">
                <a:solidFill>
                  <a:schemeClr val="tx2"/>
                </a:solidFill>
                <a:latin typeface="Courier New"/>
                <a:cs typeface="Courier New"/>
              </a:rPr>
              <a:t>++);</a:t>
            </a:r>
          </a:p>
          <a:p>
            <a:pPr algn="l"/>
            <a:r>
              <a:rPr lang="en-US" sz="1600" b="1" dirty="0">
                <a:solidFill>
                  <a:schemeClr val="tx2"/>
                </a:solidFill>
                <a:latin typeface="Courier New"/>
                <a:cs typeface="Courier New"/>
              </a:rPr>
              <a:t>}</a:t>
            </a:r>
          </a:p>
        </p:txBody>
      </p:sp>
      <p:sp>
        <p:nvSpPr>
          <p:cNvPr id="15" name="Rectangle 14"/>
          <p:cNvSpPr/>
          <p:nvPr/>
        </p:nvSpPr>
        <p:spPr>
          <a:xfrm>
            <a:off x="8097419" y="3501008"/>
            <a:ext cx="1046581" cy="338554"/>
          </a:xfrm>
          <a:prstGeom prst="rect">
            <a:avLst/>
          </a:prstGeom>
        </p:spPr>
        <p:txBody>
          <a:bodyPr wrap="none">
            <a:spAutoFit/>
          </a:bodyPr>
          <a:lstStyle/>
          <a:p>
            <a:pPr algn="l"/>
            <a:r>
              <a:rPr lang="en-US" sz="1600" b="1" dirty="0">
                <a:solidFill>
                  <a:schemeClr val="tx2"/>
                </a:solidFill>
                <a:latin typeface="Courier New"/>
                <a:cs typeface="Courier New"/>
              </a:rPr>
              <a:t>code2.c</a:t>
            </a:r>
          </a:p>
        </p:txBody>
      </p:sp>
      <p:sp>
        <p:nvSpPr>
          <p:cNvPr id="1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279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Règles</a:t>
            </a:r>
            <a:r>
              <a:rPr lang="en-US" dirty="0"/>
              <a:t> </a:t>
            </a:r>
            <a:r>
              <a:rPr lang="en-US" dirty="0" err="1"/>
              <a:t>générales</a:t>
            </a:r>
            <a:endParaRPr lang="en-US" dirty="0"/>
          </a:p>
        </p:txBody>
      </p:sp>
      <p:sp>
        <p:nvSpPr>
          <p:cNvPr id="3" name="Content Placeholder 2"/>
          <p:cNvSpPr>
            <a:spLocks noGrp="1"/>
          </p:cNvSpPr>
          <p:nvPr>
            <p:ph idx="1"/>
          </p:nvPr>
        </p:nvSpPr>
        <p:spPr>
          <a:xfrm>
            <a:off x="228600" y="930794"/>
            <a:ext cx="8686800" cy="5257800"/>
          </a:xfrm>
        </p:spPr>
        <p:txBody>
          <a:bodyPr/>
          <a:lstStyle/>
          <a:p>
            <a:r>
              <a:rPr lang="fr-FR" dirty="0"/>
              <a:t>Pour toute variable globale donnée :</a:t>
            </a:r>
            <a:endParaRPr lang="en-US" dirty="0"/>
          </a:p>
          <a:p>
            <a:pPr lvl="1"/>
            <a:r>
              <a:rPr lang="fr-FR" dirty="0"/>
              <a:t>Exactement 1 fichier d'en-tête la déclare.</a:t>
            </a:r>
            <a:endParaRPr lang="en-US" dirty="0"/>
          </a:p>
          <a:p>
            <a:pPr lvl="1"/>
            <a:r>
              <a:rPr lang="fr-FR" dirty="0"/>
              <a:t>Exactement 1 fichier source la définit et de préférence l'initialise également</a:t>
            </a:r>
            <a:r>
              <a:rPr lang="en-US" dirty="0"/>
              <a:t>.</a:t>
            </a:r>
          </a:p>
          <a:p>
            <a:pPr marL="542925" lvl="1" indent="0">
              <a:buNone/>
            </a:pPr>
            <a:r>
              <a:rPr lang="en-US" dirty="0"/>
              <a:t>  (</a:t>
            </a:r>
            <a:r>
              <a:rPr lang="fr-FR" dirty="0">
                <a:solidFill>
                  <a:srgbClr val="FF0000"/>
                </a:solidFill>
              </a:rPr>
              <a:t>sinon comportement indéfini </a:t>
            </a:r>
            <a:r>
              <a:rPr lang="en-US" dirty="0">
                <a:solidFill>
                  <a:srgbClr val="FF0000"/>
                </a:solidFill>
                <a:sym typeface="Wingdings"/>
              </a:rPr>
              <a:t> </a:t>
            </a:r>
            <a:r>
              <a:rPr lang="fr-FR" dirty="0">
                <a:solidFill>
                  <a:srgbClr val="FF0000"/>
                </a:solidFill>
              </a:rPr>
              <a:t>n'importe quoi pourrait se produire </a:t>
            </a:r>
            <a:r>
              <a:rPr lang="en-US" dirty="0">
                <a:solidFill>
                  <a:srgbClr val="FF0000"/>
                </a:solidFill>
                <a:sym typeface="Wingdings"/>
              </a:rPr>
              <a:t>! </a:t>
            </a:r>
            <a:r>
              <a:rPr lang="en-US" dirty="0">
                <a:sym typeface="Wingdings"/>
              </a:rPr>
              <a:t>)</a:t>
            </a:r>
            <a:endParaRPr lang="en-US" dirty="0"/>
          </a:p>
          <a:p>
            <a:pPr lvl="1"/>
            <a:r>
              <a:rPr lang="fr-FR" dirty="0"/>
              <a:t>Le fichier source qui définit la variable inclut également l'en-tête (</a:t>
            </a:r>
            <a:r>
              <a:rPr lang="fr-FR" dirty="0">
                <a:solidFill>
                  <a:srgbClr val="FF0000"/>
                </a:solidFill>
              </a:rPr>
              <a:t>garantissant que la définition et la déclaration sont cohérentes</a:t>
            </a:r>
            <a:r>
              <a:rPr lang="fr-FR" dirty="0"/>
              <a:t>). </a:t>
            </a:r>
            <a:endParaRPr lang="en-US" b="1" dirty="0"/>
          </a:p>
          <a:p>
            <a:r>
              <a:rPr lang="en-US" dirty="0"/>
              <a:t>Un </a:t>
            </a:r>
            <a:r>
              <a:rPr lang="en-US" dirty="0" err="1"/>
              <a:t>fichier</a:t>
            </a:r>
            <a:r>
              <a:rPr lang="en-US" dirty="0"/>
              <a:t> source :  </a:t>
            </a:r>
          </a:p>
          <a:p>
            <a:pPr lvl="1"/>
            <a:r>
              <a:rPr lang="fr-FR" b="1" dirty="0"/>
              <a:t>Ne contient jamais </a:t>
            </a:r>
            <a:r>
              <a:rPr lang="fr-FR" dirty="0"/>
              <a:t>de déclarations externes de variables</a:t>
            </a:r>
            <a:r>
              <a:rPr lang="en-US" dirty="0"/>
              <a:t> </a:t>
            </a:r>
          </a:p>
          <a:p>
            <a:pPr lvl="1"/>
            <a:r>
              <a:rPr lang="fr-FR" b="1" dirty="0"/>
              <a:t>Inclut </a:t>
            </a:r>
            <a:r>
              <a:rPr lang="fr-FR" dirty="0"/>
              <a:t>toujours l'en-tête </a:t>
            </a:r>
            <a:r>
              <a:rPr lang="fr-FR" b="1" dirty="0"/>
              <a:t>(unique) </a:t>
            </a:r>
            <a:r>
              <a:rPr lang="fr-FR" dirty="0"/>
              <a:t>qui les déclare </a:t>
            </a:r>
            <a:endParaRPr lang="en-US" dirty="0"/>
          </a:p>
          <a:p>
            <a:r>
              <a:rPr lang="fr-FR" dirty="0"/>
              <a:t>Un fichier d'en-tête contient uniquement des déclarations externes de variables</a:t>
            </a:r>
            <a:r>
              <a:rPr lang="en-US" dirty="0"/>
              <a:t> </a:t>
            </a:r>
          </a:p>
          <a:p>
            <a:pPr lvl="1"/>
            <a:r>
              <a:rPr lang="fr-FR" dirty="0"/>
              <a:t>Jamais </a:t>
            </a:r>
            <a:r>
              <a:rPr lang="fr-FR" b="1" dirty="0"/>
              <a:t>statique</a:t>
            </a:r>
            <a:r>
              <a:rPr lang="fr-FR" dirty="0"/>
              <a:t>.</a:t>
            </a:r>
          </a:p>
          <a:p>
            <a:pPr marL="542925" lvl="1" indent="0">
              <a:buNone/>
            </a:pPr>
            <a:r>
              <a:rPr lang="fr-FR" dirty="0"/>
              <a:t>(Chaque fichier source crée sa propre version de la variable globale).</a:t>
            </a:r>
            <a:r>
              <a:rPr lang="en-US" dirty="0"/>
              <a:t>    </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15</a:t>
            </a:fld>
            <a:endParaRPr lang="fr-F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58405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Structure d’un </a:t>
            </a:r>
            <a:r>
              <a:rPr lang="en-US" sz="2800" dirty="0" err="1">
                <a:latin typeface="Arial" charset="0"/>
              </a:rPr>
              <a:t>fichier</a:t>
            </a:r>
            <a:r>
              <a:rPr lang="en-US" sz="2800" dirty="0">
                <a:latin typeface="Arial" charset="0"/>
              </a:rPr>
              <a:t> .c</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224154" y="1142539"/>
            <a:ext cx="8695692" cy="48067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rPr>
              <a:t>Description de la fonctionnalité et de l'utilisation </a:t>
            </a:r>
            <a:r>
              <a:rPr lang="en-US" dirty="0">
                <a:latin typeface="Arial" charset="0"/>
              </a:rPr>
              <a:t>(</a:t>
            </a:r>
            <a:r>
              <a:rPr lang="en-US" dirty="0" err="1">
                <a:latin typeface="Arial" charset="0"/>
              </a:rPr>
              <a:t>commentaires</a:t>
            </a:r>
            <a:r>
              <a:rPr lang="en-US" dirty="0">
                <a:latin typeface="Arial" charset="0"/>
              </a:rPr>
              <a:t> </a:t>
            </a:r>
            <a:r>
              <a:rPr lang="en-US" dirty="0">
                <a:latin typeface="Arial" charset="0"/>
                <a:sym typeface="Wingdings" charset="0"/>
              </a:rPr>
              <a:t>)</a:t>
            </a:r>
            <a:endParaRPr lang="en-GB" dirty="0">
              <a:latin typeface="Arial" charset="0"/>
              <a:cs typeface="ＭＳ Ｐゴシック" charset="0"/>
            </a:endParaRPr>
          </a:p>
          <a:p>
            <a:r>
              <a:rPr lang="fr-FR" dirty="0">
                <a:latin typeface="Arial" charset="0"/>
                <a:cs typeface="ＭＳ Ｐゴシック" charset="0"/>
              </a:rPr>
              <a:t>Les directives pour le préprocesseur</a:t>
            </a:r>
            <a:endParaRPr lang="en-GB" dirty="0">
              <a:latin typeface="Arial" charset="0"/>
              <a:cs typeface="ＭＳ Ｐゴシック" charset="0"/>
            </a:endParaRPr>
          </a:p>
          <a:p>
            <a:pPr lvl="1"/>
            <a:r>
              <a:rPr lang="fr-FR" dirty="0">
                <a:latin typeface="Arial" charset="0"/>
                <a:cs typeface="ＭＳ Ｐゴシック" charset="0"/>
              </a:rPr>
              <a:t>Fichiers d'inclusion, Macros, Compilation conditionnelle, …</a:t>
            </a:r>
            <a:endParaRPr lang="en-GB" sz="800" dirty="0">
              <a:latin typeface="Arial" charset="0"/>
              <a:cs typeface="ＭＳ Ｐゴシック" charset="0"/>
            </a:endParaRPr>
          </a:p>
          <a:p>
            <a:r>
              <a:rPr lang="fr-FR" dirty="0">
                <a:latin typeface="Arial" charset="0"/>
                <a:cs typeface="ＭＳ Ｐゴシック" charset="0"/>
              </a:rPr>
              <a:t>Variables globales utilisées uniquement par ce fichier</a:t>
            </a:r>
            <a:r>
              <a:rPr lang="en-GB" dirty="0">
                <a:latin typeface="Arial" charset="0"/>
                <a:cs typeface="ＭＳ Ｐゴシック" charset="0"/>
              </a:rPr>
              <a:t> </a:t>
            </a:r>
          </a:p>
          <a:p>
            <a:pPr lvl="1"/>
            <a:r>
              <a:rPr lang="fr-FR" dirty="0">
                <a:latin typeface="Arial" charset="0"/>
                <a:cs typeface="ＭＳ Ｐゴシック" charset="0"/>
              </a:rPr>
              <a:t>Si elles ne sont pas initialisées, elles sont par défaut égales à 0</a:t>
            </a:r>
            <a:endParaRPr lang="en-GB" dirty="0">
              <a:latin typeface="Arial" charset="0"/>
              <a:cs typeface="ＭＳ Ｐゴシック" charset="0"/>
            </a:endParaRPr>
          </a:p>
          <a:p>
            <a:endParaRPr lang="en-GB" sz="800" dirty="0">
              <a:latin typeface="Arial" charset="0"/>
              <a:cs typeface="ＭＳ Ｐゴシック" charset="0"/>
            </a:endParaRPr>
          </a:p>
          <a:p>
            <a:r>
              <a:rPr lang="fr-FR" dirty="0">
                <a:latin typeface="Arial" charset="0"/>
                <a:cs typeface="ＭＳ Ｐゴシック" charset="0"/>
              </a:rPr>
              <a:t>Les fonctions agissant sur les variable</a:t>
            </a:r>
            <a:r>
              <a:rPr lang="en-GB" dirty="0">
                <a:latin typeface="Arial" charset="0"/>
                <a:cs typeface="ＭＳ Ｐゴシック" charset="0"/>
              </a:rPr>
              <a:t>s</a:t>
            </a:r>
          </a:p>
          <a:p>
            <a:pPr lvl="1"/>
            <a:r>
              <a:rPr lang="en-GB" dirty="0">
                <a:latin typeface="Arial" charset="0"/>
                <a:cs typeface="ＭＳ Ｐゴシック" charset="0"/>
              </a:rPr>
              <a:t>Prototype de </a:t>
            </a:r>
            <a:r>
              <a:rPr lang="en-GB" dirty="0" err="1">
                <a:latin typeface="Arial" charset="0"/>
                <a:cs typeface="ＭＳ Ｐゴシック" charset="0"/>
              </a:rPr>
              <a:t>fonction</a:t>
            </a:r>
            <a:endParaRPr lang="en-GB" dirty="0">
              <a:latin typeface="Arial" charset="0"/>
              <a:cs typeface="ＭＳ Ｐゴシック" charset="0"/>
            </a:endParaRPr>
          </a:p>
          <a:p>
            <a:pPr lvl="1"/>
            <a:r>
              <a:rPr lang="en-GB" dirty="0">
                <a:latin typeface="Arial" charset="0"/>
                <a:cs typeface="ＭＳ Ｐゴシック" charset="0"/>
              </a:rPr>
              <a:t>Corps de </a:t>
            </a:r>
            <a:r>
              <a:rPr lang="en-GB" dirty="0" err="1">
                <a:latin typeface="Arial" charset="0"/>
                <a:cs typeface="ＭＳ Ｐゴシック" charset="0"/>
              </a:rPr>
              <a:t>fonction</a:t>
            </a:r>
            <a:endParaRPr lang="en-GB" dirty="0">
              <a:latin typeface="Arial" charset="0"/>
              <a:cs typeface="ＭＳ Ｐゴシック" charset="0"/>
            </a:endParaRPr>
          </a:p>
          <a:p>
            <a:endParaRPr lang="en-GB" sz="800" dirty="0">
              <a:latin typeface="Arial" charset="0"/>
              <a:cs typeface="ＭＳ Ｐゴシック" charset="0"/>
            </a:endParaRPr>
          </a:p>
          <a:p>
            <a:r>
              <a:rPr lang="fr-FR" dirty="0">
                <a:latin typeface="Arial" charset="0"/>
                <a:cs typeface="ＭＳ Ｐゴシック" charset="0"/>
              </a:rPr>
              <a:t>Aucun ordre n'est imposé aux définitions, MAIS chaque élément doit être déclaré </a:t>
            </a:r>
            <a:r>
              <a:rPr lang="fr-FR" dirty="0">
                <a:solidFill>
                  <a:srgbClr val="FF0000"/>
                </a:solidFill>
                <a:latin typeface="Arial" charset="0"/>
                <a:cs typeface="ＭＳ Ｐゴシック" charset="0"/>
              </a:rPr>
              <a:t>AVANT son utilisation</a:t>
            </a:r>
            <a:endParaRPr lang="en-GB" dirty="0">
              <a:solidFill>
                <a:srgbClr val="FF0000"/>
              </a:solidFill>
              <a:latin typeface="Arial"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2694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2400"/>
            <a:ext cx="4771256" cy="533400"/>
          </a:xfrm>
        </p:spPr>
        <p:txBody>
          <a:bodyPr/>
          <a:lstStyle/>
          <a:p>
            <a:r>
              <a:rPr lang="en-US" sz="2800" dirty="0">
                <a:latin typeface="Arial" charset="0"/>
              </a:rPr>
              <a:t>Structure d’un </a:t>
            </a:r>
            <a:r>
              <a:rPr lang="en-US" sz="2800" dirty="0" err="1">
                <a:latin typeface="Arial" charset="0"/>
              </a:rPr>
              <a:t>fichier</a:t>
            </a:r>
            <a:r>
              <a:rPr lang="en-US" sz="2800" dirty="0">
                <a:latin typeface="Arial" charset="0"/>
              </a:rPr>
              <a:t> .h</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367259" y="1257654"/>
            <a:ext cx="8390892" cy="39244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US" sz="800" dirty="0">
              <a:latin typeface="Arial" charset="0"/>
            </a:endParaRPr>
          </a:p>
          <a:p>
            <a:r>
              <a:rPr lang="fr-FR" b="1" dirty="0">
                <a:latin typeface="Arial" charset="0"/>
              </a:rPr>
              <a:t>Déclaration </a:t>
            </a:r>
            <a:r>
              <a:rPr lang="fr-FR" dirty="0">
                <a:latin typeface="Arial" charset="0"/>
              </a:rPr>
              <a:t>de tout ce qui est autorisé à être 'visible' en dehors du fichier</a:t>
            </a:r>
            <a:r>
              <a:rPr lang="en-US" b="1" dirty="0">
                <a:latin typeface="Courier"/>
                <a:cs typeface="Courier"/>
              </a:rPr>
              <a:t>.c</a:t>
            </a:r>
            <a:r>
              <a:rPr lang="en-US" dirty="0">
                <a:latin typeface="Arial" charset="0"/>
              </a:rPr>
              <a:t> </a:t>
            </a:r>
          </a:p>
          <a:p>
            <a:pPr lvl="1"/>
            <a:r>
              <a:rPr lang="en-US" dirty="0" err="1">
                <a:latin typeface="Arial" charset="0"/>
              </a:rPr>
              <a:t>Fonctions</a:t>
            </a:r>
            <a:r>
              <a:rPr lang="en-US" dirty="0">
                <a:latin typeface="Arial" charset="0"/>
              </a:rPr>
              <a:t> </a:t>
            </a:r>
          </a:p>
          <a:p>
            <a:pPr lvl="1"/>
            <a:r>
              <a:rPr lang="en-US" dirty="0">
                <a:latin typeface="Arial" charset="0"/>
              </a:rPr>
              <a:t>Variables </a:t>
            </a:r>
            <a:r>
              <a:rPr lang="en-US" dirty="0" err="1">
                <a:latin typeface="Arial" charset="0"/>
              </a:rPr>
              <a:t>globales</a:t>
            </a:r>
            <a:r>
              <a:rPr lang="en-US" dirty="0">
                <a:latin typeface="Arial" charset="0"/>
              </a:rPr>
              <a:t> </a:t>
            </a:r>
          </a:p>
          <a:p>
            <a:pPr lvl="1"/>
            <a:r>
              <a:rPr lang="en-US" dirty="0">
                <a:latin typeface="Arial" charset="0"/>
              </a:rPr>
              <a:t>Structures de </a:t>
            </a:r>
            <a:r>
              <a:rPr lang="en-US" dirty="0" err="1">
                <a:latin typeface="Arial" charset="0"/>
              </a:rPr>
              <a:t>données</a:t>
            </a:r>
            <a:endParaRPr lang="en-US" dirty="0">
              <a:latin typeface="Arial" charset="0"/>
            </a:endParaRPr>
          </a:p>
          <a:p>
            <a:pPr lvl="1"/>
            <a:r>
              <a:rPr lang="en-US" dirty="0">
                <a:latin typeface="Arial" charset="0"/>
              </a:rPr>
              <a:t>…</a:t>
            </a:r>
          </a:p>
          <a:p>
            <a:pPr lvl="1"/>
            <a:endParaRPr lang="en-US" dirty="0">
              <a:latin typeface="Arial" charset="0"/>
            </a:endParaRPr>
          </a:p>
          <a:p>
            <a:r>
              <a:rPr lang="fr-FR" dirty="0">
                <a:latin typeface="Arial" charset="0"/>
              </a:rPr>
              <a:t>C'est l'interface du fichier source .c avec le monde extérieur."</a:t>
            </a:r>
            <a:endParaRPr lang="en-US" sz="800" dirty="0">
              <a:latin typeface="Arial"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29865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re 1"/>
          <p:cNvSpPr>
            <a:spLocks noGrp="1"/>
          </p:cNvSpPr>
          <p:nvPr>
            <p:ph type="title"/>
          </p:nvPr>
        </p:nvSpPr>
        <p:spPr>
          <a:xfrm>
            <a:off x="111968" y="116632"/>
            <a:ext cx="6008204" cy="533400"/>
          </a:xfrm>
        </p:spPr>
        <p:txBody>
          <a:bodyPr/>
          <a:lstStyle/>
          <a:p>
            <a:r>
              <a:rPr lang="en-US" sz="2800" dirty="0">
                <a:latin typeface="Arial" charset="0"/>
              </a:rPr>
              <a:t>Structure d’un </a:t>
            </a:r>
            <a:r>
              <a:rPr lang="en-US" sz="2800" dirty="0" err="1">
                <a:latin typeface="Arial" charset="0"/>
              </a:rPr>
              <a:t>fichier</a:t>
            </a:r>
            <a:r>
              <a:rPr lang="en-US" sz="2800" dirty="0">
                <a:latin typeface="Arial" charset="0"/>
              </a:rPr>
              <a:t> .c </a:t>
            </a:r>
            <a:r>
              <a:rPr lang="fr-FR" sz="2800" dirty="0">
                <a:latin typeface="Arial" charset="0"/>
                <a:ea typeface="ＭＳ Ｐゴシック" charset="0"/>
                <a:cs typeface="ＭＳ Ｐゴシック" charset="0"/>
              </a:rPr>
              <a:t>: Exemple</a:t>
            </a:r>
          </a:p>
        </p:txBody>
      </p:sp>
      <p:pic>
        <p:nvPicPr>
          <p:cNvPr id="63491" name="Imag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96" y="800708"/>
            <a:ext cx="6084676" cy="6057292"/>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63492" name="Image 5" descr="Capture d’écran 2014-08-25 à 14.44.4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86132" y="0"/>
            <a:ext cx="2827122" cy="2672916"/>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63493" name="ZoneTexte 6"/>
          <p:cNvSpPr txBox="1">
            <a:spLocks noChangeArrowheads="1"/>
          </p:cNvSpPr>
          <p:nvPr/>
        </p:nvSpPr>
        <p:spPr bwMode="auto">
          <a:xfrm>
            <a:off x="3698758" y="1339604"/>
            <a:ext cx="2343244" cy="1477328"/>
          </a:xfrm>
          <a:prstGeom prst="rect">
            <a:avLst/>
          </a:prstGeom>
          <a:solidFill>
            <a:schemeClr val="bg1"/>
          </a:solidFill>
          <a:ln w="9525">
            <a:solidFill>
              <a:srgbClr val="000000"/>
            </a:solidFill>
            <a:miter lim="800000"/>
            <a:headEnd/>
            <a:tailEnd/>
          </a:ln>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l" eaLnBrk="1" hangingPunct="1"/>
            <a:r>
              <a:rPr lang="fr-FR" sz="1800" dirty="0"/>
              <a:t>Directives de </a:t>
            </a:r>
            <a:r>
              <a:rPr lang="fr-FR" sz="1800" dirty="0" err="1"/>
              <a:t>Pré-processeur</a:t>
            </a:r>
            <a:endParaRPr lang="fr-FR" sz="1800" dirty="0"/>
          </a:p>
          <a:p>
            <a:pPr algn="l" eaLnBrk="1" hangingPunct="1"/>
            <a:r>
              <a:rPr lang="fr-FR" sz="1800" dirty="0"/>
              <a:t>- fichiers à inclure</a:t>
            </a:r>
          </a:p>
          <a:p>
            <a:pPr marL="285750" indent="-285750" algn="l" eaLnBrk="1" hangingPunct="1">
              <a:buFontTx/>
              <a:buChar char="-"/>
            </a:pPr>
            <a:endParaRPr lang="fr-FR" sz="900" dirty="0"/>
          </a:p>
          <a:p>
            <a:pPr algn="l" eaLnBrk="1" hangingPunct="1"/>
            <a:r>
              <a:rPr lang="fr-FR" sz="1800" dirty="0"/>
              <a:t>- Macros</a:t>
            </a:r>
          </a:p>
        </p:txBody>
      </p:sp>
      <p:sp>
        <p:nvSpPr>
          <p:cNvPr id="63494" name="ZoneTexte 10"/>
          <p:cNvSpPr txBox="1">
            <a:spLocks noChangeArrowheads="1"/>
          </p:cNvSpPr>
          <p:nvPr/>
        </p:nvSpPr>
        <p:spPr bwMode="auto">
          <a:xfrm>
            <a:off x="3615479" y="2960948"/>
            <a:ext cx="4117346" cy="369332"/>
          </a:xfrm>
          <a:prstGeom prst="rect">
            <a:avLst/>
          </a:prstGeom>
          <a:solidFill>
            <a:schemeClr val="bg1"/>
          </a:solidFill>
          <a:ln w="9525">
            <a:solidFill>
              <a:srgbClr val="000000"/>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t>Variable globale </a:t>
            </a:r>
            <a:r>
              <a:rPr lang="fr-FR" sz="1800" dirty="0" err="1"/>
              <a:t>definie</a:t>
            </a:r>
            <a:r>
              <a:rPr lang="fr-FR" sz="1800" dirty="0"/>
              <a:t> dans ce fichier</a:t>
            </a:r>
          </a:p>
        </p:txBody>
      </p:sp>
      <p:sp>
        <p:nvSpPr>
          <p:cNvPr id="63495" name="ZoneTexte 11"/>
          <p:cNvSpPr txBox="1">
            <a:spLocks noChangeArrowheads="1"/>
          </p:cNvSpPr>
          <p:nvPr/>
        </p:nvSpPr>
        <p:spPr bwMode="auto">
          <a:xfrm>
            <a:off x="3698758" y="3392996"/>
            <a:ext cx="5314496" cy="646331"/>
          </a:xfrm>
          <a:prstGeom prst="rect">
            <a:avLst/>
          </a:prstGeom>
          <a:solidFill>
            <a:schemeClr val="bg1"/>
          </a:solidFill>
          <a:ln w="9525">
            <a:solidFill>
              <a:srgbClr val="000000"/>
            </a:solidFill>
            <a:miter lim="800000"/>
            <a:headEnd/>
            <a:tailEnd/>
          </a:ln>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l" eaLnBrk="1" hangingPunct="1"/>
            <a:r>
              <a:rPr lang="fr-FR" sz="1800" dirty="0"/>
              <a:t>Déclaration de fonction : est définie dans un autre fichier.</a:t>
            </a:r>
            <a:endParaRPr lang="en-GB" sz="1800" dirty="0"/>
          </a:p>
        </p:txBody>
      </p:sp>
      <p:sp>
        <p:nvSpPr>
          <p:cNvPr id="63497" name="ZoneTexte 13"/>
          <p:cNvSpPr txBox="1">
            <a:spLocks noChangeArrowheads="1"/>
          </p:cNvSpPr>
          <p:nvPr/>
        </p:nvSpPr>
        <p:spPr bwMode="auto">
          <a:xfrm>
            <a:off x="6336196" y="5205716"/>
            <a:ext cx="2559058" cy="1255728"/>
          </a:xfrm>
          <a:prstGeom prst="rect">
            <a:avLst/>
          </a:prstGeom>
          <a:solidFill>
            <a:schemeClr val="bg1"/>
          </a:solidFill>
          <a:ln w="9525">
            <a:solidFill>
              <a:srgbClr val="000000"/>
            </a:solidFill>
            <a:miter lim="800000"/>
            <a:headEnd/>
            <a:tailEnd/>
          </a:ln>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l" eaLnBrk="1" hangingPunct="1"/>
            <a:r>
              <a:rPr lang="fr-FR" sz="1800" dirty="0"/>
              <a:t>La fonction principale est le point de </a:t>
            </a:r>
            <a:r>
              <a:rPr lang="fr-FR" sz="1800" b="1" dirty="0"/>
              <a:t>départ</a:t>
            </a:r>
            <a:r>
              <a:rPr lang="fr-FR" sz="1800" dirty="0"/>
              <a:t>.</a:t>
            </a:r>
          </a:p>
          <a:p>
            <a:pPr algn="l" eaLnBrk="1" hangingPunct="1"/>
            <a:r>
              <a:rPr lang="fr-FR" sz="1800" dirty="0"/>
              <a:t>Une seule fonction principale !</a:t>
            </a:r>
          </a:p>
        </p:txBody>
      </p:sp>
      <p:cxnSp>
        <p:nvCxnSpPr>
          <p:cNvPr id="63502" name="Connecteur droit 23"/>
          <p:cNvCxnSpPr>
            <a:cxnSpLocks noChangeShapeType="1"/>
          </p:cNvCxnSpPr>
          <p:nvPr/>
        </p:nvCxnSpPr>
        <p:spPr bwMode="auto">
          <a:xfrm>
            <a:off x="118697" y="5084763"/>
            <a:ext cx="5929467" cy="36425"/>
          </a:xfrm>
          <a:prstGeom prst="line">
            <a:avLst/>
          </a:prstGeom>
          <a:noFill/>
          <a:ln w="19050" cap="sq">
            <a:solidFill>
              <a:srgbClr val="FF0000"/>
            </a:solidFill>
            <a:prstDash val="dash"/>
            <a:round/>
            <a:headEnd/>
            <a:tailEnd/>
          </a:ln>
          <a:extLst>
            <a:ext uri="{909E8E84-426E-40dd-AFC4-6F175D3DCCD1}">
              <a14:hiddenFill xmlns:a14="http://schemas.microsoft.com/office/drawing/2010/main" xmlns="">
                <a:noFill/>
              </a14:hiddenFill>
            </a:ext>
          </a:extLst>
        </p:spPr>
      </p:cxnSp>
      <p:cxnSp>
        <p:nvCxnSpPr>
          <p:cNvPr id="19" name="Connecteur droit 19"/>
          <p:cNvCxnSpPr>
            <a:cxnSpLocks noChangeShapeType="1"/>
          </p:cNvCxnSpPr>
          <p:nvPr/>
        </p:nvCxnSpPr>
        <p:spPr bwMode="auto">
          <a:xfrm>
            <a:off x="35496" y="3428802"/>
            <a:ext cx="6084676" cy="198"/>
          </a:xfrm>
          <a:prstGeom prst="line">
            <a:avLst/>
          </a:prstGeom>
          <a:noFill/>
          <a:ln w="19050" cap="sq">
            <a:solidFill>
              <a:srgbClr val="FF0000"/>
            </a:solidFill>
            <a:prstDash val="dash"/>
            <a:round/>
            <a:headEnd/>
            <a:tailEnd/>
          </a:ln>
          <a:extLst>
            <a:ext uri="{909E8E84-426E-40dd-AFC4-6F175D3DCCD1}">
              <a14:hiddenFill xmlns:a14="http://schemas.microsoft.com/office/drawing/2010/main" xmlns="">
                <a:noFill/>
              </a14:hiddenFill>
            </a:ext>
          </a:extLst>
        </p:spPr>
      </p:cxnSp>
      <p:sp>
        <p:nvSpPr>
          <p:cNvPr id="21" name="ZoneTexte 11"/>
          <p:cNvSpPr txBox="1">
            <a:spLocks noChangeArrowheads="1"/>
          </p:cNvSpPr>
          <p:nvPr/>
        </p:nvSpPr>
        <p:spPr bwMode="auto">
          <a:xfrm>
            <a:off x="3887924" y="4149080"/>
            <a:ext cx="3384376" cy="646331"/>
          </a:xfrm>
          <a:prstGeom prst="rect">
            <a:avLst/>
          </a:prstGeom>
          <a:solidFill>
            <a:schemeClr val="bg1"/>
          </a:solidFill>
          <a:ln w="9525">
            <a:solidFill>
              <a:srgbClr val="000000"/>
            </a:solidFill>
            <a:miter lim="800000"/>
            <a:headEnd/>
            <a:tailEnd/>
          </a:ln>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l" eaLnBrk="1" hangingPunct="1"/>
            <a:r>
              <a:rPr lang="en-GB" sz="1800" dirty="0" err="1"/>
              <a:t>Fonction</a:t>
            </a:r>
            <a:r>
              <a:rPr lang="en-GB" sz="1800" dirty="0"/>
              <a:t> </a:t>
            </a:r>
            <a:r>
              <a:rPr lang="en-GB" sz="1800" dirty="0" err="1"/>
              <a:t>definie</a:t>
            </a:r>
            <a:r>
              <a:rPr lang="en-GB" sz="1800" dirty="0"/>
              <a:t> dans </a:t>
            </a:r>
            <a:r>
              <a:rPr lang="en-GB" sz="1800" dirty="0" err="1"/>
              <a:t>ce</a:t>
            </a:r>
            <a:r>
              <a:rPr lang="en-GB" sz="1800" dirty="0"/>
              <a:t> </a:t>
            </a:r>
            <a:r>
              <a:rPr lang="en-GB" sz="1800" dirty="0" err="1"/>
              <a:t>fichier</a:t>
            </a:r>
            <a:r>
              <a:rPr lang="en-GB" sz="1800" dirty="0"/>
              <a:t> (</a:t>
            </a:r>
            <a:r>
              <a:rPr lang="en-GB" sz="1800" dirty="0" err="1"/>
              <a:t>Peut</a:t>
            </a:r>
            <a:r>
              <a:rPr lang="en-GB" sz="1800" dirty="0"/>
              <a:t> </a:t>
            </a:r>
            <a:r>
              <a:rPr lang="en-GB" sz="1800" dirty="0" err="1"/>
              <a:t>être</a:t>
            </a:r>
            <a:r>
              <a:rPr lang="en-GB" sz="1800" dirty="0"/>
              <a:t> </a:t>
            </a:r>
            <a:r>
              <a:rPr lang="en-GB" sz="1800" dirty="0" err="1"/>
              <a:t>exportée</a:t>
            </a:r>
            <a:r>
              <a:rPr lang="en-GB" sz="1800" dirty="0"/>
              <a:t>)</a:t>
            </a:r>
          </a:p>
        </p:txBody>
      </p:sp>
      <p:sp>
        <p:nvSpPr>
          <p:cNvPr id="2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a:t>
            </a:fld>
            <a:endParaRPr lang="fr-FR" sz="1400">
              <a:solidFill>
                <a:srgbClr val="000208"/>
              </a:solidFill>
              <a:latin typeface="Times New Roman" charset="0"/>
            </a:endParaRPr>
          </a:p>
        </p:txBody>
      </p:sp>
      <p:cxnSp>
        <p:nvCxnSpPr>
          <p:cNvPr id="17" name="Connecteur droit 19"/>
          <p:cNvCxnSpPr>
            <a:cxnSpLocks noChangeShapeType="1"/>
          </p:cNvCxnSpPr>
          <p:nvPr/>
        </p:nvCxnSpPr>
        <p:spPr bwMode="auto">
          <a:xfrm>
            <a:off x="35496" y="2888940"/>
            <a:ext cx="6084676" cy="198"/>
          </a:xfrm>
          <a:prstGeom prst="line">
            <a:avLst/>
          </a:prstGeom>
          <a:noFill/>
          <a:ln w="19050" cap="sq">
            <a:solidFill>
              <a:srgbClr val="FF0000"/>
            </a:solidFill>
            <a:prstDash val="dash"/>
            <a:round/>
            <a:headEnd/>
            <a:tailEnd/>
          </a:ln>
          <a:extLst>
            <a:ext uri="{909E8E84-426E-40dd-AFC4-6F175D3DCCD1}">
              <a14:hiddenFill xmlns:a14="http://schemas.microsoft.com/office/drawing/2010/main" xmlns="">
                <a:noFill/>
              </a14:hiddenFill>
            </a:ext>
          </a:extLst>
        </p:spPr>
      </p:cxnSp>
      <p:cxnSp>
        <p:nvCxnSpPr>
          <p:cNvPr id="18" name="Connecteur droit 19"/>
          <p:cNvCxnSpPr>
            <a:cxnSpLocks noChangeShapeType="1"/>
          </p:cNvCxnSpPr>
          <p:nvPr/>
        </p:nvCxnSpPr>
        <p:spPr bwMode="auto">
          <a:xfrm>
            <a:off x="4680" y="3969060"/>
            <a:ext cx="6084676" cy="198"/>
          </a:xfrm>
          <a:prstGeom prst="line">
            <a:avLst/>
          </a:prstGeom>
          <a:noFill/>
          <a:ln w="19050" cap="sq">
            <a:solidFill>
              <a:srgbClr val="FF0000"/>
            </a:solidFill>
            <a:prstDash val="dash"/>
            <a:round/>
            <a:headEnd/>
            <a:tailEnd/>
          </a:ln>
          <a:extLst>
            <a:ext uri="{909E8E84-426E-40dd-AFC4-6F175D3DCCD1}">
              <a14:hiddenFill xmlns:a14="http://schemas.microsoft.com/office/drawing/2010/main" xmlns="">
                <a:noFill/>
              </a14:hiddenFill>
            </a:ext>
          </a:extLst>
        </p:spPr>
      </p:cxnSp>
      <p:sp>
        <p:nvSpPr>
          <p:cNvPr id="2" name="Espace réservé du pied de page 1">
            <a:extLst>
              <a:ext uri="{FF2B5EF4-FFF2-40B4-BE49-F238E27FC236}">
                <a16:creationId xmlns:a16="http://schemas.microsoft.com/office/drawing/2014/main" id="{7764B2F1-CD00-B1C1-08EC-1B151F85A9C2}"/>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22660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49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4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animBg="1"/>
      <p:bldP spid="63494" grpId="0" animBg="1"/>
      <p:bldP spid="63495" grpId="0" animBg="1"/>
      <p:bldP spid="63497"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re 1"/>
          <p:cNvSpPr>
            <a:spLocks noGrp="1"/>
          </p:cNvSpPr>
          <p:nvPr>
            <p:ph type="title"/>
          </p:nvPr>
        </p:nvSpPr>
        <p:spPr/>
        <p:txBody>
          <a:bodyPr/>
          <a:lstStyle/>
          <a:p>
            <a:r>
              <a:rPr lang="fr-FR" sz="2800" dirty="0">
                <a:latin typeface="Arial" charset="0"/>
                <a:cs typeface="ＭＳ Ｐゴシック" charset="0"/>
              </a:rPr>
              <a:t>Même exemple réparti en 3 fichiers</a:t>
            </a:r>
          </a:p>
        </p:txBody>
      </p:sp>
      <p:pic>
        <p:nvPicPr>
          <p:cNvPr id="64515" name="Imag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678807"/>
            <a:ext cx="5148064" cy="5759735"/>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64516" name="Image 5" descr="Capture d’écran 2014-08-25 à 14.44.4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56076" y="3176972"/>
            <a:ext cx="3744416" cy="3240360"/>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64517" name="Image 2" descr="Capture d’écran 2014-08-25 à 15.05.56.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56076" y="692696"/>
            <a:ext cx="3711279" cy="2408709"/>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2" name="Rectangle 1"/>
          <p:cNvSpPr/>
          <p:nvPr/>
        </p:nvSpPr>
        <p:spPr bwMode="auto">
          <a:xfrm>
            <a:off x="0" y="2096852"/>
            <a:ext cx="2015716" cy="432048"/>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a:t>
            </a:fld>
            <a:endParaRPr lang="fr-FR" sz="1400">
              <a:solidFill>
                <a:srgbClr val="000208"/>
              </a:solidFill>
              <a:latin typeface="Times New Roman" charset="0"/>
            </a:endParaRPr>
          </a:p>
        </p:txBody>
      </p:sp>
      <p:sp>
        <p:nvSpPr>
          <p:cNvPr id="1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73295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Compilation JAVA </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395536" y="1329662"/>
            <a:ext cx="8354888" cy="37804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Les fichiers </a:t>
            </a:r>
            <a:r>
              <a:rPr lang="fr-FR" b="1" dirty="0"/>
              <a:t>.java </a:t>
            </a:r>
            <a:r>
              <a:rPr lang="fr-FR" dirty="0"/>
              <a:t>contiennent le code qui sera traduit en fichiers </a:t>
            </a:r>
            <a:r>
              <a:rPr lang="fr-FR" b="1" dirty="0"/>
              <a:t>.class </a:t>
            </a:r>
            <a:r>
              <a:rPr lang="fr-FR" dirty="0"/>
              <a:t>par le compilateur </a:t>
            </a:r>
            <a:r>
              <a:rPr lang="fr-FR" b="1" dirty="0" err="1"/>
              <a:t>javac</a:t>
            </a:r>
            <a:r>
              <a:rPr lang="fr-FR" dirty="0"/>
              <a:t>. </a:t>
            </a:r>
            <a:endParaRPr lang="en-GB" dirty="0"/>
          </a:p>
          <a:p>
            <a:pPr lvl="1"/>
            <a:r>
              <a:rPr lang="fr-FR" dirty="0"/>
              <a:t>Le programme est divisé en classes.</a:t>
            </a:r>
            <a:endParaRPr lang="en-GB" dirty="0"/>
          </a:p>
          <a:p>
            <a:endParaRPr lang="en-GB" dirty="0"/>
          </a:p>
          <a:p>
            <a:r>
              <a:rPr lang="fr-FR" dirty="0"/>
              <a:t>Le </a:t>
            </a:r>
            <a:r>
              <a:rPr lang="fr-FR" dirty="0" err="1"/>
              <a:t>bytecode</a:t>
            </a:r>
            <a:r>
              <a:rPr lang="fr-FR" dirty="0"/>
              <a:t> peut être exécuté sur n'importe quelle machine équipée d'une machine virtuelle Java. La JVM interprète le </a:t>
            </a:r>
            <a:r>
              <a:rPr lang="fr-FR" dirty="0" err="1"/>
              <a:t>bytecode</a:t>
            </a:r>
            <a:r>
              <a:rPr lang="fr-FR" dirty="0"/>
              <a:t> en langage machine (portable, mais lent).</a:t>
            </a:r>
            <a:endParaRPr lang="en-GB" dirty="0"/>
          </a:p>
          <a:p>
            <a:pPr lvl="1"/>
            <a:r>
              <a:rPr lang="fr-FR" dirty="0"/>
              <a:t>La liaison entre les classes s'effectue pendant l'exécution (liaison dynamique).</a:t>
            </a:r>
            <a:endParaRPr lang="en-GB" dirty="0"/>
          </a:p>
          <a:p>
            <a:pPr marL="542925" lvl="1" indent="0">
              <a:buNone/>
            </a:pPr>
            <a:endParaRPr lang="en-GB" dirty="0"/>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52520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Arial" charset="0"/>
              </a:rPr>
              <a:t>JAVA compilation</a:t>
            </a:r>
            <a:endParaRPr lang="en-US" sz="2800" b="0" dirty="0"/>
          </a:p>
        </p:txBody>
      </p:sp>
      <p:sp>
        <p:nvSpPr>
          <p:cNvPr id="6" name="CustomShape 2"/>
          <p:cNvSpPr/>
          <p:nvPr/>
        </p:nvSpPr>
        <p:spPr>
          <a:xfrm>
            <a:off x="3560252" y="1092240"/>
            <a:ext cx="2905200" cy="75564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Libraries</a:t>
            </a:r>
            <a:r>
              <a:rPr lang="fr-FR" sz="2000" dirty="0">
                <a:solidFill>
                  <a:srgbClr val="040001"/>
                </a:solidFill>
                <a:latin typeface="Arial"/>
              </a:rPr>
              <a:t> (.jar)</a:t>
            </a:r>
            <a:endParaRPr dirty="0"/>
          </a:p>
        </p:txBody>
      </p:sp>
      <p:sp>
        <p:nvSpPr>
          <p:cNvPr id="7" name="CustomShape 3"/>
          <p:cNvSpPr/>
          <p:nvPr/>
        </p:nvSpPr>
        <p:spPr>
          <a:xfrm>
            <a:off x="4041212" y="3424320"/>
            <a:ext cx="1940040" cy="2022480"/>
          </a:xfrm>
          <a:prstGeom prst="flowChartAlternateProcess">
            <a:avLst/>
          </a:prstGeom>
          <a:solidFill>
            <a:srgbClr val="DDDDDD"/>
          </a:solidFill>
          <a:ln w="28440">
            <a:solidFill>
              <a:srgbClr val="040001"/>
            </a:solidFill>
            <a:miter/>
          </a:ln>
        </p:spPr>
        <p:txBody>
          <a:bodyPr wrap="none" lIns="103680" tIns="51840" rIns="103680" bIns="51840" anchor="ctr"/>
          <a:lstStyle/>
          <a:p>
            <a:pPr>
              <a:lnSpc>
                <a:spcPct val="100000"/>
              </a:lnSpc>
            </a:pPr>
            <a:r>
              <a:rPr lang="en-US" sz="2000" dirty="0"/>
              <a:t>JAVA Virtual </a:t>
            </a:r>
          </a:p>
          <a:p>
            <a:pPr>
              <a:lnSpc>
                <a:spcPct val="100000"/>
              </a:lnSpc>
            </a:pPr>
            <a:r>
              <a:rPr lang="en-US" sz="2000" dirty="0"/>
              <a:t>Machine</a:t>
            </a:r>
            <a:endParaRPr sz="2000" dirty="0"/>
          </a:p>
        </p:txBody>
      </p:sp>
      <p:sp>
        <p:nvSpPr>
          <p:cNvPr id="8" name="CustomShape 4"/>
          <p:cNvSpPr/>
          <p:nvPr/>
        </p:nvSpPr>
        <p:spPr>
          <a:xfrm>
            <a:off x="6588224" y="4175280"/>
            <a:ext cx="2498760" cy="715680"/>
          </a:xfrm>
          <a:prstGeom prst="flowChartTerminator">
            <a:avLst/>
          </a:prstGeom>
          <a:solidFill>
            <a:srgbClr val="FFFF99"/>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Execution</a:t>
            </a:r>
            <a:endParaRPr dirty="0"/>
          </a:p>
        </p:txBody>
      </p:sp>
      <p:sp>
        <p:nvSpPr>
          <p:cNvPr id="9" name="CustomShape 5"/>
          <p:cNvSpPr/>
          <p:nvPr/>
        </p:nvSpPr>
        <p:spPr>
          <a:xfrm>
            <a:off x="248612" y="1092240"/>
            <a:ext cx="283392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source Java</a:t>
            </a:r>
            <a:endParaRPr dirty="0"/>
          </a:p>
        </p:txBody>
      </p:sp>
      <p:sp>
        <p:nvSpPr>
          <p:cNvPr id="10" name="CustomShape 6"/>
          <p:cNvSpPr/>
          <p:nvPr/>
        </p:nvSpPr>
        <p:spPr>
          <a:xfrm>
            <a:off x="210452" y="2873520"/>
            <a:ext cx="2833920" cy="7729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File .class</a:t>
            </a:r>
            <a:endParaRPr dirty="0"/>
          </a:p>
          <a:p>
            <a:pPr algn="ctr">
              <a:lnSpc>
                <a:spcPct val="100000"/>
              </a:lnSpc>
            </a:pPr>
            <a:r>
              <a:rPr lang="fr-FR" sz="2000" dirty="0">
                <a:solidFill>
                  <a:srgbClr val="040001"/>
                </a:solidFill>
                <a:latin typeface="Arial"/>
              </a:rPr>
              <a:t>(</a:t>
            </a:r>
            <a:r>
              <a:rPr lang="fr-FR" sz="2000" i="1" dirty="0" err="1">
                <a:solidFill>
                  <a:srgbClr val="040001"/>
                </a:solidFill>
                <a:latin typeface="Arial"/>
              </a:rPr>
              <a:t>bytecode</a:t>
            </a:r>
            <a:r>
              <a:rPr lang="fr-FR" sz="2000" i="1" dirty="0">
                <a:solidFill>
                  <a:srgbClr val="040001"/>
                </a:solidFill>
                <a:latin typeface="Arial"/>
              </a:rPr>
              <a:t>)</a:t>
            </a:r>
            <a:endParaRPr dirty="0"/>
          </a:p>
        </p:txBody>
      </p:sp>
      <p:sp>
        <p:nvSpPr>
          <p:cNvPr id="11" name="CustomShape 7"/>
          <p:cNvSpPr/>
          <p:nvPr/>
        </p:nvSpPr>
        <p:spPr>
          <a:xfrm>
            <a:off x="694652" y="1905120"/>
            <a:ext cx="1873440" cy="555480"/>
          </a:xfrm>
          <a:prstGeom prst="flowChartAlternateProcess">
            <a:avLst/>
          </a:prstGeom>
          <a:solidFill>
            <a:srgbClr val="DDDDDD"/>
          </a:solidFill>
          <a:ln w="1908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Java compiler</a:t>
            </a:r>
            <a:endParaRPr dirty="0"/>
          </a:p>
        </p:txBody>
      </p:sp>
      <p:cxnSp>
        <p:nvCxnSpPr>
          <p:cNvPr id="12" name="Line 8"/>
          <p:cNvCxnSpPr/>
          <p:nvPr/>
        </p:nvCxnSpPr>
        <p:spPr>
          <a:xfrm flipH="1">
            <a:off x="1627772" y="1642680"/>
            <a:ext cx="5760" cy="253080"/>
          </a:xfrm>
          <a:prstGeom prst="straightConnector1">
            <a:avLst/>
          </a:prstGeom>
          <a:ln w="12600">
            <a:solidFill>
              <a:srgbClr val="040001"/>
            </a:solidFill>
            <a:miter/>
            <a:tailEnd type="triangle" w="med" len="med"/>
          </a:ln>
        </p:spPr>
      </p:cxnSp>
      <p:cxnSp>
        <p:nvCxnSpPr>
          <p:cNvPr id="13" name="Line 9"/>
          <p:cNvCxnSpPr>
            <a:stCxn id="11" idx="2"/>
          </p:cNvCxnSpPr>
          <p:nvPr/>
        </p:nvCxnSpPr>
        <p:spPr>
          <a:xfrm flipH="1">
            <a:off x="1623092" y="2460600"/>
            <a:ext cx="8640" cy="435600"/>
          </a:xfrm>
          <a:prstGeom prst="straightConnector1">
            <a:avLst/>
          </a:prstGeom>
          <a:ln w="12600">
            <a:solidFill>
              <a:srgbClr val="040001"/>
            </a:solidFill>
            <a:miter/>
            <a:tailEnd type="triangle" w="med" len="med"/>
          </a:ln>
        </p:spPr>
      </p:cxnSp>
      <p:cxnSp>
        <p:nvCxnSpPr>
          <p:cNvPr id="14" name="Line 10"/>
          <p:cNvCxnSpPr>
            <a:stCxn id="10" idx="3"/>
            <a:endCxn id="7" idx="1"/>
          </p:cNvCxnSpPr>
          <p:nvPr/>
        </p:nvCxnSpPr>
        <p:spPr>
          <a:xfrm>
            <a:off x="3044372" y="3260160"/>
            <a:ext cx="997200" cy="1175760"/>
          </a:xfrm>
          <a:prstGeom prst="straightConnector1">
            <a:avLst/>
          </a:prstGeom>
          <a:ln w="12600">
            <a:solidFill>
              <a:srgbClr val="040001"/>
            </a:solidFill>
            <a:miter/>
            <a:tailEnd type="triangle" w="med" len="med"/>
          </a:ln>
        </p:spPr>
      </p:cxnSp>
      <p:cxnSp>
        <p:nvCxnSpPr>
          <p:cNvPr id="15" name="Line 11"/>
          <p:cNvCxnSpPr>
            <a:endCxn id="7" idx="1"/>
          </p:cNvCxnSpPr>
          <p:nvPr/>
        </p:nvCxnSpPr>
        <p:spPr>
          <a:xfrm>
            <a:off x="3075692" y="4089240"/>
            <a:ext cx="965880" cy="346680"/>
          </a:xfrm>
          <a:prstGeom prst="straightConnector1">
            <a:avLst/>
          </a:prstGeom>
          <a:ln w="12600">
            <a:solidFill>
              <a:srgbClr val="040001"/>
            </a:solidFill>
            <a:miter/>
            <a:tailEnd type="triangle" w="med" len="med"/>
          </a:ln>
        </p:spPr>
      </p:cxnSp>
      <p:cxnSp>
        <p:nvCxnSpPr>
          <p:cNvPr id="16" name="Line 12"/>
          <p:cNvCxnSpPr>
            <a:stCxn id="6" idx="2"/>
            <a:endCxn id="7" idx="0"/>
          </p:cNvCxnSpPr>
          <p:nvPr/>
        </p:nvCxnSpPr>
        <p:spPr>
          <a:xfrm flipH="1">
            <a:off x="5011412" y="1847880"/>
            <a:ext cx="1800" cy="1576800"/>
          </a:xfrm>
          <a:prstGeom prst="straightConnector1">
            <a:avLst/>
          </a:prstGeom>
          <a:ln w="12600">
            <a:solidFill>
              <a:srgbClr val="040001"/>
            </a:solidFill>
            <a:miter/>
            <a:tailEnd type="triangle" w="med" len="med"/>
          </a:ln>
        </p:spPr>
      </p:cxnSp>
      <p:cxnSp>
        <p:nvCxnSpPr>
          <p:cNvPr id="17" name="Line 13"/>
          <p:cNvCxnSpPr/>
          <p:nvPr/>
        </p:nvCxnSpPr>
        <p:spPr>
          <a:xfrm>
            <a:off x="5976212" y="4481280"/>
            <a:ext cx="624600" cy="5400"/>
          </a:xfrm>
          <a:prstGeom prst="straightConnector1">
            <a:avLst/>
          </a:prstGeom>
          <a:ln w="12600">
            <a:solidFill>
              <a:srgbClr val="040001"/>
            </a:solidFill>
            <a:miter/>
            <a:tailEnd type="triangle" w="med" len="med"/>
          </a:ln>
        </p:spPr>
      </p:cxnSp>
      <p:sp>
        <p:nvSpPr>
          <p:cNvPr id="18" name="CustomShape 14"/>
          <p:cNvSpPr/>
          <p:nvPr/>
        </p:nvSpPr>
        <p:spPr>
          <a:xfrm>
            <a:off x="-508" y="1743120"/>
            <a:ext cx="3352680" cy="885960"/>
          </a:xfrm>
          <a:prstGeom prst="rect">
            <a:avLst/>
          </a:prstGeom>
          <a:ln w="6480">
            <a:solidFill>
              <a:srgbClr val="000208"/>
            </a:solidFill>
            <a:custDash>
              <a:ds d="72000" sp="54000"/>
            </a:custDash>
            <a:miter/>
          </a:ln>
        </p:spPr>
      </p:sp>
      <p:sp>
        <p:nvSpPr>
          <p:cNvPr id="19" name="CustomShape 15"/>
          <p:cNvSpPr/>
          <p:nvPr/>
        </p:nvSpPr>
        <p:spPr>
          <a:xfrm>
            <a:off x="228092" y="3929040"/>
            <a:ext cx="2833560" cy="77328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File .class</a:t>
            </a:r>
            <a:endParaRPr dirty="0"/>
          </a:p>
          <a:p>
            <a:pPr algn="ctr">
              <a:lnSpc>
                <a:spcPct val="100000"/>
              </a:lnSpc>
            </a:pPr>
            <a:r>
              <a:rPr lang="fr-FR" sz="2000" dirty="0">
                <a:solidFill>
                  <a:srgbClr val="040001"/>
                </a:solidFill>
                <a:latin typeface="Arial"/>
              </a:rPr>
              <a:t>(</a:t>
            </a:r>
            <a:r>
              <a:rPr lang="fr-FR" sz="2000" i="1" dirty="0" err="1">
                <a:solidFill>
                  <a:srgbClr val="040001"/>
                </a:solidFill>
                <a:latin typeface="Arial"/>
              </a:rPr>
              <a:t>bytecode</a:t>
            </a:r>
            <a:r>
              <a:rPr lang="fr-FR" sz="2000" i="1" dirty="0">
                <a:solidFill>
                  <a:srgbClr val="040001"/>
                </a:solidFill>
                <a:latin typeface="Arial"/>
              </a:rPr>
              <a:t>)</a:t>
            </a:r>
            <a:endParaRPr dirty="0"/>
          </a:p>
        </p:txBody>
      </p:sp>
      <p:sp>
        <p:nvSpPr>
          <p:cNvPr id="20" name="CustomShape 16"/>
          <p:cNvSpPr/>
          <p:nvPr/>
        </p:nvSpPr>
        <p:spPr>
          <a:xfrm>
            <a:off x="255092" y="4861080"/>
            <a:ext cx="2833560" cy="7729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File .class</a:t>
            </a:r>
            <a:endParaRPr dirty="0"/>
          </a:p>
          <a:p>
            <a:pPr algn="ctr">
              <a:lnSpc>
                <a:spcPct val="100000"/>
              </a:lnSpc>
            </a:pPr>
            <a:r>
              <a:rPr lang="fr-FR" sz="2000" dirty="0">
                <a:solidFill>
                  <a:srgbClr val="040001"/>
                </a:solidFill>
                <a:latin typeface="Arial"/>
              </a:rPr>
              <a:t>(</a:t>
            </a:r>
            <a:r>
              <a:rPr lang="fr-FR" sz="2000" i="1" dirty="0" err="1">
                <a:solidFill>
                  <a:srgbClr val="040001"/>
                </a:solidFill>
                <a:latin typeface="Arial"/>
              </a:rPr>
              <a:t>bytecode</a:t>
            </a:r>
            <a:r>
              <a:rPr lang="fr-FR" sz="2000" i="1" dirty="0">
                <a:solidFill>
                  <a:srgbClr val="040001"/>
                </a:solidFill>
                <a:latin typeface="Arial"/>
              </a:rPr>
              <a:t>)</a:t>
            </a:r>
            <a:endParaRPr dirty="0"/>
          </a:p>
        </p:txBody>
      </p:sp>
      <p:cxnSp>
        <p:nvCxnSpPr>
          <p:cNvPr id="21" name="Line 17"/>
          <p:cNvCxnSpPr>
            <a:endCxn id="7" idx="1"/>
          </p:cNvCxnSpPr>
          <p:nvPr/>
        </p:nvCxnSpPr>
        <p:spPr>
          <a:xfrm flipV="1">
            <a:off x="3074252" y="4435560"/>
            <a:ext cx="967320" cy="597240"/>
          </a:xfrm>
          <a:prstGeom prst="straightConnector1">
            <a:avLst/>
          </a:prstGeom>
          <a:ln w="12600">
            <a:solidFill>
              <a:srgbClr val="040001"/>
            </a:solidFill>
            <a:miter/>
            <a:tailEnd type="triangle" w="med" len="med"/>
          </a:ln>
        </p:spPr>
      </p:cxnSp>
      <p:sp>
        <p:nvSpPr>
          <p:cNvPr id="2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21</a:t>
            </a:fld>
            <a:endParaRPr lang="fr-FR" sz="1400">
              <a:solidFill>
                <a:srgbClr val="000208"/>
              </a:solidFill>
              <a:latin typeface="Times New Roman" charset="0"/>
            </a:endParaRPr>
          </a:p>
        </p:txBody>
      </p: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5029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Compilation C </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35496" y="889248"/>
            <a:ext cx="9036496" cy="55280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cs typeface="ＭＳ Ｐゴシック" charset="0"/>
              </a:rPr>
              <a:t>L'appel du compilateur C est associé à trois outils. </a:t>
            </a:r>
            <a:endParaRPr lang="en-US" b="1" dirty="0">
              <a:latin typeface="Arial" charset="0"/>
              <a:cs typeface="ＭＳ Ｐゴシック" charset="0"/>
            </a:endParaRPr>
          </a:p>
          <a:p>
            <a:endParaRPr lang="en-US" sz="1000" dirty="0">
              <a:latin typeface="Arial" charset="0"/>
            </a:endParaRPr>
          </a:p>
          <a:p>
            <a:r>
              <a:rPr lang="fr-FR" dirty="0">
                <a:latin typeface="Arial" charset="0"/>
              </a:rPr>
              <a:t>1ère étape : Le préprocesseur (CPP) :</a:t>
            </a:r>
            <a:r>
              <a:rPr lang="en-US" dirty="0">
                <a:latin typeface="Arial" charset="0"/>
              </a:rPr>
              <a:t> </a:t>
            </a:r>
          </a:p>
          <a:p>
            <a:pPr lvl="1"/>
            <a:r>
              <a:rPr lang="fr-FR" dirty="0">
                <a:latin typeface="Arial" charset="0"/>
              </a:rPr>
              <a:t>Gère les directives</a:t>
            </a:r>
            <a:r>
              <a:rPr lang="en-US" dirty="0">
                <a:latin typeface="Arial" charset="0"/>
              </a:rPr>
              <a:t> </a:t>
            </a:r>
            <a:r>
              <a:rPr lang="en-US" b="1" dirty="0">
                <a:latin typeface="Courier"/>
                <a:cs typeface="Courier"/>
              </a:rPr>
              <a:t>(#include, #define </a:t>
            </a:r>
            <a:r>
              <a:rPr lang="en-US" dirty="0">
                <a:latin typeface="Arial" charset="0"/>
              </a:rPr>
              <a:t>etc.)</a:t>
            </a:r>
          </a:p>
          <a:p>
            <a:r>
              <a:rPr lang="fr-FR" dirty="0">
                <a:latin typeface="Arial" charset="0"/>
              </a:rPr>
              <a:t>2ème étape : Compilateur C et assembleur </a:t>
            </a:r>
            <a:r>
              <a:rPr lang="en-US" dirty="0">
                <a:latin typeface="Arial" charset="0"/>
              </a:rPr>
              <a:t>(GCC) : </a:t>
            </a:r>
          </a:p>
          <a:p>
            <a:pPr lvl="1"/>
            <a:r>
              <a:rPr lang="fr-FR" dirty="0"/>
              <a:t>Le compilateur C effectue une traduction un à un d'un fichier de compilation (</a:t>
            </a:r>
            <a:r>
              <a:rPr lang="fr-FR" b="1" dirty="0"/>
              <a:t>.c </a:t>
            </a:r>
            <a:r>
              <a:rPr lang="fr-FR" dirty="0"/>
              <a:t>et </a:t>
            </a:r>
            <a:r>
              <a:rPr lang="fr-FR" b="1" dirty="0"/>
              <a:t>.h</a:t>
            </a:r>
            <a:r>
              <a:rPr lang="fr-FR" dirty="0"/>
              <a:t>) en un fichier d'assemblage </a:t>
            </a:r>
            <a:r>
              <a:rPr lang="en-US" dirty="0">
                <a:solidFill>
                  <a:srgbClr val="000000"/>
                </a:solidFill>
              </a:rPr>
              <a:t>(</a:t>
            </a:r>
            <a:r>
              <a:rPr lang="en-US" b="1" dirty="0">
                <a:solidFill>
                  <a:srgbClr val="000000"/>
                </a:solidFill>
                <a:latin typeface="Courier"/>
                <a:cs typeface="Courier"/>
              </a:rPr>
              <a:t>.s</a:t>
            </a:r>
            <a:r>
              <a:rPr lang="en-US" dirty="0">
                <a:solidFill>
                  <a:srgbClr val="000000"/>
                </a:solidFill>
              </a:rPr>
              <a:t>). </a:t>
            </a:r>
          </a:p>
          <a:p>
            <a:pPr lvl="2"/>
            <a:r>
              <a:rPr lang="fr-FR" sz="2000" dirty="0">
                <a:solidFill>
                  <a:srgbClr val="000000"/>
                </a:solidFill>
              </a:rPr>
              <a:t>Cette étape est cachée par défaut (utilisez </a:t>
            </a:r>
            <a:r>
              <a:rPr lang="fr-FR" sz="2000" b="1" dirty="0" err="1">
                <a:solidFill>
                  <a:srgbClr val="000000"/>
                </a:solidFill>
              </a:rPr>
              <a:t>gcc</a:t>
            </a:r>
            <a:r>
              <a:rPr lang="fr-FR" sz="2000" b="1" dirty="0">
                <a:solidFill>
                  <a:srgbClr val="000000"/>
                </a:solidFill>
              </a:rPr>
              <a:t> -S</a:t>
            </a:r>
            <a:r>
              <a:rPr lang="fr-FR" sz="2000" dirty="0">
                <a:solidFill>
                  <a:srgbClr val="000000"/>
                </a:solidFill>
              </a:rPr>
              <a:t> pour la voir). </a:t>
            </a:r>
            <a:endParaRPr lang="en-US" sz="2000" dirty="0">
              <a:solidFill>
                <a:srgbClr val="000000"/>
              </a:solidFill>
            </a:endParaRPr>
          </a:p>
          <a:p>
            <a:pPr lvl="1"/>
            <a:r>
              <a:rPr lang="fr-FR" dirty="0">
                <a:solidFill>
                  <a:srgbClr val="000000"/>
                </a:solidFill>
              </a:rPr>
              <a:t>Ensuite, l'assembleur génère un fichier objet </a:t>
            </a:r>
            <a:r>
              <a:rPr lang="en-US" dirty="0"/>
              <a:t>(</a:t>
            </a:r>
            <a:r>
              <a:rPr lang="en-US" b="1" dirty="0">
                <a:latin typeface="Courier"/>
                <a:cs typeface="Courier"/>
              </a:rPr>
              <a:t>.o</a:t>
            </a:r>
            <a:r>
              <a:rPr lang="en-US" dirty="0"/>
              <a:t>) avec</a:t>
            </a:r>
          </a:p>
          <a:p>
            <a:pPr lvl="2"/>
            <a:r>
              <a:rPr lang="fr-FR" sz="2000" dirty="0"/>
              <a:t>les instructions machine des fonctions </a:t>
            </a:r>
            <a:r>
              <a:rPr lang="fr-FR" sz="2000" b="1" dirty="0"/>
              <a:t>définies</a:t>
            </a:r>
            <a:r>
              <a:rPr lang="fr-FR" sz="2000" dirty="0"/>
              <a:t> dans ce fichier </a:t>
            </a:r>
            <a:r>
              <a:rPr lang="en-US" sz="2000" b="1" dirty="0">
                <a:latin typeface="Courier"/>
                <a:cs typeface="Courier"/>
              </a:rPr>
              <a:t>.c</a:t>
            </a:r>
            <a:r>
              <a:rPr lang="en-US" sz="2000" dirty="0"/>
              <a:t> </a:t>
            </a:r>
          </a:p>
          <a:p>
            <a:pPr lvl="2"/>
            <a:r>
              <a:rPr lang="fr-FR" sz="2000" dirty="0"/>
              <a:t>les informations sur les fonctions utilisées dans ce fichier .c, mais définies dans un autre fichier</a:t>
            </a:r>
            <a:endParaRPr lang="en-US" dirty="0">
              <a:latin typeface="Arial" charset="0"/>
            </a:endParaRPr>
          </a:p>
          <a:p>
            <a:r>
              <a:rPr lang="fr-FR" dirty="0">
                <a:latin typeface="Arial" charset="0"/>
              </a:rPr>
              <a:t>3e étape : L'éditeur de liens</a:t>
            </a:r>
            <a:r>
              <a:rPr lang="en-US" dirty="0">
                <a:latin typeface="Arial" charset="0"/>
              </a:rPr>
              <a:t> (LD/GCC): </a:t>
            </a:r>
          </a:p>
          <a:p>
            <a:pPr lvl="1"/>
            <a:r>
              <a:rPr lang="fr-FR" dirty="0">
                <a:latin typeface="Arial" charset="0"/>
              </a:rPr>
              <a:t>Établit la liaison (résout les symboles) entre les différents objets du programme (liaison statique) pour créer un </a:t>
            </a:r>
            <a:r>
              <a:rPr lang="fr-FR" b="1" dirty="0">
                <a:latin typeface="Arial" charset="0"/>
              </a:rPr>
              <a:t>fichier exécutable binaire</a:t>
            </a:r>
            <a:r>
              <a:rPr lang="fr-FR" dirty="0">
                <a:latin typeface="Arial" charset="0"/>
              </a:rPr>
              <a:t>.</a:t>
            </a:r>
            <a:endParaRPr lang="en-US" sz="800" dirty="0"/>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182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Compilation C </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6" name="Rectangle 3"/>
          <p:cNvSpPr txBox="1">
            <a:spLocks noChangeArrowheads="1"/>
          </p:cNvSpPr>
          <p:nvPr/>
        </p:nvSpPr>
        <p:spPr bwMode="auto">
          <a:xfrm>
            <a:off x="609600" y="872716"/>
            <a:ext cx="8534400" cy="49325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solidFill>
                  <a:srgbClr val="000000"/>
                </a:solidFill>
              </a:rPr>
              <a:t>The generated binary depends on </a:t>
            </a:r>
          </a:p>
          <a:p>
            <a:pPr lvl="1"/>
            <a:r>
              <a:rPr lang="en-US" b="1" dirty="0">
                <a:solidFill>
                  <a:srgbClr val="000000"/>
                </a:solidFill>
              </a:rPr>
              <a:t>Architecture/processor</a:t>
            </a:r>
          </a:p>
          <a:p>
            <a:pPr marL="542925" lvl="1" indent="0">
              <a:buNone/>
            </a:pPr>
            <a:r>
              <a:rPr lang="en-US" b="1" dirty="0">
                <a:solidFill>
                  <a:srgbClr val="000000"/>
                </a:solidFill>
              </a:rPr>
              <a:t>		AND</a:t>
            </a:r>
          </a:p>
          <a:p>
            <a:pPr lvl="1"/>
            <a:r>
              <a:rPr lang="en-US" b="1" dirty="0">
                <a:solidFill>
                  <a:srgbClr val="000000"/>
                </a:solidFill>
              </a:rPr>
              <a:t>operating system</a:t>
            </a:r>
          </a:p>
          <a:p>
            <a:pPr lvl="1"/>
            <a:r>
              <a:rPr lang="en-US" dirty="0">
                <a:sym typeface="Wingdings"/>
              </a:rPr>
              <a:t> </a:t>
            </a:r>
            <a:r>
              <a:rPr lang="en-US" dirty="0"/>
              <a:t>It is not portable !</a:t>
            </a:r>
          </a:p>
          <a:p>
            <a:endParaRPr lang="en-US" dirty="0">
              <a:solidFill>
                <a:srgbClr val="000000"/>
              </a:solidFill>
            </a:endParaRPr>
          </a:p>
          <a:p>
            <a:r>
              <a:rPr lang="en-US" dirty="0">
                <a:solidFill>
                  <a:srgbClr val="000000"/>
                </a:solidFill>
              </a:rPr>
              <a:t>Possible to use “cross compilation”</a:t>
            </a:r>
            <a:endParaRPr lang="en-US" b="1" dirty="0">
              <a:solidFill>
                <a:srgbClr val="000000"/>
              </a:solidFill>
              <a:latin typeface="Courier"/>
              <a:cs typeface="Courier"/>
            </a:endParaRPr>
          </a:p>
          <a:p>
            <a:pPr lvl="1"/>
            <a:r>
              <a:rPr lang="en-US" dirty="0">
                <a:solidFill>
                  <a:srgbClr val="000000"/>
                </a:solidFill>
              </a:rPr>
              <a:t>Use a machine to create an binary for another machine</a:t>
            </a:r>
          </a:p>
          <a:p>
            <a:pPr lvl="1"/>
            <a:r>
              <a:rPr lang="en-US" dirty="0">
                <a:solidFill>
                  <a:srgbClr val="000000"/>
                </a:solidFill>
              </a:rPr>
              <a:t> </a:t>
            </a:r>
            <a:r>
              <a:rPr lang="en-US" b="1" dirty="0">
                <a:solidFill>
                  <a:srgbClr val="000000"/>
                </a:solidFill>
                <a:latin typeface="Courier"/>
                <a:cs typeface="Courier"/>
              </a:rPr>
              <a:t>–march</a:t>
            </a:r>
          </a:p>
          <a:p>
            <a:pPr lvl="2"/>
            <a:r>
              <a:rPr lang="en-US" sz="2000" b="1" dirty="0">
                <a:solidFill>
                  <a:srgbClr val="000000"/>
                </a:solidFill>
                <a:latin typeface="Courier"/>
                <a:cs typeface="Courier"/>
              </a:rPr>
              <a:t>native</a:t>
            </a:r>
          </a:p>
          <a:p>
            <a:pPr lvl="2"/>
            <a:r>
              <a:rPr lang="en-US" sz="2000" b="1" dirty="0">
                <a:solidFill>
                  <a:srgbClr val="000000"/>
                </a:solidFill>
                <a:latin typeface="Courier"/>
                <a:cs typeface="Courier"/>
              </a:rPr>
              <a:t>i386</a:t>
            </a:r>
          </a:p>
          <a:p>
            <a:pPr lvl="1"/>
            <a:endParaRPr lang="en-US" dirty="0">
              <a:solidFill>
                <a:srgbClr val="000000"/>
              </a:solidFill>
            </a:endParaRPr>
          </a:p>
          <a:p>
            <a:endParaRPr lang="en-US" sz="2400" dirty="0">
              <a:solidFill>
                <a:srgbClr val="000000"/>
              </a:solidFill>
              <a:cs typeface="Courier"/>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0957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Compilation C </a:t>
            </a:r>
          </a:p>
        </p:txBody>
      </p:sp>
      <p:sp>
        <p:nvSpPr>
          <p:cNvPr id="19"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endParaRPr lang="en-GB" dirty="0">
              <a:latin typeface="Arial" charset="0"/>
            </a:endParaRPr>
          </a:p>
        </p:txBody>
      </p:sp>
      <p:sp>
        <p:nvSpPr>
          <p:cNvPr id="7" name="CustomShape 2"/>
          <p:cNvSpPr/>
          <p:nvPr/>
        </p:nvSpPr>
        <p:spPr>
          <a:xfrm>
            <a:off x="3618932" y="4065196"/>
            <a:ext cx="274644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Executable</a:t>
            </a:r>
            <a:r>
              <a:rPr lang="fr-FR" sz="2000" dirty="0">
                <a:solidFill>
                  <a:srgbClr val="040001"/>
                </a:solidFill>
                <a:latin typeface="Arial"/>
              </a:rPr>
              <a:t> file</a:t>
            </a:r>
            <a:endParaRPr dirty="0"/>
          </a:p>
        </p:txBody>
      </p:sp>
      <p:sp>
        <p:nvSpPr>
          <p:cNvPr id="8" name="CustomShape 3"/>
          <p:cNvSpPr/>
          <p:nvPr/>
        </p:nvSpPr>
        <p:spPr>
          <a:xfrm>
            <a:off x="3531812" y="872716"/>
            <a:ext cx="2905200" cy="75564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Dynamic</a:t>
            </a:r>
            <a:r>
              <a:rPr lang="fr-FR" sz="2000" dirty="0">
                <a:solidFill>
                  <a:srgbClr val="040001"/>
                </a:solidFill>
                <a:latin typeface="Arial"/>
              </a:rPr>
              <a:t> Library</a:t>
            </a:r>
          </a:p>
          <a:p>
            <a:pPr algn="ctr">
              <a:lnSpc>
                <a:spcPct val="100000"/>
              </a:lnSpc>
            </a:pPr>
            <a:r>
              <a:rPr lang="fr-FR" sz="2000" dirty="0">
                <a:solidFill>
                  <a:srgbClr val="040001"/>
                </a:solidFill>
                <a:latin typeface="Arial"/>
              </a:rPr>
              <a:t>(ex : .dll, .</a:t>
            </a:r>
            <a:r>
              <a:rPr lang="fr-FR" sz="2000" dirty="0" err="1">
                <a:solidFill>
                  <a:srgbClr val="040001"/>
                </a:solidFill>
                <a:latin typeface="Arial"/>
              </a:rPr>
              <a:t>so</a:t>
            </a:r>
            <a:r>
              <a:rPr lang="fr-FR" sz="2000" dirty="0">
                <a:solidFill>
                  <a:srgbClr val="040001"/>
                </a:solidFill>
                <a:latin typeface="Arial"/>
              </a:rPr>
              <a:t>)</a:t>
            </a:r>
            <a:endParaRPr dirty="0"/>
          </a:p>
        </p:txBody>
      </p:sp>
      <p:sp>
        <p:nvSpPr>
          <p:cNvPr id="9" name="CustomShape 4"/>
          <p:cNvSpPr/>
          <p:nvPr/>
        </p:nvSpPr>
        <p:spPr>
          <a:xfrm>
            <a:off x="885452" y="3477676"/>
            <a:ext cx="1587240" cy="55404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Assembler</a:t>
            </a:r>
            <a:endParaRPr dirty="0"/>
          </a:p>
        </p:txBody>
      </p:sp>
      <p:sp>
        <p:nvSpPr>
          <p:cNvPr id="10" name="CustomShape 5"/>
          <p:cNvSpPr/>
          <p:nvPr/>
        </p:nvSpPr>
        <p:spPr>
          <a:xfrm>
            <a:off x="4060292" y="5157436"/>
            <a:ext cx="1940040" cy="55548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Linker</a:t>
            </a:r>
            <a:endParaRPr dirty="0"/>
          </a:p>
        </p:txBody>
      </p:sp>
      <p:sp>
        <p:nvSpPr>
          <p:cNvPr id="11" name="CustomShape 6"/>
          <p:cNvSpPr/>
          <p:nvPr/>
        </p:nvSpPr>
        <p:spPr>
          <a:xfrm>
            <a:off x="4060292" y="2469676"/>
            <a:ext cx="1852560" cy="554040"/>
          </a:xfrm>
          <a:prstGeom prst="flowChartAlternateProcess">
            <a:avLst/>
          </a:prstGeom>
          <a:solidFill>
            <a:srgbClr val="DDDDDD"/>
          </a:solidFill>
          <a:ln w="2844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Loader (OS)</a:t>
            </a:r>
            <a:endParaRPr dirty="0"/>
          </a:p>
        </p:txBody>
      </p:sp>
      <p:sp>
        <p:nvSpPr>
          <p:cNvPr id="12" name="CustomShape 7"/>
          <p:cNvSpPr/>
          <p:nvPr/>
        </p:nvSpPr>
        <p:spPr>
          <a:xfrm>
            <a:off x="6237500" y="2164017"/>
            <a:ext cx="2835000" cy="1176480"/>
          </a:xfrm>
          <a:prstGeom prst="flowChartPunchedCard">
            <a:avLst/>
          </a:prstGeom>
          <a:solidFill>
            <a:srgbClr val="F8F8F8"/>
          </a:solidFill>
          <a:ln w="9360">
            <a:solidFill>
              <a:srgbClr val="040001"/>
            </a:solidFill>
            <a:miter/>
          </a:ln>
        </p:spPr>
        <p:txBody>
          <a:bodyPr wrap="none" lIns="103680" tIns="0" rIns="103680" bIns="216360" anchor="ctr"/>
          <a:lstStyle/>
          <a:p>
            <a:pPr algn="ctr">
              <a:lnSpc>
                <a:spcPct val="100000"/>
              </a:lnSpc>
            </a:pPr>
            <a:r>
              <a:rPr lang="fr-FR" sz="2000" dirty="0">
                <a:solidFill>
                  <a:srgbClr val="040001"/>
                </a:solidFill>
                <a:latin typeface="Arial"/>
              </a:rPr>
              <a:t>Program in machine </a:t>
            </a:r>
          </a:p>
          <a:p>
            <a:pPr algn="ctr">
              <a:lnSpc>
                <a:spcPct val="100000"/>
              </a:lnSpc>
            </a:pPr>
            <a:r>
              <a:rPr lang="fr-FR" sz="2000" dirty="0" err="1">
                <a:solidFill>
                  <a:srgbClr val="040001"/>
                </a:solidFill>
                <a:latin typeface="Arial"/>
              </a:rPr>
              <a:t>language</a:t>
            </a:r>
            <a:r>
              <a:rPr lang="fr-FR" sz="2000" dirty="0">
                <a:solidFill>
                  <a:srgbClr val="040001"/>
                </a:solidFill>
                <a:latin typeface="Arial"/>
              </a:rPr>
              <a:t> </a:t>
            </a:r>
            <a:r>
              <a:rPr lang="fr-FR" sz="2000" dirty="0" err="1">
                <a:solidFill>
                  <a:srgbClr val="040001"/>
                </a:solidFill>
                <a:latin typeface="Arial"/>
              </a:rPr>
              <a:t>stored</a:t>
            </a:r>
            <a:r>
              <a:rPr lang="fr-FR" sz="2000" dirty="0">
                <a:solidFill>
                  <a:srgbClr val="040001"/>
                </a:solidFill>
                <a:latin typeface="Arial"/>
              </a:rPr>
              <a:t> in RAM</a:t>
            </a:r>
            <a:endParaRPr dirty="0"/>
          </a:p>
        </p:txBody>
      </p:sp>
      <p:sp>
        <p:nvSpPr>
          <p:cNvPr id="13" name="CustomShape 8"/>
          <p:cNvSpPr/>
          <p:nvPr/>
        </p:nvSpPr>
        <p:spPr>
          <a:xfrm>
            <a:off x="6415340" y="5241316"/>
            <a:ext cx="2498400" cy="716040"/>
          </a:xfrm>
          <a:prstGeom prst="flowChartTerminator">
            <a:avLst/>
          </a:prstGeom>
          <a:solidFill>
            <a:srgbClr val="FFFF99"/>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Execution</a:t>
            </a:r>
            <a:endParaRPr dirty="0"/>
          </a:p>
        </p:txBody>
      </p:sp>
      <p:sp>
        <p:nvSpPr>
          <p:cNvPr id="14" name="CustomShape 9"/>
          <p:cNvSpPr/>
          <p:nvPr/>
        </p:nvSpPr>
        <p:spPr>
          <a:xfrm>
            <a:off x="444092" y="5913076"/>
            <a:ext cx="2479680" cy="75708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mn-lt"/>
              </a:rPr>
              <a:t>Static</a:t>
            </a:r>
            <a:r>
              <a:rPr lang="fr-FR" sz="2000" dirty="0">
                <a:solidFill>
                  <a:srgbClr val="040001"/>
                </a:solidFill>
                <a:latin typeface="+mn-lt"/>
              </a:rPr>
              <a:t> Library file (.</a:t>
            </a:r>
            <a:r>
              <a:rPr lang="fr-FR" sz="2000" b="1" dirty="0">
                <a:solidFill>
                  <a:srgbClr val="040001"/>
                </a:solidFill>
                <a:latin typeface="+mn-lt"/>
              </a:rPr>
              <a:t>a</a:t>
            </a:r>
            <a:r>
              <a:rPr lang="fr-FR" sz="2000" dirty="0">
                <a:solidFill>
                  <a:srgbClr val="040001"/>
                </a:solidFill>
                <a:latin typeface="+mn-lt"/>
              </a:rPr>
              <a:t>)</a:t>
            </a:r>
            <a:endParaRPr sz="2000" dirty="0">
              <a:latin typeface="+mn-lt"/>
            </a:endParaRPr>
          </a:p>
        </p:txBody>
      </p:sp>
      <p:sp>
        <p:nvSpPr>
          <p:cNvPr id="15" name="CustomShape 10"/>
          <p:cNvSpPr/>
          <p:nvPr/>
        </p:nvSpPr>
        <p:spPr>
          <a:xfrm>
            <a:off x="444092" y="5241316"/>
            <a:ext cx="2479680" cy="478080"/>
          </a:xfrm>
          <a:prstGeom prst="flowChartPunchedCard">
            <a:avLst/>
          </a:prstGeom>
          <a:solidFill>
            <a:srgbClr val="F8F8F8"/>
          </a:solidFill>
          <a:ln w="9360">
            <a:solidFill>
              <a:srgbClr val="040001"/>
            </a:solidFill>
            <a:miter/>
          </a:ln>
        </p:spPr>
        <p:txBody>
          <a:bodyPr wrap="none" lIns="103680" tIns="51840" rIns="103680" bIns="51840" anchor="ctr"/>
          <a:lstStyle/>
          <a:p>
            <a:r>
              <a:rPr lang="fr-FR" sz="2000" dirty="0">
                <a:solidFill>
                  <a:srgbClr val="040001"/>
                </a:solidFill>
                <a:latin typeface="Arial"/>
              </a:rPr>
              <a:t>File objet2 (.</a:t>
            </a:r>
            <a:r>
              <a:rPr lang="fr-FR" sz="2000" b="1" dirty="0">
                <a:solidFill>
                  <a:srgbClr val="040001"/>
                </a:solidFill>
                <a:latin typeface="Courier New"/>
              </a:rPr>
              <a:t>o</a:t>
            </a:r>
            <a:r>
              <a:rPr lang="fr-FR" sz="2000" dirty="0">
                <a:solidFill>
                  <a:srgbClr val="040001"/>
                </a:solidFill>
                <a:latin typeface="Arial"/>
              </a:rPr>
              <a:t>)</a:t>
            </a:r>
            <a:endParaRPr lang="fr-FR" sz="2000" dirty="0"/>
          </a:p>
        </p:txBody>
      </p:sp>
      <p:sp>
        <p:nvSpPr>
          <p:cNvPr id="16" name="CustomShape 11"/>
          <p:cNvSpPr/>
          <p:nvPr/>
        </p:nvSpPr>
        <p:spPr>
          <a:xfrm>
            <a:off x="444092" y="4569916"/>
            <a:ext cx="247968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File objet1 (.</a:t>
            </a:r>
            <a:r>
              <a:rPr lang="fr-FR" sz="2000" b="1" dirty="0">
                <a:solidFill>
                  <a:srgbClr val="040001"/>
                </a:solidFill>
                <a:latin typeface="Courier New"/>
              </a:rPr>
              <a:t>o</a:t>
            </a:r>
            <a:r>
              <a:rPr lang="fr-FR" sz="2000" dirty="0">
                <a:solidFill>
                  <a:srgbClr val="040001"/>
                </a:solidFill>
                <a:latin typeface="Arial"/>
              </a:rPr>
              <a:t>)</a:t>
            </a:r>
            <a:endParaRPr dirty="0"/>
          </a:p>
        </p:txBody>
      </p:sp>
      <p:sp>
        <p:nvSpPr>
          <p:cNvPr id="17" name="CustomShape 12"/>
          <p:cNvSpPr/>
          <p:nvPr/>
        </p:nvSpPr>
        <p:spPr>
          <a:xfrm>
            <a:off x="267692" y="656692"/>
            <a:ext cx="2833920" cy="828092"/>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a:solidFill>
                  <a:srgbClr val="040001"/>
                </a:solidFill>
                <a:latin typeface="Arial"/>
              </a:rPr>
              <a:t>User C source file (.c) </a:t>
            </a:r>
          </a:p>
          <a:p>
            <a:pPr algn="ctr">
              <a:lnSpc>
                <a:spcPct val="100000"/>
              </a:lnSpc>
            </a:pPr>
            <a:r>
              <a:rPr lang="fr-FR" sz="2000" dirty="0">
                <a:solidFill>
                  <a:srgbClr val="040001"/>
                </a:solidFill>
                <a:latin typeface="Arial"/>
              </a:rPr>
              <a:t>+ headers (.h)</a:t>
            </a:r>
            <a:endParaRPr dirty="0"/>
          </a:p>
        </p:txBody>
      </p:sp>
      <p:sp>
        <p:nvSpPr>
          <p:cNvPr id="18" name="CustomShape 13"/>
          <p:cNvSpPr/>
          <p:nvPr/>
        </p:nvSpPr>
        <p:spPr>
          <a:xfrm>
            <a:off x="229532" y="2653996"/>
            <a:ext cx="2833920" cy="477720"/>
          </a:xfrm>
          <a:prstGeom prst="flowChartPunchedCard">
            <a:avLst/>
          </a:prstGeom>
          <a:solidFill>
            <a:srgbClr val="F8F8F8"/>
          </a:solidFill>
          <a:ln w="936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Assembly</a:t>
            </a:r>
            <a:r>
              <a:rPr lang="fr-FR" sz="2000" dirty="0">
                <a:solidFill>
                  <a:srgbClr val="040001"/>
                </a:solidFill>
                <a:latin typeface="Arial"/>
              </a:rPr>
              <a:t> source</a:t>
            </a:r>
            <a:endParaRPr dirty="0"/>
          </a:p>
        </p:txBody>
      </p:sp>
      <p:sp>
        <p:nvSpPr>
          <p:cNvPr id="20" name="CustomShape 14"/>
          <p:cNvSpPr/>
          <p:nvPr/>
        </p:nvSpPr>
        <p:spPr>
          <a:xfrm>
            <a:off x="656852" y="1685596"/>
            <a:ext cx="1977840" cy="699288"/>
          </a:xfrm>
          <a:prstGeom prst="flowChartAlternateProcess">
            <a:avLst/>
          </a:prstGeom>
          <a:solidFill>
            <a:srgbClr val="DDDDDD"/>
          </a:solidFill>
          <a:ln w="19080">
            <a:solidFill>
              <a:srgbClr val="040001"/>
            </a:solidFill>
            <a:miter/>
          </a:ln>
        </p:spPr>
        <p:txBody>
          <a:bodyPr wrap="none" lIns="103680" tIns="51840" rIns="103680" bIns="51840" anchor="ctr"/>
          <a:lstStyle/>
          <a:p>
            <a:pPr algn="ctr">
              <a:lnSpc>
                <a:spcPct val="100000"/>
              </a:lnSpc>
            </a:pPr>
            <a:r>
              <a:rPr lang="fr-FR" sz="2000" dirty="0" err="1">
                <a:solidFill>
                  <a:srgbClr val="040001"/>
                </a:solidFill>
                <a:latin typeface="Arial"/>
              </a:rPr>
              <a:t>Preprocessor</a:t>
            </a:r>
            <a:r>
              <a:rPr lang="fr-FR" sz="2000" dirty="0">
                <a:solidFill>
                  <a:srgbClr val="040001"/>
                </a:solidFill>
                <a:latin typeface="Arial"/>
              </a:rPr>
              <a:t> + </a:t>
            </a:r>
          </a:p>
          <a:p>
            <a:pPr algn="ctr">
              <a:lnSpc>
                <a:spcPct val="100000"/>
              </a:lnSpc>
            </a:pPr>
            <a:r>
              <a:rPr lang="fr-FR" sz="2000" dirty="0">
                <a:solidFill>
                  <a:srgbClr val="040001"/>
                </a:solidFill>
                <a:latin typeface="Arial"/>
              </a:rPr>
              <a:t>C compiler</a:t>
            </a:r>
            <a:endParaRPr dirty="0"/>
          </a:p>
        </p:txBody>
      </p:sp>
      <p:cxnSp>
        <p:nvCxnSpPr>
          <p:cNvPr id="22" name="Line 15"/>
          <p:cNvCxnSpPr/>
          <p:nvPr/>
        </p:nvCxnSpPr>
        <p:spPr>
          <a:xfrm flipH="1">
            <a:off x="1646852" y="1423156"/>
            <a:ext cx="5760" cy="253080"/>
          </a:xfrm>
          <a:prstGeom prst="straightConnector1">
            <a:avLst/>
          </a:prstGeom>
          <a:ln w="12600">
            <a:solidFill>
              <a:srgbClr val="040001"/>
            </a:solidFill>
            <a:miter/>
            <a:tailEnd type="triangle" w="med" len="med"/>
          </a:ln>
        </p:spPr>
      </p:cxnSp>
      <p:cxnSp>
        <p:nvCxnSpPr>
          <p:cNvPr id="23" name="Line 16"/>
          <p:cNvCxnSpPr>
            <a:stCxn id="20" idx="2"/>
          </p:cNvCxnSpPr>
          <p:nvPr/>
        </p:nvCxnSpPr>
        <p:spPr>
          <a:xfrm flipH="1">
            <a:off x="1637492" y="2384884"/>
            <a:ext cx="8280" cy="291792"/>
          </a:xfrm>
          <a:prstGeom prst="straightConnector1">
            <a:avLst/>
          </a:prstGeom>
          <a:ln w="12600">
            <a:solidFill>
              <a:srgbClr val="040001"/>
            </a:solidFill>
            <a:miter/>
            <a:tailEnd type="triangle" w="med" len="med"/>
          </a:ln>
        </p:spPr>
      </p:cxnSp>
      <p:cxnSp>
        <p:nvCxnSpPr>
          <p:cNvPr id="24" name="Line 17"/>
          <p:cNvCxnSpPr/>
          <p:nvPr/>
        </p:nvCxnSpPr>
        <p:spPr>
          <a:xfrm flipH="1">
            <a:off x="1608692" y="3223516"/>
            <a:ext cx="5400" cy="238680"/>
          </a:xfrm>
          <a:prstGeom prst="straightConnector1">
            <a:avLst/>
          </a:prstGeom>
          <a:ln w="12600">
            <a:solidFill>
              <a:srgbClr val="040001"/>
            </a:solidFill>
            <a:miter/>
            <a:tailEnd type="triangle" w="med" len="med"/>
          </a:ln>
        </p:spPr>
      </p:cxnSp>
      <p:cxnSp>
        <p:nvCxnSpPr>
          <p:cNvPr id="25" name="Line 18"/>
          <p:cNvCxnSpPr/>
          <p:nvPr/>
        </p:nvCxnSpPr>
        <p:spPr>
          <a:xfrm>
            <a:off x="1599332" y="4108036"/>
            <a:ext cx="5400" cy="473760"/>
          </a:xfrm>
          <a:prstGeom prst="straightConnector1">
            <a:avLst/>
          </a:prstGeom>
          <a:ln w="12600">
            <a:solidFill>
              <a:srgbClr val="040001"/>
            </a:solidFill>
            <a:miter/>
            <a:tailEnd type="triangle" w="med" len="med"/>
          </a:ln>
        </p:spPr>
      </p:cxnSp>
      <p:cxnSp>
        <p:nvCxnSpPr>
          <p:cNvPr id="26" name="Line 19"/>
          <p:cNvCxnSpPr/>
          <p:nvPr/>
        </p:nvCxnSpPr>
        <p:spPr>
          <a:xfrm>
            <a:off x="3009092" y="4827316"/>
            <a:ext cx="967320" cy="568800"/>
          </a:xfrm>
          <a:prstGeom prst="straightConnector1">
            <a:avLst/>
          </a:prstGeom>
          <a:ln w="12600">
            <a:solidFill>
              <a:srgbClr val="040001"/>
            </a:solidFill>
            <a:miter/>
            <a:tailEnd type="triangle" w="med" len="med"/>
          </a:ln>
        </p:spPr>
      </p:cxnSp>
      <p:cxnSp>
        <p:nvCxnSpPr>
          <p:cNvPr id="27" name="Line 20"/>
          <p:cNvCxnSpPr/>
          <p:nvPr/>
        </p:nvCxnSpPr>
        <p:spPr>
          <a:xfrm flipV="1">
            <a:off x="3009092" y="5509156"/>
            <a:ext cx="957960" cy="3960"/>
          </a:xfrm>
          <a:prstGeom prst="straightConnector1">
            <a:avLst/>
          </a:prstGeom>
          <a:ln w="12600">
            <a:solidFill>
              <a:srgbClr val="040001"/>
            </a:solidFill>
            <a:miter/>
            <a:tailEnd type="triangle" w="med" len="med"/>
          </a:ln>
        </p:spPr>
      </p:cxnSp>
      <p:cxnSp>
        <p:nvCxnSpPr>
          <p:cNvPr id="28" name="Line 21"/>
          <p:cNvCxnSpPr/>
          <p:nvPr/>
        </p:nvCxnSpPr>
        <p:spPr>
          <a:xfrm flipV="1">
            <a:off x="3009092" y="5584036"/>
            <a:ext cx="967320" cy="776880"/>
          </a:xfrm>
          <a:prstGeom prst="straightConnector1">
            <a:avLst/>
          </a:prstGeom>
          <a:ln w="12600">
            <a:solidFill>
              <a:srgbClr val="040001"/>
            </a:solidFill>
            <a:miter/>
            <a:tailEnd type="triangle" w="med" len="med"/>
          </a:ln>
        </p:spPr>
      </p:cxnSp>
      <p:cxnSp>
        <p:nvCxnSpPr>
          <p:cNvPr id="29" name="Line 22"/>
          <p:cNvCxnSpPr/>
          <p:nvPr/>
        </p:nvCxnSpPr>
        <p:spPr>
          <a:xfrm flipH="1" flipV="1">
            <a:off x="4928252" y="4604476"/>
            <a:ext cx="15120" cy="524160"/>
          </a:xfrm>
          <a:prstGeom prst="straightConnector1">
            <a:avLst/>
          </a:prstGeom>
          <a:ln w="12600">
            <a:solidFill>
              <a:srgbClr val="040001"/>
            </a:solidFill>
            <a:miter/>
            <a:tailEnd type="triangle" w="med" len="med"/>
          </a:ln>
        </p:spPr>
      </p:cxnSp>
      <p:cxnSp>
        <p:nvCxnSpPr>
          <p:cNvPr id="30" name="Line 23"/>
          <p:cNvCxnSpPr/>
          <p:nvPr/>
        </p:nvCxnSpPr>
        <p:spPr>
          <a:xfrm flipH="1" flipV="1">
            <a:off x="4904132" y="3107596"/>
            <a:ext cx="5400" cy="930960"/>
          </a:xfrm>
          <a:prstGeom prst="straightConnector1">
            <a:avLst/>
          </a:prstGeom>
          <a:ln w="12600">
            <a:solidFill>
              <a:srgbClr val="040001"/>
            </a:solidFill>
            <a:miter/>
            <a:tailEnd type="triangle" w="med" len="med"/>
          </a:ln>
        </p:spPr>
      </p:cxnSp>
      <p:cxnSp>
        <p:nvCxnSpPr>
          <p:cNvPr id="31" name="Line 24"/>
          <p:cNvCxnSpPr/>
          <p:nvPr/>
        </p:nvCxnSpPr>
        <p:spPr>
          <a:xfrm>
            <a:off x="4931492" y="1675516"/>
            <a:ext cx="3960" cy="748440"/>
          </a:xfrm>
          <a:prstGeom prst="straightConnector1">
            <a:avLst/>
          </a:prstGeom>
          <a:ln w="12600">
            <a:solidFill>
              <a:srgbClr val="040001"/>
            </a:solidFill>
            <a:miter/>
            <a:tailEnd type="triangle" w="med" len="med"/>
          </a:ln>
        </p:spPr>
      </p:cxnSp>
      <p:cxnSp>
        <p:nvCxnSpPr>
          <p:cNvPr id="32" name="Line 25"/>
          <p:cNvCxnSpPr>
            <a:stCxn id="11" idx="3"/>
            <a:endCxn id="12" idx="1"/>
          </p:cNvCxnSpPr>
          <p:nvPr/>
        </p:nvCxnSpPr>
        <p:spPr>
          <a:xfrm>
            <a:off x="5912852" y="2746696"/>
            <a:ext cx="324648" cy="5561"/>
          </a:xfrm>
          <a:prstGeom prst="straightConnector1">
            <a:avLst/>
          </a:prstGeom>
          <a:ln w="12600">
            <a:solidFill>
              <a:srgbClr val="040001"/>
            </a:solidFill>
            <a:miter/>
            <a:tailEnd type="triangle" w="med" len="med"/>
          </a:ln>
        </p:spPr>
      </p:cxnSp>
      <p:cxnSp>
        <p:nvCxnSpPr>
          <p:cNvPr id="33" name="Line 26"/>
          <p:cNvCxnSpPr/>
          <p:nvPr/>
        </p:nvCxnSpPr>
        <p:spPr>
          <a:xfrm>
            <a:off x="7629620" y="3457156"/>
            <a:ext cx="8640" cy="1753200"/>
          </a:xfrm>
          <a:prstGeom prst="straightConnector1">
            <a:avLst/>
          </a:prstGeom>
          <a:ln w="12600">
            <a:solidFill>
              <a:srgbClr val="040001"/>
            </a:solidFill>
            <a:miter/>
            <a:tailEnd type="triangle" w="med" len="med"/>
          </a:ln>
        </p:spPr>
      </p:cxnSp>
      <p:sp>
        <p:nvSpPr>
          <p:cNvPr id="34" name="CustomShape 27"/>
          <p:cNvSpPr/>
          <p:nvPr/>
        </p:nvSpPr>
        <p:spPr>
          <a:xfrm>
            <a:off x="-508" y="1602824"/>
            <a:ext cx="3352680" cy="2762280"/>
          </a:xfrm>
          <a:prstGeom prst="rect">
            <a:avLst/>
          </a:prstGeom>
          <a:ln w="6480">
            <a:solidFill>
              <a:srgbClr val="000208"/>
            </a:solidFill>
            <a:custDash>
              <a:ds d="72000" sp="54000"/>
            </a:custDash>
            <a:miter/>
          </a:ln>
        </p:spPr>
      </p:sp>
      <p:sp>
        <p:nvSpPr>
          <p:cNvPr id="2" name="Espace réservé du pied de page 1">
            <a:extLst>
              <a:ext uri="{FF2B5EF4-FFF2-40B4-BE49-F238E27FC236}">
                <a16:creationId xmlns:a16="http://schemas.microsoft.com/office/drawing/2014/main" id="{8548B00D-DC1D-EEC8-D153-626E3D411BCA}"/>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210372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152400"/>
            <a:ext cx="7772400" cy="533400"/>
          </a:xfrm>
        </p:spPr>
        <p:txBody>
          <a:bodyPr/>
          <a:lstStyle/>
          <a:p>
            <a:r>
              <a:rPr lang="en-US" sz="2800" dirty="0">
                <a:latin typeface="Arial" charset="0"/>
              </a:rPr>
              <a:t>Compilation C : GCC</a:t>
            </a:r>
            <a:endParaRPr lang="en-US" sz="2800" b="0" dirty="0"/>
          </a:p>
        </p:txBody>
      </p:sp>
      <p:sp>
        <p:nvSpPr>
          <p:cNvPr id="5" name="Rectangle 3"/>
          <p:cNvSpPr txBox="1">
            <a:spLocks noChangeArrowheads="1"/>
          </p:cNvSpPr>
          <p:nvPr/>
        </p:nvSpPr>
        <p:spPr bwMode="auto">
          <a:xfrm>
            <a:off x="107504" y="872716"/>
            <a:ext cx="8892480" cy="5364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b="1" dirty="0"/>
              <a:t>G</a:t>
            </a:r>
            <a:r>
              <a:rPr lang="en-US" dirty="0"/>
              <a:t>NU (GNU is Not Unix!</a:t>
            </a:r>
            <a:r>
              <a:rPr lang="en-US" i="1" dirty="0"/>
              <a:t>) </a:t>
            </a:r>
            <a:r>
              <a:rPr lang="en-US" b="1" dirty="0"/>
              <a:t>C</a:t>
            </a:r>
            <a:r>
              <a:rPr lang="en-US" dirty="0"/>
              <a:t>ompiler </a:t>
            </a:r>
            <a:r>
              <a:rPr lang="en-US" b="1" dirty="0"/>
              <a:t>C</a:t>
            </a:r>
            <a:r>
              <a:rPr lang="en-US" dirty="0"/>
              <a:t>ollection is free software :</a:t>
            </a:r>
          </a:p>
          <a:p>
            <a:pPr lvl="1"/>
            <a:r>
              <a:rPr lang="en-US" dirty="0"/>
              <a:t>Design to target several machines</a:t>
            </a:r>
          </a:p>
          <a:p>
            <a:pPr lvl="1"/>
            <a:r>
              <a:rPr lang="en-US" dirty="0"/>
              <a:t>Exist by default in Linux</a:t>
            </a:r>
          </a:p>
          <a:p>
            <a:pPr lvl="1"/>
            <a:endParaRPr lang="en-US" sz="800" dirty="0"/>
          </a:p>
          <a:p>
            <a:r>
              <a:rPr lang="en-US" dirty="0">
                <a:solidFill>
                  <a:schemeClr val="tx1"/>
                </a:solidFill>
              </a:rPr>
              <a:t>Syntax (see </a:t>
            </a:r>
            <a:r>
              <a:rPr lang="en-US" b="1" dirty="0">
                <a:solidFill>
                  <a:schemeClr val="tx1"/>
                </a:solidFill>
                <a:latin typeface="Courier"/>
                <a:cs typeface="Courier"/>
              </a:rPr>
              <a:t>man </a:t>
            </a:r>
            <a:r>
              <a:rPr lang="en-US" b="1" dirty="0" err="1">
                <a:solidFill>
                  <a:schemeClr val="tx1"/>
                </a:solidFill>
                <a:latin typeface="Courier"/>
                <a:cs typeface="Courier"/>
              </a:rPr>
              <a:t>gcc</a:t>
            </a:r>
            <a:r>
              <a:rPr lang="en-US" dirty="0">
                <a:solidFill>
                  <a:schemeClr val="tx1"/>
                </a:solidFill>
              </a:rPr>
              <a:t>):</a:t>
            </a:r>
          </a:p>
          <a:p>
            <a:pPr marL="0" indent="0">
              <a:buNone/>
            </a:pPr>
            <a:r>
              <a:rPr lang="en-US" dirty="0"/>
              <a:t> </a:t>
            </a:r>
            <a:r>
              <a:rPr lang="en-US" b="1" dirty="0" err="1">
                <a:latin typeface="Courier New"/>
                <a:ea typeface="Courier New"/>
              </a:rPr>
              <a:t>gcc</a:t>
            </a:r>
            <a:r>
              <a:rPr lang="en-US" b="1" dirty="0">
                <a:latin typeface="Courier New"/>
                <a:ea typeface="Courier New"/>
              </a:rPr>
              <a:t> [-c] [-g] [-I </a:t>
            </a:r>
            <a:r>
              <a:rPr lang="en-US" b="1" dirty="0" err="1">
                <a:latin typeface="Courier New"/>
                <a:ea typeface="Courier New"/>
              </a:rPr>
              <a:t>dir</a:t>
            </a:r>
            <a:r>
              <a:rPr lang="en-US" b="1" dirty="0">
                <a:latin typeface="Courier New"/>
                <a:ea typeface="Courier New"/>
              </a:rPr>
              <a:t>] [-o nom] f1 … </a:t>
            </a:r>
            <a:r>
              <a:rPr lang="en-US" b="1" dirty="0" err="1">
                <a:latin typeface="Courier New"/>
                <a:ea typeface="Courier New"/>
              </a:rPr>
              <a:t>fn</a:t>
            </a:r>
            <a:endParaRPr lang="en-US" dirty="0"/>
          </a:p>
          <a:p>
            <a:endParaRPr lang="en-US" sz="800" dirty="0"/>
          </a:p>
          <a:p>
            <a:r>
              <a:rPr lang="en-US" dirty="0"/>
              <a:t>Options</a:t>
            </a:r>
          </a:p>
          <a:p>
            <a:pPr lvl="1"/>
            <a:r>
              <a:rPr lang="en-US" b="1" dirty="0">
                <a:latin typeface="Courier New"/>
                <a:ea typeface="Courier New"/>
              </a:rPr>
              <a:t>-c</a:t>
            </a:r>
            <a:r>
              <a:rPr lang="en-US" dirty="0"/>
              <a:t> : Produce an </a:t>
            </a:r>
            <a:r>
              <a:rPr lang="en-US" b="1" dirty="0"/>
              <a:t>object</a:t>
            </a:r>
            <a:r>
              <a:rPr lang="en-US" dirty="0"/>
              <a:t> file </a:t>
            </a:r>
            <a:r>
              <a:rPr lang="en-US" b="1" dirty="0">
                <a:latin typeface="Courier New"/>
                <a:ea typeface="Courier New"/>
              </a:rPr>
              <a:t>.o</a:t>
            </a:r>
            <a:r>
              <a:rPr lang="en-US" b="1" dirty="0">
                <a:ea typeface="Courier New"/>
              </a:rPr>
              <a:t> </a:t>
            </a:r>
            <a:r>
              <a:rPr lang="en-US" dirty="0">
                <a:ea typeface="Courier New"/>
              </a:rPr>
              <a:t>from</a:t>
            </a:r>
            <a:r>
              <a:rPr lang="en-US" b="1" dirty="0">
                <a:latin typeface="Courier New"/>
                <a:ea typeface="Courier New"/>
              </a:rPr>
              <a:t> .c</a:t>
            </a:r>
            <a:r>
              <a:rPr lang="en-US" dirty="0">
                <a:ea typeface="Courier New"/>
              </a:rPr>
              <a:t> file</a:t>
            </a:r>
            <a:r>
              <a:rPr lang="en-US" b="1" dirty="0">
                <a:latin typeface="Courier New"/>
                <a:ea typeface="Courier New"/>
              </a:rPr>
              <a:t> </a:t>
            </a:r>
            <a:r>
              <a:rPr lang="en-US" dirty="0">
                <a:ea typeface="Courier New"/>
              </a:rPr>
              <a:t>by stopping before linking </a:t>
            </a:r>
          </a:p>
          <a:p>
            <a:pPr lvl="1"/>
            <a:r>
              <a:rPr lang="en-US" b="1" dirty="0">
                <a:latin typeface="Courier New"/>
                <a:ea typeface="Courier New"/>
              </a:rPr>
              <a:t>-I </a:t>
            </a:r>
            <a:r>
              <a:rPr lang="en-US" b="1" dirty="0" err="1">
                <a:latin typeface="Courier New"/>
                <a:ea typeface="Courier New"/>
              </a:rPr>
              <a:t>dir</a:t>
            </a:r>
            <a:r>
              <a:rPr lang="en-US" dirty="0"/>
              <a:t> : adds </a:t>
            </a:r>
            <a:r>
              <a:rPr lang="en-US" b="1" dirty="0" err="1">
                <a:latin typeface="Courier"/>
                <a:cs typeface="Courier"/>
              </a:rPr>
              <a:t>dir</a:t>
            </a:r>
            <a:r>
              <a:rPr lang="en-US" dirty="0"/>
              <a:t> in the include path (used header files </a:t>
            </a:r>
            <a:r>
              <a:rPr lang="en-US" b="1" dirty="0">
                <a:latin typeface="Courier"/>
                <a:cs typeface="Courier"/>
              </a:rPr>
              <a:t>.h</a:t>
            </a:r>
            <a:r>
              <a:rPr lang="en-US" dirty="0">
                <a:latin typeface="Courier"/>
                <a:cs typeface="Courier"/>
              </a:rPr>
              <a:t>)</a:t>
            </a:r>
          </a:p>
          <a:p>
            <a:pPr lvl="1"/>
            <a:r>
              <a:rPr lang="en-US" b="1" dirty="0">
                <a:latin typeface="Courier New"/>
                <a:ea typeface="Courier New"/>
              </a:rPr>
              <a:t>-o nom</a:t>
            </a:r>
            <a:r>
              <a:rPr lang="en-US" dirty="0"/>
              <a:t> : Specifies the name of output file. By default:</a:t>
            </a:r>
          </a:p>
          <a:p>
            <a:pPr lvl="2"/>
            <a:r>
              <a:rPr lang="en-US" sz="2000" dirty="0">
                <a:ea typeface="Courier New"/>
              </a:rPr>
              <a:t>object files have the same name as their code files</a:t>
            </a:r>
            <a:endParaRPr lang="en-US" sz="2000" dirty="0"/>
          </a:p>
          <a:p>
            <a:pPr lvl="2"/>
            <a:r>
              <a:rPr lang="en-US" sz="2000" dirty="0"/>
              <a:t>Executable file: </a:t>
            </a:r>
            <a:r>
              <a:rPr lang="en-US" sz="2000" b="1" dirty="0" err="1">
                <a:latin typeface="Courier New"/>
                <a:ea typeface="Courier New"/>
              </a:rPr>
              <a:t>a.out</a:t>
            </a:r>
            <a:endParaRPr lang="en-US" sz="2000" dirty="0"/>
          </a:p>
          <a:p>
            <a:pPr lvl="1"/>
            <a:r>
              <a:rPr lang="en-US" b="1" dirty="0">
                <a:latin typeface="Courier New"/>
                <a:ea typeface="Courier New"/>
              </a:rPr>
              <a:t>-g</a:t>
            </a:r>
            <a:r>
              <a:rPr lang="en-US" dirty="0"/>
              <a:t> : Inserts the information needed by the debugger</a:t>
            </a:r>
          </a:p>
          <a:p>
            <a:pPr lvl="1">
              <a:buSzPct val="25000"/>
              <a:buFont typeface="StarSymbol"/>
              <a:buChar char=""/>
            </a:pPr>
            <a:endParaRPr lang="en-US" dirty="0"/>
          </a:p>
          <a:p>
            <a:pPr>
              <a:buSzPct val="25000"/>
              <a:buFont typeface="StarSymbol"/>
              <a:buChar char=""/>
            </a:pPr>
            <a:endParaRPr lang="en-US" sz="2000" dirty="0"/>
          </a:p>
          <a:p>
            <a:endParaRPr lang="en-US" dirty="0"/>
          </a:p>
          <a:p>
            <a:endParaRPr lang="en-US" dirty="0"/>
          </a:p>
        </p:txBody>
      </p:sp>
      <p:sp>
        <p:nvSpPr>
          <p:cNvPr id="6" name="Espace réservé du numéro de diapositive 4"/>
          <p:cNvSpPr>
            <a:spLocks noGrp="1"/>
          </p:cNvSpPr>
          <p:nvPr>
            <p:ph type="sldNum" sz="quarter" idx="11"/>
          </p:nvPr>
        </p:nvSpPr>
        <p:spPr>
          <a:xfrm>
            <a:off x="6336196" y="6381328"/>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25</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009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26</a:t>
            </a:fld>
            <a:endParaRPr lang="fr-FR" sz="1400">
              <a:solidFill>
                <a:srgbClr val="000208"/>
              </a:solidFill>
              <a:latin typeface="Times New Roman" charset="0"/>
            </a:endParaRPr>
          </a:p>
        </p:txBody>
      </p:sp>
      <p:sp>
        <p:nvSpPr>
          <p:cNvPr id="4" name="Title 1"/>
          <p:cNvSpPr>
            <a:spLocks noGrp="1"/>
          </p:cNvSpPr>
          <p:nvPr>
            <p:ph type="title"/>
          </p:nvPr>
        </p:nvSpPr>
        <p:spPr>
          <a:xfrm>
            <a:off x="304800" y="152400"/>
            <a:ext cx="7772400" cy="533400"/>
          </a:xfrm>
        </p:spPr>
        <p:txBody>
          <a:bodyPr/>
          <a:lstStyle/>
          <a:p>
            <a:r>
              <a:rPr lang="en-US" sz="2800" dirty="0">
                <a:latin typeface="Arial" charset="0"/>
              </a:rPr>
              <a:t>GCC : Une compilation de </a:t>
            </a:r>
            <a:r>
              <a:rPr lang="en-US" sz="2800" dirty="0" err="1">
                <a:latin typeface="Arial" charset="0"/>
              </a:rPr>
              <a:t>fichier</a:t>
            </a:r>
            <a:endParaRPr lang="en-US" sz="2800" b="0" dirty="0"/>
          </a:p>
        </p:txBody>
      </p:sp>
      <p:sp>
        <p:nvSpPr>
          <p:cNvPr id="5" name="Rectangle 3"/>
          <p:cNvSpPr txBox="1">
            <a:spLocks noChangeArrowheads="1"/>
          </p:cNvSpPr>
          <p:nvPr/>
        </p:nvSpPr>
        <p:spPr bwMode="auto">
          <a:xfrm>
            <a:off x="287524" y="872716"/>
            <a:ext cx="8856476"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Produire un exécutable appelé </a:t>
            </a:r>
            <a:r>
              <a:rPr lang="en-US" b="1" dirty="0">
                <a:latin typeface="Courier New"/>
                <a:ea typeface="Courier New"/>
              </a:rPr>
              <a:t>module</a:t>
            </a:r>
            <a:r>
              <a:rPr lang="fr-FR" dirty="0"/>
              <a:t> à partir du fichier</a:t>
            </a:r>
            <a:r>
              <a:rPr lang="en-US" dirty="0"/>
              <a:t> </a:t>
            </a:r>
            <a:r>
              <a:rPr lang="en-US" b="1" dirty="0" err="1">
                <a:latin typeface="Courier New"/>
                <a:ea typeface="Courier New"/>
              </a:rPr>
              <a:t>module.c</a:t>
            </a:r>
            <a:endParaRPr lang="en-US" dirty="0"/>
          </a:p>
          <a:p>
            <a:pPr marL="0" lvl="1" indent="0">
              <a:buSzPct val="75000"/>
              <a:buNone/>
            </a:pPr>
            <a:r>
              <a:rPr lang="en-US" b="1" dirty="0">
                <a:latin typeface="Courier New"/>
                <a:ea typeface="Courier New"/>
              </a:rPr>
              <a:t>  </a:t>
            </a:r>
            <a:r>
              <a:rPr lang="en-US" b="1" dirty="0" err="1">
                <a:latin typeface="Courier New"/>
                <a:ea typeface="Courier New"/>
              </a:rPr>
              <a:t>gcc</a:t>
            </a:r>
            <a:r>
              <a:rPr lang="en-US" b="1" dirty="0">
                <a:latin typeface="Courier New"/>
                <a:ea typeface="Courier New"/>
              </a:rPr>
              <a:t> </a:t>
            </a:r>
            <a:r>
              <a:rPr lang="en-US" b="1" dirty="0" err="1">
                <a:latin typeface="Courier New"/>
                <a:ea typeface="Courier New"/>
              </a:rPr>
              <a:t>module.c</a:t>
            </a:r>
            <a:r>
              <a:rPr lang="en-US" b="1" dirty="0">
                <a:latin typeface="Courier New"/>
                <a:ea typeface="Courier New"/>
              </a:rPr>
              <a:t> -o module</a:t>
            </a:r>
            <a:endParaRPr lang="en-US" dirty="0"/>
          </a:p>
        </p:txBody>
      </p:sp>
      <p:pic>
        <p:nvPicPr>
          <p:cNvPr id="6" name="Imag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7524" y="2384884"/>
            <a:ext cx="3944751" cy="381642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7" name="Image 6" descr="Capture d’écran 2014-08-25 à 11.50.42.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3068960"/>
            <a:ext cx="4060304" cy="233971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1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50004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27</a:t>
            </a:fld>
            <a:endParaRPr lang="fr-FR" sz="1400">
              <a:solidFill>
                <a:srgbClr val="000208"/>
              </a:solidFill>
              <a:latin typeface="Times New Roman" charset="0"/>
            </a:endParaRPr>
          </a:p>
        </p:txBody>
      </p:sp>
      <p:sp>
        <p:nvSpPr>
          <p:cNvPr id="4" name="Title 1"/>
          <p:cNvSpPr>
            <a:spLocks noGrp="1"/>
          </p:cNvSpPr>
          <p:nvPr>
            <p:ph type="title"/>
          </p:nvPr>
        </p:nvSpPr>
        <p:spPr>
          <a:xfrm>
            <a:off x="304800" y="152400"/>
            <a:ext cx="7772400" cy="533400"/>
          </a:xfrm>
        </p:spPr>
        <p:txBody>
          <a:bodyPr/>
          <a:lstStyle/>
          <a:p>
            <a:r>
              <a:rPr lang="en-US" sz="2800" dirty="0">
                <a:latin typeface="Arial" charset="0"/>
              </a:rPr>
              <a:t>GCC: </a:t>
            </a:r>
            <a:r>
              <a:rPr lang="en-US" sz="2800" dirty="0" err="1">
                <a:latin typeface="Arial" charset="0"/>
              </a:rPr>
              <a:t>Plusieurs</a:t>
            </a:r>
            <a:r>
              <a:rPr lang="en-US" sz="2800" dirty="0">
                <a:latin typeface="Arial" charset="0"/>
              </a:rPr>
              <a:t> compilation de </a:t>
            </a:r>
            <a:r>
              <a:rPr lang="en-US" sz="2800" dirty="0" err="1">
                <a:latin typeface="Arial" charset="0"/>
              </a:rPr>
              <a:t>fichiers</a:t>
            </a:r>
            <a:endParaRPr lang="en-US" sz="2800" b="0" dirty="0"/>
          </a:p>
        </p:txBody>
      </p:sp>
      <p:sp>
        <p:nvSpPr>
          <p:cNvPr id="5" name="Rectangle 3"/>
          <p:cNvSpPr txBox="1">
            <a:spLocks noChangeArrowheads="1"/>
          </p:cNvSpPr>
          <p:nvPr/>
        </p:nvSpPr>
        <p:spPr bwMode="auto">
          <a:xfrm>
            <a:off x="287524" y="872716"/>
            <a:ext cx="8460940" cy="3816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t>Produire un fichier </a:t>
            </a:r>
            <a:r>
              <a:rPr lang="en-US" b="1" dirty="0"/>
              <a:t>object</a:t>
            </a:r>
            <a:r>
              <a:rPr lang="fr-FR" dirty="0"/>
              <a:t> appelé </a:t>
            </a:r>
            <a:r>
              <a:rPr lang="en-US" b="1" dirty="0" err="1">
                <a:latin typeface="Courier New"/>
                <a:ea typeface="Courier New"/>
              </a:rPr>
              <a:t>module.o</a:t>
            </a:r>
            <a:r>
              <a:rPr lang="fr-FR" dirty="0"/>
              <a:t> à partir d'un fichier de code </a:t>
            </a:r>
            <a:r>
              <a:rPr lang="en-US" b="1" dirty="0" err="1">
                <a:latin typeface="Courier New"/>
                <a:ea typeface="Courier New"/>
              </a:rPr>
              <a:t>module.c</a:t>
            </a:r>
            <a:r>
              <a:rPr lang="fr-FR" dirty="0"/>
              <a:t> </a:t>
            </a:r>
            <a:r>
              <a:rPr lang="en-US" dirty="0"/>
              <a:t> (</a:t>
            </a:r>
            <a:r>
              <a:rPr lang="en-US" b="1" dirty="0">
                <a:solidFill>
                  <a:srgbClr val="FF0000"/>
                </a:solidFill>
                <a:latin typeface="Courier New"/>
                <a:ea typeface="Courier New"/>
              </a:rPr>
              <a:t>-c : </a:t>
            </a:r>
            <a:r>
              <a:rPr lang="en-US" dirty="0" err="1">
                <a:solidFill>
                  <a:srgbClr val="FF0000"/>
                </a:solidFill>
              </a:rPr>
              <a:t>arrêter</a:t>
            </a:r>
            <a:r>
              <a:rPr lang="en-US" dirty="0">
                <a:solidFill>
                  <a:srgbClr val="FF0000"/>
                </a:solidFill>
              </a:rPr>
              <a:t> </a:t>
            </a:r>
            <a:r>
              <a:rPr lang="en-US" dirty="0" err="1">
                <a:solidFill>
                  <a:srgbClr val="FF0000"/>
                </a:solidFill>
              </a:rPr>
              <a:t>avant</a:t>
            </a:r>
            <a:r>
              <a:rPr lang="en-US" dirty="0">
                <a:solidFill>
                  <a:srgbClr val="FF0000"/>
                </a:solidFill>
              </a:rPr>
              <a:t> liaison</a:t>
            </a:r>
            <a:r>
              <a:rPr lang="en-US" dirty="0"/>
              <a:t>) </a:t>
            </a:r>
          </a:p>
          <a:p>
            <a:pPr marL="0" lvl="1" indent="0">
              <a:buSzPct val="75000"/>
              <a:buNone/>
            </a:pPr>
            <a:r>
              <a:rPr lang="en-US" b="1" dirty="0" err="1">
                <a:latin typeface="Courier New"/>
                <a:ea typeface="Courier New"/>
              </a:rPr>
              <a:t>gcc</a:t>
            </a:r>
            <a:r>
              <a:rPr lang="en-US" b="1" dirty="0">
                <a:latin typeface="Courier New"/>
                <a:ea typeface="Courier New"/>
              </a:rPr>
              <a:t> -o </a:t>
            </a:r>
            <a:r>
              <a:rPr lang="en-US" b="1" dirty="0" err="1">
                <a:latin typeface="Courier New"/>
                <a:ea typeface="Courier New"/>
              </a:rPr>
              <a:t>module.o</a:t>
            </a:r>
            <a:r>
              <a:rPr lang="en-US" b="1" dirty="0">
                <a:latin typeface="Courier New"/>
                <a:ea typeface="Courier New"/>
              </a:rPr>
              <a:t> -c </a:t>
            </a:r>
            <a:r>
              <a:rPr lang="en-US" b="1" dirty="0" err="1">
                <a:latin typeface="Courier New"/>
                <a:ea typeface="Courier New"/>
              </a:rPr>
              <a:t>module.c</a:t>
            </a:r>
            <a:endParaRPr lang="en-US" dirty="0"/>
          </a:p>
          <a:p>
            <a:pPr marL="0" lvl="1" indent="0">
              <a:buSzPct val="75000"/>
              <a:buNone/>
            </a:pPr>
            <a:endParaRPr lang="en-US" dirty="0"/>
          </a:p>
          <a:p>
            <a:r>
              <a:rPr lang="fr-FR" dirty="0"/>
              <a:t>Produire un fichier </a:t>
            </a:r>
            <a:r>
              <a:rPr lang="fr-FR" b="1" dirty="0"/>
              <a:t>exécutable</a:t>
            </a:r>
            <a:r>
              <a:rPr lang="fr-FR" dirty="0"/>
              <a:t> nommé </a:t>
            </a:r>
            <a:r>
              <a:rPr lang="fr-FR" b="1" dirty="0"/>
              <a:t>prog</a:t>
            </a:r>
            <a:r>
              <a:rPr lang="fr-FR" dirty="0"/>
              <a:t> en liant ses fichiers </a:t>
            </a:r>
            <a:r>
              <a:rPr lang="fr-FR" dirty="0" err="1"/>
              <a:t>object</a:t>
            </a:r>
            <a:r>
              <a:rPr lang="fr-FR" dirty="0"/>
              <a:t>(s) à l'aide de -o.</a:t>
            </a:r>
            <a:r>
              <a:rPr lang="en-US" dirty="0"/>
              <a:t> </a:t>
            </a:r>
          </a:p>
          <a:p>
            <a:pPr marL="0" lvl="1" indent="0">
              <a:buSzPct val="75000"/>
              <a:buNone/>
            </a:pPr>
            <a:r>
              <a:rPr lang="en-US" b="1" dirty="0" err="1">
                <a:latin typeface="Courier New"/>
                <a:ea typeface="Courier New"/>
              </a:rPr>
              <a:t>gcc</a:t>
            </a:r>
            <a:r>
              <a:rPr lang="en-US" b="1" dirty="0">
                <a:latin typeface="Courier New"/>
                <a:ea typeface="Courier New"/>
              </a:rPr>
              <a:t> -o </a:t>
            </a:r>
            <a:r>
              <a:rPr lang="en-US" b="1" dirty="0" err="1">
                <a:latin typeface="Courier New"/>
                <a:ea typeface="Courier New"/>
              </a:rPr>
              <a:t>prog</a:t>
            </a:r>
            <a:r>
              <a:rPr lang="en-US" b="1" dirty="0">
                <a:latin typeface="Courier New"/>
                <a:ea typeface="Courier New"/>
              </a:rPr>
              <a:t> module1.o … </a:t>
            </a:r>
            <a:r>
              <a:rPr lang="en-US" b="1" dirty="0" err="1">
                <a:latin typeface="Courier New"/>
                <a:ea typeface="Courier New"/>
              </a:rPr>
              <a:t>moduleN.o</a:t>
            </a:r>
            <a:endParaRPr lang="en-US" dirty="0"/>
          </a:p>
          <a:p>
            <a:endParaRPr lang="en-US" dirty="0"/>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53688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re 1"/>
          <p:cNvSpPr>
            <a:spLocks noGrp="1"/>
          </p:cNvSpPr>
          <p:nvPr>
            <p:ph type="title"/>
          </p:nvPr>
        </p:nvSpPr>
        <p:spPr/>
        <p:txBody>
          <a:bodyPr/>
          <a:lstStyle/>
          <a:p>
            <a:r>
              <a:rPr lang="fr-FR" sz="2800" dirty="0">
                <a:latin typeface="Arial" charset="0"/>
                <a:ea typeface="ＭＳ Ｐゴシック" charset="0"/>
                <a:cs typeface="ＭＳ Ｐゴシック" charset="0"/>
              </a:rPr>
              <a:t>Compilation C  : L’outil </a:t>
            </a:r>
            <a:r>
              <a:rPr lang="fr-FR" sz="2800" dirty="0" err="1">
                <a:latin typeface="Courier New"/>
                <a:ea typeface="ＭＳ Ｐゴシック" charset="0"/>
                <a:cs typeface="Courier New"/>
              </a:rPr>
              <a:t>make</a:t>
            </a:r>
            <a:endParaRPr lang="fr-FR" sz="2800" dirty="0">
              <a:latin typeface="Courier New"/>
              <a:ea typeface="ＭＳ Ｐゴシック" charset="0"/>
              <a:cs typeface="Courier New"/>
            </a:endParaRPr>
          </a:p>
        </p:txBody>
      </p:sp>
      <p:sp>
        <p:nvSpPr>
          <p:cNvPr id="56322" name="Espace réservé du contenu 2"/>
          <p:cNvSpPr>
            <a:spLocks noGrp="1"/>
          </p:cNvSpPr>
          <p:nvPr>
            <p:ph idx="1"/>
          </p:nvPr>
        </p:nvSpPr>
        <p:spPr>
          <a:xfrm>
            <a:off x="431540" y="1016732"/>
            <a:ext cx="7854462" cy="4537075"/>
          </a:xfrm>
        </p:spPr>
        <p:txBody>
          <a:bodyPr/>
          <a:lstStyle/>
          <a:p>
            <a:r>
              <a:rPr lang="en-GB" dirty="0">
                <a:latin typeface="Arial" charset="0"/>
                <a:cs typeface="ＭＳ Ｐゴシック" charset="0"/>
              </a:rPr>
              <a:t>Principe</a:t>
            </a:r>
          </a:p>
          <a:p>
            <a:pPr lvl="1"/>
            <a:r>
              <a:rPr lang="fr-FR" dirty="0">
                <a:latin typeface="Arial" charset="0"/>
              </a:rPr>
              <a:t>Utilisé pour automatiser la compilation de projets (importants) qui se composent de plusieurs fichiers</a:t>
            </a:r>
          </a:p>
          <a:p>
            <a:pPr lvl="1"/>
            <a:r>
              <a:rPr lang="fr-FR" dirty="0">
                <a:latin typeface="Arial" charset="0"/>
              </a:rPr>
              <a:t>Gère les dépendances entre les fichiers (par exemple, les </a:t>
            </a:r>
            <a:r>
              <a:rPr lang="en-GB" b="1" dirty="0">
                <a:solidFill>
                  <a:srgbClr val="000000"/>
                </a:solidFill>
                <a:latin typeface="Courier"/>
                <a:cs typeface="Courier"/>
              </a:rPr>
              <a:t>#includes</a:t>
            </a:r>
            <a:r>
              <a:rPr lang="fr-FR" dirty="0">
                <a:latin typeface="Arial" charset="0"/>
              </a:rPr>
              <a:t>)</a:t>
            </a:r>
            <a:endParaRPr lang="en-GB" dirty="0">
              <a:latin typeface="Arial" charset="0"/>
            </a:endParaRPr>
          </a:p>
          <a:p>
            <a:pPr marL="0" indent="0">
              <a:buNone/>
            </a:pPr>
            <a:r>
              <a:rPr lang="en-GB" dirty="0" err="1">
                <a:latin typeface="Arial" charset="0"/>
                <a:cs typeface="ＭＳ Ｐゴシック" charset="0"/>
              </a:rPr>
              <a:t>Functionalité</a:t>
            </a:r>
            <a:r>
              <a:rPr lang="en-GB" dirty="0">
                <a:latin typeface="Arial" charset="0"/>
                <a:cs typeface="ＭＳ Ｐゴシック" charset="0"/>
              </a:rPr>
              <a:t> : </a:t>
            </a:r>
            <a:r>
              <a:rPr lang="fr-FR" dirty="0">
                <a:latin typeface="Arial" charset="0"/>
                <a:cs typeface="ＭＳ Ｐゴシック" charset="0"/>
              </a:rPr>
              <a:t>Créer un fichier appelé </a:t>
            </a:r>
            <a:r>
              <a:rPr lang="fr-FR" b="1" dirty="0" err="1">
                <a:latin typeface="Arial" charset="0"/>
                <a:cs typeface="ＭＳ Ｐゴシック" charset="0"/>
              </a:rPr>
              <a:t>Makefile</a:t>
            </a:r>
            <a:r>
              <a:rPr lang="fr-FR" dirty="0">
                <a:latin typeface="Arial" charset="0"/>
                <a:cs typeface="ＭＳ Ｐゴシック" charset="0"/>
              </a:rPr>
              <a:t> qui</a:t>
            </a:r>
          </a:p>
          <a:p>
            <a:pPr lvl="1"/>
            <a:r>
              <a:rPr lang="fr-FR" dirty="0">
                <a:latin typeface="Arial" charset="0"/>
              </a:rPr>
              <a:t>Définit les dépendances entre les cibles</a:t>
            </a:r>
          </a:p>
          <a:p>
            <a:pPr lvl="1"/>
            <a:r>
              <a:rPr lang="fr-FR" dirty="0">
                <a:latin typeface="Arial" charset="0"/>
              </a:rPr>
              <a:t>Définit les dépendances entre chaque cible et les fichiers correspondants</a:t>
            </a:r>
          </a:p>
          <a:p>
            <a:pPr lvl="1"/>
            <a:r>
              <a:rPr lang="fr-FR" dirty="0">
                <a:latin typeface="Arial" charset="0"/>
              </a:rPr>
              <a:t>Fournit les commandes à exécuter pour créer la cible en fonction des dépendances (fichiers)</a:t>
            </a:r>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523428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a:t>
            </a:r>
            <a:endParaRPr dirty="0"/>
          </a:p>
        </p:txBody>
      </p:sp>
      <p:sp>
        <p:nvSpPr>
          <p:cNvPr id="487" name="CustomShape 4"/>
          <p:cNvSpPr/>
          <p:nvPr/>
        </p:nvSpPr>
        <p:spPr>
          <a:xfrm>
            <a:off x="6984268"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executable</a:t>
            </a:r>
            <a:r>
              <a:rPr lang="fr-FR" sz="2000" dirty="0">
                <a:solidFill>
                  <a:srgbClr val="800000"/>
                </a:solidFill>
                <a:latin typeface="Arial"/>
                <a:ea typeface="Arial"/>
              </a:rPr>
              <a:t>)</a:t>
            </a:r>
            <a:endParaRPr dirty="0">
              <a:solidFill>
                <a:srgbClr val="800000"/>
              </a:solidFill>
            </a:endParaRPr>
          </a:p>
        </p:txBody>
      </p:sp>
      <p:sp>
        <p:nvSpPr>
          <p:cNvPr id="488" name="CustomShape 5"/>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Cible Finale :</a:t>
            </a:r>
            <a:endParaRPr dirty="0">
              <a:solidFill>
                <a:srgbClr val="800000"/>
              </a:solidFill>
            </a:endParaRPr>
          </a:p>
        </p:txBody>
      </p:sp>
      <p:sp>
        <p:nvSpPr>
          <p:cNvPr id="7"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L’outil</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a:t>
            </a:r>
            <a:r>
              <a:rPr lang="fr-FR" sz="2800" dirty="0">
                <a:latin typeface="Courier New"/>
                <a:ea typeface="ＭＳ Ｐゴシック" charset="0"/>
                <a:cs typeface="Courier New"/>
              </a:rPr>
              <a:t> </a:t>
            </a:r>
            <a:r>
              <a:rPr lang="fr-FR" sz="2800" dirty="0">
                <a:latin typeface="+mn-lt"/>
                <a:ea typeface="ＭＳ Ｐゴシック" charset="0"/>
                <a:cs typeface="Courier New"/>
              </a:rPr>
              <a:t>: Exemple</a:t>
            </a:r>
          </a:p>
        </p:txBody>
      </p:sp>
      <p:sp>
        <p:nvSpPr>
          <p:cNvPr id="8" name="Espace réservé du contenu 2"/>
          <p:cNvSpPr>
            <a:spLocks noGrp="1"/>
          </p:cNvSpPr>
          <p:nvPr>
            <p:ph idx="1"/>
          </p:nvPr>
        </p:nvSpPr>
        <p:spPr>
          <a:xfrm>
            <a:off x="287524" y="1016733"/>
            <a:ext cx="9073008" cy="1368151"/>
          </a:xfrm>
        </p:spPr>
        <p:txBody>
          <a:bodyPr/>
          <a:lstStyle/>
          <a:p>
            <a:r>
              <a:rPr lang="en-US" dirty="0">
                <a:latin typeface="Arial" charset="0"/>
                <a:cs typeface="ＭＳ Ｐゴシック" charset="0"/>
              </a:rPr>
              <a:t>Un </a:t>
            </a:r>
            <a:r>
              <a:rPr lang="en-US" dirty="0" err="1">
                <a:latin typeface="Arial" charset="0"/>
                <a:cs typeface="ＭＳ Ｐゴシック" charset="0"/>
              </a:rPr>
              <a:t>programme</a:t>
            </a:r>
            <a:r>
              <a:rPr lang="en-US" dirty="0">
                <a:latin typeface="Arial" charset="0"/>
                <a:cs typeface="ＭＳ Ｐゴシック" charset="0"/>
              </a:rPr>
              <a:t> C </a:t>
            </a:r>
            <a:r>
              <a:rPr lang="en-US" dirty="0" err="1">
                <a:latin typeface="Arial" charset="0"/>
                <a:cs typeface="ＭＳ Ｐゴシック" charset="0"/>
              </a:rPr>
              <a:t>constitué</a:t>
            </a:r>
            <a:r>
              <a:rPr lang="en-US" dirty="0">
                <a:latin typeface="Arial" charset="0"/>
                <a:cs typeface="ＭＳ Ｐゴシック" charset="0"/>
              </a:rPr>
              <a:t> de 3 </a:t>
            </a:r>
            <a:r>
              <a:rPr lang="en-US" dirty="0" err="1">
                <a:latin typeface="Arial" charset="0"/>
                <a:cs typeface="ＭＳ Ｐゴシック" charset="0"/>
              </a:rPr>
              <a:t>fichiers</a:t>
            </a:r>
            <a:r>
              <a:rPr lang="en-US" dirty="0">
                <a:latin typeface="Arial" charset="0"/>
                <a:cs typeface="ＭＳ Ｐゴシック" charset="0"/>
              </a:rPr>
              <a:t> :</a:t>
            </a:r>
          </a:p>
          <a:p>
            <a:pPr marL="0" lvl="1" indent="0">
              <a:buSzTx/>
              <a:buNone/>
            </a:pPr>
            <a:r>
              <a:rPr lang="en-US" sz="2400" b="1" dirty="0" err="1">
                <a:latin typeface="Courier New"/>
                <a:ea typeface="Courier New"/>
              </a:rPr>
              <a:t>prog.c</a:t>
            </a:r>
            <a:r>
              <a:rPr lang="en-US" sz="2400" dirty="0">
                <a:ea typeface="Arial"/>
              </a:rPr>
              <a:t>, </a:t>
            </a:r>
            <a:r>
              <a:rPr lang="en-US" sz="2400" b="1" dirty="0">
                <a:latin typeface="Courier New"/>
                <a:ea typeface="Courier New"/>
              </a:rPr>
              <a:t>code1.c</a:t>
            </a:r>
            <a:r>
              <a:rPr lang="en-US" sz="2400" dirty="0">
                <a:ea typeface="Arial"/>
              </a:rPr>
              <a:t>,</a:t>
            </a:r>
            <a:r>
              <a:rPr lang="en-US" sz="2400" b="1" dirty="0">
                <a:ea typeface="Arial"/>
              </a:rPr>
              <a:t> </a:t>
            </a:r>
            <a:r>
              <a:rPr lang="en-US" sz="2400" b="1" dirty="0">
                <a:latin typeface="Courier New"/>
                <a:ea typeface="Courier New"/>
              </a:rPr>
              <a:t>code2.c</a:t>
            </a:r>
            <a:endParaRPr lang="en-US" sz="2400" dirty="0"/>
          </a:p>
          <a:p>
            <a:endParaRPr lang="en-US" sz="800" dirty="0">
              <a:latin typeface="Arial" charset="0"/>
            </a:endParaRPr>
          </a:p>
          <a:p>
            <a:r>
              <a:rPr lang="fr-FR" dirty="0">
                <a:latin typeface="Arial" charset="0"/>
              </a:rPr>
              <a:t>Graphique des dépendances entre les fichiers</a:t>
            </a:r>
            <a:endParaRPr lang="en-US" dirty="0">
              <a:latin typeface="Arial" charset="0"/>
            </a:endParaRPr>
          </a:p>
        </p:txBody>
      </p:sp>
      <p:sp>
        <p:nvSpPr>
          <p:cNvPr id="9" name="Espace réservé du numéro de diapositive 4"/>
          <p:cNvSpPr>
            <a:spLocks noGrp="1"/>
          </p:cNvSpPr>
          <p:nvPr>
            <p:ph type="sldNum" sz="quarter" idx="11"/>
          </p:nvPr>
        </p:nvSpPr>
        <p:spPr>
          <a:xfrm>
            <a:off x="6336196" y="6381328"/>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29</a:t>
            </a:fld>
            <a:endParaRPr lang="fr-FR" sz="1400">
              <a:solidFill>
                <a:srgbClr val="000208"/>
              </a:solidFill>
              <a:latin typeface="Times New Roman" charset="0"/>
            </a:endParaRPr>
          </a:p>
        </p:txBody>
      </p:sp>
      <p:sp>
        <p:nvSpPr>
          <p:cNvPr id="1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43118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30</a:t>
            </a:fld>
            <a:endParaRPr lang="fr-FR" sz="1400">
              <a:solidFill>
                <a:srgbClr val="000208"/>
              </a:solidFill>
              <a:latin typeface="Times New Roman" charset="0"/>
            </a:endParaRPr>
          </a:p>
        </p:txBody>
      </p:sp>
      <p:sp>
        <p:nvSpPr>
          <p:cNvPr id="7"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L’outil</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a:t>
            </a:r>
            <a:r>
              <a:rPr lang="fr-FR" sz="2800" dirty="0">
                <a:latin typeface="Courier New"/>
                <a:ea typeface="ＭＳ Ｐゴシック" charset="0"/>
                <a:cs typeface="Courier New"/>
              </a:rPr>
              <a:t> </a:t>
            </a:r>
            <a:r>
              <a:rPr lang="fr-FR" sz="2800" dirty="0">
                <a:latin typeface="+mn-lt"/>
                <a:ea typeface="ＭＳ Ｐゴシック" charset="0"/>
                <a:cs typeface="Courier New"/>
              </a:rPr>
              <a:t>: Exemple</a:t>
            </a:r>
          </a:p>
        </p:txBody>
      </p:sp>
      <p:sp>
        <p:nvSpPr>
          <p:cNvPr id="8" name="Espace réservé du contenu 2"/>
          <p:cNvSpPr>
            <a:spLocks noGrp="1"/>
          </p:cNvSpPr>
          <p:nvPr>
            <p:ph idx="1"/>
          </p:nvPr>
        </p:nvSpPr>
        <p:spPr>
          <a:xfrm>
            <a:off x="287524" y="1016733"/>
            <a:ext cx="9073008" cy="1368151"/>
          </a:xfrm>
        </p:spPr>
        <p:txBody>
          <a:bodyPr/>
          <a:lstStyle/>
          <a:p>
            <a:r>
              <a:rPr lang="en-US" dirty="0">
                <a:latin typeface="Arial" charset="0"/>
                <a:cs typeface="ＭＳ Ｐゴシック" charset="0"/>
              </a:rPr>
              <a:t>Un </a:t>
            </a:r>
            <a:r>
              <a:rPr lang="en-US" dirty="0" err="1">
                <a:latin typeface="Arial" charset="0"/>
                <a:cs typeface="ＭＳ Ｐゴシック" charset="0"/>
              </a:rPr>
              <a:t>programme</a:t>
            </a:r>
            <a:r>
              <a:rPr lang="en-US" dirty="0">
                <a:latin typeface="Arial" charset="0"/>
                <a:cs typeface="ＭＳ Ｐゴシック" charset="0"/>
              </a:rPr>
              <a:t> C </a:t>
            </a:r>
            <a:r>
              <a:rPr lang="en-US" dirty="0" err="1">
                <a:latin typeface="Arial" charset="0"/>
                <a:cs typeface="ＭＳ Ｐゴシック" charset="0"/>
              </a:rPr>
              <a:t>constitué</a:t>
            </a:r>
            <a:r>
              <a:rPr lang="en-US" dirty="0">
                <a:latin typeface="Arial" charset="0"/>
                <a:cs typeface="ＭＳ Ｐゴシック" charset="0"/>
              </a:rPr>
              <a:t> de 3 </a:t>
            </a:r>
            <a:r>
              <a:rPr lang="en-US" dirty="0" err="1">
                <a:latin typeface="Arial" charset="0"/>
                <a:cs typeface="ＭＳ Ｐゴシック" charset="0"/>
              </a:rPr>
              <a:t>fichiers</a:t>
            </a:r>
            <a:r>
              <a:rPr lang="en-US" dirty="0">
                <a:latin typeface="Arial" charset="0"/>
                <a:cs typeface="ＭＳ Ｐゴシック" charset="0"/>
              </a:rPr>
              <a:t> :</a:t>
            </a:r>
          </a:p>
          <a:p>
            <a:pPr marL="0" lvl="1" indent="0">
              <a:buSzTx/>
              <a:buNone/>
            </a:pPr>
            <a:r>
              <a:rPr lang="en-US" sz="2400" b="1" dirty="0" err="1">
                <a:latin typeface="Courier New"/>
                <a:ea typeface="Courier New"/>
              </a:rPr>
              <a:t>prog.c</a:t>
            </a:r>
            <a:r>
              <a:rPr lang="en-US" sz="2400" dirty="0">
                <a:ea typeface="Arial"/>
              </a:rPr>
              <a:t>, </a:t>
            </a:r>
            <a:r>
              <a:rPr lang="en-US" sz="2400" b="1" dirty="0">
                <a:latin typeface="Courier New"/>
                <a:ea typeface="Courier New"/>
              </a:rPr>
              <a:t>code1.c</a:t>
            </a:r>
            <a:r>
              <a:rPr lang="en-US" sz="2400" dirty="0">
                <a:ea typeface="Arial"/>
              </a:rPr>
              <a:t>,</a:t>
            </a:r>
            <a:r>
              <a:rPr lang="en-US" sz="2400" b="1" dirty="0">
                <a:ea typeface="Arial"/>
              </a:rPr>
              <a:t> </a:t>
            </a:r>
            <a:r>
              <a:rPr lang="en-US" sz="2400" b="1" dirty="0">
                <a:latin typeface="Courier New"/>
                <a:ea typeface="Courier New"/>
              </a:rPr>
              <a:t>code2.c</a:t>
            </a:r>
            <a:endParaRPr lang="en-US" sz="2400" dirty="0"/>
          </a:p>
          <a:p>
            <a:endParaRPr lang="en-US" sz="800" dirty="0">
              <a:latin typeface="Arial" charset="0"/>
            </a:endParaRPr>
          </a:p>
          <a:p>
            <a:r>
              <a:rPr lang="fr-FR" dirty="0">
                <a:latin typeface="Arial" charset="0"/>
              </a:rPr>
              <a:t>Graphique des dépendances entre les fichiers</a:t>
            </a:r>
            <a:endParaRPr lang="en-US" dirty="0">
              <a:latin typeface="Arial"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a:latin typeface="Courier New"/>
                <a:ea typeface="Courier New"/>
              </a:rPr>
              <a:t>prog.o</a:t>
            </a:r>
            <a:endParaRPr/>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object</a:t>
            </a:r>
            <a:r>
              <a:rPr lang="fr-FR" sz="2000" dirty="0">
                <a:solidFill>
                  <a:srgbClr val="800000"/>
                </a:solidFill>
                <a:latin typeface="Arial"/>
                <a:ea typeface="Arial"/>
              </a:rPr>
              <a:t>)</a:t>
            </a:r>
            <a:endParaRPr dirty="0">
              <a:solidFill>
                <a:srgbClr val="800000"/>
              </a:solidFill>
            </a:endParaRPr>
          </a:p>
        </p:txBody>
      </p:sp>
      <p:sp>
        <p:nvSpPr>
          <p:cNvPr id="16" name="CustomShape 13"/>
          <p:cNvSpPr/>
          <p:nvPr/>
        </p:nvSpPr>
        <p:spPr>
          <a:xfrm>
            <a:off x="322869" y="4624780"/>
            <a:ext cx="8498262" cy="1516434"/>
          </a:xfrm>
          <a:prstGeom prst="rect">
            <a:avLst/>
          </a:prstGeom>
          <a:solidFill>
            <a:srgbClr val="EAEAEA"/>
          </a:solidFill>
        </p:spPr>
        <p:txBody>
          <a:bodyPr lIns="92070" tIns="46035" rIns="92070" bIns="46035"/>
          <a:lstStyle/>
          <a:p>
            <a:pPr algn="l">
              <a:lnSpc>
                <a:spcPct val="100000"/>
              </a:lnSpc>
              <a:buSzPct val="100000"/>
            </a:pPr>
            <a:r>
              <a:rPr lang="fr-FR" sz="2000" dirty="0">
                <a:latin typeface="Arial"/>
              </a:rPr>
              <a:t>La commande suivante doit être exécutée pour produire le fichier exécutable prog </a:t>
            </a:r>
            <a:r>
              <a:rPr lang="en-US" sz="2000" dirty="0">
                <a:latin typeface="Arial"/>
              </a:rPr>
              <a:t>: </a:t>
            </a:r>
            <a:endParaRPr lang="en-US" dirty="0"/>
          </a:p>
          <a:p>
            <a:pPr algn="l">
              <a:lnSpc>
                <a:spcPct val="100000"/>
              </a:lnSpc>
              <a:buSzPct val="25000"/>
            </a:pPr>
            <a:r>
              <a:rPr lang="en-US" sz="2000" b="1" dirty="0">
                <a:latin typeface="Courier New"/>
                <a:ea typeface="Courier New"/>
              </a:rPr>
              <a:t>	</a:t>
            </a:r>
            <a:r>
              <a:rPr lang="en-US" sz="2000" b="1" dirty="0" err="1">
                <a:latin typeface="Courier New"/>
                <a:ea typeface="Courier New"/>
              </a:rPr>
              <a:t>gcc</a:t>
            </a:r>
            <a:r>
              <a:rPr lang="en-US" sz="2000" b="1" dirty="0">
                <a:latin typeface="Courier New"/>
                <a:ea typeface="Courier New"/>
              </a:rPr>
              <a:t> –o </a:t>
            </a:r>
            <a:r>
              <a:rPr lang="en-US" sz="2000" b="1" dirty="0" err="1">
                <a:latin typeface="Courier New"/>
                <a:ea typeface="Courier New"/>
              </a:rPr>
              <a:t>prog</a:t>
            </a:r>
            <a:r>
              <a:rPr lang="en-US" sz="2000" b="1" dirty="0">
                <a:latin typeface="Courier New"/>
                <a:ea typeface="Courier New"/>
              </a:rPr>
              <a:t> </a:t>
            </a:r>
            <a:r>
              <a:rPr lang="en-US" sz="2000" b="1" dirty="0" err="1">
                <a:latin typeface="Courier New"/>
                <a:ea typeface="Courier New"/>
              </a:rPr>
              <a:t>prog.o</a:t>
            </a:r>
            <a:r>
              <a:rPr lang="en-US" sz="2000" b="1" dirty="0">
                <a:latin typeface="Courier New"/>
                <a:ea typeface="Courier New"/>
              </a:rPr>
              <a:t> code1.o code2.o</a:t>
            </a:r>
            <a:endParaRPr lang="en-US" dirty="0"/>
          </a:p>
          <a:p>
            <a:pPr algn="l">
              <a:lnSpc>
                <a:spcPct val="100000"/>
              </a:lnSpc>
              <a:buSzPct val="25000"/>
            </a:pPr>
            <a:r>
              <a:rPr lang="fr-FR" sz="2000" dirty="0">
                <a:latin typeface="Arial"/>
                <a:ea typeface="Arial"/>
              </a:rPr>
              <a:t>Le fichier </a:t>
            </a:r>
            <a:r>
              <a:rPr lang="fr-FR" sz="2000" b="1" dirty="0">
                <a:latin typeface="Arial"/>
                <a:ea typeface="Arial"/>
              </a:rPr>
              <a:t>prog</a:t>
            </a:r>
            <a:r>
              <a:rPr lang="fr-FR" sz="2000" dirty="0">
                <a:latin typeface="Arial"/>
                <a:ea typeface="Arial"/>
              </a:rPr>
              <a:t> </a:t>
            </a:r>
            <a:r>
              <a:rPr lang="fr-FR" sz="2000" dirty="0">
                <a:solidFill>
                  <a:srgbClr val="FF0000"/>
                </a:solidFill>
                <a:latin typeface="Arial"/>
                <a:ea typeface="Arial"/>
              </a:rPr>
              <a:t>dépend</a:t>
            </a:r>
            <a:r>
              <a:rPr lang="fr-FR" sz="2000" dirty="0">
                <a:latin typeface="Arial"/>
                <a:ea typeface="Arial"/>
              </a:rPr>
              <a:t> des fichiers objets </a:t>
            </a:r>
            <a:r>
              <a:rPr lang="en-US" sz="2000" b="1" dirty="0" err="1">
                <a:latin typeface="Courier New"/>
                <a:ea typeface="Courier New"/>
              </a:rPr>
              <a:t>prog.o</a:t>
            </a:r>
            <a:r>
              <a:rPr lang="en-US" sz="2000" dirty="0">
                <a:latin typeface="Arial"/>
                <a:ea typeface="Arial"/>
              </a:rPr>
              <a:t>, </a:t>
            </a:r>
            <a:r>
              <a:rPr lang="en-US" sz="2000" b="1" dirty="0">
                <a:latin typeface="Courier New"/>
                <a:ea typeface="Courier New"/>
              </a:rPr>
              <a:t>code1.o</a:t>
            </a:r>
            <a:r>
              <a:rPr lang="en-US" sz="2000" b="1" dirty="0">
                <a:latin typeface="Arial"/>
                <a:ea typeface="Arial"/>
              </a:rPr>
              <a:t> </a:t>
            </a:r>
            <a:r>
              <a:rPr lang="fr-FR" sz="2000" dirty="0">
                <a:latin typeface="Arial"/>
                <a:ea typeface="Arial"/>
              </a:rPr>
              <a:t>et </a:t>
            </a:r>
            <a:r>
              <a:rPr lang="en-US" sz="2000" b="1" dirty="0">
                <a:latin typeface="Courier New"/>
                <a:ea typeface="Courier New"/>
              </a:rPr>
              <a:t>code2.o </a:t>
            </a:r>
            <a:endParaRPr lang="en-US" sz="2000" dirty="0">
              <a:latin typeface="Arial"/>
              <a:ea typeface="Arial"/>
            </a:endParaRPr>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a:t>
            </a:r>
            <a:endParaRPr dirty="0"/>
          </a:p>
        </p:txBody>
      </p:sp>
      <p:sp>
        <p:nvSpPr>
          <p:cNvPr id="18" name="CustomShape 4"/>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executable</a:t>
            </a:r>
            <a:r>
              <a:rPr lang="fr-FR" sz="2000" dirty="0">
                <a:solidFill>
                  <a:srgbClr val="800000"/>
                </a:solidFill>
                <a:latin typeface="Arial"/>
                <a:ea typeface="Arial"/>
              </a:rPr>
              <a:t>)</a:t>
            </a:r>
            <a:endParaRPr dirty="0">
              <a:solidFill>
                <a:srgbClr val="800000"/>
              </a:solidFill>
            </a:endParaRPr>
          </a:p>
        </p:txBody>
      </p:sp>
      <p:sp>
        <p:nvSpPr>
          <p:cNvPr id="19" name="CustomShape 5"/>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Cible finale :</a:t>
            </a:r>
            <a:endParaRPr dirty="0">
              <a:solidFill>
                <a:srgbClr val="800000"/>
              </a:solidFill>
            </a:endParaRPr>
          </a:p>
        </p:txBody>
      </p:sp>
      <p:sp>
        <p:nvSpPr>
          <p:cNvPr id="2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94938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31</a:t>
            </a:fld>
            <a:endParaRPr lang="fr-FR" sz="1400">
              <a:solidFill>
                <a:srgbClr val="000208"/>
              </a:solidFill>
              <a:latin typeface="Times New Roman"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sp>
        <p:nvSpPr>
          <p:cNvPr id="7"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L’outil</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a:t>
            </a:r>
            <a:r>
              <a:rPr lang="fr-FR" sz="2800" dirty="0">
                <a:latin typeface="Courier New"/>
                <a:ea typeface="ＭＳ Ｐゴシック" charset="0"/>
                <a:cs typeface="Courier New"/>
              </a:rPr>
              <a:t> </a:t>
            </a:r>
            <a:r>
              <a:rPr lang="fr-FR" sz="2800" dirty="0">
                <a:latin typeface="+mn-lt"/>
                <a:ea typeface="ＭＳ Ｐゴシック" charset="0"/>
                <a:cs typeface="Courier New"/>
              </a:rPr>
              <a:t>: Exemple</a:t>
            </a:r>
          </a:p>
        </p:txBody>
      </p:sp>
      <p:sp>
        <p:nvSpPr>
          <p:cNvPr id="8" name="Espace réservé du contenu 2"/>
          <p:cNvSpPr>
            <a:spLocks noGrp="1"/>
          </p:cNvSpPr>
          <p:nvPr>
            <p:ph idx="1"/>
          </p:nvPr>
        </p:nvSpPr>
        <p:spPr>
          <a:xfrm>
            <a:off x="287524" y="1016733"/>
            <a:ext cx="9073008" cy="1368151"/>
          </a:xfrm>
        </p:spPr>
        <p:txBody>
          <a:bodyPr/>
          <a:lstStyle/>
          <a:p>
            <a:r>
              <a:rPr lang="en-US" dirty="0">
                <a:latin typeface="Arial" charset="0"/>
                <a:cs typeface="ＭＳ Ｐゴシック" charset="0"/>
              </a:rPr>
              <a:t>Un </a:t>
            </a:r>
            <a:r>
              <a:rPr lang="en-US" dirty="0" err="1">
                <a:latin typeface="Arial" charset="0"/>
                <a:cs typeface="ＭＳ Ｐゴシック" charset="0"/>
              </a:rPr>
              <a:t>programme</a:t>
            </a:r>
            <a:r>
              <a:rPr lang="en-US" dirty="0">
                <a:latin typeface="Arial" charset="0"/>
                <a:cs typeface="ＭＳ Ｐゴシック" charset="0"/>
              </a:rPr>
              <a:t> C </a:t>
            </a:r>
            <a:r>
              <a:rPr lang="en-US" dirty="0" err="1">
                <a:latin typeface="Arial" charset="0"/>
                <a:cs typeface="ＭＳ Ｐゴシック" charset="0"/>
              </a:rPr>
              <a:t>constitué</a:t>
            </a:r>
            <a:r>
              <a:rPr lang="en-US" dirty="0">
                <a:latin typeface="Arial" charset="0"/>
                <a:cs typeface="ＭＳ Ｐゴシック" charset="0"/>
              </a:rPr>
              <a:t> de 3 </a:t>
            </a:r>
            <a:r>
              <a:rPr lang="en-US" dirty="0" err="1">
                <a:latin typeface="Arial" charset="0"/>
                <a:cs typeface="ＭＳ Ｐゴシック" charset="0"/>
              </a:rPr>
              <a:t>fichiers</a:t>
            </a:r>
            <a:r>
              <a:rPr lang="en-US" dirty="0">
                <a:latin typeface="Arial" charset="0"/>
                <a:cs typeface="ＭＳ Ｐゴシック" charset="0"/>
              </a:rPr>
              <a:t> :</a:t>
            </a:r>
          </a:p>
          <a:p>
            <a:pPr marL="0" lvl="1" indent="0">
              <a:buSzTx/>
              <a:buNone/>
            </a:pPr>
            <a:r>
              <a:rPr lang="en-US" sz="2400" b="1" dirty="0" err="1">
                <a:latin typeface="Courier New"/>
                <a:ea typeface="Courier New"/>
              </a:rPr>
              <a:t>prog.c</a:t>
            </a:r>
            <a:r>
              <a:rPr lang="en-US" sz="2400" dirty="0">
                <a:ea typeface="Arial"/>
              </a:rPr>
              <a:t>, </a:t>
            </a:r>
            <a:r>
              <a:rPr lang="en-US" sz="2400" b="1" dirty="0">
                <a:latin typeface="Courier New"/>
                <a:ea typeface="Courier New"/>
              </a:rPr>
              <a:t>code1.c</a:t>
            </a:r>
            <a:r>
              <a:rPr lang="en-US" sz="2400" dirty="0">
                <a:ea typeface="Arial"/>
              </a:rPr>
              <a:t>,</a:t>
            </a:r>
            <a:r>
              <a:rPr lang="en-US" sz="2400" b="1" dirty="0">
                <a:ea typeface="Arial"/>
              </a:rPr>
              <a:t> </a:t>
            </a:r>
            <a:r>
              <a:rPr lang="en-US" sz="2400" b="1" dirty="0">
                <a:latin typeface="Courier New"/>
                <a:ea typeface="Courier New"/>
              </a:rPr>
              <a:t>code2.c</a:t>
            </a:r>
            <a:endParaRPr lang="en-US" sz="2400" dirty="0"/>
          </a:p>
          <a:p>
            <a:endParaRPr lang="en-US" sz="800" dirty="0">
              <a:latin typeface="Arial" charset="0"/>
            </a:endParaRPr>
          </a:p>
          <a:p>
            <a:r>
              <a:rPr lang="fr-FR" dirty="0">
                <a:latin typeface="Arial" charset="0"/>
              </a:rPr>
              <a:t>Graphique des dépendances entre les fichiers</a:t>
            </a:r>
            <a:endParaRPr lang="en-US" dirty="0">
              <a:latin typeface="Arial"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a:latin typeface="Courier New"/>
                <a:ea typeface="Courier New"/>
              </a:rPr>
              <a:t>prog.o</a:t>
            </a:r>
            <a:endParaRPr/>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object</a:t>
            </a:r>
            <a:r>
              <a:rPr lang="fr-FR" sz="2000" dirty="0">
                <a:solidFill>
                  <a:srgbClr val="800000"/>
                </a:solidFill>
                <a:latin typeface="Arial"/>
                <a:ea typeface="Arial"/>
              </a:rPr>
              <a:t>)</a:t>
            </a:r>
            <a:endParaRPr dirty="0">
              <a:solidFill>
                <a:srgbClr val="800000"/>
              </a:solidFill>
            </a:endParaRPr>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a:t>
            </a:r>
            <a:endParaRPr dirty="0"/>
          </a:p>
        </p:txBody>
      </p:sp>
      <p:sp>
        <p:nvSpPr>
          <p:cNvPr id="22" name="CustomShape 13"/>
          <p:cNvSpPr/>
          <p:nvPr/>
        </p:nvSpPr>
        <p:spPr>
          <a:xfrm>
            <a:off x="323528" y="5769260"/>
            <a:ext cx="8498262" cy="1088740"/>
          </a:xfrm>
          <a:prstGeom prst="rect">
            <a:avLst/>
          </a:prstGeom>
          <a:solidFill>
            <a:srgbClr val="EAEAEA"/>
          </a:solidFill>
        </p:spPr>
        <p:txBody>
          <a:bodyPr lIns="92070" tIns="46035" rIns="92070" bIns="46035"/>
          <a:lstStyle/>
          <a:p>
            <a:pPr algn="l">
              <a:lnSpc>
                <a:spcPct val="100000"/>
              </a:lnSpc>
              <a:buSzPct val="25000"/>
            </a:pPr>
            <a:r>
              <a:rPr lang="fr-FR" sz="2000" dirty="0">
                <a:latin typeface="Arial"/>
              </a:rPr>
              <a:t>Pour produire le fichier </a:t>
            </a:r>
            <a:r>
              <a:rPr lang="fr-FR" sz="2000" dirty="0" err="1">
                <a:latin typeface="Arial"/>
              </a:rPr>
              <a:t>object</a:t>
            </a:r>
            <a:r>
              <a:rPr lang="fr-FR" sz="2000" dirty="0">
                <a:latin typeface="Arial"/>
              </a:rPr>
              <a:t> </a:t>
            </a:r>
            <a:r>
              <a:rPr lang="fr-FR" sz="2000" b="1" dirty="0" err="1">
                <a:latin typeface="Courier New"/>
                <a:ea typeface="Courier New"/>
              </a:rPr>
              <a:t>prog.o</a:t>
            </a:r>
            <a:r>
              <a:rPr lang="fr-FR" sz="2000" dirty="0">
                <a:latin typeface="Arial"/>
              </a:rPr>
              <a:t>, nous devons exécuter</a:t>
            </a:r>
          </a:p>
          <a:p>
            <a:pPr>
              <a:lnSpc>
                <a:spcPct val="100000"/>
              </a:lnSpc>
              <a:buSzPct val="25000"/>
            </a:pPr>
            <a:r>
              <a:rPr lang="fr-FR" sz="2000" b="1" dirty="0" err="1">
                <a:latin typeface="Courier New"/>
                <a:ea typeface="Courier New"/>
              </a:rPr>
              <a:t>gcc</a:t>
            </a:r>
            <a:r>
              <a:rPr lang="fr-FR" sz="2000" b="1" dirty="0">
                <a:latin typeface="Courier New"/>
                <a:ea typeface="Courier New"/>
              </a:rPr>
              <a:t> -c </a:t>
            </a:r>
            <a:r>
              <a:rPr lang="fr-FR" sz="2000" b="1" dirty="0" err="1">
                <a:latin typeface="Courier New"/>
                <a:ea typeface="Courier New"/>
              </a:rPr>
              <a:t>prog.c</a:t>
            </a:r>
            <a:r>
              <a:rPr lang="fr-FR" sz="2000" b="1" dirty="0">
                <a:latin typeface="Courier New"/>
                <a:ea typeface="Courier New"/>
              </a:rPr>
              <a:t> –o </a:t>
            </a:r>
            <a:r>
              <a:rPr lang="fr-FR" sz="2000" b="1" dirty="0" err="1">
                <a:latin typeface="Courier New"/>
                <a:ea typeface="Courier New"/>
              </a:rPr>
              <a:t>prog.o</a:t>
            </a:r>
            <a:endParaRPr lang="fr-FR" sz="2000" dirty="0"/>
          </a:p>
          <a:p>
            <a:pPr algn="l">
              <a:lnSpc>
                <a:spcPct val="100000"/>
              </a:lnSpc>
              <a:buSzPct val="25000"/>
            </a:pPr>
            <a:r>
              <a:rPr lang="fr-FR" sz="2000" dirty="0">
                <a:latin typeface="Arial"/>
                <a:ea typeface="Arial"/>
              </a:rPr>
              <a:t>Ainsi, le fichier </a:t>
            </a:r>
            <a:r>
              <a:rPr lang="fr-FR" sz="2000" b="1" dirty="0" err="1">
                <a:latin typeface="Courier New"/>
                <a:ea typeface="Courier New"/>
              </a:rPr>
              <a:t>prog.o</a:t>
            </a:r>
            <a:r>
              <a:rPr lang="fr-FR" sz="2000" dirty="0">
                <a:latin typeface="Arial"/>
                <a:ea typeface="Arial"/>
              </a:rPr>
              <a:t> </a:t>
            </a:r>
            <a:r>
              <a:rPr lang="fr-FR" sz="2000" dirty="0" err="1">
                <a:solidFill>
                  <a:srgbClr val="FF0000"/>
                </a:solidFill>
                <a:latin typeface="Arial"/>
                <a:ea typeface="Arial"/>
              </a:rPr>
              <a:t>depend</a:t>
            </a:r>
            <a:r>
              <a:rPr lang="fr-FR" sz="2000" dirty="0">
                <a:solidFill>
                  <a:srgbClr val="FF0000"/>
                </a:solidFill>
                <a:latin typeface="Arial"/>
                <a:ea typeface="Arial"/>
              </a:rPr>
              <a:t> </a:t>
            </a:r>
            <a:r>
              <a:rPr lang="fr-FR" sz="2000" dirty="0">
                <a:latin typeface="Arial"/>
                <a:ea typeface="Arial"/>
              </a:rPr>
              <a:t>du fichier source </a:t>
            </a:r>
            <a:r>
              <a:rPr lang="fr-FR" sz="2000" b="1" dirty="0" err="1">
                <a:latin typeface="Courier New"/>
                <a:ea typeface="Courier New"/>
              </a:rPr>
              <a:t>prog.c</a:t>
            </a:r>
            <a:endParaRPr lang="fr-FR" sz="2000" dirty="0"/>
          </a:p>
          <a:p>
            <a:pPr algn="l">
              <a:lnSpc>
                <a:spcPct val="100000"/>
              </a:lnSpc>
              <a:buSzPct val="25000"/>
              <a:buFont typeface="StarSymbol"/>
              <a:buChar char=""/>
            </a:pPr>
            <a:endParaRPr lang="en-US" sz="2000" dirty="0"/>
          </a:p>
        </p:txBody>
      </p:sp>
      <p:sp>
        <p:nvSpPr>
          <p:cNvPr id="23" name="CustomShape 7"/>
          <p:cNvSpPr/>
          <p:nvPr/>
        </p:nvSpPr>
        <p:spPr>
          <a:xfrm>
            <a:off x="1167309" y="5148989"/>
            <a:ext cx="1532106" cy="412804"/>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prog.c</a:t>
            </a:r>
            <a:endParaRPr dirty="0"/>
          </a:p>
        </p:txBody>
      </p:sp>
      <p:sp>
        <p:nvSpPr>
          <p:cNvPr id="24" name="Line 8"/>
          <p:cNvSpPr/>
          <p:nvPr/>
        </p:nvSpPr>
        <p:spPr>
          <a:xfrm flipV="1">
            <a:off x="1932740" y="4401108"/>
            <a:ext cx="1244" cy="823975"/>
          </a:xfrm>
          <a:prstGeom prst="line">
            <a:avLst/>
          </a:prstGeom>
          <a:ln w="12600">
            <a:solidFill>
              <a:srgbClr val="000208"/>
            </a:solidFill>
            <a:miter/>
            <a:tailEnd type="triangle" w="med" len="med"/>
          </a:ln>
        </p:spPr>
      </p:sp>
      <p:sp>
        <p:nvSpPr>
          <p:cNvPr id="25" name="CustomShape 12"/>
          <p:cNvSpPr/>
          <p:nvPr/>
        </p:nvSpPr>
        <p:spPr>
          <a:xfrm>
            <a:off x="7093880" y="5092816"/>
            <a:ext cx="1264314"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(source)</a:t>
            </a:r>
            <a:endParaRPr dirty="0">
              <a:solidFill>
                <a:srgbClr val="800000"/>
              </a:solidFill>
            </a:endParaRPr>
          </a:p>
        </p:txBody>
      </p:sp>
      <p:sp>
        <p:nvSpPr>
          <p:cNvPr id="26" name="CustomShape 17"/>
          <p:cNvSpPr/>
          <p:nvPr/>
        </p:nvSpPr>
        <p:spPr>
          <a:xfrm>
            <a:off x="1295636" y="3897052"/>
            <a:ext cx="1476164" cy="1762582"/>
          </a:xfrm>
          <a:prstGeom prst="rect">
            <a:avLst/>
          </a:prstGeom>
          <a:ln w="6480">
            <a:solidFill>
              <a:srgbClr val="800000"/>
            </a:solidFill>
            <a:custDash>
              <a:ds d="72000" sp="54000"/>
            </a:custDash>
            <a:miter/>
          </a:ln>
        </p:spPr>
      </p:sp>
      <p:sp>
        <p:nvSpPr>
          <p:cNvPr id="4" name="CustomShape 4">
            <a:extLst>
              <a:ext uri="{FF2B5EF4-FFF2-40B4-BE49-F238E27FC236}">
                <a16:creationId xmlns:a16="http://schemas.microsoft.com/office/drawing/2014/main" id="{CD5F364E-1BF4-B832-E334-D0D250F2D68A}"/>
              </a:ext>
            </a:extLst>
          </p:cNvPr>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executable</a:t>
            </a:r>
            <a:r>
              <a:rPr lang="fr-FR" sz="2000" dirty="0">
                <a:solidFill>
                  <a:srgbClr val="800000"/>
                </a:solidFill>
                <a:latin typeface="Arial"/>
                <a:ea typeface="Arial"/>
              </a:rPr>
              <a:t>)</a:t>
            </a:r>
            <a:endParaRPr dirty="0">
              <a:solidFill>
                <a:srgbClr val="800000"/>
              </a:solidFill>
            </a:endParaRPr>
          </a:p>
        </p:txBody>
      </p:sp>
      <p:sp>
        <p:nvSpPr>
          <p:cNvPr id="5" name="CustomShape 5">
            <a:extLst>
              <a:ext uri="{FF2B5EF4-FFF2-40B4-BE49-F238E27FC236}">
                <a16:creationId xmlns:a16="http://schemas.microsoft.com/office/drawing/2014/main" id="{BCD39885-9427-7A39-01DD-A60D4696A616}"/>
              </a:ext>
            </a:extLst>
          </p:cNvPr>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Cible finale :</a:t>
            </a:r>
            <a:endParaRPr dirty="0">
              <a:solidFill>
                <a:srgbClr val="800000"/>
              </a:solidFill>
            </a:endParaRPr>
          </a:p>
        </p:txBody>
      </p:sp>
    </p:spTree>
    <p:extLst>
      <p:ext uri="{BB962C8B-B14F-4D97-AF65-F5344CB8AC3E}">
        <p14:creationId xmlns:p14="http://schemas.microsoft.com/office/powerpoint/2010/main" val="3970899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32</a:t>
            </a:fld>
            <a:endParaRPr lang="fr-FR" sz="1400">
              <a:solidFill>
                <a:srgbClr val="000208"/>
              </a:solidFill>
              <a:latin typeface="Times New Roman"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sp>
        <p:nvSpPr>
          <p:cNvPr id="7"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The </a:t>
            </a:r>
            <a:r>
              <a:rPr lang="fr-FR" sz="2800" dirty="0" err="1">
                <a:latin typeface="Arial" charset="0"/>
                <a:ea typeface="ＭＳ Ｐゴシック" charset="0"/>
                <a:cs typeface="ＭＳ Ｐゴシック" charset="0"/>
              </a:rPr>
              <a:t>tool</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a:t>
            </a:r>
            <a:r>
              <a:rPr lang="fr-FR" sz="2800" dirty="0">
                <a:latin typeface="+mn-lt"/>
                <a:ea typeface="ＭＳ Ｐゴシック" charset="0"/>
                <a:cs typeface="Courier New"/>
              </a:rPr>
              <a:t>: </a:t>
            </a:r>
            <a:r>
              <a:rPr lang="fr-FR" sz="2800" dirty="0" err="1">
                <a:latin typeface="+mn-lt"/>
                <a:ea typeface="ＭＳ Ｐゴシック" charset="0"/>
                <a:cs typeface="Courier New"/>
              </a:rPr>
              <a:t>Example</a:t>
            </a:r>
            <a:endParaRPr lang="fr-FR" sz="2800" dirty="0">
              <a:latin typeface="+mn-lt"/>
              <a:ea typeface="ＭＳ Ｐゴシック" charset="0"/>
              <a:cs typeface="Courier New"/>
            </a:endParaRPr>
          </a:p>
        </p:txBody>
      </p:sp>
      <p:sp>
        <p:nvSpPr>
          <p:cNvPr id="8" name="Espace réservé du contenu 2"/>
          <p:cNvSpPr>
            <a:spLocks noGrp="1"/>
          </p:cNvSpPr>
          <p:nvPr>
            <p:ph idx="1"/>
          </p:nvPr>
        </p:nvSpPr>
        <p:spPr>
          <a:xfrm>
            <a:off x="287524" y="1016733"/>
            <a:ext cx="9073008" cy="1368151"/>
          </a:xfrm>
        </p:spPr>
        <p:txBody>
          <a:bodyPr/>
          <a:lstStyle/>
          <a:p>
            <a:r>
              <a:rPr lang="en-US" dirty="0">
                <a:latin typeface="Arial" charset="0"/>
                <a:cs typeface="ＭＳ Ｐゴシック" charset="0"/>
              </a:rPr>
              <a:t>Un </a:t>
            </a:r>
            <a:r>
              <a:rPr lang="en-US" dirty="0" err="1">
                <a:latin typeface="Arial" charset="0"/>
                <a:cs typeface="ＭＳ Ｐゴシック" charset="0"/>
              </a:rPr>
              <a:t>programme</a:t>
            </a:r>
            <a:r>
              <a:rPr lang="en-US" dirty="0">
                <a:latin typeface="Arial" charset="0"/>
                <a:cs typeface="ＭＳ Ｐゴシック" charset="0"/>
              </a:rPr>
              <a:t> C </a:t>
            </a:r>
            <a:r>
              <a:rPr lang="en-US" dirty="0" err="1">
                <a:latin typeface="Arial" charset="0"/>
                <a:cs typeface="ＭＳ Ｐゴシック" charset="0"/>
              </a:rPr>
              <a:t>constitué</a:t>
            </a:r>
            <a:r>
              <a:rPr lang="en-US" dirty="0">
                <a:latin typeface="Arial" charset="0"/>
                <a:cs typeface="ＭＳ Ｐゴシック" charset="0"/>
              </a:rPr>
              <a:t> de 3 </a:t>
            </a:r>
            <a:r>
              <a:rPr lang="en-US" dirty="0" err="1">
                <a:latin typeface="Arial" charset="0"/>
                <a:cs typeface="ＭＳ Ｐゴシック" charset="0"/>
              </a:rPr>
              <a:t>fichiers</a:t>
            </a:r>
            <a:r>
              <a:rPr lang="en-US" dirty="0">
                <a:latin typeface="Arial" charset="0"/>
                <a:cs typeface="ＭＳ Ｐゴシック" charset="0"/>
              </a:rPr>
              <a:t> :</a:t>
            </a:r>
          </a:p>
          <a:p>
            <a:pPr marL="0" lvl="1" indent="0">
              <a:buSzTx/>
              <a:buNone/>
            </a:pPr>
            <a:r>
              <a:rPr lang="en-US" sz="2400" b="1" dirty="0" err="1">
                <a:latin typeface="Courier New"/>
                <a:ea typeface="Courier New"/>
              </a:rPr>
              <a:t>prog.c</a:t>
            </a:r>
            <a:r>
              <a:rPr lang="en-US" sz="2400" dirty="0">
                <a:ea typeface="Arial"/>
              </a:rPr>
              <a:t>, </a:t>
            </a:r>
            <a:r>
              <a:rPr lang="en-US" sz="2400" b="1" dirty="0">
                <a:latin typeface="Courier New"/>
                <a:ea typeface="Courier New"/>
              </a:rPr>
              <a:t>code1.c</a:t>
            </a:r>
            <a:r>
              <a:rPr lang="en-US" sz="2400" dirty="0">
                <a:ea typeface="Arial"/>
              </a:rPr>
              <a:t>,</a:t>
            </a:r>
            <a:r>
              <a:rPr lang="en-US" sz="2400" b="1" dirty="0">
                <a:ea typeface="Arial"/>
              </a:rPr>
              <a:t> </a:t>
            </a:r>
            <a:r>
              <a:rPr lang="en-US" sz="2400" b="1" dirty="0">
                <a:latin typeface="Courier New"/>
                <a:ea typeface="Courier New"/>
              </a:rPr>
              <a:t>code2.c</a:t>
            </a:r>
            <a:endParaRPr lang="en-US" sz="2400" dirty="0"/>
          </a:p>
          <a:p>
            <a:endParaRPr lang="en-US" sz="800" dirty="0">
              <a:latin typeface="Arial" charset="0"/>
            </a:endParaRPr>
          </a:p>
          <a:p>
            <a:r>
              <a:rPr lang="fr-FR" dirty="0">
                <a:latin typeface="Arial" charset="0"/>
              </a:rPr>
              <a:t>Graphique des dépendances entre les fichiers</a:t>
            </a:r>
            <a:endParaRPr lang="en-US" dirty="0">
              <a:latin typeface="Arial" charset="0"/>
            </a:endParaRPr>
          </a:p>
        </p:txBody>
      </p:sp>
      <p:sp>
        <p:nvSpPr>
          <p:cNvPr id="9" name="CustomShape 4"/>
          <p:cNvSpPr/>
          <p:nvPr/>
        </p:nvSpPr>
        <p:spPr>
          <a:xfrm>
            <a:off x="2821634" y="3949195"/>
            <a:ext cx="2379648"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code1.o</a:t>
            </a:r>
            <a:endParaRPr dirty="0"/>
          </a:p>
        </p:txBody>
      </p:sp>
      <p:sp>
        <p:nvSpPr>
          <p:cNvPr id="10" name="CustomShape 5"/>
          <p:cNvSpPr/>
          <p:nvPr/>
        </p:nvSpPr>
        <p:spPr>
          <a:xfrm>
            <a:off x="5043593" y="3940704"/>
            <a:ext cx="2380892"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code2.o</a:t>
            </a:r>
            <a:endParaRPr dirty="0"/>
          </a:p>
        </p:txBody>
      </p:sp>
      <p:sp>
        <p:nvSpPr>
          <p:cNvPr id="11" name="CustomShape 6"/>
          <p:cNvSpPr/>
          <p:nvPr/>
        </p:nvSpPr>
        <p:spPr>
          <a:xfrm>
            <a:off x="1324052" y="3959319"/>
            <a:ext cx="1531795" cy="412804"/>
          </a:xfrm>
          <a:prstGeom prst="rect">
            <a:avLst/>
          </a:prstGeom>
        </p:spPr>
        <p:txBody>
          <a:bodyPr lIns="92070" tIns="46035" rIns="92070" bIns="46035"/>
          <a:lstStyle/>
          <a:p>
            <a:pPr algn="ctr">
              <a:lnSpc>
                <a:spcPct val="100000"/>
              </a:lnSpc>
              <a:buSzPct val="25000"/>
            </a:pPr>
            <a:r>
              <a:rPr lang="fr-FR" sz="2000" b="1">
                <a:latin typeface="Courier New"/>
                <a:ea typeface="Courier New"/>
              </a:rPr>
              <a:t>prog.o</a:t>
            </a:r>
            <a:endParaRPr/>
          </a:p>
        </p:txBody>
      </p:sp>
      <p:sp>
        <p:nvSpPr>
          <p:cNvPr id="12" name="Line 7"/>
          <p:cNvSpPr/>
          <p:nvPr/>
        </p:nvSpPr>
        <p:spPr>
          <a:xfrm flipV="1">
            <a:off x="2111254" y="2977277"/>
            <a:ext cx="1304125" cy="984982"/>
          </a:xfrm>
          <a:prstGeom prst="line">
            <a:avLst/>
          </a:prstGeom>
          <a:ln w="12600">
            <a:solidFill>
              <a:srgbClr val="000208"/>
            </a:solidFill>
            <a:miter/>
            <a:tailEnd type="triangle" w="med" len="med"/>
          </a:ln>
        </p:spPr>
      </p:sp>
      <p:sp>
        <p:nvSpPr>
          <p:cNvPr id="13" name="Line 8"/>
          <p:cNvSpPr/>
          <p:nvPr/>
        </p:nvSpPr>
        <p:spPr>
          <a:xfrm flipH="1" flipV="1">
            <a:off x="4548131" y="2969765"/>
            <a:ext cx="1656827" cy="954936"/>
          </a:xfrm>
          <a:prstGeom prst="line">
            <a:avLst/>
          </a:prstGeom>
          <a:ln w="12600">
            <a:solidFill>
              <a:srgbClr val="000208"/>
            </a:solidFill>
            <a:miter/>
            <a:tailEnd type="triangle" w="med" len="med"/>
          </a:ln>
        </p:spPr>
      </p:sp>
      <p:sp>
        <p:nvSpPr>
          <p:cNvPr id="14" name="Line 9"/>
          <p:cNvSpPr/>
          <p:nvPr/>
        </p:nvSpPr>
        <p:spPr>
          <a:xfrm flipV="1">
            <a:off x="4016279" y="2960948"/>
            <a:ext cx="1244" cy="1008169"/>
          </a:xfrm>
          <a:prstGeom prst="line">
            <a:avLst/>
          </a:prstGeom>
          <a:ln w="12600">
            <a:solidFill>
              <a:srgbClr val="000208"/>
            </a:solidFill>
            <a:miter/>
            <a:tailEnd type="triangle" w="med" len="med"/>
          </a:ln>
        </p:spPr>
      </p:sp>
      <p:sp>
        <p:nvSpPr>
          <p:cNvPr id="15" name="CustomShape 10"/>
          <p:cNvSpPr/>
          <p:nvPr/>
        </p:nvSpPr>
        <p:spPr>
          <a:xfrm>
            <a:off x="7255909" y="3924701"/>
            <a:ext cx="1168519"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object</a:t>
            </a:r>
            <a:r>
              <a:rPr lang="fr-FR" sz="2000" dirty="0">
                <a:solidFill>
                  <a:srgbClr val="800000"/>
                </a:solidFill>
                <a:latin typeface="Arial"/>
                <a:ea typeface="Arial"/>
              </a:rPr>
              <a:t>)</a:t>
            </a:r>
            <a:endParaRPr dirty="0">
              <a:solidFill>
                <a:srgbClr val="800000"/>
              </a:solidFill>
            </a:endParaRPr>
          </a:p>
        </p:txBody>
      </p:sp>
      <p:sp>
        <p:nvSpPr>
          <p:cNvPr id="17" name="CustomShape 3"/>
          <p:cNvSpPr/>
          <p:nvPr/>
        </p:nvSpPr>
        <p:spPr>
          <a:xfrm>
            <a:off x="3131332" y="2564904"/>
            <a:ext cx="1706703" cy="496869"/>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a:t>
            </a:r>
            <a:endParaRPr dirty="0"/>
          </a:p>
        </p:txBody>
      </p:sp>
      <p:sp>
        <p:nvSpPr>
          <p:cNvPr id="23" name="CustomShape 7"/>
          <p:cNvSpPr/>
          <p:nvPr/>
        </p:nvSpPr>
        <p:spPr>
          <a:xfrm>
            <a:off x="1167309" y="5148989"/>
            <a:ext cx="1532106" cy="412804"/>
          </a:xfrm>
          <a:prstGeom prst="rect">
            <a:avLst/>
          </a:prstGeom>
        </p:spPr>
        <p:txBody>
          <a:bodyPr lIns="92070" tIns="46035" rIns="92070" bIns="46035"/>
          <a:lstStyle/>
          <a:p>
            <a:pPr algn="ctr">
              <a:lnSpc>
                <a:spcPct val="100000"/>
              </a:lnSpc>
              <a:buSzPct val="25000"/>
            </a:pPr>
            <a:r>
              <a:rPr lang="fr-FR" sz="2000" b="1" dirty="0" err="1">
                <a:latin typeface="Courier New"/>
                <a:ea typeface="Courier New"/>
              </a:rPr>
              <a:t>prog.c</a:t>
            </a:r>
            <a:endParaRPr dirty="0"/>
          </a:p>
        </p:txBody>
      </p:sp>
      <p:sp>
        <p:nvSpPr>
          <p:cNvPr id="24" name="Line 8"/>
          <p:cNvSpPr/>
          <p:nvPr/>
        </p:nvSpPr>
        <p:spPr>
          <a:xfrm flipV="1">
            <a:off x="1932740" y="4401108"/>
            <a:ext cx="1244" cy="823975"/>
          </a:xfrm>
          <a:prstGeom prst="line">
            <a:avLst/>
          </a:prstGeom>
          <a:ln w="12600">
            <a:solidFill>
              <a:srgbClr val="000208"/>
            </a:solidFill>
            <a:miter/>
            <a:tailEnd type="triangle" w="med" len="med"/>
          </a:ln>
        </p:spPr>
      </p:sp>
      <p:sp>
        <p:nvSpPr>
          <p:cNvPr id="25" name="CustomShape 12"/>
          <p:cNvSpPr/>
          <p:nvPr/>
        </p:nvSpPr>
        <p:spPr>
          <a:xfrm>
            <a:off x="7093880" y="5092816"/>
            <a:ext cx="1264314" cy="412804"/>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(source)</a:t>
            </a:r>
            <a:endParaRPr dirty="0">
              <a:solidFill>
                <a:srgbClr val="800000"/>
              </a:solidFill>
            </a:endParaRPr>
          </a:p>
        </p:txBody>
      </p:sp>
      <p:sp>
        <p:nvSpPr>
          <p:cNvPr id="26" name="CustomShape 17"/>
          <p:cNvSpPr/>
          <p:nvPr/>
        </p:nvSpPr>
        <p:spPr>
          <a:xfrm>
            <a:off x="1295636" y="3897052"/>
            <a:ext cx="1476164" cy="1762582"/>
          </a:xfrm>
          <a:prstGeom prst="rect">
            <a:avLst/>
          </a:prstGeom>
          <a:ln w="6480">
            <a:solidFill>
              <a:srgbClr val="800000"/>
            </a:solidFill>
            <a:custDash>
              <a:ds d="72000" sp="54000"/>
            </a:custDash>
            <a:miter/>
          </a:ln>
        </p:spPr>
      </p:sp>
      <p:sp>
        <p:nvSpPr>
          <p:cNvPr id="27" name="CustomShape 13"/>
          <p:cNvSpPr/>
          <p:nvPr/>
        </p:nvSpPr>
        <p:spPr>
          <a:xfrm>
            <a:off x="323528" y="5841268"/>
            <a:ext cx="8498262" cy="900100"/>
          </a:xfrm>
          <a:prstGeom prst="rect">
            <a:avLst/>
          </a:prstGeom>
          <a:solidFill>
            <a:srgbClr val="EAEAEA"/>
          </a:solidFill>
        </p:spPr>
        <p:txBody>
          <a:bodyPr lIns="92070" tIns="46035" rIns="92070" bIns="46035"/>
          <a:lstStyle/>
          <a:p>
            <a:pPr algn="l">
              <a:lnSpc>
                <a:spcPct val="100000"/>
              </a:lnSpc>
              <a:buSzPct val="25000"/>
            </a:pPr>
            <a:r>
              <a:rPr lang="fr-FR" sz="2000" dirty="0">
                <a:latin typeface="Arial"/>
              </a:rPr>
              <a:t>Le graphique des dépendances entre les fichiers fournit la définition des cibles, des dépendances et des commandes du fichier </a:t>
            </a:r>
            <a:r>
              <a:rPr lang="en-GB" sz="2000" b="1" dirty="0" err="1">
                <a:latin typeface="Courier New"/>
                <a:ea typeface="Courier New"/>
              </a:rPr>
              <a:t>makefile</a:t>
            </a:r>
            <a:endParaRPr lang="en-GB" sz="2000" dirty="0"/>
          </a:p>
        </p:txBody>
      </p:sp>
      <p:sp>
        <p:nvSpPr>
          <p:cNvPr id="28" name="CustomShape 8"/>
          <p:cNvSpPr/>
          <p:nvPr/>
        </p:nvSpPr>
        <p:spPr>
          <a:xfrm>
            <a:off x="4999420" y="5140432"/>
            <a:ext cx="2380892"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code2.c</a:t>
            </a:r>
            <a:endParaRPr dirty="0"/>
          </a:p>
        </p:txBody>
      </p:sp>
      <p:sp>
        <p:nvSpPr>
          <p:cNvPr id="29" name="Line 11"/>
          <p:cNvSpPr/>
          <p:nvPr/>
        </p:nvSpPr>
        <p:spPr>
          <a:xfrm flipV="1">
            <a:off x="4061371" y="4400062"/>
            <a:ext cx="1244" cy="770742"/>
          </a:xfrm>
          <a:prstGeom prst="line">
            <a:avLst/>
          </a:prstGeom>
          <a:ln w="12600">
            <a:solidFill>
              <a:srgbClr val="000208"/>
            </a:solidFill>
            <a:miter/>
            <a:tailEnd type="triangle" w="med" len="med"/>
          </a:ln>
        </p:spPr>
      </p:sp>
      <p:sp>
        <p:nvSpPr>
          <p:cNvPr id="30" name="Line 12"/>
          <p:cNvSpPr/>
          <p:nvPr/>
        </p:nvSpPr>
        <p:spPr>
          <a:xfrm flipV="1">
            <a:off x="6204951" y="4378507"/>
            <a:ext cx="1244" cy="809279"/>
          </a:xfrm>
          <a:prstGeom prst="line">
            <a:avLst/>
          </a:prstGeom>
          <a:ln w="12600">
            <a:solidFill>
              <a:srgbClr val="000208"/>
            </a:solidFill>
            <a:miter/>
            <a:tailEnd type="triangle" w="med" len="med"/>
          </a:ln>
        </p:spPr>
      </p:sp>
      <p:sp>
        <p:nvSpPr>
          <p:cNvPr id="31" name="CustomShape 7"/>
          <p:cNvSpPr/>
          <p:nvPr/>
        </p:nvSpPr>
        <p:spPr>
          <a:xfrm>
            <a:off x="2879812" y="5193196"/>
            <a:ext cx="2381203" cy="412804"/>
          </a:xfrm>
          <a:prstGeom prst="rect">
            <a:avLst/>
          </a:prstGeom>
        </p:spPr>
        <p:txBody>
          <a:bodyPr lIns="92070" tIns="46035" rIns="92070" bIns="46035"/>
          <a:lstStyle/>
          <a:p>
            <a:pPr algn="ctr">
              <a:lnSpc>
                <a:spcPct val="100000"/>
              </a:lnSpc>
              <a:buSzPct val="25000"/>
            </a:pPr>
            <a:r>
              <a:rPr lang="fr-FR" sz="2000" b="1" dirty="0">
                <a:latin typeface="Courier New"/>
                <a:ea typeface="Courier New"/>
              </a:rPr>
              <a:t>code1.c</a:t>
            </a:r>
            <a:endParaRPr dirty="0"/>
          </a:p>
        </p:txBody>
      </p:sp>
      <p:sp>
        <p:nvSpPr>
          <p:cNvPr id="2" name="CustomShape 4">
            <a:extLst>
              <a:ext uri="{FF2B5EF4-FFF2-40B4-BE49-F238E27FC236}">
                <a16:creationId xmlns:a16="http://schemas.microsoft.com/office/drawing/2014/main" id="{25DFD9F6-635C-5339-A492-D6355336D1A5}"/>
              </a:ext>
            </a:extLst>
          </p:cNvPr>
          <p:cNvSpPr/>
          <p:nvPr/>
        </p:nvSpPr>
        <p:spPr>
          <a:xfrm>
            <a:off x="7087779" y="2572091"/>
            <a:ext cx="2128737"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a:t>
            </a:r>
            <a:r>
              <a:rPr lang="fr-FR" sz="2000" dirty="0" err="1">
                <a:solidFill>
                  <a:srgbClr val="800000"/>
                </a:solidFill>
                <a:latin typeface="Arial"/>
                <a:ea typeface="Arial"/>
              </a:rPr>
              <a:t>executable</a:t>
            </a:r>
            <a:r>
              <a:rPr lang="fr-FR" sz="2000" dirty="0">
                <a:solidFill>
                  <a:srgbClr val="800000"/>
                </a:solidFill>
                <a:latin typeface="Arial"/>
                <a:ea typeface="Arial"/>
              </a:rPr>
              <a:t>)</a:t>
            </a:r>
            <a:endParaRPr dirty="0">
              <a:solidFill>
                <a:srgbClr val="800000"/>
              </a:solidFill>
            </a:endParaRPr>
          </a:p>
        </p:txBody>
      </p:sp>
      <p:sp>
        <p:nvSpPr>
          <p:cNvPr id="3" name="CustomShape 5">
            <a:extLst>
              <a:ext uri="{FF2B5EF4-FFF2-40B4-BE49-F238E27FC236}">
                <a16:creationId xmlns:a16="http://schemas.microsoft.com/office/drawing/2014/main" id="{3091D854-D3F9-91C4-D1A2-F7AA2EE109EC}"/>
              </a:ext>
            </a:extLst>
          </p:cNvPr>
          <p:cNvSpPr/>
          <p:nvPr/>
        </p:nvSpPr>
        <p:spPr>
          <a:xfrm>
            <a:off x="71500" y="2564906"/>
            <a:ext cx="2051816" cy="496869"/>
          </a:xfrm>
          <a:prstGeom prst="rect">
            <a:avLst/>
          </a:prstGeom>
        </p:spPr>
        <p:txBody>
          <a:bodyPr lIns="92070" tIns="46035" rIns="92070" bIns="46035"/>
          <a:lstStyle/>
          <a:p>
            <a:pPr algn="ctr">
              <a:lnSpc>
                <a:spcPct val="100000"/>
              </a:lnSpc>
              <a:buSzPct val="25000"/>
            </a:pPr>
            <a:r>
              <a:rPr lang="fr-FR" sz="2000" dirty="0">
                <a:solidFill>
                  <a:srgbClr val="800000"/>
                </a:solidFill>
                <a:latin typeface="Arial"/>
                <a:ea typeface="Arial"/>
              </a:rPr>
              <a:t>Cible finale :</a:t>
            </a:r>
            <a:endParaRPr dirty="0">
              <a:solidFill>
                <a:srgbClr val="800000"/>
              </a:solidFill>
            </a:endParaRPr>
          </a:p>
        </p:txBody>
      </p:sp>
    </p:spTree>
    <p:extLst>
      <p:ext uri="{BB962C8B-B14F-4D97-AF65-F5344CB8AC3E}">
        <p14:creationId xmlns:p14="http://schemas.microsoft.com/office/powerpoint/2010/main" val="1388217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re 1"/>
          <p:cNvSpPr>
            <a:spLocks noGrp="1"/>
          </p:cNvSpPr>
          <p:nvPr>
            <p:ph type="title"/>
          </p:nvPr>
        </p:nvSpPr>
        <p:spPr/>
        <p:txBody>
          <a:bodyPr/>
          <a:lstStyle/>
          <a:p>
            <a:r>
              <a:rPr lang="fr-FR" sz="2800" dirty="0">
                <a:latin typeface="Arial" charset="0"/>
                <a:ea typeface="ＭＳ Ｐゴシック" charset="0"/>
                <a:cs typeface="ＭＳ Ｐゴシック" charset="0"/>
              </a:rPr>
              <a:t>Structure </a:t>
            </a:r>
            <a:r>
              <a:rPr lang="fr-FR" sz="2800" dirty="0">
                <a:latin typeface="Arial" charset="0"/>
                <a:cs typeface="ＭＳ Ｐゴシック" charset="0"/>
              </a:rPr>
              <a:t>de</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Makefile</a:t>
            </a:r>
            <a:endParaRPr lang="fr-FR" sz="2800" dirty="0">
              <a:latin typeface="Arial" charset="0"/>
              <a:ea typeface="ＭＳ Ｐゴシック" charset="0"/>
              <a:cs typeface="ＭＳ Ｐゴシック" charset="0"/>
            </a:endParaRPr>
          </a:p>
        </p:txBody>
      </p:sp>
      <p:sp>
        <p:nvSpPr>
          <p:cNvPr id="57346" name="Espace réservé du contenu 2"/>
          <p:cNvSpPr>
            <a:spLocks noGrp="1"/>
          </p:cNvSpPr>
          <p:nvPr>
            <p:ph idx="1"/>
          </p:nvPr>
        </p:nvSpPr>
        <p:spPr>
          <a:xfrm>
            <a:off x="269522" y="1160462"/>
            <a:ext cx="8604956" cy="4537075"/>
          </a:xfrm>
        </p:spPr>
        <p:txBody>
          <a:bodyPr/>
          <a:lstStyle/>
          <a:p>
            <a:r>
              <a:rPr lang="fr-FR" dirty="0">
                <a:latin typeface="Arial" charset="0"/>
                <a:cs typeface="ＭＳ Ｐゴシック" charset="0"/>
              </a:rPr>
              <a:t>Format d'une règle</a:t>
            </a:r>
          </a:p>
          <a:p>
            <a:pPr lvl="1"/>
            <a:r>
              <a:rPr lang="fr-FR" b="1" dirty="0">
                <a:latin typeface="Courier New"/>
                <a:cs typeface="Courier New"/>
              </a:rPr>
              <a:t>Cible : dep_fichier1 dep_fichier2 … </a:t>
            </a:r>
          </a:p>
          <a:p>
            <a:pPr marL="542925" lvl="1" indent="0">
              <a:buNone/>
            </a:pPr>
            <a:r>
              <a:rPr lang="fr-FR" b="1" dirty="0">
                <a:latin typeface="Courier New"/>
                <a:cs typeface="Courier New"/>
              </a:rPr>
              <a:t>(</a:t>
            </a:r>
            <a:r>
              <a:rPr lang="fr-FR" b="1" dirty="0">
                <a:solidFill>
                  <a:srgbClr val="FF0000"/>
                </a:solidFill>
                <a:latin typeface="Courier New"/>
                <a:cs typeface="Courier New"/>
              </a:rPr>
              <a:t>TAB</a:t>
            </a:r>
            <a:r>
              <a:rPr lang="fr-FR" b="1" dirty="0">
                <a:latin typeface="Courier New"/>
                <a:cs typeface="Courier New"/>
              </a:rPr>
              <a:t>) commande</a:t>
            </a:r>
          </a:p>
          <a:p>
            <a:r>
              <a:rPr lang="fr-FR" dirty="0">
                <a:latin typeface="Arial" charset="0"/>
                <a:cs typeface="ＭＳ Ｐゴシック" charset="0"/>
              </a:rPr>
              <a:t>Application de la règle :</a:t>
            </a:r>
          </a:p>
          <a:p>
            <a:pPr lvl="1"/>
            <a:r>
              <a:rPr lang="fr-FR" dirty="0">
                <a:latin typeface="Arial" charset="0"/>
              </a:rPr>
              <a:t>Si la date de la dernière modification de l'un des fichiers dépendants </a:t>
            </a:r>
            <a:r>
              <a:rPr lang="fr-FR" b="1" dirty="0">
                <a:latin typeface="Arial" charset="0"/>
              </a:rPr>
              <a:t>dep_fichier1</a:t>
            </a:r>
            <a:r>
              <a:rPr lang="fr-FR" dirty="0">
                <a:latin typeface="Arial" charset="0"/>
              </a:rPr>
              <a:t>, </a:t>
            </a:r>
            <a:r>
              <a:rPr lang="fr-FR" b="1" dirty="0">
                <a:latin typeface="Arial" charset="0"/>
              </a:rPr>
              <a:t>dep_fichier2</a:t>
            </a:r>
            <a:r>
              <a:rPr lang="fr-FR" dirty="0">
                <a:latin typeface="Arial" charset="0"/>
              </a:rPr>
              <a:t>, etc. est plus récente que la date du fichier </a:t>
            </a:r>
            <a:r>
              <a:rPr lang="fr-FR" b="1" dirty="0">
                <a:latin typeface="Arial" charset="0"/>
              </a:rPr>
              <a:t>cible</a:t>
            </a:r>
            <a:r>
              <a:rPr lang="fr-FR" dirty="0">
                <a:latin typeface="Arial" charset="0"/>
              </a:rPr>
              <a:t>, l'outil </a:t>
            </a:r>
            <a:r>
              <a:rPr lang="fr-FR" b="1" dirty="0" err="1">
                <a:latin typeface="Arial" charset="0"/>
              </a:rPr>
              <a:t>make</a:t>
            </a:r>
            <a:r>
              <a:rPr lang="fr-FR" dirty="0">
                <a:latin typeface="Arial" charset="0"/>
              </a:rPr>
              <a:t> exécute la commande.</a:t>
            </a:r>
            <a:endParaRPr lang="fr-FR" dirty="0">
              <a:latin typeface="Arial" charset="0"/>
              <a:cs typeface="ＭＳ Ｐゴシック" charset="0"/>
            </a:endParaRPr>
          </a:p>
          <a:p>
            <a:r>
              <a:rPr lang="fr-FR" dirty="0">
                <a:latin typeface="Arial" charset="0"/>
                <a:cs typeface="ＭＳ Ｐゴシック" charset="0"/>
              </a:rPr>
              <a:t>Utilisation : commande </a:t>
            </a:r>
            <a:r>
              <a:rPr lang="fr-FR" dirty="0" err="1">
                <a:latin typeface="Arial" charset="0"/>
                <a:cs typeface="ＭＳ Ｐゴシック" charset="0"/>
              </a:rPr>
              <a:t>make</a:t>
            </a:r>
            <a:endParaRPr lang="fr-FR" dirty="0">
              <a:latin typeface="Arial" charset="0"/>
              <a:cs typeface="ＭＳ Ｐゴシック" charset="0"/>
            </a:endParaRPr>
          </a:p>
          <a:p>
            <a:pPr lvl="1"/>
            <a:r>
              <a:rPr lang="fr-FR" dirty="0">
                <a:latin typeface="Arial" charset="0"/>
              </a:rPr>
              <a:t>L'outil exécute la première cible du fichier </a:t>
            </a:r>
            <a:r>
              <a:rPr lang="fr-FR" b="1" dirty="0" err="1">
                <a:latin typeface="Arial" charset="0"/>
              </a:rPr>
              <a:t>makefile</a:t>
            </a:r>
            <a:r>
              <a:rPr lang="fr-FR" dirty="0">
                <a:latin typeface="Arial" charset="0"/>
              </a:rPr>
              <a:t> du répertoire de travail.</a:t>
            </a:r>
          </a:p>
          <a:p>
            <a:pPr lvl="1"/>
            <a:r>
              <a:rPr lang="fr-FR" b="1" dirty="0" err="1">
                <a:latin typeface="Arial" charset="0"/>
              </a:rPr>
              <a:t>make</a:t>
            </a:r>
            <a:r>
              <a:rPr lang="fr-FR" b="1" dirty="0">
                <a:latin typeface="Arial" charset="0"/>
              </a:rPr>
              <a:t> label </a:t>
            </a:r>
            <a:r>
              <a:rPr lang="fr-FR" dirty="0">
                <a:latin typeface="Arial" charset="0"/>
              </a:rPr>
              <a:t>: </a:t>
            </a:r>
            <a:r>
              <a:rPr lang="fr-FR" dirty="0">
                <a:latin typeface="Courier New"/>
                <a:cs typeface="Courier New"/>
              </a:rPr>
              <a:t>L'outil exécute la règle associée à la cible appelée</a:t>
            </a:r>
            <a:r>
              <a:rPr lang="fr-FR" b="1" dirty="0">
                <a:latin typeface="Courier New"/>
                <a:cs typeface="Courier New"/>
              </a:rPr>
              <a:t> label.</a:t>
            </a:r>
            <a:endParaRPr lang="en-US" b="1" dirty="0">
              <a:latin typeface="Courier New"/>
              <a:cs typeface="Courier New"/>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33</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dirty="0"/>
              <a:t>L3Info – C/Unix</a:t>
            </a:r>
          </a:p>
        </p:txBody>
      </p:sp>
    </p:spTree>
    <p:extLst>
      <p:ext uri="{BB962C8B-B14F-4D97-AF65-F5344CB8AC3E}">
        <p14:creationId xmlns:p14="http://schemas.microsoft.com/office/powerpoint/2010/main" val="1904573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34</a:t>
            </a:fld>
            <a:endParaRPr lang="fr-FR" sz="1400">
              <a:solidFill>
                <a:srgbClr val="000208"/>
              </a:solidFill>
              <a:latin typeface="Times New Roman" charset="0"/>
            </a:endParaRPr>
          </a:p>
        </p:txBody>
      </p:sp>
      <p:sp>
        <p:nvSpPr>
          <p:cNvPr id="3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sp>
        <p:nvSpPr>
          <p:cNvPr id="558" name="CustomShape 20"/>
          <p:cNvSpPr/>
          <p:nvPr/>
        </p:nvSpPr>
        <p:spPr>
          <a:xfrm>
            <a:off x="444991"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err="1">
                <a:latin typeface="Courier New"/>
                <a:ea typeface="Courier New"/>
              </a:rPr>
              <a:t>prog</a:t>
            </a:r>
            <a:r>
              <a:rPr lang="fr-FR" sz="1800" b="1" dirty="0">
                <a:latin typeface="Courier New"/>
                <a:ea typeface="Courier New"/>
              </a:rPr>
              <a:t> :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–o </a:t>
            </a:r>
            <a:r>
              <a:rPr lang="fr-FR" sz="1800" b="1" dirty="0" err="1">
                <a:latin typeface="Courier New"/>
                <a:ea typeface="Courier New"/>
              </a:rPr>
              <a:t>prog</a:t>
            </a:r>
            <a:r>
              <a:rPr lang="fr-FR" sz="1800" b="1" dirty="0">
                <a:latin typeface="Courier New"/>
                <a:ea typeface="Courier New"/>
              </a:rPr>
              <a:t>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endParaRPr dirty="0"/>
          </a:p>
          <a:p>
            <a:pPr algn="l">
              <a:lnSpc>
                <a:spcPct val="100000"/>
              </a:lnSpc>
              <a:buSzPct val="25000"/>
            </a:pPr>
            <a:r>
              <a:rPr lang="fr-FR" sz="1800" b="1" dirty="0" err="1">
                <a:latin typeface="Courier New"/>
                <a:ea typeface="Courier New"/>
              </a:rPr>
              <a:t>prog.o</a:t>
            </a:r>
            <a:r>
              <a:rPr lang="fr-FR" sz="1800" b="1" dirty="0">
                <a:latin typeface="Courier New"/>
                <a:ea typeface="Courier New"/>
              </a:rPr>
              <a:t> : </a:t>
            </a:r>
            <a:r>
              <a:rPr lang="fr-FR" sz="1800" b="1" dirty="0" err="1">
                <a:latin typeface="Courier New"/>
                <a:ea typeface="Courier New"/>
              </a:rPr>
              <a:t>prog.c</a:t>
            </a:r>
            <a:r>
              <a:rPr lang="fr-FR" sz="1800" b="1" dirty="0">
                <a:latin typeface="Courier New"/>
                <a:ea typeface="Courier New"/>
              </a:rPr>
              <a:t> </a:t>
            </a:r>
            <a:r>
              <a:rPr lang="fr-FR" sz="1800" b="1" dirty="0" err="1">
                <a:latin typeface="Courier New"/>
                <a:ea typeface="Courier New"/>
              </a:rPr>
              <a:t>prog.h</a:t>
            </a:r>
            <a:r>
              <a:rPr lang="fr-FR" sz="1800" b="1" dirty="0">
                <a:latin typeface="Courier New"/>
                <a:ea typeface="Courier New"/>
              </a:rPr>
              <a:t> code1.h </a:t>
            </a:r>
            <a:endParaRPr dirty="0"/>
          </a:p>
          <a:p>
            <a:pPr lvl="2" algn="l">
              <a:buSzPct val="25000"/>
            </a:pPr>
            <a:r>
              <a:rPr lang="fr-FR" sz="1800" b="1" dirty="0" err="1">
                <a:latin typeface="Courier New"/>
                <a:ea typeface="Courier New"/>
              </a:rPr>
              <a:t>gcc</a:t>
            </a:r>
            <a:r>
              <a:rPr lang="fr-FR" sz="1800" b="1" dirty="0">
                <a:latin typeface="Courier New"/>
                <a:ea typeface="Courier New"/>
              </a:rPr>
              <a:t> -c </a:t>
            </a:r>
            <a:r>
              <a:rPr lang="fr-FR" sz="1800" b="1" dirty="0" err="1">
                <a:latin typeface="Courier New"/>
                <a:ea typeface="Courier New"/>
              </a:rPr>
              <a:t>prog.c</a:t>
            </a:r>
            <a:r>
              <a:rPr lang="fr-FR" sz="1800" b="1" dirty="0">
                <a:latin typeface="Courier New"/>
                <a:ea typeface="Courier New"/>
              </a:rPr>
              <a:t> –o </a:t>
            </a:r>
            <a:r>
              <a:rPr lang="fr-FR" sz="1800" b="1" dirty="0" err="1">
                <a:latin typeface="Courier New"/>
                <a:ea typeface="Courier New"/>
              </a:rPr>
              <a:t>prog.o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code1.o : code1.c </a:t>
            </a:r>
            <a:r>
              <a:rPr lang="fr-FR" sz="1800" b="1" dirty="0" err="1">
                <a:latin typeface="Courier New"/>
                <a:ea typeface="Courier New"/>
              </a:rPr>
              <a:t>prog.h</a:t>
            </a:r>
            <a:r>
              <a:rPr lang="fr-FR" sz="1800" b="1" dirty="0">
                <a:latin typeface="Courier New"/>
                <a:ea typeface="Courier New"/>
              </a:rPr>
              <a:t> code1.h</a:t>
            </a:r>
            <a:endParaRPr dirty="0"/>
          </a:p>
          <a:p>
            <a:pPr lvl="2" algn="l">
              <a:buSzPct val="25000"/>
            </a:pPr>
            <a:r>
              <a:rPr lang="fr-FR" sz="1800" b="1" dirty="0" err="1">
                <a:latin typeface="Courier New"/>
                <a:ea typeface="Courier New"/>
              </a:rPr>
              <a:t>gcc</a:t>
            </a:r>
            <a:r>
              <a:rPr lang="fr-FR" sz="1800" b="1" dirty="0">
                <a:latin typeface="Courier New"/>
                <a:ea typeface="Courier New"/>
              </a:rPr>
              <a:t> -c code1.c –o code1.o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code2.o : code2.c </a:t>
            </a:r>
            <a:r>
              <a:rPr lang="fr-FR" sz="1800" b="1" dirty="0" err="1">
                <a:latin typeface="Courier New"/>
                <a:ea typeface="Courier New"/>
              </a:rPr>
              <a:t>prog.h</a:t>
            </a:r>
            <a:r>
              <a:rPr lang="fr-FR" sz="1800" b="1" dirty="0">
                <a:latin typeface="Courier New"/>
                <a:ea typeface="Courier New"/>
              </a:rPr>
              <a:t> code1.h  </a:t>
            </a:r>
            <a:endParaRPr dirty="0"/>
          </a:p>
          <a:p>
            <a:pPr marL="0" lvl="2" algn="l">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–c code2.c –o code2.o</a:t>
            </a: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pPr>
            <a:r>
              <a:rPr lang="fr-FR">
                <a:ea typeface="Arial"/>
              </a:rPr>
              <a:t> </a:t>
            </a:r>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a:solidFill>
                  <a:srgbClr val="010507"/>
                </a:solidFill>
                <a:latin typeface="Courier New"/>
                <a:ea typeface="Courier New"/>
              </a:rPr>
              <a:t>prog</a:t>
            </a:r>
            <a:endParaRPr sz="1400"/>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2.o</a:t>
            </a:r>
            <a:endParaRPr sz="1400" dirty="0"/>
          </a:p>
        </p:txBody>
      </p:sp>
      <p:sp>
        <p:nvSpPr>
          <p:cNvPr id="544" name="CustomShape 6"/>
          <p:cNvSpPr/>
          <p:nvPr/>
        </p:nvSpPr>
        <p:spPr>
          <a:xfrm>
            <a:off x="1604507" y="2060810"/>
            <a:ext cx="1185003" cy="343894"/>
          </a:xfrm>
          <a:prstGeom prst="rect">
            <a:avLst/>
          </a:prstGeom>
        </p:spPr>
        <p:txBody>
          <a:bodyPr lIns="92070" tIns="46035" rIns="92070" bIns="46035"/>
          <a:lstStyle/>
          <a:p>
            <a:pPr algn="ctr">
              <a:lnSpc>
                <a:spcPct val="100000"/>
              </a:lnSpc>
              <a:buSzPct val="25000"/>
            </a:pPr>
            <a:r>
              <a:rPr lang="fr-FR" sz="1400" b="1">
                <a:solidFill>
                  <a:srgbClr val="010507"/>
                </a:solidFill>
                <a:latin typeface="Courier New"/>
                <a:ea typeface="Courier New"/>
              </a:rPr>
              <a:t>prog.o</a:t>
            </a:r>
            <a:endParaRPr sz="1400"/>
          </a:p>
        </p:txBody>
      </p:sp>
      <p:sp>
        <p:nvSpPr>
          <p:cNvPr id="545" name="CustomShape 7"/>
          <p:cNvSpPr/>
          <p:nvPr/>
        </p:nvSpPr>
        <p:spPr>
          <a:xfrm>
            <a:off x="2738502" y="2775052"/>
            <a:ext cx="1840643"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2.c</a:t>
            </a:r>
            <a:endParaRPr sz="1400" dirty="0"/>
          </a:p>
        </p:txBody>
      </p:sp>
      <p:sp>
        <p:nvSpPr>
          <p:cNvPr id="547" name="CustomShape 9"/>
          <p:cNvSpPr/>
          <p:nvPr/>
        </p:nvSpPr>
        <p:spPr>
          <a:xfrm>
            <a:off x="1583668" y="2779298"/>
            <a:ext cx="1183759" cy="343894"/>
          </a:xfrm>
          <a:prstGeom prst="rect">
            <a:avLst/>
          </a:prstGeom>
        </p:spPr>
        <p:txBody>
          <a:bodyPr lIns="92070" tIns="46035" rIns="92070" bIns="46035"/>
          <a:lstStyle/>
          <a:p>
            <a:pPr algn="ctr">
              <a:lnSpc>
                <a:spcPct val="100000"/>
              </a:lnSpc>
              <a:buSzPct val="25000"/>
            </a:pPr>
            <a:r>
              <a:rPr lang="fr-FR" sz="1400" b="1">
                <a:solidFill>
                  <a:srgbClr val="010507"/>
                </a:solidFill>
                <a:latin typeface="Courier New"/>
                <a:ea typeface="Courier New"/>
              </a:rPr>
              <a:t>prog.c</a:t>
            </a:r>
            <a:endParaRPr sz="1400"/>
          </a:p>
        </p:txBody>
      </p:sp>
      <p:sp>
        <p:nvSpPr>
          <p:cNvPr id="548" name="Line 10"/>
          <p:cNvSpPr/>
          <p:nvPr/>
        </p:nvSpPr>
        <p:spPr>
          <a:xfrm flipV="1">
            <a:off x="2234020" y="2319792"/>
            <a:ext cx="1244" cy="512739"/>
          </a:xfrm>
          <a:prstGeom prst="line">
            <a:avLst/>
          </a:prstGeom>
          <a:ln w="12600">
            <a:solidFill>
              <a:srgbClr val="000208"/>
            </a:solidFill>
            <a:miter/>
            <a:tailEnd type="triangle" w="med" len="med"/>
          </a:ln>
        </p:spPr>
      </p:sp>
      <p:sp>
        <p:nvSpPr>
          <p:cNvPr id="549" name="Line 11"/>
          <p:cNvSpPr/>
          <p:nvPr/>
        </p:nvSpPr>
        <p:spPr>
          <a:xfrm flipV="1">
            <a:off x="3723516" y="231554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13182" y="1617306"/>
            <a:ext cx="1006786" cy="472243"/>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a:solidFill>
                  <a:srgbClr val="800000"/>
                </a:solidFill>
                <a:latin typeface="Arial"/>
                <a:ea typeface="Arial"/>
              </a:rPr>
              <a:t>(source)</a:t>
            </a:r>
            <a:endParaRPr sz="140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object</a:t>
            </a:r>
            <a:r>
              <a:rPr lang="fr-FR" sz="1400" dirty="0">
                <a:solidFill>
                  <a:srgbClr val="800000"/>
                </a:solidFill>
                <a:latin typeface="Arial"/>
                <a:ea typeface="Arial"/>
              </a:rPr>
              <a:t>)</a:t>
            </a:r>
            <a:endParaRPr sz="1400" dirty="0">
              <a:solidFill>
                <a:srgbClr val="800000"/>
              </a:solidFill>
            </a:endParaRPr>
          </a:p>
        </p:txBody>
      </p:sp>
      <p:sp>
        <p:nvSpPr>
          <p:cNvPr id="556" name="CustomShape 18"/>
          <p:cNvSpPr/>
          <p:nvPr/>
        </p:nvSpPr>
        <p:spPr>
          <a:xfrm>
            <a:off x="6028829" y="1399801"/>
            <a:ext cx="1307236"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executable</a:t>
            </a:r>
            <a:r>
              <a:rPr lang="fr-FR" sz="1400" dirty="0">
                <a:solidFill>
                  <a:srgbClr val="800000"/>
                </a:solidFill>
                <a:latin typeface="Arial"/>
                <a:ea typeface="Arial"/>
              </a:rPr>
              <a:t>)</a:t>
            </a:r>
            <a:endParaRPr sz="1400" dirty="0">
              <a:solidFill>
                <a:srgbClr val="800000"/>
              </a:solidFill>
            </a:endParaRPr>
          </a:p>
        </p:txBody>
      </p:sp>
      <p:sp>
        <p:nvSpPr>
          <p:cNvPr id="557" name="CustomShape 19"/>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a:latin typeface="Courier"/>
                <a:ea typeface="Arial"/>
                <a:cs typeface="Courier"/>
              </a:rPr>
              <a:t>makefile</a:t>
            </a:r>
            <a:endParaRPr>
              <a:latin typeface="Courier"/>
              <a:cs typeface="Courier"/>
            </a:endParaRPr>
          </a:p>
        </p:txBody>
      </p:sp>
      <p:sp>
        <p:nvSpPr>
          <p:cNvPr id="559" name="CustomShape 21"/>
          <p:cNvSpPr/>
          <p:nvPr/>
        </p:nvSpPr>
        <p:spPr>
          <a:xfrm>
            <a:off x="610230" y="4077156"/>
            <a:ext cx="514434" cy="162640"/>
          </a:xfrm>
          <a:prstGeom prst="rect">
            <a:avLst/>
          </a:prstGeom>
          <a:ln w="6480">
            <a:solidFill>
              <a:srgbClr val="000208"/>
            </a:solidFill>
            <a:miter/>
          </a:ln>
        </p:spPr>
      </p:sp>
      <p:sp>
        <p:nvSpPr>
          <p:cNvPr id="560" name="Line 22"/>
          <p:cNvSpPr/>
          <p:nvPr/>
        </p:nvSpPr>
        <p:spPr>
          <a:xfrm flipH="1" flipV="1">
            <a:off x="72008" y="2492896"/>
            <a:ext cx="503548" cy="1656184"/>
          </a:xfrm>
          <a:prstGeom prst="line">
            <a:avLst/>
          </a:prstGeom>
          <a:ln w="6480">
            <a:solidFill>
              <a:srgbClr val="000208"/>
            </a:solidFill>
            <a:miter/>
            <a:tailEnd type="triangle" w="med" len="med"/>
          </a:ln>
        </p:spPr>
      </p:sp>
      <p:sp>
        <p:nvSpPr>
          <p:cNvPr id="561" name="CustomShape 23"/>
          <p:cNvSpPr/>
          <p:nvPr/>
        </p:nvSpPr>
        <p:spPr>
          <a:xfrm>
            <a:off x="-432556" y="2157246"/>
            <a:ext cx="2467979" cy="371654"/>
          </a:xfrm>
          <a:prstGeom prst="rect">
            <a:avLst/>
          </a:prstGeom>
        </p:spPr>
        <p:txBody>
          <a:bodyPr wrap="none" lIns="92070" tIns="46035" rIns="92070" bIns="46035"/>
          <a:lstStyle/>
          <a:p>
            <a:pPr algn="ctr">
              <a:lnSpc>
                <a:spcPct val="100000"/>
              </a:lnSpc>
              <a:buSzPct val="25000"/>
            </a:pPr>
            <a:r>
              <a:rPr lang="fr-FR" sz="1800" b="1" dirty="0">
                <a:solidFill>
                  <a:srgbClr val="FF0000"/>
                </a:solidFill>
                <a:latin typeface="Arial"/>
              </a:rPr>
              <a:t>TAB </a:t>
            </a:r>
            <a:r>
              <a:rPr lang="fr-FR" sz="1800" b="1" dirty="0" err="1">
                <a:solidFill>
                  <a:srgbClr val="FF0000"/>
                </a:solidFill>
                <a:latin typeface="Arial"/>
              </a:rPr>
              <a:t>character</a:t>
            </a:r>
            <a:endParaRPr b="1" dirty="0">
              <a:solidFill>
                <a:srgbClr val="FF0000"/>
              </a:solidFill>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Structure </a:t>
            </a:r>
            <a:r>
              <a:rPr lang="fr-FR" sz="2800" dirty="0">
                <a:latin typeface="Arial" charset="0"/>
                <a:cs typeface="ＭＳ Ｐゴシック" charset="0"/>
              </a:rPr>
              <a:t>de</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Makefile</a:t>
            </a:r>
            <a:r>
              <a:rPr lang="fr-FR" sz="2800" dirty="0">
                <a:latin typeface="+mn-lt"/>
                <a:cs typeface="Courier New"/>
              </a:rPr>
              <a:t>: Exemple</a:t>
            </a:r>
            <a:endParaRPr lang="fr-FR" sz="2800" dirty="0">
              <a:latin typeface="+mn-lt"/>
              <a:cs typeface="ＭＳ Ｐゴシック" charset="0"/>
            </a:endParaRPr>
          </a:p>
        </p:txBody>
      </p:sp>
      <p:sp>
        <p:nvSpPr>
          <p:cNvPr id="29" name="CustomShape 21"/>
          <p:cNvSpPr/>
          <p:nvPr/>
        </p:nvSpPr>
        <p:spPr>
          <a:xfrm>
            <a:off x="611560" y="4869160"/>
            <a:ext cx="514434" cy="162640"/>
          </a:xfrm>
          <a:prstGeom prst="rect">
            <a:avLst/>
          </a:prstGeom>
          <a:ln w="6480">
            <a:solidFill>
              <a:srgbClr val="000208"/>
            </a:solidFill>
            <a:miter/>
          </a:ln>
        </p:spPr>
      </p:sp>
      <p:sp>
        <p:nvSpPr>
          <p:cNvPr id="30" name="CustomShape 21"/>
          <p:cNvSpPr/>
          <p:nvPr/>
        </p:nvSpPr>
        <p:spPr>
          <a:xfrm>
            <a:off x="575556" y="5697252"/>
            <a:ext cx="514434" cy="162640"/>
          </a:xfrm>
          <a:prstGeom prst="rect">
            <a:avLst/>
          </a:prstGeom>
          <a:ln w="6480">
            <a:solidFill>
              <a:srgbClr val="000208"/>
            </a:solidFill>
            <a:miter/>
          </a:ln>
        </p:spPr>
      </p:sp>
      <p:sp>
        <p:nvSpPr>
          <p:cNvPr id="31" name="CustomShape 21"/>
          <p:cNvSpPr/>
          <p:nvPr/>
        </p:nvSpPr>
        <p:spPr>
          <a:xfrm>
            <a:off x="575556" y="6489340"/>
            <a:ext cx="514434" cy="162640"/>
          </a:xfrm>
          <a:prstGeom prst="rect">
            <a:avLst/>
          </a:prstGeom>
          <a:ln w="6480">
            <a:solidFill>
              <a:srgbClr val="000208"/>
            </a:solidFill>
            <a:miter/>
          </a:ln>
        </p:spPr>
      </p:sp>
    </p:spTree>
    <p:extLst>
      <p:ext uri="{BB962C8B-B14F-4D97-AF65-F5344CB8AC3E}">
        <p14:creationId xmlns:p14="http://schemas.microsoft.com/office/powerpoint/2010/main" val="1511625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35</a:t>
            </a:fld>
            <a:endParaRPr lang="fr-FR" sz="1400">
              <a:solidFill>
                <a:srgbClr val="000208"/>
              </a:solidFill>
              <a:latin typeface="Times New Roman" charset="0"/>
            </a:endParaRPr>
          </a:p>
        </p:txBody>
      </p:sp>
      <p:sp>
        <p:nvSpPr>
          <p:cNvPr id="3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sp>
        <p:nvSpPr>
          <p:cNvPr id="558" name="CustomShape 20"/>
          <p:cNvSpPr/>
          <p:nvPr/>
        </p:nvSpPr>
        <p:spPr>
          <a:xfrm>
            <a:off x="467544"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err="1">
                <a:latin typeface="Courier New"/>
                <a:ea typeface="Courier New"/>
              </a:rPr>
              <a:t>prog</a:t>
            </a:r>
            <a:r>
              <a:rPr lang="fr-FR" sz="1800" b="1" dirty="0">
                <a:latin typeface="Courier New"/>
                <a:ea typeface="Courier New"/>
              </a:rPr>
              <a:t> :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–o </a:t>
            </a:r>
            <a:r>
              <a:rPr lang="fr-FR" sz="1800" b="1" dirty="0" err="1">
                <a:latin typeface="Courier New"/>
                <a:ea typeface="Courier New"/>
              </a:rPr>
              <a:t>prog</a:t>
            </a:r>
            <a:r>
              <a:rPr lang="fr-FR" sz="1800" b="1" dirty="0">
                <a:latin typeface="Courier New"/>
                <a:ea typeface="Courier New"/>
              </a:rPr>
              <a:t>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endParaRPr dirty="0"/>
          </a:p>
          <a:p>
            <a:pPr algn="l">
              <a:lnSpc>
                <a:spcPct val="100000"/>
              </a:lnSpc>
              <a:buSzPct val="25000"/>
            </a:pPr>
            <a:r>
              <a:rPr lang="fr-FR" sz="1800" b="1" dirty="0" err="1">
                <a:latin typeface="Courier New"/>
                <a:ea typeface="Courier New"/>
              </a:rPr>
              <a:t>prog.o</a:t>
            </a:r>
            <a:r>
              <a:rPr lang="fr-FR" sz="1800" b="1" dirty="0">
                <a:latin typeface="Courier New"/>
                <a:ea typeface="Courier New"/>
              </a:rPr>
              <a:t> : </a:t>
            </a:r>
            <a:r>
              <a:rPr lang="fr-FR" sz="1800" b="1" dirty="0" err="1">
                <a:latin typeface="Courier New"/>
                <a:ea typeface="Courier New"/>
              </a:rPr>
              <a:t>prog.c</a:t>
            </a:r>
            <a:r>
              <a:rPr lang="fr-FR" sz="1800" b="1" dirty="0">
                <a:latin typeface="Courier New"/>
                <a:ea typeface="Courier New"/>
              </a:rPr>
              <a:t> </a:t>
            </a:r>
            <a:r>
              <a:rPr lang="fr-FR" sz="1800" b="1" dirty="0" err="1">
                <a:latin typeface="Courier New"/>
                <a:ea typeface="Courier New"/>
              </a:rPr>
              <a:t>prog.h</a:t>
            </a:r>
            <a:r>
              <a:rPr lang="fr-FR" sz="1800" b="1" dirty="0">
                <a:latin typeface="Courier New"/>
                <a:ea typeface="Courier New"/>
              </a:rPr>
              <a:t> code1.h  </a:t>
            </a:r>
            <a:endParaRPr dirty="0"/>
          </a:p>
          <a:p>
            <a:pPr lvl="2" algn="l">
              <a:buSzPct val="25000"/>
            </a:pPr>
            <a:r>
              <a:rPr lang="fr-FR" sz="1800" b="1" dirty="0" err="1">
                <a:latin typeface="Courier New"/>
                <a:ea typeface="Courier New"/>
              </a:rPr>
              <a:t>gcc</a:t>
            </a:r>
            <a:r>
              <a:rPr lang="fr-FR" sz="1800" b="1" dirty="0">
                <a:latin typeface="Courier New"/>
                <a:ea typeface="Courier New"/>
              </a:rPr>
              <a:t> -c </a:t>
            </a:r>
            <a:r>
              <a:rPr lang="fr-FR" sz="1800" b="1" dirty="0" err="1">
                <a:latin typeface="Courier New"/>
                <a:ea typeface="Courier New"/>
              </a:rPr>
              <a:t>prog.c</a:t>
            </a:r>
            <a:r>
              <a:rPr lang="fr-FR" sz="1800" b="1" dirty="0">
                <a:latin typeface="Courier New"/>
                <a:ea typeface="Courier New"/>
              </a:rPr>
              <a:t> –o </a:t>
            </a:r>
            <a:r>
              <a:rPr lang="fr-FR" sz="1800" b="1" dirty="0" err="1">
                <a:latin typeface="Courier New"/>
                <a:ea typeface="Courier New"/>
              </a:rPr>
              <a:t>prog.o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code1.o : code1.c </a:t>
            </a:r>
            <a:r>
              <a:rPr lang="fr-FR" sz="1800" b="1" dirty="0" err="1">
                <a:latin typeface="Courier New"/>
                <a:ea typeface="Courier New"/>
              </a:rPr>
              <a:t>prog.h</a:t>
            </a:r>
            <a:r>
              <a:rPr lang="fr-FR" sz="1800" b="1" dirty="0">
                <a:latin typeface="Courier New"/>
                <a:ea typeface="Courier New"/>
              </a:rPr>
              <a:t> code1.h</a:t>
            </a:r>
            <a:endParaRPr dirty="0"/>
          </a:p>
          <a:p>
            <a:pPr lvl="2" algn="l">
              <a:buSzPct val="25000"/>
            </a:pPr>
            <a:r>
              <a:rPr lang="fr-FR" sz="1800" b="1" dirty="0" err="1">
                <a:latin typeface="Courier New"/>
                <a:ea typeface="Courier New"/>
              </a:rPr>
              <a:t>gcc</a:t>
            </a:r>
            <a:r>
              <a:rPr lang="fr-FR" sz="1800" b="1" dirty="0">
                <a:latin typeface="Courier New"/>
                <a:ea typeface="Courier New"/>
              </a:rPr>
              <a:t> -c code1.c –o code1.o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code2.o : code2.c </a:t>
            </a:r>
            <a:r>
              <a:rPr lang="fr-FR" sz="1800" b="1" dirty="0" err="1">
                <a:latin typeface="Courier New"/>
                <a:ea typeface="Courier New"/>
              </a:rPr>
              <a:t>prog.h</a:t>
            </a:r>
            <a:r>
              <a:rPr lang="fr-FR" sz="1800" b="1" dirty="0">
                <a:latin typeface="Courier New"/>
                <a:ea typeface="Courier New"/>
              </a:rPr>
              <a:t> code1.h </a:t>
            </a:r>
            <a:endParaRPr sz="1800" dirty="0"/>
          </a:p>
          <a:p>
            <a:pPr marL="914400" lvl="4" algn="l">
              <a:buSzPct val="25000"/>
            </a:pPr>
            <a:r>
              <a:rPr lang="fr-FR" sz="1800" b="1" dirty="0" err="1">
                <a:latin typeface="Courier New"/>
                <a:ea typeface="Courier New"/>
              </a:rPr>
              <a:t>gcc</a:t>
            </a:r>
            <a:r>
              <a:rPr lang="fr-FR" sz="1800" b="1" dirty="0">
                <a:latin typeface="Courier New"/>
                <a:ea typeface="Courier New"/>
              </a:rPr>
              <a:t> –c code2.c –o code2.o</a:t>
            </a: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a:rPr>
              <a:t> </a:t>
            </a:r>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a:t>
            </a:r>
            <a:endParaRPr sz="1400" dirty="0">
              <a:solidFill>
                <a:schemeClr val="tx1"/>
              </a:solidFill>
            </a:endParaRPr>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2.o</a:t>
            </a:r>
            <a:endParaRPr sz="1400" dirty="0"/>
          </a:p>
        </p:txBody>
      </p:sp>
      <p:sp>
        <p:nvSpPr>
          <p:cNvPr id="544" name="CustomShape 6"/>
          <p:cNvSpPr/>
          <p:nvPr/>
        </p:nvSpPr>
        <p:spPr>
          <a:xfrm>
            <a:off x="1259632" y="2060810"/>
            <a:ext cx="1185003"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prog.o</a:t>
            </a:r>
            <a:endParaRPr sz="1400" dirty="0">
              <a:solidFill>
                <a:schemeClr val="tx1"/>
              </a:solidFill>
            </a:endParaRPr>
          </a:p>
        </p:txBody>
      </p:sp>
      <p:sp>
        <p:nvSpPr>
          <p:cNvPr id="545" name="CustomShape 7"/>
          <p:cNvSpPr/>
          <p:nvPr/>
        </p:nvSpPr>
        <p:spPr>
          <a:xfrm>
            <a:off x="2738502" y="3049102"/>
            <a:ext cx="1840643"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2.c</a:t>
            </a:r>
            <a:endParaRPr sz="1400" dirty="0"/>
          </a:p>
        </p:txBody>
      </p:sp>
      <p:sp>
        <p:nvSpPr>
          <p:cNvPr id="547" name="CustomShape 9"/>
          <p:cNvSpPr/>
          <p:nvPr/>
        </p:nvSpPr>
        <p:spPr>
          <a:xfrm>
            <a:off x="1259632" y="2779298"/>
            <a:ext cx="1183759"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prog.c</a:t>
            </a:r>
            <a:endParaRPr sz="1400" dirty="0">
              <a:solidFill>
                <a:schemeClr val="tx1"/>
              </a:solidFill>
            </a:endParaRPr>
          </a:p>
        </p:txBody>
      </p:sp>
      <p:sp>
        <p:nvSpPr>
          <p:cNvPr id="548" name="Line 10"/>
          <p:cNvSpPr/>
          <p:nvPr/>
        </p:nvSpPr>
        <p:spPr>
          <a:xfrm flipV="1">
            <a:off x="1860780" y="2321772"/>
            <a:ext cx="1244" cy="512739"/>
          </a:xfrm>
          <a:prstGeom prst="line">
            <a:avLst/>
          </a:prstGeom>
          <a:ln w="12600">
            <a:solidFill>
              <a:srgbClr val="000208"/>
            </a:solidFill>
            <a:miter/>
            <a:tailEnd type="triangle" w="med" len="med"/>
          </a:ln>
        </p:spPr>
      </p:sp>
      <p:sp>
        <p:nvSpPr>
          <p:cNvPr id="549" name="Line 11"/>
          <p:cNvSpPr/>
          <p:nvPr/>
        </p:nvSpPr>
        <p:spPr>
          <a:xfrm flipV="1">
            <a:off x="3723516" y="249556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13182" y="1797326"/>
            <a:ext cx="1006786" cy="472243"/>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a:solidFill>
                  <a:srgbClr val="800000"/>
                </a:solidFill>
                <a:latin typeface="Arial"/>
                <a:ea typeface="Arial"/>
              </a:rPr>
              <a:t>(source)</a:t>
            </a:r>
            <a:endParaRPr sz="140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object</a:t>
            </a:r>
            <a:r>
              <a:rPr lang="fr-FR" sz="1400" dirty="0">
                <a:solidFill>
                  <a:srgbClr val="800000"/>
                </a:solidFill>
                <a:latin typeface="Arial"/>
                <a:ea typeface="Arial"/>
              </a:rPr>
              <a:t>)</a:t>
            </a:r>
            <a:endParaRPr sz="1400" dirty="0">
              <a:solidFill>
                <a:srgbClr val="800000"/>
              </a:solidFill>
            </a:endParaRPr>
          </a:p>
        </p:txBody>
      </p:sp>
      <p:sp>
        <p:nvSpPr>
          <p:cNvPr id="556" name="CustomShape 18"/>
          <p:cNvSpPr/>
          <p:nvPr/>
        </p:nvSpPr>
        <p:spPr>
          <a:xfrm>
            <a:off x="6028829" y="1399801"/>
            <a:ext cx="1307236"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executable</a:t>
            </a:r>
            <a:r>
              <a:rPr lang="fr-FR" sz="1400" dirty="0">
                <a:solidFill>
                  <a:srgbClr val="800000"/>
                </a:solidFill>
                <a:latin typeface="Arial"/>
                <a:ea typeface="Arial"/>
              </a:rPr>
              <a:t>)</a:t>
            </a:r>
            <a:endParaRPr sz="1400" dirty="0">
              <a:solidFill>
                <a:srgbClr val="800000"/>
              </a:solidFill>
            </a:endParaRPr>
          </a:p>
        </p:txBody>
      </p:sp>
      <p:sp>
        <p:nvSpPr>
          <p:cNvPr id="557" name="CustomShape 19"/>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a:latin typeface="Courier"/>
                <a:ea typeface="Arial"/>
                <a:cs typeface="Courier"/>
              </a:rPr>
              <a:t>makefile</a:t>
            </a:r>
            <a:endParaRPr>
              <a:latin typeface="Courier"/>
              <a:cs typeface="Courier"/>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Structure of the </a:t>
            </a:r>
            <a:r>
              <a:rPr lang="fr-FR" sz="2800" dirty="0" err="1">
                <a:latin typeface="Courier New"/>
                <a:ea typeface="ＭＳ Ｐゴシック" charset="0"/>
                <a:cs typeface="Courier New"/>
              </a:rPr>
              <a:t>Makefile</a:t>
            </a:r>
            <a:r>
              <a:rPr lang="fr-FR" sz="2800" dirty="0">
                <a:latin typeface="+mn-lt"/>
                <a:cs typeface="Courier New"/>
              </a:rPr>
              <a:t>: </a:t>
            </a:r>
            <a:r>
              <a:rPr lang="fr-FR" sz="2800" dirty="0" err="1">
                <a:latin typeface="+mn-lt"/>
                <a:cs typeface="Courier New"/>
              </a:rPr>
              <a:t>Example</a:t>
            </a:r>
            <a:endParaRPr lang="fr-FR" sz="2800" dirty="0">
              <a:latin typeface="+mn-lt"/>
              <a:cs typeface="ＭＳ Ｐゴシック" charset="0"/>
            </a:endParaRPr>
          </a:p>
        </p:txBody>
      </p:sp>
      <p:sp>
        <p:nvSpPr>
          <p:cNvPr id="32" name="Espace réservé du contenu 2"/>
          <p:cNvSpPr>
            <a:spLocks noGrp="1"/>
          </p:cNvSpPr>
          <p:nvPr>
            <p:ph idx="1"/>
          </p:nvPr>
        </p:nvSpPr>
        <p:spPr>
          <a:xfrm>
            <a:off x="251520" y="800707"/>
            <a:ext cx="8752717" cy="670891"/>
          </a:xfrm>
        </p:spPr>
        <p:txBody>
          <a:bodyPr/>
          <a:lstStyle/>
          <a:p>
            <a:r>
              <a:rPr lang="fr-FR" dirty="0">
                <a:latin typeface="Arial" charset="0"/>
                <a:cs typeface="ＭＳ Ｐゴシック" charset="0"/>
              </a:rPr>
              <a:t>Nous modifions </a:t>
            </a:r>
            <a:r>
              <a:rPr lang="fr-FR" dirty="0" err="1">
                <a:latin typeface="Arial" charset="0"/>
                <a:cs typeface="ＭＳ Ｐゴシック" charset="0"/>
              </a:rPr>
              <a:t>prog.c</a:t>
            </a:r>
            <a:r>
              <a:rPr lang="fr-FR" dirty="0">
                <a:latin typeface="Arial" charset="0"/>
                <a:cs typeface="ＭＳ Ｐゴシック" charset="0"/>
              </a:rPr>
              <a:t>, que se passe-t-il lorsque nous exécutons</a:t>
            </a:r>
            <a:r>
              <a:rPr lang="en-US" dirty="0">
                <a:latin typeface="Arial" charset="0"/>
                <a:cs typeface="ＭＳ Ｐゴシック" charset="0"/>
              </a:rPr>
              <a:t> </a:t>
            </a:r>
            <a:r>
              <a:rPr lang="en-US" b="1" dirty="0">
                <a:latin typeface="Courier"/>
                <a:cs typeface="Courier"/>
              </a:rPr>
              <a:t>make</a:t>
            </a:r>
            <a:r>
              <a:rPr lang="en-US" dirty="0">
                <a:latin typeface="Arial" charset="0"/>
                <a:cs typeface="ＭＳ Ｐゴシック" charset="0"/>
              </a:rPr>
              <a:t>?</a:t>
            </a:r>
            <a:endParaRPr lang="en-US" dirty="0">
              <a:latin typeface="Arial" charset="0"/>
            </a:endParaRPr>
          </a:p>
        </p:txBody>
      </p:sp>
      <p:sp>
        <p:nvSpPr>
          <p:cNvPr id="2" name="Oval 1"/>
          <p:cNvSpPr/>
          <p:nvPr/>
        </p:nvSpPr>
        <p:spPr bwMode="auto">
          <a:xfrm>
            <a:off x="1465380" y="3640169"/>
            <a:ext cx="946380" cy="405755"/>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36" name="Oval 35"/>
          <p:cNvSpPr/>
          <p:nvPr/>
        </p:nvSpPr>
        <p:spPr bwMode="auto">
          <a:xfrm>
            <a:off x="441496" y="3619881"/>
            <a:ext cx="782132"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37" name="Oval 36"/>
          <p:cNvSpPr/>
          <p:nvPr/>
        </p:nvSpPr>
        <p:spPr bwMode="auto">
          <a:xfrm>
            <a:off x="493272" y="4411969"/>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38" name="Oval 37"/>
          <p:cNvSpPr/>
          <p:nvPr/>
        </p:nvSpPr>
        <p:spPr bwMode="auto">
          <a:xfrm>
            <a:off x="1706093" y="4432257"/>
            <a:ext cx="1041018" cy="405755"/>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39" name="Oval 38"/>
          <p:cNvSpPr/>
          <p:nvPr/>
        </p:nvSpPr>
        <p:spPr bwMode="auto">
          <a:xfrm>
            <a:off x="3157568" y="1243617"/>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40" name="Oval 39"/>
          <p:cNvSpPr/>
          <p:nvPr/>
        </p:nvSpPr>
        <p:spPr bwMode="auto">
          <a:xfrm>
            <a:off x="1403648" y="1974557"/>
            <a:ext cx="860345"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cxnSp>
        <p:nvCxnSpPr>
          <p:cNvPr id="4" name="Straight Arrow Connector 3"/>
          <p:cNvCxnSpPr>
            <a:stCxn id="2" idx="3"/>
            <a:endCxn id="37" idx="0"/>
          </p:cNvCxnSpPr>
          <p:nvPr/>
        </p:nvCxnSpPr>
        <p:spPr bwMode="auto">
          <a:xfrm flipH="1">
            <a:off x="966462" y="3986503"/>
            <a:ext cx="637512" cy="425466"/>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2" name="CustomShape 5"/>
          <p:cNvSpPr/>
          <p:nvPr/>
        </p:nvSpPr>
        <p:spPr>
          <a:xfrm>
            <a:off x="4955232" y="3140968"/>
            <a:ext cx="3973252" cy="684076"/>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a:latin typeface="Arial"/>
              </a:rPr>
              <a:t>La </a:t>
            </a:r>
            <a:r>
              <a:rPr lang="en-GB" sz="2000" dirty="0" err="1">
                <a:latin typeface="Arial"/>
              </a:rPr>
              <a:t>commande</a:t>
            </a:r>
            <a:r>
              <a:rPr lang="en-GB" sz="2000" dirty="0">
                <a:latin typeface="Arial"/>
              </a:rPr>
              <a:t> </a:t>
            </a:r>
            <a:r>
              <a:rPr lang="en-GB" sz="2000" dirty="0" err="1">
                <a:latin typeface="Arial"/>
              </a:rPr>
              <a:t>est</a:t>
            </a:r>
            <a:r>
              <a:rPr lang="en-GB" sz="2000" dirty="0">
                <a:latin typeface="+mn-lt"/>
                <a:ea typeface="Courier New"/>
              </a:rPr>
              <a:t> </a:t>
            </a:r>
            <a:r>
              <a:rPr lang="en-GB" sz="2000" b="1" dirty="0" err="1">
                <a:latin typeface="+mn-lt"/>
                <a:ea typeface="Courier New"/>
              </a:rPr>
              <a:t>executée</a:t>
            </a:r>
            <a:r>
              <a:rPr lang="en-GB" sz="2000" dirty="0">
                <a:latin typeface="+mn-lt"/>
                <a:ea typeface="Courier New"/>
              </a:rPr>
              <a:t> !</a:t>
            </a:r>
            <a:endParaRPr lang="en-GB" dirty="0">
              <a:latin typeface="+mn-lt"/>
            </a:endParaRPr>
          </a:p>
        </p:txBody>
      </p:sp>
      <p:sp>
        <p:nvSpPr>
          <p:cNvPr id="33" name="CustomShape 5"/>
          <p:cNvSpPr/>
          <p:nvPr/>
        </p:nvSpPr>
        <p:spPr>
          <a:xfrm>
            <a:off x="2951820" y="1772816"/>
            <a:ext cx="6052417" cy="900100"/>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fr-FR" sz="2000" dirty="0">
                <a:latin typeface="Arial"/>
              </a:rPr>
              <a:t>La date de modification de </a:t>
            </a:r>
            <a:r>
              <a:rPr lang="fr-FR" sz="2000" b="1" dirty="0" err="1">
                <a:latin typeface="Arial"/>
              </a:rPr>
              <a:t>prog.c</a:t>
            </a:r>
            <a:r>
              <a:rPr lang="fr-FR" sz="2000" dirty="0">
                <a:latin typeface="Arial"/>
              </a:rPr>
              <a:t> est </a:t>
            </a:r>
            <a:r>
              <a:rPr lang="fr-FR" sz="2000" b="1" dirty="0">
                <a:latin typeface="Arial"/>
              </a:rPr>
              <a:t>plus récente </a:t>
            </a:r>
            <a:r>
              <a:rPr lang="fr-FR" sz="2000" dirty="0">
                <a:latin typeface="Arial"/>
              </a:rPr>
              <a:t>que la date de modification de </a:t>
            </a:r>
            <a:r>
              <a:rPr lang="fr-FR" sz="2000" b="1" dirty="0" err="1">
                <a:latin typeface="Arial"/>
              </a:rPr>
              <a:t>prog.o</a:t>
            </a:r>
            <a:r>
              <a:rPr lang="fr-FR" sz="2000" dirty="0">
                <a:latin typeface="Arial"/>
              </a:rPr>
              <a:t>.</a:t>
            </a:r>
            <a:endParaRPr lang="en-GB" sz="2000" dirty="0">
              <a:latin typeface="Arial"/>
            </a:endParaRPr>
          </a:p>
        </p:txBody>
      </p:sp>
      <p:sp>
        <p:nvSpPr>
          <p:cNvPr id="45" name="Oval 44"/>
          <p:cNvSpPr/>
          <p:nvPr/>
        </p:nvSpPr>
        <p:spPr bwMode="auto">
          <a:xfrm>
            <a:off x="1331640" y="2719781"/>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cxnSp>
        <p:nvCxnSpPr>
          <p:cNvPr id="48" name="Straight Arrow Connector 47"/>
          <p:cNvCxnSpPr>
            <a:stCxn id="36" idx="6"/>
            <a:endCxn id="2" idx="2"/>
          </p:cNvCxnSpPr>
          <p:nvPr/>
        </p:nvCxnSpPr>
        <p:spPr bwMode="auto">
          <a:xfrm>
            <a:off x="1223628" y="3843047"/>
            <a:ext cx="241752" cy="0"/>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2" name="Straight Arrow Connector 51"/>
          <p:cNvCxnSpPr>
            <a:stCxn id="38" idx="2"/>
            <a:endCxn id="37" idx="6"/>
          </p:cNvCxnSpPr>
          <p:nvPr/>
        </p:nvCxnSpPr>
        <p:spPr bwMode="auto">
          <a:xfrm flipH="1">
            <a:off x="1439652" y="4635135"/>
            <a:ext cx="266441" cy="0"/>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5" name="Straight Arrow Connector 54"/>
          <p:cNvCxnSpPr>
            <a:cxnSpLocks/>
          </p:cNvCxnSpPr>
          <p:nvPr/>
        </p:nvCxnSpPr>
        <p:spPr bwMode="auto">
          <a:xfrm flipH="1">
            <a:off x="2328831" y="1552005"/>
            <a:ext cx="775251" cy="368113"/>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8" name="Straight Arrow Connector 57"/>
          <p:cNvCxnSpPr/>
          <p:nvPr/>
        </p:nvCxnSpPr>
        <p:spPr bwMode="auto">
          <a:xfrm>
            <a:off x="1213767" y="2339457"/>
            <a:ext cx="1" cy="368113"/>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9454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P spid="37" grpId="0" animBg="1"/>
      <p:bldP spid="38" grpId="0" animBg="1"/>
      <p:bldP spid="39" grpId="0" animBg="1"/>
      <p:bldP spid="40" grpId="0" animBg="1"/>
      <p:bldP spid="42" grpId="0" animBg="1"/>
      <p:bldP spid="33" grpId="0" animBg="1"/>
      <p:bldP spid="4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36</a:t>
            </a:fld>
            <a:endParaRPr lang="fr-FR" sz="1400">
              <a:solidFill>
                <a:srgbClr val="000208"/>
              </a:solidFill>
              <a:latin typeface="Times New Roman" charset="0"/>
            </a:endParaRPr>
          </a:p>
        </p:txBody>
      </p:sp>
      <p:sp>
        <p:nvSpPr>
          <p:cNvPr id="35" name="Espace réservé du pied de page 3"/>
          <p:cNvSpPr>
            <a:spLocks noGrp="1"/>
          </p:cNvSpPr>
          <p:nvPr>
            <p:ph type="ftr" sz="quarter" idx="10"/>
          </p:nvPr>
        </p:nvSpPr>
        <p:spPr>
          <a:xfrm>
            <a:off x="3124200" y="6400800"/>
            <a:ext cx="2895600" cy="381000"/>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a:rPr>
              <a:t> </a:t>
            </a:r>
            <a:endParaRPr/>
          </a:p>
        </p:txBody>
      </p:sp>
      <p:sp>
        <p:nvSpPr>
          <p:cNvPr id="541" name="CustomShape 3"/>
          <p:cNvSpPr/>
          <p:nvPr/>
        </p:nvSpPr>
        <p:spPr>
          <a:xfrm>
            <a:off x="3042995" y="1304764"/>
            <a:ext cx="1213928"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a:t>
            </a:r>
            <a:endParaRPr sz="1400" dirty="0">
              <a:solidFill>
                <a:schemeClr val="tx1"/>
              </a:solidFill>
            </a:endParaRPr>
          </a:p>
        </p:txBody>
      </p:sp>
      <p:sp>
        <p:nvSpPr>
          <p:cNvPr id="542" name="CustomShape 4"/>
          <p:cNvSpPr/>
          <p:nvPr/>
        </p:nvSpPr>
        <p:spPr>
          <a:xfrm>
            <a:off x="2760585" y="2056237"/>
            <a:ext cx="18390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1.o</a:t>
            </a:r>
            <a:endParaRPr sz="1400" dirty="0"/>
          </a:p>
        </p:txBody>
      </p:sp>
      <p:sp>
        <p:nvSpPr>
          <p:cNvPr id="543" name="CustomShape 5"/>
          <p:cNvSpPr/>
          <p:nvPr/>
        </p:nvSpPr>
        <p:spPr>
          <a:xfrm>
            <a:off x="4474951" y="2054931"/>
            <a:ext cx="1841887"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2.o</a:t>
            </a:r>
            <a:endParaRPr sz="1400" dirty="0"/>
          </a:p>
        </p:txBody>
      </p:sp>
      <p:sp>
        <p:nvSpPr>
          <p:cNvPr id="544" name="CustomShape 6"/>
          <p:cNvSpPr/>
          <p:nvPr/>
        </p:nvSpPr>
        <p:spPr>
          <a:xfrm>
            <a:off x="1259632" y="2060810"/>
            <a:ext cx="1185003"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prog.o</a:t>
            </a:r>
            <a:endParaRPr sz="1400" dirty="0">
              <a:solidFill>
                <a:schemeClr val="tx1"/>
              </a:solidFill>
            </a:endParaRPr>
          </a:p>
        </p:txBody>
      </p:sp>
      <p:sp>
        <p:nvSpPr>
          <p:cNvPr id="545" name="CustomShape 7"/>
          <p:cNvSpPr/>
          <p:nvPr/>
        </p:nvSpPr>
        <p:spPr>
          <a:xfrm>
            <a:off x="2738502" y="3049102"/>
            <a:ext cx="1840643"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1.c</a:t>
            </a:r>
            <a:endParaRPr sz="1400" dirty="0"/>
          </a:p>
        </p:txBody>
      </p:sp>
      <p:sp>
        <p:nvSpPr>
          <p:cNvPr id="546" name="CustomShape 8"/>
          <p:cNvSpPr/>
          <p:nvPr/>
        </p:nvSpPr>
        <p:spPr>
          <a:xfrm>
            <a:off x="4455668" y="2772113"/>
            <a:ext cx="1839399" cy="343894"/>
          </a:xfrm>
          <a:prstGeom prst="rect">
            <a:avLst/>
          </a:prstGeom>
        </p:spPr>
        <p:txBody>
          <a:bodyPr lIns="92070" tIns="46035" rIns="92070" bIns="46035"/>
          <a:lstStyle/>
          <a:p>
            <a:pPr algn="ctr">
              <a:lnSpc>
                <a:spcPct val="100000"/>
              </a:lnSpc>
              <a:buSzPct val="25000"/>
            </a:pPr>
            <a:r>
              <a:rPr lang="fr-FR" sz="1400" b="1" dirty="0">
                <a:latin typeface="Courier New"/>
                <a:ea typeface="Courier New"/>
              </a:rPr>
              <a:t>code</a:t>
            </a:r>
            <a:r>
              <a:rPr lang="fr-FR" sz="1400" b="1" dirty="0">
                <a:solidFill>
                  <a:srgbClr val="010507"/>
                </a:solidFill>
                <a:latin typeface="Courier New"/>
                <a:ea typeface="Courier New"/>
              </a:rPr>
              <a:t>2.c</a:t>
            </a:r>
            <a:endParaRPr sz="1400" dirty="0"/>
          </a:p>
        </p:txBody>
      </p:sp>
      <p:sp>
        <p:nvSpPr>
          <p:cNvPr id="547" name="CustomShape 9"/>
          <p:cNvSpPr/>
          <p:nvPr/>
        </p:nvSpPr>
        <p:spPr>
          <a:xfrm>
            <a:off x="1259632" y="2779298"/>
            <a:ext cx="1183759" cy="343894"/>
          </a:xfrm>
          <a:prstGeom prst="rect">
            <a:avLst/>
          </a:prstGeom>
        </p:spPr>
        <p:txBody>
          <a:bodyPr lIns="92070" tIns="46035" rIns="92070" bIns="46035"/>
          <a:lstStyle/>
          <a:p>
            <a:pPr algn="ctr">
              <a:lnSpc>
                <a:spcPct val="100000"/>
              </a:lnSpc>
              <a:buSzPct val="25000"/>
            </a:pPr>
            <a:r>
              <a:rPr lang="fr-FR" sz="1400" b="1" dirty="0" err="1">
                <a:solidFill>
                  <a:schemeClr val="tx1"/>
                </a:solidFill>
                <a:latin typeface="Courier New"/>
                <a:ea typeface="Courier New"/>
              </a:rPr>
              <a:t>prog.c</a:t>
            </a:r>
            <a:endParaRPr sz="1400" dirty="0">
              <a:solidFill>
                <a:schemeClr val="tx1"/>
              </a:solidFill>
            </a:endParaRPr>
          </a:p>
        </p:txBody>
      </p:sp>
      <p:sp>
        <p:nvSpPr>
          <p:cNvPr id="548" name="Line 10"/>
          <p:cNvSpPr/>
          <p:nvPr/>
        </p:nvSpPr>
        <p:spPr>
          <a:xfrm flipV="1">
            <a:off x="1860780" y="2321772"/>
            <a:ext cx="1244" cy="512739"/>
          </a:xfrm>
          <a:prstGeom prst="line">
            <a:avLst/>
          </a:prstGeom>
          <a:ln w="12600">
            <a:solidFill>
              <a:srgbClr val="000208"/>
            </a:solidFill>
            <a:miter/>
            <a:tailEnd type="triangle" w="med" len="med"/>
          </a:ln>
        </p:spPr>
      </p:sp>
      <p:sp>
        <p:nvSpPr>
          <p:cNvPr id="549" name="Line 11"/>
          <p:cNvSpPr/>
          <p:nvPr/>
        </p:nvSpPr>
        <p:spPr>
          <a:xfrm flipV="1">
            <a:off x="3723516" y="2495566"/>
            <a:ext cx="1244" cy="512739"/>
          </a:xfrm>
          <a:prstGeom prst="line">
            <a:avLst/>
          </a:prstGeom>
          <a:ln w="12600">
            <a:solidFill>
              <a:srgbClr val="000208"/>
            </a:solidFill>
            <a:miter/>
            <a:tailEnd type="triangle" w="med" len="med"/>
          </a:ln>
        </p:spPr>
      </p:sp>
      <p:sp>
        <p:nvSpPr>
          <p:cNvPr id="550" name="Line 12"/>
          <p:cNvSpPr/>
          <p:nvPr/>
        </p:nvSpPr>
        <p:spPr>
          <a:xfrm flipV="1">
            <a:off x="5377544" y="2304116"/>
            <a:ext cx="1244" cy="512739"/>
          </a:xfrm>
          <a:prstGeom prst="line">
            <a:avLst/>
          </a:prstGeom>
          <a:ln w="12600">
            <a:solidFill>
              <a:srgbClr val="000208"/>
            </a:solidFill>
            <a:miter/>
            <a:tailEnd type="triangle" w="med" len="med"/>
          </a:ln>
        </p:spPr>
      </p:sp>
      <p:sp>
        <p:nvSpPr>
          <p:cNvPr id="551" name="Line 13"/>
          <p:cNvSpPr/>
          <p:nvPr/>
        </p:nvSpPr>
        <p:spPr>
          <a:xfrm flipV="1">
            <a:off x="2213182" y="1797326"/>
            <a:ext cx="1006786" cy="472243"/>
          </a:xfrm>
          <a:prstGeom prst="line">
            <a:avLst/>
          </a:prstGeom>
          <a:ln w="12600">
            <a:solidFill>
              <a:srgbClr val="000208"/>
            </a:solidFill>
            <a:miter/>
            <a:tailEnd type="triangle" w="med" len="med"/>
          </a:ln>
        </p:spPr>
      </p:sp>
      <p:sp>
        <p:nvSpPr>
          <p:cNvPr id="552" name="Line 14"/>
          <p:cNvSpPr/>
          <p:nvPr/>
        </p:nvSpPr>
        <p:spPr>
          <a:xfrm flipH="1" flipV="1">
            <a:off x="4095190" y="1612407"/>
            <a:ext cx="1280799" cy="459506"/>
          </a:xfrm>
          <a:prstGeom prst="line">
            <a:avLst/>
          </a:prstGeom>
          <a:ln w="12600">
            <a:solidFill>
              <a:srgbClr val="000208"/>
            </a:solidFill>
            <a:miter/>
            <a:tailEnd type="triangle" w="med" len="med"/>
          </a:ln>
        </p:spPr>
      </p:sp>
      <p:sp>
        <p:nvSpPr>
          <p:cNvPr id="553" name="Line 15"/>
          <p:cNvSpPr/>
          <p:nvPr/>
        </p:nvSpPr>
        <p:spPr>
          <a:xfrm flipV="1">
            <a:off x="3684949" y="1608489"/>
            <a:ext cx="1555" cy="485306"/>
          </a:xfrm>
          <a:prstGeom prst="line">
            <a:avLst/>
          </a:prstGeom>
          <a:ln w="12600">
            <a:solidFill>
              <a:srgbClr val="000208"/>
            </a:solidFill>
            <a:miter/>
            <a:tailEnd type="triangle" w="med" len="med"/>
          </a:ln>
        </p:spPr>
      </p:sp>
      <p:sp>
        <p:nvSpPr>
          <p:cNvPr id="554" name="CustomShape 16"/>
          <p:cNvSpPr/>
          <p:nvPr/>
        </p:nvSpPr>
        <p:spPr>
          <a:xfrm>
            <a:off x="6160704" y="2753497"/>
            <a:ext cx="977861" cy="343894"/>
          </a:xfrm>
          <a:prstGeom prst="rect">
            <a:avLst/>
          </a:prstGeom>
        </p:spPr>
        <p:txBody>
          <a:bodyPr lIns="92070" tIns="46035" rIns="92070" bIns="46035"/>
          <a:lstStyle/>
          <a:p>
            <a:pPr algn="ctr">
              <a:lnSpc>
                <a:spcPct val="100000"/>
              </a:lnSpc>
              <a:buSzPct val="25000"/>
            </a:pPr>
            <a:r>
              <a:rPr lang="fr-FR" sz="1400">
                <a:solidFill>
                  <a:srgbClr val="800000"/>
                </a:solidFill>
                <a:latin typeface="Arial"/>
                <a:ea typeface="Arial"/>
              </a:rPr>
              <a:t>(source)</a:t>
            </a:r>
            <a:endParaRPr sz="1400">
              <a:solidFill>
                <a:srgbClr val="800000"/>
              </a:solidFill>
            </a:endParaRPr>
          </a:p>
        </p:txBody>
      </p:sp>
      <p:sp>
        <p:nvSpPr>
          <p:cNvPr id="555" name="CustomShape 17"/>
          <p:cNvSpPr/>
          <p:nvPr/>
        </p:nvSpPr>
        <p:spPr>
          <a:xfrm>
            <a:off x="6185275" y="2046440"/>
            <a:ext cx="902593"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object</a:t>
            </a:r>
            <a:r>
              <a:rPr lang="fr-FR" sz="1400" dirty="0">
                <a:solidFill>
                  <a:srgbClr val="800000"/>
                </a:solidFill>
                <a:latin typeface="Arial"/>
                <a:ea typeface="Arial"/>
              </a:rPr>
              <a:t>)</a:t>
            </a:r>
            <a:endParaRPr sz="1400" dirty="0">
              <a:solidFill>
                <a:srgbClr val="800000"/>
              </a:solidFill>
            </a:endParaRPr>
          </a:p>
        </p:txBody>
      </p:sp>
      <p:sp>
        <p:nvSpPr>
          <p:cNvPr id="556" name="CustomShape 18"/>
          <p:cNvSpPr/>
          <p:nvPr/>
        </p:nvSpPr>
        <p:spPr>
          <a:xfrm>
            <a:off x="6028829" y="1399801"/>
            <a:ext cx="1307236" cy="343894"/>
          </a:xfrm>
          <a:prstGeom prst="rect">
            <a:avLst/>
          </a:prstGeom>
        </p:spPr>
        <p:txBody>
          <a:bodyPr lIns="92070" tIns="46035" rIns="92070" bIns="46035"/>
          <a:lstStyle/>
          <a:p>
            <a:pPr algn="ctr">
              <a:lnSpc>
                <a:spcPct val="100000"/>
              </a:lnSpc>
              <a:buSzPct val="25000"/>
            </a:pPr>
            <a:r>
              <a:rPr lang="fr-FR" sz="1400" dirty="0">
                <a:solidFill>
                  <a:srgbClr val="800000"/>
                </a:solidFill>
                <a:latin typeface="Arial"/>
                <a:ea typeface="Arial"/>
              </a:rPr>
              <a:t>(</a:t>
            </a:r>
            <a:r>
              <a:rPr lang="fr-FR" sz="1400" dirty="0" err="1">
                <a:solidFill>
                  <a:srgbClr val="800000"/>
                </a:solidFill>
                <a:latin typeface="Arial"/>
                <a:ea typeface="Arial"/>
              </a:rPr>
              <a:t>executable</a:t>
            </a:r>
            <a:r>
              <a:rPr lang="fr-FR" sz="1400" dirty="0">
                <a:solidFill>
                  <a:srgbClr val="800000"/>
                </a:solidFill>
                <a:latin typeface="Arial"/>
                <a:ea typeface="Arial"/>
              </a:rPr>
              <a:t>)</a:t>
            </a:r>
            <a:endParaRPr sz="1400" dirty="0">
              <a:solidFill>
                <a:srgbClr val="800000"/>
              </a:solidFill>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Structure of the </a:t>
            </a:r>
            <a:r>
              <a:rPr lang="fr-FR" sz="2800" dirty="0" err="1">
                <a:latin typeface="Courier New"/>
                <a:ea typeface="ＭＳ Ｐゴシック" charset="0"/>
                <a:cs typeface="Courier New"/>
              </a:rPr>
              <a:t>Makefile</a:t>
            </a:r>
            <a:r>
              <a:rPr lang="fr-FR" sz="2800" dirty="0">
                <a:latin typeface="+mn-lt"/>
                <a:cs typeface="Courier New"/>
              </a:rPr>
              <a:t>: </a:t>
            </a:r>
            <a:r>
              <a:rPr lang="fr-FR" sz="2800" dirty="0" err="1">
                <a:latin typeface="+mn-lt"/>
                <a:cs typeface="Courier New"/>
              </a:rPr>
              <a:t>Example</a:t>
            </a:r>
            <a:endParaRPr lang="fr-FR" sz="2800" dirty="0">
              <a:latin typeface="+mn-lt"/>
              <a:cs typeface="ＭＳ Ｐゴシック" charset="0"/>
            </a:endParaRPr>
          </a:p>
        </p:txBody>
      </p:sp>
      <p:sp>
        <p:nvSpPr>
          <p:cNvPr id="32" name="Espace réservé du contenu 2"/>
          <p:cNvSpPr>
            <a:spLocks noGrp="1"/>
          </p:cNvSpPr>
          <p:nvPr>
            <p:ph idx="1"/>
          </p:nvPr>
        </p:nvSpPr>
        <p:spPr>
          <a:xfrm>
            <a:off x="251520" y="800707"/>
            <a:ext cx="8752717" cy="670891"/>
          </a:xfrm>
        </p:spPr>
        <p:txBody>
          <a:bodyPr/>
          <a:lstStyle/>
          <a:p>
            <a:r>
              <a:rPr lang="fr-FR" dirty="0">
                <a:latin typeface="Arial" charset="0"/>
                <a:cs typeface="ＭＳ Ｐゴシック" charset="0"/>
              </a:rPr>
              <a:t>Nous modifions </a:t>
            </a:r>
            <a:r>
              <a:rPr lang="fr-FR" dirty="0" err="1">
                <a:latin typeface="Arial" charset="0"/>
                <a:cs typeface="ＭＳ Ｐゴシック" charset="0"/>
              </a:rPr>
              <a:t>prog.c</a:t>
            </a:r>
            <a:r>
              <a:rPr lang="fr-FR" dirty="0">
                <a:latin typeface="Arial" charset="0"/>
                <a:cs typeface="ＭＳ Ｐゴシック" charset="0"/>
              </a:rPr>
              <a:t>, que se passe-t-il lorsque nous exécutons</a:t>
            </a:r>
            <a:r>
              <a:rPr lang="en-US" dirty="0">
                <a:latin typeface="Arial" charset="0"/>
                <a:cs typeface="ＭＳ Ｐゴシック" charset="0"/>
              </a:rPr>
              <a:t> </a:t>
            </a:r>
            <a:r>
              <a:rPr lang="en-US" b="1" dirty="0">
                <a:latin typeface="Courier"/>
                <a:cs typeface="Courier"/>
              </a:rPr>
              <a:t>make</a:t>
            </a:r>
            <a:r>
              <a:rPr lang="en-US" dirty="0">
                <a:latin typeface="Arial" charset="0"/>
                <a:cs typeface="ＭＳ Ｐゴシック" charset="0"/>
              </a:rPr>
              <a:t>?</a:t>
            </a:r>
            <a:endParaRPr lang="en-US" dirty="0">
              <a:latin typeface="Arial" charset="0"/>
            </a:endParaRPr>
          </a:p>
        </p:txBody>
      </p:sp>
      <p:sp>
        <p:nvSpPr>
          <p:cNvPr id="39" name="Oval 38"/>
          <p:cNvSpPr/>
          <p:nvPr/>
        </p:nvSpPr>
        <p:spPr bwMode="auto">
          <a:xfrm>
            <a:off x="3157568" y="1243617"/>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40" name="Oval 39"/>
          <p:cNvSpPr/>
          <p:nvPr/>
        </p:nvSpPr>
        <p:spPr bwMode="auto">
          <a:xfrm>
            <a:off x="1403648" y="1974557"/>
            <a:ext cx="860345"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42" name="CustomShape 5"/>
          <p:cNvSpPr/>
          <p:nvPr/>
        </p:nvSpPr>
        <p:spPr>
          <a:xfrm>
            <a:off x="4955232" y="3068960"/>
            <a:ext cx="3973252" cy="684076"/>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en-GB" sz="2000" dirty="0">
                <a:latin typeface="Arial"/>
              </a:rPr>
              <a:t>La </a:t>
            </a:r>
            <a:r>
              <a:rPr lang="en-GB" sz="2000" dirty="0" err="1">
                <a:latin typeface="Arial"/>
              </a:rPr>
              <a:t>commande</a:t>
            </a:r>
            <a:r>
              <a:rPr lang="en-GB" sz="2000" dirty="0">
                <a:latin typeface="Arial"/>
              </a:rPr>
              <a:t> </a:t>
            </a:r>
            <a:r>
              <a:rPr lang="en-GB" sz="2000" dirty="0" err="1">
                <a:latin typeface="Arial"/>
              </a:rPr>
              <a:t>est</a:t>
            </a:r>
            <a:r>
              <a:rPr lang="en-GB" sz="2000" dirty="0">
                <a:latin typeface="+mn-lt"/>
                <a:ea typeface="Courier New"/>
              </a:rPr>
              <a:t> </a:t>
            </a:r>
            <a:r>
              <a:rPr lang="en-GB" sz="2000" b="1" dirty="0" err="1">
                <a:latin typeface="+mn-lt"/>
                <a:ea typeface="Courier New"/>
              </a:rPr>
              <a:t>executée</a:t>
            </a:r>
            <a:r>
              <a:rPr lang="en-GB" sz="2000" dirty="0">
                <a:latin typeface="+mn-lt"/>
                <a:ea typeface="Courier New"/>
              </a:rPr>
              <a:t> !</a:t>
            </a:r>
            <a:endParaRPr lang="en-GB" dirty="0">
              <a:latin typeface="+mn-lt"/>
            </a:endParaRPr>
          </a:p>
        </p:txBody>
      </p:sp>
      <p:sp>
        <p:nvSpPr>
          <p:cNvPr id="33" name="CustomShape 5"/>
          <p:cNvSpPr/>
          <p:nvPr/>
        </p:nvSpPr>
        <p:spPr>
          <a:xfrm>
            <a:off x="2951820" y="1772816"/>
            <a:ext cx="6052417" cy="900100"/>
          </a:xfrm>
          <a:prstGeom prst="wedgeRectCallout">
            <a:avLst>
              <a:gd name="adj1" fmla="val -4114"/>
              <a:gd name="adj2" fmla="val 44940"/>
            </a:avLst>
          </a:prstGeom>
          <a:solidFill>
            <a:schemeClr val="bg1"/>
          </a:solidFill>
          <a:ln w="6480">
            <a:solidFill>
              <a:schemeClr val="tx1"/>
            </a:solidFill>
            <a:miter/>
          </a:ln>
        </p:spPr>
        <p:txBody>
          <a:bodyPr lIns="92070" tIns="46035" rIns="92070" bIns="46035" anchor="ctr"/>
          <a:lstStyle/>
          <a:p>
            <a:pPr algn="just">
              <a:lnSpc>
                <a:spcPct val="100000"/>
              </a:lnSpc>
              <a:buSzPct val="25000"/>
            </a:pPr>
            <a:r>
              <a:rPr lang="fr-FR" sz="2000" dirty="0">
                <a:latin typeface="Arial"/>
              </a:rPr>
              <a:t>La date de modification de </a:t>
            </a:r>
            <a:r>
              <a:rPr lang="fr-FR" sz="2000" b="1" dirty="0" err="1">
                <a:latin typeface="Arial"/>
              </a:rPr>
              <a:t>prog.c</a:t>
            </a:r>
            <a:r>
              <a:rPr lang="fr-FR" sz="2000" dirty="0">
                <a:latin typeface="Arial"/>
              </a:rPr>
              <a:t> est </a:t>
            </a:r>
            <a:r>
              <a:rPr lang="fr-FR" sz="2000" b="1" dirty="0">
                <a:latin typeface="Arial"/>
              </a:rPr>
              <a:t>plus récente </a:t>
            </a:r>
            <a:r>
              <a:rPr lang="fr-FR" sz="2000" dirty="0">
                <a:latin typeface="Arial"/>
              </a:rPr>
              <a:t>que la date de modification de </a:t>
            </a:r>
            <a:r>
              <a:rPr lang="fr-FR" sz="2000" b="1" dirty="0" err="1">
                <a:latin typeface="Arial"/>
              </a:rPr>
              <a:t>prog.o</a:t>
            </a:r>
            <a:r>
              <a:rPr lang="fr-FR" sz="2000" dirty="0">
                <a:latin typeface="Arial"/>
              </a:rPr>
              <a:t>.</a:t>
            </a:r>
            <a:endParaRPr lang="en-GB" sz="2000" dirty="0">
              <a:latin typeface="Arial"/>
            </a:endParaRPr>
          </a:p>
        </p:txBody>
      </p:sp>
      <p:sp>
        <p:nvSpPr>
          <p:cNvPr id="45" name="Oval 44"/>
          <p:cNvSpPr/>
          <p:nvPr/>
        </p:nvSpPr>
        <p:spPr bwMode="auto">
          <a:xfrm>
            <a:off x="1331640" y="2719781"/>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cxnSp>
        <p:nvCxnSpPr>
          <p:cNvPr id="55" name="Straight Arrow Connector 54"/>
          <p:cNvCxnSpPr>
            <a:cxnSpLocks/>
          </p:cNvCxnSpPr>
          <p:nvPr/>
        </p:nvCxnSpPr>
        <p:spPr bwMode="auto">
          <a:xfrm flipH="1">
            <a:off x="2328831" y="1552005"/>
            <a:ext cx="775251" cy="368113"/>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8" name="Straight Arrow Connector 57"/>
          <p:cNvCxnSpPr/>
          <p:nvPr/>
        </p:nvCxnSpPr>
        <p:spPr bwMode="auto">
          <a:xfrm>
            <a:off x="1213767" y="2339457"/>
            <a:ext cx="1" cy="368113"/>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 name="CustomShape 20">
            <a:extLst>
              <a:ext uri="{FF2B5EF4-FFF2-40B4-BE49-F238E27FC236}">
                <a16:creationId xmlns:a16="http://schemas.microsoft.com/office/drawing/2014/main" id="{F99716ED-9FB3-43BD-047E-CC6523176727}"/>
              </a:ext>
            </a:extLst>
          </p:cNvPr>
          <p:cNvSpPr/>
          <p:nvPr/>
        </p:nvSpPr>
        <p:spPr>
          <a:xfrm>
            <a:off x="467544" y="3614632"/>
            <a:ext cx="6683293" cy="3234748"/>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err="1">
                <a:latin typeface="Courier New"/>
                <a:ea typeface="Courier New"/>
              </a:rPr>
              <a:t>prog</a:t>
            </a:r>
            <a:r>
              <a:rPr lang="fr-FR" sz="1800" b="1" dirty="0">
                <a:latin typeface="Courier New"/>
                <a:ea typeface="Courier New"/>
              </a:rPr>
              <a:t> :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–o </a:t>
            </a:r>
            <a:r>
              <a:rPr lang="fr-FR" sz="1800" b="1" dirty="0" err="1">
                <a:latin typeface="Courier New"/>
                <a:ea typeface="Courier New"/>
              </a:rPr>
              <a:t>prog</a:t>
            </a:r>
            <a:r>
              <a:rPr lang="fr-FR" sz="1800" b="1" dirty="0">
                <a:latin typeface="Courier New"/>
                <a:ea typeface="Courier New"/>
              </a:rPr>
              <a:t>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endParaRPr dirty="0"/>
          </a:p>
          <a:p>
            <a:pPr algn="l">
              <a:lnSpc>
                <a:spcPct val="100000"/>
              </a:lnSpc>
              <a:buSzPct val="25000"/>
            </a:pPr>
            <a:r>
              <a:rPr lang="fr-FR" sz="1800" b="1" dirty="0" err="1">
                <a:latin typeface="Courier New"/>
                <a:ea typeface="Courier New"/>
              </a:rPr>
              <a:t>prog.o</a:t>
            </a:r>
            <a:r>
              <a:rPr lang="fr-FR" sz="1800" b="1" dirty="0">
                <a:latin typeface="Courier New"/>
                <a:ea typeface="Courier New"/>
              </a:rPr>
              <a:t> : </a:t>
            </a:r>
            <a:r>
              <a:rPr lang="fr-FR" sz="1800" b="1" dirty="0" err="1">
                <a:latin typeface="Courier New"/>
                <a:ea typeface="Courier New"/>
              </a:rPr>
              <a:t>prog.c</a:t>
            </a:r>
            <a:r>
              <a:rPr lang="fr-FR" sz="1800" b="1" dirty="0">
                <a:latin typeface="Courier New"/>
                <a:ea typeface="Courier New"/>
              </a:rPr>
              <a:t> </a:t>
            </a:r>
            <a:r>
              <a:rPr lang="fr-FR" sz="1800" b="1" dirty="0" err="1">
                <a:latin typeface="Courier New"/>
                <a:ea typeface="Courier New"/>
              </a:rPr>
              <a:t>prog.h</a:t>
            </a:r>
            <a:r>
              <a:rPr lang="fr-FR" sz="1800" b="1" dirty="0">
                <a:latin typeface="Courier New"/>
                <a:ea typeface="Courier New"/>
              </a:rPr>
              <a:t> code1.h  </a:t>
            </a:r>
            <a:endParaRPr dirty="0"/>
          </a:p>
          <a:p>
            <a:pPr lvl="2" algn="l">
              <a:buSzPct val="25000"/>
            </a:pPr>
            <a:r>
              <a:rPr lang="fr-FR" sz="1800" b="1" dirty="0" err="1">
                <a:latin typeface="Courier New"/>
                <a:ea typeface="Courier New"/>
              </a:rPr>
              <a:t>gcc</a:t>
            </a:r>
            <a:r>
              <a:rPr lang="fr-FR" sz="1800" b="1" dirty="0">
                <a:latin typeface="Courier New"/>
                <a:ea typeface="Courier New"/>
              </a:rPr>
              <a:t> -c </a:t>
            </a:r>
            <a:r>
              <a:rPr lang="fr-FR" sz="1800" b="1" dirty="0" err="1">
                <a:latin typeface="Courier New"/>
                <a:ea typeface="Courier New"/>
              </a:rPr>
              <a:t>prog.c</a:t>
            </a:r>
            <a:r>
              <a:rPr lang="fr-FR" sz="1800" b="1" dirty="0">
                <a:latin typeface="Courier New"/>
                <a:ea typeface="Courier New"/>
              </a:rPr>
              <a:t> –o </a:t>
            </a:r>
            <a:r>
              <a:rPr lang="fr-FR" sz="1800" b="1" dirty="0" err="1">
                <a:latin typeface="Courier New"/>
                <a:ea typeface="Courier New"/>
              </a:rPr>
              <a:t>prog.o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code1.o : code1.c </a:t>
            </a:r>
            <a:r>
              <a:rPr lang="fr-FR" sz="1800" b="1" dirty="0" err="1">
                <a:latin typeface="Courier New"/>
                <a:ea typeface="Courier New"/>
              </a:rPr>
              <a:t>prog.h</a:t>
            </a:r>
            <a:r>
              <a:rPr lang="fr-FR" sz="1800" b="1" dirty="0">
                <a:latin typeface="Courier New"/>
                <a:ea typeface="Courier New"/>
              </a:rPr>
              <a:t> code1.h</a:t>
            </a:r>
            <a:endParaRPr dirty="0"/>
          </a:p>
          <a:p>
            <a:pPr lvl="2" algn="l">
              <a:buSzPct val="25000"/>
            </a:pPr>
            <a:r>
              <a:rPr lang="fr-FR" sz="1800" b="1" dirty="0" err="1">
                <a:latin typeface="Courier New"/>
                <a:ea typeface="Courier New"/>
              </a:rPr>
              <a:t>gcc</a:t>
            </a:r>
            <a:r>
              <a:rPr lang="fr-FR" sz="1800" b="1" dirty="0">
                <a:latin typeface="Courier New"/>
                <a:ea typeface="Courier New"/>
              </a:rPr>
              <a:t> -c code1.c –o code1.o</a:t>
            </a:r>
            <a:endParaRPr dirty="0"/>
          </a:p>
          <a:p>
            <a:pPr algn="l">
              <a:lnSpc>
                <a:spcPct val="100000"/>
              </a:lnSpc>
              <a:buSzPct val="25000"/>
            </a:pPr>
            <a:endParaRPr dirty="0"/>
          </a:p>
          <a:p>
            <a:pPr algn="l">
              <a:lnSpc>
                <a:spcPct val="100000"/>
              </a:lnSpc>
              <a:buSzPct val="25000"/>
            </a:pPr>
            <a:r>
              <a:rPr lang="fr-FR" sz="1800" b="1" dirty="0">
                <a:latin typeface="Courier New"/>
                <a:ea typeface="Courier New"/>
              </a:rPr>
              <a:t>code2.o : code2.c </a:t>
            </a:r>
            <a:r>
              <a:rPr lang="fr-FR" sz="1800" b="1" dirty="0" err="1">
                <a:latin typeface="Courier New"/>
                <a:ea typeface="Courier New"/>
              </a:rPr>
              <a:t>prog.h</a:t>
            </a:r>
            <a:r>
              <a:rPr lang="fr-FR" sz="1800" b="1" dirty="0">
                <a:latin typeface="Courier New"/>
                <a:ea typeface="Courier New"/>
              </a:rPr>
              <a:t> code1.h </a:t>
            </a:r>
            <a:endParaRPr sz="1800" dirty="0"/>
          </a:p>
          <a:p>
            <a:pPr marL="914400" lvl="4" algn="l">
              <a:buSzPct val="25000"/>
            </a:pPr>
            <a:r>
              <a:rPr lang="fr-FR" sz="1800" b="1" dirty="0" err="1">
                <a:latin typeface="Courier New"/>
                <a:ea typeface="Courier New"/>
              </a:rPr>
              <a:t>gcc</a:t>
            </a:r>
            <a:r>
              <a:rPr lang="fr-FR" sz="1800" b="1" dirty="0">
                <a:latin typeface="Courier New"/>
                <a:ea typeface="Courier New"/>
              </a:rPr>
              <a:t> –c code2.c –o code2.o</a:t>
            </a:r>
            <a:endParaRPr lang="fr-FR" dirty="0"/>
          </a:p>
          <a:p>
            <a:pPr algn="l">
              <a:lnSpc>
                <a:spcPct val="100000"/>
              </a:lnSpc>
              <a:buSzPct val="25000"/>
            </a:pPr>
            <a:endParaRPr dirty="0"/>
          </a:p>
        </p:txBody>
      </p:sp>
      <p:sp>
        <p:nvSpPr>
          <p:cNvPr id="5" name="CustomShape 19">
            <a:extLst>
              <a:ext uri="{FF2B5EF4-FFF2-40B4-BE49-F238E27FC236}">
                <a16:creationId xmlns:a16="http://schemas.microsoft.com/office/drawing/2014/main" id="{4184F661-9EF0-8BEE-0E54-3D6666B125E4}"/>
              </a:ext>
            </a:extLst>
          </p:cNvPr>
          <p:cNvSpPr/>
          <p:nvPr/>
        </p:nvSpPr>
        <p:spPr>
          <a:xfrm>
            <a:off x="467544" y="3248980"/>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a:latin typeface="Courier"/>
                <a:ea typeface="Arial"/>
                <a:cs typeface="Courier"/>
              </a:rPr>
              <a:t>makefile</a:t>
            </a:r>
            <a:endParaRPr>
              <a:latin typeface="Courier"/>
              <a:cs typeface="Courier"/>
            </a:endParaRPr>
          </a:p>
        </p:txBody>
      </p:sp>
      <p:sp>
        <p:nvSpPr>
          <p:cNvPr id="6" name="Oval 1">
            <a:extLst>
              <a:ext uri="{FF2B5EF4-FFF2-40B4-BE49-F238E27FC236}">
                <a16:creationId xmlns:a16="http://schemas.microsoft.com/office/drawing/2014/main" id="{0E0C87D6-C936-BE5D-D766-F292480A72DC}"/>
              </a:ext>
            </a:extLst>
          </p:cNvPr>
          <p:cNvSpPr/>
          <p:nvPr/>
        </p:nvSpPr>
        <p:spPr bwMode="auto">
          <a:xfrm>
            <a:off x="1465380" y="3640169"/>
            <a:ext cx="946380" cy="405755"/>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7" name="Oval 36">
            <a:extLst>
              <a:ext uri="{FF2B5EF4-FFF2-40B4-BE49-F238E27FC236}">
                <a16:creationId xmlns:a16="http://schemas.microsoft.com/office/drawing/2014/main" id="{394E7168-A9BF-8FC4-37F8-92D456A93A82}"/>
              </a:ext>
            </a:extLst>
          </p:cNvPr>
          <p:cNvSpPr/>
          <p:nvPr/>
        </p:nvSpPr>
        <p:spPr bwMode="auto">
          <a:xfrm>
            <a:off x="493272" y="4411969"/>
            <a:ext cx="946380" cy="446331"/>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sp>
        <p:nvSpPr>
          <p:cNvPr id="8" name="Oval 37">
            <a:extLst>
              <a:ext uri="{FF2B5EF4-FFF2-40B4-BE49-F238E27FC236}">
                <a16:creationId xmlns:a16="http://schemas.microsoft.com/office/drawing/2014/main" id="{2E7A36F7-6ED0-23E7-77BA-1DBD20593D2D}"/>
              </a:ext>
            </a:extLst>
          </p:cNvPr>
          <p:cNvSpPr/>
          <p:nvPr/>
        </p:nvSpPr>
        <p:spPr bwMode="auto">
          <a:xfrm>
            <a:off x="1706093" y="4432257"/>
            <a:ext cx="1041018" cy="405755"/>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70000" lnSpcReduction="20000"/>
          </a:bodyPr>
          <a:lstStyle/>
          <a:p>
            <a:pPr marR="0" algn="ctr" defTabSz="914400" rtl="0" eaLnBrk="0" fontAlgn="base" latinLnBrk="0" hangingPunct="0">
              <a:lnSpc>
                <a:spcPct val="100000"/>
              </a:lnSpc>
              <a:spcBef>
                <a:spcPct val="20000"/>
              </a:spcBef>
              <a:spcAft>
                <a:spcPct val="0"/>
              </a:spcAft>
              <a:buClr>
                <a:schemeClr val="bg2"/>
              </a:buClr>
              <a:buSzPct val="75000"/>
              <a:tabLst/>
            </a:pPr>
            <a:endParaRPr kumimoji="0" lang="en-US" sz="2000" b="0" i="0" u="none" strike="noStrike" cap="none" normalizeH="0" baseline="0" dirty="0">
              <a:ln>
                <a:noFill/>
              </a:ln>
              <a:solidFill>
                <a:srgbClr val="010507"/>
              </a:solidFill>
              <a:effectLst/>
              <a:latin typeface="Arial" charset="0"/>
            </a:endParaRPr>
          </a:p>
        </p:txBody>
      </p:sp>
      <p:cxnSp>
        <p:nvCxnSpPr>
          <p:cNvPr id="9" name="Straight Arrow Connector 3">
            <a:extLst>
              <a:ext uri="{FF2B5EF4-FFF2-40B4-BE49-F238E27FC236}">
                <a16:creationId xmlns:a16="http://schemas.microsoft.com/office/drawing/2014/main" id="{D029EC14-BECF-1E4D-D658-93DFB1DDECE8}"/>
              </a:ext>
            </a:extLst>
          </p:cNvPr>
          <p:cNvCxnSpPr>
            <a:stCxn id="6" idx="3"/>
            <a:endCxn id="7" idx="0"/>
          </p:cNvCxnSpPr>
          <p:nvPr/>
        </p:nvCxnSpPr>
        <p:spPr bwMode="auto">
          <a:xfrm flipH="1">
            <a:off x="966462" y="3986503"/>
            <a:ext cx="637512" cy="425466"/>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Arrow Connector 47">
            <a:extLst>
              <a:ext uri="{FF2B5EF4-FFF2-40B4-BE49-F238E27FC236}">
                <a16:creationId xmlns:a16="http://schemas.microsoft.com/office/drawing/2014/main" id="{2FB85188-0E68-0B23-42C5-AD1A742CCE10}"/>
              </a:ext>
            </a:extLst>
          </p:cNvPr>
          <p:cNvCxnSpPr>
            <a:endCxn id="6" idx="2"/>
          </p:cNvCxnSpPr>
          <p:nvPr/>
        </p:nvCxnSpPr>
        <p:spPr bwMode="auto">
          <a:xfrm>
            <a:off x="1223628" y="3843047"/>
            <a:ext cx="241752" cy="0"/>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1" name="Straight Arrow Connector 51">
            <a:extLst>
              <a:ext uri="{FF2B5EF4-FFF2-40B4-BE49-F238E27FC236}">
                <a16:creationId xmlns:a16="http://schemas.microsoft.com/office/drawing/2014/main" id="{62FB542E-C646-71DD-448A-DDDDBE03A911}"/>
              </a:ext>
            </a:extLst>
          </p:cNvPr>
          <p:cNvCxnSpPr>
            <a:stCxn id="8" idx="2"/>
            <a:endCxn id="7" idx="6"/>
          </p:cNvCxnSpPr>
          <p:nvPr/>
        </p:nvCxnSpPr>
        <p:spPr bwMode="auto">
          <a:xfrm flipH="1">
            <a:off x="1439652" y="4635135"/>
            <a:ext cx="266441" cy="0"/>
          </a:xfrm>
          <a:prstGeom prst="straightConnector1">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9284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2" grpId="0" animBg="1"/>
      <p:bldP spid="33" grpId="0" animBg="1"/>
      <p:bldP spid="45" grpId="0" animBg="1"/>
      <p:bldP spid="6" grpId="0" animBg="1"/>
      <p:bldP spid="7"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numéro de diapositive 4"/>
          <p:cNvSpPr>
            <a:spLocks noGrp="1"/>
          </p:cNvSpPr>
          <p:nvPr>
            <p:ph type="sldNum" sz="quarter" idx="11"/>
          </p:nvPr>
        </p:nvSpPr>
        <p:spPr>
          <a:xfrm>
            <a:off x="6336196" y="646838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37</a:t>
            </a:fld>
            <a:endParaRPr lang="fr-FR" sz="1400">
              <a:solidFill>
                <a:srgbClr val="000208"/>
              </a:solidFill>
              <a:latin typeface="Times New Roman" charset="0"/>
            </a:endParaRPr>
          </a:p>
        </p:txBody>
      </p:sp>
      <p:sp>
        <p:nvSpPr>
          <p:cNvPr id="558" name="CustomShape 20"/>
          <p:cNvSpPr/>
          <p:nvPr/>
        </p:nvSpPr>
        <p:spPr>
          <a:xfrm>
            <a:off x="448601" y="2324490"/>
            <a:ext cx="6683293" cy="435648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dirty="0" err="1">
                <a:latin typeface="Courier New"/>
                <a:ea typeface="Courier New"/>
              </a:rPr>
              <a:t>prog</a:t>
            </a:r>
            <a:r>
              <a:rPr lang="fr-FR" sz="1800" b="1" dirty="0">
                <a:latin typeface="Courier New"/>
                <a:ea typeface="Courier New"/>
              </a:rPr>
              <a:t> :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–o </a:t>
            </a:r>
            <a:r>
              <a:rPr lang="fr-FR" sz="1800" b="1" dirty="0" err="1">
                <a:latin typeface="Courier New"/>
                <a:ea typeface="Courier New"/>
              </a:rPr>
              <a:t>prog</a:t>
            </a:r>
            <a:r>
              <a:rPr lang="fr-FR" sz="1800" b="1" dirty="0">
                <a:latin typeface="Courier New"/>
                <a:ea typeface="Courier New"/>
              </a:rPr>
              <a:t>  </a:t>
            </a:r>
            <a:r>
              <a:rPr lang="fr-FR" sz="1800" b="1" dirty="0" err="1">
                <a:latin typeface="Courier New"/>
                <a:ea typeface="Courier New"/>
              </a:rPr>
              <a:t>prog.o</a:t>
            </a:r>
            <a:r>
              <a:rPr lang="fr-FR" sz="1800" b="1" dirty="0">
                <a:latin typeface="Courier New"/>
                <a:ea typeface="Courier New"/>
              </a:rPr>
              <a:t> code1.o code2.o</a:t>
            </a:r>
            <a:endParaRPr dirty="0"/>
          </a:p>
          <a:p>
            <a:pPr algn="l">
              <a:lnSpc>
                <a:spcPct val="100000"/>
              </a:lnSpc>
              <a:buSzPct val="25000"/>
            </a:pPr>
            <a:endParaRPr dirty="0"/>
          </a:p>
          <a:p>
            <a:pPr algn="l">
              <a:lnSpc>
                <a:spcPct val="100000"/>
              </a:lnSpc>
              <a:buSzPct val="25000"/>
            </a:pPr>
            <a:r>
              <a:rPr lang="fr-FR" sz="1800" b="1" dirty="0" err="1">
                <a:latin typeface="Courier New"/>
                <a:ea typeface="Courier New"/>
              </a:rPr>
              <a:t>prog.o</a:t>
            </a:r>
            <a:r>
              <a:rPr lang="fr-FR" sz="1800" b="1" dirty="0">
                <a:latin typeface="Courier New"/>
                <a:ea typeface="Courier New"/>
              </a:rPr>
              <a:t> : </a:t>
            </a:r>
            <a:r>
              <a:rPr lang="fr-FR" sz="1800" b="1" dirty="0" err="1">
                <a:latin typeface="Courier New"/>
                <a:ea typeface="Courier New"/>
              </a:rPr>
              <a:t>prog.c</a:t>
            </a:r>
            <a:r>
              <a:rPr lang="fr-FR" sz="1800" b="1" dirty="0">
                <a:latin typeface="Courier New"/>
                <a:ea typeface="Courier New"/>
              </a:rPr>
              <a:t> </a:t>
            </a:r>
            <a:r>
              <a:rPr lang="fr-FR" sz="1800" b="1" dirty="0" err="1">
                <a:latin typeface="Courier New"/>
                <a:ea typeface="Courier New"/>
              </a:rPr>
              <a:t>prog.h</a:t>
            </a:r>
            <a:r>
              <a:rPr lang="fr-FR" sz="1800" b="1" dirty="0">
                <a:latin typeface="Courier New"/>
                <a:ea typeface="Courier New"/>
              </a:rPr>
              <a:t> code1.h </a:t>
            </a:r>
            <a:endParaRPr sz="1800" dirty="0"/>
          </a:p>
          <a:p>
            <a:pPr lvl="2" algn="l">
              <a:buSzPct val="25000"/>
            </a:pPr>
            <a:r>
              <a:rPr lang="fr-FR" sz="1800" b="1" dirty="0" err="1">
                <a:latin typeface="Courier New"/>
                <a:ea typeface="Courier New"/>
              </a:rPr>
              <a:t>gcc</a:t>
            </a:r>
            <a:r>
              <a:rPr lang="fr-FR" sz="1800" b="1" dirty="0">
                <a:latin typeface="Courier New"/>
                <a:ea typeface="Courier New"/>
              </a:rPr>
              <a:t> -c </a:t>
            </a:r>
            <a:r>
              <a:rPr lang="fr-FR" sz="1800" b="1" dirty="0" err="1">
                <a:latin typeface="Courier New"/>
                <a:ea typeface="Courier New"/>
              </a:rPr>
              <a:t>prog.c</a:t>
            </a:r>
            <a:r>
              <a:rPr lang="fr-FR" sz="1800" b="1" dirty="0">
                <a:latin typeface="Courier New"/>
                <a:ea typeface="Courier New"/>
              </a:rPr>
              <a:t> –o </a:t>
            </a:r>
            <a:r>
              <a:rPr lang="fr-FR" sz="1800" b="1" dirty="0" err="1">
                <a:latin typeface="Courier New"/>
                <a:ea typeface="Courier New"/>
              </a:rPr>
              <a:t>prog.o</a:t>
            </a:r>
            <a:endParaRPr sz="1800" dirty="0"/>
          </a:p>
          <a:p>
            <a:pPr algn="l">
              <a:lnSpc>
                <a:spcPct val="100000"/>
              </a:lnSpc>
              <a:buSzPct val="25000"/>
            </a:pPr>
            <a:endParaRPr sz="1800" dirty="0"/>
          </a:p>
          <a:p>
            <a:pPr algn="l">
              <a:lnSpc>
                <a:spcPct val="100000"/>
              </a:lnSpc>
              <a:buSzPct val="25000"/>
            </a:pPr>
            <a:r>
              <a:rPr lang="fr-FR" sz="1800" b="1" dirty="0">
                <a:latin typeface="Courier New"/>
                <a:ea typeface="Courier New"/>
              </a:rPr>
              <a:t>code1.o : code1.c </a:t>
            </a:r>
            <a:r>
              <a:rPr lang="fr-FR" sz="1800" b="1" dirty="0" err="1">
                <a:latin typeface="Courier New"/>
                <a:ea typeface="Courier New"/>
              </a:rPr>
              <a:t>prog.h</a:t>
            </a:r>
            <a:r>
              <a:rPr lang="fr-FR" sz="1800" b="1" dirty="0">
                <a:latin typeface="Courier New"/>
                <a:ea typeface="Courier New"/>
              </a:rPr>
              <a:t> code1.h </a:t>
            </a:r>
            <a:endParaRPr sz="1800" dirty="0"/>
          </a:p>
          <a:p>
            <a:pPr lvl="2" algn="l">
              <a:buSzPct val="25000"/>
            </a:pPr>
            <a:r>
              <a:rPr lang="fr-FR" sz="1800" b="1" dirty="0" err="1">
                <a:latin typeface="Courier New"/>
                <a:ea typeface="Courier New"/>
              </a:rPr>
              <a:t>gcc</a:t>
            </a:r>
            <a:r>
              <a:rPr lang="fr-FR" sz="1800" b="1" dirty="0">
                <a:latin typeface="Courier New"/>
                <a:ea typeface="Courier New"/>
              </a:rPr>
              <a:t> -c code1.c –o code1.o</a:t>
            </a:r>
            <a:endParaRPr sz="1800" dirty="0"/>
          </a:p>
          <a:p>
            <a:pPr algn="l">
              <a:lnSpc>
                <a:spcPct val="100000"/>
              </a:lnSpc>
              <a:buSzPct val="25000"/>
            </a:pPr>
            <a:endParaRPr sz="1800" dirty="0"/>
          </a:p>
          <a:p>
            <a:pPr algn="l">
              <a:lnSpc>
                <a:spcPct val="100000"/>
              </a:lnSpc>
              <a:buSzPct val="25000"/>
            </a:pPr>
            <a:r>
              <a:rPr lang="fr-FR" sz="1800" b="1" dirty="0">
                <a:latin typeface="Courier New"/>
                <a:ea typeface="Courier New"/>
              </a:rPr>
              <a:t>code2.o : code2.c </a:t>
            </a:r>
            <a:r>
              <a:rPr lang="fr-FR" sz="1800" b="1" dirty="0" err="1">
                <a:latin typeface="Courier New"/>
                <a:ea typeface="Courier New"/>
              </a:rPr>
              <a:t>prog.h</a:t>
            </a:r>
            <a:r>
              <a:rPr lang="fr-FR" sz="1800" b="1" dirty="0">
                <a:latin typeface="Courier New"/>
                <a:ea typeface="Courier New"/>
              </a:rPr>
              <a:t> code1.h </a:t>
            </a:r>
            <a:endParaRPr sz="1800" dirty="0"/>
          </a:p>
          <a:p>
            <a:pPr marL="0" lvl="2" algn="l">
              <a:buSzPct val="25000"/>
            </a:pPr>
            <a:r>
              <a:rPr lang="fr-FR" sz="1800" b="1" dirty="0">
                <a:latin typeface="Courier New"/>
                <a:ea typeface="Courier New"/>
              </a:rPr>
              <a:t>	</a:t>
            </a:r>
            <a:r>
              <a:rPr lang="fr-FR" sz="1800" b="1" dirty="0" err="1">
                <a:latin typeface="Courier New"/>
                <a:ea typeface="Courier New"/>
              </a:rPr>
              <a:t>gcc</a:t>
            </a:r>
            <a:r>
              <a:rPr lang="fr-FR" sz="1800" b="1" dirty="0">
                <a:latin typeface="Courier New"/>
                <a:ea typeface="Courier New"/>
              </a:rPr>
              <a:t> –c code2.c –o code2.o</a:t>
            </a:r>
          </a:p>
          <a:p>
            <a:pPr marL="0" lvl="2" algn="l">
              <a:buSzPct val="25000"/>
            </a:pPr>
            <a:endParaRPr lang="fr-FR" b="1" dirty="0">
              <a:latin typeface="Courier New"/>
              <a:ea typeface="Courier New"/>
            </a:endParaRPr>
          </a:p>
          <a:p>
            <a:pPr algn="l">
              <a:lnSpc>
                <a:spcPct val="100000"/>
              </a:lnSpc>
              <a:buSzPct val="25000"/>
            </a:pPr>
            <a:r>
              <a:rPr lang="fr-FR" sz="1800" b="1" dirty="0">
                <a:solidFill>
                  <a:srgbClr val="FF0000"/>
                </a:solidFill>
                <a:latin typeface="Courier New"/>
                <a:ea typeface="Courier New"/>
              </a:rPr>
              <a:t>clean :</a:t>
            </a:r>
            <a:endParaRPr lang="fr-FR" dirty="0">
              <a:solidFill>
                <a:srgbClr val="FF0000"/>
              </a:solidFill>
            </a:endParaRPr>
          </a:p>
          <a:p>
            <a:pPr marL="0" lvl="2" algn="l">
              <a:buSzPct val="25000"/>
            </a:pPr>
            <a:r>
              <a:rPr lang="fr-FR" sz="1800" b="1" dirty="0">
                <a:solidFill>
                  <a:srgbClr val="FF0000"/>
                </a:solidFill>
                <a:latin typeface="Courier New"/>
                <a:ea typeface="Courier New"/>
              </a:rPr>
              <a:t>	</a:t>
            </a:r>
            <a:r>
              <a:rPr lang="fr-FR" sz="1800" b="1" dirty="0" err="1">
                <a:solidFill>
                  <a:srgbClr val="FF0000"/>
                </a:solidFill>
                <a:latin typeface="Courier New"/>
                <a:ea typeface="Courier New"/>
              </a:rPr>
              <a:t>rm</a:t>
            </a:r>
            <a:r>
              <a:rPr lang="fr-FR" sz="1800" b="1" dirty="0">
                <a:solidFill>
                  <a:srgbClr val="FF0000"/>
                </a:solidFill>
                <a:latin typeface="Courier New"/>
                <a:ea typeface="Courier New"/>
              </a:rPr>
              <a:t> *.o </a:t>
            </a:r>
            <a:r>
              <a:rPr lang="fr-FR" sz="1800" b="1" dirty="0" err="1">
                <a:solidFill>
                  <a:srgbClr val="FF0000"/>
                </a:solidFill>
                <a:latin typeface="Courier New"/>
                <a:ea typeface="Courier New"/>
              </a:rPr>
              <a:t>prog</a:t>
            </a:r>
            <a:endParaRPr lang="fr-FR" dirty="0">
              <a:solidFill>
                <a:srgbClr val="FF0000"/>
              </a:solidFill>
            </a:endParaRPr>
          </a:p>
          <a:p>
            <a:pPr marL="0" lvl="2" algn="l">
              <a:buSzPct val="25000"/>
            </a:pPr>
            <a:endParaRPr lang="fr-FR" dirty="0"/>
          </a:p>
          <a:p>
            <a:pPr algn="l">
              <a:lnSpc>
                <a:spcPct val="100000"/>
              </a:lnSpc>
              <a:buSzPct val="25000"/>
            </a:pPr>
            <a:endParaRPr dirty="0"/>
          </a:p>
        </p:txBody>
      </p:sp>
      <p:sp>
        <p:nvSpPr>
          <p:cNvPr id="540" name="TextShape 2"/>
          <p:cNvSpPr txBox="1"/>
          <p:nvPr/>
        </p:nvSpPr>
        <p:spPr>
          <a:xfrm>
            <a:off x="401844" y="1012486"/>
            <a:ext cx="8262053" cy="5258353"/>
          </a:xfrm>
          <a:prstGeom prst="rect">
            <a:avLst/>
          </a:prstGeom>
        </p:spPr>
        <p:txBody>
          <a:bodyPr lIns="92070" tIns="46035" rIns="92070" bIns="46035"/>
          <a:lstStyle/>
          <a:p>
            <a:pPr>
              <a:buSzPct val="25000"/>
              <a:buFont typeface="StarSymbol"/>
              <a:buChar char=""/>
            </a:pPr>
            <a:r>
              <a:rPr lang="fr-FR">
                <a:ea typeface="Arial"/>
              </a:rPr>
              <a:t> </a:t>
            </a:r>
            <a:endParaRPr/>
          </a:p>
        </p:txBody>
      </p:sp>
      <p:sp>
        <p:nvSpPr>
          <p:cNvPr id="557" name="CustomShape 19"/>
          <p:cNvSpPr/>
          <p:nvPr/>
        </p:nvSpPr>
        <p:spPr>
          <a:xfrm>
            <a:off x="431540" y="1952836"/>
            <a:ext cx="2003930" cy="371654"/>
          </a:xfrm>
          <a:prstGeom prst="rect">
            <a:avLst/>
          </a:prstGeom>
          <a:solidFill>
            <a:srgbClr val="FFFFFF"/>
          </a:solidFill>
          <a:ln w="6480">
            <a:solidFill>
              <a:srgbClr val="919191"/>
            </a:solidFill>
            <a:miter/>
          </a:ln>
        </p:spPr>
        <p:txBody>
          <a:bodyPr lIns="92070" tIns="46035" rIns="92070" bIns="46035"/>
          <a:lstStyle/>
          <a:p>
            <a:pPr algn="l">
              <a:lnSpc>
                <a:spcPct val="100000"/>
              </a:lnSpc>
              <a:buSzPct val="25000"/>
            </a:pPr>
            <a:r>
              <a:rPr lang="fr-FR" sz="1800" b="1">
                <a:latin typeface="Courier"/>
                <a:ea typeface="Arial"/>
                <a:cs typeface="Courier"/>
              </a:rPr>
              <a:t>makefile</a:t>
            </a:r>
            <a:endParaRPr>
              <a:latin typeface="Courier"/>
              <a:cs typeface="Courier"/>
            </a:endParaRPr>
          </a:p>
        </p:txBody>
      </p:sp>
      <p:sp>
        <p:nvSpPr>
          <p:cNvPr id="28"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Structure de </a:t>
            </a:r>
            <a:r>
              <a:rPr lang="fr-FR" sz="2800" dirty="0" err="1">
                <a:latin typeface="Courier New"/>
                <a:cs typeface="Courier New"/>
              </a:rPr>
              <a:t>Makefile</a:t>
            </a:r>
            <a:r>
              <a:rPr lang="fr-FR" sz="2800" dirty="0">
                <a:cs typeface="Courier New"/>
              </a:rPr>
              <a:t>: Exemple</a:t>
            </a:r>
            <a:endParaRPr lang="fr-FR" sz="2800" dirty="0">
              <a:latin typeface="+mn-lt"/>
              <a:cs typeface="ＭＳ Ｐゴシック" charset="0"/>
            </a:endParaRPr>
          </a:p>
        </p:txBody>
      </p:sp>
      <p:sp>
        <p:nvSpPr>
          <p:cNvPr id="41" name="Espace réservé du contenu 2"/>
          <p:cNvSpPr txBox="1">
            <a:spLocks/>
          </p:cNvSpPr>
          <p:nvPr/>
        </p:nvSpPr>
        <p:spPr bwMode="auto">
          <a:xfrm>
            <a:off x="287524" y="800709"/>
            <a:ext cx="8676964" cy="5760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cs typeface="ＭＳ Ｐゴシック" charset="0"/>
              </a:rPr>
              <a:t>Ajoutez une cible clean : Supprimez les fichiers objets et l'exécutable.</a:t>
            </a:r>
            <a:endParaRPr lang="en-US" dirty="0">
              <a:latin typeface="Arial" charset="0"/>
              <a:cs typeface="ＭＳ Ｐゴシック" charset="0"/>
            </a:endParaRPr>
          </a:p>
          <a:p>
            <a:r>
              <a:rPr lang="en-US" dirty="0" err="1">
                <a:latin typeface="Arial" charset="0"/>
                <a:cs typeface="ＭＳ Ｐゴシック" charset="0"/>
              </a:rPr>
              <a:t>Utilasation</a:t>
            </a:r>
            <a:r>
              <a:rPr lang="en-US" dirty="0">
                <a:latin typeface="Arial" charset="0"/>
                <a:cs typeface="ＭＳ Ｐゴシック" charset="0"/>
              </a:rPr>
              <a:t> : </a:t>
            </a:r>
            <a:r>
              <a:rPr lang="en-US" b="1" dirty="0">
                <a:latin typeface="Courier"/>
                <a:cs typeface="Courier"/>
              </a:rPr>
              <a:t>make clean</a:t>
            </a: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6924866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Font typeface="Wingdings" charset="0"/>
              <a:buNone/>
              <a:defRPr/>
            </a:pPr>
            <a:endParaRPr lang="fr-FR" dirty="0"/>
          </a:p>
          <a:p>
            <a:pPr>
              <a:defRPr/>
            </a:pPr>
            <a:endParaRPr lang="fr-FR" dirty="0"/>
          </a:p>
          <a:p>
            <a:pPr>
              <a:defRPr/>
            </a:pPr>
            <a:endParaRPr lang="fr-FR" dirty="0"/>
          </a:p>
        </p:txBody>
      </p:sp>
      <p:pic>
        <p:nvPicPr>
          <p:cNvPr id="58372" name="Image 5" descr="Capture d’écran 2014-08-25 à 12.00.08.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08" y="656692"/>
            <a:ext cx="2771800" cy="1955300"/>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58373" name="Image 6" descr="Capture d’écran 2014-08-25 à 12.00.20.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1513" y="4581128"/>
            <a:ext cx="2798299" cy="2276872"/>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58374" name="Image 7" descr="Capture d’écran 2014-08-25 à 12.00.35.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648" y="2672916"/>
            <a:ext cx="2790160" cy="183620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19"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Structure de </a:t>
            </a:r>
            <a:r>
              <a:rPr lang="fr-FR" sz="2800" dirty="0" err="1">
                <a:latin typeface="Courier New"/>
                <a:ea typeface="ＭＳ Ｐゴシック" charset="0"/>
                <a:cs typeface="Courier New"/>
              </a:rPr>
              <a:t>Makefile</a:t>
            </a:r>
            <a:r>
              <a:rPr lang="fr-FR" sz="2800" dirty="0">
                <a:latin typeface="+mn-lt"/>
                <a:cs typeface="Courier New"/>
              </a:rPr>
              <a:t>: Exemple 2</a:t>
            </a:r>
            <a:endParaRPr lang="fr-FR" sz="2800" dirty="0">
              <a:latin typeface="+mn-lt"/>
              <a:cs typeface="ＭＳ Ｐゴシック" charset="0"/>
            </a:endParaRPr>
          </a:p>
        </p:txBody>
      </p:sp>
      <p:sp>
        <p:nvSpPr>
          <p:cNvPr id="20"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38</a:t>
            </a:fld>
            <a:endParaRPr lang="fr-FR" sz="1400">
              <a:solidFill>
                <a:srgbClr val="000208"/>
              </a:solidFill>
              <a:latin typeface="Times New Roman" charset="0"/>
            </a:endParaRPr>
          </a:p>
        </p:txBody>
      </p:sp>
      <p:sp>
        <p:nvSpPr>
          <p:cNvPr id="10" name="CustomShape 20"/>
          <p:cNvSpPr/>
          <p:nvPr/>
        </p:nvSpPr>
        <p:spPr>
          <a:xfrm>
            <a:off x="3239853" y="908720"/>
            <a:ext cx="5508612" cy="5292588"/>
          </a:xfrm>
          <a:prstGeom prst="rect">
            <a:avLst/>
          </a:prstGeom>
          <a:solidFill>
            <a:srgbClr val="FFFFFF"/>
          </a:solidFill>
          <a:ln w="6480">
            <a:solidFill>
              <a:srgbClr val="919191"/>
            </a:solidFill>
            <a:miter/>
          </a:ln>
        </p:spPr>
        <p:txBody>
          <a:bodyPr lIns="92070" tIns="46035" rIns="92070" bIns="46035"/>
          <a:lstStyle/>
          <a:p>
            <a:pPr algn="l"/>
            <a:endParaRPr lang="en-US" b="1" dirty="0">
              <a:latin typeface="Courier New"/>
              <a:cs typeface="Courier New"/>
            </a:endParaRPr>
          </a:p>
          <a:p>
            <a:pPr algn="l"/>
            <a:r>
              <a:rPr lang="en-US" sz="1600" b="1" dirty="0">
                <a:latin typeface="Courier New"/>
                <a:cs typeface="Courier New"/>
              </a:rPr>
              <a:t>hello: </a:t>
            </a:r>
            <a:r>
              <a:rPr lang="en-US" sz="1600" b="1" dirty="0" err="1">
                <a:latin typeface="Courier New"/>
                <a:cs typeface="Courier New"/>
              </a:rPr>
              <a:t>hello.o</a:t>
            </a:r>
            <a:r>
              <a:rPr lang="en-US" sz="1600" b="1" dirty="0">
                <a:latin typeface="Courier New"/>
                <a:cs typeface="Courier New"/>
              </a:rPr>
              <a:t> </a:t>
            </a:r>
            <a:r>
              <a:rPr lang="en-US" sz="1600" b="1" dirty="0" err="1">
                <a:latin typeface="Courier New"/>
                <a:cs typeface="Courier New"/>
              </a:rPr>
              <a:t>main.o</a:t>
            </a:r>
            <a:endParaRPr lang="en-US" sz="1600" b="1" dirty="0">
              <a:latin typeface="Courier New"/>
              <a:cs typeface="Courier New"/>
            </a:endParaRPr>
          </a:p>
          <a:p>
            <a:pPr algn="l"/>
            <a:r>
              <a:rPr lang="en-US" sz="1600" b="1" dirty="0">
                <a:latin typeface="Courier New"/>
                <a:cs typeface="Courier New"/>
              </a:rPr>
              <a:t>	</a:t>
            </a:r>
            <a:r>
              <a:rPr lang="en-US" sz="1600" b="1" dirty="0" err="1">
                <a:latin typeface="Courier New"/>
                <a:cs typeface="Courier New"/>
              </a:rPr>
              <a:t>gcc</a:t>
            </a:r>
            <a:r>
              <a:rPr lang="en-US" sz="1600" b="1" dirty="0">
                <a:latin typeface="Courier New"/>
                <a:cs typeface="Courier New"/>
              </a:rPr>
              <a:t> –o hello </a:t>
            </a:r>
            <a:r>
              <a:rPr lang="en-US" sz="1600" b="1" dirty="0" err="1">
                <a:latin typeface="Courier New"/>
                <a:cs typeface="Courier New"/>
              </a:rPr>
              <a:t>hello.o</a:t>
            </a:r>
            <a:r>
              <a:rPr lang="en-US" sz="1600" b="1" dirty="0">
                <a:latin typeface="Courier New"/>
                <a:cs typeface="Courier New"/>
              </a:rPr>
              <a:t> </a:t>
            </a:r>
            <a:r>
              <a:rPr lang="en-US" sz="1600" b="1" dirty="0" err="1">
                <a:latin typeface="Courier New"/>
                <a:cs typeface="Courier New"/>
              </a:rPr>
              <a:t>main.o</a:t>
            </a:r>
            <a:endParaRPr lang="en-US" sz="1600" b="1" dirty="0">
              <a:latin typeface="Courier New"/>
              <a:cs typeface="Courier New"/>
            </a:endParaRPr>
          </a:p>
          <a:p>
            <a:pPr algn="l"/>
            <a:endParaRPr lang="en-US" b="1" dirty="0">
              <a:latin typeface="Courier New"/>
              <a:cs typeface="Courier New"/>
            </a:endParaRPr>
          </a:p>
          <a:p>
            <a:pPr algn="l"/>
            <a:r>
              <a:rPr lang="en-US" sz="1600" b="1" dirty="0" err="1">
                <a:latin typeface="Courier New"/>
                <a:cs typeface="Courier New"/>
              </a:rPr>
              <a:t>hello.o</a:t>
            </a:r>
            <a:r>
              <a:rPr lang="en-US" sz="1600" b="1" dirty="0">
                <a:latin typeface="Courier New"/>
                <a:cs typeface="Courier New"/>
              </a:rPr>
              <a:t>: </a:t>
            </a:r>
            <a:r>
              <a:rPr lang="en-US" sz="1800" b="1" dirty="0" err="1">
                <a:latin typeface="Courier New"/>
                <a:cs typeface="Courier New"/>
              </a:rPr>
              <a:t>hello.c</a:t>
            </a:r>
            <a:r>
              <a:rPr lang="en-US" sz="1800" b="1" dirty="0">
                <a:latin typeface="Courier New"/>
                <a:cs typeface="Courier New"/>
              </a:rPr>
              <a:t> </a:t>
            </a:r>
            <a:r>
              <a:rPr lang="en-US" sz="1800" b="1" dirty="0" err="1">
                <a:latin typeface="Courier New"/>
                <a:cs typeface="Courier New"/>
              </a:rPr>
              <a:t>hello.h</a:t>
            </a:r>
            <a:endParaRPr lang="en-US" sz="1800" b="1" dirty="0">
              <a:latin typeface="Courier New"/>
              <a:cs typeface="Courier New"/>
            </a:endParaRPr>
          </a:p>
          <a:p>
            <a:pPr algn="l"/>
            <a:r>
              <a:rPr lang="en-US" sz="1600" b="1" dirty="0">
                <a:latin typeface="Courier New"/>
                <a:cs typeface="Courier New"/>
              </a:rPr>
              <a:t>	</a:t>
            </a:r>
            <a:r>
              <a:rPr lang="en-US" sz="1600" b="1" dirty="0" err="1">
                <a:latin typeface="Courier New"/>
                <a:cs typeface="Courier New"/>
              </a:rPr>
              <a:t>gcc</a:t>
            </a:r>
            <a:r>
              <a:rPr lang="en-US" sz="1600" b="1" dirty="0">
                <a:latin typeface="Courier New"/>
                <a:cs typeface="Courier New"/>
              </a:rPr>
              <a:t> –c </a:t>
            </a:r>
            <a:r>
              <a:rPr lang="en-US" sz="1600" b="1" dirty="0" err="1">
                <a:latin typeface="Courier New"/>
                <a:cs typeface="Courier New"/>
              </a:rPr>
              <a:t>hello.c</a:t>
            </a:r>
            <a:r>
              <a:rPr lang="en-US" sz="1600" b="1" dirty="0">
                <a:latin typeface="Courier New"/>
                <a:cs typeface="Courier New"/>
              </a:rPr>
              <a:t> –o </a:t>
            </a:r>
            <a:r>
              <a:rPr lang="en-US" sz="1600" b="1" dirty="0" err="1">
                <a:latin typeface="Courier New"/>
                <a:cs typeface="Courier New"/>
              </a:rPr>
              <a:t>hello.o</a:t>
            </a:r>
            <a:endParaRPr lang="en-US" sz="1600" b="1" dirty="0">
              <a:latin typeface="Courier New"/>
              <a:cs typeface="Courier New"/>
            </a:endParaRPr>
          </a:p>
          <a:p>
            <a:pPr algn="l"/>
            <a:endParaRPr lang="en-US" sz="1600" b="1" dirty="0">
              <a:latin typeface="Courier New"/>
              <a:cs typeface="Courier New"/>
            </a:endParaRPr>
          </a:p>
          <a:p>
            <a:pPr algn="l"/>
            <a:r>
              <a:rPr lang="en-US" sz="1600" b="1" dirty="0" err="1">
                <a:latin typeface="Courier New"/>
                <a:cs typeface="Courier New"/>
              </a:rPr>
              <a:t>main.o</a:t>
            </a:r>
            <a:r>
              <a:rPr lang="en-US" sz="1600" b="1" dirty="0">
                <a:latin typeface="Courier New"/>
                <a:cs typeface="Courier New"/>
              </a:rPr>
              <a:t>: </a:t>
            </a:r>
            <a:r>
              <a:rPr lang="en-US" sz="1600" b="1" dirty="0" err="1">
                <a:latin typeface="Courier New"/>
                <a:cs typeface="Courier New"/>
              </a:rPr>
              <a:t>main.c</a:t>
            </a:r>
            <a:r>
              <a:rPr lang="en-US" sz="1600" b="1" dirty="0">
                <a:latin typeface="Courier New"/>
                <a:cs typeface="Courier New"/>
              </a:rPr>
              <a:t> </a:t>
            </a:r>
            <a:r>
              <a:rPr lang="en-US" sz="1600" b="1" dirty="0" err="1">
                <a:latin typeface="Courier New"/>
                <a:cs typeface="Courier New"/>
              </a:rPr>
              <a:t>hello.h</a:t>
            </a:r>
            <a:endParaRPr lang="en-US" sz="1600" b="1" dirty="0">
              <a:latin typeface="Courier New"/>
              <a:cs typeface="Courier New"/>
            </a:endParaRPr>
          </a:p>
          <a:p>
            <a:pPr algn="l"/>
            <a:r>
              <a:rPr lang="en-US" sz="1600" b="1" dirty="0">
                <a:latin typeface="Courier New"/>
                <a:cs typeface="Courier New"/>
              </a:rPr>
              <a:t>        </a:t>
            </a:r>
            <a:r>
              <a:rPr lang="en-US" sz="1600" b="1" dirty="0" err="1">
                <a:latin typeface="Courier New"/>
                <a:cs typeface="Courier New"/>
              </a:rPr>
              <a:t>gcc</a:t>
            </a:r>
            <a:r>
              <a:rPr lang="en-US" sz="1600" b="1" dirty="0">
                <a:latin typeface="Courier New"/>
                <a:cs typeface="Courier New"/>
              </a:rPr>
              <a:t> –c </a:t>
            </a:r>
            <a:r>
              <a:rPr lang="en-US" sz="1600" b="1" dirty="0" err="1">
                <a:latin typeface="Courier New"/>
                <a:cs typeface="Courier New"/>
              </a:rPr>
              <a:t>main.c</a:t>
            </a:r>
            <a:r>
              <a:rPr lang="en-US" sz="1600" b="1" dirty="0">
                <a:latin typeface="Courier New"/>
                <a:cs typeface="Courier New"/>
              </a:rPr>
              <a:t> –o </a:t>
            </a:r>
            <a:r>
              <a:rPr lang="en-US" sz="1600" b="1" dirty="0" err="1">
                <a:latin typeface="Courier New"/>
                <a:cs typeface="Courier New"/>
              </a:rPr>
              <a:t>main.o</a:t>
            </a:r>
            <a:endParaRPr lang="en-US" sz="1600" b="1" dirty="0">
              <a:latin typeface="Courier New"/>
              <a:cs typeface="Courier New"/>
            </a:endParaRPr>
          </a:p>
          <a:p>
            <a:pPr algn="l"/>
            <a:endParaRPr lang="en-US" b="1" dirty="0">
              <a:latin typeface="Courier New"/>
              <a:cs typeface="Courier New"/>
            </a:endParaRPr>
          </a:p>
          <a:p>
            <a:pPr algn="l"/>
            <a:r>
              <a:rPr lang="en-US" sz="1600" b="1" dirty="0">
                <a:latin typeface="Courier New"/>
                <a:cs typeface="Courier New"/>
              </a:rPr>
              <a:t>clean:</a:t>
            </a:r>
          </a:p>
          <a:p>
            <a:pPr algn="l"/>
            <a:r>
              <a:rPr lang="en-US" sz="1600" b="1" dirty="0">
                <a:latin typeface="Courier New"/>
                <a:cs typeface="Courier New"/>
              </a:rPr>
              <a:t>        </a:t>
            </a:r>
            <a:r>
              <a:rPr lang="en-US" sz="1600" b="1" dirty="0" err="1">
                <a:latin typeface="Courier New"/>
                <a:cs typeface="Courier New"/>
              </a:rPr>
              <a:t>rm</a:t>
            </a:r>
            <a:r>
              <a:rPr lang="en-US" sz="1600" b="1" dirty="0">
                <a:latin typeface="Courier New"/>
                <a:cs typeface="Courier New"/>
              </a:rPr>
              <a:t> *.o</a:t>
            </a:r>
            <a:endParaRPr lang="fr-FR" sz="1600" b="1" dirty="0">
              <a:latin typeface="Courier New"/>
              <a:ea typeface="Courier New"/>
              <a:cs typeface="Courier New"/>
            </a:endParaRPr>
          </a:p>
        </p:txBody>
      </p:sp>
      <p:sp>
        <p:nvSpPr>
          <p:cNvPr id="2" name="Espace réservé du pied de page 1">
            <a:extLst>
              <a:ext uri="{FF2B5EF4-FFF2-40B4-BE49-F238E27FC236}">
                <a16:creationId xmlns:a16="http://schemas.microsoft.com/office/drawing/2014/main" id="{78B6D7E4-7A13-352D-DFE6-8B42E4D44A8B}"/>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18801048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stomShape 20"/>
          <p:cNvSpPr/>
          <p:nvPr/>
        </p:nvSpPr>
        <p:spPr>
          <a:xfrm>
            <a:off x="3239853" y="908720"/>
            <a:ext cx="5508612" cy="5292588"/>
          </a:xfrm>
          <a:prstGeom prst="rect">
            <a:avLst/>
          </a:prstGeom>
          <a:solidFill>
            <a:srgbClr val="FFFFFF"/>
          </a:solidFill>
          <a:ln w="6480">
            <a:solidFill>
              <a:srgbClr val="919191"/>
            </a:solidFill>
            <a:miter/>
          </a:ln>
        </p:spPr>
        <p:txBody>
          <a:bodyPr lIns="92070" tIns="46035" rIns="92070" bIns="46035"/>
          <a:lstStyle/>
          <a:p>
            <a:pPr algn="l"/>
            <a:r>
              <a:rPr lang="en-US" sz="1600" b="1" dirty="0">
                <a:latin typeface="Courier New"/>
                <a:cs typeface="Courier New"/>
              </a:rPr>
              <a:t>CC=</a:t>
            </a:r>
            <a:r>
              <a:rPr lang="en-US" sz="1600" b="1" dirty="0" err="1">
                <a:latin typeface="Courier New"/>
                <a:cs typeface="Courier New"/>
              </a:rPr>
              <a:t>gcc</a:t>
            </a:r>
            <a:endParaRPr lang="en-US" sz="1600" b="1" dirty="0">
              <a:latin typeface="Courier New"/>
              <a:cs typeface="Courier New"/>
            </a:endParaRPr>
          </a:p>
          <a:p>
            <a:pPr algn="l"/>
            <a:r>
              <a:rPr lang="en-US" sz="1600" b="1" dirty="0">
                <a:latin typeface="Courier New"/>
                <a:cs typeface="Courier New"/>
              </a:rPr>
              <a:t>CFLAGS=-g -Wall -I.</a:t>
            </a:r>
          </a:p>
          <a:p>
            <a:pPr algn="l"/>
            <a:r>
              <a:rPr lang="en-US" sz="1600" b="1" dirty="0">
                <a:latin typeface="Courier New"/>
                <a:cs typeface="Courier New"/>
              </a:rPr>
              <a:t>DEP=</a:t>
            </a:r>
            <a:r>
              <a:rPr lang="en-US" sz="1600" b="1" dirty="0" err="1">
                <a:latin typeface="Courier New"/>
                <a:cs typeface="Courier New"/>
              </a:rPr>
              <a:t>hello.h</a:t>
            </a:r>
            <a:endParaRPr lang="en-US" sz="1600" b="1" dirty="0">
              <a:latin typeface="Courier New"/>
              <a:cs typeface="Courier New"/>
            </a:endParaRPr>
          </a:p>
          <a:p>
            <a:pPr algn="l"/>
            <a:r>
              <a:rPr lang="en-US" sz="1600" b="1" dirty="0">
                <a:latin typeface="Courier New"/>
                <a:cs typeface="Courier New"/>
              </a:rPr>
              <a:t>OBJ=</a:t>
            </a:r>
            <a:r>
              <a:rPr lang="en-US" sz="1600" b="1" dirty="0" err="1">
                <a:latin typeface="Courier New"/>
                <a:cs typeface="Courier New"/>
              </a:rPr>
              <a:t>hello.o</a:t>
            </a:r>
            <a:r>
              <a:rPr lang="en-US" sz="1600" b="1" dirty="0">
                <a:latin typeface="Courier New"/>
                <a:cs typeface="Courier New"/>
              </a:rPr>
              <a:t> </a:t>
            </a:r>
            <a:r>
              <a:rPr lang="en-US" sz="1600" b="1" dirty="0" err="1">
                <a:latin typeface="Courier New"/>
                <a:cs typeface="Courier New"/>
              </a:rPr>
              <a:t>main.o</a:t>
            </a:r>
            <a:endParaRPr lang="en-US" sz="1600" b="1" dirty="0">
              <a:latin typeface="Courier New"/>
              <a:cs typeface="Courier New"/>
            </a:endParaRPr>
          </a:p>
          <a:p>
            <a:pPr algn="l"/>
            <a:r>
              <a:rPr lang="en-US" sz="1600" b="1" dirty="0">
                <a:latin typeface="Courier New"/>
                <a:cs typeface="Courier New"/>
              </a:rPr>
              <a:t>EXEC=hello</a:t>
            </a:r>
          </a:p>
          <a:p>
            <a:pPr algn="l"/>
            <a:endParaRPr lang="en-US" b="1" dirty="0">
              <a:latin typeface="Courier New"/>
              <a:cs typeface="Courier New"/>
            </a:endParaRPr>
          </a:p>
          <a:p>
            <a:pPr algn="l"/>
            <a:r>
              <a:rPr lang="en-US" sz="1600" b="1" dirty="0">
                <a:latin typeface="Courier New"/>
                <a:cs typeface="Courier New"/>
              </a:rPr>
              <a:t>all: $(EXEC)</a:t>
            </a:r>
          </a:p>
          <a:p>
            <a:pPr algn="l"/>
            <a:endParaRPr lang="en-US" b="1" dirty="0">
              <a:latin typeface="Courier New"/>
              <a:cs typeface="Courier New"/>
            </a:endParaRPr>
          </a:p>
          <a:p>
            <a:pPr algn="l"/>
            <a:r>
              <a:rPr lang="en-US" sz="1600" b="1" dirty="0">
                <a:latin typeface="Courier New"/>
                <a:cs typeface="Courier New"/>
              </a:rPr>
              <a:t>$(EXEC): $(OBJ)</a:t>
            </a:r>
          </a:p>
          <a:p>
            <a:pPr algn="l"/>
            <a:r>
              <a:rPr lang="en-US" sz="1600" b="1" dirty="0">
                <a:latin typeface="Courier New"/>
                <a:cs typeface="Courier New"/>
              </a:rPr>
              <a:t>        $(CC) -o $@ $^</a:t>
            </a:r>
          </a:p>
          <a:p>
            <a:pPr algn="l"/>
            <a:endParaRPr lang="en-US" b="1" dirty="0">
              <a:latin typeface="Courier New"/>
              <a:cs typeface="Courier New"/>
            </a:endParaRPr>
          </a:p>
          <a:p>
            <a:pPr algn="l"/>
            <a:r>
              <a:rPr lang="en-US" sz="1600" b="1" dirty="0">
                <a:latin typeface="Courier New"/>
                <a:cs typeface="Courier New"/>
              </a:rPr>
              <a:t>%.o: %.c $(DEP)</a:t>
            </a:r>
          </a:p>
          <a:p>
            <a:pPr algn="l"/>
            <a:r>
              <a:rPr lang="en-US" sz="1600" b="1" dirty="0">
                <a:latin typeface="Courier New"/>
                <a:cs typeface="Courier New"/>
              </a:rPr>
              <a:t>        $(CC) -c $(CFLAGS) $&lt; -o $@</a:t>
            </a:r>
          </a:p>
          <a:p>
            <a:pPr algn="l"/>
            <a:endParaRPr lang="en-US" b="1" dirty="0">
              <a:latin typeface="Courier New"/>
              <a:cs typeface="Courier New"/>
            </a:endParaRPr>
          </a:p>
          <a:p>
            <a:pPr algn="l"/>
            <a:r>
              <a:rPr lang="en-US" sz="1600" b="1" dirty="0">
                <a:latin typeface="Courier New"/>
                <a:cs typeface="Courier New"/>
              </a:rPr>
              <a:t>.PHONY: clean </a:t>
            </a:r>
            <a:r>
              <a:rPr lang="en-US" sz="1600" b="1" dirty="0" err="1">
                <a:latin typeface="Courier New"/>
                <a:cs typeface="Courier New"/>
              </a:rPr>
              <a:t>mrproper</a:t>
            </a:r>
            <a:endParaRPr lang="en-US" sz="1600" b="1" dirty="0">
              <a:latin typeface="Courier New"/>
              <a:cs typeface="Courier New"/>
            </a:endParaRPr>
          </a:p>
          <a:p>
            <a:pPr algn="l"/>
            <a:r>
              <a:rPr lang="en-US" sz="1600" b="1" dirty="0">
                <a:latin typeface="Courier New"/>
                <a:cs typeface="Courier New"/>
              </a:rPr>
              <a:t>clean:</a:t>
            </a:r>
          </a:p>
          <a:p>
            <a:pPr algn="l"/>
            <a:r>
              <a:rPr lang="en-US" sz="1600" b="1" dirty="0">
                <a:latin typeface="Courier New"/>
                <a:cs typeface="Courier New"/>
              </a:rPr>
              <a:t>        </a:t>
            </a:r>
            <a:r>
              <a:rPr lang="en-US" sz="1600" b="1" dirty="0" err="1">
                <a:latin typeface="Courier New"/>
                <a:cs typeface="Courier New"/>
              </a:rPr>
              <a:t>rm</a:t>
            </a:r>
            <a:r>
              <a:rPr lang="en-US" sz="1600" b="1" dirty="0">
                <a:latin typeface="Courier New"/>
                <a:cs typeface="Courier New"/>
              </a:rPr>
              <a:t> *.o</a:t>
            </a:r>
          </a:p>
          <a:p>
            <a:pPr algn="l"/>
            <a:endParaRPr lang="en-US" b="1" dirty="0">
              <a:latin typeface="Courier New"/>
              <a:cs typeface="Courier New"/>
            </a:endParaRPr>
          </a:p>
          <a:p>
            <a:pPr algn="l"/>
            <a:r>
              <a:rPr lang="en-US" sz="1600" b="1" dirty="0" err="1">
                <a:latin typeface="Courier New"/>
                <a:cs typeface="Courier New"/>
              </a:rPr>
              <a:t>mrproper</a:t>
            </a:r>
            <a:r>
              <a:rPr lang="en-US" sz="1600" b="1" dirty="0">
                <a:latin typeface="Courier New"/>
                <a:cs typeface="Courier New"/>
              </a:rPr>
              <a:t>: clean</a:t>
            </a:r>
          </a:p>
          <a:p>
            <a:pPr algn="l"/>
            <a:r>
              <a:rPr lang="en-US" sz="1600" b="1" dirty="0">
                <a:latin typeface="Courier New"/>
                <a:cs typeface="Courier New"/>
              </a:rPr>
              <a:t>        </a:t>
            </a:r>
            <a:r>
              <a:rPr lang="en-US" sz="1600" b="1" dirty="0" err="1">
                <a:latin typeface="Courier New"/>
                <a:cs typeface="Courier New"/>
              </a:rPr>
              <a:t>rm</a:t>
            </a:r>
            <a:r>
              <a:rPr lang="en-US" sz="1600" b="1" dirty="0">
                <a:latin typeface="Courier New"/>
                <a:cs typeface="Courier New"/>
              </a:rPr>
              <a:t> $(EXEC)</a:t>
            </a:r>
            <a:endParaRPr lang="fr-FR" sz="1600" b="1" dirty="0">
              <a:latin typeface="Courier New"/>
              <a:ea typeface="Courier New"/>
              <a:cs typeface="Courier New"/>
            </a:endParaRPr>
          </a:p>
        </p:txBody>
      </p:sp>
      <p:sp>
        <p:nvSpPr>
          <p:cNvPr id="20"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39</a:t>
            </a:fld>
            <a:endParaRPr lang="fr-FR" sz="1400">
              <a:solidFill>
                <a:srgbClr val="000208"/>
              </a:solidFill>
              <a:latin typeface="Times New Roman" charset="0"/>
            </a:endParaRPr>
          </a:p>
        </p:txBody>
      </p:sp>
      <p:pic>
        <p:nvPicPr>
          <p:cNvPr id="58372" name="Image 5" descr="Capture d’écran 2014-08-25 à 12.00.08.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08" y="656692"/>
            <a:ext cx="2771800" cy="1955300"/>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58373" name="Image 6" descr="Capture d’écran 2014-08-25 à 12.00.20.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1513" y="4581128"/>
            <a:ext cx="2798299" cy="2276872"/>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58374" name="Image 7" descr="Capture d’écran 2014-08-25 à 12.00.35.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648" y="2672916"/>
            <a:ext cx="2790160" cy="183620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2" name="Rectangle 1"/>
          <p:cNvSpPr/>
          <p:nvPr/>
        </p:nvSpPr>
        <p:spPr bwMode="auto">
          <a:xfrm>
            <a:off x="3239852" y="908720"/>
            <a:ext cx="2412268" cy="1512168"/>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3" name="Rectangle 12"/>
          <p:cNvSpPr/>
          <p:nvPr/>
        </p:nvSpPr>
        <p:spPr bwMode="auto">
          <a:xfrm>
            <a:off x="3239852" y="2960948"/>
            <a:ext cx="972108" cy="360040"/>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6" name="Rectangle 15"/>
          <p:cNvSpPr/>
          <p:nvPr/>
        </p:nvSpPr>
        <p:spPr bwMode="auto">
          <a:xfrm>
            <a:off x="5364088" y="3969060"/>
            <a:ext cx="1188132" cy="360040"/>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7" name="Rectangle 16"/>
          <p:cNvSpPr/>
          <p:nvPr/>
        </p:nvSpPr>
        <p:spPr bwMode="auto">
          <a:xfrm>
            <a:off x="4355976" y="2960948"/>
            <a:ext cx="972108" cy="324036"/>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9"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Structure </a:t>
            </a:r>
            <a:r>
              <a:rPr lang="fr-FR" sz="2800" dirty="0">
                <a:latin typeface="Arial" charset="0"/>
                <a:cs typeface="ＭＳ Ｐゴシック" charset="0"/>
              </a:rPr>
              <a:t>de</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Makefile</a:t>
            </a:r>
            <a:r>
              <a:rPr lang="fr-FR" sz="2800" dirty="0">
                <a:latin typeface="+mn-lt"/>
                <a:cs typeface="Courier New"/>
              </a:rPr>
              <a:t>: Exemple 2</a:t>
            </a:r>
            <a:endParaRPr lang="fr-FR" sz="2800" dirty="0">
              <a:latin typeface="+mn-lt"/>
              <a:cs typeface="ＭＳ Ｐゴシック" charset="0"/>
            </a:endParaRPr>
          </a:p>
        </p:txBody>
      </p:sp>
      <p:sp>
        <p:nvSpPr>
          <p:cNvPr id="22" name="Rectangle 21"/>
          <p:cNvSpPr/>
          <p:nvPr/>
        </p:nvSpPr>
        <p:spPr bwMode="auto">
          <a:xfrm>
            <a:off x="4355976" y="3681028"/>
            <a:ext cx="900100" cy="360040"/>
          </a:xfrm>
          <a:prstGeom prst="rect">
            <a:avLst/>
          </a:prstGeom>
          <a:noFill/>
          <a:ln w="3810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 name="Espace réservé du pied de page 2">
            <a:extLst>
              <a:ext uri="{FF2B5EF4-FFF2-40B4-BE49-F238E27FC236}">
                <a16:creationId xmlns:a16="http://schemas.microsoft.com/office/drawing/2014/main" id="{423E7F72-DCF6-E792-0F00-A534A7962A5D}"/>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148201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6" grpId="0" animBg="1"/>
      <p:bldP spid="17"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re 1"/>
          <p:cNvSpPr>
            <a:spLocks noGrp="1"/>
          </p:cNvSpPr>
          <p:nvPr>
            <p:ph type="title"/>
          </p:nvPr>
        </p:nvSpPr>
        <p:spPr/>
        <p:txBody>
          <a:bodyPr/>
          <a:lstStyle/>
          <a:p>
            <a:r>
              <a:rPr lang="fr-FR" sz="2800" dirty="0">
                <a:latin typeface="Arial" charset="0"/>
                <a:ea typeface="ＭＳ Ｐゴシック" charset="0"/>
                <a:cs typeface="ＭＳ Ｐゴシック" charset="0"/>
              </a:rPr>
              <a:t>Messages courants d'erreurs de compilation</a:t>
            </a:r>
          </a:p>
        </p:txBody>
      </p:sp>
      <p:sp>
        <p:nvSpPr>
          <p:cNvPr id="67586" name="Espace réservé du contenu 2"/>
          <p:cNvSpPr>
            <a:spLocks noGrp="1"/>
          </p:cNvSpPr>
          <p:nvPr>
            <p:ph idx="1"/>
          </p:nvPr>
        </p:nvSpPr>
        <p:spPr>
          <a:xfrm>
            <a:off x="72008" y="944725"/>
            <a:ext cx="9000492" cy="2980196"/>
          </a:xfrm>
        </p:spPr>
        <p:txBody>
          <a:bodyPr/>
          <a:lstStyle/>
          <a:p>
            <a:r>
              <a:rPr lang="en-GB" dirty="0" err="1">
                <a:latin typeface="Arial" charset="0"/>
                <a:cs typeface="ＭＳ Ｐゴシック" charset="0"/>
              </a:rPr>
              <a:t>Exemple</a:t>
            </a:r>
            <a:r>
              <a:rPr lang="en-GB" dirty="0">
                <a:latin typeface="Arial" charset="0"/>
                <a:cs typeface="ＭＳ Ｐゴシック" charset="0"/>
              </a:rPr>
              <a:t> d'un message </a:t>
            </a:r>
            <a:r>
              <a:rPr lang="en-GB" dirty="0" err="1">
                <a:latin typeface="Arial" charset="0"/>
                <a:cs typeface="ＭＳ Ｐゴシック" charset="0"/>
              </a:rPr>
              <a:t>d'erreur</a:t>
            </a:r>
            <a:br>
              <a:rPr lang="en-GB" dirty="0">
                <a:latin typeface="Arial" charset="0"/>
                <a:ea typeface="ＭＳ Ｐゴシック" charset="0"/>
                <a:cs typeface="ＭＳ Ｐゴシック" charset="0"/>
              </a:rPr>
            </a:br>
            <a:endParaRPr lang="en-GB" dirty="0">
              <a:latin typeface="Arial" charset="0"/>
              <a:ea typeface="ＭＳ Ｐゴシック" charset="0"/>
              <a:cs typeface="ＭＳ Ｐゴシック" charset="0"/>
            </a:endParaRPr>
          </a:p>
          <a:p>
            <a:endParaRPr lang="en-GB" dirty="0">
              <a:latin typeface="Arial" charset="0"/>
              <a:ea typeface="ＭＳ Ｐゴシック" charset="0"/>
              <a:cs typeface="ＭＳ Ｐゴシック" charset="0"/>
            </a:endParaRPr>
          </a:p>
          <a:p>
            <a:pPr marL="0" indent="0">
              <a:buNone/>
            </a:pPr>
            <a:endParaRPr lang="en-GB" sz="3600" dirty="0">
              <a:latin typeface="Arial" charset="0"/>
              <a:ea typeface="ＭＳ Ｐゴシック" charset="0"/>
              <a:cs typeface="ＭＳ Ｐゴシック" charset="0"/>
            </a:endParaRPr>
          </a:p>
          <a:p>
            <a:r>
              <a:rPr lang="en-GB" dirty="0">
                <a:latin typeface="Arial" charset="0"/>
                <a:cs typeface="ＭＳ Ｐゴシック" charset="0"/>
              </a:rPr>
              <a:t>Ensemble </a:t>
            </a:r>
            <a:r>
              <a:rPr lang="en-GB" dirty="0" err="1">
                <a:latin typeface="Arial" charset="0"/>
                <a:cs typeface="ＭＳ Ｐゴシック" charset="0"/>
              </a:rPr>
              <a:t>d'erreurs</a:t>
            </a:r>
            <a:r>
              <a:rPr lang="en-GB" dirty="0">
                <a:latin typeface="Arial" charset="0"/>
                <a:cs typeface="ＭＳ Ｐゴシック" charset="0"/>
              </a:rPr>
              <a:t> </a:t>
            </a:r>
            <a:r>
              <a:rPr lang="en-GB" dirty="0">
                <a:latin typeface="Arial" charset="0"/>
                <a:ea typeface="ＭＳ Ｐゴシック" charset="0"/>
                <a:cs typeface="ＭＳ Ｐゴシック" charset="0"/>
              </a:rPr>
              <a:t>!</a:t>
            </a:r>
          </a:p>
          <a:p>
            <a:pPr lvl="1"/>
            <a:r>
              <a:rPr lang="fr-FR" dirty="0">
                <a:latin typeface="Arial" charset="0"/>
              </a:rPr>
              <a:t>Commencez toujours par corriger la première (elles peuvent être dépendantes</a:t>
            </a:r>
            <a:r>
              <a:rPr lang="en-GB" dirty="0">
                <a:latin typeface="Arial" charset="0"/>
                <a:ea typeface="ＭＳ Ｐゴシック" charset="0"/>
              </a:rPr>
              <a:t>)!!</a:t>
            </a:r>
            <a:endParaRPr lang="en-GB" dirty="0">
              <a:latin typeface="Arial" charset="0"/>
              <a:ea typeface="ＭＳ Ｐゴシック" charset="0"/>
              <a:cs typeface="ＭＳ Ｐゴシック" charset="0"/>
            </a:endParaRPr>
          </a:p>
          <a:p>
            <a:endParaRPr lang="en-GB" dirty="0">
              <a:latin typeface="Arial" charset="0"/>
              <a:ea typeface="ＭＳ Ｐゴシック" charset="0"/>
              <a:cs typeface="ＭＳ Ｐゴシック" charset="0"/>
            </a:endParaRPr>
          </a:p>
          <a:p>
            <a:endParaRPr lang="en-GB" dirty="0">
              <a:latin typeface="Arial" charset="0"/>
              <a:ea typeface="ＭＳ Ｐゴシック" charset="0"/>
              <a:cs typeface="ＭＳ Ｐゴシック" charset="0"/>
            </a:endParaRPr>
          </a:p>
          <a:p>
            <a:endParaRPr lang="en-GB" dirty="0">
              <a:latin typeface="Arial" charset="0"/>
              <a:ea typeface="ＭＳ Ｐゴシック" charset="0"/>
              <a:cs typeface="ＭＳ Ｐゴシック" charset="0"/>
            </a:endParaRPr>
          </a:p>
          <a:p>
            <a:pPr lvl="1"/>
            <a:endParaRPr lang="en-GB" dirty="0">
              <a:latin typeface="Arial" charset="0"/>
              <a:ea typeface="ＭＳ Ｐゴシック" charset="0"/>
            </a:endParaRPr>
          </a:p>
          <a:p>
            <a:pPr lvl="1"/>
            <a:endParaRPr lang="en-GB" dirty="0">
              <a:latin typeface="Arial" charset="0"/>
              <a:ea typeface="ＭＳ Ｐゴシック" charset="0"/>
            </a:endParaRPr>
          </a:p>
        </p:txBody>
      </p:sp>
      <p:pic>
        <p:nvPicPr>
          <p:cNvPr id="67588" name="Image 4" descr="Capture d’écran 2014-08-25 à 15.21.16.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508" y="1700808"/>
            <a:ext cx="8784976" cy="961319"/>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40</a:t>
            </a:fld>
            <a:endParaRPr lang="fr-FR" sz="1400">
              <a:solidFill>
                <a:srgbClr val="000208"/>
              </a:solidFill>
              <a:latin typeface="Times New Roman" charset="0"/>
            </a:endParaRPr>
          </a:p>
        </p:txBody>
      </p:sp>
      <p:pic>
        <p:nvPicPr>
          <p:cNvPr id="67589" name="Image 5" descr="Capture d’écran 2014-08-25 à 15.21.50.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508" y="4145373"/>
            <a:ext cx="8748972" cy="241597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2" name="Espace réservé du pied de page 1">
            <a:extLst>
              <a:ext uri="{FF2B5EF4-FFF2-40B4-BE49-F238E27FC236}">
                <a16:creationId xmlns:a16="http://schemas.microsoft.com/office/drawing/2014/main" id="{433B8204-9C9A-9482-C842-76173D0762D2}"/>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29866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re 1"/>
          <p:cNvSpPr>
            <a:spLocks noGrp="1"/>
          </p:cNvSpPr>
          <p:nvPr>
            <p:ph type="title"/>
          </p:nvPr>
        </p:nvSpPr>
        <p:spPr/>
        <p:txBody>
          <a:bodyPr/>
          <a:lstStyle/>
          <a:p>
            <a:r>
              <a:rPr lang="en-GB" sz="2800" dirty="0" err="1">
                <a:latin typeface="Arial" charset="0"/>
                <a:cs typeface="ＭＳ Ｐゴシック" charset="0"/>
              </a:rPr>
              <a:t>Débogage</a:t>
            </a:r>
            <a:endParaRPr lang="en-GB" sz="2800" dirty="0">
              <a:latin typeface="Arial" charset="0"/>
              <a:cs typeface="ＭＳ Ｐゴシック" charset="0"/>
            </a:endParaRPr>
          </a:p>
        </p:txBody>
      </p:sp>
      <p:sp>
        <p:nvSpPr>
          <p:cNvPr id="132098" name="Espace réservé du contenu 2"/>
          <p:cNvSpPr>
            <a:spLocks noGrp="1"/>
          </p:cNvSpPr>
          <p:nvPr>
            <p:ph idx="1"/>
          </p:nvPr>
        </p:nvSpPr>
        <p:spPr>
          <a:xfrm>
            <a:off x="367725" y="1088740"/>
            <a:ext cx="8308731" cy="5004556"/>
          </a:xfrm>
        </p:spPr>
        <p:txBody>
          <a:bodyPr/>
          <a:lstStyle/>
          <a:p>
            <a:r>
              <a:rPr lang="fr-FR" dirty="0">
                <a:latin typeface="Arial" charset="0"/>
                <a:cs typeface="ＭＳ Ｐゴシック" charset="0"/>
              </a:rPr>
              <a:t>Bogues courants</a:t>
            </a:r>
          </a:p>
          <a:p>
            <a:pPr lvl="1"/>
            <a:r>
              <a:rPr lang="fr-FR" dirty="0">
                <a:latin typeface="Arial" charset="0"/>
              </a:rPr>
              <a:t>Boucles infinies</a:t>
            </a:r>
          </a:p>
          <a:p>
            <a:pPr lvl="1"/>
            <a:r>
              <a:rPr lang="fr-FR" dirty="0">
                <a:latin typeface="Arial" charset="0"/>
              </a:rPr>
              <a:t>Limites de boucle</a:t>
            </a:r>
          </a:p>
          <a:p>
            <a:pPr lvl="1"/>
            <a:r>
              <a:rPr lang="fr-FR" dirty="0">
                <a:latin typeface="Arial" charset="0"/>
              </a:rPr>
              <a:t>Variables non initialisées</a:t>
            </a:r>
          </a:p>
          <a:p>
            <a:pPr lvl="1"/>
            <a:r>
              <a:rPr lang="fr-FR" dirty="0">
                <a:latin typeface="Arial" charset="0"/>
              </a:rPr>
              <a:t>Violations de segmentation</a:t>
            </a:r>
          </a:p>
          <a:p>
            <a:pPr lvl="1"/>
            <a:r>
              <a:rPr lang="fr-FR" dirty="0">
                <a:latin typeface="Arial" charset="0"/>
              </a:rPr>
              <a:t>Erreurs algorithmiques</a:t>
            </a:r>
            <a:endParaRPr lang="en-GB" dirty="0">
              <a:latin typeface="Arial" charset="0"/>
            </a:endParaRPr>
          </a:p>
          <a:p>
            <a:pPr lvl="1"/>
            <a:r>
              <a:rPr lang="en-GB" dirty="0">
                <a:latin typeface="Arial" charset="0"/>
              </a:rPr>
              <a:t>Usual bugs</a:t>
            </a:r>
          </a:p>
          <a:p>
            <a:pPr lvl="1"/>
            <a:r>
              <a:rPr lang="en-GB" dirty="0">
                <a:latin typeface="Arial" charset="0"/>
              </a:rPr>
              <a:t>…</a:t>
            </a:r>
            <a:endParaRPr lang="en-GB" dirty="0">
              <a:latin typeface="Arial" charset="0"/>
              <a:cs typeface="ＭＳ Ｐゴシック" charset="0"/>
            </a:endParaRPr>
          </a:p>
          <a:p>
            <a:r>
              <a:rPr lang="fr-FR" dirty="0">
                <a:latin typeface="Arial" charset="0"/>
                <a:cs typeface="ＭＳ Ｐゴシック" charset="0"/>
              </a:rPr>
              <a:t>Outils pour soutenir la correction du code</a:t>
            </a:r>
          </a:p>
          <a:p>
            <a:pPr lvl="1"/>
            <a:r>
              <a:rPr lang="fr-FR" dirty="0">
                <a:latin typeface="Arial" charset="0"/>
              </a:rPr>
              <a:t>Le débogueur est un logiciel qui aide le développeur dans l'analyse des bugs d'un programme</a:t>
            </a:r>
          </a:p>
          <a:p>
            <a:pPr lvl="1"/>
            <a:r>
              <a:rPr lang="fr-FR" dirty="0">
                <a:latin typeface="Arial" charset="0"/>
              </a:rPr>
              <a:t>Exemples : GDB, </a:t>
            </a:r>
            <a:r>
              <a:rPr lang="fr-FR" dirty="0" err="1">
                <a:latin typeface="Arial" charset="0"/>
              </a:rPr>
              <a:t>valgrind</a:t>
            </a:r>
            <a:r>
              <a:rPr lang="fr-FR" dirty="0">
                <a:latin typeface="Arial" charset="0"/>
              </a:rPr>
              <a:t> …"</a:t>
            </a:r>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41</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dirty="0"/>
              <a:t>L3Info – C/Unix</a:t>
            </a:r>
          </a:p>
        </p:txBody>
      </p:sp>
    </p:spTree>
    <p:extLst>
      <p:ext uri="{BB962C8B-B14F-4D97-AF65-F5344CB8AC3E}">
        <p14:creationId xmlns:p14="http://schemas.microsoft.com/office/powerpoint/2010/main" val="169458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re 1"/>
          <p:cNvSpPr>
            <a:spLocks noGrp="1"/>
          </p:cNvSpPr>
          <p:nvPr>
            <p:ph type="title"/>
          </p:nvPr>
        </p:nvSpPr>
        <p:spPr/>
        <p:txBody>
          <a:bodyPr/>
          <a:lstStyle/>
          <a:p>
            <a:r>
              <a:rPr lang="fr-FR" sz="2800" dirty="0">
                <a:latin typeface="Arial" charset="0"/>
                <a:cs typeface="ＭＳ Ｐゴシック" charset="0"/>
              </a:rPr>
              <a:t>L’outil</a:t>
            </a:r>
            <a:r>
              <a:rPr lang="fr-FR" sz="2800" dirty="0">
                <a:latin typeface="Arial" charset="0"/>
                <a:ea typeface="ＭＳ Ｐゴシック" charset="0"/>
                <a:cs typeface="ＭＳ Ｐゴシック" charset="0"/>
              </a:rPr>
              <a:t> </a:t>
            </a:r>
            <a:r>
              <a:rPr lang="fr-FR" sz="2800" dirty="0">
                <a:latin typeface="Courier New"/>
                <a:ea typeface="ＭＳ Ｐゴシック" charset="0"/>
                <a:cs typeface="Courier New"/>
              </a:rPr>
              <a:t>GDB</a:t>
            </a:r>
          </a:p>
        </p:txBody>
      </p:sp>
      <p:sp>
        <p:nvSpPr>
          <p:cNvPr id="134146" name="Espace réservé du contenu 2"/>
          <p:cNvSpPr>
            <a:spLocks noGrp="1"/>
          </p:cNvSpPr>
          <p:nvPr>
            <p:ph idx="1"/>
          </p:nvPr>
        </p:nvSpPr>
        <p:spPr>
          <a:xfrm>
            <a:off x="359532" y="1124744"/>
            <a:ext cx="8172450" cy="4537075"/>
          </a:xfrm>
        </p:spPr>
        <p:txBody>
          <a:bodyPr/>
          <a:lstStyle/>
          <a:p>
            <a:r>
              <a:rPr lang="fr-FR" dirty="0">
                <a:latin typeface="Arial" charset="0"/>
                <a:cs typeface="ＭＳ Ｐゴシック" charset="0"/>
              </a:rPr>
              <a:t>Avec le GDB, nous pouvons :</a:t>
            </a:r>
          </a:p>
          <a:p>
            <a:pPr lvl="1"/>
            <a:r>
              <a:rPr lang="fr-FR" dirty="0">
                <a:latin typeface="Arial" charset="0"/>
              </a:rPr>
              <a:t>Démarrer l'exécution du programme</a:t>
            </a:r>
          </a:p>
          <a:p>
            <a:pPr lvl="1"/>
            <a:r>
              <a:rPr lang="fr-FR" dirty="0">
                <a:latin typeface="Arial" charset="0"/>
              </a:rPr>
              <a:t>Arrêter l'exécution du programme en fonction de certaines conditions</a:t>
            </a:r>
          </a:p>
          <a:p>
            <a:pPr lvl="1"/>
            <a:r>
              <a:rPr lang="fr-FR" dirty="0">
                <a:latin typeface="Arial" charset="0"/>
              </a:rPr>
              <a:t>Examiner ce qui s'est passé lorsque le programme s'est arrêté</a:t>
            </a:r>
          </a:p>
          <a:p>
            <a:pPr lvl="1"/>
            <a:r>
              <a:rPr lang="fr-FR" dirty="0">
                <a:latin typeface="Arial" charset="0"/>
              </a:rPr>
              <a:t>Exécuter le programme pas à pas</a:t>
            </a:r>
          </a:p>
          <a:p>
            <a:pPr lvl="1"/>
            <a:r>
              <a:rPr lang="fr-FR" dirty="0">
                <a:latin typeface="Arial" charset="0"/>
              </a:rPr>
              <a:t>Effectuer des modifications </a:t>
            </a:r>
            <a:r>
              <a:rPr lang="fr-FR" dirty="0">
                <a:latin typeface="Arial" charset="0"/>
                <a:cs typeface="ＭＳ Ｐゴシック" charset="0"/>
              </a:rPr>
              <a:t>pendant l'exécution du programme</a:t>
            </a:r>
          </a:p>
          <a:p>
            <a:r>
              <a:rPr lang="fr-FR" dirty="0">
                <a:latin typeface="Arial" charset="0"/>
                <a:cs typeface="ＭＳ Ｐゴシック" charset="0"/>
              </a:rPr>
              <a:t>Utilisation : Établir le lien entre le programme et le débogueur</a:t>
            </a:r>
          </a:p>
          <a:p>
            <a:pPr lvl="1"/>
            <a:r>
              <a:rPr lang="fr-FR" dirty="0">
                <a:latin typeface="Arial" charset="0"/>
              </a:rPr>
              <a:t>Ajouter les informations de débogage lors de la compilation</a:t>
            </a:r>
          </a:p>
          <a:p>
            <a:pPr lvl="2"/>
            <a:r>
              <a:rPr lang="en-GB" dirty="0">
                <a:latin typeface="Arial" charset="0"/>
              </a:rPr>
              <a:t>Option </a:t>
            </a:r>
            <a:r>
              <a:rPr lang="en-GB" b="1" dirty="0">
                <a:solidFill>
                  <a:srgbClr val="000000"/>
                </a:solidFill>
                <a:latin typeface="Courier New"/>
                <a:cs typeface="Courier New"/>
              </a:rPr>
              <a:t>–g</a:t>
            </a:r>
            <a:r>
              <a:rPr lang="en-GB" dirty="0">
                <a:latin typeface="Arial" charset="0"/>
              </a:rPr>
              <a:t> et </a:t>
            </a:r>
            <a:r>
              <a:rPr lang="en-GB" b="1" dirty="0">
                <a:latin typeface="Courier New"/>
                <a:cs typeface="Courier New"/>
              </a:rPr>
              <a:t>-</a:t>
            </a:r>
            <a:r>
              <a:rPr lang="en-GB" b="1" dirty="0" err="1">
                <a:latin typeface="Courier New"/>
                <a:cs typeface="Courier New"/>
              </a:rPr>
              <a:t>ggdb</a:t>
            </a:r>
            <a:endParaRPr lang="en-GB" b="1" dirty="0">
              <a:latin typeface="Courier New"/>
              <a:cs typeface="Courier New"/>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6364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41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re 1"/>
          <p:cNvSpPr>
            <a:spLocks noGrp="1"/>
          </p:cNvSpPr>
          <p:nvPr>
            <p:ph type="title"/>
          </p:nvPr>
        </p:nvSpPr>
        <p:spPr/>
        <p:txBody>
          <a:bodyPr/>
          <a:lstStyle/>
          <a:p>
            <a:r>
              <a:rPr lang="fr-FR" sz="2800" dirty="0">
                <a:latin typeface="Arial" charset="0"/>
                <a:ea typeface="ＭＳ Ｐゴシック" charset="0"/>
                <a:cs typeface="ＭＳ Ｐゴシック" charset="0"/>
              </a:rPr>
              <a:t>L’outil </a:t>
            </a:r>
            <a:r>
              <a:rPr lang="fr-FR" sz="2800" dirty="0">
                <a:latin typeface="Courier New"/>
                <a:ea typeface="ＭＳ Ｐゴシック" charset="0"/>
                <a:cs typeface="Courier New"/>
              </a:rPr>
              <a:t>GDB </a:t>
            </a:r>
            <a:r>
              <a:rPr lang="fr-FR" sz="2800" dirty="0">
                <a:latin typeface="Arial" charset="0"/>
                <a:ea typeface="ＭＳ Ｐゴシック" charset="0"/>
                <a:cs typeface="ＭＳ Ｐゴシック" charset="0"/>
              </a:rPr>
              <a:t>: Commandes</a:t>
            </a:r>
          </a:p>
        </p:txBody>
      </p:sp>
      <p:sp>
        <p:nvSpPr>
          <p:cNvPr id="135170" name="Espace réservé du contenu 2"/>
          <p:cNvSpPr>
            <a:spLocks noGrp="1"/>
          </p:cNvSpPr>
          <p:nvPr>
            <p:ph idx="1"/>
          </p:nvPr>
        </p:nvSpPr>
        <p:spPr>
          <a:xfrm>
            <a:off x="467544" y="1196752"/>
            <a:ext cx="7562850" cy="4860540"/>
          </a:xfrm>
        </p:spPr>
        <p:txBody>
          <a:bodyPr/>
          <a:lstStyle/>
          <a:p>
            <a:r>
              <a:rPr lang="fr-FR" dirty="0">
                <a:latin typeface="Arial" charset="0"/>
                <a:ea typeface="ＭＳ Ｐゴシック" charset="0"/>
                <a:cs typeface="ＭＳ Ｐゴシック" charset="0"/>
              </a:rPr>
              <a:t>Démarrer l'exécution : run</a:t>
            </a:r>
          </a:p>
          <a:p>
            <a:r>
              <a:rPr lang="fr-FR" dirty="0">
                <a:latin typeface="Arial" charset="0"/>
                <a:ea typeface="ＭＳ Ｐゴシック" charset="0"/>
                <a:cs typeface="ＭＳ Ｐゴシック" charset="0"/>
              </a:rPr>
              <a:t>Afficher la pile des appels : </a:t>
            </a:r>
            <a:r>
              <a:rPr lang="fr-FR" dirty="0" err="1">
                <a:latin typeface="Arial" charset="0"/>
                <a:ea typeface="ＭＳ Ｐゴシック" charset="0"/>
                <a:cs typeface="ＭＳ Ｐゴシック" charset="0"/>
              </a:rPr>
              <a:t>backtrace</a:t>
            </a:r>
            <a:endParaRPr lang="fr-FR" dirty="0">
              <a:latin typeface="Arial" charset="0"/>
              <a:ea typeface="ＭＳ Ｐゴシック" charset="0"/>
              <a:cs typeface="ＭＳ Ｐゴシック" charset="0"/>
            </a:endParaRPr>
          </a:p>
          <a:p>
            <a:r>
              <a:rPr lang="fr-FR" dirty="0">
                <a:latin typeface="Arial" charset="0"/>
                <a:ea typeface="ＭＳ Ｐゴシック" charset="0"/>
                <a:cs typeface="ＭＳ Ｐゴシック" charset="0"/>
              </a:rPr>
              <a:t>Point d'arrêt : break (aide </a:t>
            </a:r>
            <a:r>
              <a:rPr lang="fr-FR" dirty="0" err="1">
                <a:latin typeface="Arial" charset="0"/>
                <a:ea typeface="ＭＳ Ｐゴシック" charset="0"/>
                <a:cs typeface="ＭＳ Ｐゴシック" charset="0"/>
              </a:rPr>
              <a:t>breakpoints</a:t>
            </a:r>
            <a:r>
              <a:rPr lang="fr-FR" dirty="0">
                <a:latin typeface="Arial" charset="0"/>
                <a:ea typeface="ＭＳ Ｐゴシック" charset="0"/>
                <a:cs typeface="ＭＳ Ｐゴシック" charset="0"/>
              </a:rPr>
              <a:t>)</a:t>
            </a:r>
          </a:p>
          <a:p>
            <a:r>
              <a:rPr lang="fr-FR" dirty="0">
                <a:latin typeface="Arial" charset="0"/>
                <a:ea typeface="ＭＳ Ｐゴシック" charset="0"/>
                <a:cs typeface="ＭＳ Ｐゴシック" charset="0"/>
              </a:rPr>
              <a:t>Continuer l'exécution : </a:t>
            </a:r>
            <a:r>
              <a:rPr lang="fr-FR" b="1" dirty="0" err="1">
                <a:latin typeface="Arial" charset="0"/>
                <a:ea typeface="ＭＳ Ｐゴシック" charset="0"/>
                <a:cs typeface="ＭＳ Ｐゴシック" charset="0"/>
              </a:rPr>
              <a:t>cont</a:t>
            </a:r>
            <a:endParaRPr lang="fr-FR" b="1" dirty="0">
              <a:latin typeface="Arial" charset="0"/>
              <a:ea typeface="ＭＳ Ｐゴシック" charset="0"/>
              <a:cs typeface="ＭＳ Ｐゴシック" charset="0"/>
            </a:endParaRPr>
          </a:p>
          <a:p>
            <a:r>
              <a:rPr lang="fr-FR" dirty="0">
                <a:latin typeface="Arial" charset="0"/>
                <a:ea typeface="ＭＳ Ｐゴシック" charset="0"/>
                <a:cs typeface="ＭＳ Ｐゴシック" charset="0"/>
              </a:rPr>
              <a:t>Exécuter une instruction : </a:t>
            </a:r>
            <a:r>
              <a:rPr lang="fr-FR" b="1" dirty="0" err="1">
                <a:latin typeface="Arial" charset="0"/>
                <a:ea typeface="ＭＳ Ｐゴシック" charset="0"/>
                <a:cs typeface="ＭＳ Ｐゴシック" charset="0"/>
              </a:rPr>
              <a:t>step</a:t>
            </a:r>
            <a:endParaRPr lang="fr-FR" b="1" dirty="0">
              <a:latin typeface="Arial" charset="0"/>
              <a:ea typeface="ＭＳ Ｐゴシック" charset="0"/>
              <a:cs typeface="ＭＳ Ｐゴシック" charset="0"/>
            </a:endParaRPr>
          </a:p>
          <a:p>
            <a:r>
              <a:rPr lang="fr-FR" dirty="0">
                <a:latin typeface="Arial" charset="0"/>
                <a:ea typeface="ＭＳ Ｐゴシック" charset="0"/>
                <a:cs typeface="ＭＳ Ｐゴシック" charset="0"/>
              </a:rPr>
              <a:t>Afficher les variables</a:t>
            </a:r>
          </a:p>
          <a:p>
            <a:pPr lvl="1"/>
            <a:r>
              <a:rPr lang="fr-FR" dirty="0">
                <a:latin typeface="Arial" charset="0"/>
              </a:rPr>
              <a:t>Afficher </a:t>
            </a:r>
            <a:r>
              <a:rPr lang="fr-FR" dirty="0" err="1">
                <a:latin typeface="Arial" charset="0"/>
              </a:rPr>
              <a:t>nom_variable</a:t>
            </a:r>
            <a:endParaRPr lang="fr-FR" dirty="0">
              <a:latin typeface="Arial" charset="0"/>
            </a:endParaRPr>
          </a:p>
          <a:p>
            <a:pPr lvl="1"/>
            <a:r>
              <a:rPr lang="fr-FR" dirty="0" err="1">
                <a:latin typeface="Arial" charset="0"/>
              </a:rPr>
              <a:t>watch</a:t>
            </a:r>
            <a:r>
              <a:rPr lang="fr-FR" dirty="0">
                <a:latin typeface="Arial" charset="0"/>
              </a:rPr>
              <a:t> </a:t>
            </a:r>
            <a:r>
              <a:rPr lang="fr-FR" dirty="0" err="1">
                <a:latin typeface="Arial" charset="0"/>
              </a:rPr>
              <a:t>nom_variable</a:t>
            </a:r>
            <a:r>
              <a:rPr lang="fr-FR" dirty="0">
                <a:latin typeface="Arial" charset="0"/>
              </a:rPr>
              <a:t> (permet de surveiller)</a:t>
            </a:r>
          </a:p>
          <a:p>
            <a:pPr lvl="1"/>
            <a:r>
              <a:rPr lang="fr-FR" dirty="0">
                <a:latin typeface="Arial" charset="0"/>
              </a:rPr>
              <a:t>info </a:t>
            </a:r>
            <a:r>
              <a:rPr lang="fr-FR" dirty="0" err="1">
                <a:latin typeface="Arial" charset="0"/>
              </a:rPr>
              <a:t>locals</a:t>
            </a:r>
            <a:r>
              <a:rPr lang="fr-FR" dirty="0">
                <a:latin typeface="Arial" charset="0"/>
              </a:rPr>
              <a:t> (variables locales)</a:t>
            </a:r>
          </a:p>
          <a:p>
            <a:r>
              <a:rPr lang="fr-FR" dirty="0">
                <a:latin typeface="Arial" charset="0"/>
                <a:ea typeface="ＭＳ Ｐゴシック" charset="0"/>
                <a:cs typeface="ＭＳ Ｐゴシック" charset="0"/>
              </a:rPr>
              <a:t>…</a:t>
            </a:r>
          </a:p>
          <a:p>
            <a:r>
              <a:rPr lang="fr-FR" dirty="0">
                <a:latin typeface="Arial" charset="0"/>
                <a:ea typeface="ＭＳ Ｐゴシック" charset="0"/>
                <a:cs typeface="ＭＳ Ｐゴシック" charset="0"/>
              </a:rPr>
              <a:t>Feuille de référence rapide GDB !!!"</a:t>
            </a:r>
            <a:endParaRPr lang="en-GB"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43</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062187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re 1"/>
          <p:cNvSpPr>
            <a:spLocks noGrp="1"/>
          </p:cNvSpPr>
          <p:nvPr>
            <p:ph type="title"/>
          </p:nvPr>
        </p:nvSpPr>
        <p:spPr/>
        <p:txBody>
          <a:bodyPr/>
          <a:lstStyle/>
          <a:p>
            <a:r>
              <a:rPr lang="fr-FR" sz="2800" dirty="0">
                <a:latin typeface="Arial" charset="0"/>
                <a:cs typeface="ＭＳ Ｐゴシック" charset="0"/>
              </a:rPr>
              <a:t>L’outil</a:t>
            </a:r>
            <a:r>
              <a:rPr lang="fr-FR" sz="2800" dirty="0">
                <a:latin typeface="Arial" charset="0"/>
                <a:ea typeface="ＭＳ Ｐゴシック" charset="0"/>
                <a:cs typeface="ＭＳ Ｐゴシック" charset="0"/>
              </a:rPr>
              <a:t> </a:t>
            </a:r>
            <a:r>
              <a:rPr lang="fr-FR" sz="2800" dirty="0" err="1">
                <a:latin typeface="Courier New"/>
                <a:ea typeface="ＭＳ Ｐゴシック" charset="0"/>
                <a:cs typeface="Courier New"/>
              </a:rPr>
              <a:t>Valgrind</a:t>
            </a:r>
            <a:endParaRPr lang="fr-FR" sz="2800" dirty="0">
              <a:latin typeface="Courier New"/>
              <a:ea typeface="ＭＳ Ｐゴシック" charset="0"/>
              <a:cs typeface="Courier New"/>
            </a:endParaRPr>
          </a:p>
        </p:txBody>
      </p:sp>
      <p:sp>
        <p:nvSpPr>
          <p:cNvPr id="136194" name="Espace réservé du contenu 2"/>
          <p:cNvSpPr>
            <a:spLocks noGrp="1"/>
          </p:cNvSpPr>
          <p:nvPr>
            <p:ph idx="1"/>
          </p:nvPr>
        </p:nvSpPr>
        <p:spPr>
          <a:xfrm>
            <a:off x="359532" y="822920"/>
            <a:ext cx="8261350" cy="5486400"/>
          </a:xfrm>
        </p:spPr>
        <p:txBody>
          <a:bodyPr/>
          <a:lstStyle/>
          <a:p>
            <a:r>
              <a:rPr lang="fr-FR" dirty="0">
                <a:latin typeface="Arial" charset="0"/>
                <a:ea typeface="ＭＳ Ｐゴシック" charset="0"/>
                <a:cs typeface="ＭＳ Ｐゴシック" charset="0"/>
              </a:rPr>
              <a:t>Avec </a:t>
            </a:r>
            <a:r>
              <a:rPr lang="fr-FR" dirty="0" err="1">
                <a:latin typeface="Arial" charset="0"/>
                <a:ea typeface="ＭＳ Ｐゴシック" charset="0"/>
                <a:cs typeface="ＭＳ Ｐゴシック" charset="0"/>
              </a:rPr>
              <a:t>Valgrind</a:t>
            </a:r>
            <a:r>
              <a:rPr lang="fr-FR" dirty="0">
                <a:latin typeface="Arial" charset="0"/>
                <a:ea typeface="ＭＳ Ｐゴシック" charset="0"/>
                <a:cs typeface="ＭＳ Ｐゴシック" charset="0"/>
              </a:rPr>
              <a:t>, nous pouvons identifier les fuites de mémoire.</a:t>
            </a:r>
          </a:p>
          <a:p>
            <a:pPr lvl="1"/>
            <a:r>
              <a:rPr lang="fr-FR" dirty="0">
                <a:latin typeface="Arial" charset="0"/>
              </a:rPr>
              <a:t>Exemple d'une fuite de mémoire.</a:t>
            </a:r>
          </a:p>
          <a:p>
            <a:pPr marL="0" indent="0">
              <a:buNone/>
            </a:pPr>
            <a:endParaRPr lang="fr-FR" b="1" dirty="0">
              <a:latin typeface="Arial" charset="0"/>
              <a:ea typeface="ＭＳ Ｐゴシック" charset="0"/>
              <a:cs typeface="ＭＳ Ｐゴシック" charset="0"/>
            </a:endParaRPr>
          </a:p>
          <a:p>
            <a:endParaRPr lang="fr-FR" b="1" dirty="0">
              <a:latin typeface="Arial" charset="0"/>
              <a:ea typeface="ＭＳ Ｐゴシック" charset="0"/>
              <a:cs typeface="ＭＳ Ｐゴシック" charset="0"/>
            </a:endParaRPr>
          </a:p>
          <a:p>
            <a:endParaRPr lang="fr-FR" b="1" dirty="0">
              <a:latin typeface="Arial" charset="0"/>
              <a:ea typeface="ＭＳ Ｐゴシック" charset="0"/>
              <a:cs typeface="ＭＳ Ｐゴシック" charset="0"/>
            </a:endParaRPr>
          </a:p>
          <a:p>
            <a:endParaRPr lang="fr-FR" b="1" dirty="0">
              <a:latin typeface="Arial" charset="0"/>
              <a:cs typeface="ＭＳ Ｐゴシック" charset="0"/>
            </a:endParaRPr>
          </a:p>
          <a:p>
            <a:endParaRPr lang="fr-FR" b="1" dirty="0">
              <a:latin typeface="Arial" charset="0"/>
              <a:ea typeface="ＭＳ Ｐゴシック" charset="0"/>
              <a:cs typeface="ＭＳ Ｐゴシック" charset="0"/>
            </a:endParaRPr>
          </a:p>
          <a:p>
            <a:endParaRPr lang="fr-FR" b="1" dirty="0">
              <a:latin typeface="Arial" charset="0"/>
              <a:ea typeface="ＭＳ Ｐゴシック" charset="0"/>
              <a:cs typeface="ＭＳ Ｐゴシック" charset="0"/>
            </a:endParaRPr>
          </a:p>
          <a:p>
            <a:endParaRPr lang="fr-FR" b="1" dirty="0">
              <a:latin typeface="Arial" charset="0"/>
              <a:ea typeface="ＭＳ Ｐゴシック" charset="0"/>
              <a:cs typeface="ＭＳ Ｐゴシック" charset="0"/>
            </a:endParaRPr>
          </a:p>
          <a:p>
            <a:endParaRPr lang="fr-FR" b="1" dirty="0">
              <a:latin typeface="Arial" charset="0"/>
              <a:ea typeface="ＭＳ Ｐゴシック" charset="0"/>
              <a:cs typeface="ＭＳ Ｐゴシック" charset="0"/>
            </a:endParaRPr>
          </a:p>
          <a:p>
            <a:r>
              <a:rPr lang="fr-FR" dirty="0">
                <a:latin typeface="Arial" charset="0"/>
                <a:ea typeface="ＭＳ Ｐゴシック" charset="0"/>
                <a:cs typeface="ＭＳ Ｐゴシック" charset="0"/>
              </a:rPr>
              <a:t>Utilisation :</a:t>
            </a:r>
            <a:br>
              <a:rPr lang="fr-FR" dirty="0">
                <a:latin typeface="Arial" charset="0"/>
                <a:ea typeface="ＭＳ Ｐゴシック" charset="0"/>
                <a:cs typeface="ＭＳ Ｐゴシック" charset="0"/>
              </a:rPr>
            </a:br>
            <a:r>
              <a:rPr lang="fr-FR" b="1" dirty="0" err="1">
                <a:latin typeface="Courier New"/>
                <a:ea typeface="ＭＳ Ｐゴシック" charset="0"/>
                <a:cs typeface="Courier New"/>
              </a:rPr>
              <a:t>valgrind</a:t>
            </a:r>
            <a:r>
              <a:rPr lang="fr-FR" b="1" dirty="0">
                <a:latin typeface="Courier New"/>
                <a:ea typeface="ＭＳ Ｐゴシック" charset="0"/>
                <a:cs typeface="Courier New"/>
              </a:rPr>
              <a:t> --</a:t>
            </a:r>
            <a:r>
              <a:rPr lang="fr-FR" b="1" dirty="0" err="1">
                <a:latin typeface="Courier New"/>
                <a:ea typeface="ＭＳ Ｐゴシック" charset="0"/>
                <a:cs typeface="Courier New"/>
              </a:rPr>
              <a:t>tool</a:t>
            </a:r>
            <a:r>
              <a:rPr lang="fr-FR" b="1" dirty="0">
                <a:latin typeface="Courier New"/>
                <a:ea typeface="ＭＳ Ｐゴシック" charset="0"/>
                <a:cs typeface="Courier New"/>
              </a:rPr>
              <a:t>=</a:t>
            </a:r>
            <a:r>
              <a:rPr lang="fr-FR" b="1" dirty="0" err="1">
                <a:latin typeface="Courier New"/>
                <a:ea typeface="ＭＳ Ｐゴシック" charset="0"/>
                <a:cs typeface="Courier New"/>
              </a:rPr>
              <a:t>memcheck</a:t>
            </a:r>
            <a:r>
              <a:rPr lang="fr-FR" b="1" dirty="0">
                <a:latin typeface="Courier New"/>
                <a:ea typeface="ＭＳ Ｐゴシック" charset="0"/>
                <a:cs typeface="Courier New"/>
              </a:rPr>
              <a:t> ./test</a:t>
            </a:r>
          </a:p>
        </p:txBody>
      </p:sp>
      <p:pic>
        <p:nvPicPr>
          <p:cNvPr id="136196" name="Image 4" descr="Capture d’écran 2014-08-28 à 15.12.2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276872"/>
            <a:ext cx="4370224" cy="309634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44</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048356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45</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a:t>
            </a:r>
            <a:r>
              <a:rPr lang="fr-FR" dirty="0">
                <a:latin typeface="Arial" charset="0"/>
              </a:rPr>
              <a:t> avant d'entrer dans plus de détails sur la syntaxe en C…</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083487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re 1"/>
          <p:cNvSpPr>
            <a:spLocks noGrp="1"/>
          </p:cNvSpPr>
          <p:nvPr>
            <p:ph type="title"/>
          </p:nvPr>
        </p:nvSpPr>
        <p:spPr/>
        <p:txBody>
          <a:bodyPr/>
          <a:lstStyle/>
          <a:p>
            <a:r>
              <a:rPr lang="fr-FR" sz="2800" dirty="0">
                <a:latin typeface="Arial" charset="0"/>
                <a:cs typeface="ＭＳ Ｐゴシック" charset="0"/>
              </a:rPr>
              <a:t>Le style de code est très important !</a:t>
            </a:r>
          </a:p>
        </p:txBody>
      </p:sp>
      <p:sp>
        <p:nvSpPr>
          <p:cNvPr id="5" name="Rectangle 3"/>
          <p:cNvSpPr txBox="1">
            <a:spLocks noChangeArrowheads="1"/>
          </p:cNvSpPr>
          <p:nvPr/>
        </p:nvSpPr>
        <p:spPr bwMode="auto">
          <a:xfrm>
            <a:off x="376554" y="1124744"/>
            <a:ext cx="8390892" cy="48965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cs typeface="ＭＳ Ｐゴシック" charset="0"/>
              </a:rPr>
              <a:t>Comprendre le code écrit par quelqu'un d'autre est une tâche difficile !</a:t>
            </a:r>
          </a:p>
          <a:p>
            <a:r>
              <a:rPr lang="fr-FR" dirty="0">
                <a:latin typeface="Arial" charset="0"/>
                <a:cs typeface="ＭＳ Ｐゴシック" charset="0"/>
              </a:rPr>
              <a:t>Utilisez un langage universel (lisible par tout le monde)</a:t>
            </a:r>
          </a:p>
          <a:p>
            <a:pPr lvl="1"/>
            <a:r>
              <a:rPr lang="fr-FR" dirty="0" err="1">
                <a:latin typeface="Arial" charset="0"/>
                <a:cs typeface="ＭＳ Ｐゴシック" charset="0"/>
              </a:rPr>
              <a:t>Πιστεύω</a:t>
            </a:r>
            <a:r>
              <a:rPr lang="fr-FR" dirty="0">
                <a:latin typeface="Arial" charset="0"/>
                <a:cs typeface="ＭＳ Ｐゴシック" charset="0"/>
              </a:rPr>
              <a:t> </a:t>
            </a:r>
            <a:r>
              <a:rPr lang="fr-FR" dirty="0" err="1">
                <a:latin typeface="Arial" charset="0"/>
                <a:cs typeface="ＭＳ Ｐゴシック" charset="0"/>
              </a:rPr>
              <a:t>ότι</a:t>
            </a:r>
            <a:r>
              <a:rPr lang="fr-FR" dirty="0">
                <a:latin typeface="Arial" charset="0"/>
                <a:cs typeface="ＭＳ Ｐゴシック" charset="0"/>
              </a:rPr>
              <a:t> κα</a:t>
            </a:r>
            <a:r>
              <a:rPr lang="fr-FR" dirty="0" err="1">
                <a:latin typeface="Arial" charset="0"/>
                <a:cs typeface="ＭＳ Ｐゴシック" charset="0"/>
              </a:rPr>
              <a:t>νέν</a:t>
            </a:r>
            <a:r>
              <a:rPr lang="fr-FR" dirty="0">
                <a:latin typeface="Arial" charset="0"/>
                <a:cs typeface="ＭＳ Ｐゴシック" charset="0"/>
              </a:rPr>
              <a:t>ας δεν μπορεί να comprendre cette ligne sans utiliser un traducteur</a:t>
            </a:r>
          </a:p>
          <a:p>
            <a:r>
              <a:rPr lang="fr-FR" dirty="0">
                <a:latin typeface="Arial" charset="0"/>
                <a:cs typeface="ＭＳ Ｐゴシック" charset="0"/>
              </a:rPr>
              <a:t>Définissez un style de code et soyez CONSISTANT</a:t>
            </a:r>
          </a:p>
          <a:p>
            <a:pPr lvl="1"/>
            <a:r>
              <a:rPr lang="fr-FR" dirty="0">
                <a:latin typeface="Arial" charset="0"/>
                <a:cs typeface="ＭＳ Ｐゴシック" charset="0"/>
              </a:rPr>
              <a:t>Commentaires</a:t>
            </a:r>
          </a:p>
          <a:p>
            <a:pPr lvl="1"/>
            <a:r>
              <a:rPr lang="fr-FR" dirty="0">
                <a:latin typeface="Arial" charset="0"/>
                <a:cs typeface="ＭＳ Ｐゴシック" charset="0"/>
              </a:rPr>
              <a:t>Documentation : Programmeurs qui veulent utiliser le code</a:t>
            </a:r>
          </a:p>
          <a:p>
            <a:pPr lvl="1"/>
            <a:r>
              <a:rPr lang="fr-FR" dirty="0">
                <a:latin typeface="Arial" charset="0"/>
                <a:cs typeface="ＭＳ Ｐゴシック" charset="0"/>
              </a:rPr>
              <a:t>Implémentation : Programmeurs qui maintiennent le code, c'est-à-dire qu'ils doivent comprendre votre implémentation</a:t>
            </a:r>
          </a:p>
          <a:p>
            <a:r>
              <a:rPr lang="fr-FR" dirty="0">
                <a:latin typeface="Arial" charset="0"/>
                <a:cs typeface="ＭＳ Ｐゴシック" charset="0"/>
              </a:rPr>
              <a:t>Des noms qui signifient quelque chose</a:t>
            </a:r>
          </a:p>
          <a:p>
            <a:pPr lvl="1"/>
            <a:r>
              <a:rPr lang="fr-FR" dirty="0" err="1">
                <a:latin typeface="Arial" charset="0"/>
                <a:cs typeface="ＭＳ Ｐゴシック" charset="0"/>
              </a:rPr>
              <a:t>int</a:t>
            </a:r>
            <a:r>
              <a:rPr lang="fr-FR" dirty="0">
                <a:latin typeface="Arial" charset="0"/>
                <a:cs typeface="ＭＳ Ｐゴシック" charset="0"/>
              </a:rPr>
              <a:t> z vs </a:t>
            </a:r>
            <a:r>
              <a:rPr lang="fr-FR" dirty="0" err="1">
                <a:latin typeface="Arial" charset="0"/>
                <a:cs typeface="ＭＳ Ｐゴシック" charset="0"/>
              </a:rPr>
              <a:t>int</a:t>
            </a:r>
            <a:r>
              <a:rPr lang="fr-FR" dirty="0">
                <a:latin typeface="Arial" charset="0"/>
                <a:cs typeface="ＭＳ Ｐゴシック" charset="0"/>
              </a:rPr>
              <a:t> </a:t>
            </a:r>
            <a:r>
              <a:rPr lang="fr-FR" dirty="0" err="1">
                <a:latin typeface="Arial" charset="0"/>
                <a:cs typeface="ＭＳ Ｐゴシック" charset="0"/>
              </a:rPr>
              <a:t>counter</a:t>
            </a:r>
            <a:endParaRPr lang="en-GB" dirty="0">
              <a:latin typeface="Arial" charset="0"/>
              <a:cs typeface="ＭＳ Ｐゴシック" charset="0"/>
            </a:endParaRPr>
          </a:p>
          <a:p>
            <a:pPr marL="0" indent="0">
              <a:buNone/>
            </a:pPr>
            <a:endParaRPr lang="en-GB" b="1" strike="sngStrike" dirty="0">
              <a:latin typeface="Courier"/>
              <a:cs typeface="Courier"/>
            </a:endParaRP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46</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dirty="0"/>
              <a:t>L3Info – C/Unix</a:t>
            </a:r>
          </a:p>
        </p:txBody>
      </p:sp>
    </p:spTree>
    <p:extLst>
      <p:ext uri="{BB962C8B-B14F-4D97-AF65-F5344CB8AC3E}">
        <p14:creationId xmlns:p14="http://schemas.microsoft.com/office/powerpoint/2010/main" val="1173278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47</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a:xfrm>
            <a:off x="685800" y="1851392"/>
            <a:ext cx="7772400" cy="2583718"/>
          </a:xfrm>
        </p:spPr>
        <p:txBody>
          <a:bodyPr/>
          <a:lstStyle/>
          <a:p>
            <a:r>
              <a:rPr lang="en-GB" dirty="0">
                <a:latin typeface="Arial" charset="0"/>
              </a:rPr>
              <a:t>CM 4: </a:t>
            </a:r>
            <a:br>
              <a:rPr lang="en-GB" dirty="0">
                <a:latin typeface="Arial" charset="0"/>
              </a:rPr>
            </a:br>
            <a:r>
              <a:rPr lang="fr-FR" dirty="0">
                <a:latin typeface="Arial" charset="0"/>
              </a:rPr>
              <a:t>Composants de base du langage C : Types de données primitifs, Bibliothèques et Structures de contrôle</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79295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Instructions &amp; Commentaires</a:t>
            </a:r>
          </a:p>
        </p:txBody>
      </p:sp>
      <p:sp>
        <p:nvSpPr>
          <p:cNvPr id="81922" name="Espace réservé du contenu 2"/>
          <p:cNvSpPr>
            <a:spLocks noGrp="1"/>
          </p:cNvSpPr>
          <p:nvPr>
            <p:ph idx="1"/>
          </p:nvPr>
        </p:nvSpPr>
        <p:spPr>
          <a:xfrm>
            <a:off x="441325" y="944724"/>
            <a:ext cx="8261350" cy="5214900"/>
          </a:xfrm>
        </p:spPr>
        <p:txBody>
          <a:bodyPr/>
          <a:lstStyle/>
          <a:p>
            <a:r>
              <a:rPr lang="fr-FR" dirty="0">
                <a:latin typeface="Arial" charset="0"/>
                <a:cs typeface="ＭＳ Ｐゴシック" charset="0"/>
              </a:rPr>
              <a:t>Une instruction est toute expression se terminant par ;</a:t>
            </a:r>
          </a:p>
          <a:p>
            <a:r>
              <a:rPr lang="fr-FR" dirty="0">
                <a:latin typeface="Arial" charset="0"/>
                <a:cs typeface="ＭＳ Ｐゴシック" charset="0"/>
              </a:rPr>
              <a:t>Bloc d'instructions :</a:t>
            </a:r>
          </a:p>
          <a:p>
            <a:pPr marL="0" indent="0">
              <a:buNone/>
            </a:pPr>
            <a:r>
              <a:rPr lang="fr-FR" dirty="0">
                <a:latin typeface="Arial" charset="0"/>
                <a:cs typeface="ＭＳ Ｐゴシック" charset="0"/>
              </a:rPr>
              <a:t>	{</a:t>
            </a:r>
          </a:p>
          <a:p>
            <a:pPr marL="0" indent="0">
              <a:buNone/>
            </a:pPr>
            <a:r>
              <a:rPr lang="fr-FR" dirty="0">
                <a:latin typeface="Arial" charset="0"/>
                <a:cs typeface="ＭＳ Ｐゴシック" charset="0"/>
              </a:rPr>
              <a:t>		liste d'instructions</a:t>
            </a:r>
          </a:p>
          <a:p>
            <a:pPr marL="0" indent="0">
              <a:buNone/>
            </a:pPr>
            <a:r>
              <a:rPr lang="fr-FR" dirty="0">
                <a:latin typeface="Arial" charset="0"/>
                <a:cs typeface="ＭＳ Ｐゴシック" charset="0"/>
              </a:rPr>
              <a:t>	}</a:t>
            </a:r>
          </a:p>
          <a:p>
            <a:r>
              <a:rPr lang="fr-FR" dirty="0">
                <a:latin typeface="Arial" charset="0"/>
                <a:cs typeface="ＭＳ Ｐゴシック" charset="0"/>
              </a:rPr>
              <a:t>Commentaires</a:t>
            </a:r>
          </a:p>
          <a:p>
            <a:pPr lvl="1"/>
            <a:r>
              <a:rPr lang="fr-FR" dirty="0">
                <a:latin typeface="Arial" charset="0"/>
                <a:cs typeface="ＭＳ Ｐゴシック" charset="0"/>
              </a:rPr>
              <a:t>/* ceci est un commentaire */</a:t>
            </a:r>
          </a:p>
          <a:p>
            <a:pPr lvl="1"/>
            <a:r>
              <a:rPr lang="fr-FR" dirty="0">
                <a:latin typeface="Arial" charset="0"/>
                <a:cs typeface="ＭＳ Ｐゴシック" charset="0"/>
              </a:rPr>
              <a:t>// ceci est un commentaire d'une ligne</a:t>
            </a:r>
          </a:p>
          <a:p>
            <a:r>
              <a:rPr lang="fr-FR" dirty="0">
                <a:latin typeface="Arial" charset="0"/>
                <a:cs typeface="ＭＳ Ｐゴシック" charset="0"/>
              </a:rPr>
              <a:t>Le langage C ne prend pas en charge la désambiguïsation</a:t>
            </a:r>
          </a:p>
          <a:p>
            <a:pPr lvl="1"/>
            <a:r>
              <a:rPr lang="fr-FR" dirty="0">
                <a:latin typeface="Arial" charset="0"/>
                <a:cs typeface="ＭＳ Ｐゴシック" charset="0"/>
              </a:rPr>
              <a:t>Les mots-clés du langage sont réservés et ne peuvent pas être utilisés pour nommer des variables et des fonctions.</a:t>
            </a:r>
            <a:endParaRPr lang="en-GB"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48</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dirty="0"/>
              <a:t>L3Info – C/Unix</a:t>
            </a:r>
          </a:p>
        </p:txBody>
      </p:sp>
    </p:spTree>
    <p:extLst>
      <p:ext uri="{BB962C8B-B14F-4D97-AF65-F5344CB8AC3E}">
        <p14:creationId xmlns:p14="http://schemas.microsoft.com/office/powerpoint/2010/main" val="1236099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Représentation de la valeur</a:t>
            </a:r>
          </a:p>
        </p:txBody>
      </p:sp>
      <p:sp>
        <p:nvSpPr>
          <p:cNvPr id="81922" name="Espace réservé du contenu 2"/>
          <p:cNvSpPr>
            <a:spLocks noGrp="1"/>
          </p:cNvSpPr>
          <p:nvPr>
            <p:ph idx="1"/>
          </p:nvPr>
        </p:nvSpPr>
        <p:spPr>
          <a:xfrm>
            <a:off x="575556" y="1196752"/>
            <a:ext cx="7772400" cy="4824536"/>
          </a:xfrm>
        </p:spPr>
        <p:txBody>
          <a:bodyPr/>
          <a:lstStyle/>
          <a:p>
            <a:pPr algn="l"/>
            <a:r>
              <a:rPr lang="fr-FR" b="0" i="0" dirty="0">
                <a:effectLst/>
                <a:latin typeface="+mj-lt"/>
              </a:rPr>
              <a:t>Les nombres hexadécimaux commencent par 0x : </a:t>
            </a:r>
          </a:p>
          <a:p>
            <a:pPr lvl="1"/>
            <a:r>
              <a:rPr lang="fr-FR" sz="2400" b="1" i="0" dirty="0">
                <a:effectLst/>
                <a:latin typeface="+mj-lt"/>
              </a:rPr>
              <a:t>0x23</a:t>
            </a:r>
            <a:r>
              <a:rPr lang="fr-FR" sz="2400" b="0" i="0" dirty="0">
                <a:effectLst/>
                <a:latin typeface="+mj-lt"/>
              </a:rPr>
              <a:t> est équivalent à </a:t>
            </a:r>
            <a:r>
              <a:rPr lang="en-US" sz="2400" b="1" dirty="0">
                <a:latin typeface="+mj-lt"/>
                <a:cs typeface="Courier"/>
              </a:rPr>
              <a:t>23</a:t>
            </a:r>
            <a:r>
              <a:rPr lang="en-US" sz="2400" b="1" baseline="-25000" dirty="0">
                <a:latin typeface="+mj-lt"/>
                <a:cs typeface="Courier"/>
              </a:rPr>
              <a:t>16</a:t>
            </a:r>
            <a:r>
              <a:rPr lang="fr-FR" sz="2400" b="0" i="0" dirty="0">
                <a:effectLst/>
                <a:latin typeface="+mj-lt"/>
              </a:rPr>
              <a:t> (ce qui est 35 en base 10)</a:t>
            </a:r>
          </a:p>
          <a:p>
            <a:pPr algn="l"/>
            <a:r>
              <a:rPr lang="fr-FR" b="0" i="0" dirty="0">
                <a:effectLst/>
                <a:latin typeface="+mj-lt"/>
              </a:rPr>
              <a:t>Les nombres octaux commencent par 0 : </a:t>
            </a:r>
          </a:p>
          <a:p>
            <a:pPr lvl="1"/>
            <a:r>
              <a:rPr lang="fr-FR" sz="2400" b="1" i="0" dirty="0">
                <a:effectLst/>
                <a:latin typeface="+mj-lt"/>
              </a:rPr>
              <a:t>023</a:t>
            </a:r>
            <a:r>
              <a:rPr lang="fr-FR" sz="2400" b="0" i="0" dirty="0">
                <a:effectLst/>
                <a:latin typeface="+mj-lt"/>
              </a:rPr>
              <a:t> est équivalent à 238 (ce qui est 19 en base 10)</a:t>
            </a:r>
          </a:p>
          <a:p>
            <a:pPr algn="l"/>
            <a:r>
              <a:rPr lang="fr-FR" b="0" i="0" dirty="0">
                <a:effectLst/>
                <a:latin typeface="+mj-lt"/>
              </a:rPr>
              <a:t>Pas de préfixe pour les nombres décimaux : </a:t>
            </a:r>
          </a:p>
          <a:p>
            <a:pPr lvl="1"/>
            <a:r>
              <a:rPr lang="fr-FR" sz="2400" b="1" i="0" dirty="0">
                <a:effectLst/>
                <a:latin typeface="+mj-lt"/>
              </a:rPr>
              <a:t>23</a:t>
            </a:r>
            <a:r>
              <a:rPr lang="fr-FR" sz="2400" b="0" i="0" dirty="0">
                <a:effectLst/>
                <a:latin typeface="+mj-lt"/>
              </a:rPr>
              <a:t> est équivalent à </a:t>
            </a:r>
            <a:r>
              <a:rPr lang="en-US" sz="2400" b="1" dirty="0">
                <a:latin typeface="+mj-lt"/>
                <a:cs typeface="Courier"/>
              </a:rPr>
              <a:t>23</a:t>
            </a:r>
            <a:r>
              <a:rPr lang="en-US" sz="2400" b="1" baseline="-25000" dirty="0">
                <a:latin typeface="+mj-lt"/>
                <a:cs typeface="Courier"/>
              </a:rPr>
              <a:t>10</a:t>
            </a:r>
            <a:endParaRPr lang="fr-FR" sz="2400" b="1" dirty="0">
              <a:latin typeface="+mj-lt"/>
            </a:endParaRPr>
          </a:p>
          <a:p>
            <a:pPr algn="l"/>
            <a:r>
              <a:rPr lang="fr-FR" b="0" i="0" dirty="0">
                <a:effectLst/>
                <a:latin typeface="+mj-lt"/>
              </a:rPr>
              <a:t>Représentation négative - opérateur </a:t>
            </a:r>
          </a:p>
          <a:p>
            <a:pPr lvl="1"/>
            <a:r>
              <a:rPr lang="fr-FR" sz="2400" b="0" i="0" dirty="0">
                <a:effectLst/>
                <a:latin typeface="+mj-lt"/>
              </a:rPr>
              <a:t>-</a:t>
            </a:r>
            <a:r>
              <a:rPr lang="fr-FR" sz="2400" b="1" i="0" dirty="0">
                <a:effectLst/>
                <a:latin typeface="+mj-lt"/>
              </a:rPr>
              <a:t>0x23</a:t>
            </a:r>
            <a:r>
              <a:rPr lang="fr-FR" sz="2400" b="0" i="0" dirty="0">
                <a:effectLst/>
                <a:latin typeface="+mj-lt"/>
              </a:rPr>
              <a:t> est la négation de </a:t>
            </a:r>
            <a:r>
              <a:rPr lang="fr-FR" sz="2400" b="1" i="0" dirty="0">
                <a:effectLst/>
                <a:latin typeface="+mj-lt"/>
              </a:rPr>
              <a:t>0x23</a:t>
            </a:r>
          </a:p>
          <a:p>
            <a:pPr marL="542925" lvl="1" indent="0">
              <a:buNone/>
            </a:pPr>
            <a:endParaRPr lang="en-US" sz="2400" dirty="0"/>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49</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14366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5" name="Titre 1"/>
          <p:cNvSpPr>
            <a:spLocks noGrp="1"/>
          </p:cNvSpPr>
          <p:nvPr>
            <p:ph type="title"/>
          </p:nvPr>
        </p:nvSpPr>
        <p:spPr/>
        <p:txBody>
          <a:bodyPr/>
          <a:lstStyle/>
          <a:p>
            <a:r>
              <a:rPr lang="en-GB" sz="2800" dirty="0" err="1">
                <a:latin typeface="Arial" charset="0"/>
                <a:cs typeface="ＭＳ Ｐゴシック" charset="0"/>
              </a:rPr>
              <a:t>Définition</a:t>
            </a:r>
            <a:r>
              <a:rPr lang="en-GB" sz="2800" dirty="0">
                <a:latin typeface="Arial" charset="0"/>
                <a:cs typeface="ＭＳ Ｐゴシック" charset="0"/>
              </a:rPr>
              <a:t> </a:t>
            </a:r>
            <a:r>
              <a:rPr lang="en-GB" sz="2800" dirty="0" err="1">
                <a:latin typeface="Arial" charset="0"/>
                <a:cs typeface="ＭＳ Ｐゴシック" charset="0"/>
              </a:rPr>
              <a:t>d'objet</a:t>
            </a:r>
            <a:r>
              <a:rPr lang="en-GB" sz="2800" dirty="0">
                <a:latin typeface="Arial" charset="0"/>
                <a:cs typeface="ＭＳ Ｐゴシック" charset="0"/>
              </a:rPr>
              <a:t> de </a:t>
            </a:r>
            <a:r>
              <a:rPr lang="en-GB" sz="2800" dirty="0" err="1">
                <a:latin typeface="Arial" charset="0"/>
                <a:cs typeface="ＭＳ Ｐゴシック" charset="0"/>
              </a:rPr>
              <a:t>données</a:t>
            </a:r>
            <a:endParaRPr lang="en-GB" sz="2800" dirty="0">
              <a:latin typeface="Arial" charset="0"/>
              <a:cs typeface="ＭＳ Ｐゴシック" charset="0"/>
            </a:endParaRPr>
          </a:p>
        </p:txBody>
      </p:sp>
      <p:sp>
        <p:nvSpPr>
          <p:cNvPr id="72706" name="Espace réservé du contenu 2"/>
          <p:cNvSpPr>
            <a:spLocks noGrp="1"/>
          </p:cNvSpPr>
          <p:nvPr>
            <p:ph idx="1"/>
          </p:nvPr>
        </p:nvSpPr>
        <p:spPr>
          <a:xfrm>
            <a:off x="304800" y="1052736"/>
            <a:ext cx="8335652" cy="4752528"/>
          </a:xfrm>
        </p:spPr>
        <p:txBody>
          <a:bodyPr/>
          <a:lstStyle/>
          <a:p>
            <a:pPr>
              <a:lnSpc>
                <a:spcPct val="150000"/>
              </a:lnSpc>
            </a:pPr>
            <a:r>
              <a:rPr lang="fr-FR" dirty="0">
                <a:latin typeface="Arial" charset="0"/>
                <a:cs typeface="ＭＳ Ｐゴシック" charset="0"/>
              </a:rPr>
              <a:t>Syntaxe :</a:t>
            </a:r>
          </a:p>
          <a:p>
            <a:pPr marL="542925" lvl="1" indent="0">
              <a:lnSpc>
                <a:spcPct val="150000"/>
              </a:lnSpc>
              <a:buNone/>
            </a:pPr>
            <a:r>
              <a:rPr lang="fr-FR" sz="2400" b="1" dirty="0">
                <a:latin typeface="Arial" charset="0"/>
                <a:cs typeface="ＭＳ Ｐゴシック" charset="0"/>
              </a:rPr>
              <a:t>type identifiant ;</a:t>
            </a:r>
            <a:endParaRPr lang="fr-FR" sz="2400" dirty="0">
              <a:latin typeface="Arial" charset="0"/>
              <a:cs typeface="ＭＳ Ｐゴシック" charset="0"/>
            </a:endParaRPr>
          </a:p>
          <a:p>
            <a:pPr>
              <a:lnSpc>
                <a:spcPct val="150000"/>
              </a:lnSpc>
            </a:pPr>
            <a:r>
              <a:rPr lang="fr-FR" dirty="0">
                <a:latin typeface="Arial" charset="0"/>
                <a:cs typeface="ＭＳ Ｐゴシック" charset="0"/>
              </a:rPr>
              <a:t>Fonction :</a:t>
            </a:r>
          </a:p>
          <a:p>
            <a:pPr lvl="1">
              <a:lnSpc>
                <a:spcPct val="150000"/>
              </a:lnSpc>
            </a:pPr>
            <a:r>
              <a:rPr lang="fr-FR" sz="2400" dirty="0">
                <a:latin typeface="Arial" charset="0"/>
                <a:cs typeface="ＭＳ Ｐゴシック" charset="0"/>
              </a:rPr>
              <a:t>Réserve dans la mémoire une partie égale à la taille nécessaire pour stocker un objet de données du type </a:t>
            </a:r>
            <a:r>
              <a:rPr lang="fr-FR" sz="2400" dirty="0" err="1">
                <a:latin typeface="Arial" charset="0"/>
                <a:cs typeface="ＭＳ Ｐゴシック" charset="0"/>
              </a:rPr>
              <a:t>type</a:t>
            </a:r>
            <a:endParaRPr lang="fr-FR" sz="2400" dirty="0">
              <a:latin typeface="Arial" charset="0"/>
              <a:cs typeface="ＭＳ Ｐゴシック" charset="0"/>
            </a:endParaRPr>
          </a:p>
          <a:p>
            <a:pPr lvl="1">
              <a:lnSpc>
                <a:spcPct val="150000"/>
              </a:lnSpc>
            </a:pPr>
            <a:r>
              <a:rPr lang="fr-FR" sz="2400" dirty="0">
                <a:latin typeface="Arial" charset="0"/>
                <a:cs typeface="ＭＳ Ｐゴシック" charset="0"/>
              </a:rPr>
              <a:t>Associe l'adresse de départ de cette partie mémoire avec </a:t>
            </a:r>
            <a:r>
              <a:rPr lang="fr-FR" sz="2400" b="1" dirty="0">
                <a:latin typeface="Arial" charset="0"/>
                <a:cs typeface="ＭＳ Ｐゴシック" charset="0"/>
              </a:rPr>
              <a:t>l'identifiant</a:t>
            </a:r>
            <a:endParaRPr lang="en-US" sz="2400" b="1" dirty="0">
              <a:latin typeface="Arial" charset="0"/>
              <a:cs typeface="ＭＳ Ｐゴシック"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5"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50</a:t>
            </a:fld>
            <a:endParaRPr lang="fr-FR" sz="1400">
              <a:solidFill>
                <a:srgbClr val="000208"/>
              </a:solidFill>
              <a:latin typeface="Times New Roman" charset="0"/>
            </a:endParaRPr>
          </a:p>
        </p:txBody>
      </p:sp>
    </p:spTree>
    <p:extLst>
      <p:ext uri="{BB962C8B-B14F-4D97-AF65-F5344CB8AC3E}">
        <p14:creationId xmlns:p14="http://schemas.microsoft.com/office/powerpoint/2010/main" val="3681496162"/>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a:xfrm>
            <a:off x="35496" y="80628"/>
            <a:ext cx="8909756" cy="533400"/>
          </a:xfrm>
        </p:spPr>
        <p:txBody>
          <a:bodyPr/>
          <a:lstStyle/>
          <a:p>
            <a:r>
              <a:rPr lang="fr-FR" sz="2300" dirty="0">
                <a:latin typeface="Arial" charset="0"/>
                <a:cs typeface="ＭＳ Ｐゴシック" charset="0"/>
              </a:rPr>
              <a:t>Types de données primitifs : Spécificateurs de type</a:t>
            </a:r>
            <a:endParaRPr lang="fr-FR" sz="2300" dirty="0">
              <a:latin typeface="Arial" charset="0"/>
              <a:ea typeface="ＭＳ Ｐゴシック" charset="0"/>
              <a:cs typeface="ＭＳ Ｐゴシック" charset="0"/>
            </a:endParaRPr>
          </a:p>
        </p:txBody>
      </p:sp>
      <p:sp>
        <p:nvSpPr>
          <p:cNvPr id="70658" name="Espace réservé du contenu 2"/>
          <p:cNvSpPr>
            <a:spLocks noGrp="1"/>
          </p:cNvSpPr>
          <p:nvPr>
            <p:ph idx="1"/>
          </p:nvPr>
        </p:nvSpPr>
        <p:spPr>
          <a:xfrm>
            <a:off x="383445" y="994539"/>
            <a:ext cx="8172654" cy="5400675"/>
          </a:xfrm>
        </p:spPr>
        <p:txBody>
          <a:bodyPr/>
          <a:lstStyle/>
          <a:p>
            <a:r>
              <a:rPr lang="fr-FR" dirty="0"/>
              <a:t>Identique à JAVA : </a:t>
            </a:r>
          </a:p>
          <a:p>
            <a:pPr lvl="1"/>
            <a:r>
              <a:rPr lang="fr-FR" dirty="0"/>
              <a:t>Entiers </a:t>
            </a:r>
          </a:p>
          <a:p>
            <a:pPr lvl="2"/>
            <a:r>
              <a:rPr lang="en-GB" b="1" dirty="0">
                <a:latin typeface="Courier"/>
                <a:cs typeface="Courier"/>
              </a:rPr>
              <a:t>char, short, int, long</a:t>
            </a:r>
          </a:p>
          <a:p>
            <a:pPr lvl="1"/>
            <a:r>
              <a:rPr lang="fr-FR" dirty="0"/>
              <a:t>Réels et complexes </a:t>
            </a:r>
          </a:p>
          <a:p>
            <a:pPr lvl="2"/>
            <a:r>
              <a:rPr lang="fr-FR" b="1" dirty="0" err="1"/>
              <a:t>float</a:t>
            </a:r>
            <a:r>
              <a:rPr lang="fr-FR" b="1" dirty="0"/>
              <a:t>, double</a:t>
            </a:r>
          </a:p>
          <a:p>
            <a:r>
              <a:rPr lang="fr-FR" dirty="0"/>
              <a:t>Avec des spécificateurs supplémentaires pour la représentation : </a:t>
            </a:r>
          </a:p>
          <a:p>
            <a:pPr lvl="1"/>
            <a:r>
              <a:rPr lang="fr-FR" b="1" dirty="0" err="1"/>
              <a:t>unsigned</a:t>
            </a:r>
            <a:r>
              <a:rPr lang="fr-FR" dirty="0"/>
              <a:t> : toujours 0 ou positif </a:t>
            </a:r>
          </a:p>
          <a:p>
            <a:pPr lvl="2"/>
            <a:r>
              <a:rPr lang="fr-FR" dirty="0"/>
              <a:t>Représentation : Binaire </a:t>
            </a:r>
          </a:p>
          <a:p>
            <a:pPr lvl="1"/>
            <a:r>
              <a:rPr lang="fr-FR" b="1" dirty="0" err="1"/>
              <a:t>signed</a:t>
            </a:r>
            <a:r>
              <a:rPr lang="fr-FR" b="1" dirty="0"/>
              <a:t> </a:t>
            </a:r>
            <a:r>
              <a:rPr lang="fr-FR" dirty="0"/>
              <a:t>: positif ou négatif : </a:t>
            </a:r>
          </a:p>
          <a:p>
            <a:pPr lvl="2"/>
            <a:r>
              <a:rPr lang="fr-FR" dirty="0"/>
              <a:t>Représentation : dépend de l'implémentation </a:t>
            </a:r>
          </a:p>
          <a:p>
            <a:pPr lvl="3"/>
            <a:r>
              <a:rPr lang="fr-FR" dirty="0"/>
              <a:t>Complément à 1 </a:t>
            </a:r>
          </a:p>
          <a:p>
            <a:pPr lvl="3"/>
            <a:r>
              <a:rPr lang="fr-FR" dirty="0"/>
              <a:t>Complément à 2 (habituel) </a:t>
            </a:r>
          </a:p>
          <a:p>
            <a:pPr lvl="3"/>
            <a:r>
              <a:rPr lang="fr-FR" dirty="0"/>
              <a:t>signe et magnitude</a:t>
            </a:r>
          </a:p>
          <a:p>
            <a:r>
              <a:rPr lang="fr-FR" dirty="0"/>
              <a:t>Exemple : </a:t>
            </a:r>
            <a:r>
              <a:rPr lang="fr-FR" b="1" dirty="0" err="1"/>
              <a:t>unsigned</a:t>
            </a:r>
            <a:r>
              <a:rPr lang="fr-FR" b="1" dirty="0"/>
              <a:t> short </a:t>
            </a:r>
            <a:r>
              <a:rPr lang="fr-FR" b="1" dirty="0" err="1"/>
              <a:t>int</a:t>
            </a:r>
            <a:endParaRPr lang="fr-FR" b="1" dirty="0"/>
          </a:p>
          <a:p>
            <a:pPr marL="0" indent="0">
              <a:buNone/>
            </a:pPr>
            <a:endParaRPr lang="en-GB" b="1" dirty="0">
              <a:latin typeface="Courier"/>
              <a:cs typeface="Courier"/>
            </a:endParaRPr>
          </a:p>
          <a:p>
            <a:pPr marL="0" indent="0">
              <a:buNone/>
            </a:pPr>
            <a:endParaRPr lang="en-GB" sz="800" dirty="0">
              <a:latin typeface="Arial" charset="0"/>
              <a:cs typeface="ＭＳ Ｐゴシック" charset="0"/>
            </a:endParaRPr>
          </a:p>
          <a:p>
            <a:pPr lvl="3"/>
            <a:endParaRPr lang="en-GB" sz="80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51</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93861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p:txBody>
          <a:bodyPr/>
          <a:lstStyle/>
          <a:p>
            <a:r>
              <a:rPr lang="fr-FR" sz="2800" dirty="0">
                <a:latin typeface="Arial" charset="0"/>
                <a:cs typeface="ＭＳ Ｐゴシック" charset="0"/>
              </a:rPr>
              <a:t>Types de données primitifs : Taille</a:t>
            </a:r>
            <a:endParaRPr lang="fr-FR" sz="2800" dirty="0">
              <a:latin typeface="Arial" charset="0"/>
              <a:ea typeface="ＭＳ Ｐゴシック" charset="0"/>
              <a:cs typeface="ＭＳ Ｐゴシック" charset="0"/>
            </a:endParaRPr>
          </a:p>
        </p:txBody>
      </p:sp>
      <p:sp>
        <p:nvSpPr>
          <p:cNvPr id="70658" name="Espace réservé du contenu 2"/>
          <p:cNvSpPr>
            <a:spLocks noGrp="1"/>
          </p:cNvSpPr>
          <p:nvPr>
            <p:ph idx="1"/>
          </p:nvPr>
        </p:nvSpPr>
        <p:spPr>
          <a:xfrm>
            <a:off x="179766" y="844272"/>
            <a:ext cx="8784468" cy="5400675"/>
          </a:xfrm>
        </p:spPr>
        <p:txBody>
          <a:bodyPr/>
          <a:lstStyle/>
          <a:p>
            <a:r>
              <a:rPr lang="fr-FR" dirty="0">
                <a:solidFill>
                  <a:schemeClr val="tx1"/>
                </a:solidFill>
                <a:cs typeface="Courier"/>
              </a:rPr>
              <a:t>La taille exacte du type de données n'est PAS une partie de la norme C</a:t>
            </a:r>
          </a:p>
          <a:p>
            <a:pPr lvl="1"/>
            <a:r>
              <a:rPr lang="fr-FR" b="1" dirty="0" err="1">
                <a:solidFill>
                  <a:schemeClr val="tx1"/>
                </a:solidFill>
                <a:cs typeface="Courier"/>
              </a:rPr>
              <a:t>int</a:t>
            </a:r>
            <a:r>
              <a:rPr lang="fr-FR" dirty="0">
                <a:solidFill>
                  <a:schemeClr val="tx1"/>
                </a:solidFill>
                <a:cs typeface="Courier"/>
              </a:rPr>
              <a:t> peut être de 16 ou 32 bits...</a:t>
            </a:r>
          </a:p>
          <a:p>
            <a:r>
              <a:rPr lang="fr-FR" dirty="0">
                <a:solidFill>
                  <a:schemeClr val="tx1"/>
                </a:solidFill>
                <a:cs typeface="Courier"/>
              </a:rPr>
              <a:t>La norme dit seulement que la plage d'un type plus grand doit être au moins aussi grande que le type plus petit.</a:t>
            </a:r>
          </a:p>
          <a:p>
            <a:pPr lvl="1"/>
            <a:r>
              <a:rPr lang="fr-FR" dirty="0">
                <a:solidFill>
                  <a:schemeClr val="tx1"/>
                </a:solidFill>
                <a:cs typeface="Courier"/>
              </a:rPr>
              <a:t>char ≤ short ≤ long ≤ long </a:t>
            </a:r>
            <a:r>
              <a:rPr lang="fr-FR" dirty="0" err="1">
                <a:solidFill>
                  <a:schemeClr val="tx1"/>
                </a:solidFill>
                <a:cs typeface="Courier"/>
              </a:rPr>
              <a:t>long</a:t>
            </a:r>
            <a:endParaRPr lang="fr-FR" dirty="0">
              <a:solidFill>
                <a:schemeClr val="tx1"/>
              </a:solidFill>
              <a:cs typeface="Courier"/>
            </a:endParaRPr>
          </a:p>
          <a:p>
            <a:pPr lvl="1"/>
            <a:r>
              <a:rPr lang="fr-FR" dirty="0">
                <a:solidFill>
                  <a:schemeClr val="tx1"/>
                </a:solidFill>
                <a:cs typeface="Courier"/>
              </a:rPr>
              <a:t>char : le type de données minimum pris en charge</a:t>
            </a:r>
          </a:p>
          <a:p>
            <a:r>
              <a:rPr lang="fr-FR" dirty="0">
                <a:solidFill>
                  <a:schemeClr val="tx1"/>
                </a:solidFill>
                <a:cs typeface="Courier"/>
              </a:rPr>
              <a:t>Le compilateur décide en fonction de l'architecture de la plateforme cible ! (bien qu'il y ait une largeur minimale autorisée)</a:t>
            </a:r>
          </a:p>
          <a:p>
            <a:r>
              <a:rPr lang="fr-FR" dirty="0" err="1">
                <a:solidFill>
                  <a:schemeClr val="tx1"/>
                </a:solidFill>
                <a:cs typeface="Courier"/>
              </a:rPr>
              <a:t>sizeof</a:t>
            </a:r>
            <a:r>
              <a:rPr lang="fr-FR" dirty="0">
                <a:solidFill>
                  <a:schemeClr val="tx1"/>
                </a:solidFill>
                <a:cs typeface="Courier"/>
              </a:rPr>
              <a:t>() peut donner la taille réelle en octets</a:t>
            </a:r>
          </a:p>
          <a:p>
            <a:r>
              <a:rPr lang="fr-FR" dirty="0">
                <a:solidFill>
                  <a:schemeClr val="tx1"/>
                </a:solidFill>
                <a:cs typeface="Courier"/>
              </a:rPr>
              <a:t>Pour donner une taille de stockage spécifique, utilisez le type </a:t>
            </a:r>
            <a:r>
              <a:rPr lang="fr-FR" b="1" dirty="0" err="1">
                <a:solidFill>
                  <a:schemeClr val="tx1"/>
                </a:solidFill>
                <a:cs typeface="Courier"/>
              </a:rPr>
              <a:t>YintX_t</a:t>
            </a:r>
            <a:endParaRPr lang="fr-FR" b="1" dirty="0">
              <a:solidFill>
                <a:schemeClr val="tx1"/>
              </a:solidFill>
              <a:cs typeface="Courier"/>
            </a:endParaRPr>
          </a:p>
          <a:p>
            <a:pPr lvl="1"/>
            <a:r>
              <a:rPr lang="fr-FR" dirty="0">
                <a:solidFill>
                  <a:schemeClr val="tx1"/>
                </a:solidFill>
                <a:cs typeface="Courier"/>
              </a:rPr>
              <a:t>Y = u pour non signé</a:t>
            </a:r>
          </a:p>
          <a:p>
            <a:pPr lvl="1"/>
            <a:r>
              <a:rPr lang="fr-FR" dirty="0">
                <a:solidFill>
                  <a:schemeClr val="tx1"/>
                </a:solidFill>
                <a:cs typeface="Courier"/>
              </a:rPr>
              <a:t>X = 8, 16, 32, etc. pour le nombre de bits à utiliser</a:t>
            </a:r>
            <a:endParaRPr lang="en-GB" dirty="0">
              <a:solidFill>
                <a:schemeClr val="tx1"/>
              </a:solidFill>
              <a:cs typeface="Courier"/>
            </a:endParaRPr>
          </a:p>
          <a:p>
            <a:pPr marL="0" indent="0">
              <a:buNone/>
            </a:pPr>
            <a:endParaRPr lang="en-GB" sz="800" dirty="0"/>
          </a:p>
          <a:p>
            <a:pPr marL="0" indent="0">
              <a:buNone/>
            </a:pPr>
            <a:endParaRPr lang="en-GB" sz="800" dirty="0">
              <a:solidFill>
                <a:srgbClr val="FF0000"/>
              </a:solidFill>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52</a:t>
            </a:fld>
            <a:endParaRPr lang="fr-FR" sz="1400">
              <a:solidFill>
                <a:srgbClr val="000208"/>
              </a:solidFill>
              <a:latin typeface="Times New Roman" charset="0"/>
            </a:endParaRPr>
          </a:p>
        </p:txBody>
      </p:sp>
    </p:spTree>
    <p:extLst>
      <p:ext uri="{BB962C8B-B14F-4D97-AF65-F5344CB8AC3E}">
        <p14:creationId xmlns:p14="http://schemas.microsoft.com/office/powerpoint/2010/main" val="32442438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0" y="76200"/>
            <a:ext cx="8371656" cy="533400"/>
          </a:xfrm>
        </p:spPr>
        <p:txBody>
          <a:bodyPr/>
          <a:lstStyle/>
          <a:p>
            <a:r>
              <a:rPr lang="fr-FR" sz="2400" dirty="0">
                <a:latin typeface="Arial" charset="0"/>
                <a:cs typeface="ＭＳ Ｐゴシック" charset="0"/>
              </a:rPr>
              <a:t>Types de données primitifs : Valeurs minimales</a:t>
            </a:r>
            <a:endParaRPr lang="en-US" sz="24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53</a:t>
            </a:fld>
            <a:endParaRPr lang="fr-FR"/>
          </a:p>
        </p:txBody>
      </p:sp>
      <p:sp>
        <p:nvSpPr>
          <p:cNvPr id="6" name="Rectangle 5"/>
          <p:cNvSpPr/>
          <p:nvPr/>
        </p:nvSpPr>
        <p:spPr>
          <a:xfrm>
            <a:off x="0" y="692696"/>
            <a:ext cx="9684568" cy="5712332"/>
          </a:xfrm>
          <a:prstGeom prst="rect">
            <a:avLst/>
          </a:prstGeom>
        </p:spPr>
        <p:txBody>
          <a:bodyPr wrap="square">
            <a:spAutoFit/>
          </a:bodyPr>
          <a:lstStyle/>
          <a:p>
            <a:pPr algn="l"/>
            <a:r>
              <a:rPr lang="en-US" sz="2200" b="1" dirty="0"/>
              <a:t>Type 				Storage size 		Value range</a:t>
            </a:r>
          </a:p>
          <a:p>
            <a:pPr algn="l"/>
            <a:r>
              <a:rPr lang="en-US" sz="2200" b="1" dirty="0">
                <a:latin typeface="Courier"/>
                <a:cs typeface="Courier"/>
              </a:rPr>
              <a:t>char</a:t>
            </a:r>
            <a:r>
              <a:rPr lang="en-US" sz="2200" dirty="0"/>
              <a:t> 				</a:t>
            </a:r>
            <a:r>
              <a:rPr lang="en-US" sz="2200" i="1" dirty="0"/>
              <a:t>usually </a:t>
            </a:r>
            <a:r>
              <a:rPr lang="en-US" sz="2200" b="1" i="1" dirty="0">
                <a:latin typeface="Courier"/>
                <a:cs typeface="Courier"/>
              </a:rPr>
              <a:t>signed</a:t>
            </a:r>
            <a:r>
              <a:rPr lang="en-US" sz="2200" i="1" dirty="0"/>
              <a:t>    (but not standard)</a:t>
            </a:r>
          </a:p>
          <a:p>
            <a:pPr algn="l"/>
            <a:r>
              <a:rPr lang="en-US" sz="2200" b="1" dirty="0">
                <a:latin typeface="Courier"/>
                <a:cs typeface="Courier"/>
              </a:rPr>
              <a:t>unsigned char </a:t>
            </a:r>
            <a:r>
              <a:rPr lang="en-US" sz="2200" dirty="0"/>
              <a:t>		1 byte 			 0 to 2</a:t>
            </a:r>
            <a:r>
              <a:rPr lang="en-US" sz="2200" baseline="30000" dirty="0"/>
              <a:t>8</a:t>
            </a:r>
            <a:r>
              <a:rPr lang="en-US" sz="2200" dirty="0"/>
              <a:t> − 1</a:t>
            </a:r>
          </a:p>
          <a:p>
            <a:pPr algn="l"/>
            <a:r>
              <a:rPr lang="en-US" sz="2200" b="1" dirty="0">
                <a:latin typeface="Courier"/>
                <a:cs typeface="Courier"/>
              </a:rPr>
              <a:t>signed char </a:t>
            </a:r>
            <a:r>
              <a:rPr lang="en-US" sz="2200" dirty="0"/>
              <a:t>		1 byte 			−(2</a:t>
            </a:r>
            <a:r>
              <a:rPr lang="en-US" sz="2200" baseline="30000" dirty="0"/>
              <a:t>7</a:t>
            </a:r>
            <a:r>
              <a:rPr lang="en-US" sz="2200" dirty="0"/>
              <a:t>) to 2</a:t>
            </a:r>
            <a:r>
              <a:rPr lang="en-US" sz="2200" baseline="30000" dirty="0"/>
              <a:t>7</a:t>
            </a:r>
            <a:r>
              <a:rPr lang="en-US" sz="2200" dirty="0"/>
              <a:t> − 1	</a:t>
            </a:r>
          </a:p>
          <a:p>
            <a:pPr algn="l"/>
            <a:r>
              <a:rPr lang="en-US" sz="2200" b="1" dirty="0" err="1">
                <a:latin typeface="Courier"/>
                <a:cs typeface="Courier"/>
              </a:rPr>
              <a:t>int</a:t>
            </a:r>
            <a:r>
              <a:rPr lang="en-US" sz="2200" dirty="0"/>
              <a:t> 				2 bytes 		−(2</a:t>
            </a:r>
            <a:r>
              <a:rPr lang="en-US" sz="2200" baseline="30000" dirty="0"/>
              <a:t>15</a:t>
            </a:r>
            <a:r>
              <a:rPr lang="en-US" sz="2200" dirty="0"/>
              <a:t>) to 2</a:t>
            </a:r>
            <a:r>
              <a:rPr lang="en-US" sz="2200" baseline="30000" dirty="0"/>
              <a:t>15</a:t>
            </a:r>
            <a:r>
              <a:rPr lang="en-US" sz="2200" dirty="0"/>
              <a:t> − 1 </a:t>
            </a:r>
          </a:p>
          <a:p>
            <a:pPr algn="l"/>
            <a:r>
              <a:rPr lang="en-US" sz="2200" dirty="0"/>
              <a:t>			        (usually </a:t>
            </a:r>
            <a:r>
              <a:rPr lang="en-US" sz="2200" i="1" dirty="0"/>
              <a:t>4 bytes)</a:t>
            </a:r>
          </a:p>
          <a:p>
            <a:pPr algn="l"/>
            <a:r>
              <a:rPr lang="en-US" sz="2200" b="1" dirty="0">
                <a:latin typeface="Courier"/>
                <a:cs typeface="Courier"/>
              </a:rPr>
              <a:t>unsigned </a:t>
            </a:r>
            <a:r>
              <a:rPr lang="en-US" sz="2200" b="1" dirty="0" err="1">
                <a:latin typeface="Courier"/>
                <a:cs typeface="Courier"/>
              </a:rPr>
              <a:t>int</a:t>
            </a:r>
            <a:r>
              <a:rPr lang="en-US" sz="2200" b="1" dirty="0">
                <a:latin typeface="Courier"/>
                <a:cs typeface="Courier"/>
              </a:rPr>
              <a:t> </a:t>
            </a:r>
            <a:r>
              <a:rPr lang="en-US" sz="2200" dirty="0"/>
              <a:t>		2 bytes 		0 to 2</a:t>
            </a:r>
            <a:r>
              <a:rPr lang="en-US" sz="2200" baseline="30000" dirty="0"/>
              <a:t>16</a:t>
            </a:r>
            <a:r>
              <a:rPr lang="en-US" sz="2200" dirty="0"/>
              <a:t> − 1 </a:t>
            </a:r>
          </a:p>
          <a:p>
            <a:pPr algn="l"/>
            <a:r>
              <a:rPr lang="en-US" sz="2200" dirty="0"/>
              <a:t>			        (usually </a:t>
            </a:r>
            <a:r>
              <a:rPr lang="en-US" sz="2200" i="1" dirty="0"/>
              <a:t>4 bytes)</a:t>
            </a:r>
          </a:p>
          <a:p>
            <a:pPr algn="l"/>
            <a:r>
              <a:rPr lang="en-US" sz="2200" b="1" dirty="0">
                <a:latin typeface="Courier"/>
                <a:cs typeface="Courier"/>
              </a:rPr>
              <a:t>short </a:t>
            </a:r>
            <a:r>
              <a:rPr lang="en-US" sz="2200" dirty="0"/>
              <a:t>			2 bytes 		−(2</a:t>
            </a:r>
            <a:r>
              <a:rPr lang="en-US" sz="2200" baseline="30000" dirty="0"/>
              <a:t>15</a:t>
            </a:r>
            <a:r>
              <a:rPr lang="en-US" sz="2200" dirty="0"/>
              <a:t>) to 2</a:t>
            </a:r>
            <a:r>
              <a:rPr lang="en-US" sz="2200" baseline="30000" dirty="0"/>
              <a:t>15</a:t>
            </a:r>
            <a:r>
              <a:rPr lang="en-US" sz="2200" dirty="0"/>
              <a:t> − 1 </a:t>
            </a:r>
          </a:p>
          <a:p>
            <a:pPr algn="l"/>
            <a:r>
              <a:rPr lang="en-US" sz="2200" b="1" dirty="0">
                <a:latin typeface="Courier"/>
                <a:cs typeface="Courier"/>
              </a:rPr>
              <a:t>unsigned short </a:t>
            </a:r>
            <a:r>
              <a:rPr lang="en-US" sz="2200" dirty="0"/>
              <a:t>		2 bytes 		0 to 2</a:t>
            </a:r>
            <a:r>
              <a:rPr lang="en-US" sz="2200" baseline="30000" dirty="0"/>
              <a:t>16</a:t>
            </a:r>
            <a:r>
              <a:rPr lang="en-US" sz="2200" dirty="0"/>
              <a:t> − 1 </a:t>
            </a:r>
          </a:p>
          <a:p>
            <a:pPr algn="l"/>
            <a:r>
              <a:rPr lang="en-US" sz="2200" b="1" dirty="0">
                <a:latin typeface="Courier"/>
                <a:cs typeface="Courier"/>
              </a:rPr>
              <a:t>long </a:t>
            </a:r>
            <a:r>
              <a:rPr lang="en-US" sz="2200" dirty="0"/>
              <a:t>				4 bytes 		−(2</a:t>
            </a:r>
            <a:r>
              <a:rPr lang="en-US" sz="2200" baseline="30000" dirty="0"/>
              <a:t>31</a:t>
            </a:r>
            <a:r>
              <a:rPr lang="en-US" sz="2200" dirty="0"/>
              <a:t>) to 2</a:t>
            </a:r>
            <a:r>
              <a:rPr lang="en-US" sz="2200" baseline="30000" dirty="0"/>
              <a:t>31</a:t>
            </a:r>
            <a:r>
              <a:rPr lang="en-US" sz="2200" dirty="0"/>
              <a:t> − 1 </a:t>
            </a:r>
          </a:p>
          <a:p>
            <a:pPr algn="l"/>
            <a:r>
              <a:rPr lang="en-US" sz="2200" b="1" dirty="0">
                <a:latin typeface="Courier"/>
                <a:cs typeface="Courier"/>
              </a:rPr>
              <a:t>unsigned long </a:t>
            </a:r>
            <a:r>
              <a:rPr lang="en-US" sz="2200" dirty="0"/>
              <a:t>		4 bytes 		0 to 2</a:t>
            </a:r>
            <a:r>
              <a:rPr lang="en-US" sz="2200" baseline="30000" dirty="0"/>
              <a:t>16</a:t>
            </a:r>
            <a:r>
              <a:rPr lang="en-US" sz="2200" dirty="0"/>
              <a:t> − 1 </a:t>
            </a:r>
          </a:p>
          <a:p>
            <a:pPr algn="l"/>
            <a:r>
              <a:rPr lang="en-US" sz="2200" b="1" dirty="0">
                <a:latin typeface="Courier"/>
                <a:cs typeface="Courier"/>
              </a:rPr>
              <a:t>long long</a:t>
            </a:r>
            <a:r>
              <a:rPr lang="en-US" sz="2200" dirty="0"/>
              <a:t>			8 bytes 		−(2</a:t>
            </a:r>
            <a:r>
              <a:rPr lang="en-US" sz="2200" baseline="30000" dirty="0"/>
              <a:t>63</a:t>
            </a:r>
            <a:r>
              <a:rPr lang="en-US" sz="2200" dirty="0"/>
              <a:t>) to 2</a:t>
            </a:r>
            <a:r>
              <a:rPr lang="en-US" sz="2200" baseline="30000" dirty="0"/>
              <a:t>63</a:t>
            </a:r>
            <a:r>
              <a:rPr lang="en-US" sz="2200" dirty="0"/>
              <a:t> − 1 </a:t>
            </a:r>
          </a:p>
          <a:p>
            <a:pPr algn="l"/>
            <a:r>
              <a:rPr lang="en-US" sz="2200" b="1" dirty="0">
                <a:latin typeface="Courier"/>
                <a:cs typeface="Courier"/>
              </a:rPr>
              <a:t>unsigned long long</a:t>
            </a:r>
            <a:r>
              <a:rPr lang="en-US" sz="2200" dirty="0"/>
              <a:t>	8 bytes 		0 to 2</a:t>
            </a:r>
            <a:r>
              <a:rPr lang="en-US" sz="2200" baseline="30000" dirty="0"/>
              <a:t>64</a:t>
            </a:r>
            <a:r>
              <a:rPr lang="en-US" sz="2200" dirty="0"/>
              <a:t> − 1 </a:t>
            </a:r>
          </a:p>
        </p:txBody>
      </p:sp>
      <p:cxnSp>
        <p:nvCxnSpPr>
          <p:cNvPr id="8" name="Straight Connector 7"/>
          <p:cNvCxnSpPr/>
          <p:nvPr/>
        </p:nvCxnSpPr>
        <p:spPr bwMode="auto">
          <a:xfrm>
            <a:off x="0" y="1124744"/>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 name="Straight Connector 8"/>
          <p:cNvCxnSpPr/>
          <p:nvPr/>
        </p:nvCxnSpPr>
        <p:spPr bwMode="auto">
          <a:xfrm>
            <a:off x="3311860" y="692696"/>
            <a:ext cx="0" cy="594066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Straight Connector 11"/>
          <p:cNvCxnSpPr/>
          <p:nvPr/>
        </p:nvCxnSpPr>
        <p:spPr bwMode="auto">
          <a:xfrm>
            <a:off x="5940152" y="692696"/>
            <a:ext cx="0" cy="594066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 name="Straight Connector 12"/>
          <p:cNvCxnSpPr/>
          <p:nvPr/>
        </p:nvCxnSpPr>
        <p:spPr bwMode="auto">
          <a:xfrm>
            <a:off x="-508" y="195283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6" name="Straight Connector 15"/>
          <p:cNvCxnSpPr/>
          <p:nvPr/>
        </p:nvCxnSpPr>
        <p:spPr bwMode="auto">
          <a:xfrm>
            <a:off x="-508" y="231287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 name="Straight Connector 16"/>
          <p:cNvCxnSpPr/>
          <p:nvPr/>
        </p:nvCxnSpPr>
        <p:spPr bwMode="auto">
          <a:xfrm>
            <a:off x="-508" y="314096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8" name="Straight Connector 17"/>
          <p:cNvCxnSpPr/>
          <p:nvPr/>
        </p:nvCxnSpPr>
        <p:spPr bwMode="auto">
          <a:xfrm>
            <a:off x="-508" y="396906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9" name="Straight Connector 18"/>
          <p:cNvCxnSpPr/>
          <p:nvPr/>
        </p:nvCxnSpPr>
        <p:spPr bwMode="auto">
          <a:xfrm>
            <a:off x="-508" y="432910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 name="Straight Connector 19"/>
          <p:cNvCxnSpPr/>
          <p:nvPr/>
        </p:nvCxnSpPr>
        <p:spPr bwMode="auto">
          <a:xfrm>
            <a:off x="-508" y="476114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Straight Connector 20"/>
          <p:cNvCxnSpPr/>
          <p:nvPr/>
        </p:nvCxnSpPr>
        <p:spPr bwMode="auto">
          <a:xfrm>
            <a:off x="-508" y="515719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 name="Straight Connector 21"/>
          <p:cNvCxnSpPr/>
          <p:nvPr/>
        </p:nvCxnSpPr>
        <p:spPr bwMode="auto">
          <a:xfrm>
            <a:off x="-508" y="555323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Straight Connector 22"/>
          <p:cNvCxnSpPr/>
          <p:nvPr/>
        </p:nvCxnSpPr>
        <p:spPr bwMode="auto">
          <a:xfrm>
            <a:off x="-508" y="5985284"/>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 name="Straight Connector 23"/>
          <p:cNvCxnSpPr/>
          <p:nvPr/>
        </p:nvCxnSpPr>
        <p:spPr bwMode="auto">
          <a:xfrm>
            <a:off x="-508" y="152078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Straight Connector 25"/>
          <p:cNvCxnSpPr/>
          <p:nvPr/>
        </p:nvCxnSpPr>
        <p:spPr bwMode="auto">
          <a:xfrm>
            <a:off x="71500" y="641733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1507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6499448" cy="533400"/>
          </a:xfrm>
        </p:spPr>
        <p:txBody>
          <a:bodyPr/>
          <a:lstStyle/>
          <a:p>
            <a:r>
              <a:rPr lang="fr-FR" sz="2800" dirty="0">
                <a:latin typeface="Arial" charset="0"/>
                <a:cs typeface="ＭＳ Ｐゴシック" charset="0"/>
              </a:rPr>
              <a:t>Types de données primitifs : </a:t>
            </a:r>
            <a:r>
              <a:rPr lang="fr-FR" sz="2800" dirty="0" err="1">
                <a:latin typeface="Arial" charset="0"/>
                <a:cs typeface="ＭＳ Ｐゴシック" charset="0"/>
              </a:rPr>
              <a:t>Float</a:t>
            </a:r>
            <a:endParaRPr lang="en-US"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54</a:t>
            </a:fld>
            <a:endParaRPr lang="fr-FR"/>
          </a:p>
        </p:txBody>
      </p:sp>
      <p:sp>
        <p:nvSpPr>
          <p:cNvPr id="6" name="Rectangle 5"/>
          <p:cNvSpPr/>
          <p:nvPr/>
        </p:nvSpPr>
        <p:spPr>
          <a:xfrm>
            <a:off x="0" y="1172591"/>
            <a:ext cx="9684568" cy="2899255"/>
          </a:xfrm>
          <a:prstGeom prst="rect">
            <a:avLst/>
          </a:prstGeom>
        </p:spPr>
        <p:txBody>
          <a:bodyPr wrap="square">
            <a:spAutoFit/>
          </a:bodyPr>
          <a:lstStyle/>
          <a:p>
            <a:pPr algn="l"/>
            <a:r>
              <a:rPr lang="en-US" sz="2400" b="1" dirty="0"/>
              <a:t>Type 		  Storage size Value range 		Precision </a:t>
            </a:r>
          </a:p>
          <a:p>
            <a:pPr algn="l"/>
            <a:r>
              <a:rPr lang="en-US" sz="2200" b="1" dirty="0">
                <a:latin typeface="Courier"/>
                <a:cs typeface="Courier"/>
              </a:rPr>
              <a:t>float</a:t>
            </a:r>
            <a:r>
              <a:rPr lang="en-US" sz="2200" dirty="0"/>
              <a:t> 	     4 byte 	   1.2E-38 to 3.4E+38 		single </a:t>
            </a:r>
          </a:p>
          <a:p>
            <a:pPr algn="l"/>
            <a:endParaRPr lang="en-US" sz="2200" b="1" dirty="0">
              <a:latin typeface="Courier"/>
              <a:cs typeface="Courier"/>
            </a:endParaRPr>
          </a:p>
          <a:p>
            <a:pPr algn="l"/>
            <a:r>
              <a:rPr lang="en-US" sz="2200" b="1" dirty="0">
                <a:latin typeface="Courier"/>
                <a:cs typeface="Courier"/>
              </a:rPr>
              <a:t>double</a:t>
            </a:r>
            <a:r>
              <a:rPr lang="en-US" sz="2200" dirty="0"/>
              <a:t> 	     8 byte 	   2.3E-308 to 1.7E+308 	double</a:t>
            </a:r>
          </a:p>
          <a:p>
            <a:pPr algn="l"/>
            <a:endParaRPr lang="en-US" sz="2200" b="1" dirty="0">
              <a:latin typeface="Courier"/>
              <a:cs typeface="Courier"/>
            </a:endParaRPr>
          </a:p>
          <a:p>
            <a:pPr algn="l"/>
            <a:r>
              <a:rPr lang="en-US" sz="2200" b="1" dirty="0">
                <a:latin typeface="Courier"/>
                <a:cs typeface="Courier"/>
              </a:rPr>
              <a:t>long double </a:t>
            </a:r>
            <a:r>
              <a:rPr lang="en-US" sz="2200" dirty="0"/>
              <a:t>  10 byte 	   3.4E-4932 to 1.1E+4932 	extended </a:t>
            </a:r>
          </a:p>
          <a:p>
            <a:pPr algn="l"/>
            <a:endParaRPr lang="en-US" sz="2200" dirty="0"/>
          </a:p>
        </p:txBody>
      </p:sp>
      <p:cxnSp>
        <p:nvCxnSpPr>
          <p:cNvPr id="8" name="Straight Connector 7"/>
          <p:cNvCxnSpPr/>
          <p:nvPr/>
        </p:nvCxnSpPr>
        <p:spPr bwMode="auto">
          <a:xfrm>
            <a:off x="0" y="1604639"/>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 name="Straight Connector 8"/>
          <p:cNvCxnSpPr/>
          <p:nvPr/>
        </p:nvCxnSpPr>
        <p:spPr bwMode="auto">
          <a:xfrm>
            <a:off x="1979712" y="1136587"/>
            <a:ext cx="0" cy="3048497"/>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6" name="Straight Connector 15"/>
          <p:cNvCxnSpPr/>
          <p:nvPr/>
        </p:nvCxnSpPr>
        <p:spPr bwMode="auto">
          <a:xfrm>
            <a:off x="-508" y="2504739"/>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Straight Connector 22"/>
          <p:cNvCxnSpPr/>
          <p:nvPr/>
        </p:nvCxnSpPr>
        <p:spPr bwMode="auto">
          <a:xfrm>
            <a:off x="-508" y="3260823"/>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 name="Straight Connector 24"/>
          <p:cNvCxnSpPr/>
          <p:nvPr/>
        </p:nvCxnSpPr>
        <p:spPr bwMode="auto">
          <a:xfrm>
            <a:off x="-508" y="4124919"/>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 name="Straight Connector 13"/>
          <p:cNvCxnSpPr/>
          <p:nvPr/>
        </p:nvCxnSpPr>
        <p:spPr bwMode="auto">
          <a:xfrm>
            <a:off x="3923928" y="1136587"/>
            <a:ext cx="0" cy="3048497"/>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Straight Connector 14"/>
          <p:cNvCxnSpPr/>
          <p:nvPr/>
        </p:nvCxnSpPr>
        <p:spPr bwMode="auto">
          <a:xfrm>
            <a:off x="7200292" y="1100583"/>
            <a:ext cx="0" cy="3048497"/>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552027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1"/>
          <p:cNvSpPr>
            <a:spLocks noGrp="1"/>
          </p:cNvSpPr>
          <p:nvPr>
            <p:ph type="title"/>
          </p:nvPr>
        </p:nvSpPr>
        <p:spPr/>
        <p:txBody>
          <a:bodyPr/>
          <a:lstStyle/>
          <a:p>
            <a:r>
              <a:rPr lang="en-GB" sz="2800" dirty="0">
                <a:latin typeface="Arial" charset="0"/>
                <a:cs typeface="ＭＳ Ｐゴシック" charset="0"/>
              </a:rPr>
              <a:t>Defining primitive data objects: Examples</a:t>
            </a:r>
          </a:p>
        </p:txBody>
      </p:sp>
      <p:sp>
        <p:nvSpPr>
          <p:cNvPr id="72706" name="Espace réservé du contenu 2"/>
          <p:cNvSpPr>
            <a:spLocks noGrp="1"/>
          </p:cNvSpPr>
          <p:nvPr>
            <p:ph idx="1"/>
          </p:nvPr>
        </p:nvSpPr>
        <p:spPr>
          <a:xfrm>
            <a:off x="395536" y="944724"/>
            <a:ext cx="7562850" cy="4537075"/>
          </a:xfrm>
        </p:spPr>
        <p:txBody>
          <a:bodyPr/>
          <a:lstStyle/>
          <a:p>
            <a:r>
              <a:rPr lang="en-US" dirty="0">
                <a:latin typeface="Arial" charset="0"/>
              </a:rPr>
              <a:t>D</a:t>
            </a:r>
            <a:r>
              <a:rPr lang="en-US" dirty="0">
                <a:latin typeface="Arial" charset="0"/>
                <a:ea typeface="ＭＳ Ｐゴシック" charset="0"/>
                <a:cs typeface="ＭＳ Ｐゴシック" charset="0"/>
              </a:rPr>
              <a:t>efinitions</a:t>
            </a:r>
          </a:p>
          <a:p>
            <a:pPr lvl="1"/>
            <a:r>
              <a:rPr lang="en-US" b="1" dirty="0" err="1">
                <a:latin typeface="Courier"/>
                <a:ea typeface="ＭＳ Ｐゴシック" charset="0"/>
                <a:cs typeface="Courier"/>
              </a:rPr>
              <a:t>int</a:t>
            </a:r>
            <a:r>
              <a:rPr lang="en-US" b="1" dirty="0">
                <a:latin typeface="Courier"/>
                <a:ea typeface="ＭＳ Ｐゴシック" charset="0"/>
                <a:cs typeface="Courier"/>
              </a:rPr>
              <a:t> </a:t>
            </a:r>
            <a:r>
              <a:rPr lang="en-US" b="1" dirty="0" err="1">
                <a:latin typeface="Courier"/>
                <a:ea typeface="ＭＳ Ｐゴシック" charset="0"/>
                <a:cs typeface="Courier"/>
              </a:rPr>
              <a:t>i</a:t>
            </a:r>
            <a:r>
              <a:rPr lang="en-US" b="1" dirty="0">
                <a:latin typeface="Courier"/>
                <a:ea typeface="ＭＳ Ｐゴシック" charset="0"/>
                <a:cs typeface="Courier"/>
              </a:rPr>
              <a:t>;</a:t>
            </a:r>
          </a:p>
          <a:p>
            <a:pPr lvl="1"/>
            <a:r>
              <a:rPr lang="en-US" b="1" dirty="0">
                <a:solidFill>
                  <a:srgbClr val="000000"/>
                </a:solidFill>
                <a:latin typeface="Courier"/>
                <a:cs typeface="Courier"/>
              </a:rPr>
              <a:t>f</a:t>
            </a:r>
            <a:r>
              <a:rPr lang="en-US" b="1" dirty="0">
                <a:solidFill>
                  <a:srgbClr val="000000"/>
                </a:solidFill>
                <a:latin typeface="Courier"/>
                <a:ea typeface="ＭＳ Ｐゴシック" charset="0"/>
                <a:cs typeface="Courier"/>
              </a:rPr>
              <a:t>loat </a:t>
            </a:r>
            <a:r>
              <a:rPr lang="en-US" b="1" dirty="0">
                <a:solidFill>
                  <a:srgbClr val="000000"/>
                </a:solidFill>
                <a:latin typeface="Courier"/>
                <a:cs typeface="Courier"/>
              </a:rPr>
              <a:t>f1</a:t>
            </a:r>
            <a:r>
              <a:rPr lang="en-US" b="1" dirty="0">
                <a:solidFill>
                  <a:srgbClr val="000000"/>
                </a:solidFill>
                <a:latin typeface="Courier"/>
                <a:ea typeface="ＭＳ Ｐゴシック" charset="0"/>
                <a:cs typeface="Courier"/>
              </a:rPr>
              <a:t>, f2;</a:t>
            </a:r>
          </a:p>
          <a:p>
            <a:pPr lvl="1"/>
            <a:r>
              <a:rPr lang="en-US" b="1" dirty="0">
                <a:latin typeface="Courier"/>
                <a:cs typeface="Courier"/>
              </a:rPr>
              <a:t>unsigned char c1, c2;</a:t>
            </a:r>
          </a:p>
          <a:p>
            <a:pPr lvl="1"/>
            <a:endParaRPr lang="en-US" b="1" dirty="0">
              <a:solidFill>
                <a:srgbClr val="000000"/>
              </a:solidFill>
              <a:latin typeface="Courier"/>
              <a:ea typeface="ＭＳ Ｐゴシック" charset="0"/>
              <a:cs typeface="Courier"/>
            </a:endParaRPr>
          </a:p>
          <a:p>
            <a:pPr lvl="1"/>
            <a:endParaRPr lang="en-US" b="1" dirty="0">
              <a:solidFill>
                <a:srgbClr val="000000"/>
              </a:solidFill>
              <a:latin typeface="Courier"/>
              <a:ea typeface="ＭＳ Ｐゴシック" charset="0"/>
              <a:cs typeface="Courier"/>
            </a:endParaRPr>
          </a:p>
          <a:p>
            <a:pPr lvl="1"/>
            <a:endParaRPr lang="en-US" sz="1050" b="1" dirty="0">
              <a:latin typeface="Courier"/>
              <a:ea typeface="ＭＳ Ｐゴシック" charset="0"/>
              <a:cs typeface="Courier"/>
            </a:endParaRPr>
          </a:p>
          <a:p>
            <a:endParaRPr lang="en-US" dirty="0">
              <a:latin typeface="Arial" charset="0"/>
              <a:cs typeface="ＭＳ Ｐゴシック" charset="0"/>
            </a:endParaRPr>
          </a:p>
          <a:p>
            <a:pPr marL="0" indent="0">
              <a:buNone/>
            </a:pPr>
            <a:endParaRPr lang="en-US" dirty="0">
              <a:latin typeface="Arial" charset="0"/>
              <a:cs typeface="ＭＳ Ｐゴシック" charset="0"/>
            </a:endParaRPr>
          </a:p>
          <a:p>
            <a:r>
              <a:rPr lang="en-US" dirty="0">
                <a:latin typeface="Arial" charset="0"/>
                <a:cs typeface="ＭＳ Ｐゴシック" charset="0"/>
              </a:rPr>
              <a:t>Definitions with initialization</a:t>
            </a:r>
          </a:p>
          <a:p>
            <a:pPr lvl="1"/>
            <a:r>
              <a:rPr lang="en-US" b="1" dirty="0" err="1">
                <a:latin typeface="Courier"/>
                <a:cs typeface="Courier"/>
              </a:rPr>
              <a:t>int</a:t>
            </a:r>
            <a:r>
              <a:rPr lang="en-US" b="1" dirty="0">
                <a:latin typeface="Courier"/>
                <a:cs typeface="Courier"/>
              </a:rPr>
              <a:t> i = 3;</a:t>
            </a:r>
          </a:p>
          <a:p>
            <a:pPr lvl="1"/>
            <a:r>
              <a:rPr lang="en-US" b="1" dirty="0">
                <a:latin typeface="Courier"/>
                <a:cs typeface="Courier"/>
              </a:rPr>
              <a:t>float f1 = 1.2, f2 = 0.3;</a:t>
            </a:r>
          </a:p>
          <a:p>
            <a:pPr lvl="1"/>
            <a:r>
              <a:rPr lang="en-US" b="1" dirty="0">
                <a:latin typeface="Courier"/>
                <a:cs typeface="Courier"/>
              </a:rPr>
              <a:t>unsigned char c1 = ‘A’</a:t>
            </a:r>
            <a:r>
              <a:rPr lang="en-US" b="1" dirty="0">
                <a:solidFill>
                  <a:srgbClr val="000000"/>
                </a:solidFill>
                <a:latin typeface="Courier"/>
                <a:cs typeface="Courier"/>
              </a:rPr>
              <a:t>, c2 = 65;</a:t>
            </a:r>
          </a:p>
          <a:p>
            <a:pPr marL="542925" lvl="1" indent="0">
              <a:buNone/>
            </a:pPr>
            <a:endParaRPr lang="en-US" sz="105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55</a:t>
            </a:fld>
            <a:endParaRPr lang="fr-FR" sz="1400">
              <a:solidFill>
                <a:srgbClr val="000208"/>
              </a:solidFill>
              <a:latin typeface="Times New Roman" charset="0"/>
            </a:endParaRPr>
          </a:p>
        </p:txBody>
      </p:sp>
      <p:sp>
        <p:nvSpPr>
          <p:cNvPr id="3" name="TextBox 2"/>
          <p:cNvSpPr txBox="1"/>
          <p:nvPr/>
        </p:nvSpPr>
        <p:spPr>
          <a:xfrm>
            <a:off x="359532" y="2766873"/>
            <a:ext cx="8316924" cy="1348061"/>
          </a:xfrm>
          <a:prstGeom prst="rect">
            <a:avLst/>
          </a:prstGeom>
          <a:noFill/>
          <a:ln>
            <a:solidFill>
              <a:schemeClr val="tx1"/>
            </a:solidFill>
          </a:ln>
        </p:spPr>
        <p:txBody>
          <a:bodyPr wrap="square" rtlCol="0">
            <a:spAutoFit/>
          </a:bodyPr>
          <a:lstStyle/>
          <a:p>
            <a:pPr algn="l"/>
            <a:r>
              <a:rPr lang="en-US" sz="2400" dirty="0">
                <a:solidFill>
                  <a:schemeClr val="tx1"/>
                </a:solidFill>
              </a:rPr>
              <a:t>- What is value of these identifiers? </a:t>
            </a:r>
          </a:p>
          <a:p>
            <a:pPr algn="l"/>
            <a:r>
              <a:rPr lang="en-US" sz="2400" dirty="0">
                <a:solidFill>
                  <a:schemeClr val="tx1"/>
                </a:solidFill>
              </a:rPr>
              <a:t>- Whatever is already stored in the memory just reserved…   </a:t>
            </a:r>
          </a:p>
          <a:p>
            <a:pPr algn="l"/>
            <a:r>
              <a:rPr lang="en-US" sz="2400" dirty="0">
                <a:solidFill>
                  <a:schemeClr val="tx1"/>
                </a:solidFill>
              </a:rPr>
              <a:t>(except global and static variables)</a:t>
            </a:r>
          </a:p>
        </p:txBody>
      </p:sp>
      <p:sp>
        <p:nvSpPr>
          <p:cNvPr id="9" name="Rectangle 8"/>
          <p:cNvSpPr/>
          <p:nvPr/>
        </p:nvSpPr>
        <p:spPr bwMode="auto">
          <a:xfrm>
            <a:off x="6408204" y="4617132"/>
            <a:ext cx="2618473" cy="1404156"/>
          </a:xfrm>
          <a:prstGeom prst="rect">
            <a:avLst/>
          </a:prstGeom>
          <a:solidFill>
            <a:srgbClr val="FFFFFF"/>
          </a:solidFill>
          <a:ln w="38100" cap="flat" cmpd="sng" algn="ctr">
            <a:solidFill>
              <a:srgbClr val="FF0000"/>
            </a:solidFill>
            <a:prstDash val="solid"/>
            <a:round/>
            <a:headEnd type="none" w="lg" len="lg"/>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6263680" y="4938263"/>
            <a:ext cx="2880320" cy="830997"/>
          </a:xfrm>
          <a:prstGeom prst="rect">
            <a:avLst/>
          </a:prstGeom>
          <a:noFill/>
        </p:spPr>
        <p:txBody>
          <a:bodyPr wrap="square" rtlCol="0">
            <a:spAutoFit/>
          </a:bodyPr>
          <a:lstStyle/>
          <a:p>
            <a:r>
              <a:rPr lang="en-US" sz="2400" b="1" dirty="0">
                <a:solidFill>
                  <a:srgbClr val="FF0000"/>
                </a:solidFill>
              </a:rPr>
              <a:t>INITIALIZE ALL VARIABLES !!</a:t>
            </a:r>
          </a:p>
        </p:txBody>
      </p:sp>
      <p:sp>
        <p:nvSpPr>
          <p:cNvPr id="12" name="TextBox 11"/>
          <p:cNvSpPr txBox="1"/>
          <p:nvPr/>
        </p:nvSpPr>
        <p:spPr>
          <a:xfrm>
            <a:off x="4216250" y="5697252"/>
            <a:ext cx="440896" cy="400110"/>
          </a:xfrm>
          <a:prstGeom prst="rect">
            <a:avLst/>
          </a:prstGeom>
          <a:noFill/>
        </p:spPr>
        <p:txBody>
          <a:bodyPr wrap="none" rtlCol="0">
            <a:spAutoFit/>
          </a:bodyPr>
          <a:lstStyle/>
          <a:p>
            <a:r>
              <a:rPr lang="en-US" sz="2000" b="1" dirty="0">
                <a:solidFill>
                  <a:srgbClr val="FF0000"/>
                </a:solidFill>
              </a:rPr>
              <a:t>!!!</a:t>
            </a:r>
          </a:p>
        </p:txBody>
      </p:sp>
      <p:sp>
        <p:nvSpPr>
          <p:cNvPr id="13" name="TextBox 12"/>
          <p:cNvSpPr txBox="1"/>
          <p:nvPr/>
        </p:nvSpPr>
        <p:spPr>
          <a:xfrm>
            <a:off x="3023828" y="6057292"/>
            <a:ext cx="3147015" cy="400110"/>
          </a:xfrm>
          <a:prstGeom prst="rect">
            <a:avLst/>
          </a:prstGeom>
          <a:noFill/>
        </p:spPr>
        <p:txBody>
          <a:bodyPr wrap="none" rtlCol="0">
            <a:spAutoFit/>
          </a:bodyPr>
          <a:lstStyle/>
          <a:p>
            <a:r>
              <a:rPr lang="en-US" sz="2000" b="1" dirty="0">
                <a:solidFill>
                  <a:srgbClr val="FF0000"/>
                </a:solidFill>
              </a:rPr>
              <a:t>Value of ASCII character</a:t>
            </a:r>
          </a:p>
        </p:txBody>
      </p:sp>
      <p:sp>
        <p:nvSpPr>
          <p:cNvPr id="1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98481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706">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706">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706">
                                            <p:txEl>
                                              <p:pRg st="12" end="1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1" grpId="0"/>
      <p:bldP spid="1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56</a:t>
            </a:fld>
            <a:endParaRPr lang="fr-FR"/>
          </a:p>
        </p:txBody>
      </p:sp>
      <p:sp>
        <p:nvSpPr>
          <p:cNvPr id="15" name="Espace réservé du contenu 2"/>
          <p:cNvSpPr>
            <a:spLocks noGrp="1"/>
          </p:cNvSpPr>
          <p:nvPr>
            <p:ph idx="1"/>
          </p:nvPr>
        </p:nvSpPr>
        <p:spPr>
          <a:xfrm>
            <a:off x="0" y="908720"/>
            <a:ext cx="9217024" cy="2298576"/>
          </a:xfrm>
        </p:spPr>
        <p:txBody>
          <a:bodyPr/>
          <a:lstStyle/>
          <a:p>
            <a:r>
              <a:rPr lang="en-GB" dirty="0">
                <a:latin typeface="Arial" charset="0"/>
                <a:cs typeface="ＭＳ Ｐゴシック" charset="0"/>
              </a:rPr>
              <a:t>Perform operations on data objects</a:t>
            </a:r>
          </a:p>
          <a:p>
            <a:endParaRPr lang="en-GB" dirty="0">
              <a:latin typeface="Arial" charset="0"/>
              <a:cs typeface="ＭＳ Ｐゴシック" charset="0"/>
            </a:endParaRPr>
          </a:p>
          <a:p>
            <a:r>
              <a:rPr lang="en-GB" dirty="0">
                <a:latin typeface="Arial" charset="0"/>
                <a:cs typeface="ＭＳ Ｐゴシック" charset="0"/>
              </a:rPr>
              <a:t>They have priorities in the order they are applied:</a:t>
            </a:r>
          </a:p>
          <a:p>
            <a:pPr lvl="1"/>
            <a:r>
              <a:rPr lang="en-GB" dirty="0">
                <a:latin typeface="Arial" charset="0"/>
                <a:cs typeface="ＭＳ Ｐゴシック" charset="0"/>
              </a:rPr>
              <a:t>Check the priority order</a:t>
            </a:r>
          </a:p>
          <a:p>
            <a:pPr lvl="1"/>
            <a:r>
              <a:rPr lang="en-GB" b="1" dirty="0">
                <a:solidFill>
                  <a:srgbClr val="FF0000"/>
                </a:solidFill>
                <a:latin typeface="Arial" charset="0"/>
                <a:cs typeface="ＭＳ Ｐゴシック" charset="0"/>
              </a:rPr>
              <a:t>USE PARENTHESIS</a:t>
            </a:r>
          </a:p>
          <a:p>
            <a:pPr lvl="1"/>
            <a:endParaRPr lang="en-GB" b="1" dirty="0">
              <a:solidFill>
                <a:srgbClr val="FF0000"/>
              </a:solidFill>
              <a:latin typeface="Arial" charset="0"/>
              <a:cs typeface="ＭＳ Ｐゴシック" charset="0"/>
            </a:endParaRPr>
          </a:p>
          <a:p>
            <a:r>
              <a:rPr lang="en-GB" dirty="0">
                <a:solidFill>
                  <a:schemeClr val="tx1"/>
                </a:solidFill>
                <a:latin typeface="Arial" charset="0"/>
                <a:cs typeface="ＭＳ Ｐゴシック" charset="0"/>
              </a:rPr>
              <a:t>Operator types</a:t>
            </a:r>
          </a:p>
          <a:p>
            <a:pPr lvl="1"/>
            <a:r>
              <a:rPr lang="en-GB" dirty="0">
                <a:solidFill>
                  <a:schemeClr val="tx1"/>
                </a:solidFill>
                <a:latin typeface="Arial" charset="0"/>
                <a:cs typeface="ＭＳ Ｐゴシック" charset="0"/>
              </a:rPr>
              <a:t>Arithmetic</a:t>
            </a:r>
          </a:p>
          <a:p>
            <a:pPr lvl="1"/>
            <a:r>
              <a:rPr lang="en-GB" dirty="0">
                <a:solidFill>
                  <a:schemeClr val="tx1"/>
                </a:solidFill>
                <a:latin typeface="Arial" charset="0"/>
                <a:cs typeface="ＭＳ Ｐゴシック" charset="0"/>
              </a:rPr>
              <a:t>Relational</a:t>
            </a:r>
          </a:p>
          <a:p>
            <a:pPr lvl="1"/>
            <a:r>
              <a:rPr lang="en-GB" dirty="0">
                <a:solidFill>
                  <a:schemeClr val="tx1"/>
                </a:solidFill>
                <a:latin typeface="Arial" charset="0"/>
                <a:cs typeface="ＭＳ Ｐゴシック" charset="0"/>
              </a:rPr>
              <a:t>Logical</a:t>
            </a:r>
          </a:p>
          <a:p>
            <a:pPr lvl="1"/>
            <a:r>
              <a:rPr lang="en-GB" dirty="0">
                <a:solidFill>
                  <a:schemeClr val="tx1"/>
                </a:solidFill>
                <a:latin typeface="Arial" charset="0"/>
                <a:cs typeface="ＭＳ Ｐゴシック" charset="0"/>
              </a:rPr>
              <a:t>Bitwise</a:t>
            </a:r>
          </a:p>
          <a:p>
            <a:pPr lvl="1"/>
            <a:r>
              <a:rPr lang="en-GB" dirty="0">
                <a:solidFill>
                  <a:schemeClr val="tx1"/>
                </a:solidFill>
                <a:latin typeface="Arial" charset="0"/>
                <a:cs typeface="ＭＳ Ｐゴシック" charset="0"/>
              </a:rPr>
              <a:t>Assignment</a:t>
            </a:r>
          </a:p>
          <a:p>
            <a:pPr lvl="1"/>
            <a:r>
              <a:rPr lang="en-GB" dirty="0">
                <a:solidFill>
                  <a:schemeClr val="tx1"/>
                </a:solidFill>
                <a:latin typeface="Arial" charset="0"/>
                <a:cs typeface="ＭＳ Ｐゴシック" charset="0"/>
              </a:rPr>
              <a:t>…..</a:t>
            </a:r>
            <a:endParaRPr lang="en-GB" dirty="0">
              <a:solidFill>
                <a:schemeClr val="tx1"/>
              </a:solidFill>
              <a:cs typeface="Courier New"/>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676034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Arithmetic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57</a:t>
            </a:fld>
            <a:endParaRPr lang="fr-FR"/>
          </a:p>
        </p:txBody>
      </p:sp>
      <p:sp>
        <p:nvSpPr>
          <p:cNvPr id="6" name="Rectangle 5"/>
          <p:cNvSpPr/>
          <p:nvPr/>
        </p:nvSpPr>
        <p:spPr>
          <a:xfrm>
            <a:off x="0" y="1138096"/>
            <a:ext cx="9540552" cy="3416320"/>
          </a:xfrm>
          <a:prstGeom prst="rect">
            <a:avLst/>
          </a:prstGeom>
        </p:spPr>
        <p:txBody>
          <a:bodyPr wrap="square">
            <a:spAutoFit/>
          </a:bodyPr>
          <a:lstStyle/>
          <a:p>
            <a:pPr algn="l"/>
            <a:r>
              <a:rPr lang="en-US" sz="2400" b="1" dirty="0"/>
              <a:t>Operator 	Description 					Example</a:t>
            </a:r>
          </a:p>
          <a:p>
            <a:pPr algn="l"/>
            <a:r>
              <a:rPr lang="en-US" sz="2000" dirty="0"/>
              <a:t>+ 		Adds two operands. 				A + B = 30</a:t>
            </a:r>
          </a:p>
          <a:p>
            <a:pPr algn="l"/>
            <a:r>
              <a:rPr lang="en-US" sz="2000" dirty="0"/>
              <a:t>− 		Subtracts second operand from the first. 	A − B = -10</a:t>
            </a:r>
          </a:p>
          <a:p>
            <a:pPr algn="l"/>
            <a:r>
              <a:rPr lang="en-US" sz="2000" dirty="0"/>
              <a:t>* 		Multiplies both operands. 			A * B = 200</a:t>
            </a:r>
          </a:p>
          <a:p>
            <a:pPr algn="l"/>
            <a:r>
              <a:rPr lang="en-US" sz="2000" dirty="0"/>
              <a:t>/ 		Divides numerator by de-numerator. 		B / A = 2</a:t>
            </a:r>
          </a:p>
          <a:p>
            <a:pPr algn="l"/>
            <a:r>
              <a:rPr lang="en-US" sz="2000" dirty="0"/>
              <a:t>% 		</a:t>
            </a:r>
            <a:r>
              <a:rPr lang="en-US" sz="2000" b="1" dirty="0"/>
              <a:t>Remainder</a:t>
            </a:r>
            <a:r>
              <a:rPr lang="en-US" sz="2000" dirty="0"/>
              <a:t> after </a:t>
            </a:r>
            <a:r>
              <a:rPr lang="en-US" sz="2000" b="1" dirty="0"/>
              <a:t>integer</a:t>
            </a:r>
            <a:r>
              <a:rPr lang="en-US" sz="2000" dirty="0"/>
              <a:t> division.		B % A = 0</a:t>
            </a:r>
          </a:p>
          <a:p>
            <a:pPr algn="l"/>
            <a:r>
              <a:rPr lang="en-US" sz="2000" dirty="0"/>
              <a:t> 		(assignment at the same time).</a:t>
            </a:r>
          </a:p>
          <a:p>
            <a:pPr algn="l"/>
            <a:r>
              <a:rPr lang="en-US" sz="2000" dirty="0"/>
              <a:t>++		Increases the integer value by one  		A++ = 11</a:t>
            </a:r>
          </a:p>
          <a:p>
            <a:pPr algn="l"/>
            <a:r>
              <a:rPr lang="en-US" sz="2000" dirty="0"/>
              <a:t>-- 		Decreases the integer value by one. 		A-- = 9</a:t>
            </a:r>
          </a:p>
        </p:txBody>
      </p:sp>
      <p:cxnSp>
        <p:nvCxnSpPr>
          <p:cNvPr id="7" name="Straight Connector 6"/>
          <p:cNvCxnSpPr/>
          <p:nvPr/>
        </p:nvCxnSpPr>
        <p:spPr bwMode="auto">
          <a:xfrm>
            <a:off x="0" y="160614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1583668" y="980728"/>
            <a:ext cx="0" cy="3204356"/>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768244" y="1052736"/>
            <a:ext cx="0" cy="3276364"/>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Rectangle 12"/>
          <p:cNvSpPr/>
          <p:nvPr/>
        </p:nvSpPr>
        <p:spPr>
          <a:xfrm>
            <a:off x="6752550" y="764704"/>
            <a:ext cx="2376335" cy="400110"/>
          </a:xfrm>
          <a:prstGeom prst="rect">
            <a:avLst/>
          </a:prstGeom>
        </p:spPr>
        <p:txBody>
          <a:bodyPr wrap="square">
            <a:spAutoFit/>
          </a:bodyPr>
          <a:lstStyle/>
          <a:p>
            <a:r>
              <a:rPr lang="en-US" sz="2000" dirty="0"/>
              <a:t>A = 10,  B = 20</a:t>
            </a:r>
          </a:p>
        </p:txBody>
      </p:sp>
      <p:sp>
        <p:nvSpPr>
          <p:cNvPr id="14" name="TextBox 13"/>
          <p:cNvSpPr txBox="1"/>
          <p:nvPr/>
        </p:nvSpPr>
        <p:spPr>
          <a:xfrm>
            <a:off x="647564" y="3501008"/>
            <a:ext cx="492142" cy="461665"/>
          </a:xfrm>
          <a:prstGeom prst="rect">
            <a:avLst/>
          </a:prstGeom>
          <a:noFill/>
        </p:spPr>
        <p:txBody>
          <a:bodyPr wrap="none" rtlCol="0">
            <a:spAutoFit/>
          </a:bodyPr>
          <a:lstStyle/>
          <a:p>
            <a:r>
              <a:rPr lang="en-US" sz="2400" b="1" dirty="0">
                <a:solidFill>
                  <a:srgbClr val="FF0000"/>
                </a:solidFill>
              </a:rPr>
              <a:t>!!!</a:t>
            </a:r>
          </a:p>
        </p:txBody>
      </p:sp>
      <p:sp>
        <p:nvSpPr>
          <p:cNvPr id="15" name="Espace réservé du contenu 2"/>
          <p:cNvSpPr>
            <a:spLocks noGrp="1"/>
          </p:cNvSpPr>
          <p:nvPr>
            <p:ph idx="1"/>
          </p:nvPr>
        </p:nvSpPr>
        <p:spPr>
          <a:xfrm>
            <a:off x="107504" y="4694820"/>
            <a:ext cx="9217024" cy="2298576"/>
          </a:xfrm>
        </p:spPr>
        <p:txBody>
          <a:bodyPr/>
          <a:lstStyle/>
          <a:p>
            <a:r>
              <a:rPr lang="en-GB" dirty="0">
                <a:latin typeface="Arial" charset="0"/>
                <a:cs typeface="ＭＳ Ｐゴシック" charset="0"/>
              </a:rPr>
              <a:t>Postfix (Post-increment): Do the operation and return </a:t>
            </a:r>
            <a:r>
              <a:rPr lang="en-GB" b="1" dirty="0">
                <a:latin typeface="Arial" charset="0"/>
                <a:cs typeface="ＭＳ Ｐゴシック" charset="0"/>
              </a:rPr>
              <a:t>old</a:t>
            </a:r>
            <a:r>
              <a:rPr lang="en-GB" dirty="0">
                <a:latin typeface="Arial" charset="0"/>
                <a:cs typeface="ＭＳ Ｐゴシック" charset="0"/>
              </a:rPr>
              <a:t> value</a:t>
            </a:r>
          </a:p>
          <a:p>
            <a:pPr lvl="1"/>
            <a:r>
              <a:rPr lang="en-GB" b="1" dirty="0">
                <a:latin typeface="Courier New"/>
                <a:cs typeface="Courier New"/>
              </a:rPr>
              <a:t>A++ </a:t>
            </a:r>
            <a:r>
              <a:rPr lang="en-GB" dirty="0">
                <a:cs typeface="Courier New"/>
              </a:rPr>
              <a:t>returns 10 and then does A=11  </a:t>
            </a:r>
          </a:p>
          <a:p>
            <a:r>
              <a:rPr lang="en-GB" dirty="0">
                <a:latin typeface="Arial" charset="0"/>
                <a:cs typeface="ＭＳ Ｐゴシック" charset="0"/>
              </a:rPr>
              <a:t>Prefix (Pre-increment): Do the operation and return </a:t>
            </a:r>
            <a:r>
              <a:rPr lang="en-GB" b="1" dirty="0">
                <a:latin typeface="Arial" charset="0"/>
                <a:cs typeface="ＭＳ Ｐゴシック" charset="0"/>
              </a:rPr>
              <a:t>new</a:t>
            </a:r>
            <a:r>
              <a:rPr lang="en-GB" dirty="0">
                <a:latin typeface="Arial" charset="0"/>
                <a:cs typeface="ＭＳ Ｐゴシック" charset="0"/>
              </a:rPr>
              <a:t> value </a:t>
            </a:r>
          </a:p>
          <a:p>
            <a:pPr lvl="1"/>
            <a:r>
              <a:rPr lang="en-GB" b="1" dirty="0">
                <a:latin typeface="Courier New"/>
                <a:cs typeface="Courier New"/>
              </a:rPr>
              <a:t>++A </a:t>
            </a:r>
            <a:r>
              <a:rPr lang="en-GB" dirty="0">
                <a:cs typeface="Courier New"/>
              </a:rPr>
              <a:t>does =11 and then returns A</a:t>
            </a:r>
          </a:p>
        </p:txBody>
      </p:sp>
      <p:cxnSp>
        <p:nvCxnSpPr>
          <p:cNvPr id="18" name="Straight Connector 17"/>
          <p:cNvCxnSpPr/>
          <p:nvPr/>
        </p:nvCxnSpPr>
        <p:spPr bwMode="auto">
          <a:xfrm>
            <a:off x="35496" y="342900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82545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ce réservé du contenu 2"/>
          <p:cNvSpPr>
            <a:spLocks noGrp="1"/>
          </p:cNvSpPr>
          <p:nvPr>
            <p:ph idx="1"/>
          </p:nvPr>
        </p:nvSpPr>
        <p:spPr>
          <a:xfrm>
            <a:off x="359532" y="5445149"/>
            <a:ext cx="8784468" cy="792163"/>
          </a:xfrm>
        </p:spPr>
        <p:txBody>
          <a:bodyPr/>
          <a:lstStyle/>
          <a:p>
            <a:pPr marL="542925" lvl="1" indent="0">
              <a:buNone/>
            </a:pPr>
            <a:endParaRPr lang="en-GB" sz="1000" dirty="0">
              <a:latin typeface="Arial" charset="0"/>
            </a:endParaRPr>
          </a:p>
          <a:p>
            <a:pPr lvl="1"/>
            <a:r>
              <a:rPr lang="en-GB" sz="2000" b="1" dirty="0">
                <a:latin typeface="Arial" charset="0"/>
              </a:rPr>
              <a:t>Any </a:t>
            </a:r>
            <a:r>
              <a:rPr lang="en-GB" b="1" dirty="0">
                <a:solidFill>
                  <a:srgbClr val="FF0000"/>
                </a:solidFill>
                <a:latin typeface="Arial" charset="0"/>
              </a:rPr>
              <a:t>integer</a:t>
            </a:r>
            <a:r>
              <a:rPr lang="en-GB" b="1" dirty="0">
                <a:latin typeface="Arial" charset="0"/>
              </a:rPr>
              <a:t> value can be considered as Boolean</a:t>
            </a:r>
            <a:endParaRPr lang="en-GB" sz="2000" b="1" dirty="0">
              <a:latin typeface="Arial" charset="0"/>
            </a:endParaRPr>
          </a:p>
          <a:p>
            <a:pPr lvl="2"/>
            <a:r>
              <a:rPr lang="en-GB" dirty="0">
                <a:latin typeface="Arial" charset="0"/>
              </a:rPr>
              <a:t>A </a:t>
            </a:r>
            <a:r>
              <a:rPr lang="en-GB" dirty="0">
                <a:solidFill>
                  <a:srgbClr val="FF0000"/>
                </a:solidFill>
                <a:latin typeface="Arial" charset="0"/>
              </a:rPr>
              <a:t>FALSE </a:t>
            </a:r>
            <a:r>
              <a:rPr lang="en-GB" dirty="0">
                <a:latin typeface="Arial" charset="0"/>
              </a:rPr>
              <a:t>expression is coded as </a:t>
            </a:r>
            <a:r>
              <a:rPr lang="en-GB" dirty="0">
                <a:solidFill>
                  <a:srgbClr val="FF0000"/>
                </a:solidFill>
                <a:latin typeface="Arial" charset="0"/>
              </a:rPr>
              <a:t>a zero</a:t>
            </a:r>
            <a:r>
              <a:rPr lang="en-GB" dirty="0">
                <a:latin typeface="Arial" charset="0"/>
              </a:rPr>
              <a:t> integer</a:t>
            </a:r>
          </a:p>
          <a:p>
            <a:pPr lvl="2"/>
            <a:r>
              <a:rPr lang="en-GB" dirty="0">
                <a:latin typeface="Arial" charset="0"/>
              </a:rPr>
              <a:t>A </a:t>
            </a:r>
            <a:r>
              <a:rPr lang="en-GB" dirty="0">
                <a:solidFill>
                  <a:srgbClr val="FF0000"/>
                </a:solidFill>
                <a:latin typeface="Arial" charset="0"/>
              </a:rPr>
              <a:t>TRUE</a:t>
            </a:r>
            <a:r>
              <a:rPr lang="en-GB" dirty="0">
                <a:latin typeface="Arial" charset="0"/>
              </a:rPr>
              <a:t> expression is coded as </a:t>
            </a:r>
            <a:r>
              <a:rPr lang="en-GB" dirty="0">
                <a:solidFill>
                  <a:srgbClr val="FF0000"/>
                </a:solidFill>
                <a:latin typeface="Arial" charset="0"/>
              </a:rPr>
              <a:t>any non-zero </a:t>
            </a:r>
            <a:r>
              <a:rPr lang="en-GB" dirty="0">
                <a:latin typeface="Arial" charset="0"/>
              </a:rPr>
              <a:t>integer value</a:t>
            </a:r>
          </a:p>
        </p:txBody>
      </p:sp>
      <p:sp>
        <p:nvSpPr>
          <p:cNvPr id="18" name="Rectangle 17"/>
          <p:cNvSpPr/>
          <p:nvPr/>
        </p:nvSpPr>
        <p:spPr>
          <a:xfrm>
            <a:off x="6804248" y="800708"/>
            <a:ext cx="2736304" cy="4832092"/>
          </a:xfrm>
          <a:prstGeom prst="rect">
            <a:avLst/>
          </a:prstGeom>
        </p:spPr>
        <p:txBody>
          <a:bodyPr wrap="square">
            <a:spAutoFit/>
          </a:bodyPr>
          <a:lstStyle/>
          <a:p>
            <a:pPr algn="l"/>
            <a:r>
              <a:rPr lang="en-US" sz="2000" b="1" dirty="0"/>
              <a:t>Example</a:t>
            </a:r>
          </a:p>
          <a:p>
            <a:pPr algn="l"/>
            <a:endParaRPr lang="en-US" sz="2000" dirty="0"/>
          </a:p>
          <a:p>
            <a:pPr algn="l"/>
            <a:r>
              <a:rPr lang="en-US" sz="2000" dirty="0"/>
              <a:t>(A == B) is not true.</a:t>
            </a:r>
          </a:p>
          <a:p>
            <a:pPr algn="l"/>
            <a:endParaRPr lang="en-US" sz="2000" dirty="0"/>
          </a:p>
          <a:p>
            <a:pPr algn="l"/>
            <a:r>
              <a:rPr lang="en-US" sz="2000" dirty="0"/>
              <a:t>(A != B) is true.</a:t>
            </a:r>
          </a:p>
          <a:p>
            <a:pPr algn="l"/>
            <a:endParaRPr lang="en-US" sz="2000" dirty="0"/>
          </a:p>
          <a:p>
            <a:pPr algn="l"/>
            <a:r>
              <a:rPr lang="en-US" sz="2000" dirty="0"/>
              <a:t>(A &gt; B) is not true.</a:t>
            </a:r>
          </a:p>
          <a:p>
            <a:pPr algn="l"/>
            <a:endParaRPr lang="en-US" sz="2000" dirty="0"/>
          </a:p>
          <a:p>
            <a:pPr algn="l"/>
            <a:r>
              <a:rPr lang="en-US" sz="2000" dirty="0"/>
              <a:t>(A &lt; B) is true.</a:t>
            </a:r>
          </a:p>
          <a:p>
            <a:pPr algn="l"/>
            <a:endParaRPr lang="en-US" sz="2000" dirty="0"/>
          </a:p>
          <a:p>
            <a:pPr algn="l"/>
            <a:r>
              <a:rPr lang="en-US" sz="2000" dirty="0"/>
              <a:t>(A &gt;= B) is not true.</a:t>
            </a:r>
          </a:p>
          <a:p>
            <a:pPr algn="l"/>
            <a:endParaRPr lang="en-US" sz="2000" dirty="0"/>
          </a:p>
          <a:p>
            <a:pPr algn="l"/>
            <a:r>
              <a:rPr lang="en-US" sz="2000" dirty="0"/>
              <a:t>(A &lt;= B) is true</a:t>
            </a:r>
          </a:p>
        </p:txBody>
      </p:sp>
      <p:sp>
        <p:nvSpPr>
          <p:cNvPr id="2" name="Title 1"/>
          <p:cNvSpPr>
            <a:spLocks noGrp="1"/>
          </p:cNvSpPr>
          <p:nvPr>
            <p:ph type="title"/>
          </p:nvPr>
        </p:nvSpPr>
        <p:spPr/>
        <p:txBody>
          <a:bodyPr/>
          <a:lstStyle/>
          <a:p>
            <a:r>
              <a:rPr lang="en-US" sz="2800" dirty="0"/>
              <a:t>Relational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58</a:t>
            </a:fld>
            <a:endParaRPr lang="fr-FR"/>
          </a:p>
        </p:txBody>
      </p:sp>
      <p:cxnSp>
        <p:nvCxnSpPr>
          <p:cNvPr id="7" name="Straight Connector 6"/>
          <p:cNvCxnSpPr/>
          <p:nvPr/>
        </p:nvCxnSpPr>
        <p:spPr bwMode="auto">
          <a:xfrm>
            <a:off x="0" y="1210104"/>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683568" y="915195"/>
            <a:ext cx="0" cy="4602037"/>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768244" y="1032704"/>
            <a:ext cx="0" cy="4520532"/>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Rectangle 12"/>
          <p:cNvSpPr/>
          <p:nvPr/>
        </p:nvSpPr>
        <p:spPr>
          <a:xfrm>
            <a:off x="6752550" y="548680"/>
            <a:ext cx="2376335" cy="400110"/>
          </a:xfrm>
          <a:prstGeom prst="rect">
            <a:avLst/>
          </a:prstGeom>
        </p:spPr>
        <p:txBody>
          <a:bodyPr wrap="square">
            <a:spAutoFit/>
          </a:bodyPr>
          <a:lstStyle/>
          <a:p>
            <a:r>
              <a:rPr lang="en-US" sz="2000" dirty="0"/>
              <a:t>A = 10,  B = 20</a:t>
            </a:r>
          </a:p>
        </p:txBody>
      </p:sp>
      <p:sp>
        <p:nvSpPr>
          <p:cNvPr id="17" name="Rectangle 16"/>
          <p:cNvSpPr/>
          <p:nvPr/>
        </p:nvSpPr>
        <p:spPr>
          <a:xfrm>
            <a:off x="107504" y="800708"/>
            <a:ext cx="7020780" cy="4832092"/>
          </a:xfrm>
          <a:prstGeom prst="rect">
            <a:avLst/>
          </a:prstGeom>
        </p:spPr>
        <p:txBody>
          <a:bodyPr wrap="square">
            <a:spAutoFit/>
          </a:bodyPr>
          <a:lstStyle/>
          <a:p>
            <a:pPr algn="l"/>
            <a:r>
              <a:rPr lang="en-US" sz="2000" b="1" dirty="0"/>
              <a:t>Op. 	Description  </a:t>
            </a:r>
          </a:p>
          <a:p>
            <a:pPr algn="l"/>
            <a:r>
              <a:rPr lang="en-US" sz="2000" dirty="0"/>
              <a:t>==     Checks if the values of two operands are equal.    </a:t>
            </a:r>
          </a:p>
          <a:p>
            <a:pPr algn="l"/>
            <a:r>
              <a:rPr lang="en-US" sz="2000" dirty="0"/>
              <a:t>         If yes, the condition becomes true. 		</a:t>
            </a:r>
          </a:p>
          <a:p>
            <a:pPr algn="l"/>
            <a:r>
              <a:rPr lang="en-US" sz="2000" dirty="0"/>
              <a:t>!=      Checks if the values of two operands are not equal </a:t>
            </a:r>
          </a:p>
          <a:p>
            <a:pPr algn="l"/>
            <a:r>
              <a:rPr lang="en-US" sz="2000" dirty="0"/>
              <a:t>         different. If yes, the condition becomes true. 	</a:t>
            </a:r>
          </a:p>
          <a:p>
            <a:pPr algn="l"/>
            <a:r>
              <a:rPr lang="en-US" sz="2000" dirty="0"/>
              <a:t>&gt;      Checks if the value of left operand is greater than the </a:t>
            </a:r>
          </a:p>
          <a:p>
            <a:pPr algn="l"/>
            <a:r>
              <a:rPr lang="en-US" sz="2000" dirty="0"/>
              <a:t>         value of right operand. If yes, it becomes true. 	</a:t>
            </a:r>
          </a:p>
          <a:p>
            <a:pPr algn="l"/>
            <a:r>
              <a:rPr lang="en-US" sz="2000" dirty="0"/>
              <a:t>&lt;      Checks if the value of left operand is less than the </a:t>
            </a:r>
          </a:p>
          <a:p>
            <a:pPr algn="l"/>
            <a:r>
              <a:rPr lang="en-US" sz="2000" dirty="0"/>
              <a:t>         value of right operand. If yes, it becomes true. 	</a:t>
            </a:r>
          </a:p>
          <a:p>
            <a:pPr algn="l"/>
            <a:r>
              <a:rPr lang="en-US" sz="2000" dirty="0"/>
              <a:t>&gt;=    Checks if the value of left operand is greater than or </a:t>
            </a:r>
          </a:p>
          <a:p>
            <a:pPr algn="l"/>
            <a:r>
              <a:rPr lang="en-US" sz="2000" dirty="0"/>
              <a:t>        equal to the value of right operand. </a:t>
            </a:r>
          </a:p>
          <a:p>
            <a:pPr algn="l"/>
            <a:r>
              <a:rPr lang="en-US" sz="2000" dirty="0"/>
              <a:t>&lt;=     Checks if the value of left operand is less than or </a:t>
            </a:r>
          </a:p>
          <a:p>
            <a:pPr algn="l"/>
            <a:r>
              <a:rPr lang="en-US" sz="2000" dirty="0"/>
              <a:t>         equal to the value of right operand. </a:t>
            </a:r>
          </a:p>
        </p:txBody>
      </p:sp>
      <p:cxnSp>
        <p:nvCxnSpPr>
          <p:cNvPr id="19" name="Straight Connector 18"/>
          <p:cNvCxnSpPr/>
          <p:nvPr/>
        </p:nvCxnSpPr>
        <p:spPr bwMode="auto">
          <a:xfrm>
            <a:off x="-508" y="191683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 name="Straight Connector 19"/>
          <p:cNvCxnSpPr/>
          <p:nvPr/>
        </p:nvCxnSpPr>
        <p:spPr bwMode="auto">
          <a:xfrm>
            <a:off x="35496" y="267291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Straight Connector 20"/>
          <p:cNvCxnSpPr/>
          <p:nvPr/>
        </p:nvCxnSpPr>
        <p:spPr bwMode="auto">
          <a:xfrm>
            <a:off x="71500" y="335699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 name="Straight Connector 21"/>
          <p:cNvCxnSpPr/>
          <p:nvPr/>
        </p:nvCxnSpPr>
        <p:spPr bwMode="auto">
          <a:xfrm>
            <a:off x="35496" y="407707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Straight Connector 22"/>
          <p:cNvCxnSpPr/>
          <p:nvPr/>
        </p:nvCxnSpPr>
        <p:spPr bwMode="auto">
          <a:xfrm>
            <a:off x="35496" y="486916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Espace réservé du pied de page 2">
            <a:extLst>
              <a:ext uri="{FF2B5EF4-FFF2-40B4-BE49-F238E27FC236}">
                <a16:creationId xmlns:a16="http://schemas.microsoft.com/office/drawing/2014/main" id="{E9EEB49F-1806-1510-6029-17D1716376BC}"/>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05992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Logical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59</a:t>
            </a:fld>
            <a:endParaRPr lang="fr-FR"/>
          </a:p>
        </p:txBody>
      </p:sp>
      <p:cxnSp>
        <p:nvCxnSpPr>
          <p:cNvPr id="7" name="Straight Connector 6"/>
          <p:cNvCxnSpPr/>
          <p:nvPr/>
        </p:nvCxnSpPr>
        <p:spPr bwMode="auto">
          <a:xfrm>
            <a:off x="0" y="2510314"/>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827584" y="2021165"/>
            <a:ext cx="0" cy="3676087"/>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768244" y="1970002"/>
            <a:ext cx="0" cy="372725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Rectangle 12"/>
          <p:cNvSpPr/>
          <p:nvPr/>
        </p:nvSpPr>
        <p:spPr>
          <a:xfrm>
            <a:off x="6696236" y="1736812"/>
            <a:ext cx="2376335" cy="400110"/>
          </a:xfrm>
          <a:prstGeom prst="rect">
            <a:avLst/>
          </a:prstGeom>
        </p:spPr>
        <p:txBody>
          <a:bodyPr wrap="square">
            <a:spAutoFit/>
          </a:bodyPr>
          <a:lstStyle/>
          <a:p>
            <a:r>
              <a:rPr lang="en-US" sz="2000" dirty="0"/>
              <a:t>A = 1,  B = 0</a:t>
            </a:r>
          </a:p>
        </p:txBody>
      </p:sp>
      <p:cxnSp>
        <p:nvCxnSpPr>
          <p:cNvPr id="19" name="Straight Connector 18"/>
          <p:cNvCxnSpPr/>
          <p:nvPr/>
        </p:nvCxnSpPr>
        <p:spPr bwMode="auto">
          <a:xfrm>
            <a:off x="-508" y="360902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 name="Straight Connector 19"/>
          <p:cNvCxnSpPr/>
          <p:nvPr/>
        </p:nvCxnSpPr>
        <p:spPr bwMode="auto">
          <a:xfrm>
            <a:off x="35496" y="468914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Straight Connector 20"/>
          <p:cNvCxnSpPr/>
          <p:nvPr/>
        </p:nvCxnSpPr>
        <p:spPr bwMode="auto">
          <a:xfrm>
            <a:off x="71500" y="566124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Rectangle 2"/>
          <p:cNvSpPr/>
          <p:nvPr/>
        </p:nvSpPr>
        <p:spPr>
          <a:xfrm>
            <a:off x="11833" y="2136922"/>
            <a:ext cx="851756" cy="3354765"/>
          </a:xfrm>
          <a:prstGeom prst="rect">
            <a:avLst/>
          </a:prstGeom>
        </p:spPr>
        <p:txBody>
          <a:bodyPr wrap="square">
            <a:spAutoFit/>
          </a:bodyPr>
          <a:lstStyle/>
          <a:p>
            <a:pPr algn="l"/>
            <a:r>
              <a:rPr lang="en-US" sz="2000" b="1" dirty="0"/>
              <a:t>Op. </a:t>
            </a:r>
          </a:p>
          <a:p>
            <a:pPr algn="l"/>
            <a:r>
              <a:rPr lang="en-US" sz="2000" dirty="0"/>
              <a:t>&amp;&amp; </a:t>
            </a:r>
          </a:p>
          <a:p>
            <a:pPr algn="l"/>
            <a:endParaRPr lang="en-US" sz="2000" dirty="0"/>
          </a:p>
          <a:p>
            <a:pPr algn="l"/>
            <a:endParaRPr lang="en-US" sz="2000" dirty="0"/>
          </a:p>
          <a:p>
            <a:pPr algn="l"/>
            <a:r>
              <a:rPr lang="en-US" sz="2000" dirty="0"/>
              <a:t>||</a:t>
            </a:r>
          </a:p>
          <a:p>
            <a:pPr algn="l"/>
            <a:endParaRPr lang="en-US" sz="2000" dirty="0"/>
          </a:p>
          <a:p>
            <a:pPr algn="l"/>
            <a:endParaRPr lang="en-US" sz="2000" dirty="0"/>
          </a:p>
          <a:p>
            <a:pPr algn="l"/>
            <a:r>
              <a:rPr lang="en-US" sz="2000" dirty="0"/>
              <a:t>!</a:t>
            </a:r>
          </a:p>
          <a:p>
            <a:pPr algn="l"/>
            <a:r>
              <a:rPr lang="en-US" sz="2000" dirty="0"/>
              <a:t>	</a:t>
            </a:r>
          </a:p>
        </p:txBody>
      </p:sp>
      <p:sp>
        <p:nvSpPr>
          <p:cNvPr id="24" name="Rectangle 23"/>
          <p:cNvSpPr/>
          <p:nvPr/>
        </p:nvSpPr>
        <p:spPr>
          <a:xfrm>
            <a:off x="6984268" y="2100918"/>
            <a:ext cx="2484530" cy="2616101"/>
          </a:xfrm>
          <a:prstGeom prst="rect">
            <a:avLst/>
          </a:prstGeom>
        </p:spPr>
        <p:txBody>
          <a:bodyPr wrap="square">
            <a:spAutoFit/>
          </a:bodyPr>
          <a:lstStyle/>
          <a:p>
            <a:pPr algn="l"/>
            <a:r>
              <a:rPr lang="en-US" sz="2000" b="1" dirty="0"/>
              <a:t>Example</a:t>
            </a:r>
          </a:p>
          <a:p>
            <a:pPr algn="l"/>
            <a:endParaRPr lang="en-US" sz="2000" dirty="0"/>
          </a:p>
          <a:p>
            <a:pPr algn="l"/>
            <a:r>
              <a:rPr lang="en-US" sz="2000" dirty="0"/>
              <a:t>(A &amp;&amp; B) is false.</a:t>
            </a:r>
          </a:p>
          <a:p>
            <a:pPr algn="l"/>
            <a:endParaRPr lang="en-US" sz="2000" dirty="0"/>
          </a:p>
          <a:p>
            <a:pPr algn="l"/>
            <a:r>
              <a:rPr lang="en-US" sz="2000" dirty="0"/>
              <a:t>(A || B) is true.</a:t>
            </a:r>
          </a:p>
          <a:p>
            <a:pPr algn="l"/>
            <a:endParaRPr lang="en-US" sz="2000" dirty="0"/>
          </a:p>
          <a:p>
            <a:pPr algn="l"/>
            <a:r>
              <a:rPr lang="en-US" sz="2000" dirty="0"/>
              <a:t>!(A &amp;&amp; B) is true.</a:t>
            </a:r>
          </a:p>
        </p:txBody>
      </p:sp>
      <p:sp>
        <p:nvSpPr>
          <p:cNvPr id="25" name="Rectangle 24"/>
          <p:cNvSpPr/>
          <p:nvPr/>
        </p:nvSpPr>
        <p:spPr>
          <a:xfrm>
            <a:off x="863589" y="2170019"/>
            <a:ext cx="5868652" cy="3477875"/>
          </a:xfrm>
          <a:prstGeom prst="rect">
            <a:avLst/>
          </a:prstGeom>
        </p:spPr>
        <p:txBody>
          <a:bodyPr wrap="square">
            <a:spAutoFit/>
          </a:bodyPr>
          <a:lstStyle/>
          <a:p>
            <a:pPr algn="l"/>
            <a:r>
              <a:rPr lang="en-US" sz="2000" b="1" dirty="0"/>
              <a:t>Description 	</a:t>
            </a:r>
          </a:p>
          <a:p>
            <a:pPr algn="l"/>
            <a:r>
              <a:rPr lang="en-US" sz="2000" b="1" dirty="0"/>
              <a:t>Logical</a:t>
            </a:r>
            <a:r>
              <a:rPr lang="en-US" sz="2000" dirty="0"/>
              <a:t> </a:t>
            </a:r>
            <a:r>
              <a:rPr lang="en-US" sz="2000" b="1" dirty="0"/>
              <a:t>AND</a:t>
            </a:r>
            <a:r>
              <a:rPr lang="en-US" sz="2000" dirty="0"/>
              <a:t>: If </a:t>
            </a:r>
            <a:r>
              <a:rPr lang="en-US" sz="2000" b="1" dirty="0"/>
              <a:t>both</a:t>
            </a:r>
            <a:r>
              <a:rPr lang="en-US" sz="2000" dirty="0"/>
              <a:t> the operands are non-zero, then the condition becomes true.</a:t>
            </a:r>
          </a:p>
          <a:p>
            <a:pPr marL="0" lvl="2" algn="l"/>
            <a:r>
              <a:rPr lang="en-GB" sz="2000" dirty="0">
                <a:cs typeface="ＭＳ Ｐゴシック" charset="0"/>
              </a:rPr>
              <a:t>Does not evaluate 2</a:t>
            </a:r>
            <a:r>
              <a:rPr lang="en-GB" sz="2000" baseline="30000" dirty="0">
                <a:cs typeface="ＭＳ Ｐゴシック" charset="0"/>
              </a:rPr>
              <a:t>nd</a:t>
            </a:r>
            <a:r>
              <a:rPr lang="en-GB" sz="2000" dirty="0">
                <a:cs typeface="ＭＳ Ｐゴシック" charset="0"/>
              </a:rPr>
              <a:t> operand, if the first is false</a:t>
            </a:r>
            <a:endParaRPr lang="en-US" sz="2000" dirty="0"/>
          </a:p>
          <a:p>
            <a:pPr algn="l"/>
            <a:r>
              <a:rPr lang="en-US" sz="2000" b="1" dirty="0"/>
              <a:t>Logical</a:t>
            </a:r>
            <a:r>
              <a:rPr lang="en-US" sz="2000" dirty="0"/>
              <a:t> </a:t>
            </a:r>
            <a:r>
              <a:rPr lang="en-US" sz="2000" b="1" dirty="0"/>
              <a:t>OR</a:t>
            </a:r>
            <a:r>
              <a:rPr lang="en-US" sz="2000" dirty="0"/>
              <a:t>: If </a:t>
            </a:r>
            <a:r>
              <a:rPr lang="en-US" sz="2000" b="1" dirty="0"/>
              <a:t>any</a:t>
            </a:r>
            <a:r>
              <a:rPr lang="en-US" sz="2000" dirty="0"/>
              <a:t> of the two operands is non-zero, then the condition becomes true.</a:t>
            </a:r>
          </a:p>
          <a:p>
            <a:pPr marL="0" lvl="2" algn="l"/>
            <a:r>
              <a:rPr lang="en-GB" sz="2000" dirty="0">
                <a:cs typeface="ＭＳ Ｐゴシック" charset="0"/>
              </a:rPr>
              <a:t>Does not evaluate 2</a:t>
            </a:r>
            <a:r>
              <a:rPr lang="en-GB" sz="2000" baseline="30000" dirty="0">
                <a:cs typeface="ＭＳ Ｐゴシック" charset="0"/>
              </a:rPr>
              <a:t>nd</a:t>
            </a:r>
            <a:r>
              <a:rPr lang="en-GB" sz="2000" dirty="0">
                <a:cs typeface="ＭＳ Ｐゴシック" charset="0"/>
              </a:rPr>
              <a:t> operand, if the first is true</a:t>
            </a:r>
            <a:endParaRPr lang="en-US" sz="2000" dirty="0"/>
          </a:p>
          <a:p>
            <a:pPr algn="l"/>
            <a:r>
              <a:rPr lang="en-US" sz="2000" b="1" dirty="0"/>
              <a:t>Logical</a:t>
            </a:r>
            <a:r>
              <a:rPr lang="en-US" sz="2000" dirty="0"/>
              <a:t> </a:t>
            </a:r>
            <a:r>
              <a:rPr lang="en-US" sz="2000" b="1" dirty="0"/>
              <a:t>NOT</a:t>
            </a:r>
            <a:r>
              <a:rPr lang="en-US" sz="2000" dirty="0"/>
              <a:t>: It is used to </a:t>
            </a:r>
            <a:r>
              <a:rPr lang="en-US" sz="2000" b="1" dirty="0"/>
              <a:t>reverse</a:t>
            </a:r>
            <a:r>
              <a:rPr lang="en-US" sz="2000" dirty="0"/>
              <a:t> the logical state of its operand. If a condition is true, then Logical NOT operator will make it false. 	</a:t>
            </a:r>
          </a:p>
        </p:txBody>
      </p:sp>
      <p:sp>
        <p:nvSpPr>
          <p:cNvPr id="26" name="Espace réservé du contenu 2"/>
          <p:cNvSpPr>
            <a:spLocks noGrp="1"/>
          </p:cNvSpPr>
          <p:nvPr>
            <p:ph idx="1"/>
          </p:nvPr>
        </p:nvSpPr>
        <p:spPr>
          <a:xfrm>
            <a:off x="457200" y="914400"/>
            <a:ext cx="8543292" cy="858416"/>
          </a:xfrm>
        </p:spPr>
        <p:txBody>
          <a:bodyPr/>
          <a:lstStyle/>
          <a:p>
            <a:r>
              <a:rPr lang="en-GB" dirty="0">
                <a:latin typeface="Arial" charset="0"/>
                <a:cs typeface="ＭＳ Ｐゴシック" charset="0"/>
              </a:rPr>
              <a:t>The operands are TRUE or FALSE</a:t>
            </a:r>
          </a:p>
        </p:txBody>
      </p: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5766202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Bitwise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60</a:t>
            </a:fld>
            <a:endParaRPr lang="fr-FR"/>
          </a:p>
        </p:txBody>
      </p:sp>
      <p:cxnSp>
        <p:nvCxnSpPr>
          <p:cNvPr id="7" name="Straight Connector 6"/>
          <p:cNvCxnSpPr/>
          <p:nvPr/>
        </p:nvCxnSpPr>
        <p:spPr bwMode="auto">
          <a:xfrm>
            <a:off x="0" y="203819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683568" y="1527263"/>
            <a:ext cx="0" cy="5160648"/>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768244" y="1644772"/>
            <a:ext cx="0" cy="5276616"/>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Rectangle 12"/>
          <p:cNvSpPr/>
          <p:nvPr/>
        </p:nvSpPr>
        <p:spPr>
          <a:xfrm>
            <a:off x="5364088" y="1268760"/>
            <a:ext cx="3708412" cy="400110"/>
          </a:xfrm>
          <a:prstGeom prst="rect">
            <a:avLst/>
          </a:prstGeom>
        </p:spPr>
        <p:txBody>
          <a:bodyPr wrap="square">
            <a:spAutoFit/>
          </a:bodyPr>
          <a:lstStyle/>
          <a:p>
            <a:r>
              <a:rPr lang="en-US" sz="2000" dirty="0"/>
              <a:t>A = 0x3 (0011) B = 0x2 (0010)</a:t>
            </a:r>
          </a:p>
        </p:txBody>
      </p:sp>
      <p:cxnSp>
        <p:nvCxnSpPr>
          <p:cNvPr id="19" name="Straight Connector 18"/>
          <p:cNvCxnSpPr/>
          <p:nvPr/>
        </p:nvCxnSpPr>
        <p:spPr bwMode="auto">
          <a:xfrm>
            <a:off x="-508" y="2744924"/>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 name="Straight Connector 19"/>
          <p:cNvCxnSpPr/>
          <p:nvPr/>
        </p:nvCxnSpPr>
        <p:spPr bwMode="auto">
          <a:xfrm>
            <a:off x="35496" y="3392996"/>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Straight Connector 20"/>
          <p:cNvCxnSpPr/>
          <p:nvPr/>
        </p:nvCxnSpPr>
        <p:spPr bwMode="auto">
          <a:xfrm>
            <a:off x="71500" y="404106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 name="Straight Connector 21"/>
          <p:cNvCxnSpPr/>
          <p:nvPr/>
        </p:nvCxnSpPr>
        <p:spPr bwMode="auto">
          <a:xfrm>
            <a:off x="35496" y="468914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Straight Connector 22"/>
          <p:cNvCxnSpPr/>
          <p:nvPr/>
        </p:nvCxnSpPr>
        <p:spPr bwMode="auto">
          <a:xfrm>
            <a:off x="35496" y="569725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Rectangle 2"/>
          <p:cNvSpPr/>
          <p:nvPr/>
        </p:nvSpPr>
        <p:spPr>
          <a:xfrm>
            <a:off x="683568" y="1996383"/>
            <a:ext cx="5976664" cy="4708981"/>
          </a:xfrm>
          <a:prstGeom prst="rect">
            <a:avLst/>
          </a:prstGeom>
        </p:spPr>
        <p:txBody>
          <a:bodyPr wrap="square">
            <a:spAutoFit/>
          </a:bodyPr>
          <a:lstStyle/>
          <a:p>
            <a:pPr algn="l"/>
            <a:r>
              <a:rPr lang="en-US" sz="2000" b="1" dirty="0"/>
              <a:t>Binary AND: </a:t>
            </a:r>
            <a:r>
              <a:rPr lang="en-US" sz="2000" dirty="0"/>
              <a:t>Copies </a:t>
            </a:r>
            <a:r>
              <a:rPr lang="en-US" sz="2000" b="1" dirty="0"/>
              <a:t>a bit </a:t>
            </a:r>
            <a:r>
              <a:rPr lang="en-US" sz="2000" dirty="0"/>
              <a:t>to the result, if it exists in </a:t>
            </a:r>
            <a:r>
              <a:rPr lang="en-US" sz="2000" b="1" dirty="0"/>
              <a:t>both</a:t>
            </a:r>
            <a:r>
              <a:rPr lang="en-US" sz="2000" dirty="0"/>
              <a:t> operands. </a:t>
            </a:r>
          </a:p>
          <a:p>
            <a:pPr algn="l"/>
            <a:r>
              <a:rPr lang="en-US" sz="2000" b="1" dirty="0"/>
              <a:t>Binary OR: </a:t>
            </a:r>
            <a:r>
              <a:rPr lang="en-US" sz="2000" dirty="0"/>
              <a:t>Copies a </a:t>
            </a:r>
            <a:r>
              <a:rPr lang="en-US" sz="2000" b="1" dirty="0"/>
              <a:t>bit</a:t>
            </a:r>
            <a:r>
              <a:rPr lang="en-US" sz="2000" dirty="0"/>
              <a:t> if it exists in </a:t>
            </a:r>
            <a:r>
              <a:rPr lang="en-US" sz="2000" b="1" dirty="0"/>
              <a:t>either</a:t>
            </a:r>
            <a:r>
              <a:rPr lang="en-US" sz="2000" dirty="0"/>
              <a:t> operand. </a:t>
            </a:r>
          </a:p>
          <a:p>
            <a:pPr algn="l"/>
            <a:r>
              <a:rPr lang="en-US" sz="2000" b="1" dirty="0"/>
              <a:t>Binary XOR: </a:t>
            </a:r>
            <a:r>
              <a:rPr lang="en-US" sz="2000" dirty="0"/>
              <a:t>Copies the bit if it is </a:t>
            </a:r>
            <a:r>
              <a:rPr lang="en-US" sz="2000" b="1" dirty="0"/>
              <a:t>set only in one </a:t>
            </a:r>
            <a:r>
              <a:rPr lang="en-US" sz="2000" dirty="0"/>
              <a:t>operand but not both. </a:t>
            </a:r>
          </a:p>
          <a:p>
            <a:pPr algn="l"/>
            <a:r>
              <a:rPr lang="en-US" sz="2000" dirty="0"/>
              <a:t>Binary Ones Complement: Has the effect of '</a:t>
            </a:r>
            <a:r>
              <a:rPr lang="en-US" sz="2000" b="1" dirty="0"/>
              <a:t>flipping</a:t>
            </a:r>
            <a:r>
              <a:rPr lang="en-US" sz="2000" dirty="0"/>
              <a:t>' bits.</a:t>
            </a:r>
          </a:p>
          <a:p>
            <a:pPr algn="l"/>
            <a:r>
              <a:rPr lang="en-US" sz="2000" b="1" dirty="0"/>
              <a:t>Binary Left Shift</a:t>
            </a:r>
            <a:r>
              <a:rPr lang="en-US" sz="2000" dirty="0"/>
              <a:t>: The left operands value is moved left by the number of bits specified by the right operand. </a:t>
            </a:r>
          </a:p>
          <a:p>
            <a:pPr algn="l"/>
            <a:r>
              <a:rPr lang="en-US" sz="2000" b="1" dirty="0"/>
              <a:t>Binary Right Shift:</a:t>
            </a:r>
            <a:r>
              <a:rPr lang="en-US" sz="2000" dirty="0"/>
              <a:t> The left operands value is moved right by the number of bits specified by the right operand. 	</a:t>
            </a:r>
          </a:p>
        </p:txBody>
      </p:sp>
      <p:sp>
        <p:nvSpPr>
          <p:cNvPr id="24" name="Rectangle 23"/>
          <p:cNvSpPr/>
          <p:nvPr/>
        </p:nvSpPr>
        <p:spPr>
          <a:xfrm>
            <a:off x="107504" y="2096852"/>
            <a:ext cx="1116124" cy="4093428"/>
          </a:xfrm>
          <a:prstGeom prst="rect">
            <a:avLst/>
          </a:prstGeom>
        </p:spPr>
        <p:txBody>
          <a:bodyPr wrap="square">
            <a:spAutoFit/>
          </a:bodyPr>
          <a:lstStyle/>
          <a:p>
            <a:pPr algn="l"/>
            <a:r>
              <a:rPr lang="en-US" sz="2000" dirty="0"/>
              <a:t>&amp;</a:t>
            </a:r>
          </a:p>
          <a:p>
            <a:pPr algn="l"/>
            <a:r>
              <a:rPr lang="en-US" sz="2000" dirty="0"/>
              <a:t> 	</a:t>
            </a:r>
          </a:p>
          <a:p>
            <a:pPr algn="l"/>
            <a:r>
              <a:rPr lang="en-US" sz="2000" dirty="0"/>
              <a:t>|</a:t>
            </a:r>
          </a:p>
          <a:p>
            <a:pPr algn="l"/>
            <a:endParaRPr lang="en-US" sz="2000" dirty="0"/>
          </a:p>
          <a:p>
            <a:pPr algn="l"/>
            <a:r>
              <a:rPr lang="en-US" sz="2000" dirty="0"/>
              <a:t>^</a:t>
            </a:r>
          </a:p>
          <a:p>
            <a:pPr algn="l"/>
            <a:endParaRPr lang="en-US" sz="2000" dirty="0"/>
          </a:p>
          <a:p>
            <a:pPr algn="l"/>
            <a:r>
              <a:rPr lang="en-US" sz="2000" dirty="0"/>
              <a:t>~ 	</a:t>
            </a:r>
          </a:p>
          <a:p>
            <a:pPr algn="l"/>
            <a:endParaRPr lang="en-US" sz="2000" dirty="0"/>
          </a:p>
          <a:p>
            <a:pPr algn="l"/>
            <a:r>
              <a:rPr lang="en-US" sz="2000" dirty="0"/>
              <a:t>&lt;&lt; 	</a:t>
            </a:r>
          </a:p>
          <a:p>
            <a:pPr algn="l"/>
            <a:endParaRPr lang="en-US" sz="2000" dirty="0"/>
          </a:p>
          <a:p>
            <a:pPr algn="l"/>
            <a:r>
              <a:rPr lang="en-US" sz="2000" dirty="0"/>
              <a:t>&gt;&gt;</a:t>
            </a:r>
          </a:p>
        </p:txBody>
      </p:sp>
      <p:sp>
        <p:nvSpPr>
          <p:cNvPr id="4" name="Rectangle 3"/>
          <p:cNvSpPr/>
          <p:nvPr/>
        </p:nvSpPr>
        <p:spPr>
          <a:xfrm>
            <a:off x="0" y="1592796"/>
            <a:ext cx="8626280" cy="400110"/>
          </a:xfrm>
          <a:prstGeom prst="rect">
            <a:avLst/>
          </a:prstGeom>
        </p:spPr>
        <p:txBody>
          <a:bodyPr wrap="none">
            <a:spAutoFit/>
          </a:bodyPr>
          <a:lstStyle/>
          <a:p>
            <a:pPr algn="l"/>
            <a:r>
              <a:rPr lang="en-US" sz="2000" b="1" dirty="0"/>
              <a:t>Op. 	Description 						Example</a:t>
            </a:r>
          </a:p>
        </p:txBody>
      </p:sp>
      <p:sp>
        <p:nvSpPr>
          <p:cNvPr id="26" name="Rectangle 25"/>
          <p:cNvSpPr/>
          <p:nvPr/>
        </p:nvSpPr>
        <p:spPr>
          <a:xfrm>
            <a:off x="6084168" y="2024844"/>
            <a:ext cx="3708412" cy="769441"/>
          </a:xfrm>
          <a:prstGeom prst="rect">
            <a:avLst/>
          </a:prstGeom>
        </p:spPr>
        <p:txBody>
          <a:bodyPr wrap="square">
            <a:spAutoFit/>
          </a:bodyPr>
          <a:lstStyle/>
          <a:p>
            <a:r>
              <a:rPr lang="en-US" sz="2000" dirty="0"/>
              <a:t>(A &amp; B) = 0x2 </a:t>
            </a:r>
          </a:p>
          <a:p>
            <a:r>
              <a:rPr lang="en-US" sz="2000" dirty="0"/>
              <a:t>(0010)</a:t>
            </a:r>
          </a:p>
        </p:txBody>
      </p:sp>
      <p:sp>
        <p:nvSpPr>
          <p:cNvPr id="27" name="Rectangle 26"/>
          <p:cNvSpPr/>
          <p:nvPr/>
        </p:nvSpPr>
        <p:spPr>
          <a:xfrm>
            <a:off x="6084168" y="2695563"/>
            <a:ext cx="3708412" cy="769441"/>
          </a:xfrm>
          <a:prstGeom prst="rect">
            <a:avLst/>
          </a:prstGeom>
        </p:spPr>
        <p:txBody>
          <a:bodyPr wrap="square">
            <a:spAutoFit/>
          </a:bodyPr>
          <a:lstStyle/>
          <a:p>
            <a:r>
              <a:rPr lang="en-US" sz="2000" dirty="0"/>
              <a:t>(A | B) = 0x3 </a:t>
            </a:r>
          </a:p>
          <a:p>
            <a:r>
              <a:rPr lang="en-US" sz="2000" dirty="0"/>
              <a:t>(0011)</a:t>
            </a:r>
          </a:p>
        </p:txBody>
      </p:sp>
      <p:sp>
        <p:nvSpPr>
          <p:cNvPr id="28" name="Rectangle 27"/>
          <p:cNvSpPr/>
          <p:nvPr/>
        </p:nvSpPr>
        <p:spPr>
          <a:xfrm>
            <a:off x="6048164" y="3356992"/>
            <a:ext cx="3708412" cy="769441"/>
          </a:xfrm>
          <a:prstGeom prst="rect">
            <a:avLst/>
          </a:prstGeom>
        </p:spPr>
        <p:txBody>
          <a:bodyPr wrap="square">
            <a:spAutoFit/>
          </a:bodyPr>
          <a:lstStyle/>
          <a:p>
            <a:r>
              <a:rPr lang="en-US" sz="2000" dirty="0"/>
              <a:t>(A ^ B) = 0x1 </a:t>
            </a:r>
          </a:p>
          <a:p>
            <a:r>
              <a:rPr lang="en-US" sz="2000" dirty="0"/>
              <a:t>(0001)</a:t>
            </a:r>
          </a:p>
        </p:txBody>
      </p:sp>
      <p:sp>
        <p:nvSpPr>
          <p:cNvPr id="29" name="Rectangle 28"/>
          <p:cNvSpPr/>
          <p:nvPr/>
        </p:nvSpPr>
        <p:spPr>
          <a:xfrm>
            <a:off x="6012160" y="3969060"/>
            <a:ext cx="3708412" cy="769441"/>
          </a:xfrm>
          <a:prstGeom prst="rect">
            <a:avLst/>
          </a:prstGeom>
        </p:spPr>
        <p:txBody>
          <a:bodyPr wrap="square">
            <a:spAutoFit/>
          </a:bodyPr>
          <a:lstStyle/>
          <a:p>
            <a:r>
              <a:rPr lang="en-US" sz="2000" dirty="0"/>
              <a:t>(~A) = 0xC </a:t>
            </a:r>
          </a:p>
          <a:p>
            <a:r>
              <a:rPr lang="en-US" sz="2000" dirty="0"/>
              <a:t>(1100)</a:t>
            </a:r>
          </a:p>
        </p:txBody>
      </p:sp>
      <p:sp>
        <p:nvSpPr>
          <p:cNvPr id="30" name="Rectangle 29"/>
          <p:cNvSpPr/>
          <p:nvPr/>
        </p:nvSpPr>
        <p:spPr>
          <a:xfrm>
            <a:off x="6048164" y="4833156"/>
            <a:ext cx="3708412" cy="769441"/>
          </a:xfrm>
          <a:prstGeom prst="rect">
            <a:avLst/>
          </a:prstGeom>
        </p:spPr>
        <p:txBody>
          <a:bodyPr wrap="square">
            <a:spAutoFit/>
          </a:bodyPr>
          <a:lstStyle/>
          <a:p>
            <a:r>
              <a:rPr lang="en-US" sz="2000" dirty="0"/>
              <a:t>(A&lt;&lt;2) = 0xC </a:t>
            </a:r>
          </a:p>
          <a:p>
            <a:r>
              <a:rPr lang="en-US" sz="2000" dirty="0"/>
              <a:t>(1100)</a:t>
            </a:r>
          </a:p>
        </p:txBody>
      </p:sp>
      <p:sp>
        <p:nvSpPr>
          <p:cNvPr id="31" name="Rectangle 30"/>
          <p:cNvSpPr/>
          <p:nvPr/>
        </p:nvSpPr>
        <p:spPr>
          <a:xfrm>
            <a:off x="6192180" y="5769260"/>
            <a:ext cx="3708412" cy="769441"/>
          </a:xfrm>
          <a:prstGeom prst="rect">
            <a:avLst/>
          </a:prstGeom>
        </p:spPr>
        <p:txBody>
          <a:bodyPr wrap="square">
            <a:spAutoFit/>
          </a:bodyPr>
          <a:lstStyle/>
          <a:p>
            <a:r>
              <a:rPr lang="en-US" sz="2000" dirty="0"/>
              <a:t>(A&gt;&gt;2) = 0x0 </a:t>
            </a:r>
          </a:p>
          <a:p>
            <a:r>
              <a:rPr lang="en-US" sz="2000" dirty="0"/>
              <a:t>(0000)</a:t>
            </a:r>
          </a:p>
        </p:txBody>
      </p:sp>
      <p:sp>
        <p:nvSpPr>
          <p:cNvPr id="32" name="Espace réservé du contenu 2"/>
          <p:cNvSpPr>
            <a:spLocks noGrp="1"/>
          </p:cNvSpPr>
          <p:nvPr>
            <p:ph idx="1"/>
          </p:nvPr>
        </p:nvSpPr>
        <p:spPr>
          <a:xfrm>
            <a:off x="143508" y="692696"/>
            <a:ext cx="9361040" cy="930424"/>
          </a:xfrm>
        </p:spPr>
        <p:txBody>
          <a:bodyPr/>
          <a:lstStyle/>
          <a:p>
            <a:r>
              <a:rPr lang="en-GB" dirty="0">
                <a:latin typeface="Arial" charset="0"/>
                <a:cs typeface="ＭＳ Ｐゴシック" charset="0"/>
              </a:rPr>
              <a:t>The operands are integral (</a:t>
            </a:r>
            <a:r>
              <a:rPr lang="en-GB" b="1" dirty="0">
                <a:latin typeface="Courier New"/>
                <a:cs typeface="Courier New"/>
              </a:rPr>
              <a:t>short, </a:t>
            </a:r>
            <a:r>
              <a:rPr lang="en-GB" b="1" dirty="0" err="1">
                <a:latin typeface="Courier New"/>
                <a:cs typeface="Courier New"/>
              </a:rPr>
              <a:t>int</a:t>
            </a:r>
            <a:r>
              <a:rPr lang="en-GB" b="1" dirty="0">
                <a:latin typeface="Courier New"/>
                <a:cs typeface="Courier New"/>
              </a:rPr>
              <a:t>, unsigned, </a:t>
            </a:r>
            <a:r>
              <a:rPr lang="en-GB" b="1" dirty="0" err="1">
                <a:latin typeface="Courier New"/>
                <a:cs typeface="Courier New"/>
              </a:rPr>
              <a:t>etc</a:t>
            </a:r>
            <a:r>
              <a:rPr lang="en-GB" b="1" dirty="0">
                <a:latin typeface="Courier New"/>
                <a:cs typeface="Courier New"/>
              </a:rPr>
              <a:t>)</a:t>
            </a:r>
            <a:endParaRPr lang="en-GB" dirty="0">
              <a:latin typeface="Arial" charset="0"/>
              <a:cs typeface="ＭＳ Ｐゴシック" charset="0"/>
            </a:endParaRPr>
          </a:p>
        </p:txBody>
      </p:sp>
      <p:sp>
        <p:nvSpPr>
          <p:cNvPr id="6" name="Espace réservé du pied de page 5">
            <a:extLst>
              <a:ext uri="{FF2B5EF4-FFF2-40B4-BE49-F238E27FC236}">
                <a16:creationId xmlns:a16="http://schemas.microsoft.com/office/drawing/2014/main" id="{F0F781FC-5ECE-2D01-395C-24BCD8DF07AA}"/>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8532606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Assignment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61</a:t>
            </a:fld>
            <a:endParaRPr lang="fr-FR"/>
          </a:p>
        </p:txBody>
      </p:sp>
      <p:cxnSp>
        <p:nvCxnSpPr>
          <p:cNvPr id="7" name="Straight Connector 6"/>
          <p:cNvCxnSpPr/>
          <p:nvPr/>
        </p:nvCxnSpPr>
        <p:spPr bwMode="auto">
          <a:xfrm>
            <a:off x="0" y="1606148"/>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719572" y="1095215"/>
            <a:ext cx="0" cy="5160648"/>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768244" y="1212724"/>
            <a:ext cx="0" cy="5276616"/>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Rectangle 12"/>
          <p:cNvSpPr/>
          <p:nvPr/>
        </p:nvSpPr>
        <p:spPr>
          <a:xfrm>
            <a:off x="5364088" y="836712"/>
            <a:ext cx="3708412" cy="400110"/>
          </a:xfrm>
          <a:prstGeom prst="rect">
            <a:avLst/>
          </a:prstGeom>
        </p:spPr>
        <p:txBody>
          <a:bodyPr wrap="square">
            <a:spAutoFit/>
          </a:bodyPr>
          <a:lstStyle/>
          <a:p>
            <a:r>
              <a:rPr lang="en-US" sz="2000" dirty="0"/>
              <a:t>A = 10, B = 20</a:t>
            </a:r>
          </a:p>
        </p:txBody>
      </p:sp>
      <p:cxnSp>
        <p:nvCxnSpPr>
          <p:cNvPr id="19" name="Straight Connector 18"/>
          <p:cNvCxnSpPr/>
          <p:nvPr/>
        </p:nvCxnSpPr>
        <p:spPr bwMode="auto">
          <a:xfrm>
            <a:off x="-508" y="2276872"/>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Rectangle 2"/>
          <p:cNvSpPr/>
          <p:nvPr/>
        </p:nvSpPr>
        <p:spPr>
          <a:xfrm>
            <a:off x="683568" y="1564335"/>
            <a:ext cx="5976664" cy="3785652"/>
          </a:xfrm>
          <a:prstGeom prst="rect">
            <a:avLst/>
          </a:prstGeom>
        </p:spPr>
        <p:txBody>
          <a:bodyPr wrap="square">
            <a:spAutoFit/>
          </a:bodyPr>
          <a:lstStyle/>
          <a:p>
            <a:pPr algn="l"/>
            <a:r>
              <a:rPr lang="en-US" sz="2000" dirty="0"/>
              <a:t>Simple assignment operator. Assigns values from right side operands to left side operand</a:t>
            </a:r>
          </a:p>
          <a:p>
            <a:pPr algn="l"/>
            <a:endParaRPr lang="en-US" sz="2000" dirty="0"/>
          </a:p>
          <a:p>
            <a:pPr algn="l"/>
            <a:endParaRPr lang="en-US" sz="2000" dirty="0"/>
          </a:p>
          <a:p>
            <a:pPr algn="l"/>
            <a:endParaRPr lang="en-US" sz="2000" dirty="0"/>
          </a:p>
          <a:p>
            <a:pPr algn="l"/>
            <a:r>
              <a:rPr lang="en-US" sz="2000" dirty="0"/>
              <a:t>In can be combined with the other arithmetic operators (+, -, *, \, %) and bitwise operators (&amp;, |, ^, &lt;&lt;,&gt;&gt;).  </a:t>
            </a:r>
          </a:p>
          <a:p>
            <a:pPr algn="l"/>
            <a:r>
              <a:rPr lang="en-US" sz="2000" dirty="0"/>
              <a:t>It performs the arithmetic operation with right operand and the left operand and assign the result to the left operand.</a:t>
            </a:r>
          </a:p>
        </p:txBody>
      </p:sp>
      <p:sp>
        <p:nvSpPr>
          <p:cNvPr id="24" name="Rectangle 23"/>
          <p:cNvSpPr/>
          <p:nvPr/>
        </p:nvSpPr>
        <p:spPr>
          <a:xfrm>
            <a:off x="107504" y="1664804"/>
            <a:ext cx="1116124" cy="4462760"/>
          </a:xfrm>
          <a:prstGeom prst="rect">
            <a:avLst/>
          </a:prstGeom>
        </p:spPr>
        <p:txBody>
          <a:bodyPr wrap="square">
            <a:spAutoFit/>
          </a:bodyPr>
          <a:lstStyle/>
          <a:p>
            <a:pPr algn="l"/>
            <a:r>
              <a:rPr lang="en-US" sz="2000" dirty="0"/>
              <a:t>=</a:t>
            </a:r>
          </a:p>
          <a:p>
            <a:pPr algn="l"/>
            <a:r>
              <a:rPr lang="en-US" sz="2000" dirty="0"/>
              <a:t> 	</a:t>
            </a:r>
          </a:p>
          <a:p>
            <a:pPr algn="l"/>
            <a:r>
              <a:rPr lang="en-US" sz="2000" dirty="0"/>
              <a:t>+=</a:t>
            </a:r>
          </a:p>
          <a:p>
            <a:pPr algn="l"/>
            <a:r>
              <a:rPr lang="en-US" sz="2000" dirty="0"/>
              <a:t>-=</a:t>
            </a:r>
          </a:p>
          <a:p>
            <a:pPr algn="l"/>
            <a:r>
              <a:rPr lang="en-US" sz="2000" dirty="0"/>
              <a:t>*=</a:t>
            </a:r>
          </a:p>
          <a:p>
            <a:pPr algn="l"/>
            <a:r>
              <a:rPr lang="en-US" sz="2000" dirty="0"/>
              <a:t>\=</a:t>
            </a:r>
          </a:p>
          <a:p>
            <a:pPr algn="l"/>
            <a:r>
              <a:rPr lang="en-US" sz="2000" dirty="0"/>
              <a:t>%=</a:t>
            </a:r>
          </a:p>
          <a:p>
            <a:pPr algn="l"/>
            <a:r>
              <a:rPr lang="en-US" sz="2000" dirty="0"/>
              <a:t>&amp;=</a:t>
            </a:r>
          </a:p>
          <a:p>
            <a:pPr algn="l"/>
            <a:r>
              <a:rPr lang="en-US" sz="2000" dirty="0"/>
              <a:t>|=</a:t>
            </a:r>
          </a:p>
          <a:p>
            <a:pPr algn="l"/>
            <a:r>
              <a:rPr lang="en-US" sz="2000" dirty="0"/>
              <a:t>^=</a:t>
            </a:r>
          </a:p>
          <a:p>
            <a:pPr algn="l"/>
            <a:r>
              <a:rPr lang="en-US" sz="2000" dirty="0"/>
              <a:t>&lt;&lt;=</a:t>
            </a:r>
          </a:p>
          <a:p>
            <a:pPr algn="l"/>
            <a:r>
              <a:rPr lang="en-US" sz="2000" dirty="0"/>
              <a:t>&gt;&gt;=</a:t>
            </a:r>
          </a:p>
        </p:txBody>
      </p:sp>
      <p:sp>
        <p:nvSpPr>
          <p:cNvPr id="4" name="Rectangle 3"/>
          <p:cNvSpPr/>
          <p:nvPr/>
        </p:nvSpPr>
        <p:spPr>
          <a:xfrm>
            <a:off x="0" y="1160748"/>
            <a:ext cx="8626280" cy="400110"/>
          </a:xfrm>
          <a:prstGeom prst="rect">
            <a:avLst/>
          </a:prstGeom>
        </p:spPr>
        <p:txBody>
          <a:bodyPr wrap="none">
            <a:spAutoFit/>
          </a:bodyPr>
          <a:lstStyle/>
          <a:p>
            <a:pPr algn="l"/>
            <a:r>
              <a:rPr lang="en-US" sz="2000" b="1" dirty="0"/>
              <a:t>Op. 	Description 						Example</a:t>
            </a:r>
          </a:p>
        </p:txBody>
      </p:sp>
      <p:sp>
        <p:nvSpPr>
          <p:cNvPr id="26" name="Rectangle 25"/>
          <p:cNvSpPr/>
          <p:nvPr/>
        </p:nvSpPr>
        <p:spPr>
          <a:xfrm>
            <a:off x="6084168" y="1592796"/>
            <a:ext cx="3708412" cy="769441"/>
          </a:xfrm>
          <a:prstGeom prst="rect">
            <a:avLst/>
          </a:prstGeom>
        </p:spPr>
        <p:txBody>
          <a:bodyPr wrap="square">
            <a:spAutoFit/>
          </a:bodyPr>
          <a:lstStyle/>
          <a:p>
            <a:r>
              <a:rPr lang="en-US" sz="2000" dirty="0"/>
              <a:t>C = A + B</a:t>
            </a:r>
          </a:p>
          <a:p>
            <a:r>
              <a:rPr lang="en-US" sz="2000" dirty="0"/>
              <a:t>C = 30 </a:t>
            </a:r>
          </a:p>
        </p:txBody>
      </p:sp>
      <p:sp>
        <p:nvSpPr>
          <p:cNvPr id="28" name="Rectangle 27"/>
          <p:cNvSpPr/>
          <p:nvPr/>
        </p:nvSpPr>
        <p:spPr>
          <a:xfrm>
            <a:off x="6840252" y="2924944"/>
            <a:ext cx="2340260" cy="1508105"/>
          </a:xfrm>
          <a:prstGeom prst="rect">
            <a:avLst/>
          </a:prstGeom>
        </p:spPr>
        <p:txBody>
          <a:bodyPr wrap="square">
            <a:spAutoFit/>
          </a:bodyPr>
          <a:lstStyle/>
          <a:p>
            <a:endParaRPr lang="en-US" sz="2000" dirty="0"/>
          </a:p>
          <a:p>
            <a:endParaRPr lang="en-US" sz="2000" dirty="0"/>
          </a:p>
          <a:p>
            <a:r>
              <a:rPr lang="en-US" sz="2000" dirty="0"/>
              <a:t>A += 1</a:t>
            </a:r>
          </a:p>
          <a:p>
            <a:r>
              <a:rPr lang="en-US" sz="2000" dirty="0"/>
              <a:t>A = 11 </a:t>
            </a:r>
          </a:p>
        </p:txBody>
      </p:sp>
      <p:sp>
        <p:nvSpPr>
          <p:cNvPr id="1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107333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Common </a:t>
            </a:r>
            <a:r>
              <a:rPr lang="fr-FR" sz="2800" dirty="0" err="1">
                <a:latin typeface="Arial" charset="0"/>
                <a:ea typeface="ＭＳ Ｐゴシック" charset="0"/>
                <a:cs typeface="ＭＳ Ｐゴシック" charset="0"/>
              </a:rPr>
              <a:t>error</a:t>
            </a:r>
            <a:r>
              <a:rPr lang="fr-FR" sz="2800" dirty="0">
                <a:latin typeface="Arial" charset="0"/>
                <a:cs typeface="ＭＳ Ｐゴシック" charset="0"/>
              </a:rPr>
              <a:t>: </a:t>
            </a:r>
            <a:r>
              <a:rPr lang="fr-FR" sz="2800" dirty="0" err="1">
                <a:latin typeface="Arial" charset="0"/>
                <a:ea typeface="ＭＳ Ｐゴシック" charset="0"/>
                <a:cs typeface="ＭＳ Ｐゴシック" charset="0"/>
              </a:rPr>
              <a:t>Assignment</a:t>
            </a:r>
            <a:r>
              <a:rPr lang="fr-FR" sz="2800" dirty="0">
                <a:latin typeface="Arial" charset="0"/>
                <a:ea typeface="ＭＳ Ｐゴシック" charset="0"/>
                <a:cs typeface="ＭＳ Ｐゴシック" charset="0"/>
              </a:rPr>
              <a:t> Vs </a:t>
            </a:r>
            <a:r>
              <a:rPr lang="fr-FR" sz="2800" dirty="0" err="1">
                <a:latin typeface="Arial" charset="0"/>
                <a:ea typeface="ＭＳ Ｐゴシック" charset="0"/>
                <a:cs typeface="ＭＳ Ｐゴシック" charset="0"/>
              </a:rPr>
              <a:t>Testing</a:t>
            </a:r>
            <a:endParaRPr lang="fr-FR" sz="2800" dirty="0">
              <a:latin typeface="Arial" charset="0"/>
              <a:ea typeface="ＭＳ Ｐゴシック" charset="0"/>
              <a:cs typeface="ＭＳ Ｐゴシック" charset="0"/>
            </a:endParaRPr>
          </a:p>
        </p:txBody>
      </p:sp>
      <p:sp>
        <p:nvSpPr>
          <p:cNvPr id="81922" name="Espace réservé du contenu 2"/>
          <p:cNvSpPr>
            <a:spLocks noGrp="1"/>
          </p:cNvSpPr>
          <p:nvPr>
            <p:ph idx="1"/>
          </p:nvPr>
        </p:nvSpPr>
        <p:spPr/>
        <p:txBody>
          <a:bodyPr/>
          <a:lstStyle/>
          <a:p>
            <a:r>
              <a:rPr lang="en-GB" dirty="0">
                <a:latin typeface="Arial" charset="0"/>
                <a:cs typeface="ＭＳ Ｐゴシック" charset="0"/>
              </a:rPr>
              <a:t>Assignment: </a:t>
            </a:r>
            <a:r>
              <a:rPr lang="en-GB" b="1" dirty="0" err="1">
                <a:latin typeface="Courier"/>
                <a:cs typeface="Courier"/>
              </a:rPr>
              <a:t>nom_variable</a:t>
            </a:r>
            <a:r>
              <a:rPr lang="en-GB" b="1" dirty="0">
                <a:latin typeface="Courier"/>
                <a:cs typeface="Courier"/>
              </a:rPr>
              <a:t> = expression ;</a:t>
            </a:r>
          </a:p>
          <a:p>
            <a:pPr lvl="1"/>
            <a:r>
              <a:rPr lang="en-GB" b="1" dirty="0">
                <a:latin typeface="Courier"/>
                <a:cs typeface="Courier"/>
              </a:rPr>
              <a:t>x=3;</a:t>
            </a:r>
          </a:p>
          <a:p>
            <a:pPr lvl="1"/>
            <a:r>
              <a:rPr lang="en-GB" dirty="0">
                <a:cs typeface="Courier"/>
              </a:rPr>
              <a:t>It is an expression that stores the value 3 to the variable </a:t>
            </a:r>
            <a:r>
              <a:rPr lang="en-GB" b="1" dirty="0">
                <a:latin typeface="Courier"/>
                <a:cs typeface="Courier"/>
              </a:rPr>
              <a:t>x</a:t>
            </a:r>
          </a:p>
          <a:p>
            <a:pPr lvl="1"/>
            <a:endParaRPr lang="en-GB" b="1" dirty="0">
              <a:latin typeface="Courier"/>
              <a:cs typeface="Courier"/>
            </a:endParaRPr>
          </a:p>
          <a:p>
            <a:r>
              <a:rPr lang="en-GB" dirty="0">
                <a:cs typeface="Courier"/>
              </a:rPr>
              <a:t>Test of equality: </a:t>
            </a:r>
            <a:r>
              <a:rPr lang="en-GB" b="1" dirty="0">
                <a:latin typeface="Courier"/>
                <a:cs typeface="Courier"/>
              </a:rPr>
              <a:t>expression1 == expression2 ;</a:t>
            </a:r>
            <a:endParaRPr lang="en-GB" dirty="0">
              <a:cs typeface="Courier"/>
            </a:endParaRPr>
          </a:p>
          <a:p>
            <a:pPr lvl="1"/>
            <a:r>
              <a:rPr lang="en-GB" b="1" dirty="0">
                <a:latin typeface="Courier"/>
                <a:cs typeface="Courier"/>
              </a:rPr>
              <a:t>x==3;</a:t>
            </a:r>
          </a:p>
          <a:p>
            <a:pPr lvl="1"/>
            <a:r>
              <a:rPr lang="en-GB" dirty="0">
                <a:cs typeface="Courier"/>
              </a:rPr>
              <a:t>It returns 1 if the stored value in </a:t>
            </a:r>
            <a:r>
              <a:rPr lang="en-GB" b="1" dirty="0">
                <a:latin typeface="Courier"/>
                <a:cs typeface="Courier"/>
              </a:rPr>
              <a:t>x </a:t>
            </a:r>
            <a:r>
              <a:rPr lang="en-GB" dirty="0">
                <a:cs typeface="Courier"/>
              </a:rPr>
              <a:t>is equal to 3, otherwise 0</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62</a:t>
            </a:fld>
            <a:endParaRPr lang="fr-FR" sz="1400">
              <a:solidFill>
                <a:srgbClr val="000208"/>
              </a:solidFill>
              <a:latin typeface="Times New Roman" charset="0"/>
            </a:endParaRPr>
          </a:p>
        </p:txBody>
      </p:sp>
      <p:grpSp>
        <p:nvGrpSpPr>
          <p:cNvPr id="7" name="Group 6"/>
          <p:cNvGrpSpPr/>
          <p:nvPr/>
        </p:nvGrpSpPr>
        <p:grpSpPr>
          <a:xfrm>
            <a:off x="3167844" y="3897052"/>
            <a:ext cx="3263888" cy="1728192"/>
            <a:chOff x="5412568" y="2636912"/>
            <a:chExt cx="3263888" cy="1728192"/>
          </a:xfrm>
        </p:grpSpPr>
        <p:sp>
          <p:nvSpPr>
            <p:cNvPr id="8" name="Rectangle 7"/>
            <p:cNvSpPr/>
            <p:nvPr/>
          </p:nvSpPr>
          <p:spPr bwMode="auto">
            <a:xfrm>
              <a:off x="5436096" y="2636912"/>
              <a:ext cx="3168352" cy="1728192"/>
            </a:xfrm>
            <a:prstGeom prst="rect">
              <a:avLst/>
            </a:prstGeom>
            <a:solidFill>
              <a:srgbClr val="FFFFFF"/>
            </a:solidFill>
            <a:ln w="38100" cap="flat" cmpd="sng" algn="ctr">
              <a:solidFill>
                <a:srgbClr val="FF0000"/>
              </a:solidFill>
              <a:prstDash val="solid"/>
              <a:round/>
              <a:headEnd type="none" w="lg" len="lg"/>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9" name="TextBox 8"/>
            <p:cNvSpPr txBox="1"/>
            <p:nvPr/>
          </p:nvSpPr>
          <p:spPr>
            <a:xfrm>
              <a:off x="5412568" y="2852936"/>
              <a:ext cx="3263888" cy="1274195"/>
            </a:xfrm>
            <a:prstGeom prst="rect">
              <a:avLst/>
            </a:prstGeom>
            <a:noFill/>
          </p:spPr>
          <p:txBody>
            <a:bodyPr wrap="square" rtlCol="0">
              <a:spAutoFit/>
            </a:bodyPr>
            <a:lstStyle/>
            <a:p>
              <a:r>
                <a:rPr lang="en-US" sz="2400" b="1" dirty="0">
                  <a:solidFill>
                    <a:srgbClr val="FF0000"/>
                  </a:solidFill>
                </a:rPr>
                <a:t>ATTENTION: </a:t>
              </a:r>
            </a:p>
            <a:p>
              <a:r>
                <a:rPr lang="en-US" sz="2400" b="1" dirty="0">
                  <a:solidFill>
                    <a:srgbClr val="FF0000"/>
                  </a:solidFill>
                </a:rPr>
                <a:t>= and == are different !</a:t>
              </a:r>
            </a:p>
          </p:txBody>
        </p:sp>
      </p:grpSp>
      <p:sp>
        <p:nvSpPr>
          <p:cNvPr id="1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4645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2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Let’s…</a:t>
            </a:r>
          </a:p>
        </p:txBody>
      </p:sp>
      <p:sp>
        <p:nvSpPr>
          <p:cNvPr id="3" name="Content Placeholder 2"/>
          <p:cNvSpPr>
            <a:spLocks noGrp="1"/>
          </p:cNvSpPr>
          <p:nvPr>
            <p:ph idx="1"/>
          </p:nvPr>
        </p:nvSpPr>
        <p:spPr>
          <a:xfrm>
            <a:off x="1979712" y="2312876"/>
            <a:ext cx="4716524" cy="1404156"/>
          </a:xfrm>
        </p:spPr>
        <p:txBody>
          <a:bodyPr/>
          <a:lstStyle/>
          <a:p>
            <a:pPr marL="0" indent="0" algn="ctr">
              <a:buNone/>
            </a:pPr>
            <a:r>
              <a:rPr lang="en-US" sz="3200" b="1" dirty="0" err="1">
                <a:solidFill>
                  <a:srgbClr val="800000"/>
                </a:solidFill>
              </a:rPr>
              <a:t>Kahoot</a:t>
            </a:r>
            <a:r>
              <a:rPr lang="en-US" sz="3200" b="1" dirty="0">
                <a:solidFill>
                  <a:srgbClr val="800000"/>
                </a:solidFill>
              </a:rPr>
              <a:t> time !</a:t>
            </a:r>
          </a:p>
          <a:p>
            <a:pPr marL="0" indent="0" algn="ctr">
              <a:buNone/>
            </a:pPr>
            <a:r>
              <a:rPr lang="en-US" sz="3200" b="1" dirty="0">
                <a:solidFill>
                  <a:srgbClr val="800000"/>
                </a:solidFill>
              </a:rPr>
              <a:t>(6 Q)</a:t>
            </a: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63</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181553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6512" y="116632"/>
            <a:ext cx="9595792" cy="533400"/>
          </a:xfrm>
        </p:spPr>
        <p:txBody>
          <a:bodyPr/>
          <a:lstStyle/>
          <a:p>
            <a:r>
              <a:rPr lang="fr-FR" sz="2800" dirty="0">
                <a:latin typeface="Arial" charset="0"/>
                <a:cs typeface="ＭＳ Ｐゴシック" charset="0"/>
              </a:rPr>
              <a:t>So, </a:t>
            </a:r>
            <a:r>
              <a:rPr lang="fr-FR" sz="2800" dirty="0" err="1">
                <a:latin typeface="Arial" charset="0"/>
                <a:cs typeface="ＭＳ Ｐゴシック" charset="0"/>
              </a:rPr>
              <a:t>what</a:t>
            </a:r>
            <a:r>
              <a:rPr lang="fr-FR" sz="2800" dirty="0">
                <a:latin typeface="Arial" charset="0"/>
                <a:cs typeface="ＭＳ Ｐゴシック" charset="0"/>
              </a:rPr>
              <a:t> </a:t>
            </a:r>
            <a:r>
              <a:rPr lang="fr-FR" sz="2800" dirty="0" err="1">
                <a:latin typeface="Arial" charset="0"/>
                <a:cs typeface="ＭＳ Ｐゴシック" charset="0"/>
              </a:rPr>
              <a:t>happens</a:t>
            </a:r>
            <a:r>
              <a:rPr lang="fr-FR" sz="2800" dirty="0">
                <a:latin typeface="Arial" charset="0"/>
                <a:cs typeface="ＭＳ Ｐゴシック" charset="0"/>
              </a:rPr>
              <a:t> if </a:t>
            </a:r>
            <a:r>
              <a:rPr lang="fr-FR" sz="2800" dirty="0" err="1">
                <a:latin typeface="Arial" charset="0"/>
                <a:cs typeface="ＭＳ Ｐゴシック" charset="0"/>
              </a:rPr>
              <a:t>we</a:t>
            </a:r>
            <a:r>
              <a:rPr lang="fr-FR" sz="2800" dirty="0">
                <a:latin typeface="Arial" charset="0"/>
                <a:cs typeface="ＭＳ Ｐゴシック" charset="0"/>
              </a:rPr>
              <a:t> mix types in an </a:t>
            </a:r>
            <a:r>
              <a:rPr lang="fr-FR" sz="2800" dirty="0" err="1">
                <a:latin typeface="Arial" charset="0"/>
                <a:cs typeface="ＭＳ Ｐゴシック" charset="0"/>
              </a:rPr>
              <a:t>operation</a:t>
            </a:r>
            <a:r>
              <a:rPr lang="fr-FR" sz="2800" dirty="0">
                <a:latin typeface="Arial" charset="0"/>
                <a:cs typeface="ＭＳ Ｐゴシック" charset="0"/>
              </a:rPr>
              <a:t>? </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0" y="1340768"/>
            <a:ext cx="9360532" cy="5076564"/>
          </a:xfrm>
        </p:spPr>
        <p:txBody>
          <a:bodyPr/>
          <a:lstStyle/>
          <a:p>
            <a:r>
              <a:rPr lang="en-GB" b="1" dirty="0">
                <a:solidFill>
                  <a:srgbClr val="FF0000"/>
                </a:solidFill>
                <a:latin typeface="Arial" charset="0"/>
                <a:cs typeface="ＭＳ Ｐゴシック" charset="0"/>
              </a:rPr>
              <a:t>Automatic IMPLICIT</a:t>
            </a:r>
            <a:r>
              <a:rPr lang="en-GB" b="1" dirty="0">
                <a:latin typeface="Arial" charset="0"/>
                <a:cs typeface="ＭＳ Ｐゴシック" charset="0"/>
              </a:rPr>
              <a:t> and </a:t>
            </a:r>
            <a:r>
              <a:rPr lang="en-GB" b="1" dirty="0">
                <a:solidFill>
                  <a:srgbClr val="FF0000"/>
                </a:solidFill>
                <a:latin typeface="Arial" charset="0"/>
                <a:cs typeface="ＭＳ Ｐゴシック" charset="0"/>
              </a:rPr>
              <a:t>SILENT</a:t>
            </a:r>
            <a:r>
              <a:rPr lang="en-GB" b="1" dirty="0">
                <a:latin typeface="Arial" charset="0"/>
                <a:cs typeface="ＭＳ Ｐゴシック" charset="0"/>
              </a:rPr>
              <a:t> </a:t>
            </a:r>
            <a:r>
              <a:rPr lang="en-GB" b="1" dirty="0">
                <a:solidFill>
                  <a:srgbClr val="FF0000"/>
                </a:solidFill>
                <a:latin typeface="Arial" charset="0"/>
                <a:cs typeface="ＭＳ Ｐゴシック" charset="0"/>
              </a:rPr>
              <a:t>conversion</a:t>
            </a:r>
            <a:r>
              <a:rPr lang="en-GB" dirty="0">
                <a:latin typeface="Arial" charset="0"/>
                <a:cs typeface="ＭＳ Ｐゴシック" charset="0"/>
              </a:rPr>
              <a:t>! </a:t>
            </a:r>
          </a:p>
          <a:p>
            <a:pPr marL="363538" lvl="1" indent="-363538">
              <a:buSzTx/>
              <a:buBlip>
                <a:blip r:embed="rId2"/>
              </a:buBlip>
            </a:pPr>
            <a:endParaRPr lang="en-GB" sz="1100" dirty="0"/>
          </a:p>
          <a:p>
            <a:pPr marL="363538" lvl="1" indent="-363538">
              <a:buSzTx/>
              <a:buBlip>
                <a:blip r:embed="rId2"/>
              </a:buBlip>
            </a:pPr>
            <a:r>
              <a:rPr lang="en-GB" sz="2400" b="1" dirty="0"/>
              <a:t>Both</a:t>
            </a:r>
            <a:r>
              <a:rPr lang="en-GB" sz="2400" dirty="0"/>
              <a:t> operands (</a:t>
            </a:r>
            <a:r>
              <a:rPr lang="en-GB" sz="2400" b="1" dirty="0">
                <a:latin typeface="Courier"/>
                <a:cs typeface="Courier"/>
              </a:rPr>
              <a:t>a</a:t>
            </a:r>
            <a:r>
              <a:rPr lang="en-GB" sz="2400" dirty="0"/>
              <a:t>, </a:t>
            </a:r>
            <a:r>
              <a:rPr lang="en-GB" sz="2400" b="1" dirty="0">
                <a:latin typeface="Courier"/>
                <a:cs typeface="Courier"/>
              </a:rPr>
              <a:t>b</a:t>
            </a:r>
            <a:r>
              <a:rPr lang="en-GB" sz="2400" dirty="0"/>
              <a:t>) must be data objects of the </a:t>
            </a:r>
            <a:r>
              <a:rPr lang="en-GB" sz="2400" b="1" dirty="0"/>
              <a:t>same type</a:t>
            </a:r>
          </a:p>
          <a:p>
            <a:pPr marL="363538" lvl="1" indent="-363538">
              <a:buSzTx/>
              <a:buBlip>
                <a:blip r:embed="rId2"/>
              </a:buBlip>
            </a:pPr>
            <a:endParaRPr lang="en-GB" sz="1100" dirty="0">
              <a:latin typeface="Arial" charset="0"/>
              <a:cs typeface="ＭＳ Ｐゴシック" charset="0"/>
            </a:endParaRPr>
          </a:p>
          <a:p>
            <a:pPr marL="363538" lvl="1" indent="-363538">
              <a:buSzTx/>
              <a:buBlip>
                <a:blip r:embed="rId2"/>
              </a:buBlip>
            </a:pPr>
            <a:r>
              <a:rPr lang="en-GB" sz="2400" dirty="0">
                <a:latin typeface="Arial" charset="0"/>
                <a:cs typeface="ＭＳ Ｐゴシック" charset="0"/>
              </a:rPr>
              <a:t>Converted to the </a:t>
            </a:r>
            <a:r>
              <a:rPr lang="en-GB" sz="2400" b="1" dirty="0">
                <a:latin typeface="Arial" charset="0"/>
                <a:cs typeface="ＭＳ Ｐゴシック" charset="0"/>
              </a:rPr>
              <a:t>common higher rank </a:t>
            </a:r>
            <a:r>
              <a:rPr lang="en-GB" sz="2400" dirty="0">
                <a:latin typeface="Arial" charset="0"/>
                <a:cs typeface="ＭＳ Ｐゴシック" charset="0"/>
              </a:rPr>
              <a:t>of the operands based on the type width: </a:t>
            </a:r>
          </a:p>
          <a:p>
            <a:pPr marL="179388" lvl="2" indent="0">
              <a:buNone/>
            </a:pPr>
            <a:r>
              <a:rPr lang="en-GB" sz="2400" b="1" dirty="0">
                <a:solidFill>
                  <a:srgbClr val="FF0000"/>
                </a:solidFill>
                <a:latin typeface="Arial" charset="0"/>
                <a:cs typeface="ＭＳ Ｐゴシック" charset="0"/>
              </a:rPr>
              <a:t>				PROMOTION</a:t>
            </a:r>
          </a:p>
          <a:p>
            <a:pPr marL="179388" lvl="2" indent="0">
              <a:buNone/>
            </a:pPr>
            <a:endParaRPr lang="en-GB" sz="800" dirty="0">
              <a:latin typeface="Arial" charset="0"/>
              <a:cs typeface="ＭＳ Ｐゴシック" charset="0"/>
            </a:endParaRPr>
          </a:p>
          <a:p>
            <a:r>
              <a:rPr lang="en-GB" b="1" dirty="0">
                <a:latin typeface="Arial" charset="0"/>
                <a:cs typeface="ＭＳ Ｐゴシック" charset="0"/>
              </a:rPr>
              <a:t>Integer promotions:</a:t>
            </a:r>
            <a:r>
              <a:rPr lang="en-GB" dirty="0">
                <a:latin typeface="Arial" charset="0"/>
                <a:cs typeface="ＭＳ Ｐゴシック" charset="0"/>
              </a:rPr>
              <a:t> </a:t>
            </a:r>
          </a:p>
          <a:p>
            <a:pPr lvl="1"/>
            <a:r>
              <a:rPr lang="en-GB" b="1" dirty="0">
                <a:latin typeface="Courier"/>
                <a:cs typeface="Courier"/>
                <a:sym typeface="Wingdings"/>
              </a:rPr>
              <a:t>signed  unsigned </a:t>
            </a:r>
            <a:endParaRPr lang="en-GB" dirty="0">
              <a:latin typeface="Arial" charset="0"/>
              <a:cs typeface="ＭＳ Ｐゴシック" charset="0"/>
            </a:endParaRPr>
          </a:p>
          <a:p>
            <a:pPr lvl="1"/>
            <a:r>
              <a:rPr lang="en-GB" dirty="0">
                <a:latin typeface="Arial" charset="0"/>
                <a:cs typeface="ＭＳ Ｐゴシック" charset="0"/>
              </a:rPr>
              <a:t>small integer types:</a:t>
            </a:r>
            <a:r>
              <a:rPr lang="en-GB" b="1" dirty="0">
                <a:latin typeface="Courier"/>
                <a:cs typeface="Courier"/>
              </a:rPr>
              <a:t> char, short, int16, int8 </a:t>
            </a:r>
            <a:r>
              <a:rPr lang="en-GB" b="1" dirty="0" err="1">
                <a:latin typeface="Courier"/>
                <a:cs typeface="Courier"/>
              </a:rPr>
              <a:t>etc</a:t>
            </a:r>
            <a:r>
              <a:rPr lang="en-GB" dirty="0">
                <a:latin typeface="Arial" charset="0"/>
                <a:cs typeface="ＭＳ Ｐゴシック" charset="0"/>
              </a:rPr>
              <a:t> (</a:t>
            </a:r>
            <a:r>
              <a:rPr lang="en-GB" b="1" dirty="0">
                <a:solidFill>
                  <a:srgbClr val="FF0000"/>
                </a:solidFill>
                <a:latin typeface="Arial" charset="0"/>
                <a:cs typeface="ＭＳ Ｐゴシック" charset="0"/>
              </a:rPr>
              <a:t>BOTH</a:t>
            </a:r>
            <a:r>
              <a:rPr lang="en-GB" dirty="0">
                <a:solidFill>
                  <a:srgbClr val="FF0000"/>
                </a:solidFill>
                <a:latin typeface="Arial" charset="0"/>
                <a:cs typeface="ＭＳ Ｐゴシック" charset="0"/>
              </a:rPr>
              <a:t> </a:t>
            </a:r>
            <a:r>
              <a:rPr lang="en-GB" b="1" dirty="0">
                <a:solidFill>
                  <a:srgbClr val="FF0000"/>
                </a:solidFill>
                <a:latin typeface="Courier"/>
                <a:cs typeface="Courier"/>
              </a:rPr>
              <a:t>signed</a:t>
            </a:r>
            <a:r>
              <a:rPr lang="en-GB" b="1" dirty="0">
                <a:solidFill>
                  <a:srgbClr val="FF0000"/>
                </a:solidFill>
                <a:cs typeface="Courier"/>
              </a:rPr>
              <a:t> </a:t>
            </a:r>
            <a:r>
              <a:rPr lang="en-GB" dirty="0">
                <a:solidFill>
                  <a:schemeClr val="tx1"/>
                </a:solidFill>
                <a:cs typeface="Courier"/>
              </a:rPr>
              <a:t>and</a:t>
            </a:r>
            <a:r>
              <a:rPr lang="en-GB" b="1" dirty="0">
                <a:solidFill>
                  <a:schemeClr val="tx1"/>
                </a:solidFill>
                <a:cs typeface="Courier"/>
              </a:rPr>
              <a:t> </a:t>
            </a:r>
            <a:r>
              <a:rPr lang="en-GB" b="1" dirty="0">
                <a:solidFill>
                  <a:srgbClr val="FF0000"/>
                </a:solidFill>
                <a:latin typeface="Courier"/>
                <a:cs typeface="Courier"/>
              </a:rPr>
              <a:t>unsigned</a:t>
            </a:r>
            <a:r>
              <a:rPr lang="en-GB" b="1" dirty="0">
                <a:latin typeface="Courier"/>
                <a:cs typeface="Courier"/>
              </a:rPr>
              <a:t>) </a:t>
            </a:r>
            <a:r>
              <a:rPr lang="en-GB" dirty="0">
                <a:cs typeface="Courier"/>
              </a:rPr>
              <a:t>are converted to</a:t>
            </a:r>
            <a:endParaRPr lang="en-GB" dirty="0">
              <a:cs typeface="ＭＳ Ｐゴシック" charset="0"/>
            </a:endParaRPr>
          </a:p>
          <a:p>
            <a:pPr lvl="2"/>
            <a:r>
              <a:rPr lang="en-GB" b="1" dirty="0" err="1">
                <a:latin typeface="Courier"/>
                <a:cs typeface="Courier"/>
                <a:sym typeface="Wingdings"/>
              </a:rPr>
              <a:t>int</a:t>
            </a:r>
            <a:r>
              <a:rPr lang="en-GB" b="1" dirty="0">
                <a:cs typeface="Courier"/>
                <a:sym typeface="Wingdings"/>
              </a:rPr>
              <a:t> :</a:t>
            </a:r>
            <a:r>
              <a:rPr lang="en-GB" b="1" dirty="0">
                <a:solidFill>
                  <a:srgbClr val="FF0000"/>
                </a:solidFill>
                <a:cs typeface="Courier"/>
                <a:sym typeface="Wingdings"/>
              </a:rPr>
              <a:t> IF </a:t>
            </a:r>
            <a:r>
              <a:rPr lang="en-GB" dirty="0">
                <a:solidFill>
                  <a:schemeClr val="tx1"/>
                </a:solidFill>
                <a:cs typeface="Courier"/>
                <a:sym typeface="Wingdings"/>
              </a:rPr>
              <a:t>the range of </a:t>
            </a:r>
            <a:r>
              <a:rPr lang="en-GB" b="1" dirty="0" err="1">
                <a:latin typeface="Courier"/>
                <a:cs typeface="Courier"/>
                <a:sym typeface="Wingdings"/>
              </a:rPr>
              <a:t>int</a:t>
            </a:r>
            <a:r>
              <a:rPr lang="en-GB" b="1" dirty="0">
                <a:latin typeface="Courier"/>
                <a:cs typeface="Courier"/>
                <a:sym typeface="Wingdings"/>
              </a:rPr>
              <a:t> </a:t>
            </a:r>
            <a:r>
              <a:rPr lang="en-GB" b="1" dirty="0">
                <a:solidFill>
                  <a:srgbClr val="FF0000"/>
                </a:solidFill>
                <a:cs typeface="Courier"/>
                <a:sym typeface="Wingdings"/>
              </a:rPr>
              <a:t>can</a:t>
            </a:r>
            <a:r>
              <a:rPr lang="en-GB" b="1" dirty="0">
                <a:cs typeface="Courier"/>
                <a:sym typeface="Wingdings"/>
              </a:rPr>
              <a:t> </a:t>
            </a:r>
            <a:r>
              <a:rPr lang="en-GB" dirty="0"/>
              <a:t>represent ALL values of the original type </a:t>
            </a:r>
          </a:p>
          <a:p>
            <a:pPr lvl="2"/>
            <a:r>
              <a:rPr lang="en-GB" dirty="0">
                <a:latin typeface="Arial" charset="0"/>
                <a:cs typeface="ＭＳ Ｐゴシック" charset="0"/>
                <a:sym typeface="Wingdings"/>
              </a:rPr>
              <a:t>else: </a:t>
            </a:r>
            <a:r>
              <a:rPr lang="en-GB" b="1" dirty="0">
                <a:latin typeface="Courier"/>
                <a:cs typeface="Courier"/>
                <a:sym typeface="Wingdings"/>
              </a:rPr>
              <a:t>unsigned </a:t>
            </a:r>
            <a:r>
              <a:rPr lang="en-GB" b="1" dirty="0" err="1">
                <a:latin typeface="Courier"/>
                <a:cs typeface="Courier"/>
                <a:sym typeface="Wingdings"/>
              </a:rPr>
              <a:t>int</a:t>
            </a:r>
            <a:endParaRPr lang="en-GB" b="1" dirty="0">
              <a:latin typeface="Courier"/>
              <a:cs typeface="Courier"/>
              <a:sym typeface="Wingdings"/>
            </a:endParaRPr>
          </a:p>
          <a:p>
            <a:pPr lvl="1"/>
            <a:endParaRPr lang="en-GB" b="1" dirty="0">
              <a:latin typeface="Courier"/>
              <a:cs typeface="Courier"/>
              <a:sym typeface="Wingdings"/>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64</a:t>
            </a:fld>
            <a:endParaRPr lang="fr-FR" sz="1400">
              <a:solidFill>
                <a:srgbClr val="000208"/>
              </a:solidFill>
              <a:latin typeface="Times New Roman" charset="0"/>
            </a:endParaRPr>
          </a:p>
        </p:txBody>
      </p:sp>
      <p:sp>
        <p:nvSpPr>
          <p:cNvPr id="3" name="Rectangle 2"/>
          <p:cNvSpPr/>
          <p:nvPr/>
        </p:nvSpPr>
        <p:spPr>
          <a:xfrm>
            <a:off x="143508" y="800708"/>
            <a:ext cx="9000492" cy="461665"/>
          </a:xfrm>
          <a:prstGeom prst="rect">
            <a:avLst/>
          </a:prstGeom>
        </p:spPr>
        <p:txBody>
          <a:bodyPr wrap="square">
            <a:spAutoFit/>
          </a:bodyPr>
          <a:lstStyle/>
          <a:p>
            <a:r>
              <a:rPr lang="en-GB" sz="2400" b="1" dirty="0">
                <a:latin typeface="Courier"/>
                <a:cs typeface="Courier"/>
              </a:rPr>
              <a:t>a (operator) b		type a ≠ type b	</a:t>
            </a: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3442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885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85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850">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04800" y="152400"/>
            <a:ext cx="9595792" cy="533400"/>
          </a:xfrm>
        </p:spPr>
        <p:txBody>
          <a:bodyPr/>
          <a:lstStyle/>
          <a:p>
            <a:r>
              <a:rPr lang="fr-FR" sz="2800" dirty="0">
                <a:latin typeface="Arial" charset="0"/>
                <a:cs typeface="ＭＳ Ｐゴシック" charset="0"/>
              </a:rPr>
              <a:t>And </a:t>
            </a:r>
            <a:r>
              <a:rPr lang="fr-FR" sz="2800" dirty="0" err="1">
                <a:latin typeface="Arial" charset="0"/>
                <a:cs typeface="ＭＳ Ｐゴシック" charset="0"/>
              </a:rPr>
              <a:t>during</a:t>
            </a:r>
            <a:r>
              <a:rPr lang="fr-FR" sz="2800" dirty="0">
                <a:latin typeface="Arial" charset="0"/>
                <a:cs typeface="ＭＳ Ｐゴシック" charset="0"/>
              </a:rPr>
              <a:t> </a:t>
            </a:r>
            <a:r>
              <a:rPr lang="fr-FR" sz="2800" dirty="0" err="1">
                <a:latin typeface="Arial" charset="0"/>
                <a:cs typeface="ＭＳ Ｐゴシック" charset="0"/>
              </a:rPr>
              <a:t>assignment</a:t>
            </a:r>
            <a:r>
              <a:rPr lang="fr-FR" sz="2800" dirty="0">
                <a:latin typeface="Arial" charset="0"/>
                <a:cs typeface="ＭＳ Ｐゴシック" charset="0"/>
              </a:rPr>
              <a:t>?</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0" y="2060848"/>
            <a:ext cx="9360532" cy="5257800"/>
          </a:xfrm>
        </p:spPr>
        <p:txBody>
          <a:bodyPr/>
          <a:lstStyle/>
          <a:p>
            <a:r>
              <a:rPr lang="en-GB" b="1" dirty="0">
                <a:solidFill>
                  <a:srgbClr val="FF0000"/>
                </a:solidFill>
                <a:latin typeface="Arial" charset="0"/>
                <a:cs typeface="ＭＳ Ｐゴシック" charset="0"/>
              </a:rPr>
              <a:t>….Still automatic IMPLICIT</a:t>
            </a:r>
            <a:r>
              <a:rPr lang="en-GB" b="1" dirty="0">
                <a:latin typeface="Arial" charset="0"/>
                <a:cs typeface="ＭＳ Ｐゴシック" charset="0"/>
              </a:rPr>
              <a:t> and </a:t>
            </a:r>
            <a:r>
              <a:rPr lang="en-GB" b="1" dirty="0">
                <a:solidFill>
                  <a:srgbClr val="FF0000"/>
                </a:solidFill>
                <a:latin typeface="Arial" charset="0"/>
                <a:cs typeface="ＭＳ Ｐゴシック" charset="0"/>
              </a:rPr>
              <a:t>SILENT</a:t>
            </a:r>
            <a:r>
              <a:rPr lang="en-GB" b="1" dirty="0">
                <a:latin typeface="Arial" charset="0"/>
                <a:cs typeface="ＭＳ Ｐゴシック" charset="0"/>
              </a:rPr>
              <a:t> </a:t>
            </a:r>
            <a:r>
              <a:rPr lang="en-GB" b="1" dirty="0">
                <a:solidFill>
                  <a:srgbClr val="FF0000"/>
                </a:solidFill>
                <a:latin typeface="Arial" charset="0"/>
                <a:cs typeface="ＭＳ Ｐゴシック" charset="0"/>
              </a:rPr>
              <a:t>conversion</a:t>
            </a:r>
            <a:r>
              <a:rPr lang="en-GB" dirty="0">
                <a:latin typeface="Arial" charset="0"/>
                <a:cs typeface="ＭＳ Ｐゴシック" charset="0"/>
              </a:rPr>
              <a:t>! </a:t>
            </a:r>
          </a:p>
          <a:p>
            <a:pPr marL="0" lvl="1" indent="0">
              <a:buSzTx/>
              <a:buNone/>
            </a:pPr>
            <a:endParaRPr lang="en-GB" sz="2400" dirty="0">
              <a:latin typeface="Arial" charset="0"/>
              <a:cs typeface="ＭＳ Ｐゴシック" charset="0"/>
            </a:endParaRPr>
          </a:p>
          <a:p>
            <a:pPr marL="363538" lvl="1" indent="-363538">
              <a:buSzTx/>
              <a:buBlip>
                <a:blip r:embed="rId2"/>
              </a:buBlip>
            </a:pPr>
            <a:r>
              <a:rPr lang="en-GB" sz="2400" dirty="0">
                <a:cs typeface="Courier"/>
              </a:rPr>
              <a:t>Converted to the type of data object that stores the result: </a:t>
            </a:r>
          </a:p>
          <a:p>
            <a:pPr lvl="1"/>
            <a:r>
              <a:rPr lang="en-GB" dirty="0">
                <a:cs typeface="Courier"/>
                <a:sym typeface="Wingdings"/>
              </a:rPr>
              <a:t>Higher rank: </a:t>
            </a:r>
            <a:r>
              <a:rPr lang="en-GB" b="1" dirty="0">
                <a:cs typeface="Courier"/>
                <a:sym typeface="Wingdings"/>
              </a:rPr>
              <a:t>PROMOTION</a:t>
            </a:r>
          </a:p>
          <a:p>
            <a:pPr lvl="1"/>
            <a:r>
              <a:rPr lang="en-GB" dirty="0">
                <a:cs typeface="Courier"/>
                <a:sym typeface="Wingdings"/>
              </a:rPr>
              <a:t>Lower rank: </a:t>
            </a:r>
            <a:r>
              <a:rPr lang="en-GB" b="1" dirty="0">
                <a:cs typeface="Courier"/>
                <a:sym typeface="Wingdings"/>
              </a:rPr>
              <a:t>DEMOTION</a:t>
            </a: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65</a:t>
            </a:fld>
            <a:endParaRPr lang="fr-FR" sz="1400">
              <a:solidFill>
                <a:srgbClr val="000208"/>
              </a:solidFill>
              <a:latin typeface="Times New Roman" charset="0"/>
            </a:endParaRPr>
          </a:p>
        </p:txBody>
      </p:sp>
      <p:sp>
        <p:nvSpPr>
          <p:cNvPr id="6" name="Rectangle 5"/>
          <p:cNvSpPr/>
          <p:nvPr/>
        </p:nvSpPr>
        <p:spPr>
          <a:xfrm>
            <a:off x="-36512" y="800708"/>
            <a:ext cx="9000492" cy="904863"/>
          </a:xfrm>
          <a:prstGeom prst="rect">
            <a:avLst/>
          </a:prstGeom>
        </p:spPr>
        <p:txBody>
          <a:bodyPr wrap="square">
            <a:spAutoFit/>
          </a:bodyPr>
          <a:lstStyle/>
          <a:p>
            <a:r>
              <a:rPr lang="en-GB" sz="2400" b="1" dirty="0">
                <a:latin typeface="Courier"/>
                <a:cs typeface="Courier"/>
              </a:rPr>
              <a:t> c = a (operator) b	</a:t>
            </a:r>
          </a:p>
          <a:p>
            <a:r>
              <a:rPr lang="en-GB" sz="2400" b="1" dirty="0">
                <a:latin typeface="Courier"/>
                <a:cs typeface="Courier"/>
              </a:rPr>
              <a:t>type c ≠ type (</a:t>
            </a:r>
            <a:r>
              <a:rPr lang="en-GB" sz="2400" dirty="0">
                <a:latin typeface="+mn-lt"/>
                <a:cs typeface="Courier"/>
              </a:rPr>
              <a:t>result of operation</a:t>
            </a:r>
            <a:r>
              <a:rPr lang="en-GB" sz="2400" b="1" dirty="0">
                <a:latin typeface="+mn-lt"/>
                <a:cs typeface="Courier"/>
              </a:rPr>
              <a:t>)</a:t>
            </a: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0761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850">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850">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latin typeface="Arial" charset="0"/>
                <a:cs typeface="ＭＳ Ｐゴシック" charset="0"/>
              </a:rPr>
              <a:t>Primitive data types: Implicit conversion</a:t>
            </a:r>
            <a:endParaRPr lang="en-GB" sz="2800"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66</a:t>
            </a:fld>
            <a:endParaRPr lang="fr-FR"/>
          </a:p>
        </p:txBody>
      </p:sp>
      <p:sp>
        <p:nvSpPr>
          <p:cNvPr id="6" name="Espace réservé du numéro de diapositive 4"/>
          <p:cNvSpPr txBox="1">
            <a:spLocks/>
          </p:cNvSpPr>
          <p:nvPr/>
        </p:nvSpPr>
        <p:spPr bwMode="auto">
          <a:xfrm>
            <a:off x="6336196" y="6400800"/>
            <a:ext cx="1511188"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marL="342900" indent="-3429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914400" lvl="2" algn="r" rtl="0" eaLnBrk="0" fontAlgn="base" hangingPunct="0">
              <a:spcBef>
                <a:spcPct val="0"/>
              </a:spcBef>
              <a:spcAft>
                <a:spcPct val="0"/>
              </a:spcAft>
              <a:buClrTx/>
              <a:buSzTx/>
              <a:buFontTx/>
              <a:buNone/>
              <a:defRPr sz="800" kern="1200">
                <a:solidFill>
                  <a:srgbClr val="010507"/>
                </a:solidFill>
                <a:latin typeface="Arial" charset="0"/>
                <a:ea typeface="ＭＳ Ｐゴシック" charset="0"/>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9pPr>
          </a:lstStyle>
          <a:p>
            <a:pPr lvl="2"/>
            <a:fld id="{7A20496B-0CAA-CF4F-A60A-C2F15B752635}" type="slidenum">
              <a:rPr lang="fr-FR" sz="1400" smtClean="0">
                <a:solidFill>
                  <a:srgbClr val="000208"/>
                </a:solidFill>
                <a:latin typeface="Times New Roman" charset="0"/>
              </a:rPr>
              <a:pPr lvl="2"/>
              <a:t>66</a:t>
            </a:fld>
            <a:endParaRPr lang="fr-FR" sz="1400">
              <a:solidFill>
                <a:srgbClr val="000208"/>
              </a:solidFill>
              <a:latin typeface="Times New Roman" charset="0"/>
            </a:endParaRPr>
          </a:p>
        </p:txBody>
      </p:sp>
      <p:sp>
        <p:nvSpPr>
          <p:cNvPr id="11" name="Espace réservé du contenu 2"/>
          <p:cNvSpPr txBox="1">
            <a:spLocks/>
          </p:cNvSpPr>
          <p:nvPr/>
        </p:nvSpPr>
        <p:spPr bwMode="auto">
          <a:xfrm>
            <a:off x="2609004" y="6273316"/>
            <a:ext cx="1314924" cy="432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None/>
            </a:pPr>
            <a:r>
              <a:rPr lang="en-GB" sz="2000" dirty="0">
                <a:latin typeface="Arial" charset="0"/>
                <a:cs typeface="ＭＳ Ｐゴシック" charset="0"/>
              </a:rPr>
              <a:t>2 Bytes</a:t>
            </a:r>
            <a:endParaRPr lang="en-GB" sz="2000" dirty="0">
              <a:latin typeface="Arial" charset="0"/>
            </a:endParaRPr>
          </a:p>
        </p:txBody>
      </p:sp>
      <p:sp>
        <p:nvSpPr>
          <p:cNvPr id="21" name="Rectangle 20"/>
          <p:cNvSpPr/>
          <p:nvPr/>
        </p:nvSpPr>
        <p:spPr>
          <a:xfrm>
            <a:off x="4752020" y="5985284"/>
            <a:ext cx="800319" cy="400110"/>
          </a:xfrm>
          <a:prstGeom prst="rect">
            <a:avLst/>
          </a:prstGeom>
        </p:spPr>
        <p:txBody>
          <a:bodyPr wrap="none">
            <a:spAutoFit/>
          </a:bodyPr>
          <a:lstStyle/>
          <a:p>
            <a:r>
              <a:rPr lang="en-GB" sz="2000" b="1" dirty="0">
                <a:latin typeface="Courier"/>
                <a:cs typeface="Courier"/>
              </a:rPr>
              <a:t>char</a:t>
            </a:r>
            <a:endParaRPr lang="en-US" sz="2000" dirty="0"/>
          </a:p>
        </p:txBody>
      </p:sp>
      <p:sp>
        <p:nvSpPr>
          <p:cNvPr id="22" name="Rectangle 21"/>
          <p:cNvSpPr/>
          <p:nvPr/>
        </p:nvSpPr>
        <p:spPr>
          <a:xfrm>
            <a:off x="2699792" y="5949280"/>
            <a:ext cx="954233" cy="400110"/>
          </a:xfrm>
          <a:prstGeom prst="rect">
            <a:avLst/>
          </a:prstGeom>
        </p:spPr>
        <p:txBody>
          <a:bodyPr wrap="none">
            <a:spAutoFit/>
          </a:bodyPr>
          <a:lstStyle/>
          <a:p>
            <a:r>
              <a:rPr lang="en-GB" sz="2000" b="1" dirty="0">
                <a:latin typeface="Courier"/>
                <a:cs typeface="Courier"/>
              </a:rPr>
              <a:t>short</a:t>
            </a:r>
            <a:endParaRPr lang="en-US" sz="2000" dirty="0"/>
          </a:p>
        </p:txBody>
      </p:sp>
      <p:sp>
        <p:nvSpPr>
          <p:cNvPr id="24" name="Rectangle 23"/>
          <p:cNvSpPr/>
          <p:nvPr/>
        </p:nvSpPr>
        <p:spPr>
          <a:xfrm>
            <a:off x="3851920" y="5333146"/>
            <a:ext cx="646406" cy="400110"/>
          </a:xfrm>
          <a:prstGeom prst="rect">
            <a:avLst/>
          </a:prstGeom>
        </p:spPr>
        <p:txBody>
          <a:bodyPr wrap="none">
            <a:spAutoFit/>
          </a:bodyPr>
          <a:lstStyle/>
          <a:p>
            <a:r>
              <a:rPr lang="en-GB" sz="2000" b="1" dirty="0" err="1">
                <a:latin typeface="Courier"/>
                <a:cs typeface="Courier"/>
              </a:rPr>
              <a:t>int</a:t>
            </a:r>
            <a:endParaRPr lang="en-US" sz="2000" dirty="0"/>
          </a:p>
        </p:txBody>
      </p:sp>
      <p:sp>
        <p:nvSpPr>
          <p:cNvPr id="26" name="Rectangle 25"/>
          <p:cNvSpPr/>
          <p:nvPr/>
        </p:nvSpPr>
        <p:spPr>
          <a:xfrm>
            <a:off x="3385234" y="4754732"/>
            <a:ext cx="2031626" cy="400110"/>
          </a:xfrm>
          <a:prstGeom prst="rect">
            <a:avLst/>
          </a:prstGeom>
        </p:spPr>
        <p:txBody>
          <a:bodyPr wrap="none">
            <a:spAutoFit/>
          </a:bodyPr>
          <a:lstStyle/>
          <a:p>
            <a:r>
              <a:rPr lang="en-GB" sz="2000" b="1" dirty="0">
                <a:latin typeface="Courier"/>
                <a:cs typeface="Courier"/>
              </a:rPr>
              <a:t>unsigned </a:t>
            </a:r>
            <a:r>
              <a:rPr lang="en-GB" sz="2000" b="1" dirty="0" err="1">
                <a:latin typeface="Courier"/>
                <a:cs typeface="Courier"/>
              </a:rPr>
              <a:t>int</a:t>
            </a:r>
            <a:endParaRPr lang="en-US" sz="2000" dirty="0"/>
          </a:p>
        </p:txBody>
      </p:sp>
      <p:sp>
        <p:nvSpPr>
          <p:cNvPr id="28" name="Rectangle 27"/>
          <p:cNvSpPr/>
          <p:nvPr/>
        </p:nvSpPr>
        <p:spPr>
          <a:xfrm>
            <a:off x="3779912" y="4149080"/>
            <a:ext cx="800319" cy="400110"/>
          </a:xfrm>
          <a:prstGeom prst="rect">
            <a:avLst/>
          </a:prstGeom>
        </p:spPr>
        <p:txBody>
          <a:bodyPr wrap="none">
            <a:spAutoFit/>
          </a:bodyPr>
          <a:lstStyle/>
          <a:p>
            <a:r>
              <a:rPr lang="en-GB" sz="2000" b="1" dirty="0">
                <a:latin typeface="Courier"/>
                <a:cs typeface="Courier"/>
              </a:rPr>
              <a:t>long</a:t>
            </a:r>
            <a:endParaRPr lang="en-US" sz="2000" dirty="0"/>
          </a:p>
        </p:txBody>
      </p:sp>
      <p:sp>
        <p:nvSpPr>
          <p:cNvPr id="30" name="Rectangle 29"/>
          <p:cNvSpPr/>
          <p:nvPr/>
        </p:nvSpPr>
        <p:spPr>
          <a:xfrm>
            <a:off x="3214553" y="3537012"/>
            <a:ext cx="2185539" cy="400110"/>
          </a:xfrm>
          <a:prstGeom prst="rect">
            <a:avLst/>
          </a:prstGeom>
        </p:spPr>
        <p:txBody>
          <a:bodyPr wrap="none">
            <a:spAutoFit/>
          </a:bodyPr>
          <a:lstStyle/>
          <a:p>
            <a:r>
              <a:rPr lang="en-GB" sz="2000" b="1" dirty="0">
                <a:latin typeface="Courier"/>
                <a:cs typeface="Courier"/>
              </a:rPr>
              <a:t>unsigned long</a:t>
            </a:r>
            <a:endParaRPr lang="en-US" sz="2000" dirty="0"/>
          </a:p>
        </p:txBody>
      </p:sp>
      <p:sp>
        <p:nvSpPr>
          <p:cNvPr id="31" name="Up Arrow 30"/>
          <p:cNvSpPr/>
          <p:nvPr/>
        </p:nvSpPr>
        <p:spPr bwMode="auto">
          <a:xfrm>
            <a:off x="3977807" y="3964095"/>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2" name="Rectangle 31"/>
          <p:cNvSpPr/>
          <p:nvPr/>
        </p:nvSpPr>
        <p:spPr>
          <a:xfrm>
            <a:off x="2805026" y="2416822"/>
            <a:ext cx="2955106" cy="400110"/>
          </a:xfrm>
          <a:prstGeom prst="rect">
            <a:avLst/>
          </a:prstGeom>
        </p:spPr>
        <p:txBody>
          <a:bodyPr wrap="none">
            <a:spAutoFit/>
          </a:bodyPr>
          <a:lstStyle/>
          <a:p>
            <a:r>
              <a:rPr lang="en-GB" sz="2000" b="1" dirty="0">
                <a:latin typeface="Courier"/>
                <a:cs typeface="Courier"/>
              </a:rPr>
              <a:t>unsigned long long</a:t>
            </a:r>
            <a:endParaRPr lang="en-US" sz="2000" dirty="0"/>
          </a:p>
        </p:txBody>
      </p:sp>
      <p:sp>
        <p:nvSpPr>
          <p:cNvPr id="33" name="Rectangle 32"/>
          <p:cNvSpPr/>
          <p:nvPr/>
        </p:nvSpPr>
        <p:spPr>
          <a:xfrm>
            <a:off x="3398158" y="2992886"/>
            <a:ext cx="1569886" cy="400110"/>
          </a:xfrm>
          <a:prstGeom prst="rect">
            <a:avLst/>
          </a:prstGeom>
        </p:spPr>
        <p:txBody>
          <a:bodyPr wrap="none">
            <a:spAutoFit/>
          </a:bodyPr>
          <a:lstStyle/>
          <a:p>
            <a:r>
              <a:rPr lang="en-GB" sz="2000" b="1" dirty="0">
                <a:latin typeface="Courier"/>
                <a:cs typeface="Courier"/>
              </a:rPr>
              <a:t>long long</a:t>
            </a:r>
            <a:endParaRPr lang="en-US" sz="2000" dirty="0"/>
          </a:p>
        </p:txBody>
      </p:sp>
      <p:sp>
        <p:nvSpPr>
          <p:cNvPr id="34" name="Rectangle 33"/>
          <p:cNvSpPr/>
          <p:nvPr/>
        </p:nvSpPr>
        <p:spPr>
          <a:xfrm>
            <a:off x="3691695" y="1808820"/>
            <a:ext cx="954233" cy="400110"/>
          </a:xfrm>
          <a:prstGeom prst="rect">
            <a:avLst/>
          </a:prstGeom>
        </p:spPr>
        <p:txBody>
          <a:bodyPr wrap="none">
            <a:spAutoFit/>
          </a:bodyPr>
          <a:lstStyle/>
          <a:p>
            <a:r>
              <a:rPr lang="en-GB" sz="2000" b="1" dirty="0">
                <a:latin typeface="Courier"/>
                <a:cs typeface="Courier"/>
              </a:rPr>
              <a:t>float</a:t>
            </a:r>
            <a:endParaRPr lang="en-US" sz="2000" dirty="0"/>
          </a:p>
        </p:txBody>
      </p:sp>
      <p:sp>
        <p:nvSpPr>
          <p:cNvPr id="35" name="Rectangle 34"/>
          <p:cNvSpPr/>
          <p:nvPr/>
        </p:nvSpPr>
        <p:spPr>
          <a:xfrm>
            <a:off x="3670539" y="1228690"/>
            <a:ext cx="1108146" cy="400110"/>
          </a:xfrm>
          <a:prstGeom prst="rect">
            <a:avLst/>
          </a:prstGeom>
        </p:spPr>
        <p:txBody>
          <a:bodyPr wrap="none">
            <a:spAutoFit/>
          </a:bodyPr>
          <a:lstStyle/>
          <a:p>
            <a:r>
              <a:rPr lang="en-GB" sz="2000" b="1" dirty="0">
                <a:latin typeface="Courier"/>
                <a:cs typeface="Courier"/>
              </a:rPr>
              <a:t>double</a:t>
            </a:r>
            <a:endParaRPr lang="en-US" sz="2000" dirty="0"/>
          </a:p>
        </p:txBody>
      </p:sp>
      <p:sp>
        <p:nvSpPr>
          <p:cNvPr id="36" name="Rectangle 35"/>
          <p:cNvSpPr/>
          <p:nvPr/>
        </p:nvSpPr>
        <p:spPr>
          <a:xfrm>
            <a:off x="3383868" y="580618"/>
            <a:ext cx="1877713" cy="400110"/>
          </a:xfrm>
          <a:prstGeom prst="rect">
            <a:avLst/>
          </a:prstGeom>
        </p:spPr>
        <p:txBody>
          <a:bodyPr wrap="none">
            <a:spAutoFit/>
          </a:bodyPr>
          <a:lstStyle/>
          <a:p>
            <a:r>
              <a:rPr lang="en-GB" sz="2000" b="1" dirty="0">
                <a:latin typeface="Courier"/>
                <a:cs typeface="Courier"/>
              </a:rPr>
              <a:t>long double</a:t>
            </a:r>
            <a:endParaRPr lang="en-US" sz="2000" dirty="0"/>
          </a:p>
        </p:txBody>
      </p:sp>
      <p:sp>
        <p:nvSpPr>
          <p:cNvPr id="37" name="Up Arrow 36"/>
          <p:cNvSpPr/>
          <p:nvPr/>
        </p:nvSpPr>
        <p:spPr bwMode="auto">
          <a:xfrm>
            <a:off x="3977807" y="4540159"/>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8" name="Up Arrow 37"/>
          <p:cNvSpPr/>
          <p:nvPr/>
        </p:nvSpPr>
        <p:spPr bwMode="auto">
          <a:xfrm>
            <a:off x="3977807" y="3318373"/>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9" name="Up Arrow 38"/>
          <p:cNvSpPr/>
          <p:nvPr/>
        </p:nvSpPr>
        <p:spPr bwMode="auto">
          <a:xfrm>
            <a:off x="4005669" y="2742309"/>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0" name="Up Arrow 39"/>
          <p:cNvSpPr/>
          <p:nvPr/>
        </p:nvSpPr>
        <p:spPr bwMode="auto">
          <a:xfrm>
            <a:off x="4005669" y="2202249"/>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1" name="Up Arrow 40"/>
          <p:cNvSpPr/>
          <p:nvPr/>
        </p:nvSpPr>
        <p:spPr bwMode="auto">
          <a:xfrm>
            <a:off x="3977807" y="1623835"/>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2" name="Up Arrow 41"/>
          <p:cNvSpPr/>
          <p:nvPr/>
        </p:nvSpPr>
        <p:spPr bwMode="auto">
          <a:xfrm>
            <a:off x="3977807" y="943825"/>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4" name="Up Arrow 43"/>
          <p:cNvSpPr/>
          <p:nvPr/>
        </p:nvSpPr>
        <p:spPr bwMode="auto">
          <a:xfrm>
            <a:off x="3977807" y="5658633"/>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5" name="Up Arrow 44"/>
          <p:cNvSpPr/>
          <p:nvPr/>
        </p:nvSpPr>
        <p:spPr bwMode="auto">
          <a:xfrm>
            <a:off x="3977807" y="5152227"/>
            <a:ext cx="386311" cy="295612"/>
          </a:xfrm>
          <a:prstGeom prst="upArrow">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47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6" name="Espace réservé du contenu 2"/>
          <p:cNvSpPr txBox="1">
            <a:spLocks/>
          </p:cNvSpPr>
          <p:nvPr/>
        </p:nvSpPr>
        <p:spPr bwMode="auto">
          <a:xfrm>
            <a:off x="4709422" y="6273316"/>
            <a:ext cx="1086714" cy="432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None/>
            </a:pPr>
            <a:r>
              <a:rPr lang="en-GB" sz="2000" dirty="0">
                <a:latin typeface="Arial" charset="0"/>
                <a:cs typeface="ＭＳ Ｐゴシック" charset="0"/>
              </a:rPr>
              <a:t>1 Byte</a:t>
            </a:r>
            <a:endParaRPr lang="en-GB" sz="2000" dirty="0">
              <a:latin typeface="Arial" charset="0"/>
            </a:endParaRPr>
          </a:p>
        </p:txBody>
      </p:sp>
      <p:cxnSp>
        <p:nvCxnSpPr>
          <p:cNvPr id="51" name="Straight Connector 50"/>
          <p:cNvCxnSpPr/>
          <p:nvPr/>
        </p:nvCxnSpPr>
        <p:spPr bwMode="auto">
          <a:xfrm>
            <a:off x="215516" y="5949280"/>
            <a:ext cx="8712968" cy="36004"/>
          </a:xfrm>
          <a:prstGeom prst="line">
            <a:avLst/>
          </a:prstGeom>
          <a:noFill/>
          <a:ln w="6350" cap="flat" cmpd="sng" algn="ctr">
            <a:solidFill>
              <a:srgbClr val="000208"/>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2" name="TextBox 51"/>
          <p:cNvSpPr txBox="1"/>
          <p:nvPr/>
        </p:nvSpPr>
        <p:spPr>
          <a:xfrm>
            <a:off x="190024" y="5945214"/>
            <a:ext cx="2365752" cy="400110"/>
          </a:xfrm>
          <a:prstGeom prst="rect">
            <a:avLst/>
          </a:prstGeom>
          <a:noFill/>
        </p:spPr>
        <p:txBody>
          <a:bodyPr wrap="none" rtlCol="0">
            <a:spAutoFit/>
          </a:bodyPr>
          <a:lstStyle/>
          <a:p>
            <a:r>
              <a:rPr lang="en-US" sz="2000" dirty="0"/>
              <a:t>Small integer types</a:t>
            </a:r>
          </a:p>
        </p:txBody>
      </p:sp>
      <p:cxnSp>
        <p:nvCxnSpPr>
          <p:cNvPr id="53" name="Straight Connector 52"/>
          <p:cNvCxnSpPr/>
          <p:nvPr/>
        </p:nvCxnSpPr>
        <p:spPr bwMode="auto">
          <a:xfrm>
            <a:off x="179512" y="2168860"/>
            <a:ext cx="8712968" cy="36004"/>
          </a:xfrm>
          <a:prstGeom prst="line">
            <a:avLst/>
          </a:prstGeom>
          <a:noFill/>
          <a:ln w="6350" cap="flat" cmpd="sng" algn="ctr">
            <a:solidFill>
              <a:srgbClr val="000208"/>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3" name="Up Arrow 42"/>
          <p:cNvSpPr/>
          <p:nvPr/>
        </p:nvSpPr>
        <p:spPr bwMode="auto">
          <a:xfrm>
            <a:off x="6120172" y="1232756"/>
            <a:ext cx="1008112" cy="4860540"/>
          </a:xfrm>
          <a:prstGeom prst="upArrow">
            <a:avLst/>
          </a:prstGeom>
          <a:solidFill>
            <a:srgbClr val="FFFFFF"/>
          </a:solid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7" name="Up Arrow 46"/>
          <p:cNvSpPr/>
          <p:nvPr/>
        </p:nvSpPr>
        <p:spPr bwMode="auto">
          <a:xfrm rot="10800000">
            <a:off x="1727684" y="1160748"/>
            <a:ext cx="936104" cy="4860540"/>
          </a:xfrm>
          <a:prstGeom prst="upArrow">
            <a:avLst/>
          </a:prstGeom>
          <a:solidFill>
            <a:schemeClr val="bg1"/>
          </a:solidFill>
          <a:ln w="6350" cap="flat" cmpd="sng" algn="ctr">
            <a:solidFill>
              <a:srgbClr val="000208"/>
            </a:solidFill>
            <a:prstDash val="solid"/>
            <a:round/>
            <a:headEnd type="none" w="lg" len="lg"/>
            <a:tailEnd type="none" w="med" len="med"/>
          </a:ln>
          <a:effec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 name="Rectangle 2"/>
          <p:cNvSpPr/>
          <p:nvPr/>
        </p:nvSpPr>
        <p:spPr>
          <a:xfrm>
            <a:off x="7020272" y="3356992"/>
            <a:ext cx="2082571" cy="461665"/>
          </a:xfrm>
          <a:prstGeom prst="rect">
            <a:avLst/>
          </a:prstGeom>
        </p:spPr>
        <p:txBody>
          <a:bodyPr wrap="none">
            <a:spAutoFit/>
          </a:bodyPr>
          <a:lstStyle/>
          <a:p>
            <a:r>
              <a:rPr lang="en-GB" sz="2400" b="1" dirty="0">
                <a:solidFill>
                  <a:srgbClr val="000000"/>
                </a:solidFill>
                <a:cs typeface="ＭＳ Ｐゴシック" charset="0"/>
              </a:rPr>
              <a:t>PROMOTION</a:t>
            </a:r>
            <a:endParaRPr lang="en-US" sz="2400" dirty="0">
              <a:solidFill>
                <a:srgbClr val="000000"/>
              </a:solidFill>
            </a:endParaRPr>
          </a:p>
        </p:txBody>
      </p:sp>
      <p:sp>
        <p:nvSpPr>
          <p:cNvPr id="48" name="Rectangle 47"/>
          <p:cNvSpPr/>
          <p:nvPr/>
        </p:nvSpPr>
        <p:spPr>
          <a:xfrm>
            <a:off x="119699" y="3248980"/>
            <a:ext cx="1843173" cy="461665"/>
          </a:xfrm>
          <a:prstGeom prst="rect">
            <a:avLst/>
          </a:prstGeom>
        </p:spPr>
        <p:txBody>
          <a:bodyPr wrap="none">
            <a:spAutoFit/>
          </a:bodyPr>
          <a:lstStyle/>
          <a:p>
            <a:r>
              <a:rPr lang="en-GB" sz="2400" b="1" dirty="0">
                <a:solidFill>
                  <a:srgbClr val="000000"/>
                </a:solidFill>
                <a:cs typeface="ＭＳ Ｐゴシック" charset="0"/>
              </a:rPr>
              <a:t>DEMOTION</a:t>
            </a:r>
            <a:endParaRPr lang="en-US" sz="2400" dirty="0">
              <a:solidFill>
                <a:srgbClr val="000000"/>
              </a:solidFill>
            </a:endParaRPr>
          </a:p>
        </p:txBody>
      </p:sp>
      <p:sp>
        <p:nvSpPr>
          <p:cNvPr id="4" name="Espace réservé du pied de page 3">
            <a:extLst>
              <a:ext uri="{FF2B5EF4-FFF2-40B4-BE49-F238E27FC236}">
                <a16:creationId xmlns:a16="http://schemas.microsoft.com/office/drawing/2014/main" id="{65160E79-7C18-C300-29D0-65199C298E49}"/>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73927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animBg="1"/>
      <p:bldP spid="3" grpId="0"/>
      <p:bldP spid="4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cs typeface="ＭＳ Ｐゴシック" charset="0"/>
              </a:rPr>
              <a:t>Explicit conversion: </a:t>
            </a:r>
            <a:r>
              <a:rPr lang="fr-FR" sz="2800" dirty="0" err="1">
                <a:latin typeface="Arial" charset="0"/>
                <a:cs typeface="ＭＳ Ｐゴシック" charset="0"/>
              </a:rPr>
              <a:t>Cast</a:t>
            </a:r>
            <a:r>
              <a:rPr lang="fr-FR" sz="2800" dirty="0">
                <a:latin typeface="Arial" charset="0"/>
                <a:cs typeface="ＭＳ Ｐゴシック" charset="0"/>
              </a:rPr>
              <a:t> </a:t>
            </a:r>
            <a:r>
              <a:rPr lang="fr-FR" sz="2800" dirty="0" err="1">
                <a:latin typeface="Arial" charset="0"/>
                <a:cs typeface="ＭＳ Ｐゴシック" charset="0"/>
              </a:rPr>
              <a:t>operator</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457200" y="728700"/>
            <a:ext cx="8867328" cy="5257800"/>
          </a:xfrm>
        </p:spPr>
        <p:txBody>
          <a:bodyPr/>
          <a:lstStyle/>
          <a:p>
            <a:r>
              <a:rPr lang="en-GB" dirty="0">
                <a:latin typeface="Arial" charset="0"/>
                <a:cs typeface="ＭＳ Ｐゴシック" charset="0"/>
              </a:rPr>
              <a:t>Syntax</a:t>
            </a:r>
          </a:p>
          <a:p>
            <a:pPr marL="542925" lvl="1" indent="0">
              <a:buNone/>
            </a:pPr>
            <a:r>
              <a:rPr lang="en-GB" b="1" dirty="0">
                <a:latin typeface="Courier"/>
                <a:cs typeface="Courier"/>
              </a:rPr>
              <a:t>(type) identifier; </a:t>
            </a:r>
          </a:p>
          <a:p>
            <a:pPr marL="542925" lvl="1" indent="0">
              <a:buNone/>
            </a:pPr>
            <a:endParaRPr lang="en-GB" b="1" dirty="0">
              <a:latin typeface="Courier"/>
              <a:cs typeface="Courier"/>
            </a:endParaRPr>
          </a:p>
          <a:p>
            <a:pPr marL="542925" lvl="1" indent="0">
              <a:buNone/>
            </a:pPr>
            <a:endParaRPr lang="en-GB" b="1" dirty="0">
              <a:latin typeface="Courier"/>
              <a:cs typeface="Courier"/>
            </a:endParaRPr>
          </a:p>
          <a:p>
            <a:r>
              <a:rPr lang="en-GB" dirty="0">
                <a:latin typeface="Arial" charset="0"/>
                <a:cs typeface="ＭＳ Ｐゴシック" charset="0"/>
              </a:rPr>
              <a:t>Creates a </a:t>
            </a:r>
            <a:r>
              <a:rPr lang="en-GB" b="1" dirty="0">
                <a:solidFill>
                  <a:srgbClr val="FF0000"/>
                </a:solidFill>
                <a:latin typeface="Arial" charset="0"/>
                <a:cs typeface="ＭＳ Ｐゴシック" charset="0"/>
              </a:rPr>
              <a:t>copy</a:t>
            </a:r>
            <a:r>
              <a:rPr lang="en-GB" dirty="0">
                <a:solidFill>
                  <a:srgbClr val="FF0000"/>
                </a:solidFill>
                <a:latin typeface="Arial" charset="0"/>
                <a:cs typeface="ＭＳ Ｐゴシック" charset="0"/>
              </a:rPr>
              <a:t> </a:t>
            </a:r>
            <a:r>
              <a:rPr lang="en-GB" dirty="0">
                <a:latin typeface="Arial" charset="0"/>
                <a:cs typeface="ＭＳ Ｐゴシック" charset="0"/>
              </a:rPr>
              <a:t>of the data object and changes its type. </a:t>
            </a:r>
          </a:p>
          <a:p>
            <a:endParaRPr lang="en-GB" dirty="0">
              <a:latin typeface="Arial" charset="0"/>
              <a:cs typeface="ＭＳ Ｐゴシック" charset="0"/>
            </a:endParaRPr>
          </a:p>
          <a:p>
            <a:r>
              <a:rPr lang="en-GB" dirty="0">
                <a:latin typeface="Arial" charset="0"/>
                <a:cs typeface="ＭＳ Ｐゴシック" charset="0"/>
              </a:rPr>
              <a:t>The data object of the </a:t>
            </a:r>
            <a:r>
              <a:rPr lang="en-GB" b="1" dirty="0">
                <a:latin typeface="Courier"/>
                <a:cs typeface="Courier"/>
              </a:rPr>
              <a:t>identifier</a:t>
            </a:r>
            <a:r>
              <a:rPr lang="en-GB" dirty="0">
                <a:latin typeface="Arial" charset="0"/>
                <a:cs typeface="ＭＳ Ｐゴシック" charset="0"/>
              </a:rPr>
              <a:t> is </a:t>
            </a:r>
            <a:r>
              <a:rPr lang="en-GB" b="1" dirty="0">
                <a:solidFill>
                  <a:srgbClr val="FF0000"/>
                </a:solidFill>
                <a:latin typeface="Arial" charset="0"/>
                <a:cs typeface="ＭＳ Ｐゴシック" charset="0"/>
              </a:rPr>
              <a:t>NOT</a:t>
            </a:r>
            <a:r>
              <a:rPr lang="en-GB" dirty="0">
                <a:solidFill>
                  <a:srgbClr val="FF0000"/>
                </a:solidFill>
                <a:latin typeface="Arial" charset="0"/>
                <a:cs typeface="ＭＳ Ｐゴシック" charset="0"/>
              </a:rPr>
              <a:t> </a:t>
            </a:r>
            <a:r>
              <a:rPr lang="en-GB" dirty="0">
                <a:latin typeface="Arial" charset="0"/>
                <a:cs typeface="ＭＳ Ｐゴシック" charset="0"/>
              </a:rPr>
              <a:t>modified</a:t>
            </a:r>
          </a:p>
          <a:p>
            <a:pPr marL="542925" lvl="1" indent="0">
              <a:buNone/>
            </a:pPr>
            <a:endParaRPr lang="en-GB" dirty="0">
              <a:latin typeface="Arial" charset="0"/>
              <a:cs typeface="ＭＳ Ｐゴシック" charset="0"/>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67</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914773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With the Implicit or explicit conversion</a:t>
            </a:r>
          </a:p>
        </p:txBody>
      </p:sp>
      <p:sp>
        <p:nvSpPr>
          <p:cNvPr id="3" name="Content Placeholder 2"/>
          <p:cNvSpPr>
            <a:spLocks noGrp="1"/>
          </p:cNvSpPr>
          <p:nvPr>
            <p:ph idx="1"/>
          </p:nvPr>
        </p:nvSpPr>
        <p:spPr>
          <a:xfrm>
            <a:off x="457200" y="914400"/>
            <a:ext cx="9119356" cy="5257800"/>
          </a:xfrm>
        </p:spPr>
        <p:txBody>
          <a:bodyPr/>
          <a:lstStyle/>
          <a:p>
            <a:r>
              <a:rPr lang="en-GB" dirty="0">
                <a:latin typeface="Arial" charset="0"/>
                <a:cs typeface="ＭＳ Ｐゴシック" charset="0"/>
              </a:rPr>
              <a:t>The type changes </a:t>
            </a:r>
            <a:r>
              <a:rPr lang="en-GB" dirty="0">
                <a:latin typeface="Arial" charset="0"/>
                <a:cs typeface="ＭＳ Ｐゴシック" charset="0"/>
                <a:sym typeface="Wingdings"/>
              </a:rPr>
              <a:t></a:t>
            </a:r>
            <a:endParaRPr lang="en-GB" dirty="0">
              <a:latin typeface="Arial" charset="0"/>
              <a:cs typeface="ＭＳ Ｐゴシック" charset="0"/>
            </a:endParaRPr>
          </a:p>
          <a:p>
            <a:endParaRPr lang="en-GB" dirty="0">
              <a:latin typeface="Arial" charset="0"/>
              <a:cs typeface="ＭＳ Ｐゴシック" charset="0"/>
            </a:endParaRPr>
          </a:p>
          <a:p>
            <a:r>
              <a:rPr lang="en-GB" dirty="0">
                <a:latin typeface="Arial" charset="0"/>
                <a:cs typeface="ＭＳ Ｐゴシック" charset="0"/>
              </a:rPr>
              <a:t>So, the storage size and/or the representation changes </a:t>
            </a:r>
            <a:r>
              <a:rPr lang="en-GB" dirty="0">
                <a:latin typeface="Arial" charset="0"/>
                <a:cs typeface="ＭＳ Ｐゴシック" charset="0"/>
                <a:sym typeface="Wingdings"/>
              </a:rPr>
              <a:t></a:t>
            </a:r>
            <a:endParaRPr lang="en-GB" dirty="0">
              <a:latin typeface="Arial" charset="0"/>
              <a:cs typeface="ＭＳ Ｐゴシック" charset="0"/>
            </a:endParaRPr>
          </a:p>
          <a:p>
            <a:endParaRPr lang="en-GB" dirty="0">
              <a:latin typeface="Arial" charset="0"/>
              <a:cs typeface="ＭＳ Ｐゴシック" charset="0"/>
            </a:endParaRPr>
          </a:p>
          <a:p>
            <a:r>
              <a:rPr lang="en-GB" dirty="0">
                <a:latin typeface="Arial" charset="0"/>
                <a:cs typeface="ＭＳ Ｐゴシック" charset="0"/>
              </a:rPr>
              <a:t>So, the </a:t>
            </a:r>
            <a:r>
              <a:rPr lang="en-GB" b="1" dirty="0">
                <a:solidFill>
                  <a:srgbClr val="FF0000"/>
                </a:solidFill>
                <a:latin typeface="Arial" charset="0"/>
                <a:cs typeface="ＭＳ Ｐゴシック" charset="0"/>
              </a:rPr>
              <a:t>value</a:t>
            </a:r>
            <a:r>
              <a:rPr lang="en-GB" b="1" dirty="0">
                <a:latin typeface="Arial" charset="0"/>
                <a:cs typeface="ＭＳ Ｐゴシック" charset="0"/>
              </a:rPr>
              <a:t> </a:t>
            </a:r>
            <a:r>
              <a:rPr lang="en-GB" b="1" dirty="0">
                <a:solidFill>
                  <a:srgbClr val="FF0000"/>
                </a:solidFill>
                <a:latin typeface="Arial" charset="0"/>
                <a:cs typeface="ＭＳ Ｐゴシック" charset="0"/>
              </a:rPr>
              <a:t>CAN change</a:t>
            </a:r>
            <a:endParaRPr lang="en-GB" b="1" dirty="0">
              <a:solidFill>
                <a:srgbClr val="FF0000"/>
              </a:solidFill>
            </a:endParaRPr>
          </a:p>
          <a:p>
            <a:endParaRPr lang="en-US" b="1"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68</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877981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a:xfrm>
            <a:off x="304800" y="152400"/>
            <a:ext cx="9307760" cy="533400"/>
          </a:xfrm>
        </p:spPr>
        <p:txBody>
          <a:bodyPr/>
          <a:lstStyle/>
          <a:p>
            <a:r>
              <a:rPr lang="fr-FR" sz="2800" dirty="0">
                <a:latin typeface="Arial" charset="0"/>
                <a:cs typeface="ＭＳ Ｐゴシック" charset="0"/>
              </a:rPr>
              <a:t>And, </a:t>
            </a:r>
            <a:r>
              <a:rPr lang="fr-FR" sz="2800" dirty="0" err="1">
                <a:latin typeface="Arial" charset="0"/>
                <a:cs typeface="ＭＳ Ｐゴシック" charset="0"/>
              </a:rPr>
              <a:t>when</a:t>
            </a:r>
            <a:r>
              <a:rPr lang="fr-FR" sz="2800" dirty="0">
                <a:latin typeface="Arial" charset="0"/>
                <a:cs typeface="ＭＳ Ｐゴシック" charset="0"/>
              </a:rPr>
              <a:t> </a:t>
            </a:r>
            <a:r>
              <a:rPr lang="fr-FR" sz="2800" dirty="0" err="1">
                <a:latin typeface="Arial" charset="0"/>
                <a:cs typeface="ＭＳ Ｐゴシック" charset="0"/>
              </a:rPr>
              <a:t>we</a:t>
            </a:r>
            <a:r>
              <a:rPr lang="fr-FR" sz="2800" dirty="0">
                <a:latin typeface="Arial" charset="0"/>
                <a:cs typeface="ＭＳ Ｐゴシック" charset="0"/>
              </a:rPr>
              <a:t> </a:t>
            </a:r>
            <a:r>
              <a:rPr lang="fr-FR" sz="2800" dirty="0" err="1">
                <a:latin typeface="Arial" charset="0"/>
                <a:cs typeface="ＭＳ Ｐゴシック" charset="0"/>
              </a:rPr>
              <a:t>cast</a:t>
            </a:r>
            <a:r>
              <a:rPr lang="fr-FR" sz="2800" dirty="0">
                <a:latin typeface="Arial" charset="0"/>
                <a:cs typeface="ＭＳ Ｐゴシック" charset="0"/>
              </a:rPr>
              <a:t> </a:t>
            </a:r>
            <a:r>
              <a:rPr lang="fr-FR" sz="2800" dirty="0" err="1">
                <a:latin typeface="Arial" charset="0"/>
                <a:cs typeface="ＭＳ Ｐゴシック" charset="0"/>
              </a:rPr>
              <a:t>different</a:t>
            </a:r>
            <a:r>
              <a:rPr lang="fr-FR" sz="2800" dirty="0">
                <a:latin typeface="Arial" charset="0"/>
                <a:cs typeface="ＭＳ Ｐゴシック" charset="0"/>
              </a:rPr>
              <a:t> </a:t>
            </a:r>
            <a:r>
              <a:rPr lang="fr-FR" sz="2800" dirty="0" err="1">
                <a:latin typeface="Arial" charset="0"/>
                <a:ea typeface="ＭＳ Ｐゴシック" charset="0"/>
                <a:cs typeface="ＭＳ Ｐゴシック" charset="0"/>
              </a:rPr>
              <a:t>representation</a:t>
            </a:r>
            <a:r>
              <a:rPr lang="fr-FR" sz="2800" dirty="0">
                <a:latin typeface="Arial" charset="0"/>
                <a:ea typeface="ＭＳ Ｐゴシック" charset="0"/>
                <a:cs typeface="ＭＳ Ｐゴシック" charset="0"/>
              </a:rPr>
              <a:t> ?</a:t>
            </a:r>
          </a:p>
        </p:txBody>
      </p:sp>
      <p:sp>
        <p:nvSpPr>
          <p:cNvPr id="78850" name="Espace réservé du contenu 2"/>
          <p:cNvSpPr>
            <a:spLocks noGrp="1"/>
          </p:cNvSpPr>
          <p:nvPr>
            <p:ph idx="1"/>
          </p:nvPr>
        </p:nvSpPr>
        <p:spPr>
          <a:xfrm>
            <a:off x="251520" y="914400"/>
            <a:ext cx="8867328" cy="5257800"/>
          </a:xfrm>
        </p:spPr>
        <p:txBody>
          <a:bodyPr/>
          <a:lstStyle/>
          <a:p>
            <a:r>
              <a:rPr lang="en-GB" dirty="0"/>
              <a:t>Casting </a:t>
            </a:r>
            <a:r>
              <a:rPr lang="en-GB" b="1" dirty="0">
                <a:latin typeface="Courier"/>
                <a:cs typeface="Courier"/>
              </a:rPr>
              <a:t>float </a:t>
            </a:r>
            <a:r>
              <a:rPr lang="en-GB" dirty="0"/>
              <a:t>to </a:t>
            </a:r>
            <a:r>
              <a:rPr lang="en-GB" b="1" dirty="0" err="1">
                <a:latin typeface="Courier"/>
                <a:cs typeface="Courier"/>
              </a:rPr>
              <a:t>int</a:t>
            </a:r>
            <a:r>
              <a:rPr lang="en-GB" b="1" dirty="0"/>
              <a:t>: </a:t>
            </a:r>
            <a:r>
              <a:rPr lang="en-GB" dirty="0"/>
              <a:t>It</a:t>
            </a:r>
            <a:r>
              <a:rPr lang="en-GB" b="1" dirty="0"/>
              <a:t> </a:t>
            </a:r>
            <a:r>
              <a:rPr lang="en-GB" dirty="0"/>
              <a:t>changes representation!</a:t>
            </a:r>
          </a:p>
          <a:p>
            <a:pPr lvl="1"/>
            <a:r>
              <a:rPr lang="en-GB" b="1" dirty="0">
                <a:latin typeface="Courier"/>
                <a:cs typeface="Courier"/>
              </a:rPr>
              <a:t>float </a:t>
            </a:r>
            <a:r>
              <a:rPr lang="en-GB" dirty="0"/>
              <a:t>is represented in IEEE 754 single precision</a:t>
            </a:r>
          </a:p>
          <a:p>
            <a:pPr lvl="1"/>
            <a:r>
              <a:rPr lang="en-GB" b="1" dirty="0" err="1">
                <a:latin typeface="Courier"/>
                <a:cs typeface="Courier"/>
              </a:rPr>
              <a:t>int</a:t>
            </a:r>
            <a:r>
              <a:rPr lang="en-GB" b="1" dirty="0">
                <a:latin typeface="Courier"/>
                <a:cs typeface="Courier"/>
              </a:rPr>
              <a:t> </a:t>
            </a:r>
            <a:r>
              <a:rPr lang="en-GB" dirty="0"/>
              <a:t>is usually 2’s Complement</a:t>
            </a:r>
          </a:p>
          <a:p>
            <a:pPr marL="542925" lvl="1" indent="0">
              <a:buNone/>
            </a:pPr>
            <a:r>
              <a:rPr lang="en-GB" b="1" dirty="0">
                <a:latin typeface="Courier"/>
                <a:cs typeface="Courier"/>
              </a:rPr>
              <a:t>float f = 3.9 ; </a:t>
            </a:r>
          </a:p>
          <a:p>
            <a:pPr marL="542925" lvl="1" indent="0">
              <a:buNone/>
            </a:pPr>
            <a:r>
              <a:rPr lang="en-GB" b="1" dirty="0" err="1">
                <a:latin typeface="Courier"/>
                <a:cs typeface="Courier"/>
              </a:rPr>
              <a:t>int</a:t>
            </a:r>
            <a:r>
              <a:rPr lang="en-GB" b="1" dirty="0">
                <a:latin typeface="Courier"/>
                <a:cs typeface="Courier"/>
              </a:rPr>
              <a:t> </a:t>
            </a:r>
            <a:r>
              <a:rPr lang="en-GB" b="1" dirty="0" err="1">
                <a:latin typeface="Courier"/>
                <a:cs typeface="Courier"/>
              </a:rPr>
              <a:t>val</a:t>
            </a:r>
            <a:r>
              <a:rPr lang="en-GB" b="1" dirty="0">
                <a:latin typeface="Courier"/>
                <a:cs typeface="Courier"/>
              </a:rPr>
              <a:t> = (</a:t>
            </a:r>
            <a:r>
              <a:rPr lang="en-GB" b="1" dirty="0" err="1">
                <a:latin typeface="Courier"/>
                <a:cs typeface="Courier"/>
              </a:rPr>
              <a:t>int</a:t>
            </a:r>
            <a:r>
              <a:rPr lang="en-GB" b="1" dirty="0">
                <a:latin typeface="Courier"/>
                <a:cs typeface="Courier"/>
              </a:rPr>
              <a:t>) f  ;</a:t>
            </a:r>
          </a:p>
          <a:p>
            <a:pPr lvl="1"/>
            <a:r>
              <a:rPr lang="en-GB" dirty="0"/>
              <a:t>Value gets truncated !</a:t>
            </a:r>
          </a:p>
          <a:p>
            <a:pPr lvl="2"/>
            <a:r>
              <a:rPr lang="en-GB" dirty="0"/>
              <a:t>3.9 is truncated to 3.0 and stored as 3 in 2’s complement</a:t>
            </a:r>
          </a:p>
          <a:p>
            <a:pPr marL="542925" lvl="1" indent="0">
              <a:buNone/>
            </a:pPr>
            <a:endParaRPr lang="en-GB" dirty="0"/>
          </a:p>
          <a:p>
            <a:pPr marL="363538" lvl="1" indent="-363538">
              <a:buSzTx/>
              <a:buBlip>
                <a:blip r:embed="rId2"/>
              </a:buBlip>
            </a:pPr>
            <a:r>
              <a:rPr lang="en-GB" sz="2400" dirty="0"/>
              <a:t>Casting </a:t>
            </a:r>
            <a:r>
              <a:rPr lang="en-GB" sz="2400" b="1" dirty="0" err="1">
                <a:latin typeface="Courier"/>
                <a:cs typeface="Courier"/>
              </a:rPr>
              <a:t>int</a:t>
            </a:r>
            <a:r>
              <a:rPr lang="en-GB" sz="2400" dirty="0"/>
              <a:t> to </a:t>
            </a:r>
            <a:r>
              <a:rPr lang="en-GB" sz="2400" b="1" dirty="0">
                <a:latin typeface="Courier"/>
                <a:cs typeface="Courier"/>
              </a:rPr>
              <a:t>float: </a:t>
            </a:r>
            <a:r>
              <a:rPr lang="en-GB" sz="2400" dirty="0"/>
              <a:t>It changes representation ! </a:t>
            </a:r>
            <a:endParaRPr lang="en-GB" sz="2400" b="1" dirty="0">
              <a:latin typeface="Courier"/>
              <a:cs typeface="Courier"/>
            </a:endParaRPr>
          </a:p>
          <a:p>
            <a:pPr marL="542925" lvl="1" indent="0">
              <a:buNone/>
            </a:pPr>
            <a:r>
              <a:rPr lang="en-GB" b="1" dirty="0" err="1">
                <a:latin typeface="Courier"/>
                <a:cs typeface="Courier"/>
              </a:rPr>
              <a:t>int</a:t>
            </a:r>
            <a:r>
              <a:rPr lang="en-GB" b="1" dirty="0">
                <a:latin typeface="Courier"/>
                <a:cs typeface="Courier"/>
              </a:rPr>
              <a:t> f = 3 ; </a:t>
            </a:r>
          </a:p>
          <a:p>
            <a:pPr marL="542925" lvl="1" indent="0">
              <a:buNone/>
            </a:pPr>
            <a:r>
              <a:rPr lang="en-GB" b="1" dirty="0">
                <a:latin typeface="Courier"/>
                <a:cs typeface="Courier"/>
              </a:rPr>
              <a:t>float </a:t>
            </a:r>
            <a:r>
              <a:rPr lang="en-GB" b="1" dirty="0" err="1">
                <a:latin typeface="Courier"/>
                <a:cs typeface="Courier"/>
              </a:rPr>
              <a:t>val</a:t>
            </a:r>
            <a:r>
              <a:rPr lang="en-GB" b="1" dirty="0">
                <a:latin typeface="Courier"/>
                <a:cs typeface="Courier"/>
              </a:rPr>
              <a:t> = (float) f  ;</a:t>
            </a:r>
          </a:p>
          <a:p>
            <a:pPr lvl="1"/>
            <a:r>
              <a:rPr lang="en-GB" dirty="0"/>
              <a:t>Value to convert to float (thus, 3 is converted to 3.0)</a:t>
            </a:r>
          </a:p>
          <a:p>
            <a:pPr lvl="2" indent="0">
              <a:buNone/>
            </a:pPr>
            <a:endParaRPr lang="en-GB" sz="1000"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69</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8131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cs typeface="ＭＳ Ｐゴシック" charset="0"/>
              </a:rPr>
              <a:t>Type conversion: </a:t>
            </a:r>
            <a:r>
              <a:rPr lang="fr-FR" sz="2800" dirty="0" err="1">
                <a:latin typeface="Arial" charset="0"/>
                <a:cs typeface="ＭＳ Ｐゴシック" charset="0"/>
              </a:rPr>
              <a:t>Examples</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457200" y="728700"/>
            <a:ext cx="8867328" cy="5257800"/>
          </a:xfrm>
        </p:spPr>
        <p:txBody>
          <a:bodyPr/>
          <a:lstStyle/>
          <a:p>
            <a:r>
              <a:rPr lang="en-GB" b="1" dirty="0" err="1">
                <a:latin typeface="Courier"/>
                <a:cs typeface="Courier"/>
              </a:rPr>
              <a:t>int</a:t>
            </a:r>
            <a:r>
              <a:rPr lang="en-GB" b="1" dirty="0">
                <a:latin typeface="Courier"/>
                <a:cs typeface="Courier"/>
              </a:rPr>
              <a:t> x;</a:t>
            </a:r>
            <a:endParaRPr lang="en-GB" sz="800" dirty="0">
              <a:latin typeface="Arial" charset="0"/>
              <a:cs typeface="ＭＳ Ｐゴシック" charset="0"/>
            </a:endParaRPr>
          </a:p>
          <a:p>
            <a:r>
              <a:rPr lang="en-GB" dirty="0">
                <a:latin typeface="Arial" charset="0"/>
                <a:cs typeface="ＭＳ Ｐゴシック" charset="0"/>
              </a:rPr>
              <a:t>Implicit conversion: 	</a:t>
            </a:r>
            <a:r>
              <a:rPr lang="en-GB" b="1" dirty="0">
                <a:latin typeface="Courier"/>
                <a:cs typeface="Courier"/>
              </a:rPr>
              <a:t>x = 1.5 + 1.6; </a:t>
            </a:r>
            <a:endParaRPr lang="en-GB" dirty="0">
              <a:latin typeface="Arial" charset="0"/>
              <a:cs typeface="ＭＳ Ｐゴシック" charset="0"/>
            </a:endParaRPr>
          </a:p>
          <a:p>
            <a:pPr lvl="1"/>
            <a:r>
              <a:rPr lang="en-GB" b="1" dirty="0">
                <a:latin typeface="Courier"/>
                <a:cs typeface="Courier"/>
              </a:rPr>
              <a:t>1.5 </a:t>
            </a:r>
            <a:r>
              <a:rPr lang="en-GB" b="1" dirty="0">
                <a:latin typeface="Courier"/>
                <a:cs typeface="Courier"/>
                <a:sym typeface="Wingdings"/>
              </a:rPr>
              <a:t> double</a:t>
            </a:r>
            <a:endParaRPr lang="en-GB" b="1" dirty="0">
              <a:latin typeface="Courier"/>
              <a:cs typeface="Courier"/>
            </a:endParaRPr>
          </a:p>
          <a:p>
            <a:pPr lvl="1"/>
            <a:r>
              <a:rPr lang="en-GB" b="1" dirty="0">
                <a:latin typeface="Courier"/>
                <a:cs typeface="Courier"/>
              </a:rPr>
              <a:t>1.6 </a:t>
            </a:r>
            <a:r>
              <a:rPr lang="en-GB" b="1" dirty="0">
                <a:latin typeface="Courier"/>
                <a:cs typeface="Courier"/>
                <a:sym typeface="Wingdings"/>
              </a:rPr>
              <a:t> double</a:t>
            </a:r>
          </a:p>
          <a:p>
            <a:pPr lvl="1"/>
            <a:r>
              <a:rPr lang="en-GB" b="1" dirty="0">
                <a:latin typeface="Courier"/>
                <a:cs typeface="Courier"/>
              </a:rPr>
              <a:t>1.5 + 1.6 = 3.1 </a:t>
            </a:r>
            <a:r>
              <a:rPr lang="en-GB" dirty="0">
                <a:cs typeface="Courier"/>
              </a:rPr>
              <a:t>double addition</a:t>
            </a:r>
          </a:p>
          <a:p>
            <a:pPr lvl="1"/>
            <a:r>
              <a:rPr lang="en-GB" b="1" dirty="0">
                <a:latin typeface="Courier"/>
                <a:cs typeface="Courier"/>
              </a:rPr>
              <a:t>x </a:t>
            </a:r>
            <a:r>
              <a:rPr lang="en-GB" b="1" dirty="0">
                <a:latin typeface="Courier"/>
                <a:cs typeface="Courier"/>
                <a:sym typeface="Wingdings"/>
              </a:rPr>
              <a:t> </a:t>
            </a:r>
            <a:r>
              <a:rPr lang="en-GB" b="1" dirty="0" err="1">
                <a:latin typeface="Courier"/>
                <a:cs typeface="Courier"/>
                <a:sym typeface="Wingdings"/>
              </a:rPr>
              <a:t>int</a:t>
            </a:r>
            <a:endParaRPr lang="en-GB" b="1" dirty="0">
              <a:latin typeface="Courier"/>
              <a:cs typeface="Courier"/>
              <a:sym typeface="Wingdings"/>
            </a:endParaRPr>
          </a:p>
          <a:p>
            <a:pPr lvl="1"/>
            <a:r>
              <a:rPr lang="en-GB" b="1" dirty="0">
                <a:latin typeface="Courier"/>
                <a:cs typeface="Courier"/>
                <a:sym typeface="Wingdings"/>
              </a:rPr>
              <a:t>3.1  3 </a:t>
            </a:r>
            <a:r>
              <a:rPr lang="en-GB" b="1" dirty="0">
                <a:cs typeface="Courier"/>
                <a:sym typeface="Wingdings"/>
              </a:rPr>
              <a:t>DEMOTION </a:t>
            </a:r>
            <a:r>
              <a:rPr lang="en-GB" dirty="0">
                <a:cs typeface="Courier"/>
                <a:sym typeface="Wingdings"/>
              </a:rPr>
              <a:t>to match with </a:t>
            </a:r>
            <a:r>
              <a:rPr lang="en-GB" b="1" dirty="0" err="1">
                <a:latin typeface="Courier"/>
                <a:cs typeface="Courier"/>
                <a:sym typeface="Wingdings"/>
              </a:rPr>
              <a:t>int</a:t>
            </a:r>
            <a:endParaRPr lang="en-GB" b="1" dirty="0">
              <a:latin typeface="Courier"/>
              <a:cs typeface="Courier"/>
              <a:sym typeface="Wingdings"/>
            </a:endParaRPr>
          </a:p>
          <a:p>
            <a:pPr lvl="2"/>
            <a:r>
              <a:rPr lang="en-GB" b="1" dirty="0">
                <a:latin typeface="Courier"/>
                <a:cs typeface="Courier"/>
                <a:sym typeface="Wingdings"/>
              </a:rPr>
              <a:t>x = 3</a:t>
            </a:r>
            <a:endParaRPr lang="en-GB" sz="800" dirty="0">
              <a:latin typeface="Arial" charset="0"/>
              <a:cs typeface="ＭＳ Ｐゴシック" charset="0"/>
            </a:endParaRPr>
          </a:p>
          <a:p>
            <a:r>
              <a:rPr lang="en-GB" dirty="0">
                <a:latin typeface="Arial" charset="0"/>
                <a:cs typeface="ＭＳ Ｐゴシック" charset="0"/>
              </a:rPr>
              <a:t>Explicit conversion:	</a:t>
            </a:r>
            <a:r>
              <a:rPr lang="en-GB" b="1" dirty="0">
                <a:latin typeface="Courier"/>
                <a:cs typeface="Courier"/>
              </a:rPr>
              <a:t>x = (</a:t>
            </a:r>
            <a:r>
              <a:rPr lang="en-GB" b="1" dirty="0" err="1">
                <a:latin typeface="Courier"/>
                <a:cs typeface="Courier"/>
              </a:rPr>
              <a:t>int</a:t>
            </a:r>
            <a:r>
              <a:rPr lang="en-GB" b="1" dirty="0">
                <a:latin typeface="Courier"/>
                <a:cs typeface="Courier"/>
              </a:rPr>
              <a:t>) 1.5 + (</a:t>
            </a:r>
            <a:r>
              <a:rPr lang="en-GB" b="1" dirty="0" err="1">
                <a:latin typeface="Courier"/>
                <a:cs typeface="Courier"/>
              </a:rPr>
              <a:t>int</a:t>
            </a:r>
            <a:r>
              <a:rPr lang="en-GB" b="1" dirty="0">
                <a:latin typeface="Courier"/>
                <a:cs typeface="Courier"/>
              </a:rPr>
              <a:t>) 1.6; </a:t>
            </a:r>
          </a:p>
          <a:p>
            <a:pPr lvl="1"/>
            <a:r>
              <a:rPr lang="en-GB" b="1" dirty="0">
                <a:latin typeface="Courier"/>
                <a:cs typeface="Courier"/>
              </a:rPr>
              <a:t>1.5 </a:t>
            </a:r>
            <a:r>
              <a:rPr lang="en-GB" b="1" dirty="0">
                <a:latin typeface="Courier"/>
                <a:cs typeface="Courier"/>
                <a:sym typeface="Wingdings"/>
              </a:rPr>
              <a:t> double</a:t>
            </a:r>
          </a:p>
          <a:p>
            <a:pPr lvl="1"/>
            <a:r>
              <a:rPr lang="en-GB" b="1" dirty="0">
                <a:latin typeface="Courier"/>
                <a:cs typeface="Courier"/>
              </a:rPr>
              <a:t>(</a:t>
            </a:r>
            <a:r>
              <a:rPr lang="en-GB" b="1" dirty="0" err="1">
                <a:latin typeface="Courier"/>
                <a:cs typeface="Courier"/>
              </a:rPr>
              <a:t>int</a:t>
            </a:r>
            <a:r>
              <a:rPr lang="en-GB" b="1" dirty="0">
                <a:latin typeface="Courier"/>
                <a:cs typeface="Courier"/>
              </a:rPr>
              <a:t>) 1.5 </a:t>
            </a:r>
            <a:r>
              <a:rPr lang="en-GB" b="1" dirty="0">
                <a:latin typeface="Courier"/>
                <a:cs typeface="Courier"/>
                <a:sym typeface="Wingdings"/>
              </a:rPr>
              <a:t> 1	</a:t>
            </a:r>
            <a:r>
              <a:rPr lang="en-GB" b="1" dirty="0">
                <a:cs typeface="Courier"/>
                <a:sym typeface="Wingdings"/>
              </a:rPr>
              <a:t>DEMOTION </a:t>
            </a:r>
            <a:endParaRPr lang="en-GB" b="1" dirty="0">
              <a:latin typeface="Courier"/>
              <a:cs typeface="Courier"/>
            </a:endParaRPr>
          </a:p>
          <a:p>
            <a:pPr lvl="1"/>
            <a:r>
              <a:rPr lang="en-GB" b="1" dirty="0">
                <a:latin typeface="Courier"/>
                <a:cs typeface="Courier"/>
              </a:rPr>
              <a:t>1.6 </a:t>
            </a:r>
            <a:r>
              <a:rPr lang="en-GB" b="1" dirty="0">
                <a:latin typeface="Courier"/>
                <a:cs typeface="Courier"/>
                <a:sym typeface="Wingdings"/>
              </a:rPr>
              <a:t> double</a:t>
            </a:r>
          </a:p>
          <a:p>
            <a:pPr lvl="1"/>
            <a:r>
              <a:rPr lang="en-GB" b="1" dirty="0">
                <a:latin typeface="Courier"/>
                <a:cs typeface="Courier"/>
              </a:rPr>
              <a:t>(</a:t>
            </a:r>
            <a:r>
              <a:rPr lang="en-GB" b="1" dirty="0" err="1">
                <a:latin typeface="Courier"/>
                <a:cs typeface="Courier"/>
              </a:rPr>
              <a:t>int</a:t>
            </a:r>
            <a:r>
              <a:rPr lang="en-GB" b="1" dirty="0">
                <a:latin typeface="Courier"/>
                <a:cs typeface="Courier"/>
              </a:rPr>
              <a:t>) 1.6 </a:t>
            </a:r>
            <a:r>
              <a:rPr lang="en-GB" b="1" dirty="0">
                <a:latin typeface="Courier"/>
                <a:cs typeface="Courier"/>
                <a:sym typeface="Wingdings"/>
              </a:rPr>
              <a:t> </a:t>
            </a:r>
            <a:r>
              <a:rPr lang="en-GB" b="1" dirty="0">
                <a:latin typeface="Courier"/>
                <a:cs typeface="Courier"/>
              </a:rPr>
              <a:t>1	</a:t>
            </a:r>
            <a:r>
              <a:rPr lang="en-GB" b="1" dirty="0">
                <a:cs typeface="Courier"/>
                <a:sym typeface="Wingdings"/>
              </a:rPr>
              <a:t>DEMOTION </a:t>
            </a:r>
            <a:endParaRPr lang="en-GB" b="1" dirty="0">
              <a:latin typeface="Courier"/>
              <a:cs typeface="Courier"/>
            </a:endParaRPr>
          </a:p>
          <a:p>
            <a:pPr lvl="1"/>
            <a:r>
              <a:rPr lang="en-GB" b="1" dirty="0">
                <a:latin typeface="Courier"/>
                <a:cs typeface="Courier"/>
                <a:sym typeface="Wingdings"/>
              </a:rPr>
              <a:t>1 + 1 = 2 </a:t>
            </a:r>
            <a:r>
              <a:rPr lang="en-GB" dirty="0">
                <a:cs typeface="Courier"/>
              </a:rPr>
              <a:t>integer addition</a:t>
            </a:r>
          </a:p>
          <a:p>
            <a:pPr lvl="1"/>
            <a:r>
              <a:rPr lang="en-GB" b="1" dirty="0">
                <a:latin typeface="Courier"/>
                <a:cs typeface="Courier"/>
              </a:rPr>
              <a:t>x </a:t>
            </a:r>
            <a:r>
              <a:rPr lang="en-GB" b="1" dirty="0">
                <a:latin typeface="Courier"/>
                <a:cs typeface="Courier"/>
                <a:sym typeface="Wingdings"/>
              </a:rPr>
              <a:t> </a:t>
            </a:r>
            <a:r>
              <a:rPr lang="en-GB" b="1" dirty="0" err="1">
                <a:latin typeface="Courier"/>
                <a:cs typeface="Courier"/>
                <a:sym typeface="Wingdings"/>
              </a:rPr>
              <a:t>int</a:t>
            </a:r>
            <a:endParaRPr lang="en-GB" b="1" dirty="0">
              <a:latin typeface="Courier"/>
              <a:cs typeface="Courier"/>
              <a:sym typeface="Wingdings"/>
            </a:endParaRPr>
          </a:p>
          <a:p>
            <a:pPr lvl="2"/>
            <a:r>
              <a:rPr lang="en-GB" b="1" dirty="0">
                <a:latin typeface="Courier"/>
                <a:cs typeface="Courier"/>
                <a:sym typeface="Wingdings"/>
              </a:rPr>
              <a:t>x = 2</a:t>
            </a:r>
            <a:endParaRPr lang="en-GB" b="1" dirty="0">
              <a:latin typeface="Courier"/>
              <a:cs typeface="Courier"/>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70</a:t>
            </a:fld>
            <a:endParaRPr lang="fr-FR" sz="1400">
              <a:solidFill>
                <a:srgbClr val="000208"/>
              </a:solidFill>
              <a:latin typeface="Times New Roman" charset="0"/>
            </a:endParaRPr>
          </a:p>
        </p:txBody>
      </p:sp>
      <p:sp>
        <p:nvSpPr>
          <p:cNvPr id="6" name="TextBox 5"/>
          <p:cNvSpPr txBox="1"/>
          <p:nvPr/>
        </p:nvSpPr>
        <p:spPr>
          <a:xfrm>
            <a:off x="3323774" y="1736812"/>
            <a:ext cx="492142" cy="461665"/>
          </a:xfrm>
          <a:prstGeom prst="rect">
            <a:avLst/>
          </a:prstGeom>
          <a:noFill/>
        </p:spPr>
        <p:txBody>
          <a:bodyPr wrap="none" rtlCol="0">
            <a:spAutoFit/>
          </a:bodyPr>
          <a:lstStyle/>
          <a:p>
            <a:r>
              <a:rPr lang="en-US" sz="2400" b="1" dirty="0">
                <a:solidFill>
                  <a:srgbClr val="FF0000"/>
                </a:solidFill>
              </a:rPr>
              <a:t>!!!</a:t>
            </a:r>
          </a:p>
        </p:txBody>
      </p:sp>
      <p:sp>
        <p:nvSpPr>
          <p:cNvPr id="2" name="Espace réservé du pied de page 1">
            <a:extLst>
              <a:ext uri="{FF2B5EF4-FFF2-40B4-BE49-F238E27FC236}">
                <a16:creationId xmlns:a16="http://schemas.microsoft.com/office/drawing/2014/main" id="{7DC47732-B5B5-6A90-AB2D-FD899108A495}"/>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68647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0">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8850">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8850">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850">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8850">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8850">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885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cs typeface="ＭＳ Ｐゴシック" charset="0"/>
              </a:rPr>
              <a:t>Type conversion: </a:t>
            </a:r>
            <a:r>
              <a:rPr lang="fr-FR" sz="2800" dirty="0" err="1">
                <a:latin typeface="Arial" charset="0"/>
                <a:cs typeface="ＭＳ Ｐゴシック" charset="0"/>
              </a:rPr>
              <a:t>Examples</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457200" y="728700"/>
            <a:ext cx="8867328" cy="5257800"/>
          </a:xfrm>
        </p:spPr>
        <p:txBody>
          <a:bodyPr/>
          <a:lstStyle/>
          <a:p>
            <a:r>
              <a:rPr lang="en-GB" b="1" dirty="0">
                <a:latin typeface="Courier"/>
                <a:cs typeface="Courier"/>
              </a:rPr>
              <a:t>float x;</a:t>
            </a:r>
          </a:p>
          <a:p>
            <a:pPr lvl="1"/>
            <a:endParaRPr lang="en-GB" sz="800" dirty="0">
              <a:latin typeface="Arial" charset="0"/>
              <a:cs typeface="ＭＳ Ｐゴシック" charset="0"/>
            </a:endParaRPr>
          </a:p>
          <a:p>
            <a:r>
              <a:rPr lang="en-GB" dirty="0">
                <a:latin typeface="Arial" charset="0"/>
                <a:cs typeface="ＭＳ Ｐゴシック" charset="0"/>
              </a:rPr>
              <a:t>Implicit conversion:			</a:t>
            </a:r>
            <a:r>
              <a:rPr lang="en-GB" b="1" dirty="0">
                <a:latin typeface="Courier"/>
                <a:cs typeface="Courier"/>
              </a:rPr>
              <a:t>x = 3/5;</a:t>
            </a:r>
          </a:p>
          <a:p>
            <a:pPr lvl="1"/>
            <a:r>
              <a:rPr lang="en-GB" b="1" dirty="0">
                <a:latin typeface="Courier"/>
                <a:cs typeface="Courier"/>
              </a:rPr>
              <a:t>3 </a:t>
            </a:r>
            <a:r>
              <a:rPr lang="en-GB" b="1" dirty="0">
                <a:latin typeface="Courier"/>
                <a:cs typeface="Courier"/>
                <a:sym typeface="Wingdings"/>
              </a:rPr>
              <a:t> </a:t>
            </a:r>
            <a:r>
              <a:rPr lang="en-GB" b="1" dirty="0" err="1">
                <a:latin typeface="Courier"/>
                <a:cs typeface="Courier"/>
                <a:sym typeface="Wingdings"/>
              </a:rPr>
              <a:t>int</a:t>
            </a:r>
            <a:endParaRPr lang="en-GB" b="1" dirty="0">
              <a:latin typeface="Courier"/>
              <a:cs typeface="Courier"/>
              <a:sym typeface="Wingdings"/>
            </a:endParaRPr>
          </a:p>
          <a:p>
            <a:pPr lvl="1"/>
            <a:r>
              <a:rPr lang="en-GB" b="1" dirty="0">
                <a:latin typeface="Courier"/>
                <a:cs typeface="Courier"/>
                <a:sym typeface="Wingdings"/>
              </a:rPr>
              <a:t>5  </a:t>
            </a:r>
            <a:r>
              <a:rPr lang="en-GB" b="1" dirty="0" err="1">
                <a:latin typeface="Courier"/>
                <a:cs typeface="Courier"/>
                <a:sym typeface="Wingdings"/>
              </a:rPr>
              <a:t>int</a:t>
            </a:r>
            <a:endParaRPr lang="en-GB" b="1" dirty="0">
              <a:latin typeface="Courier"/>
              <a:cs typeface="Courier"/>
              <a:sym typeface="Wingdings"/>
            </a:endParaRPr>
          </a:p>
          <a:p>
            <a:pPr lvl="1"/>
            <a:r>
              <a:rPr lang="en-GB" b="1" dirty="0">
                <a:latin typeface="Courier"/>
                <a:cs typeface="Courier"/>
                <a:sym typeface="Wingdings"/>
              </a:rPr>
              <a:t>3/5 = 0 </a:t>
            </a:r>
            <a:r>
              <a:rPr lang="en-GB" dirty="0">
                <a:cs typeface="Courier"/>
                <a:sym typeface="Wingdings"/>
              </a:rPr>
              <a:t>integer division</a:t>
            </a:r>
          </a:p>
          <a:p>
            <a:pPr lvl="1"/>
            <a:r>
              <a:rPr lang="en-GB" b="1" dirty="0">
                <a:latin typeface="Courier"/>
                <a:cs typeface="Courier"/>
              </a:rPr>
              <a:t>x </a:t>
            </a:r>
            <a:r>
              <a:rPr lang="en-GB" b="1" dirty="0">
                <a:latin typeface="Courier"/>
                <a:cs typeface="Courier"/>
                <a:sym typeface="Wingdings"/>
              </a:rPr>
              <a:t> float</a:t>
            </a:r>
          </a:p>
          <a:p>
            <a:pPr lvl="1"/>
            <a:r>
              <a:rPr lang="en-GB" b="1" dirty="0">
                <a:latin typeface="Courier"/>
                <a:cs typeface="Courier"/>
                <a:sym typeface="Wingdings"/>
              </a:rPr>
              <a:t>0.0 </a:t>
            </a:r>
            <a:r>
              <a:rPr lang="en-GB" b="1" dirty="0">
                <a:cs typeface="Courier"/>
                <a:sym typeface="Wingdings"/>
              </a:rPr>
              <a:t>PROMOTION </a:t>
            </a:r>
            <a:r>
              <a:rPr lang="en-GB" dirty="0">
                <a:cs typeface="Courier"/>
                <a:sym typeface="Wingdings"/>
              </a:rPr>
              <a:t>to match with</a:t>
            </a:r>
            <a:r>
              <a:rPr lang="en-GB" b="1" dirty="0">
                <a:latin typeface="Courier"/>
                <a:cs typeface="Courier"/>
                <a:sym typeface="Wingdings"/>
              </a:rPr>
              <a:t> float</a:t>
            </a:r>
          </a:p>
          <a:p>
            <a:pPr lvl="2"/>
            <a:r>
              <a:rPr lang="en-GB" b="1" dirty="0">
                <a:latin typeface="Courier"/>
                <a:cs typeface="Courier"/>
                <a:sym typeface="Wingdings"/>
              </a:rPr>
              <a:t>x = 0.0</a:t>
            </a:r>
            <a:endParaRPr lang="en-GB" b="1" dirty="0">
              <a:latin typeface="Courier"/>
              <a:cs typeface="Courier"/>
            </a:endParaRPr>
          </a:p>
          <a:p>
            <a:pPr marL="542925" lvl="1" indent="0">
              <a:buNone/>
            </a:pPr>
            <a:endParaRPr lang="en-GB" sz="800" dirty="0">
              <a:latin typeface="Arial" charset="0"/>
              <a:cs typeface="ＭＳ Ｐゴシック" charset="0"/>
            </a:endParaRPr>
          </a:p>
          <a:p>
            <a:r>
              <a:rPr lang="en-GB" dirty="0">
                <a:latin typeface="Arial" charset="0"/>
                <a:cs typeface="ＭＳ Ｐゴシック" charset="0"/>
              </a:rPr>
              <a:t>Explicit conversion			</a:t>
            </a:r>
            <a:r>
              <a:rPr lang="en-GB" b="1" dirty="0">
                <a:latin typeface="Courier"/>
                <a:cs typeface="Courier"/>
              </a:rPr>
              <a:t>x = (float) 3/5; </a:t>
            </a:r>
          </a:p>
          <a:p>
            <a:pPr lvl="1"/>
            <a:r>
              <a:rPr lang="en-GB" b="1" dirty="0">
                <a:latin typeface="Courier"/>
                <a:cs typeface="Courier"/>
              </a:rPr>
              <a:t>3 </a:t>
            </a:r>
            <a:r>
              <a:rPr lang="en-GB" b="1" dirty="0">
                <a:latin typeface="Courier"/>
                <a:cs typeface="Courier"/>
                <a:sym typeface="Wingdings"/>
              </a:rPr>
              <a:t> </a:t>
            </a:r>
            <a:r>
              <a:rPr lang="en-GB" b="1" dirty="0" err="1">
                <a:latin typeface="Courier"/>
                <a:cs typeface="Courier"/>
                <a:sym typeface="Wingdings"/>
              </a:rPr>
              <a:t>int</a:t>
            </a:r>
            <a:endParaRPr lang="en-GB" b="1" dirty="0">
              <a:latin typeface="Courier"/>
              <a:cs typeface="Courier"/>
              <a:sym typeface="Wingdings"/>
            </a:endParaRPr>
          </a:p>
          <a:p>
            <a:pPr lvl="1"/>
            <a:r>
              <a:rPr lang="en-GB" b="1" dirty="0">
                <a:latin typeface="Courier"/>
                <a:cs typeface="Courier"/>
                <a:sym typeface="Wingdings"/>
              </a:rPr>
              <a:t>(float) 3  3.0	</a:t>
            </a:r>
            <a:r>
              <a:rPr lang="en-GB" b="1" dirty="0">
                <a:cs typeface="Courier"/>
                <a:sym typeface="Wingdings"/>
              </a:rPr>
              <a:t>PROMOTION </a:t>
            </a:r>
            <a:endParaRPr lang="en-GB" b="1" dirty="0">
              <a:latin typeface="Courier"/>
              <a:cs typeface="Courier"/>
              <a:sym typeface="Wingdings"/>
            </a:endParaRPr>
          </a:p>
          <a:p>
            <a:pPr lvl="1"/>
            <a:r>
              <a:rPr lang="en-GB" dirty="0">
                <a:cs typeface="Courier"/>
                <a:sym typeface="Wingdings"/>
              </a:rPr>
              <a:t>Promotion</a:t>
            </a:r>
            <a:r>
              <a:rPr lang="en-GB" b="1" dirty="0">
                <a:latin typeface="Courier"/>
                <a:cs typeface="Courier"/>
                <a:sym typeface="Wingdings"/>
              </a:rPr>
              <a:t> 5  5.0 	</a:t>
            </a:r>
            <a:r>
              <a:rPr lang="en-GB" b="1" dirty="0">
                <a:cs typeface="Courier"/>
                <a:sym typeface="Wingdings"/>
              </a:rPr>
              <a:t>PROMOTION </a:t>
            </a:r>
            <a:endParaRPr lang="en-GB" b="1" dirty="0">
              <a:latin typeface="Courier"/>
              <a:cs typeface="Courier"/>
              <a:sym typeface="Wingdings"/>
            </a:endParaRPr>
          </a:p>
          <a:p>
            <a:pPr lvl="1"/>
            <a:r>
              <a:rPr lang="en-GB" b="1" dirty="0">
                <a:latin typeface="Courier"/>
                <a:cs typeface="Courier"/>
                <a:sym typeface="Wingdings"/>
              </a:rPr>
              <a:t>3.0/5.0 = 0 </a:t>
            </a:r>
            <a:r>
              <a:rPr lang="en-GB" dirty="0">
                <a:cs typeface="Courier"/>
                <a:sym typeface="Wingdings"/>
              </a:rPr>
              <a:t>float division</a:t>
            </a:r>
          </a:p>
          <a:p>
            <a:pPr lvl="1"/>
            <a:r>
              <a:rPr lang="en-GB" b="1" dirty="0">
                <a:latin typeface="Courier"/>
                <a:cs typeface="Courier"/>
              </a:rPr>
              <a:t>x </a:t>
            </a:r>
            <a:r>
              <a:rPr lang="en-GB" b="1" dirty="0">
                <a:latin typeface="Courier"/>
                <a:cs typeface="Courier"/>
                <a:sym typeface="Wingdings"/>
              </a:rPr>
              <a:t> float</a:t>
            </a:r>
          </a:p>
          <a:p>
            <a:pPr lvl="2"/>
            <a:r>
              <a:rPr lang="en-GB" b="1" dirty="0">
                <a:latin typeface="Courier"/>
                <a:cs typeface="Courier"/>
                <a:sym typeface="Wingdings"/>
              </a:rPr>
              <a:t>x = 0.6</a:t>
            </a:r>
            <a:endParaRPr lang="en-GB" b="1" dirty="0">
              <a:latin typeface="Courier"/>
              <a:cs typeface="Courier"/>
            </a:endParaRPr>
          </a:p>
          <a:p>
            <a:pPr lvl="1"/>
            <a:endParaRPr lang="en-GB" dirty="0"/>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71</a:t>
            </a:fld>
            <a:endParaRPr lang="fr-FR" sz="1400">
              <a:solidFill>
                <a:srgbClr val="000208"/>
              </a:solidFill>
              <a:latin typeface="Times New Roman" charset="0"/>
            </a:endParaRPr>
          </a:p>
        </p:txBody>
      </p:sp>
      <p:sp>
        <p:nvSpPr>
          <p:cNvPr id="2" name="Espace réservé du pied de page 1">
            <a:extLst>
              <a:ext uri="{FF2B5EF4-FFF2-40B4-BE49-F238E27FC236}">
                <a16:creationId xmlns:a16="http://schemas.microsoft.com/office/drawing/2014/main" id="{8C835068-FC62-EC19-86D0-C810EBA82796}"/>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177312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885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885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8850">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850">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850">
                                            <p:txEl>
                                              <p:pRg st="15" end="1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885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ea typeface="ＭＳ Ｐゴシック" charset="0"/>
                <a:cs typeface="ＭＳ Ｐゴシック" charset="0"/>
              </a:rPr>
              <a:t>Type conversion: </a:t>
            </a:r>
            <a:r>
              <a:rPr lang="fr-FR" sz="2800" dirty="0" err="1">
                <a:latin typeface="Arial" charset="0"/>
                <a:ea typeface="ＭＳ Ｐゴシック" charset="0"/>
                <a:cs typeface="ＭＳ Ｐゴシック" charset="0"/>
              </a:rPr>
              <a:t>Usua</a:t>
            </a:r>
            <a:r>
              <a:rPr lang="fr-FR" sz="2800" dirty="0" err="1">
                <a:latin typeface="Arial" charset="0"/>
                <a:cs typeface="ＭＳ Ｐゴシック" charset="0"/>
              </a:rPr>
              <a:t>l</a:t>
            </a:r>
            <a:r>
              <a:rPr lang="fr-FR" sz="2800" dirty="0">
                <a:latin typeface="Arial" charset="0"/>
                <a:cs typeface="ＭＳ Ｐゴシック" charset="0"/>
              </a:rPr>
              <a:t> </a:t>
            </a:r>
            <a:r>
              <a:rPr lang="fr-FR" sz="2800" dirty="0" err="1">
                <a:latin typeface="Arial" charset="0"/>
                <a:cs typeface="ＭＳ Ｐゴシック" charset="0"/>
              </a:rPr>
              <a:t>p</a:t>
            </a:r>
            <a:r>
              <a:rPr lang="fr-FR" sz="2800" dirty="0" err="1">
                <a:latin typeface="Arial" charset="0"/>
                <a:ea typeface="ＭＳ Ｐゴシック" charset="0"/>
                <a:cs typeface="ＭＳ Ｐゴシック" charset="0"/>
              </a:rPr>
              <a:t>roblems</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251520" y="914400"/>
            <a:ext cx="9181020" cy="5257800"/>
          </a:xfrm>
        </p:spPr>
        <p:txBody>
          <a:bodyPr/>
          <a:lstStyle/>
          <a:p>
            <a:r>
              <a:rPr lang="en-GB" dirty="0"/>
              <a:t>Casting </a:t>
            </a:r>
            <a:r>
              <a:rPr lang="en-GB" b="1" dirty="0">
                <a:latin typeface="Courier"/>
                <a:cs typeface="Courier"/>
              </a:rPr>
              <a:t>signed </a:t>
            </a:r>
            <a:r>
              <a:rPr lang="en-GB" dirty="0"/>
              <a:t>to </a:t>
            </a:r>
            <a:r>
              <a:rPr lang="en-GB" b="1" dirty="0">
                <a:latin typeface="Courier"/>
                <a:cs typeface="Courier"/>
              </a:rPr>
              <a:t>unsigned</a:t>
            </a:r>
            <a:r>
              <a:rPr lang="en-GB" b="1" dirty="0"/>
              <a:t>:</a:t>
            </a:r>
          </a:p>
          <a:p>
            <a:pPr lvl="1"/>
            <a:r>
              <a:rPr lang="en-GB" b="1" dirty="0"/>
              <a:t>Negative value </a:t>
            </a:r>
            <a:r>
              <a:rPr lang="en-GB" dirty="0"/>
              <a:t>is converted to a </a:t>
            </a:r>
            <a:r>
              <a:rPr lang="en-GB" b="1" dirty="0"/>
              <a:t>high positive value</a:t>
            </a:r>
          </a:p>
          <a:p>
            <a:pPr lvl="1"/>
            <a:r>
              <a:rPr lang="en-GB" dirty="0"/>
              <a:t>Especially occurs during function calls or return values </a:t>
            </a:r>
            <a:endParaRPr lang="en-GB" b="1" dirty="0"/>
          </a:p>
          <a:p>
            <a:endParaRPr lang="en-GB" sz="1000" dirty="0"/>
          </a:p>
          <a:p>
            <a:r>
              <a:rPr lang="en-GB" dirty="0"/>
              <a:t>Casting a smaller </a:t>
            </a:r>
            <a:r>
              <a:rPr lang="en-GB" b="1" dirty="0">
                <a:latin typeface="Courier"/>
                <a:cs typeface="Courier"/>
              </a:rPr>
              <a:t>signed </a:t>
            </a:r>
            <a:r>
              <a:rPr lang="en-GB" b="1" dirty="0" err="1">
                <a:latin typeface="Courier"/>
                <a:cs typeface="Courier"/>
              </a:rPr>
              <a:t>int</a:t>
            </a:r>
            <a:r>
              <a:rPr lang="en-GB" b="1" dirty="0">
                <a:latin typeface="Courier"/>
                <a:cs typeface="Courier"/>
              </a:rPr>
              <a:t> </a:t>
            </a:r>
            <a:r>
              <a:rPr lang="en-GB" dirty="0"/>
              <a:t>type to a larger </a:t>
            </a:r>
            <a:r>
              <a:rPr lang="en-GB" b="1" dirty="0">
                <a:latin typeface="Courier"/>
                <a:cs typeface="Courier"/>
              </a:rPr>
              <a:t>unsigned </a:t>
            </a:r>
            <a:r>
              <a:rPr lang="en-GB" b="1" dirty="0" err="1">
                <a:latin typeface="Courier"/>
                <a:cs typeface="Courier"/>
              </a:rPr>
              <a:t>int</a:t>
            </a:r>
            <a:r>
              <a:rPr lang="en-GB" b="1" dirty="0">
                <a:latin typeface="Courier"/>
                <a:cs typeface="Courier"/>
              </a:rPr>
              <a:t> </a:t>
            </a:r>
            <a:r>
              <a:rPr lang="en-GB" dirty="0"/>
              <a:t>type</a:t>
            </a:r>
          </a:p>
          <a:p>
            <a:pPr lvl="1"/>
            <a:r>
              <a:rPr lang="en-GB" dirty="0"/>
              <a:t>Sign extension: The sign bit is used in the unused bits, i.e. the Most Significant </a:t>
            </a:r>
            <a:r>
              <a:rPr lang="en-GB" dirty="0" err="1"/>
              <a:t>Bis</a:t>
            </a:r>
            <a:r>
              <a:rPr lang="en-GB" dirty="0"/>
              <a:t> (MSB) of the larger type</a:t>
            </a:r>
          </a:p>
          <a:p>
            <a:pPr lvl="1"/>
            <a:r>
              <a:rPr lang="en-GB" b="1" dirty="0">
                <a:latin typeface="Courier"/>
                <a:cs typeface="Courier"/>
              </a:rPr>
              <a:t>char</a:t>
            </a:r>
            <a:r>
              <a:rPr lang="en-GB" dirty="0">
                <a:latin typeface="Arial" charset="0"/>
                <a:cs typeface="ＭＳ Ｐゴシック" charset="0"/>
              </a:rPr>
              <a:t> and </a:t>
            </a:r>
            <a:r>
              <a:rPr lang="en-GB" b="1" dirty="0">
                <a:latin typeface="Courier"/>
                <a:cs typeface="Courier"/>
              </a:rPr>
              <a:t>short</a:t>
            </a:r>
            <a:r>
              <a:rPr lang="en-GB" dirty="0">
                <a:latin typeface="Arial" charset="0"/>
                <a:cs typeface="ＭＳ Ｐゴシック" charset="0"/>
              </a:rPr>
              <a:t> are signed!</a:t>
            </a:r>
          </a:p>
          <a:p>
            <a:pPr lvl="1"/>
            <a:r>
              <a:rPr lang="en-GB" b="1" dirty="0"/>
              <a:t>Negative value </a:t>
            </a:r>
            <a:r>
              <a:rPr lang="en-GB" dirty="0"/>
              <a:t>is converted to a </a:t>
            </a:r>
            <a:r>
              <a:rPr lang="en-GB" b="1" dirty="0"/>
              <a:t>high positive value</a:t>
            </a:r>
            <a:endParaRPr lang="en-GB" dirty="0">
              <a:latin typeface="Arial" charset="0"/>
              <a:cs typeface="ＭＳ Ｐゴシック" charset="0"/>
            </a:endParaRPr>
          </a:p>
          <a:p>
            <a:pPr lvl="1"/>
            <a:endParaRPr lang="en-GB" sz="1000" dirty="0">
              <a:latin typeface="Arial" charset="0"/>
              <a:ea typeface="ＭＳ Ｐゴシック" charset="0"/>
              <a:cs typeface="ＭＳ Ｐゴシック" charset="0"/>
            </a:endParaRP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72</a:t>
            </a:fld>
            <a:endParaRPr lang="fr-FR" sz="1400">
              <a:solidFill>
                <a:srgbClr val="000208"/>
              </a:solidFill>
              <a:latin typeface="Times New Roman" charset="0"/>
            </a:endParaRPr>
          </a:p>
        </p:txBody>
      </p:sp>
      <p:sp>
        <p:nvSpPr>
          <p:cNvPr id="2" name="Rectangle 1"/>
          <p:cNvSpPr/>
          <p:nvPr/>
        </p:nvSpPr>
        <p:spPr>
          <a:xfrm rot="20061788">
            <a:off x="2717963" y="5161948"/>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3484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ea typeface="ＭＳ Ｐゴシック" charset="0"/>
                <a:cs typeface="ＭＳ Ｐゴシック" charset="0"/>
              </a:rPr>
              <a:t>Type conversion: </a:t>
            </a:r>
            <a:r>
              <a:rPr lang="fr-FR" sz="2800" dirty="0" err="1">
                <a:latin typeface="Arial" charset="0"/>
                <a:ea typeface="ＭＳ Ｐゴシック" charset="0"/>
                <a:cs typeface="ＭＳ Ｐゴシック" charset="0"/>
              </a:rPr>
              <a:t>Usua</a:t>
            </a:r>
            <a:r>
              <a:rPr lang="fr-FR" sz="2800" dirty="0" err="1">
                <a:latin typeface="Arial" charset="0"/>
                <a:cs typeface="ＭＳ Ｐゴシック" charset="0"/>
              </a:rPr>
              <a:t>l</a:t>
            </a:r>
            <a:r>
              <a:rPr lang="fr-FR" sz="2800" dirty="0">
                <a:latin typeface="Arial" charset="0"/>
                <a:cs typeface="ＭＳ Ｐゴシック" charset="0"/>
              </a:rPr>
              <a:t> </a:t>
            </a:r>
            <a:r>
              <a:rPr lang="fr-FR" sz="2800" dirty="0" err="1">
                <a:latin typeface="Arial" charset="0"/>
                <a:cs typeface="ＭＳ Ｐゴシック" charset="0"/>
              </a:rPr>
              <a:t>p</a:t>
            </a:r>
            <a:r>
              <a:rPr lang="fr-FR" sz="2800" dirty="0" err="1">
                <a:latin typeface="Arial" charset="0"/>
                <a:ea typeface="ＭＳ Ｐゴシック" charset="0"/>
                <a:cs typeface="ＭＳ Ｐゴシック" charset="0"/>
              </a:rPr>
              <a:t>roblems</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251520" y="914400"/>
            <a:ext cx="9181020" cy="5257800"/>
          </a:xfrm>
        </p:spPr>
        <p:txBody>
          <a:bodyPr/>
          <a:lstStyle/>
          <a:p>
            <a:r>
              <a:rPr lang="en-GB" dirty="0">
                <a:latin typeface="Arial" charset="0"/>
                <a:ea typeface="ＭＳ Ｐゴシック" charset="0"/>
                <a:cs typeface="ＭＳ Ｐゴシック" charset="0"/>
              </a:rPr>
              <a:t>Casting a </a:t>
            </a:r>
            <a:r>
              <a:rPr lang="en-GB" b="1" dirty="0">
                <a:latin typeface="Arial" charset="0"/>
                <a:ea typeface="ＭＳ Ｐゴシック" charset="0"/>
                <a:cs typeface="ＭＳ Ｐゴシック" charset="0"/>
              </a:rPr>
              <a:t>larger type </a:t>
            </a:r>
            <a:r>
              <a:rPr lang="en-GB" dirty="0">
                <a:latin typeface="Arial" charset="0"/>
                <a:ea typeface="ＭＳ Ｐゴシック" charset="0"/>
                <a:cs typeface="ＭＳ Ｐゴシック" charset="0"/>
              </a:rPr>
              <a:t>to a </a:t>
            </a:r>
            <a:r>
              <a:rPr lang="en-GB" b="1" dirty="0">
                <a:latin typeface="Arial" charset="0"/>
                <a:ea typeface="ＭＳ Ｐゴシック" charset="0"/>
                <a:cs typeface="ＭＳ Ｐゴシック" charset="0"/>
              </a:rPr>
              <a:t>smaller one </a:t>
            </a:r>
            <a:r>
              <a:rPr lang="en-GB" dirty="0">
                <a:latin typeface="Arial" charset="0"/>
                <a:ea typeface="ＭＳ Ｐゴシック" charset="0"/>
                <a:cs typeface="ＭＳ Ｐゴシック" charset="0"/>
              </a:rPr>
              <a:t>(DEMOTION):</a:t>
            </a:r>
          </a:p>
          <a:p>
            <a:pPr lvl="1"/>
            <a:r>
              <a:rPr lang="en-GB" b="1" dirty="0"/>
              <a:t>Truncation</a:t>
            </a:r>
            <a:r>
              <a:rPr lang="en-GB" dirty="0"/>
              <a:t>: Cuts off the MSB </a:t>
            </a:r>
            <a:r>
              <a:rPr lang="en-GB" dirty="0">
                <a:solidFill>
                  <a:srgbClr val="000000"/>
                </a:solidFill>
              </a:rPr>
              <a:t>(overflow occurs).</a:t>
            </a:r>
          </a:p>
          <a:p>
            <a:pPr marL="542925" lvl="1" indent="0">
              <a:buNone/>
            </a:pPr>
            <a:r>
              <a:rPr lang="en-GB" b="1" dirty="0">
                <a:latin typeface="Courier"/>
                <a:cs typeface="Courier"/>
              </a:rPr>
              <a:t>	</a:t>
            </a:r>
            <a:r>
              <a:rPr lang="en-GB" b="1" dirty="0" err="1">
                <a:latin typeface="Courier"/>
                <a:cs typeface="Courier"/>
              </a:rPr>
              <a:t>int</a:t>
            </a:r>
            <a:r>
              <a:rPr lang="en-GB" b="1" dirty="0">
                <a:latin typeface="Courier"/>
                <a:cs typeface="Courier"/>
              </a:rPr>
              <a:t> f = 0x12345678 ; </a:t>
            </a:r>
          </a:p>
          <a:p>
            <a:pPr marL="542925" lvl="1" indent="0">
              <a:buNone/>
            </a:pPr>
            <a:r>
              <a:rPr lang="en-GB" b="1" dirty="0">
                <a:latin typeface="Courier"/>
                <a:cs typeface="Courier"/>
              </a:rPr>
              <a:t>	short </a:t>
            </a:r>
            <a:r>
              <a:rPr lang="en-GB" b="1" dirty="0" err="1">
                <a:latin typeface="Courier"/>
                <a:cs typeface="Courier"/>
              </a:rPr>
              <a:t>int</a:t>
            </a:r>
            <a:r>
              <a:rPr lang="en-GB" b="1" dirty="0">
                <a:latin typeface="Courier"/>
                <a:cs typeface="Courier"/>
              </a:rPr>
              <a:t> g;</a:t>
            </a:r>
          </a:p>
          <a:p>
            <a:pPr marL="542925" lvl="1" indent="0">
              <a:buNone/>
            </a:pPr>
            <a:r>
              <a:rPr lang="en-GB" b="1" dirty="0">
                <a:latin typeface="Courier"/>
                <a:cs typeface="Courier"/>
              </a:rPr>
              <a:t>	g = f;</a:t>
            </a:r>
          </a:p>
          <a:p>
            <a:pPr marL="542925" lvl="1" indent="0">
              <a:buNone/>
            </a:pPr>
            <a:endParaRPr lang="en-GB" b="1" dirty="0">
              <a:latin typeface="Courier"/>
              <a:cs typeface="Courier"/>
            </a:endParaRPr>
          </a:p>
          <a:p>
            <a:r>
              <a:rPr lang="en-GB" dirty="0">
                <a:latin typeface="Arial" charset="0"/>
                <a:cs typeface="ＭＳ Ｐゴシック" charset="0"/>
              </a:rPr>
              <a:t>Comparisons, especially with </a:t>
            </a:r>
            <a:r>
              <a:rPr lang="en-GB" b="1" dirty="0">
                <a:latin typeface="Courier"/>
                <a:cs typeface="Courier"/>
              </a:rPr>
              <a:t>unsigned</a:t>
            </a:r>
            <a:r>
              <a:rPr lang="en-GB" dirty="0">
                <a:latin typeface="Arial" charset="0"/>
                <a:cs typeface="ＭＳ Ｐゴシック" charset="0"/>
              </a:rPr>
              <a:t>, </a:t>
            </a:r>
            <a:r>
              <a:rPr lang="en-GB" b="1" dirty="0">
                <a:latin typeface="Courier"/>
                <a:cs typeface="Courier"/>
              </a:rPr>
              <a:t>char</a:t>
            </a:r>
            <a:r>
              <a:rPr lang="en-GB" dirty="0">
                <a:latin typeface="Arial" charset="0"/>
                <a:cs typeface="ＭＳ Ｐゴシック" charset="0"/>
              </a:rPr>
              <a:t> and </a:t>
            </a:r>
            <a:r>
              <a:rPr lang="en-GB" b="1" dirty="0">
                <a:latin typeface="Courier"/>
                <a:cs typeface="Courier"/>
              </a:rPr>
              <a:t>short</a:t>
            </a:r>
            <a:r>
              <a:rPr lang="en-GB" dirty="0">
                <a:latin typeface="Arial" charset="0"/>
                <a:cs typeface="ＭＳ Ｐゴシック" charset="0"/>
              </a:rPr>
              <a:t> ! </a:t>
            </a:r>
          </a:p>
          <a:p>
            <a:pPr marL="542925" lvl="1" indent="0">
              <a:buNone/>
            </a:pPr>
            <a:r>
              <a:rPr lang="en-US" b="1" dirty="0">
                <a:latin typeface="Courier"/>
                <a:cs typeface="Courier"/>
              </a:rPr>
              <a:t>unsigned </a:t>
            </a:r>
            <a:r>
              <a:rPr lang="en-US" b="1" dirty="0" err="1">
                <a:latin typeface="Courier"/>
                <a:cs typeface="Courier"/>
              </a:rPr>
              <a:t>int</a:t>
            </a:r>
            <a:r>
              <a:rPr lang="en-US" b="1" dirty="0">
                <a:latin typeface="Courier"/>
                <a:cs typeface="Courier"/>
              </a:rPr>
              <a:t> a = 0 ; </a:t>
            </a:r>
          </a:p>
          <a:p>
            <a:pPr marL="542925" lvl="1" indent="0">
              <a:buNone/>
            </a:pPr>
            <a:r>
              <a:rPr lang="en-US" b="1" dirty="0">
                <a:latin typeface="Courier"/>
                <a:cs typeface="Courier"/>
              </a:rPr>
              <a:t>if (a &gt; -1) </a:t>
            </a:r>
          </a:p>
          <a:p>
            <a:pPr lvl="2" indent="0">
              <a:buNone/>
            </a:pPr>
            <a:r>
              <a:rPr lang="en-US" b="1" dirty="0" err="1">
                <a:latin typeface="Courier"/>
                <a:cs typeface="Courier"/>
              </a:rPr>
              <a:t>printf</a:t>
            </a:r>
            <a:r>
              <a:rPr lang="en-US" b="1" dirty="0">
                <a:latin typeface="Courier"/>
                <a:cs typeface="Courier"/>
              </a:rPr>
              <a:t>(”TRUE\n”);</a:t>
            </a:r>
          </a:p>
          <a:p>
            <a:pPr marL="542925" lvl="1" indent="0">
              <a:buNone/>
            </a:pPr>
            <a:r>
              <a:rPr lang="en-US" b="1" dirty="0">
                <a:latin typeface="Courier"/>
                <a:cs typeface="Courier"/>
              </a:rPr>
              <a:t>else </a:t>
            </a:r>
          </a:p>
          <a:p>
            <a:pPr lvl="2" indent="0">
              <a:buNone/>
            </a:pPr>
            <a:r>
              <a:rPr lang="en-US" b="1" dirty="0" err="1">
                <a:latin typeface="Courier"/>
                <a:cs typeface="Courier"/>
              </a:rPr>
              <a:t>printf</a:t>
            </a:r>
            <a:r>
              <a:rPr lang="en-US" b="1" dirty="0">
                <a:latin typeface="Courier"/>
                <a:cs typeface="Courier"/>
              </a:rPr>
              <a:t>(”FALSE\n”);</a:t>
            </a:r>
          </a:p>
          <a:p>
            <a:pPr lvl="2"/>
            <a:endParaRPr lang="en-GB" b="1" dirty="0">
              <a:latin typeface="Courier"/>
              <a:cs typeface="Courier"/>
            </a:endParaRP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73</a:t>
            </a:fld>
            <a:endParaRPr lang="fr-FR" sz="1400">
              <a:solidFill>
                <a:srgbClr val="000208"/>
              </a:solidFill>
              <a:latin typeface="Times New Roman" charset="0"/>
            </a:endParaRPr>
          </a:p>
        </p:txBody>
      </p:sp>
      <p:sp>
        <p:nvSpPr>
          <p:cNvPr id="2" name="Rectangle 1"/>
          <p:cNvSpPr/>
          <p:nvPr/>
        </p:nvSpPr>
        <p:spPr>
          <a:xfrm rot="20358945">
            <a:off x="3311860" y="5337212"/>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20799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0">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247964" y="949792"/>
            <a:ext cx="4968552" cy="5027179"/>
          </a:xfrm>
          <a:prstGeom prst="rect">
            <a:avLst/>
          </a:prstGeom>
        </p:spPr>
      </p:pic>
      <p:sp>
        <p:nvSpPr>
          <p:cNvPr id="2" name="Title 1"/>
          <p:cNvSpPr>
            <a:spLocks noGrp="1"/>
          </p:cNvSpPr>
          <p:nvPr>
            <p:ph type="title"/>
          </p:nvPr>
        </p:nvSpPr>
        <p:spPr/>
        <p:txBody>
          <a:bodyPr/>
          <a:lstStyle/>
          <a:p>
            <a:r>
              <a:rPr lang="en-US" sz="2800" dirty="0"/>
              <a:t>Variable allocation and lifetime</a:t>
            </a:r>
          </a:p>
        </p:txBody>
      </p:sp>
      <p:sp>
        <p:nvSpPr>
          <p:cNvPr id="3" name="Content Placeholder 2"/>
          <p:cNvSpPr>
            <a:spLocks noGrp="1"/>
          </p:cNvSpPr>
          <p:nvPr>
            <p:ph idx="1"/>
          </p:nvPr>
        </p:nvSpPr>
        <p:spPr>
          <a:xfrm>
            <a:off x="71500" y="764704"/>
            <a:ext cx="4644516" cy="2694620"/>
          </a:xfrm>
        </p:spPr>
        <p:txBody>
          <a:bodyPr/>
          <a:lstStyle/>
          <a:p>
            <a:r>
              <a:rPr lang="en-US" b="1" dirty="0"/>
              <a:t>Static memory</a:t>
            </a:r>
            <a:r>
              <a:rPr lang="en-US" dirty="0"/>
              <a:t>: </a:t>
            </a:r>
          </a:p>
          <a:p>
            <a:pPr lvl="1"/>
            <a:r>
              <a:rPr lang="en-US" dirty="0"/>
              <a:t>Variable Lifetime: </a:t>
            </a:r>
            <a:r>
              <a:rPr lang="en-US" b="1" dirty="0"/>
              <a:t>complete</a:t>
            </a:r>
            <a:r>
              <a:rPr lang="en-US" dirty="0"/>
              <a:t> program</a:t>
            </a:r>
          </a:p>
          <a:p>
            <a:pPr lvl="1"/>
            <a:r>
              <a:rPr lang="en-US" dirty="0"/>
              <a:t>Stores:</a:t>
            </a:r>
          </a:p>
          <a:p>
            <a:pPr lvl="2"/>
            <a:r>
              <a:rPr lang="en-US" b="1" dirty="0"/>
              <a:t>Global variables</a:t>
            </a:r>
            <a:r>
              <a:rPr lang="en-US" dirty="0"/>
              <a:t>: data objects declared outside of all function blocks</a:t>
            </a:r>
          </a:p>
          <a:p>
            <a:pPr lvl="2"/>
            <a:r>
              <a:rPr lang="en-US" dirty="0">
                <a:cs typeface="Courier"/>
              </a:rPr>
              <a:t>Variables defined as </a:t>
            </a:r>
            <a:r>
              <a:rPr lang="en-US" b="1" dirty="0">
                <a:latin typeface="Courier"/>
                <a:cs typeface="Courier"/>
              </a:rPr>
              <a:t>static</a:t>
            </a:r>
            <a:endParaRPr lang="en-US" dirty="0"/>
          </a:p>
          <a:p>
            <a:pPr lvl="1"/>
            <a:r>
              <a:rPr lang="en-US" dirty="0"/>
              <a:t>Global and static variables are initialized to zero by default by the compiler</a:t>
            </a:r>
          </a:p>
          <a:p>
            <a:pPr lvl="1"/>
            <a:r>
              <a:rPr lang="en-US" dirty="0"/>
              <a:t>Allocation at compile/link time</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74</a:t>
            </a:fld>
            <a:endParaRPr lang="fr-F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711592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247964" y="949792"/>
            <a:ext cx="4968552" cy="5027179"/>
          </a:xfrm>
          <a:prstGeom prst="rect">
            <a:avLst/>
          </a:prstGeom>
        </p:spPr>
      </p:pic>
      <p:sp>
        <p:nvSpPr>
          <p:cNvPr id="2" name="Title 1"/>
          <p:cNvSpPr>
            <a:spLocks noGrp="1"/>
          </p:cNvSpPr>
          <p:nvPr>
            <p:ph type="title"/>
          </p:nvPr>
        </p:nvSpPr>
        <p:spPr/>
        <p:txBody>
          <a:bodyPr/>
          <a:lstStyle/>
          <a:p>
            <a:r>
              <a:rPr lang="en-US" sz="2800" dirty="0"/>
              <a:t>Variable allocation and lifetime</a:t>
            </a:r>
          </a:p>
        </p:txBody>
      </p:sp>
      <p:sp>
        <p:nvSpPr>
          <p:cNvPr id="3" name="Content Placeholder 2"/>
          <p:cNvSpPr>
            <a:spLocks noGrp="1"/>
          </p:cNvSpPr>
          <p:nvPr>
            <p:ph idx="1"/>
          </p:nvPr>
        </p:nvSpPr>
        <p:spPr>
          <a:xfrm>
            <a:off x="71500" y="764704"/>
            <a:ext cx="4644516" cy="2694620"/>
          </a:xfrm>
        </p:spPr>
        <p:txBody>
          <a:bodyPr/>
          <a:lstStyle/>
          <a:p>
            <a:r>
              <a:rPr lang="en-US" b="1" dirty="0"/>
              <a:t>Stack</a:t>
            </a:r>
            <a:r>
              <a:rPr lang="en-US" dirty="0"/>
              <a:t>: </a:t>
            </a:r>
          </a:p>
          <a:p>
            <a:pPr lvl="1"/>
            <a:r>
              <a:rPr lang="en-US" dirty="0"/>
              <a:t>Variable Lifetime: specific </a:t>
            </a:r>
            <a:r>
              <a:rPr lang="en-US" b="1" dirty="0"/>
              <a:t>block</a:t>
            </a:r>
          </a:p>
          <a:p>
            <a:pPr lvl="1"/>
            <a:r>
              <a:rPr lang="en-US" dirty="0"/>
              <a:t>Stores</a:t>
            </a:r>
          </a:p>
          <a:p>
            <a:pPr lvl="2"/>
            <a:r>
              <a:rPr lang="en-US" b="1" dirty="0">
                <a:cs typeface="Courier"/>
              </a:rPr>
              <a:t>Local variables</a:t>
            </a:r>
            <a:r>
              <a:rPr lang="en-US" dirty="0">
                <a:cs typeface="Courier"/>
              </a:rPr>
              <a:t>: data objects declared within a </a:t>
            </a:r>
            <a:r>
              <a:rPr lang="en-US" b="1" dirty="0">
                <a:cs typeface="Courier"/>
              </a:rPr>
              <a:t>block</a:t>
            </a:r>
            <a:endParaRPr lang="en-US" dirty="0">
              <a:cs typeface="Courier"/>
            </a:endParaRPr>
          </a:p>
          <a:p>
            <a:pPr lvl="2"/>
            <a:r>
              <a:rPr lang="en-US" dirty="0">
                <a:cs typeface="Courier"/>
              </a:rPr>
              <a:t>Variables defined as </a:t>
            </a:r>
            <a:r>
              <a:rPr lang="en-US" b="1" dirty="0">
                <a:latin typeface="Courier"/>
                <a:cs typeface="Courier"/>
              </a:rPr>
              <a:t>auto </a:t>
            </a:r>
            <a:r>
              <a:rPr lang="en-US" dirty="0">
                <a:cs typeface="Courier"/>
              </a:rPr>
              <a:t>(by default the local ones)</a:t>
            </a:r>
          </a:p>
          <a:p>
            <a:pPr lvl="2"/>
            <a:r>
              <a:rPr lang="en-US" dirty="0">
                <a:cs typeface="Courier"/>
              </a:rPr>
              <a:t>Variables defined as </a:t>
            </a:r>
            <a:r>
              <a:rPr lang="en-US" b="1" dirty="0">
                <a:latin typeface="Courier"/>
                <a:cs typeface="Courier"/>
              </a:rPr>
              <a:t>register</a:t>
            </a:r>
            <a:r>
              <a:rPr lang="en-US" dirty="0">
                <a:cs typeface="Courier"/>
              </a:rPr>
              <a:t>, but the compiler couldn’t store them to registers</a:t>
            </a:r>
            <a:endParaRPr lang="en-US" b="1" dirty="0">
              <a:latin typeface="Courier"/>
              <a:cs typeface="Courier"/>
            </a:endParaRPr>
          </a:p>
          <a:p>
            <a:pPr lvl="1"/>
            <a:r>
              <a:rPr lang="en-US" dirty="0"/>
              <a:t>Allocated in an</a:t>
            </a:r>
          </a:p>
          <a:p>
            <a:pPr lvl="2"/>
            <a:r>
              <a:rPr lang="en-US" dirty="0"/>
              <a:t>Automatic way</a:t>
            </a:r>
          </a:p>
          <a:p>
            <a:pPr lvl="2"/>
            <a:r>
              <a:rPr lang="en-US" dirty="0"/>
              <a:t>Continuous way</a:t>
            </a:r>
          </a:p>
          <a:p>
            <a:pPr lvl="1"/>
            <a:r>
              <a:rPr lang="en-US" dirty="0"/>
              <a:t>Allocation during execution</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75</a:t>
            </a:fld>
            <a:endParaRPr lang="fr-FR"/>
          </a:p>
        </p:txBody>
      </p:sp>
      <p:sp>
        <p:nvSpPr>
          <p:cNvPr id="7" name="TextBox 6"/>
          <p:cNvSpPr txBox="1"/>
          <p:nvPr/>
        </p:nvSpPr>
        <p:spPr>
          <a:xfrm>
            <a:off x="6480212" y="188640"/>
            <a:ext cx="492142" cy="461665"/>
          </a:xfrm>
          <a:prstGeom prst="rect">
            <a:avLst/>
          </a:prstGeom>
          <a:noFill/>
        </p:spPr>
        <p:txBody>
          <a:bodyPr wrap="none" rtlCol="0">
            <a:spAutoFit/>
          </a:bodyPr>
          <a:lstStyle/>
          <a:p>
            <a:r>
              <a:rPr lang="en-US" sz="2400" b="1" dirty="0">
                <a:solidFill>
                  <a:srgbClr val="FF0000"/>
                </a:solidFill>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31788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247964" y="949792"/>
            <a:ext cx="4968552" cy="5027179"/>
          </a:xfrm>
          <a:prstGeom prst="rect">
            <a:avLst/>
          </a:prstGeom>
        </p:spPr>
      </p:pic>
      <p:sp>
        <p:nvSpPr>
          <p:cNvPr id="2" name="Title 1"/>
          <p:cNvSpPr>
            <a:spLocks noGrp="1"/>
          </p:cNvSpPr>
          <p:nvPr>
            <p:ph type="title"/>
          </p:nvPr>
        </p:nvSpPr>
        <p:spPr/>
        <p:txBody>
          <a:bodyPr/>
          <a:lstStyle/>
          <a:p>
            <a:r>
              <a:rPr lang="en-US" sz="2800" dirty="0"/>
              <a:t>Variable allocation and lifetime</a:t>
            </a:r>
          </a:p>
        </p:txBody>
      </p:sp>
      <p:sp>
        <p:nvSpPr>
          <p:cNvPr id="3" name="Content Placeholder 2"/>
          <p:cNvSpPr>
            <a:spLocks noGrp="1"/>
          </p:cNvSpPr>
          <p:nvPr>
            <p:ph idx="1"/>
          </p:nvPr>
        </p:nvSpPr>
        <p:spPr>
          <a:xfrm>
            <a:off x="71500" y="764704"/>
            <a:ext cx="4644516" cy="2694620"/>
          </a:xfrm>
        </p:spPr>
        <p:txBody>
          <a:bodyPr/>
          <a:lstStyle/>
          <a:p>
            <a:r>
              <a:rPr lang="en-US" b="1" dirty="0"/>
              <a:t>Heap</a:t>
            </a:r>
            <a:r>
              <a:rPr lang="en-US" dirty="0"/>
              <a:t>: </a:t>
            </a:r>
          </a:p>
          <a:p>
            <a:pPr lvl="1"/>
            <a:r>
              <a:rPr lang="en-US" dirty="0"/>
              <a:t>Variable lifetime: Managed by the program</a:t>
            </a:r>
          </a:p>
          <a:p>
            <a:pPr lvl="1"/>
            <a:r>
              <a:rPr lang="en-US" dirty="0"/>
              <a:t>Large pool of memory</a:t>
            </a:r>
          </a:p>
          <a:p>
            <a:pPr lvl="1"/>
            <a:r>
              <a:rPr lang="en-US" dirty="0"/>
              <a:t>Not allocated in contiguous order</a:t>
            </a:r>
          </a:p>
          <a:p>
            <a:pPr lvl="1"/>
            <a:r>
              <a:rPr lang="en-US" dirty="0"/>
              <a:t>Dynamic allocation</a:t>
            </a:r>
          </a:p>
          <a:p>
            <a:pPr lvl="1"/>
            <a:r>
              <a:rPr lang="en-US" dirty="0"/>
              <a:t>Allocation during execution</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76</a:t>
            </a:fld>
            <a:endParaRPr lang="fr-FR"/>
          </a:p>
        </p:txBody>
      </p:sp>
      <p:sp>
        <p:nvSpPr>
          <p:cNvPr id="7" name="TextBox 6"/>
          <p:cNvSpPr txBox="1"/>
          <p:nvPr/>
        </p:nvSpPr>
        <p:spPr>
          <a:xfrm>
            <a:off x="6156176" y="17169"/>
            <a:ext cx="492142" cy="461665"/>
          </a:xfrm>
          <a:prstGeom prst="rect">
            <a:avLst/>
          </a:prstGeom>
          <a:noFill/>
        </p:spPr>
        <p:txBody>
          <a:bodyPr wrap="none" rtlCol="0">
            <a:spAutoFit/>
          </a:bodyPr>
          <a:lstStyle/>
          <a:p>
            <a:r>
              <a:rPr lang="en-US" sz="2400" b="1" dirty="0">
                <a:solidFill>
                  <a:srgbClr val="FF0000"/>
                </a:solidFill>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2426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Data </a:t>
            </a:r>
            <a:r>
              <a:rPr lang="fr-FR" sz="2800" dirty="0" err="1">
                <a:latin typeface="Arial" charset="0"/>
                <a:ea typeface="ＭＳ Ｐゴシック" charset="0"/>
                <a:cs typeface="ＭＳ Ｐゴシック" charset="0"/>
              </a:rPr>
              <a:t>objects</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Qualifiers</a:t>
            </a:r>
            <a:endParaRPr lang="fr-FR" sz="2800" dirty="0">
              <a:latin typeface="Arial" charset="0"/>
              <a:ea typeface="ＭＳ Ｐゴシック" charset="0"/>
              <a:cs typeface="ＭＳ Ｐゴシック" charset="0"/>
            </a:endParaRPr>
          </a:p>
        </p:txBody>
      </p:sp>
      <p:sp>
        <p:nvSpPr>
          <p:cNvPr id="81922" name="Espace réservé du contenu 2"/>
          <p:cNvSpPr>
            <a:spLocks noGrp="1"/>
          </p:cNvSpPr>
          <p:nvPr>
            <p:ph idx="1"/>
          </p:nvPr>
        </p:nvSpPr>
        <p:spPr/>
        <p:txBody>
          <a:bodyPr/>
          <a:lstStyle/>
          <a:p>
            <a:r>
              <a:rPr lang="en-US" dirty="0"/>
              <a:t>Express additional information about a value</a:t>
            </a:r>
          </a:p>
          <a:p>
            <a:pPr lvl="1"/>
            <a:r>
              <a:rPr lang="en-US" dirty="0"/>
              <a:t>Ensure the </a:t>
            </a:r>
            <a:r>
              <a:rPr lang="en-US" b="1" dirty="0"/>
              <a:t>correct use </a:t>
            </a:r>
            <a:r>
              <a:rPr lang="en-US" dirty="0"/>
              <a:t>of the data object</a:t>
            </a:r>
          </a:p>
          <a:p>
            <a:endParaRPr lang="en-US" dirty="0"/>
          </a:p>
          <a:p>
            <a:r>
              <a:rPr lang="en-US" b="1" dirty="0" err="1">
                <a:latin typeface="Courier"/>
                <a:cs typeface="Courier"/>
              </a:rPr>
              <a:t>const</a:t>
            </a:r>
            <a:r>
              <a:rPr lang="en-US" b="1" dirty="0">
                <a:latin typeface="Courier"/>
                <a:cs typeface="Courier"/>
              </a:rPr>
              <a:t>: </a:t>
            </a:r>
            <a:r>
              <a:rPr lang="en-US" dirty="0">
                <a:cs typeface="Courier"/>
              </a:rPr>
              <a:t>The value of the data object does not change once it has been initialized</a:t>
            </a:r>
          </a:p>
          <a:p>
            <a:pPr marL="0" indent="0">
              <a:buNone/>
            </a:pPr>
            <a:endParaRPr lang="en-US" dirty="0">
              <a:cs typeface="Courier"/>
            </a:endParaRPr>
          </a:p>
          <a:p>
            <a:r>
              <a:rPr lang="en-US" b="1" dirty="0">
                <a:latin typeface="Courier"/>
                <a:cs typeface="Courier"/>
              </a:rPr>
              <a:t>volatile</a:t>
            </a:r>
            <a:r>
              <a:rPr lang="en-US" dirty="0">
                <a:cs typeface="Courier"/>
              </a:rPr>
              <a:t>: The compiler does not optimize, the data object is always accessed from the memory</a:t>
            </a:r>
          </a:p>
          <a:p>
            <a:pPr marL="0" indent="0">
              <a:buNone/>
            </a:pPr>
            <a:endParaRPr lang="en-US" dirty="0"/>
          </a:p>
          <a:p>
            <a:r>
              <a:rPr lang="en-US" b="1" dirty="0">
                <a:latin typeface="Courier"/>
                <a:cs typeface="Courier"/>
              </a:rPr>
              <a:t>restrict: </a:t>
            </a:r>
            <a:r>
              <a:rPr lang="en-US" dirty="0"/>
              <a:t>The only way to access a data object is through the pointer that points to it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7285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p:cNvSpPr>
            <a:spLocks noGrp="1"/>
          </p:cNvSpPr>
          <p:nvPr>
            <p:ph type="title"/>
          </p:nvPr>
        </p:nvSpPr>
        <p:spPr/>
        <p:txBody>
          <a:bodyPr/>
          <a:lstStyle/>
          <a:p>
            <a:r>
              <a:rPr lang="fr-FR" sz="2800" dirty="0">
                <a:latin typeface="Arial" charset="0"/>
                <a:cs typeface="ＭＳ Ｐゴシック" charset="0"/>
              </a:rPr>
              <a:t>Object-</a:t>
            </a:r>
            <a:r>
              <a:rPr lang="fr-FR" sz="2800" dirty="0" err="1">
                <a:latin typeface="Arial" charset="0"/>
                <a:cs typeface="ＭＳ Ｐゴシック" charset="0"/>
              </a:rPr>
              <a:t>like</a:t>
            </a:r>
            <a:r>
              <a:rPr lang="fr-FR" sz="2800" dirty="0">
                <a:latin typeface="Arial" charset="0"/>
                <a:cs typeface="ＭＳ Ｐゴシック" charset="0"/>
              </a:rPr>
              <a:t> Macros</a:t>
            </a:r>
          </a:p>
        </p:txBody>
      </p:sp>
      <p:sp>
        <p:nvSpPr>
          <p:cNvPr id="71682" name="Espace réservé du contenu 2"/>
          <p:cNvSpPr>
            <a:spLocks noGrp="1"/>
          </p:cNvSpPr>
          <p:nvPr>
            <p:ph idx="1"/>
          </p:nvPr>
        </p:nvSpPr>
        <p:spPr>
          <a:xfrm>
            <a:off x="307094" y="914400"/>
            <a:ext cx="8261350" cy="5257800"/>
          </a:xfrm>
        </p:spPr>
        <p:txBody>
          <a:bodyPr/>
          <a:lstStyle/>
          <a:p>
            <a:r>
              <a:rPr lang="en-US" dirty="0">
                <a:latin typeface="Arial" charset="0"/>
                <a:cs typeface="ＭＳ Ｐゴシック" charset="0"/>
              </a:rPr>
              <a:t>Syntax: </a:t>
            </a:r>
            <a:r>
              <a:rPr lang="en-US" dirty="0">
                <a:latin typeface="Arial" charset="0"/>
              </a:rPr>
              <a:t>Through pre-processor directive </a:t>
            </a:r>
            <a:r>
              <a:rPr lang="en-US" b="1" dirty="0">
                <a:latin typeface="Courier"/>
                <a:cs typeface="Courier"/>
              </a:rPr>
              <a:t>#define</a:t>
            </a:r>
            <a:endParaRPr lang="en-US" dirty="0">
              <a:latin typeface="Arial" charset="0"/>
            </a:endParaRPr>
          </a:p>
          <a:p>
            <a:pPr marL="0" indent="0">
              <a:buNone/>
            </a:pPr>
            <a:r>
              <a:rPr lang="en-US" sz="2000" b="1" dirty="0">
                <a:latin typeface="Courier"/>
                <a:cs typeface="Courier"/>
              </a:rPr>
              <a:t>#define IDENTIFIER value </a:t>
            </a:r>
            <a:endParaRPr lang="en-US" sz="2000" dirty="0">
              <a:latin typeface="Arial" charset="0"/>
            </a:endParaRPr>
          </a:p>
          <a:p>
            <a:endParaRPr lang="en-US" dirty="0">
              <a:latin typeface="Arial" charset="0"/>
            </a:endParaRPr>
          </a:p>
          <a:p>
            <a:r>
              <a:rPr lang="en-US" dirty="0">
                <a:cs typeface="Courier"/>
              </a:rPr>
              <a:t>Function:</a:t>
            </a:r>
          </a:p>
          <a:p>
            <a:pPr lvl="1"/>
            <a:r>
              <a:rPr lang="en-US" dirty="0"/>
              <a:t>Gives a symbolic name to a data object</a:t>
            </a:r>
          </a:p>
          <a:p>
            <a:pPr lvl="1"/>
            <a:r>
              <a:rPr lang="en-US" dirty="0"/>
              <a:t>Convention: Symbolic names are given in UPPERCASE</a:t>
            </a:r>
          </a:p>
          <a:p>
            <a:pPr lvl="1"/>
            <a:endParaRPr lang="en-US" dirty="0">
              <a:cs typeface="Courier"/>
            </a:endParaRPr>
          </a:p>
          <a:p>
            <a:r>
              <a:rPr lang="en-US" dirty="0">
                <a:cs typeface="Courier"/>
              </a:rPr>
              <a:t>Examples</a:t>
            </a:r>
          </a:p>
          <a:p>
            <a:pPr lvl="1"/>
            <a:r>
              <a:rPr lang="en-US" b="1" dirty="0">
                <a:latin typeface="Courier"/>
                <a:cs typeface="Courier"/>
              </a:rPr>
              <a:t>#define PI 3.1416</a:t>
            </a:r>
          </a:p>
          <a:p>
            <a:pPr lvl="1"/>
            <a:r>
              <a:rPr lang="en-US" b="1" dirty="0">
                <a:latin typeface="Courier"/>
                <a:cs typeface="Courier"/>
              </a:rPr>
              <a:t>#define NOM ″foo″</a:t>
            </a:r>
          </a:p>
          <a:p>
            <a:pPr marL="0" indent="0">
              <a:buNone/>
            </a:pPr>
            <a:endParaRPr lang="en-US"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78</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90696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p:cNvSpPr>
            <a:spLocks noGrp="1"/>
          </p:cNvSpPr>
          <p:nvPr>
            <p:ph type="title"/>
          </p:nvPr>
        </p:nvSpPr>
        <p:spPr/>
        <p:txBody>
          <a:bodyPr/>
          <a:lstStyle/>
          <a:p>
            <a:r>
              <a:rPr lang="en-US" sz="2800" dirty="0">
                <a:latin typeface="Arial" charset="0"/>
                <a:cs typeface="ＭＳ Ｐゴシック" charset="0"/>
              </a:rPr>
              <a:t>Other reserved constants</a:t>
            </a:r>
          </a:p>
        </p:txBody>
      </p:sp>
      <p:sp>
        <p:nvSpPr>
          <p:cNvPr id="71682" name="Espace réservé du contenu 2"/>
          <p:cNvSpPr>
            <a:spLocks noGrp="1"/>
          </p:cNvSpPr>
          <p:nvPr>
            <p:ph idx="1"/>
          </p:nvPr>
        </p:nvSpPr>
        <p:spPr>
          <a:xfrm>
            <a:off x="307094" y="914400"/>
            <a:ext cx="8585386" cy="5257800"/>
          </a:xfrm>
          <a:ln>
            <a:noFill/>
          </a:ln>
        </p:spPr>
        <p:txBody>
          <a:bodyPr/>
          <a:lstStyle/>
          <a:p>
            <a:r>
              <a:rPr lang="en-US" dirty="0">
                <a:latin typeface="Arial" charset="0"/>
              </a:rPr>
              <a:t>Escape sequences:</a:t>
            </a:r>
          </a:p>
          <a:p>
            <a:pPr lvl="1"/>
            <a:r>
              <a:rPr lang="en-US" dirty="0">
                <a:latin typeface="Arial" charset="0"/>
              </a:rPr>
              <a:t>The character </a:t>
            </a:r>
            <a:r>
              <a:rPr lang="en-US" b="1" dirty="0">
                <a:latin typeface="Courier"/>
                <a:cs typeface="Courier"/>
              </a:rPr>
              <a:t>’</a:t>
            </a:r>
            <a:r>
              <a:rPr lang="en-US" altLang="ja-JP" b="1" dirty="0">
                <a:latin typeface="Courier"/>
                <a:cs typeface="Courier"/>
              </a:rPr>
              <a:t>\n</a:t>
            </a:r>
            <a:r>
              <a:rPr lang="en-US" b="1" dirty="0">
                <a:latin typeface="Courier"/>
                <a:cs typeface="Courier"/>
              </a:rPr>
              <a:t>’</a:t>
            </a:r>
            <a:r>
              <a:rPr lang="en-US" altLang="ja-JP" dirty="0">
                <a:latin typeface="Arial" charset="0"/>
              </a:rPr>
              <a:t> is a new line </a:t>
            </a:r>
            <a:r>
              <a:rPr lang="en-US" altLang="ja-JP" dirty="0">
                <a:solidFill>
                  <a:srgbClr val="000000"/>
                </a:solidFill>
                <a:latin typeface="Arial" charset="0"/>
              </a:rPr>
              <a:t>(on Unix systems)</a:t>
            </a:r>
          </a:p>
          <a:p>
            <a:pPr lvl="1"/>
            <a:r>
              <a:rPr lang="en-US" dirty="0">
                <a:latin typeface="Arial" charset="0"/>
              </a:rPr>
              <a:t>The character </a:t>
            </a:r>
            <a:r>
              <a:rPr lang="en-US" b="1" dirty="0">
                <a:latin typeface="Courier"/>
                <a:cs typeface="Courier"/>
              </a:rPr>
              <a:t>’</a:t>
            </a:r>
            <a:r>
              <a:rPr lang="en-US" altLang="ja-JP" b="1" dirty="0">
                <a:latin typeface="Courier"/>
                <a:cs typeface="Courier"/>
              </a:rPr>
              <a:t>\b</a:t>
            </a:r>
            <a:r>
              <a:rPr lang="en-US" b="1" dirty="0">
                <a:latin typeface="Courier"/>
                <a:cs typeface="Courier"/>
              </a:rPr>
              <a:t>’</a:t>
            </a:r>
            <a:r>
              <a:rPr lang="en-US" altLang="ja-JP" b="1" dirty="0">
                <a:latin typeface="Arial" charset="0"/>
              </a:rPr>
              <a:t> </a:t>
            </a:r>
            <a:r>
              <a:rPr lang="en-US" altLang="ja-JP" dirty="0">
                <a:latin typeface="Arial" charset="0"/>
              </a:rPr>
              <a:t>is a backspace</a:t>
            </a:r>
          </a:p>
          <a:p>
            <a:pPr lvl="1"/>
            <a:r>
              <a:rPr lang="en-US" dirty="0">
                <a:latin typeface="Arial" charset="0"/>
              </a:rPr>
              <a:t>The character </a:t>
            </a:r>
            <a:r>
              <a:rPr lang="en-US" b="1" dirty="0">
                <a:latin typeface="Courier"/>
                <a:cs typeface="Courier"/>
              </a:rPr>
              <a:t>’</a:t>
            </a:r>
            <a:r>
              <a:rPr lang="en-US" altLang="ja-JP" b="1" dirty="0">
                <a:latin typeface="Courier"/>
                <a:cs typeface="Courier"/>
              </a:rPr>
              <a:t>\t</a:t>
            </a:r>
            <a:r>
              <a:rPr lang="en-US" b="1" dirty="0">
                <a:latin typeface="Courier"/>
                <a:cs typeface="Courier"/>
              </a:rPr>
              <a:t>’</a:t>
            </a:r>
            <a:r>
              <a:rPr lang="en-US" altLang="ja-JP" b="1" dirty="0">
                <a:latin typeface="Arial" charset="0"/>
              </a:rPr>
              <a:t> </a:t>
            </a:r>
            <a:r>
              <a:rPr lang="en-US" altLang="ja-JP" dirty="0">
                <a:latin typeface="Arial" charset="0"/>
              </a:rPr>
              <a:t>is a tab space</a:t>
            </a:r>
          </a:p>
          <a:p>
            <a:pPr lvl="1"/>
            <a:r>
              <a:rPr lang="en-US" dirty="0">
                <a:latin typeface="Arial" charset="0"/>
              </a:rPr>
              <a:t>The character </a:t>
            </a:r>
            <a:r>
              <a:rPr lang="en-US" b="1" dirty="0">
                <a:latin typeface="Courier"/>
                <a:cs typeface="Courier"/>
              </a:rPr>
              <a:t>’</a:t>
            </a:r>
            <a:r>
              <a:rPr lang="en-US" altLang="ja-JP" b="1" dirty="0">
                <a:latin typeface="Courier"/>
                <a:cs typeface="Courier"/>
              </a:rPr>
              <a:t>\0</a:t>
            </a:r>
            <a:r>
              <a:rPr lang="en-US" b="1" dirty="0">
                <a:latin typeface="Courier"/>
                <a:cs typeface="Courier"/>
              </a:rPr>
              <a:t>’</a:t>
            </a:r>
            <a:r>
              <a:rPr lang="en-US" altLang="ja-JP" b="1" dirty="0">
                <a:latin typeface="Arial" charset="0"/>
              </a:rPr>
              <a:t> </a:t>
            </a:r>
            <a:r>
              <a:rPr lang="en-US" altLang="ja-JP" dirty="0">
                <a:latin typeface="Arial" charset="0"/>
              </a:rPr>
              <a:t>is null character</a:t>
            </a:r>
          </a:p>
          <a:p>
            <a:pPr lvl="1"/>
            <a:endParaRPr lang="en-US" altLang="ja-JP" dirty="0">
              <a:latin typeface="Arial" charset="0"/>
            </a:endParaRPr>
          </a:p>
          <a:p>
            <a:endParaRPr lang="en-US" dirty="0">
              <a:latin typeface="Arial" charset="0"/>
            </a:endParaRPr>
          </a:p>
          <a:p>
            <a:r>
              <a:rPr lang="en-US" dirty="0">
                <a:latin typeface="Arial" charset="0"/>
              </a:rPr>
              <a:t>The double quotes </a:t>
            </a:r>
            <a:r>
              <a:rPr lang="en-US" b="1" dirty="0">
                <a:latin typeface="Courier"/>
                <a:cs typeface="Courier"/>
              </a:rPr>
              <a:t>″…″ </a:t>
            </a:r>
            <a:r>
              <a:rPr lang="en-US" dirty="0">
                <a:latin typeface="Arial" charset="0"/>
              </a:rPr>
              <a:t>defines a string of characters</a:t>
            </a:r>
          </a:p>
          <a:p>
            <a:pPr lvl="1"/>
            <a:r>
              <a:rPr lang="en-US" dirty="0">
                <a:latin typeface="Arial" charset="0"/>
              </a:rPr>
              <a:t>There </a:t>
            </a:r>
            <a:r>
              <a:rPr lang="en-US" dirty="0">
                <a:solidFill>
                  <a:schemeClr val="tx1"/>
                </a:solidFill>
                <a:latin typeface="Arial" charset="0"/>
              </a:rPr>
              <a:t>is</a:t>
            </a:r>
            <a:r>
              <a:rPr lang="en-US" dirty="0">
                <a:solidFill>
                  <a:srgbClr val="FF0000"/>
                </a:solidFill>
                <a:latin typeface="Arial" charset="0"/>
              </a:rPr>
              <a:t> NO string type </a:t>
            </a:r>
            <a:r>
              <a:rPr lang="en-US" dirty="0">
                <a:solidFill>
                  <a:srgbClr val="000000"/>
                </a:solidFill>
                <a:latin typeface="Arial" charset="0"/>
              </a:rPr>
              <a:t>in C</a:t>
            </a:r>
          </a:p>
          <a:p>
            <a:pPr lvl="1"/>
            <a:r>
              <a:rPr lang="en-US" dirty="0">
                <a:solidFill>
                  <a:srgbClr val="000000"/>
                </a:solidFill>
                <a:latin typeface="Arial" charset="0"/>
              </a:rPr>
              <a:t>String  = array of characters that ends with the null character (</a:t>
            </a:r>
            <a:r>
              <a:rPr lang="en-US" altLang="ja-JP" b="1" dirty="0">
                <a:latin typeface="Courier"/>
                <a:cs typeface="Courier"/>
              </a:rPr>
              <a:t>\0)</a:t>
            </a:r>
            <a:endParaRPr lang="en-US" dirty="0">
              <a:solidFill>
                <a:srgbClr val="000000"/>
              </a:solidFill>
              <a:latin typeface="Arial" charset="0"/>
            </a:endParaRPr>
          </a:p>
          <a:p>
            <a:endParaRPr lang="en-US" dirty="0">
              <a:latin typeface="Arial" charset="0"/>
            </a:endParaRPr>
          </a:p>
          <a:p>
            <a:r>
              <a:rPr lang="en-US" dirty="0">
                <a:latin typeface="Arial" charset="0"/>
              </a:rPr>
              <a:t>The simple quote </a:t>
            </a:r>
            <a:r>
              <a:rPr lang="en-US" b="1" dirty="0">
                <a:latin typeface="Courier"/>
                <a:cs typeface="Courier"/>
              </a:rPr>
              <a:t>‘.’ </a:t>
            </a:r>
            <a:r>
              <a:rPr lang="en-US" dirty="0">
                <a:latin typeface="Arial" charset="0"/>
              </a:rPr>
              <a:t>defines a character</a:t>
            </a:r>
          </a:p>
          <a:p>
            <a:pPr lvl="1"/>
            <a:endParaRPr lang="en-US" b="1"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79</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3844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2">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80</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Basic components of C language:</a:t>
            </a:r>
            <a:br>
              <a:rPr lang="en-GB" dirty="0">
                <a:latin typeface="Arial" charset="0"/>
              </a:rPr>
            </a:br>
            <a:r>
              <a:rPr lang="en-GB" dirty="0">
                <a:latin typeface="Arial" charset="0"/>
              </a:rPr>
              <a:t>Libraries</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308320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err="1">
                <a:latin typeface="Arial" charset="0"/>
                <a:cs typeface="ＭＳ Ｐゴシック" charset="0"/>
              </a:rPr>
              <a:t>Libraries</a:t>
            </a:r>
            <a:endParaRPr lang="fr-FR" sz="2800" dirty="0">
              <a:latin typeface="Arial" charset="0"/>
              <a:cs typeface="ＭＳ Ｐゴシック" charset="0"/>
            </a:endParaRPr>
          </a:p>
        </p:txBody>
      </p:sp>
      <p:sp>
        <p:nvSpPr>
          <p:cNvPr id="3" name="Espace réservé du contenu 2"/>
          <p:cNvSpPr>
            <a:spLocks noGrp="1"/>
          </p:cNvSpPr>
          <p:nvPr>
            <p:ph idx="1"/>
          </p:nvPr>
        </p:nvSpPr>
        <p:spPr>
          <a:xfrm>
            <a:off x="323528" y="908720"/>
            <a:ext cx="8820472" cy="4537075"/>
          </a:xfrm>
        </p:spPr>
        <p:txBody>
          <a:bodyPr/>
          <a:lstStyle/>
          <a:p>
            <a:pPr>
              <a:defRPr/>
            </a:pPr>
            <a:r>
              <a:rPr lang="en-GB" dirty="0"/>
              <a:t>In C, there are a lot of functions already implemented into libraries </a:t>
            </a:r>
          </a:p>
          <a:p>
            <a:pPr lvl="1">
              <a:defRPr/>
            </a:pPr>
            <a:r>
              <a:rPr lang="en-GB" dirty="0"/>
              <a:t>Include system calls</a:t>
            </a:r>
          </a:p>
          <a:p>
            <a:pPr lvl="1">
              <a:defRPr/>
            </a:pPr>
            <a:r>
              <a:rPr lang="en-GB" dirty="0"/>
              <a:t>Mathematical computations</a:t>
            </a:r>
          </a:p>
          <a:p>
            <a:pPr lvl="1">
              <a:defRPr/>
            </a:pPr>
            <a:r>
              <a:rPr lang="en-GB" dirty="0"/>
              <a:t>…</a:t>
            </a:r>
          </a:p>
          <a:p>
            <a:pPr lvl="1">
              <a:defRPr/>
            </a:pPr>
            <a:endParaRPr lang="en-GB" dirty="0"/>
          </a:p>
          <a:p>
            <a:pPr>
              <a:defRPr/>
            </a:pPr>
            <a:r>
              <a:rPr lang="en-GB" dirty="0"/>
              <a:t>The programmer can and should use them !</a:t>
            </a:r>
          </a:p>
          <a:p>
            <a:pPr lvl="1">
              <a:defRPr/>
            </a:pPr>
            <a:r>
              <a:rPr lang="en-GB" dirty="0"/>
              <a:t>Add corresponding directive to the head of the compilation file</a:t>
            </a:r>
          </a:p>
          <a:p>
            <a:pPr lvl="1">
              <a:defRPr/>
            </a:pPr>
            <a:r>
              <a:rPr lang="en-GB" b="1" dirty="0">
                <a:latin typeface="Courier"/>
                <a:cs typeface="Courier"/>
              </a:rPr>
              <a:t>#include &lt;</a:t>
            </a:r>
            <a:r>
              <a:rPr lang="en-GB" b="1" dirty="0" err="1">
                <a:latin typeface="Courier"/>
                <a:cs typeface="Courier"/>
              </a:rPr>
              <a:t>stdio.h</a:t>
            </a:r>
            <a:r>
              <a:rPr lang="en-GB" b="1" dirty="0">
                <a:latin typeface="Courier"/>
                <a:cs typeface="Courier"/>
              </a:rPr>
              <a:t>&gt;</a:t>
            </a:r>
          </a:p>
          <a:p>
            <a:pPr lvl="1">
              <a:defRPr/>
            </a:pPr>
            <a:r>
              <a:rPr lang="en-GB" b="1" dirty="0">
                <a:latin typeface="Courier"/>
                <a:cs typeface="Courier"/>
              </a:rPr>
              <a:t>#include &lt;</a:t>
            </a:r>
            <a:r>
              <a:rPr lang="en-GB" b="1" dirty="0" err="1">
                <a:latin typeface="Courier"/>
                <a:cs typeface="Courier"/>
              </a:rPr>
              <a:t>stdlib.h</a:t>
            </a:r>
            <a:r>
              <a:rPr lang="en-GB" b="1" dirty="0">
                <a:latin typeface="Courier"/>
                <a:cs typeface="Courier"/>
              </a:rPr>
              <a:t>&gt;</a:t>
            </a:r>
          </a:p>
          <a:p>
            <a:pPr lvl="1">
              <a:defRPr/>
            </a:pPr>
            <a:r>
              <a:rPr lang="en-GB" b="1" dirty="0">
                <a:latin typeface="Courier"/>
                <a:cs typeface="Courier"/>
              </a:rPr>
              <a:t>#include &lt;</a:t>
            </a:r>
            <a:r>
              <a:rPr lang="en-GB" b="1" dirty="0" err="1">
                <a:latin typeface="Courier"/>
                <a:cs typeface="Courier"/>
              </a:rPr>
              <a:t>math.h</a:t>
            </a:r>
            <a:r>
              <a:rPr lang="en-GB" b="1" dirty="0">
                <a:latin typeface="Courier"/>
                <a:cs typeface="Courier"/>
              </a:rPr>
              <a:t>&gt;</a:t>
            </a:r>
          </a:p>
          <a:p>
            <a:pPr lvl="1">
              <a:defRPr/>
            </a:pPr>
            <a:r>
              <a:rPr lang="en-GB" b="1" dirty="0">
                <a:latin typeface="Courier"/>
                <a:cs typeface="Courier"/>
              </a:rPr>
              <a:t>#include &lt;</a:t>
            </a:r>
            <a:r>
              <a:rPr lang="en-GB" b="1" dirty="0" err="1">
                <a:latin typeface="Courier"/>
                <a:cs typeface="Courier"/>
              </a:rPr>
              <a:t>string.h</a:t>
            </a:r>
            <a:r>
              <a:rPr lang="en-GB" b="1" dirty="0">
                <a:latin typeface="Courier"/>
                <a:cs typeface="Courier"/>
              </a:rPr>
              <a:t>&gt;</a:t>
            </a:r>
          </a:p>
          <a:p>
            <a:pPr lvl="1">
              <a:defRPr/>
            </a:pPr>
            <a:r>
              <a:rPr lang="en-GB" dirty="0"/>
              <a:t>…</a:t>
            </a:r>
          </a:p>
          <a:p>
            <a:pPr marL="542925" lvl="1" indent="0">
              <a:buNone/>
              <a:defRPr/>
            </a:pPr>
            <a:endParaRPr lang="en-GB" dirty="0"/>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81</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93986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re 1"/>
          <p:cNvSpPr>
            <a:spLocks noGrp="1"/>
          </p:cNvSpPr>
          <p:nvPr>
            <p:ph type="title"/>
          </p:nvPr>
        </p:nvSpPr>
        <p:spPr/>
        <p:txBody>
          <a:bodyPr/>
          <a:lstStyle/>
          <a:p>
            <a:r>
              <a:rPr lang="fr-FR" sz="2800" dirty="0" err="1">
                <a:latin typeface="Arial" charset="0"/>
                <a:cs typeface="ＭＳ Ｐゴシック" charset="0"/>
              </a:rPr>
              <a:t>Two</a:t>
            </a:r>
            <a:r>
              <a:rPr lang="fr-FR" sz="2800" dirty="0">
                <a:latin typeface="Arial" charset="0"/>
                <a:cs typeface="ＭＳ Ｐゴシック" charset="0"/>
              </a:rPr>
              <a:t> basic I/O </a:t>
            </a:r>
            <a:r>
              <a:rPr lang="fr-FR" sz="2800" dirty="0" err="1">
                <a:latin typeface="Arial" charset="0"/>
                <a:cs typeface="ＭＳ Ｐゴシック" charset="0"/>
              </a:rPr>
              <a:t>functions</a:t>
            </a:r>
            <a:r>
              <a:rPr lang="fr-FR" sz="2800" dirty="0">
                <a:latin typeface="Arial" charset="0"/>
                <a:cs typeface="ＭＳ Ｐゴシック" charset="0"/>
              </a:rPr>
              <a:t>!</a:t>
            </a:r>
          </a:p>
        </p:txBody>
      </p:sp>
      <p:sp>
        <p:nvSpPr>
          <p:cNvPr id="95234" name="Espace réservé du contenu 2"/>
          <p:cNvSpPr>
            <a:spLocks noGrp="1"/>
          </p:cNvSpPr>
          <p:nvPr>
            <p:ph idx="1"/>
          </p:nvPr>
        </p:nvSpPr>
        <p:spPr>
          <a:xfrm>
            <a:off x="323528" y="836712"/>
            <a:ext cx="8820472" cy="4537075"/>
          </a:xfrm>
        </p:spPr>
        <p:txBody>
          <a:bodyPr/>
          <a:lstStyle/>
          <a:p>
            <a:r>
              <a:rPr lang="fr-FR" dirty="0" err="1">
                <a:latin typeface="Arial" charset="0"/>
                <a:cs typeface="ＭＳ Ｐゴシック" charset="0"/>
              </a:rPr>
              <a:t>We</a:t>
            </a:r>
            <a:r>
              <a:rPr lang="fr-FR" dirty="0">
                <a:latin typeface="Arial" charset="0"/>
                <a:cs typeface="ＭＳ Ｐゴシック" charset="0"/>
              </a:rPr>
              <a:t> have </a:t>
            </a:r>
            <a:r>
              <a:rPr lang="fr-FR" dirty="0" err="1">
                <a:latin typeface="Arial" charset="0"/>
                <a:cs typeface="ＭＳ Ｐゴシック" charset="0"/>
              </a:rPr>
              <a:t>two</a:t>
            </a:r>
            <a:r>
              <a:rPr lang="fr-FR" dirty="0">
                <a:latin typeface="Arial" charset="0"/>
                <a:cs typeface="ＭＳ Ｐゴシック" charset="0"/>
              </a:rPr>
              <a:t> main </a:t>
            </a:r>
            <a:r>
              <a:rPr lang="fr-FR" dirty="0" err="1">
                <a:latin typeface="Arial" charset="0"/>
                <a:cs typeface="ＭＳ Ｐゴシック" charset="0"/>
              </a:rPr>
              <a:t>functions</a:t>
            </a:r>
            <a:r>
              <a:rPr lang="fr-FR" dirty="0">
                <a:latin typeface="Arial" charset="0"/>
                <a:cs typeface="ＭＳ Ｐゴシック" charset="0"/>
              </a:rPr>
              <a:t> for </a:t>
            </a:r>
            <a:r>
              <a:rPr lang="fr-FR" dirty="0" err="1">
                <a:latin typeface="Arial" charset="0"/>
                <a:cs typeface="ＭＳ Ｐゴシック" charset="0"/>
              </a:rPr>
              <a:t>read</a:t>
            </a:r>
            <a:r>
              <a:rPr lang="fr-FR" dirty="0">
                <a:latin typeface="Arial" charset="0"/>
                <a:cs typeface="ＭＳ Ｐゴシック" charset="0"/>
              </a:rPr>
              <a:t> and </a:t>
            </a:r>
            <a:r>
              <a:rPr lang="fr-FR" dirty="0" err="1">
                <a:latin typeface="Arial" charset="0"/>
                <a:cs typeface="ＭＳ Ｐゴシック" charset="0"/>
              </a:rPr>
              <a:t>write</a:t>
            </a:r>
            <a:r>
              <a:rPr lang="fr-FR" dirty="0">
                <a:latin typeface="Arial" charset="0"/>
                <a:cs typeface="ＭＳ Ｐゴシック" charset="0"/>
              </a:rPr>
              <a:t> to the standard input and </a:t>
            </a:r>
            <a:r>
              <a:rPr lang="fr-FR" dirty="0" err="1">
                <a:latin typeface="Arial" charset="0"/>
                <a:cs typeface="ＭＳ Ｐゴシック" charset="0"/>
              </a:rPr>
              <a:t>ouptut</a:t>
            </a:r>
            <a:r>
              <a:rPr lang="fr-FR" dirty="0">
                <a:latin typeface="Arial" charset="0"/>
                <a:ea typeface="ＭＳ Ｐゴシック" charset="0"/>
                <a:cs typeface="ＭＳ Ｐゴシック" charset="0"/>
              </a:rPr>
              <a:t>:</a:t>
            </a:r>
          </a:p>
          <a:p>
            <a:pPr lvl="1"/>
            <a:r>
              <a:rPr lang="fr-FR" dirty="0" err="1">
                <a:latin typeface="Arial" charset="0"/>
              </a:rPr>
              <a:t>Write</a:t>
            </a:r>
            <a:r>
              <a:rPr lang="fr-FR" dirty="0">
                <a:latin typeface="Arial" charset="0"/>
              </a:rPr>
              <a:t>: </a:t>
            </a:r>
            <a:r>
              <a:rPr lang="fr-FR" b="1" dirty="0" err="1">
                <a:latin typeface="Courier"/>
                <a:ea typeface="ＭＳ Ｐゴシック" charset="0"/>
                <a:cs typeface="Courier"/>
              </a:rPr>
              <a:t>int</a:t>
            </a:r>
            <a:r>
              <a:rPr lang="fr-FR" b="1" dirty="0">
                <a:latin typeface="Courier"/>
                <a:ea typeface="ＭＳ Ｐゴシック" charset="0"/>
                <a:cs typeface="Courier"/>
              </a:rPr>
              <a:t> </a:t>
            </a:r>
            <a:r>
              <a:rPr lang="fr-FR" b="1" dirty="0" err="1">
                <a:latin typeface="Courier"/>
                <a:ea typeface="ＭＳ Ｐゴシック" charset="0"/>
                <a:cs typeface="Courier"/>
              </a:rPr>
              <a:t>printf</a:t>
            </a:r>
            <a:r>
              <a:rPr lang="fr-FR" b="1" dirty="0">
                <a:latin typeface="Courier"/>
                <a:ea typeface="ＭＳ Ｐゴシック" charset="0"/>
                <a:cs typeface="Courier"/>
              </a:rPr>
              <a:t>(format,e</a:t>
            </a:r>
            <a:r>
              <a:rPr lang="fr-FR" b="1" baseline="-25000" dirty="0">
                <a:latin typeface="Courier"/>
                <a:ea typeface="ＭＳ Ｐゴシック" charset="0"/>
                <a:cs typeface="Courier"/>
              </a:rPr>
              <a:t>1</a:t>
            </a:r>
            <a:r>
              <a:rPr lang="fr-FR" b="1" dirty="0">
                <a:latin typeface="Courier"/>
                <a:ea typeface="ＭＳ Ｐゴシック" charset="0"/>
                <a:cs typeface="Courier"/>
              </a:rPr>
              <a:t>,e</a:t>
            </a:r>
            <a:r>
              <a:rPr lang="fr-FR" b="1" baseline="-25000" dirty="0">
                <a:latin typeface="Courier"/>
                <a:ea typeface="ＭＳ Ｐゴシック" charset="0"/>
                <a:cs typeface="Courier"/>
              </a:rPr>
              <a:t>2</a:t>
            </a:r>
            <a:r>
              <a:rPr lang="fr-FR" b="1" dirty="0">
                <a:latin typeface="Courier"/>
                <a:ea typeface="ＭＳ Ｐゴシック" charset="0"/>
                <a:cs typeface="Courier"/>
              </a:rPr>
              <a:t>,…,e</a:t>
            </a:r>
            <a:r>
              <a:rPr lang="fr-FR" b="1" baseline="-25000" dirty="0">
                <a:latin typeface="Courier"/>
                <a:ea typeface="ＭＳ Ｐゴシック" charset="0"/>
                <a:cs typeface="Courier"/>
              </a:rPr>
              <a:t>n</a:t>
            </a:r>
            <a:r>
              <a:rPr lang="fr-FR" b="1" dirty="0">
                <a:latin typeface="Courier"/>
                <a:ea typeface="ＭＳ Ｐゴシック" charset="0"/>
                <a:cs typeface="Courier"/>
              </a:rPr>
              <a:t>);</a:t>
            </a:r>
          </a:p>
          <a:p>
            <a:pPr lvl="1"/>
            <a:r>
              <a:rPr lang="fr-FR" dirty="0">
                <a:latin typeface="Arial" charset="0"/>
                <a:ea typeface="ＭＳ Ｐゴシック" charset="0"/>
              </a:rPr>
              <a:t>Read</a:t>
            </a:r>
            <a:r>
              <a:rPr lang="fr-FR" dirty="0">
                <a:ea typeface="ＭＳ Ｐゴシック" charset="0"/>
                <a:cs typeface="Courier"/>
              </a:rPr>
              <a:t>: </a:t>
            </a:r>
            <a:r>
              <a:rPr lang="fr-FR" b="1" dirty="0" err="1">
                <a:latin typeface="Courier"/>
                <a:ea typeface="ＭＳ Ｐゴシック" charset="0"/>
                <a:cs typeface="Courier"/>
              </a:rPr>
              <a:t>int</a:t>
            </a:r>
            <a:r>
              <a:rPr lang="fr-FR" b="1" dirty="0">
                <a:latin typeface="Courier"/>
                <a:ea typeface="ＭＳ Ｐゴシック" charset="0"/>
                <a:cs typeface="Courier"/>
              </a:rPr>
              <a:t> </a:t>
            </a:r>
            <a:r>
              <a:rPr lang="fr-FR" b="1" dirty="0" err="1">
                <a:latin typeface="Courier"/>
                <a:ea typeface="ＭＳ Ｐゴシック" charset="0"/>
                <a:cs typeface="Courier"/>
              </a:rPr>
              <a:t>scanf</a:t>
            </a:r>
            <a:r>
              <a:rPr lang="fr-FR" b="1" dirty="0">
                <a:latin typeface="Courier"/>
                <a:ea typeface="ＭＳ Ｐゴシック" charset="0"/>
                <a:cs typeface="Courier"/>
              </a:rPr>
              <a:t>(format,a</a:t>
            </a:r>
            <a:r>
              <a:rPr lang="fr-FR" b="1" baseline="-25000" dirty="0">
                <a:latin typeface="Courier"/>
                <a:ea typeface="ＭＳ Ｐゴシック" charset="0"/>
                <a:cs typeface="Courier"/>
              </a:rPr>
              <a:t>1</a:t>
            </a:r>
            <a:r>
              <a:rPr lang="fr-FR" b="1" dirty="0">
                <a:latin typeface="Courier"/>
                <a:ea typeface="ＭＳ Ｐゴシック" charset="0"/>
                <a:cs typeface="Courier"/>
              </a:rPr>
              <a:t>,a</a:t>
            </a:r>
            <a:r>
              <a:rPr lang="fr-FR" b="1" baseline="-25000" dirty="0">
                <a:latin typeface="Courier"/>
                <a:ea typeface="ＭＳ Ｐゴシック" charset="0"/>
                <a:cs typeface="Courier"/>
              </a:rPr>
              <a:t>2</a:t>
            </a:r>
            <a:r>
              <a:rPr lang="fr-FR" b="1" dirty="0">
                <a:latin typeface="Courier"/>
                <a:ea typeface="ＭＳ Ｐゴシック" charset="0"/>
                <a:cs typeface="Courier"/>
              </a:rPr>
              <a:t>,…,a</a:t>
            </a:r>
            <a:r>
              <a:rPr lang="fr-FR" b="1" baseline="-25000" dirty="0">
                <a:latin typeface="Courier"/>
                <a:ea typeface="ＭＳ Ｐゴシック" charset="0"/>
                <a:cs typeface="Courier"/>
              </a:rPr>
              <a:t>n</a:t>
            </a:r>
            <a:r>
              <a:rPr lang="fr-FR" b="1" dirty="0">
                <a:latin typeface="Courier"/>
                <a:ea typeface="ＭＳ Ｐゴシック" charset="0"/>
                <a:cs typeface="Courier"/>
              </a:rPr>
              <a:t> );</a:t>
            </a:r>
          </a:p>
          <a:p>
            <a:pPr lvl="1"/>
            <a:endParaRPr lang="fr-FR" b="1" dirty="0">
              <a:latin typeface="Courier"/>
              <a:ea typeface="ＭＳ Ｐゴシック" charset="0"/>
              <a:cs typeface="Courier"/>
            </a:endParaRPr>
          </a:p>
          <a:p>
            <a:pPr lvl="1"/>
            <a:endParaRPr lang="fr-FR" sz="1000" b="1" dirty="0">
              <a:latin typeface="Arial" charset="0"/>
              <a:ea typeface="ＭＳ Ｐゴシック" charset="0"/>
            </a:endParaRPr>
          </a:p>
          <a:p>
            <a:pPr marL="363538" lvl="1" indent="-363538">
              <a:buSzTx/>
              <a:buBlip>
                <a:blip r:embed="rId2"/>
              </a:buBlip>
            </a:pPr>
            <a:r>
              <a:rPr lang="fr-FR" sz="2400" dirty="0">
                <a:latin typeface="Arial" charset="0"/>
                <a:cs typeface="ＭＳ Ｐゴシック" charset="0"/>
              </a:rPr>
              <a:t>To use </a:t>
            </a:r>
            <a:r>
              <a:rPr lang="fr-FR" sz="2400" dirty="0" err="1">
                <a:latin typeface="Arial" charset="0"/>
                <a:cs typeface="ＭＳ Ｐゴシック" charset="0"/>
              </a:rPr>
              <a:t>them</a:t>
            </a:r>
            <a:r>
              <a:rPr lang="fr-FR" sz="2400" dirty="0">
                <a:latin typeface="Arial" charset="0"/>
                <a:cs typeface="ＭＳ Ｐゴシック" charset="0"/>
              </a:rPr>
              <a:t> </a:t>
            </a:r>
            <a:r>
              <a:rPr lang="fr-FR" sz="2400" dirty="0" err="1">
                <a:latin typeface="Arial" charset="0"/>
                <a:cs typeface="ＭＳ Ｐゴシック" charset="0"/>
              </a:rPr>
              <a:t>we</a:t>
            </a:r>
            <a:r>
              <a:rPr lang="fr-FR" sz="2400" dirty="0">
                <a:latin typeface="Arial" charset="0"/>
                <a:cs typeface="ＭＳ Ｐゴシック" charset="0"/>
              </a:rPr>
              <a:t> </a:t>
            </a:r>
            <a:r>
              <a:rPr lang="fr-FR" sz="2400" dirty="0" err="1">
                <a:latin typeface="Arial" charset="0"/>
                <a:cs typeface="ＭＳ Ｐゴシック" charset="0"/>
              </a:rPr>
              <a:t>need</a:t>
            </a:r>
            <a:r>
              <a:rPr lang="fr-FR" sz="2400" dirty="0">
                <a:latin typeface="Arial" charset="0"/>
                <a:cs typeface="ＭＳ Ｐゴシック" charset="0"/>
              </a:rPr>
              <a:t> to </a:t>
            </a:r>
            <a:r>
              <a:rPr lang="fr-FR" sz="2400" dirty="0" err="1">
                <a:latin typeface="Arial" charset="0"/>
                <a:cs typeface="ＭＳ Ｐゴシック" charset="0"/>
              </a:rPr>
              <a:t>add</a:t>
            </a:r>
            <a:r>
              <a:rPr lang="fr-FR" sz="2400" dirty="0">
                <a:latin typeface="Arial" charset="0"/>
                <a:cs typeface="ＭＳ Ｐゴシック" charset="0"/>
              </a:rPr>
              <a:t> the directive</a:t>
            </a:r>
          </a:p>
          <a:p>
            <a:pPr marL="0" lvl="1" indent="0">
              <a:buSzTx/>
              <a:buNone/>
            </a:pPr>
            <a:r>
              <a:rPr lang="en-GB" sz="2400" b="1" dirty="0">
                <a:latin typeface="Courier"/>
                <a:cs typeface="Courier"/>
              </a:rPr>
              <a:t>#include &lt;</a:t>
            </a:r>
            <a:r>
              <a:rPr lang="en-GB" sz="2400" b="1" dirty="0" err="1">
                <a:latin typeface="Courier"/>
                <a:cs typeface="Courier"/>
              </a:rPr>
              <a:t>stdio.h</a:t>
            </a:r>
            <a:r>
              <a:rPr lang="en-GB" sz="2400" b="1" dirty="0">
                <a:latin typeface="Courier"/>
                <a:cs typeface="Courier"/>
              </a:rPr>
              <a:t>&gt;</a:t>
            </a:r>
          </a:p>
          <a:p>
            <a:pPr marL="0" lvl="1" indent="0">
              <a:buSzTx/>
              <a:buNone/>
            </a:pPr>
            <a:endParaRPr lang="en-GB" sz="80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823279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re 1"/>
          <p:cNvSpPr>
            <a:spLocks noGrp="1"/>
          </p:cNvSpPr>
          <p:nvPr>
            <p:ph type="title"/>
          </p:nvPr>
        </p:nvSpPr>
        <p:spPr/>
        <p:txBody>
          <a:bodyPr/>
          <a:lstStyle/>
          <a:p>
            <a:r>
              <a:rPr lang="fr-FR" sz="2800" dirty="0" err="1">
                <a:latin typeface="Arial" charset="0"/>
                <a:ea typeface="ＭＳ Ｐゴシック" charset="0"/>
                <a:cs typeface="ＭＳ Ｐゴシック" charset="0"/>
              </a:rPr>
              <a:t>Formated</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write</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printf</a:t>
            </a:r>
            <a:r>
              <a:rPr lang="fr-FR" sz="2800" dirty="0">
                <a:latin typeface="Arial" charset="0"/>
                <a:ea typeface="ＭＳ Ｐゴシック" charset="0"/>
                <a:cs typeface="ＭＳ Ｐゴシック" charset="0"/>
              </a:rPr>
              <a:t>(…)</a:t>
            </a:r>
          </a:p>
        </p:txBody>
      </p:sp>
      <p:sp>
        <p:nvSpPr>
          <p:cNvPr id="97282" name="Espace réservé du contenu 2"/>
          <p:cNvSpPr>
            <a:spLocks noGrp="1"/>
          </p:cNvSpPr>
          <p:nvPr>
            <p:ph idx="1"/>
          </p:nvPr>
        </p:nvSpPr>
        <p:spPr>
          <a:xfrm>
            <a:off x="359532" y="872716"/>
            <a:ext cx="8784468" cy="4537075"/>
          </a:xfrm>
        </p:spPr>
        <p:txBody>
          <a:bodyPr/>
          <a:lstStyle/>
          <a:p>
            <a:r>
              <a:rPr lang="en-GB" dirty="0">
                <a:latin typeface="Arial" charset="0"/>
                <a:cs typeface="ＭＳ Ｐゴシック" charset="0"/>
              </a:rPr>
              <a:t>Syntax</a:t>
            </a:r>
          </a:p>
          <a:p>
            <a:pPr lvl="1"/>
            <a:r>
              <a:rPr lang="en-GB" b="1" dirty="0" err="1">
                <a:latin typeface="Courier"/>
                <a:cs typeface="Courier"/>
              </a:rPr>
              <a:t>int</a:t>
            </a:r>
            <a:r>
              <a:rPr lang="en-GB" b="1" dirty="0">
                <a:latin typeface="Courier"/>
                <a:cs typeface="Courier"/>
              </a:rPr>
              <a:t> </a:t>
            </a:r>
            <a:r>
              <a:rPr lang="en-GB" b="1" dirty="0" err="1">
                <a:latin typeface="Courier"/>
                <a:cs typeface="Courier"/>
              </a:rPr>
              <a:t>printf</a:t>
            </a:r>
            <a:r>
              <a:rPr lang="en-GB" b="1" dirty="0">
                <a:latin typeface="Courier"/>
                <a:cs typeface="Courier"/>
              </a:rPr>
              <a:t>(format,e</a:t>
            </a:r>
            <a:r>
              <a:rPr lang="en-GB" b="1" baseline="-25000" dirty="0">
                <a:latin typeface="Courier"/>
                <a:cs typeface="Courier"/>
              </a:rPr>
              <a:t>1</a:t>
            </a:r>
            <a:r>
              <a:rPr lang="en-GB" b="1" dirty="0">
                <a:latin typeface="Courier"/>
                <a:cs typeface="Courier"/>
              </a:rPr>
              <a:t>,e</a:t>
            </a:r>
            <a:r>
              <a:rPr lang="en-GB" b="1" baseline="-25000" dirty="0">
                <a:latin typeface="Courier"/>
                <a:cs typeface="Courier"/>
              </a:rPr>
              <a:t>2</a:t>
            </a:r>
            <a:r>
              <a:rPr lang="en-GB" b="1" dirty="0">
                <a:latin typeface="Courier"/>
                <a:cs typeface="Courier"/>
              </a:rPr>
              <a:t>,…,e</a:t>
            </a:r>
            <a:r>
              <a:rPr lang="en-GB" b="1" baseline="-25000" dirty="0">
                <a:latin typeface="Courier"/>
                <a:cs typeface="Courier"/>
              </a:rPr>
              <a:t>n</a:t>
            </a:r>
            <a:r>
              <a:rPr lang="en-GB" b="1" dirty="0">
                <a:latin typeface="Courier"/>
                <a:cs typeface="Courier"/>
              </a:rPr>
              <a:t>);</a:t>
            </a:r>
          </a:p>
          <a:p>
            <a:pPr lvl="1"/>
            <a:endParaRPr lang="en-GB" sz="1000" b="1" dirty="0">
              <a:latin typeface="Courier"/>
              <a:cs typeface="Courier"/>
            </a:endParaRPr>
          </a:p>
          <a:p>
            <a:r>
              <a:rPr lang="en-GB" dirty="0">
                <a:latin typeface="Arial" charset="0"/>
                <a:cs typeface="ＭＳ Ｐゴシック" charset="0"/>
              </a:rPr>
              <a:t>Description</a:t>
            </a:r>
          </a:p>
          <a:p>
            <a:pPr lvl="1"/>
            <a:r>
              <a:rPr lang="en-GB" dirty="0">
                <a:latin typeface="Arial" charset="0"/>
              </a:rPr>
              <a:t>Writes (displays) the parameters </a:t>
            </a:r>
            <a:r>
              <a:rPr lang="en-GB" b="1" dirty="0">
                <a:latin typeface="Courier"/>
                <a:cs typeface="Courier"/>
              </a:rPr>
              <a:t>e</a:t>
            </a:r>
            <a:r>
              <a:rPr lang="en-GB" b="1" baseline="-25000" dirty="0">
                <a:latin typeface="Courier"/>
                <a:cs typeface="Courier"/>
              </a:rPr>
              <a:t>1</a:t>
            </a:r>
            <a:r>
              <a:rPr lang="en-GB" b="1" dirty="0">
                <a:latin typeface="Courier"/>
                <a:cs typeface="Courier"/>
              </a:rPr>
              <a:t>,e</a:t>
            </a:r>
            <a:r>
              <a:rPr lang="en-GB" b="1" baseline="-25000" dirty="0">
                <a:latin typeface="Courier"/>
                <a:cs typeface="Courier"/>
              </a:rPr>
              <a:t>2</a:t>
            </a:r>
            <a:r>
              <a:rPr lang="en-GB" b="1" dirty="0">
                <a:latin typeface="Courier"/>
                <a:cs typeface="Courier"/>
              </a:rPr>
              <a:t>,…,e</a:t>
            </a:r>
            <a:r>
              <a:rPr lang="en-GB" b="1" baseline="-25000" dirty="0">
                <a:latin typeface="Courier"/>
                <a:cs typeface="Courier"/>
              </a:rPr>
              <a:t>n</a:t>
            </a:r>
            <a:r>
              <a:rPr lang="en-GB" dirty="0">
                <a:latin typeface="Arial" charset="0"/>
              </a:rPr>
              <a:t> to the standard output based on the parameter </a:t>
            </a:r>
            <a:r>
              <a:rPr lang="en-GB" b="1" dirty="0">
                <a:latin typeface="Courier"/>
                <a:cs typeface="Courier"/>
              </a:rPr>
              <a:t>format</a:t>
            </a:r>
          </a:p>
          <a:p>
            <a:pPr lvl="1"/>
            <a:r>
              <a:rPr lang="en-GB" dirty="0">
                <a:latin typeface="Arial" charset="0"/>
              </a:rPr>
              <a:t>The </a:t>
            </a:r>
            <a:r>
              <a:rPr lang="en-GB" b="1" dirty="0">
                <a:latin typeface="Courier"/>
                <a:cs typeface="Courier"/>
              </a:rPr>
              <a:t>format</a:t>
            </a:r>
            <a:r>
              <a:rPr lang="en-GB" dirty="0">
                <a:latin typeface="Arial" charset="0"/>
              </a:rPr>
              <a:t> consists of I/O expressions and, potentially, text</a:t>
            </a:r>
            <a:r>
              <a:rPr lang="en-GB" dirty="0">
                <a:cs typeface="Courier"/>
              </a:rPr>
              <a:t>. </a:t>
            </a:r>
          </a:p>
          <a:p>
            <a:pPr lvl="1"/>
            <a:r>
              <a:rPr lang="en-GB" dirty="0">
                <a:cs typeface="Courier"/>
              </a:rPr>
              <a:t>Each I/O expression describes </a:t>
            </a:r>
            <a:r>
              <a:rPr lang="en-GB" dirty="0">
                <a:latin typeface="Arial" charset="0"/>
              </a:rPr>
              <a:t>how the writing of </a:t>
            </a:r>
            <a:r>
              <a:rPr lang="en-GB" b="1" dirty="0">
                <a:latin typeface="Arial" charset="0"/>
              </a:rPr>
              <a:t>one</a:t>
            </a:r>
            <a:r>
              <a:rPr lang="en-GB" dirty="0">
                <a:latin typeface="Arial" charset="0"/>
              </a:rPr>
              <a:t> parameter </a:t>
            </a:r>
            <a:r>
              <a:rPr lang="en-GB" b="1" dirty="0" err="1">
                <a:latin typeface="Courier"/>
                <a:cs typeface="Courier"/>
              </a:rPr>
              <a:t>e</a:t>
            </a:r>
            <a:r>
              <a:rPr lang="en-GB" b="1" baseline="-25000" dirty="0" err="1">
                <a:latin typeface="Courier"/>
                <a:cs typeface="Courier"/>
              </a:rPr>
              <a:t>i</a:t>
            </a:r>
            <a:r>
              <a:rPr lang="en-GB" b="1" baseline="-25000" dirty="0">
                <a:latin typeface="Courier"/>
                <a:cs typeface="Courier"/>
              </a:rPr>
              <a:t> </a:t>
            </a:r>
            <a:r>
              <a:rPr lang="en-GB" dirty="0">
                <a:latin typeface="Arial" charset="0"/>
              </a:rPr>
              <a:t>will be done using the character </a:t>
            </a:r>
            <a:r>
              <a:rPr lang="en-GB" b="1" dirty="0">
                <a:latin typeface="Courier"/>
                <a:cs typeface="Courier"/>
              </a:rPr>
              <a:t>%</a:t>
            </a:r>
          </a:p>
          <a:p>
            <a:pPr lvl="1"/>
            <a:r>
              <a:rPr lang="en-GB" dirty="0">
                <a:latin typeface="Arial" charset="0"/>
              </a:rPr>
              <a:t>It can have a variable number of parameters, but</a:t>
            </a:r>
          </a:p>
          <a:p>
            <a:pPr lvl="2"/>
            <a:r>
              <a:rPr lang="en-GB" dirty="0">
                <a:latin typeface="Arial" charset="0"/>
              </a:rPr>
              <a:t>The number of </a:t>
            </a:r>
            <a:r>
              <a:rPr lang="en-GB" b="1" dirty="0" err="1">
                <a:latin typeface="Courier"/>
                <a:cs typeface="Courier"/>
              </a:rPr>
              <a:t>e</a:t>
            </a:r>
            <a:r>
              <a:rPr lang="en-GB" b="1" baseline="-25000" dirty="0" err="1">
                <a:latin typeface="Courier"/>
                <a:cs typeface="Courier"/>
              </a:rPr>
              <a:t>i</a:t>
            </a:r>
            <a:r>
              <a:rPr lang="en-GB" b="1" baseline="-25000" dirty="0">
                <a:latin typeface="Courier"/>
                <a:cs typeface="Courier"/>
              </a:rPr>
              <a:t> </a:t>
            </a:r>
            <a:r>
              <a:rPr lang="en-GB" dirty="0">
                <a:latin typeface="Arial" charset="0"/>
              </a:rPr>
              <a:t>has to correspond to the number of I/O expressions specified in the </a:t>
            </a:r>
            <a:r>
              <a:rPr lang="en-GB" b="1" dirty="0">
                <a:latin typeface="Courier"/>
                <a:cs typeface="Courier"/>
              </a:rPr>
              <a:t>format</a:t>
            </a:r>
            <a:r>
              <a:rPr lang="en-GB" dirty="0">
                <a:latin typeface="Arial" charset="0"/>
              </a:rPr>
              <a:t> </a:t>
            </a:r>
          </a:p>
          <a:p>
            <a:pPr lvl="2"/>
            <a:endParaRPr lang="en-GB" sz="1000" b="1" baseline="-25000" dirty="0">
              <a:latin typeface="Arial" charset="0"/>
            </a:endParaRPr>
          </a:p>
          <a:p>
            <a:r>
              <a:rPr lang="en-GB" dirty="0">
                <a:latin typeface="Arial" charset="0"/>
                <a:cs typeface="ＭＳ Ｐゴシック" charset="0"/>
              </a:rPr>
              <a:t>Result</a:t>
            </a:r>
          </a:p>
          <a:p>
            <a:pPr lvl="1"/>
            <a:r>
              <a:rPr lang="en-GB" dirty="0">
                <a:latin typeface="Arial" charset="0"/>
              </a:rPr>
              <a:t>Number of displayed characters (value &lt; 0 in case of an error)</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83</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16623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8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28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728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28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728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728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728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28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re 1"/>
          <p:cNvSpPr>
            <a:spLocks noGrp="1"/>
          </p:cNvSpPr>
          <p:nvPr>
            <p:ph type="title"/>
          </p:nvPr>
        </p:nvSpPr>
        <p:spPr/>
        <p:txBody>
          <a:bodyPr/>
          <a:lstStyle/>
          <a:p>
            <a:r>
              <a:rPr lang="fr-FR" sz="2800" dirty="0" err="1">
                <a:latin typeface="Arial" charset="0"/>
                <a:ea typeface="ＭＳ Ｐゴシック" charset="0"/>
                <a:cs typeface="ＭＳ Ｐゴシック" charset="0"/>
              </a:rPr>
              <a:t>Formated</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read</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scanf</a:t>
            </a:r>
            <a:r>
              <a:rPr lang="fr-FR" sz="2800" dirty="0">
                <a:latin typeface="Arial" charset="0"/>
                <a:ea typeface="ＭＳ Ｐゴシック" charset="0"/>
                <a:cs typeface="ＭＳ Ｐゴシック" charset="0"/>
              </a:rPr>
              <a:t>(…)</a:t>
            </a:r>
          </a:p>
        </p:txBody>
      </p:sp>
      <p:sp>
        <p:nvSpPr>
          <p:cNvPr id="98306" name="Espace réservé du contenu 2"/>
          <p:cNvSpPr>
            <a:spLocks noGrp="1"/>
          </p:cNvSpPr>
          <p:nvPr>
            <p:ph idx="1"/>
          </p:nvPr>
        </p:nvSpPr>
        <p:spPr>
          <a:xfrm>
            <a:off x="251520" y="872716"/>
            <a:ext cx="8748972" cy="4537075"/>
          </a:xfrm>
        </p:spPr>
        <p:txBody>
          <a:bodyPr/>
          <a:lstStyle/>
          <a:p>
            <a:r>
              <a:rPr lang="en-US" dirty="0">
                <a:latin typeface="Arial" charset="0"/>
                <a:cs typeface="ＭＳ Ｐゴシック" charset="0"/>
              </a:rPr>
              <a:t>Syntax</a:t>
            </a:r>
          </a:p>
          <a:p>
            <a:pPr lvl="1"/>
            <a:r>
              <a:rPr lang="en-US" b="1" dirty="0" err="1">
                <a:latin typeface="Courier"/>
                <a:cs typeface="Courier"/>
              </a:rPr>
              <a:t>int</a:t>
            </a:r>
            <a:r>
              <a:rPr lang="en-US" b="1" dirty="0">
                <a:latin typeface="Courier"/>
                <a:cs typeface="Courier"/>
              </a:rPr>
              <a:t> </a:t>
            </a:r>
            <a:r>
              <a:rPr lang="en-US" b="1" dirty="0" err="1">
                <a:latin typeface="Courier"/>
                <a:cs typeface="Courier"/>
              </a:rPr>
              <a:t>scanf</a:t>
            </a:r>
            <a:r>
              <a:rPr lang="en-US" b="1" dirty="0">
                <a:latin typeface="Courier"/>
                <a:cs typeface="Courier"/>
              </a:rPr>
              <a:t>(format,a</a:t>
            </a:r>
            <a:r>
              <a:rPr lang="en-US" b="1" baseline="-25000" dirty="0">
                <a:latin typeface="Courier"/>
                <a:cs typeface="Courier"/>
              </a:rPr>
              <a:t>1</a:t>
            </a:r>
            <a:r>
              <a:rPr lang="en-US" b="1" dirty="0">
                <a:latin typeface="Courier"/>
                <a:cs typeface="Courier"/>
              </a:rPr>
              <a:t>,a</a:t>
            </a:r>
            <a:r>
              <a:rPr lang="en-US" b="1" baseline="-25000" dirty="0">
                <a:latin typeface="Courier"/>
                <a:cs typeface="Courier"/>
              </a:rPr>
              <a:t>2</a:t>
            </a:r>
            <a:r>
              <a:rPr lang="en-US" b="1" dirty="0">
                <a:latin typeface="Courier"/>
                <a:cs typeface="Courier"/>
              </a:rPr>
              <a:t>,…,a</a:t>
            </a:r>
            <a:r>
              <a:rPr lang="en-US" b="1" baseline="-25000" dirty="0">
                <a:latin typeface="Courier"/>
                <a:cs typeface="Courier"/>
              </a:rPr>
              <a:t>n</a:t>
            </a:r>
            <a:r>
              <a:rPr lang="en-US" b="1" dirty="0">
                <a:latin typeface="Courier"/>
                <a:cs typeface="Courier"/>
              </a:rPr>
              <a:t>);</a:t>
            </a:r>
          </a:p>
          <a:p>
            <a:pPr lvl="1"/>
            <a:endParaRPr lang="en-US" sz="1050" b="1" dirty="0">
              <a:latin typeface="Courier"/>
              <a:cs typeface="Courier"/>
            </a:endParaRPr>
          </a:p>
          <a:p>
            <a:r>
              <a:rPr lang="en-US" dirty="0">
                <a:latin typeface="Arial" charset="0"/>
                <a:cs typeface="ＭＳ Ｐゴシック" charset="0"/>
              </a:rPr>
              <a:t>Description</a:t>
            </a:r>
          </a:p>
          <a:p>
            <a:pPr lvl="1"/>
            <a:r>
              <a:rPr lang="en-US" dirty="0">
                <a:latin typeface="Arial" charset="0"/>
              </a:rPr>
              <a:t>Reads from the standard input (keyboard) the values and interprets them based on the parameter </a:t>
            </a:r>
            <a:r>
              <a:rPr lang="en-US" b="1" dirty="0">
                <a:latin typeface="Courier"/>
                <a:cs typeface="Courier"/>
              </a:rPr>
              <a:t>format</a:t>
            </a:r>
            <a:r>
              <a:rPr lang="en-US" dirty="0">
                <a:latin typeface="Arial" charset="0"/>
              </a:rPr>
              <a:t>  </a:t>
            </a:r>
          </a:p>
          <a:p>
            <a:pPr lvl="1"/>
            <a:r>
              <a:rPr lang="en-US" dirty="0">
                <a:latin typeface="Arial" charset="0"/>
              </a:rPr>
              <a:t>It assigns each read value to the variables, whose addresses are given by the parameters </a:t>
            </a:r>
            <a:r>
              <a:rPr lang="en-US" b="1" dirty="0">
                <a:latin typeface="Courier"/>
                <a:cs typeface="Courier"/>
              </a:rPr>
              <a:t>a</a:t>
            </a:r>
            <a:r>
              <a:rPr lang="en-US" b="1" baseline="-25000" dirty="0">
                <a:latin typeface="Courier"/>
                <a:cs typeface="Courier"/>
              </a:rPr>
              <a:t>1</a:t>
            </a:r>
            <a:r>
              <a:rPr lang="en-US" b="1" dirty="0">
                <a:latin typeface="Courier"/>
                <a:cs typeface="Courier"/>
              </a:rPr>
              <a:t>,a</a:t>
            </a:r>
            <a:r>
              <a:rPr lang="en-US" b="1" baseline="-25000" dirty="0">
                <a:latin typeface="Courier"/>
                <a:cs typeface="Courier"/>
              </a:rPr>
              <a:t>2</a:t>
            </a:r>
            <a:r>
              <a:rPr lang="en-US" b="1" dirty="0">
                <a:latin typeface="Courier"/>
                <a:cs typeface="Courier"/>
              </a:rPr>
              <a:t>,…,a</a:t>
            </a:r>
            <a:r>
              <a:rPr lang="en-US" b="1" baseline="-25000" dirty="0">
                <a:latin typeface="Courier"/>
                <a:cs typeface="Courier"/>
              </a:rPr>
              <a:t>n</a:t>
            </a:r>
          </a:p>
          <a:p>
            <a:pPr lvl="2"/>
            <a:r>
              <a:rPr lang="en-US" dirty="0">
                <a:latin typeface="Arial" charset="0"/>
              </a:rPr>
              <a:t>Address of a variable is noted by the operand </a:t>
            </a:r>
            <a:r>
              <a:rPr lang="en-US" b="1" dirty="0">
                <a:latin typeface="Courier"/>
                <a:cs typeface="Courier"/>
              </a:rPr>
              <a:t>&amp;</a:t>
            </a:r>
            <a:r>
              <a:rPr lang="en-US" dirty="0">
                <a:latin typeface="Arial" charset="0"/>
              </a:rPr>
              <a:t> </a:t>
            </a:r>
            <a:r>
              <a:rPr lang="en-US" b="1" dirty="0">
                <a:latin typeface="Courier"/>
                <a:cs typeface="Courier"/>
              </a:rPr>
              <a:t>&amp;</a:t>
            </a:r>
            <a:r>
              <a:rPr lang="en-US" b="1" dirty="0" err="1">
                <a:latin typeface="Courier"/>
                <a:cs typeface="Courier"/>
              </a:rPr>
              <a:t>nom_variable</a:t>
            </a:r>
            <a:endParaRPr lang="en-US" b="1" baseline="-25000" dirty="0">
              <a:latin typeface="Courier"/>
              <a:cs typeface="Courier"/>
            </a:endParaRPr>
          </a:p>
          <a:p>
            <a:pPr lvl="1"/>
            <a:r>
              <a:rPr lang="en-US" dirty="0">
                <a:latin typeface="Arial" charset="0"/>
              </a:rPr>
              <a:t>It can have a variable number of parameters, but</a:t>
            </a:r>
          </a:p>
          <a:p>
            <a:pPr lvl="2"/>
            <a:r>
              <a:rPr lang="en-US" dirty="0">
                <a:latin typeface="Arial" charset="0"/>
              </a:rPr>
              <a:t>The number of </a:t>
            </a:r>
            <a:r>
              <a:rPr lang="en-US" b="1" dirty="0" err="1">
                <a:latin typeface="Courier"/>
                <a:cs typeface="Courier"/>
              </a:rPr>
              <a:t>a</a:t>
            </a:r>
            <a:r>
              <a:rPr lang="en-US" b="1" baseline="-25000" dirty="0" err="1">
                <a:latin typeface="Courier"/>
                <a:cs typeface="Courier"/>
              </a:rPr>
              <a:t>i</a:t>
            </a:r>
            <a:r>
              <a:rPr lang="en-US" b="1" baseline="-25000" dirty="0">
                <a:latin typeface="Courier"/>
                <a:cs typeface="Courier"/>
              </a:rPr>
              <a:t> </a:t>
            </a:r>
            <a:r>
              <a:rPr lang="en-US" dirty="0">
                <a:latin typeface="Arial" charset="0"/>
              </a:rPr>
              <a:t>has to correspond to the number of I/O expressions specified in the </a:t>
            </a:r>
            <a:r>
              <a:rPr lang="en-GB" b="1" dirty="0">
                <a:latin typeface="Courier"/>
                <a:cs typeface="Courier"/>
              </a:rPr>
              <a:t>format</a:t>
            </a:r>
            <a:r>
              <a:rPr lang="en-GB" dirty="0">
                <a:latin typeface="Arial" charset="0"/>
              </a:rPr>
              <a:t> </a:t>
            </a:r>
            <a:endParaRPr lang="en-US" b="1" baseline="-25000" dirty="0">
              <a:latin typeface="Arial" charset="0"/>
            </a:endParaRPr>
          </a:p>
          <a:p>
            <a:pPr lvl="1"/>
            <a:endParaRPr lang="en-US" sz="1000" dirty="0">
              <a:latin typeface="Arial" charset="0"/>
            </a:endParaRPr>
          </a:p>
          <a:p>
            <a:r>
              <a:rPr lang="en-US" dirty="0">
                <a:latin typeface="Arial" charset="0"/>
                <a:cs typeface="ＭＳ Ｐゴシック" charset="0"/>
              </a:rPr>
              <a:t>Result</a:t>
            </a:r>
          </a:p>
          <a:p>
            <a:pPr lvl="1"/>
            <a:r>
              <a:rPr lang="en-US" dirty="0">
                <a:latin typeface="Arial" charset="0"/>
              </a:rPr>
              <a:t>Returns the number of elements correctly assigned</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84</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8611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30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30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830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0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8306">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830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re 1"/>
          <p:cNvSpPr>
            <a:spLocks noGrp="1"/>
          </p:cNvSpPr>
          <p:nvPr>
            <p:ph type="title"/>
          </p:nvPr>
        </p:nvSpPr>
        <p:spPr/>
        <p:txBody>
          <a:bodyPr/>
          <a:lstStyle/>
          <a:p>
            <a:r>
              <a:rPr lang="fr-FR" sz="2800" dirty="0">
                <a:latin typeface="Arial" charset="0"/>
                <a:cs typeface="ＭＳ Ｐゴシック" charset="0"/>
              </a:rPr>
              <a:t>Format of I/O expressions</a:t>
            </a:r>
          </a:p>
        </p:txBody>
      </p:sp>
      <p:sp>
        <p:nvSpPr>
          <p:cNvPr id="96258" name="Espace réservé du contenu 2"/>
          <p:cNvSpPr>
            <a:spLocks noGrp="1"/>
          </p:cNvSpPr>
          <p:nvPr>
            <p:ph idx="1"/>
          </p:nvPr>
        </p:nvSpPr>
        <p:spPr>
          <a:xfrm>
            <a:off x="359532" y="944724"/>
            <a:ext cx="8784468" cy="4537075"/>
          </a:xfrm>
        </p:spPr>
        <p:txBody>
          <a:bodyPr/>
          <a:lstStyle/>
          <a:p>
            <a:r>
              <a:rPr lang="en-GB" b="1" dirty="0">
                <a:latin typeface="Courier"/>
                <a:cs typeface="Courier"/>
              </a:rPr>
              <a:t>%d</a:t>
            </a:r>
            <a:r>
              <a:rPr lang="en-GB" dirty="0">
                <a:cs typeface="Courier"/>
              </a:rPr>
              <a:t>: </a:t>
            </a:r>
            <a:r>
              <a:rPr lang="en-GB" dirty="0">
                <a:latin typeface="Arial" charset="0"/>
              </a:rPr>
              <a:t>implies that the I/O is a signed integer (</a:t>
            </a:r>
            <a:r>
              <a:rPr lang="en-GB" b="1" dirty="0" err="1">
                <a:latin typeface="Courier"/>
                <a:cs typeface="Courier"/>
              </a:rPr>
              <a:t>int</a:t>
            </a:r>
            <a:r>
              <a:rPr lang="en-GB" dirty="0">
                <a:latin typeface="Arial" charset="0"/>
              </a:rPr>
              <a:t>)</a:t>
            </a:r>
          </a:p>
          <a:p>
            <a:r>
              <a:rPr lang="en-GB" b="1" dirty="0">
                <a:latin typeface="Courier"/>
                <a:cs typeface="Courier"/>
              </a:rPr>
              <a:t>%c</a:t>
            </a:r>
            <a:r>
              <a:rPr lang="en-GB" b="1" dirty="0">
                <a:latin typeface="Arial" charset="0"/>
              </a:rPr>
              <a:t> </a:t>
            </a:r>
            <a:r>
              <a:rPr lang="en-GB" dirty="0">
                <a:latin typeface="Arial" charset="0"/>
              </a:rPr>
              <a:t>: implies that the I/O is an ASCII character (</a:t>
            </a:r>
            <a:r>
              <a:rPr lang="en-GB" b="1" dirty="0">
                <a:latin typeface="Courier"/>
                <a:cs typeface="Courier"/>
              </a:rPr>
              <a:t>char</a:t>
            </a:r>
            <a:r>
              <a:rPr lang="en-GB" dirty="0">
                <a:latin typeface="Arial" charset="0"/>
              </a:rPr>
              <a:t>)</a:t>
            </a:r>
          </a:p>
          <a:p>
            <a:r>
              <a:rPr lang="en-GB" b="1" dirty="0">
                <a:latin typeface="Courier"/>
                <a:cs typeface="Courier"/>
              </a:rPr>
              <a:t>%f</a:t>
            </a:r>
            <a:r>
              <a:rPr lang="en-GB" b="1" dirty="0">
                <a:latin typeface="Arial" charset="0"/>
              </a:rPr>
              <a:t> </a:t>
            </a:r>
            <a:r>
              <a:rPr lang="en-GB" dirty="0">
                <a:latin typeface="Arial" charset="0"/>
              </a:rPr>
              <a:t>: implies that the I/O is a float (</a:t>
            </a:r>
            <a:r>
              <a:rPr lang="en-GB" b="1" dirty="0">
                <a:latin typeface="Courier"/>
                <a:cs typeface="Courier"/>
              </a:rPr>
              <a:t>float</a:t>
            </a:r>
            <a:r>
              <a:rPr lang="en-GB" dirty="0">
                <a:latin typeface="Arial" charset="0"/>
              </a:rPr>
              <a:t>).</a:t>
            </a:r>
            <a:endParaRPr lang="en-GB" b="1" dirty="0">
              <a:latin typeface="Courier"/>
              <a:cs typeface="Courier"/>
            </a:endParaRPr>
          </a:p>
          <a:p>
            <a:r>
              <a:rPr lang="en-GB" b="1" dirty="0">
                <a:latin typeface="Courier"/>
                <a:cs typeface="Courier"/>
              </a:rPr>
              <a:t>%lf</a:t>
            </a:r>
            <a:r>
              <a:rPr lang="en-GB" b="1" dirty="0">
                <a:latin typeface="Arial" charset="0"/>
              </a:rPr>
              <a:t> </a:t>
            </a:r>
            <a:r>
              <a:rPr lang="en-GB" dirty="0">
                <a:latin typeface="Arial" charset="0"/>
              </a:rPr>
              <a:t>: implies that the I/O is a double (</a:t>
            </a:r>
            <a:r>
              <a:rPr lang="en-GB" b="1" dirty="0">
                <a:latin typeface="Courier"/>
                <a:cs typeface="Courier"/>
              </a:rPr>
              <a:t>double</a:t>
            </a:r>
            <a:r>
              <a:rPr lang="en-GB" dirty="0">
                <a:latin typeface="Arial" charset="0"/>
              </a:rPr>
              <a:t>).</a:t>
            </a:r>
          </a:p>
          <a:p>
            <a:r>
              <a:rPr lang="en-GB" b="1" dirty="0">
                <a:latin typeface="Courier"/>
                <a:cs typeface="Courier"/>
              </a:rPr>
              <a:t>%x</a:t>
            </a:r>
            <a:r>
              <a:rPr lang="en-GB" dirty="0">
                <a:latin typeface="Arial" charset="0"/>
              </a:rPr>
              <a:t>: implies that the I/O is a unsigned integer to be printed using the hexadecimal representation</a:t>
            </a:r>
          </a:p>
          <a:p>
            <a:r>
              <a:rPr lang="en-GB" dirty="0">
                <a:latin typeface="Arial" charset="0"/>
              </a:rPr>
              <a:t> </a:t>
            </a:r>
            <a:r>
              <a:rPr lang="en-GB" b="1" dirty="0">
                <a:latin typeface="Courier"/>
                <a:cs typeface="Courier"/>
              </a:rPr>
              <a:t>%s</a:t>
            </a:r>
            <a:r>
              <a:rPr lang="en-GB" b="1" dirty="0">
                <a:latin typeface="Arial" charset="0"/>
              </a:rPr>
              <a:t> </a:t>
            </a:r>
            <a:r>
              <a:rPr lang="en-GB" dirty="0">
                <a:latin typeface="Arial" charset="0"/>
              </a:rPr>
              <a:t>: implies that the I/O is a string </a:t>
            </a:r>
          </a:p>
          <a:p>
            <a:r>
              <a:rPr lang="en-GB" dirty="0">
                <a:latin typeface="Arial" charset="0"/>
              </a:rPr>
              <a:t>….</a:t>
            </a:r>
          </a:p>
          <a:p>
            <a:r>
              <a:rPr lang="en-GB" dirty="0">
                <a:latin typeface="Arial" charset="0"/>
              </a:rPr>
              <a:t>More info: </a:t>
            </a:r>
            <a:r>
              <a:rPr lang="en-GB" b="1" dirty="0">
                <a:latin typeface="Courier"/>
                <a:cs typeface="Courier"/>
              </a:rPr>
              <a:t>man format </a:t>
            </a:r>
            <a:r>
              <a:rPr lang="en-GB" dirty="0">
                <a:latin typeface="Arial" charset="0"/>
              </a:rPr>
              <a:t>or </a:t>
            </a:r>
            <a:r>
              <a:rPr lang="en-GB" dirty="0" err="1">
                <a:latin typeface="Arial" charset="0"/>
              </a:rPr>
              <a:t>google</a:t>
            </a:r>
            <a:r>
              <a:rPr lang="en-GB" dirty="0">
                <a:latin typeface="Arial" charset="0"/>
              </a:rPr>
              <a:t> </a:t>
            </a:r>
            <a:r>
              <a:rPr lang="en-GB" b="1" dirty="0" err="1">
                <a:latin typeface="Courier"/>
                <a:cs typeface="Courier"/>
              </a:rPr>
              <a:t>printf</a:t>
            </a:r>
            <a:endParaRPr lang="en-GB" b="1" dirty="0">
              <a:latin typeface="Courier"/>
              <a:cs typeface="Courier"/>
            </a:endParaRPr>
          </a:p>
          <a:p>
            <a:pPr lvl="1"/>
            <a:endParaRPr lang="en-GB" sz="1000" dirty="0">
              <a:latin typeface="Arial" charset="0"/>
            </a:endParaRPr>
          </a:p>
          <a:p>
            <a:r>
              <a:rPr lang="en-GB" dirty="0">
                <a:latin typeface="Arial" charset="0"/>
                <a:cs typeface="ＭＳ Ｐゴシック" charset="0"/>
              </a:rPr>
              <a:t>Remarks</a:t>
            </a:r>
          </a:p>
          <a:p>
            <a:pPr lvl="1"/>
            <a:r>
              <a:rPr lang="en-GB" dirty="0">
                <a:latin typeface="Arial" charset="0"/>
              </a:rPr>
              <a:t>The format can also have normal text (whatever does not have the </a:t>
            </a:r>
            <a:r>
              <a:rPr lang="en-GB" b="1" dirty="0">
                <a:latin typeface="Courier"/>
                <a:cs typeface="Courier"/>
              </a:rPr>
              <a:t>%</a:t>
            </a:r>
            <a:r>
              <a:rPr lang="en-GB" dirty="0">
                <a:latin typeface="Arial" charset="0"/>
              </a:rPr>
              <a:t> character)</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85</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8099348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re 1"/>
          <p:cNvSpPr>
            <a:spLocks noGrp="1"/>
          </p:cNvSpPr>
          <p:nvPr>
            <p:ph type="title"/>
          </p:nvPr>
        </p:nvSpPr>
        <p:spPr/>
        <p:txBody>
          <a:bodyPr/>
          <a:lstStyle/>
          <a:p>
            <a:r>
              <a:rPr lang="fr-FR" sz="2800" dirty="0">
                <a:latin typeface="Arial" charset="0"/>
                <a:ea typeface="ＭＳ Ｐゴシック" charset="0"/>
                <a:cs typeface="ＭＳ Ｐゴシック" charset="0"/>
              </a:rPr>
              <a:t>Exemple</a:t>
            </a:r>
          </a:p>
        </p:txBody>
      </p:sp>
      <p:pic>
        <p:nvPicPr>
          <p:cNvPr id="99331" name="Image 4" descr="Capture d’écran 2014-08-26 à 16.46.34.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6928" y="1556792"/>
            <a:ext cx="6839468" cy="417974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86</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212900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a:xfrm>
            <a:off x="304800" y="188640"/>
            <a:ext cx="8983724" cy="497160"/>
          </a:xfrm>
        </p:spPr>
        <p:txBody>
          <a:bodyPr/>
          <a:lstStyle/>
          <a:p>
            <a:pPr>
              <a:defRPr/>
            </a:pPr>
            <a:r>
              <a:rPr lang="en-GB" sz="2800" dirty="0"/>
              <a:t>What happens if we use a wrong format?</a:t>
            </a:r>
          </a:p>
        </p:txBody>
      </p:sp>
      <p:sp>
        <p:nvSpPr>
          <p:cNvPr id="3" name="Espace réservé du contenu 2"/>
          <p:cNvSpPr>
            <a:spLocks noGrp="1"/>
          </p:cNvSpPr>
          <p:nvPr>
            <p:ph idx="1"/>
          </p:nvPr>
        </p:nvSpPr>
        <p:spPr>
          <a:xfrm>
            <a:off x="287524" y="836712"/>
            <a:ext cx="8856476" cy="5544616"/>
          </a:xfrm>
        </p:spPr>
        <p:txBody>
          <a:bodyPr/>
          <a:lstStyle/>
          <a:p>
            <a:pPr>
              <a:defRPr/>
            </a:pPr>
            <a:r>
              <a:rPr lang="en-GB" dirty="0"/>
              <a:t>Usually we have only a compiler warning</a:t>
            </a:r>
          </a:p>
          <a:p>
            <a:pPr>
              <a:defRPr/>
            </a:pPr>
            <a:r>
              <a:rPr lang="en-GB" dirty="0"/>
              <a:t>Question : What prints the following program?</a:t>
            </a:r>
          </a:p>
          <a:p>
            <a:pPr>
              <a:defRPr/>
            </a:pPr>
            <a:endParaRPr lang="en-GB" dirty="0"/>
          </a:p>
          <a:p>
            <a:pPr>
              <a:defRPr/>
            </a:pPr>
            <a:endParaRPr lang="en-GB" dirty="0"/>
          </a:p>
          <a:p>
            <a:pPr>
              <a:defRPr/>
            </a:pPr>
            <a:endParaRPr lang="en-GB" dirty="0"/>
          </a:p>
          <a:p>
            <a:pPr>
              <a:defRPr/>
            </a:pPr>
            <a:endParaRPr lang="en-GB" dirty="0"/>
          </a:p>
          <a:p>
            <a:pPr marL="0" indent="0">
              <a:buFont typeface="Wingdings" charset="0"/>
              <a:buNone/>
              <a:defRPr/>
            </a:pPr>
            <a:endParaRPr lang="en-GB" dirty="0"/>
          </a:p>
          <a:p>
            <a:pPr>
              <a:defRPr/>
            </a:pPr>
            <a:r>
              <a:rPr lang="en-GB" dirty="0"/>
              <a:t>Answer: Segmentation fault (core dumped) </a:t>
            </a:r>
            <a:r>
              <a:rPr lang="en-GB" dirty="0">
                <a:solidFill>
                  <a:srgbClr val="000000"/>
                </a:solidFill>
              </a:rPr>
              <a:t>or unexpected behaviour</a:t>
            </a:r>
          </a:p>
          <a:p>
            <a:pPr lvl="1">
              <a:defRPr/>
            </a:pPr>
            <a:r>
              <a:rPr lang="en-GB" dirty="0"/>
              <a:t>Tries to print a string of characters stored in the memory starting at the address 1654 and its end is indicated by the </a:t>
            </a:r>
            <a:r>
              <a:rPr lang="en-GB" b="1" dirty="0">
                <a:latin typeface="Courier"/>
                <a:cs typeface="Courier"/>
              </a:rPr>
              <a:t>\0</a:t>
            </a:r>
            <a:r>
              <a:rPr lang="en-GB" dirty="0">
                <a:cs typeface="Courier"/>
              </a:rPr>
              <a:t> character</a:t>
            </a:r>
            <a:r>
              <a:rPr lang="en-GB" dirty="0"/>
              <a:t>.</a:t>
            </a:r>
          </a:p>
          <a:p>
            <a:pPr lvl="2">
              <a:defRPr/>
            </a:pPr>
            <a:r>
              <a:rPr lang="en-GB" dirty="0"/>
              <a:t>At the end, the program will try to access an illegal address</a:t>
            </a:r>
          </a:p>
          <a:p>
            <a:pPr lvl="1">
              <a:defRPr/>
            </a:pPr>
            <a:r>
              <a:rPr lang="en-GB" dirty="0"/>
              <a:t>Very common error!</a:t>
            </a:r>
          </a:p>
        </p:txBody>
      </p:sp>
      <p:pic>
        <p:nvPicPr>
          <p:cNvPr id="100356" name="Image 4" descr="Capture d’écran 2014-08-26 à 16.50.2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5756" y="1844824"/>
            <a:ext cx="3034857" cy="1884983"/>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87</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13238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re 1"/>
          <p:cNvSpPr>
            <a:spLocks noGrp="1"/>
          </p:cNvSpPr>
          <p:nvPr>
            <p:ph type="title"/>
          </p:nvPr>
        </p:nvSpPr>
        <p:spPr/>
        <p:txBody>
          <a:bodyPr/>
          <a:lstStyle/>
          <a:p>
            <a:r>
              <a:rPr lang="fr-FR" sz="2800" dirty="0">
                <a:latin typeface="Arial" charset="0"/>
                <a:ea typeface="ＭＳ Ｐゴシック" charset="0"/>
                <a:cs typeface="ＭＳ Ｐゴシック" charset="0"/>
              </a:rPr>
              <a:t>Type conversion: </a:t>
            </a:r>
            <a:r>
              <a:rPr lang="fr-FR" sz="2800" dirty="0" err="1">
                <a:latin typeface="Arial" charset="0"/>
                <a:ea typeface="ＭＳ Ｐゴシック" charset="0"/>
                <a:cs typeface="ＭＳ Ｐゴシック" charset="0"/>
              </a:rPr>
              <a:t>Inbuilt</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typecast</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functions</a:t>
            </a:r>
            <a:endParaRPr lang="fr-FR" sz="2800" dirty="0">
              <a:latin typeface="Arial" charset="0"/>
              <a:ea typeface="ＭＳ Ｐゴシック" charset="0"/>
              <a:cs typeface="ＭＳ Ｐゴシック" charset="0"/>
            </a:endParaRPr>
          </a:p>
        </p:txBody>
      </p:sp>
      <p:sp>
        <p:nvSpPr>
          <p:cNvPr id="78850" name="Espace réservé du contenu 2"/>
          <p:cNvSpPr>
            <a:spLocks noGrp="1"/>
          </p:cNvSpPr>
          <p:nvPr>
            <p:ph idx="1"/>
          </p:nvPr>
        </p:nvSpPr>
        <p:spPr>
          <a:xfrm>
            <a:off x="251520" y="914400"/>
            <a:ext cx="8867328" cy="5257800"/>
          </a:xfrm>
        </p:spPr>
        <p:txBody>
          <a:bodyPr/>
          <a:lstStyle/>
          <a:p>
            <a:r>
              <a:rPr lang="en-GB" b="1" dirty="0" err="1">
                <a:latin typeface="Courier"/>
                <a:cs typeface="Courier"/>
              </a:rPr>
              <a:t>atof</a:t>
            </a:r>
            <a:r>
              <a:rPr lang="en-GB" b="1" dirty="0">
                <a:latin typeface="Courier"/>
                <a:cs typeface="Courier"/>
              </a:rPr>
              <a:t>() </a:t>
            </a:r>
            <a:r>
              <a:rPr lang="en-GB" dirty="0"/>
              <a:t>: convert string to float</a:t>
            </a:r>
            <a:endParaRPr lang="en-GB" b="1" dirty="0">
              <a:latin typeface="Courier"/>
              <a:cs typeface="Courier"/>
            </a:endParaRPr>
          </a:p>
          <a:p>
            <a:r>
              <a:rPr lang="en-GB" b="1" dirty="0" err="1">
                <a:latin typeface="Courier"/>
                <a:cs typeface="Courier"/>
              </a:rPr>
              <a:t>atoi</a:t>
            </a:r>
            <a:r>
              <a:rPr lang="en-GB" b="1" dirty="0">
                <a:latin typeface="Courier"/>
                <a:cs typeface="Courier"/>
              </a:rPr>
              <a:t>()</a:t>
            </a:r>
            <a:r>
              <a:rPr lang="en-GB" dirty="0"/>
              <a:t> : convert string to integer</a:t>
            </a:r>
            <a:endParaRPr lang="en-GB" b="1" dirty="0">
              <a:latin typeface="Courier"/>
              <a:cs typeface="Courier"/>
            </a:endParaRPr>
          </a:p>
          <a:p>
            <a:r>
              <a:rPr lang="en-GB" b="1" dirty="0" err="1">
                <a:latin typeface="Courier"/>
                <a:cs typeface="Courier"/>
              </a:rPr>
              <a:t>atol</a:t>
            </a:r>
            <a:r>
              <a:rPr lang="en-GB" b="1" dirty="0">
                <a:latin typeface="Courier"/>
                <a:cs typeface="Courier"/>
              </a:rPr>
              <a:t>()</a:t>
            </a:r>
            <a:r>
              <a:rPr lang="en-GB" dirty="0"/>
              <a:t> : convert string to long</a:t>
            </a:r>
            <a:endParaRPr lang="en-GB" b="1" dirty="0">
              <a:latin typeface="Courier"/>
              <a:cs typeface="Courier"/>
            </a:endParaRPr>
          </a:p>
          <a:p>
            <a:r>
              <a:rPr lang="en-GB" b="1" dirty="0" err="1">
                <a:latin typeface="Courier"/>
                <a:cs typeface="Courier"/>
              </a:rPr>
              <a:t>itoa</a:t>
            </a:r>
            <a:r>
              <a:rPr lang="en-GB" b="1" dirty="0">
                <a:latin typeface="Courier"/>
                <a:cs typeface="Courier"/>
              </a:rPr>
              <a:t>()</a:t>
            </a:r>
            <a:r>
              <a:rPr lang="en-GB" dirty="0"/>
              <a:t> : convert integer to string</a:t>
            </a:r>
            <a:endParaRPr lang="en-GB" b="1" dirty="0">
              <a:latin typeface="Courier"/>
              <a:cs typeface="Courier"/>
            </a:endParaRPr>
          </a:p>
          <a:p>
            <a:r>
              <a:rPr lang="en-GB" b="1" dirty="0" err="1">
                <a:latin typeface="Courier"/>
                <a:cs typeface="Courier"/>
              </a:rPr>
              <a:t>ltoa</a:t>
            </a:r>
            <a:r>
              <a:rPr lang="en-GB" b="1" dirty="0">
                <a:latin typeface="Courier"/>
                <a:cs typeface="Courier"/>
              </a:rPr>
              <a:t>()</a:t>
            </a:r>
            <a:r>
              <a:rPr lang="en-GB" dirty="0"/>
              <a:t> : convert long to string</a:t>
            </a: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88</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248746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Let’s…</a:t>
            </a:r>
          </a:p>
        </p:txBody>
      </p:sp>
      <p:sp>
        <p:nvSpPr>
          <p:cNvPr id="3" name="Content Placeholder 2"/>
          <p:cNvSpPr>
            <a:spLocks noGrp="1"/>
          </p:cNvSpPr>
          <p:nvPr>
            <p:ph idx="1"/>
          </p:nvPr>
        </p:nvSpPr>
        <p:spPr>
          <a:xfrm>
            <a:off x="1979712" y="2312876"/>
            <a:ext cx="4716524" cy="1404156"/>
          </a:xfrm>
        </p:spPr>
        <p:txBody>
          <a:bodyPr/>
          <a:lstStyle/>
          <a:p>
            <a:pPr marL="0" indent="0" algn="ctr">
              <a:buNone/>
            </a:pPr>
            <a:r>
              <a:rPr lang="en-US" sz="3200" b="1" dirty="0" err="1">
                <a:solidFill>
                  <a:srgbClr val="800000"/>
                </a:solidFill>
              </a:rPr>
              <a:t>Kahoot</a:t>
            </a:r>
            <a:r>
              <a:rPr lang="en-US" sz="3200" b="1" dirty="0">
                <a:solidFill>
                  <a:srgbClr val="800000"/>
                </a:solidFill>
              </a:rPr>
              <a:t> time !</a:t>
            </a:r>
          </a:p>
          <a:p>
            <a:pPr marL="0" indent="0" algn="ctr">
              <a:buNone/>
            </a:pPr>
            <a:r>
              <a:rPr lang="en-US" sz="3200" b="1" dirty="0">
                <a:solidFill>
                  <a:srgbClr val="800000"/>
                </a:solidFill>
              </a:rPr>
              <a:t>(6 Q)</a:t>
            </a: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89</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5986630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90</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Basic components of C language:</a:t>
            </a:r>
            <a:br>
              <a:rPr lang="en-GB" dirty="0">
                <a:latin typeface="Arial" charset="0"/>
              </a:rPr>
            </a:br>
            <a:r>
              <a:rPr lang="en-GB" dirty="0">
                <a:latin typeface="Arial" charset="0"/>
              </a:rPr>
              <a:t>Control structures</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1078848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3"/>
          <p:cNvSpPr/>
          <p:nvPr/>
        </p:nvSpPr>
        <p:spPr>
          <a:xfrm>
            <a:off x="857183" y="2492896"/>
            <a:ext cx="3120197" cy="3162327"/>
          </a:xfrm>
          <a:prstGeom prst="rect">
            <a:avLst/>
          </a:prstGeom>
          <a:solidFill>
            <a:srgbClr val="F9F9F9"/>
          </a:solidFill>
        </p:spPr>
        <p:txBody>
          <a:bodyPr lIns="92070" tIns="46035" rIns="92070" bIns="46035"/>
          <a:lstStyle/>
          <a:p>
            <a:pPr algn="l">
              <a:lnSpc>
                <a:spcPct val="100000"/>
              </a:lnSpc>
              <a:buSzPct val="25000"/>
              <a:buFont typeface="StarSymbol"/>
              <a:buChar char=""/>
            </a:pPr>
            <a:r>
              <a:rPr lang="fr-FR" sz="2000" b="1" dirty="0" err="1">
                <a:latin typeface="Courier New"/>
                <a:ea typeface="Courier New"/>
              </a:rPr>
              <a:t>int</a:t>
            </a:r>
            <a:r>
              <a:rPr lang="fr-FR" sz="2000" b="1" dirty="0">
                <a:latin typeface="Courier New"/>
                <a:ea typeface="Courier New"/>
              </a:rPr>
              <a:t> i=7;</a:t>
            </a:r>
            <a:endParaRPr sz="2000" dirty="0"/>
          </a:p>
          <a:p>
            <a:pPr algn="l">
              <a:lnSpc>
                <a:spcPct val="100000"/>
              </a:lnSpc>
              <a:buSzPct val="25000"/>
              <a:buFont typeface="StarSymbol"/>
              <a:buChar char=""/>
            </a:pPr>
            <a:r>
              <a:rPr lang="fr-FR" sz="2000" b="1" dirty="0" err="1">
                <a:latin typeface="Courier New"/>
                <a:ea typeface="Courier New"/>
              </a:rPr>
              <a:t>while</a:t>
            </a:r>
            <a:r>
              <a:rPr lang="fr-FR" sz="2000" b="1" dirty="0">
                <a:latin typeface="Courier New"/>
                <a:ea typeface="Courier New"/>
              </a:rPr>
              <a:t>(i) {</a:t>
            </a:r>
            <a:endParaRPr sz="2000" dirty="0"/>
          </a:p>
          <a:p>
            <a:pPr algn="l">
              <a:lnSpc>
                <a:spcPct val="100000"/>
              </a:lnSpc>
              <a:buSzPct val="25000"/>
              <a:buFont typeface="StarSymbol"/>
              <a:buChar char=""/>
            </a:pPr>
            <a:r>
              <a:rPr lang="fr-FR" sz="2000" b="1" dirty="0">
                <a:latin typeface="Courier New"/>
                <a:ea typeface="Courier New"/>
              </a:rPr>
              <a:t>  i--;</a:t>
            </a:r>
            <a:endParaRPr sz="2000" dirty="0"/>
          </a:p>
          <a:p>
            <a:pPr algn="l">
              <a:lnSpc>
                <a:spcPct val="100000"/>
              </a:lnSpc>
              <a:buSzPct val="25000"/>
              <a:buFont typeface="StarSymbol"/>
              <a:buChar char=""/>
            </a:pPr>
            <a:r>
              <a:rPr lang="fr-FR" sz="2000" b="1" dirty="0">
                <a:latin typeface="Courier New"/>
                <a:ea typeface="Courier New"/>
              </a:rPr>
              <a:t>  …</a:t>
            </a:r>
            <a:endParaRPr sz="2000" dirty="0"/>
          </a:p>
          <a:p>
            <a:pPr algn="l">
              <a:lnSpc>
                <a:spcPct val="100000"/>
              </a:lnSpc>
              <a:buSzPct val="25000"/>
              <a:buFont typeface="StarSymbol"/>
              <a:buChar char=""/>
            </a:pPr>
            <a:r>
              <a:rPr lang="fr-FR" sz="2000" b="1" dirty="0">
                <a:latin typeface="Courier New"/>
                <a:ea typeface="Courier New"/>
              </a:rPr>
              <a:t>}</a:t>
            </a:r>
            <a:endParaRPr sz="2000" dirty="0"/>
          </a:p>
          <a:p>
            <a:pPr algn="l">
              <a:lnSpc>
                <a:spcPct val="100000"/>
              </a:lnSpc>
              <a:buSzPct val="25000"/>
              <a:buFont typeface="StarSymbol"/>
              <a:buChar char=""/>
            </a:pPr>
            <a:endParaRPr sz="2000" dirty="0"/>
          </a:p>
          <a:p>
            <a:pPr algn="l">
              <a:lnSpc>
                <a:spcPct val="100000"/>
              </a:lnSpc>
              <a:buSzPct val="25000"/>
              <a:buFont typeface="StarSymbol"/>
              <a:buChar char=""/>
            </a:pPr>
            <a:r>
              <a:rPr lang="fr-FR" sz="2000" b="1" dirty="0" err="1">
                <a:latin typeface="Courier New"/>
                <a:ea typeface="Courier New"/>
              </a:rPr>
              <a:t>int</a:t>
            </a:r>
            <a:r>
              <a:rPr lang="fr-FR" sz="2000" b="1" dirty="0">
                <a:latin typeface="Courier New"/>
                <a:ea typeface="Courier New"/>
              </a:rPr>
              <a:t> i=7;</a:t>
            </a:r>
            <a:endParaRPr sz="2000" dirty="0"/>
          </a:p>
          <a:p>
            <a:pPr algn="l">
              <a:lnSpc>
                <a:spcPct val="100000"/>
              </a:lnSpc>
              <a:buSzPct val="25000"/>
              <a:buFont typeface="StarSymbol"/>
              <a:buChar char=""/>
            </a:pPr>
            <a:r>
              <a:rPr lang="fr-FR" sz="2000" b="1" dirty="0" err="1">
                <a:latin typeface="Courier New"/>
                <a:ea typeface="Courier New"/>
              </a:rPr>
              <a:t>while</a:t>
            </a:r>
            <a:r>
              <a:rPr lang="fr-FR" sz="2000" b="1" dirty="0">
                <a:latin typeface="Courier New"/>
                <a:ea typeface="Courier New"/>
              </a:rPr>
              <a:t>(i!=0) {</a:t>
            </a:r>
            <a:endParaRPr sz="2000" dirty="0"/>
          </a:p>
          <a:p>
            <a:pPr algn="l">
              <a:lnSpc>
                <a:spcPct val="100000"/>
              </a:lnSpc>
              <a:buSzPct val="25000"/>
              <a:buFont typeface="StarSymbol"/>
              <a:buChar char=""/>
            </a:pPr>
            <a:r>
              <a:rPr lang="fr-FR" sz="2000" b="1" dirty="0">
                <a:latin typeface="Courier New"/>
                <a:ea typeface="Courier New"/>
              </a:rPr>
              <a:t>  i--;</a:t>
            </a:r>
            <a:endParaRPr sz="2000" dirty="0"/>
          </a:p>
          <a:p>
            <a:pPr algn="l">
              <a:lnSpc>
                <a:spcPct val="100000"/>
              </a:lnSpc>
              <a:buSzPct val="25000"/>
              <a:buFont typeface="StarSymbol"/>
              <a:buChar char=""/>
            </a:pPr>
            <a:r>
              <a:rPr lang="fr-FR" sz="2000" b="1" dirty="0">
                <a:latin typeface="Courier New"/>
                <a:ea typeface="Courier New"/>
              </a:rPr>
              <a:t>  …</a:t>
            </a:r>
            <a:endParaRPr sz="2000" dirty="0"/>
          </a:p>
          <a:p>
            <a:pPr algn="l">
              <a:lnSpc>
                <a:spcPct val="100000"/>
              </a:lnSpc>
              <a:buSzPct val="25000"/>
              <a:buFont typeface="StarSymbol"/>
              <a:buChar char=""/>
            </a:pPr>
            <a:r>
              <a:rPr lang="fr-FR" sz="2000" b="1" dirty="0">
                <a:latin typeface="Courier New"/>
                <a:ea typeface="Courier New"/>
              </a:rPr>
              <a:t>} </a:t>
            </a:r>
            <a:endParaRPr sz="2000" dirty="0"/>
          </a:p>
          <a:p>
            <a:pPr algn="l">
              <a:lnSpc>
                <a:spcPct val="100000"/>
              </a:lnSpc>
              <a:buSzPct val="25000"/>
              <a:buFont typeface="StarSymbol"/>
              <a:buChar char=""/>
            </a:pPr>
            <a:endParaRPr sz="2000" dirty="0"/>
          </a:p>
          <a:p>
            <a:pPr algn="l">
              <a:lnSpc>
                <a:spcPct val="100000"/>
              </a:lnSpc>
              <a:buSzPct val="25000"/>
              <a:buFont typeface="StarSymbol"/>
              <a:buChar char=""/>
            </a:pPr>
            <a:endParaRPr sz="2000" dirty="0"/>
          </a:p>
        </p:txBody>
      </p:sp>
      <p:sp>
        <p:nvSpPr>
          <p:cNvPr id="217" name="Line 4"/>
          <p:cNvSpPr/>
          <p:nvPr/>
        </p:nvSpPr>
        <p:spPr>
          <a:xfrm flipV="1">
            <a:off x="2830945" y="4257092"/>
            <a:ext cx="1741055" cy="924513"/>
          </a:xfrm>
          <a:prstGeom prst="line">
            <a:avLst/>
          </a:prstGeom>
          <a:ln w="76320">
            <a:solidFill>
              <a:srgbClr val="FF0033"/>
            </a:solidFill>
            <a:miter/>
            <a:tailEnd type="triangle" w="med" len="med"/>
          </a:ln>
        </p:spPr>
      </p:sp>
      <p:sp>
        <p:nvSpPr>
          <p:cNvPr id="218" name="Line 5"/>
          <p:cNvSpPr/>
          <p:nvPr/>
        </p:nvSpPr>
        <p:spPr>
          <a:xfrm>
            <a:off x="2611361" y="3178331"/>
            <a:ext cx="1996643" cy="646714"/>
          </a:xfrm>
          <a:prstGeom prst="line">
            <a:avLst/>
          </a:prstGeom>
          <a:ln w="76320">
            <a:solidFill>
              <a:srgbClr val="FF0033"/>
            </a:solidFill>
            <a:miter/>
            <a:tailEnd type="triangle" w="med" len="med"/>
          </a:ln>
        </p:spPr>
      </p:sp>
      <p:sp>
        <p:nvSpPr>
          <p:cNvPr id="219" name="CustomShape 6"/>
          <p:cNvSpPr/>
          <p:nvPr/>
        </p:nvSpPr>
        <p:spPr>
          <a:xfrm>
            <a:off x="4680012" y="3573016"/>
            <a:ext cx="3999345" cy="1075446"/>
          </a:xfrm>
          <a:prstGeom prst="rect">
            <a:avLst/>
          </a:prstGeom>
        </p:spPr>
        <p:txBody>
          <a:bodyPr lIns="77149" tIns="38733" rIns="77149" bIns="38733"/>
          <a:lstStyle/>
          <a:p>
            <a:pPr algn="just">
              <a:lnSpc>
                <a:spcPct val="100000"/>
              </a:lnSpc>
              <a:buSzPct val="25000"/>
            </a:pPr>
            <a:r>
              <a:rPr lang="en-GB" sz="2000">
                <a:latin typeface="Arial"/>
              </a:rPr>
              <a:t>Both ways are equivalent, BUT the second one is more readable! </a:t>
            </a:r>
            <a:endParaRPr lang="en-GB" sz="2000"/>
          </a:p>
        </p:txBody>
      </p:sp>
      <p:sp>
        <p:nvSpPr>
          <p:cNvPr id="8"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Control structures</a:t>
            </a:r>
          </a:p>
        </p:txBody>
      </p:sp>
      <p:sp>
        <p:nvSpPr>
          <p:cNvPr id="9" name="Espace réservé du contenu 2"/>
          <p:cNvSpPr txBox="1">
            <a:spLocks/>
          </p:cNvSpPr>
          <p:nvPr/>
        </p:nvSpPr>
        <p:spPr>
          <a:xfrm>
            <a:off x="457200" y="914400"/>
            <a:ext cx="8261350" cy="5257800"/>
          </a:xfrm>
          <a:prstGeom prst="rect">
            <a:avLst/>
          </a:prstGeom>
        </p:spPr>
        <p:txBody>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a:latin typeface="Arial" charset="0"/>
                <a:cs typeface="ＭＳ Ｐゴシック" charset="0"/>
              </a:rPr>
              <a:t>Similar to the ones in JAVA and Scripts</a:t>
            </a:r>
          </a:p>
          <a:p>
            <a:pPr lvl="1"/>
            <a:r>
              <a:rPr lang="en-GB">
                <a:latin typeface="Arial" charset="0"/>
                <a:cs typeface="ＭＳ Ｐゴシック" charset="0"/>
              </a:rPr>
              <a:t>NO BOOLEAN type!</a:t>
            </a:r>
          </a:p>
          <a:p>
            <a:pPr lvl="1"/>
            <a:endParaRPr lang="en-GB">
              <a:latin typeface="Arial" charset="0"/>
              <a:cs typeface="ＭＳ Ｐゴシック" charset="0"/>
            </a:endParaRPr>
          </a:p>
          <a:p>
            <a:r>
              <a:rPr lang="en-GB">
                <a:latin typeface="Arial" charset="0"/>
                <a:cs typeface="ＭＳ Ｐゴシック" charset="0"/>
              </a:rPr>
              <a:t>Example</a:t>
            </a:r>
            <a:endParaRPr lang="en-GB">
              <a:latin typeface="Courier"/>
              <a:cs typeface="Courier"/>
            </a:endParaRPr>
          </a:p>
        </p:txBody>
      </p:sp>
      <p:sp>
        <p:nvSpPr>
          <p:cNvPr id="14" name="Espace réservé du numéro de diapositive 4"/>
          <p:cNvSpPr txBox="1">
            <a:spLocks/>
          </p:cNvSpPr>
          <p:nvPr/>
        </p:nvSpPr>
        <p:spPr>
          <a:xfrm>
            <a:off x="7381292" y="6400800"/>
            <a:ext cx="1511188" cy="381000"/>
          </a:xfrm>
          <a:prstGeom prst="rect">
            <a:avLst/>
          </a:prstGeo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defPPr>
              <a:defRPr lang="en-US"/>
            </a:defPPr>
            <a:lvl1pPr marL="342900" indent="-3429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9144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9pPr>
          </a:lstStyle>
          <a:p>
            <a:pPr lvl="2"/>
            <a:fld id="{7A20496B-0CAA-CF4F-A60A-C2F15B752635}" type="slidenum">
              <a:rPr lang="fr-FR" sz="1400" smtClean="0">
                <a:solidFill>
                  <a:srgbClr val="000208"/>
                </a:solidFill>
                <a:latin typeface="Times New Roman" charset="0"/>
              </a:rPr>
              <a:pPr lvl="2"/>
              <a:t>91</a:t>
            </a:fld>
            <a:endParaRPr lang="fr-FR" sz="1400">
              <a:solidFill>
                <a:srgbClr val="000208"/>
              </a:solidFill>
              <a:latin typeface="Times New Roman" charset="0"/>
            </a:endParaRPr>
          </a:p>
        </p:txBody>
      </p:sp>
      <p:sp>
        <p:nvSpPr>
          <p:cNvPr id="10" name="Espace réservé du pied de page 3"/>
          <p:cNvSpPr txBox="1">
            <a:spLocks/>
          </p:cNvSpPr>
          <p:nvPr/>
        </p:nvSpPr>
        <p:spPr>
          <a:xfrm>
            <a:off x="395536" y="6400800"/>
            <a:ext cx="5624264" cy="457200"/>
          </a:xfrm>
          <a:prstGeom prst="rect">
            <a:avLst/>
          </a:prstGeo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defPPr>
              <a:defRPr lang="en-US"/>
            </a:defPPr>
            <a:lvl1pPr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11430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9pPr>
          </a:lstStyle>
          <a:p>
            <a:pPr>
              <a:defRPr/>
            </a:pPr>
            <a:r>
              <a:rPr lang="fr-FR" sz="1800"/>
              <a:t>A. Kritikakou		 L3Info – C/Unix</a:t>
            </a:r>
            <a:endParaRPr lang="fr-FR" sz="1800" dirty="0"/>
          </a:p>
        </p:txBody>
      </p:sp>
    </p:spTree>
    <p:extLst>
      <p:ext uri="{BB962C8B-B14F-4D97-AF65-F5344CB8AC3E}">
        <p14:creationId xmlns:p14="http://schemas.microsoft.com/office/powerpoint/2010/main" val="12869192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Conditions: If</a:t>
            </a:r>
          </a:p>
        </p:txBody>
      </p:sp>
      <p:sp>
        <p:nvSpPr>
          <p:cNvPr id="81922" name="Espace réservé du contenu 2"/>
          <p:cNvSpPr>
            <a:spLocks noGrp="1"/>
          </p:cNvSpPr>
          <p:nvPr>
            <p:ph idx="1"/>
          </p:nvPr>
        </p:nvSpPr>
        <p:spPr/>
        <p:txBody>
          <a:bodyPr/>
          <a:lstStyle/>
          <a:p>
            <a:r>
              <a:rPr lang="fr-FR" dirty="0" err="1">
                <a:latin typeface="Arial" charset="0"/>
                <a:ea typeface="ＭＳ Ｐゴシック" charset="0"/>
                <a:cs typeface="ＭＳ Ｐゴシック" charset="0"/>
              </a:rPr>
              <a:t>Syntax</a:t>
            </a:r>
            <a:r>
              <a:rPr lang="fr-FR" dirty="0">
                <a:latin typeface="Arial" charset="0"/>
                <a:ea typeface="ＭＳ Ｐゴシック" charset="0"/>
                <a:cs typeface="ＭＳ Ｐゴシック" charset="0"/>
              </a:rPr>
              <a:t>:</a:t>
            </a:r>
            <a:br>
              <a:rPr lang="fr-FR" dirty="0">
                <a:latin typeface="Arial" charset="0"/>
                <a:ea typeface="ＭＳ Ｐゴシック" charset="0"/>
                <a:cs typeface="ＭＳ Ｐゴシック" charset="0"/>
              </a:rPr>
            </a:br>
            <a:r>
              <a:rPr lang="fr-FR" sz="2000" dirty="0">
                <a:latin typeface="Courier"/>
                <a:cs typeface="Courier"/>
              </a:rPr>
              <a:t> </a:t>
            </a:r>
            <a:r>
              <a:rPr lang="fr-FR" sz="2000" b="1" dirty="0">
                <a:latin typeface="Courier"/>
                <a:cs typeface="Courier"/>
              </a:rPr>
              <a:t>if (expression) {</a:t>
            </a:r>
          </a:p>
          <a:p>
            <a:pPr marL="542925" lvl="1" indent="0">
              <a:buNone/>
            </a:pPr>
            <a:r>
              <a:rPr lang="fr-FR" b="1" dirty="0">
                <a:latin typeface="Courier"/>
                <a:cs typeface="Courier"/>
              </a:rPr>
              <a:t>	</a:t>
            </a:r>
            <a:r>
              <a:rPr lang="fr-FR" b="1" dirty="0" err="1">
                <a:latin typeface="Courier"/>
                <a:cs typeface="Courier"/>
              </a:rPr>
              <a:t>list</a:t>
            </a:r>
            <a:r>
              <a:rPr lang="fr-FR" b="1" dirty="0">
                <a:latin typeface="Courier"/>
                <a:cs typeface="Courier"/>
              </a:rPr>
              <a:t> of instructions1</a:t>
            </a:r>
          </a:p>
          <a:p>
            <a:pPr marL="542925" lvl="1" indent="0">
              <a:buNone/>
            </a:pPr>
            <a:r>
              <a:rPr lang="fr-FR" b="1" dirty="0">
                <a:latin typeface="Courier"/>
                <a:cs typeface="Courier"/>
              </a:rPr>
              <a:t>}</a:t>
            </a:r>
            <a:br>
              <a:rPr lang="fr-FR" b="1" dirty="0">
                <a:latin typeface="Courier"/>
                <a:cs typeface="Courier"/>
              </a:rPr>
            </a:br>
            <a:r>
              <a:rPr lang="fr-FR" dirty="0">
                <a:latin typeface="Courier"/>
                <a:cs typeface="Courier"/>
              </a:rPr>
              <a:t> </a:t>
            </a:r>
          </a:p>
          <a:p>
            <a:pPr marL="542925" lvl="1" indent="0">
              <a:buNone/>
            </a:pPr>
            <a:r>
              <a:rPr lang="fr-FR" b="1" dirty="0">
                <a:latin typeface="Courier"/>
                <a:cs typeface="Courier"/>
              </a:rPr>
              <a:t>if (expression) {</a:t>
            </a:r>
          </a:p>
          <a:p>
            <a:pPr marL="542925" lvl="1" indent="0">
              <a:buNone/>
            </a:pPr>
            <a:r>
              <a:rPr lang="fr-FR" b="1" dirty="0">
                <a:latin typeface="Courier"/>
                <a:cs typeface="Courier"/>
              </a:rPr>
              <a:t>	</a:t>
            </a:r>
            <a:r>
              <a:rPr lang="fr-FR" b="1" dirty="0" err="1">
                <a:latin typeface="Courier"/>
                <a:cs typeface="Courier"/>
              </a:rPr>
              <a:t>list</a:t>
            </a:r>
            <a:r>
              <a:rPr lang="fr-FR" b="1" dirty="0">
                <a:latin typeface="Courier"/>
                <a:cs typeface="Courier"/>
              </a:rPr>
              <a:t> of instructions1</a:t>
            </a:r>
          </a:p>
          <a:p>
            <a:pPr marL="542925" lvl="1" indent="0">
              <a:buNone/>
            </a:pPr>
            <a:r>
              <a:rPr lang="fr-FR" b="1" dirty="0">
                <a:latin typeface="Courier"/>
                <a:cs typeface="Courier"/>
              </a:rPr>
              <a:t>} </a:t>
            </a:r>
            <a:r>
              <a:rPr lang="fr-FR" b="1" dirty="0" err="1">
                <a:latin typeface="Courier"/>
                <a:cs typeface="Courier"/>
              </a:rPr>
              <a:t>else</a:t>
            </a:r>
            <a:r>
              <a:rPr lang="fr-FR" b="1" dirty="0">
                <a:latin typeface="Courier"/>
                <a:cs typeface="Courier"/>
              </a:rPr>
              <a:t>{</a:t>
            </a:r>
          </a:p>
          <a:p>
            <a:pPr marL="542925" lvl="1" indent="0">
              <a:buNone/>
            </a:pPr>
            <a:r>
              <a:rPr lang="fr-FR" b="1" dirty="0">
                <a:latin typeface="Courier"/>
                <a:cs typeface="Courier"/>
              </a:rPr>
              <a:t>	</a:t>
            </a:r>
            <a:r>
              <a:rPr lang="fr-FR" b="1" dirty="0" err="1">
                <a:latin typeface="Courier"/>
                <a:cs typeface="Courier"/>
              </a:rPr>
              <a:t>list</a:t>
            </a:r>
            <a:r>
              <a:rPr lang="fr-FR" b="1" dirty="0">
                <a:latin typeface="Courier"/>
                <a:cs typeface="Courier"/>
              </a:rPr>
              <a:t> of instructions2</a:t>
            </a:r>
          </a:p>
          <a:p>
            <a:pPr marL="542925" lvl="1" indent="0">
              <a:buNone/>
            </a:pPr>
            <a:r>
              <a:rPr lang="fr-FR" b="1" dirty="0">
                <a:latin typeface="Courier"/>
                <a:cs typeface="Courier"/>
              </a:rPr>
              <a:t>} </a:t>
            </a:r>
          </a:p>
          <a:p>
            <a:pPr marL="0" indent="0">
              <a:buNone/>
            </a:pPr>
            <a:endParaRPr lang="fr-FR" sz="1000" b="1"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356541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Conditions: ternary instruction</a:t>
            </a:r>
          </a:p>
        </p:txBody>
      </p:sp>
      <p:sp>
        <p:nvSpPr>
          <p:cNvPr id="3" name="Content Placeholder 2"/>
          <p:cNvSpPr>
            <a:spLocks noGrp="1"/>
          </p:cNvSpPr>
          <p:nvPr>
            <p:ph idx="1"/>
          </p:nvPr>
        </p:nvSpPr>
        <p:spPr/>
        <p:txBody>
          <a:bodyPr/>
          <a:lstStyle/>
          <a:p>
            <a:r>
              <a:rPr lang="en-US" dirty="0"/>
              <a:t>Syntax:</a:t>
            </a:r>
          </a:p>
          <a:p>
            <a:pPr marL="0" indent="0">
              <a:buNone/>
            </a:pPr>
            <a:r>
              <a:rPr lang="en-US" b="1" dirty="0">
                <a:latin typeface="Courier"/>
                <a:cs typeface="Courier"/>
              </a:rPr>
              <a:t>expression1 ? expression2 : expression3;</a:t>
            </a:r>
            <a:r>
              <a:rPr lang="en-US" dirty="0"/>
              <a:t> </a:t>
            </a:r>
          </a:p>
          <a:p>
            <a:endParaRPr lang="en-US" dirty="0"/>
          </a:p>
          <a:p>
            <a:r>
              <a:rPr lang="en-US" dirty="0"/>
              <a:t>The value of a </a:t>
            </a:r>
            <a:r>
              <a:rPr lang="en-US" dirty="0">
                <a:solidFill>
                  <a:srgbClr val="000000"/>
                </a:solidFill>
              </a:rPr>
              <a:t>ternary instruction (like a multiplexer?)</a:t>
            </a:r>
            <a:r>
              <a:rPr lang="en-US" dirty="0"/>
              <a:t> is determined as following:</a:t>
            </a:r>
          </a:p>
          <a:p>
            <a:pPr lvl="1"/>
            <a:r>
              <a:rPr lang="en-US" b="1" dirty="0">
                <a:latin typeface="Courier"/>
                <a:cs typeface="Courier"/>
              </a:rPr>
              <a:t>expression1</a:t>
            </a:r>
            <a:r>
              <a:rPr lang="en-US" dirty="0"/>
              <a:t> is evaluated. </a:t>
            </a:r>
          </a:p>
          <a:p>
            <a:pPr lvl="1"/>
            <a:r>
              <a:rPr lang="en-US" dirty="0"/>
              <a:t>If it is true, then </a:t>
            </a:r>
            <a:r>
              <a:rPr lang="en-US" b="1" dirty="0">
                <a:latin typeface="Courier"/>
                <a:cs typeface="Courier"/>
              </a:rPr>
              <a:t>expression2</a:t>
            </a:r>
            <a:r>
              <a:rPr lang="en-US" dirty="0"/>
              <a:t> is evaluated and becomes the result of the entire expression.</a:t>
            </a:r>
          </a:p>
          <a:p>
            <a:pPr lvl="1"/>
            <a:r>
              <a:rPr lang="en-US" dirty="0"/>
              <a:t>If it is false, then </a:t>
            </a:r>
            <a:r>
              <a:rPr lang="en-US" b="1" dirty="0">
                <a:latin typeface="Courier"/>
                <a:cs typeface="Courier"/>
              </a:rPr>
              <a:t>expression3</a:t>
            </a:r>
            <a:r>
              <a:rPr lang="en-US" dirty="0"/>
              <a:t> is evaluated and its value becomes the result of the expression.</a:t>
            </a:r>
          </a:p>
          <a:p>
            <a:endParaRPr lang="en-US"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93</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9201563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re 1"/>
          <p:cNvSpPr>
            <a:spLocks noGrp="1"/>
          </p:cNvSpPr>
          <p:nvPr>
            <p:ph type="title"/>
          </p:nvPr>
        </p:nvSpPr>
        <p:spPr/>
        <p:txBody>
          <a:bodyPr/>
          <a:lstStyle/>
          <a:p>
            <a:r>
              <a:rPr lang="fr-FR" sz="2800" dirty="0">
                <a:latin typeface="Arial" charset="0"/>
                <a:ea typeface="ＭＳ Ｐゴシック" charset="0"/>
                <a:cs typeface="ＭＳ Ｐゴシック" charset="0"/>
              </a:rPr>
              <a:t>Conditions: </a:t>
            </a:r>
            <a:r>
              <a:rPr lang="fr-FR" sz="2800" dirty="0" err="1">
                <a:latin typeface="Arial" charset="0"/>
                <a:ea typeface="ＭＳ Ｐゴシック" charset="0"/>
                <a:cs typeface="ＭＳ Ｐゴシック" charset="0"/>
              </a:rPr>
              <a:t>switch</a:t>
            </a:r>
            <a:r>
              <a:rPr lang="fr-FR" sz="2800" dirty="0">
                <a:latin typeface="Arial" charset="0"/>
                <a:ea typeface="ＭＳ Ｐゴシック" charset="0"/>
                <a:cs typeface="ＭＳ Ｐゴシック" charset="0"/>
              </a:rPr>
              <a:t> </a:t>
            </a:r>
            <a:r>
              <a:rPr lang="fr-FR" sz="2800" dirty="0">
                <a:latin typeface="Arial" charset="0"/>
                <a:cs typeface="ＭＳ Ｐゴシック" charset="0"/>
              </a:rPr>
              <a:t>- </a:t>
            </a:r>
            <a:r>
              <a:rPr lang="fr-FR" sz="2800" dirty="0">
                <a:latin typeface="Arial" charset="0"/>
                <a:ea typeface="ＭＳ Ｐゴシック" charset="0"/>
                <a:cs typeface="ＭＳ Ｐゴシック" charset="0"/>
              </a:rPr>
              <a:t>case</a:t>
            </a:r>
          </a:p>
        </p:txBody>
      </p:sp>
      <p:sp>
        <p:nvSpPr>
          <p:cNvPr id="81922" name="Espace réservé du contenu 2"/>
          <p:cNvSpPr>
            <a:spLocks noGrp="1"/>
          </p:cNvSpPr>
          <p:nvPr>
            <p:ph idx="1"/>
          </p:nvPr>
        </p:nvSpPr>
        <p:spPr/>
        <p:txBody>
          <a:bodyPr/>
          <a:lstStyle/>
          <a:p>
            <a:r>
              <a:rPr lang="fr-FR" dirty="0" err="1">
                <a:latin typeface="Arial" charset="0"/>
                <a:ea typeface="ＭＳ Ｐゴシック" charset="0"/>
                <a:cs typeface="ＭＳ Ｐゴシック" charset="0"/>
              </a:rPr>
              <a:t>Syntax</a:t>
            </a:r>
            <a:r>
              <a:rPr lang="fr-FR" dirty="0">
                <a:latin typeface="Arial" charset="0"/>
                <a:ea typeface="ＭＳ Ｐゴシック" charset="0"/>
                <a:cs typeface="ＭＳ Ｐゴシック" charset="0"/>
              </a:rPr>
              <a:t>:</a:t>
            </a:r>
            <a:br>
              <a:rPr lang="fr-FR" dirty="0">
                <a:latin typeface="Arial" charset="0"/>
                <a:ea typeface="ＭＳ Ｐゴシック" charset="0"/>
                <a:cs typeface="ＭＳ Ｐゴシック" charset="0"/>
              </a:rPr>
            </a:br>
            <a:r>
              <a:rPr lang="fr-FR" sz="2000" dirty="0">
                <a:latin typeface="Courier"/>
                <a:cs typeface="Courier"/>
              </a:rPr>
              <a:t> </a:t>
            </a:r>
            <a:r>
              <a:rPr lang="fr-FR" sz="2000" b="1" dirty="0" err="1">
                <a:latin typeface="Courier"/>
                <a:cs typeface="Courier"/>
              </a:rPr>
              <a:t>switch</a:t>
            </a:r>
            <a:r>
              <a:rPr lang="fr-FR" sz="2000" b="1" dirty="0">
                <a:latin typeface="Courier"/>
                <a:cs typeface="Courier"/>
              </a:rPr>
              <a:t>(expression) {</a:t>
            </a:r>
          </a:p>
          <a:p>
            <a:pPr marL="542925" lvl="1" indent="0">
              <a:buNone/>
            </a:pPr>
            <a:r>
              <a:rPr lang="fr-FR" b="1" dirty="0">
                <a:latin typeface="Courier"/>
                <a:cs typeface="Courier"/>
              </a:rPr>
              <a:t>	case constant-expression1: </a:t>
            </a:r>
          </a:p>
          <a:p>
            <a:pPr marL="542925" lvl="1" indent="0">
              <a:buNone/>
            </a:pPr>
            <a:r>
              <a:rPr lang="fr-FR" b="1" dirty="0">
                <a:latin typeface="Courier"/>
                <a:cs typeface="Courier"/>
              </a:rPr>
              <a:t>		</a:t>
            </a:r>
            <a:r>
              <a:rPr lang="fr-FR" b="1" dirty="0" err="1">
                <a:latin typeface="Courier"/>
                <a:cs typeface="Courier"/>
              </a:rPr>
              <a:t>list</a:t>
            </a:r>
            <a:r>
              <a:rPr lang="fr-FR" b="1" dirty="0">
                <a:latin typeface="Courier"/>
                <a:cs typeface="Courier"/>
              </a:rPr>
              <a:t> of instructions1 ;</a:t>
            </a:r>
          </a:p>
          <a:p>
            <a:pPr marL="542925" lvl="1" indent="0">
              <a:buNone/>
            </a:pPr>
            <a:r>
              <a:rPr lang="fr-FR" b="1" dirty="0">
                <a:latin typeface="Courier"/>
                <a:cs typeface="Courier"/>
              </a:rPr>
              <a:t>		break ; 				</a:t>
            </a:r>
            <a:r>
              <a:rPr lang="fr-FR" dirty="0">
                <a:cs typeface="Courier"/>
              </a:rPr>
              <a:t>(</a:t>
            </a:r>
            <a:r>
              <a:rPr lang="fr-FR" dirty="0" err="1">
                <a:cs typeface="Courier"/>
              </a:rPr>
              <a:t>optional</a:t>
            </a:r>
            <a:r>
              <a:rPr lang="fr-FR" dirty="0">
                <a:cs typeface="Courier"/>
              </a:rPr>
              <a:t>)</a:t>
            </a:r>
          </a:p>
          <a:p>
            <a:pPr marL="542925" lvl="1" indent="0">
              <a:buNone/>
            </a:pPr>
            <a:r>
              <a:rPr lang="fr-FR" b="1" dirty="0">
                <a:latin typeface="Courier"/>
                <a:cs typeface="Courier"/>
              </a:rPr>
              <a:t>	case constant-expression2:</a:t>
            </a:r>
            <a:br>
              <a:rPr lang="fr-FR" b="1" dirty="0">
                <a:latin typeface="Courier"/>
                <a:cs typeface="Courier"/>
              </a:rPr>
            </a:br>
            <a:r>
              <a:rPr lang="fr-FR" dirty="0">
                <a:latin typeface="Courier"/>
                <a:cs typeface="Courier"/>
              </a:rPr>
              <a:t> </a:t>
            </a:r>
            <a:r>
              <a:rPr lang="fr-FR" b="1" dirty="0">
                <a:latin typeface="Courier"/>
                <a:cs typeface="Courier"/>
              </a:rPr>
              <a:t>		</a:t>
            </a:r>
            <a:r>
              <a:rPr lang="fr-FR" b="1" dirty="0" err="1">
                <a:latin typeface="Courier"/>
                <a:cs typeface="Courier"/>
              </a:rPr>
              <a:t>list</a:t>
            </a:r>
            <a:r>
              <a:rPr lang="fr-FR" b="1" dirty="0">
                <a:latin typeface="Courier"/>
                <a:cs typeface="Courier"/>
              </a:rPr>
              <a:t> of instruction2 ;</a:t>
            </a:r>
          </a:p>
          <a:p>
            <a:pPr marL="542925" lvl="1" indent="0">
              <a:buNone/>
            </a:pPr>
            <a:r>
              <a:rPr lang="fr-FR" b="1" dirty="0">
                <a:latin typeface="Courier"/>
                <a:cs typeface="Courier"/>
              </a:rPr>
              <a:t>		break ;</a:t>
            </a:r>
          </a:p>
          <a:p>
            <a:pPr marL="542925" lvl="1" indent="0">
              <a:buNone/>
            </a:pPr>
            <a:r>
              <a:rPr lang="fr-FR" b="1" dirty="0">
                <a:latin typeface="Courier"/>
                <a:cs typeface="Courier"/>
              </a:rPr>
              <a:t>	default: 					</a:t>
            </a:r>
            <a:r>
              <a:rPr lang="fr-FR" dirty="0">
                <a:cs typeface="Courier"/>
              </a:rPr>
              <a:t>(</a:t>
            </a:r>
            <a:r>
              <a:rPr lang="fr-FR" dirty="0" err="1">
                <a:cs typeface="Courier"/>
              </a:rPr>
              <a:t>optional</a:t>
            </a:r>
            <a:r>
              <a:rPr lang="fr-FR" dirty="0">
                <a:cs typeface="Courier"/>
              </a:rPr>
              <a:t>)</a:t>
            </a:r>
          </a:p>
          <a:p>
            <a:pPr marL="542925" lvl="1" indent="0">
              <a:buNone/>
            </a:pPr>
            <a:r>
              <a:rPr lang="fr-FR" dirty="0">
                <a:latin typeface="Courier"/>
                <a:cs typeface="Courier"/>
              </a:rPr>
              <a:t> </a:t>
            </a:r>
            <a:r>
              <a:rPr lang="fr-FR" b="1" dirty="0">
                <a:latin typeface="Courier"/>
                <a:cs typeface="Courier"/>
              </a:rPr>
              <a:t>		</a:t>
            </a:r>
            <a:r>
              <a:rPr lang="fr-FR" b="1" dirty="0" err="1">
                <a:latin typeface="Courier"/>
                <a:cs typeface="Courier"/>
              </a:rPr>
              <a:t>list</a:t>
            </a:r>
            <a:r>
              <a:rPr lang="fr-FR" b="1" dirty="0">
                <a:latin typeface="Courier"/>
                <a:cs typeface="Courier"/>
              </a:rPr>
              <a:t> of instructions3 ;</a:t>
            </a:r>
          </a:p>
          <a:p>
            <a:pPr marL="542925" lvl="1" indent="0">
              <a:buNone/>
            </a:pPr>
            <a:r>
              <a:rPr lang="fr-FR" b="1" dirty="0">
                <a:latin typeface="Courier"/>
                <a:cs typeface="Courier"/>
              </a:rPr>
              <a:t>} </a:t>
            </a:r>
          </a:p>
          <a:p>
            <a:pPr marL="0" indent="0">
              <a:buNone/>
            </a:pPr>
            <a:endParaRPr lang="fr-FR" sz="1000" b="1"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94</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0776214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err="1">
                <a:latin typeface="Arial" charset="0"/>
                <a:cs typeface="ＭＳ Ｐゴシック" charset="0"/>
              </a:rPr>
              <a:t>Loops</a:t>
            </a:r>
            <a:endParaRPr lang="fr-FR" sz="2800" dirty="0">
              <a:latin typeface="Arial" charset="0"/>
              <a:cs typeface="ＭＳ Ｐゴシック" charset="0"/>
            </a:endParaRPr>
          </a:p>
        </p:txBody>
      </p:sp>
      <p:sp>
        <p:nvSpPr>
          <p:cNvPr id="3" name="Espace réservé du contenu 2"/>
          <p:cNvSpPr>
            <a:spLocks noGrp="1"/>
          </p:cNvSpPr>
          <p:nvPr>
            <p:ph idx="1"/>
          </p:nvPr>
        </p:nvSpPr>
        <p:spPr>
          <a:xfrm>
            <a:off x="323528" y="908720"/>
            <a:ext cx="8820472" cy="4537075"/>
          </a:xfrm>
        </p:spPr>
        <p:txBody>
          <a:bodyPr/>
          <a:lstStyle/>
          <a:p>
            <a:pPr>
              <a:defRPr/>
            </a:pPr>
            <a:r>
              <a:rPr lang="fr-FR" dirty="0" err="1"/>
              <a:t>Syntax</a:t>
            </a:r>
            <a:r>
              <a:rPr lang="fr-FR" dirty="0"/>
              <a:t> </a:t>
            </a:r>
            <a:r>
              <a:rPr lang="fr-FR" dirty="0" err="1"/>
              <a:t>while</a:t>
            </a:r>
            <a:br>
              <a:rPr lang="fr-FR" dirty="0"/>
            </a:br>
            <a:r>
              <a:rPr lang="fr-FR" sz="2000" dirty="0">
                <a:latin typeface="Courier"/>
                <a:cs typeface="Courier"/>
              </a:rPr>
              <a:t> </a:t>
            </a:r>
            <a:r>
              <a:rPr lang="fr-FR" sz="2000" b="1" dirty="0" err="1">
                <a:latin typeface="Courier"/>
                <a:cs typeface="Courier"/>
              </a:rPr>
              <a:t>while</a:t>
            </a:r>
            <a:r>
              <a:rPr lang="fr-FR" sz="2000" b="1" dirty="0">
                <a:latin typeface="Courier"/>
                <a:cs typeface="Courier"/>
              </a:rPr>
              <a:t> (expression) {</a:t>
            </a:r>
          </a:p>
          <a:p>
            <a:pPr marL="0" indent="0">
              <a:buNone/>
              <a:defRPr/>
            </a:pPr>
            <a:r>
              <a:rPr lang="fr-FR" sz="2000" b="1" dirty="0">
                <a:latin typeface="Courier"/>
                <a:cs typeface="Courier"/>
              </a:rPr>
              <a:t>	</a:t>
            </a:r>
            <a:r>
              <a:rPr lang="fr-FR" sz="2000" b="1" dirty="0" err="1">
                <a:latin typeface="Courier"/>
                <a:cs typeface="Courier"/>
              </a:rPr>
              <a:t>list</a:t>
            </a:r>
            <a:r>
              <a:rPr lang="fr-FR" sz="2000" b="1" dirty="0">
                <a:latin typeface="Courier"/>
                <a:cs typeface="Courier"/>
              </a:rPr>
              <a:t> of instructions ;</a:t>
            </a:r>
          </a:p>
          <a:p>
            <a:pPr marL="0" indent="0">
              <a:buNone/>
              <a:defRPr/>
            </a:pPr>
            <a:r>
              <a:rPr lang="fr-FR" sz="2000" b="1" dirty="0">
                <a:latin typeface="Courier"/>
                <a:cs typeface="Courier"/>
              </a:rPr>
              <a:t>     }</a:t>
            </a:r>
          </a:p>
          <a:p>
            <a:pPr>
              <a:defRPr/>
            </a:pPr>
            <a:r>
              <a:rPr lang="fr-FR" dirty="0" err="1"/>
              <a:t>Syntax</a:t>
            </a:r>
            <a:r>
              <a:rPr lang="fr-FR" dirty="0"/>
              <a:t> do-</a:t>
            </a:r>
            <a:r>
              <a:rPr lang="fr-FR" dirty="0" err="1"/>
              <a:t>while</a:t>
            </a:r>
            <a:br>
              <a:rPr lang="fr-FR" dirty="0"/>
            </a:br>
            <a:r>
              <a:rPr lang="fr-FR" sz="2000" b="1" dirty="0">
                <a:latin typeface="Courier"/>
                <a:cs typeface="Courier"/>
              </a:rPr>
              <a:t>do {</a:t>
            </a:r>
          </a:p>
          <a:p>
            <a:pPr marL="0" indent="0">
              <a:buNone/>
              <a:defRPr/>
            </a:pPr>
            <a:r>
              <a:rPr lang="fr-FR" sz="2000" b="1" dirty="0">
                <a:latin typeface="Courier"/>
                <a:cs typeface="Courier"/>
              </a:rPr>
              <a:t>	</a:t>
            </a:r>
            <a:r>
              <a:rPr lang="fr-FR" sz="2000" b="1" dirty="0" err="1">
                <a:latin typeface="Courier"/>
                <a:cs typeface="Courier"/>
              </a:rPr>
              <a:t>list</a:t>
            </a:r>
            <a:r>
              <a:rPr lang="fr-FR" sz="2000" b="1" dirty="0">
                <a:latin typeface="Courier"/>
                <a:cs typeface="Courier"/>
              </a:rPr>
              <a:t> of instructions</a:t>
            </a:r>
          </a:p>
          <a:p>
            <a:pPr marL="0" indent="0">
              <a:buNone/>
              <a:defRPr/>
            </a:pPr>
            <a:r>
              <a:rPr lang="fr-FR" sz="2000" b="1" dirty="0">
                <a:latin typeface="Courier"/>
                <a:cs typeface="Courier"/>
              </a:rPr>
              <a:t>     } </a:t>
            </a:r>
            <a:r>
              <a:rPr lang="fr-FR" sz="2000" b="1" dirty="0" err="1">
                <a:latin typeface="Courier"/>
                <a:cs typeface="Courier"/>
              </a:rPr>
              <a:t>while</a:t>
            </a:r>
            <a:r>
              <a:rPr lang="fr-FR" sz="2000" b="1" dirty="0">
                <a:latin typeface="Courier"/>
                <a:cs typeface="Courier"/>
              </a:rPr>
              <a:t> (expression) ;</a:t>
            </a:r>
          </a:p>
          <a:p>
            <a:pPr>
              <a:defRPr/>
            </a:pPr>
            <a:endParaRPr lang="fr-FR" sz="1000" dirty="0"/>
          </a:p>
          <a:p>
            <a:pPr>
              <a:defRPr/>
            </a:pPr>
            <a:r>
              <a:rPr lang="fr-FR" dirty="0" err="1"/>
              <a:t>Syntax</a:t>
            </a:r>
            <a:r>
              <a:rPr lang="fr-FR" dirty="0"/>
              <a:t> for</a:t>
            </a:r>
            <a:br>
              <a:rPr lang="fr-FR" dirty="0"/>
            </a:br>
            <a:r>
              <a:rPr lang="fr-FR" dirty="0"/>
              <a:t> </a:t>
            </a:r>
            <a:r>
              <a:rPr lang="fr-FR" sz="2000" b="1" dirty="0">
                <a:latin typeface="Courier"/>
                <a:cs typeface="Courier"/>
              </a:rPr>
              <a:t>for(expression1; expression2; expression3) { </a:t>
            </a:r>
          </a:p>
          <a:p>
            <a:pPr marL="0" indent="0">
              <a:buNone/>
              <a:defRPr/>
            </a:pPr>
            <a:r>
              <a:rPr lang="fr-FR" sz="2000" b="1" dirty="0">
                <a:latin typeface="Courier"/>
                <a:cs typeface="Courier"/>
              </a:rPr>
              <a:t>	</a:t>
            </a:r>
            <a:r>
              <a:rPr lang="fr-FR" sz="2000" b="1" dirty="0" err="1">
                <a:latin typeface="Courier"/>
                <a:cs typeface="Courier"/>
              </a:rPr>
              <a:t>list</a:t>
            </a:r>
            <a:r>
              <a:rPr lang="fr-FR" sz="2000" b="1" dirty="0">
                <a:latin typeface="Courier"/>
                <a:cs typeface="Courier"/>
              </a:rPr>
              <a:t> of instructions ;</a:t>
            </a:r>
          </a:p>
          <a:p>
            <a:pPr marL="0" indent="0">
              <a:buNone/>
              <a:defRPr/>
            </a:pPr>
            <a:r>
              <a:rPr lang="fr-FR" sz="2000" b="1" dirty="0">
                <a:latin typeface="Courier"/>
                <a:cs typeface="Courier"/>
              </a:rPr>
              <a:t>   }</a:t>
            </a:r>
          </a:p>
          <a:p>
            <a:pPr lvl="1">
              <a:defRPr/>
            </a:pPr>
            <a:r>
              <a:rPr lang="fr-FR" b="1" dirty="0">
                <a:latin typeface="Courier"/>
                <a:cs typeface="Courier"/>
              </a:rPr>
              <a:t>expression1</a:t>
            </a:r>
            <a:r>
              <a:rPr lang="fr-FR" dirty="0">
                <a:cs typeface="Courier"/>
              </a:rPr>
              <a:t>: </a:t>
            </a:r>
            <a:r>
              <a:rPr lang="fr-FR" dirty="0" err="1">
                <a:cs typeface="Courier"/>
              </a:rPr>
              <a:t>initialization</a:t>
            </a:r>
            <a:endParaRPr lang="fr-FR" dirty="0">
              <a:cs typeface="Courier"/>
            </a:endParaRPr>
          </a:p>
          <a:p>
            <a:pPr lvl="1">
              <a:defRPr/>
            </a:pPr>
            <a:r>
              <a:rPr lang="fr-FR" b="1" dirty="0">
                <a:latin typeface="Courier"/>
                <a:cs typeface="Courier"/>
              </a:rPr>
              <a:t>expression2</a:t>
            </a:r>
            <a:r>
              <a:rPr lang="fr-FR" dirty="0">
                <a:cs typeface="Courier"/>
              </a:rPr>
              <a:t>: condition of </a:t>
            </a:r>
            <a:r>
              <a:rPr lang="fr-FR" dirty="0" err="1">
                <a:cs typeface="Courier"/>
              </a:rPr>
              <a:t>termination</a:t>
            </a:r>
            <a:endParaRPr lang="fr-FR" dirty="0">
              <a:cs typeface="Courier"/>
            </a:endParaRPr>
          </a:p>
          <a:p>
            <a:pPr lvl="1">
              <a:defRPr/>
            </a:pPr>
            <a:r>
              <a:rPr lang="fr-FR" b="1" dirty="0">
                <a:latin typeface="Courier"/>
                <a:cs typeface="Courier"/>
              </a:rPr>
              <a:t>expression3</a:t>
            </a:r>
            <a:r>
              <a:rPr lang="fr-FR" dirty="0">
                <a:cs typeface="Courier"/>
              </a:rPr>
              <a:t>: </a:t>
            </a:r>
            <a:r>
              <a:rPr lang="fr-FR" dirty="0" err="1">
                <a:cs typeface="Courier"/>
              </a:rPr>
              <a:t>step</a:t>
            </a:r>
            <a:r>
              <a:rPr lang="fr-FR" dirty="0">
                <a:cs typeface="Courier"/>
              </a:rPr>
              <a:t> </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95</a:t>
            </a:fld>
            <a:endParaRPr lang="fr-FR" sz="1400">
              <a:solidFill>
                <a:srgbClr val="000208"/>
              </a:solidFill>
              <a:latin typeface="Times New Roman" charset="0"/>
            </a:endParaRPr>
          </a:p>
        </p:txBody>
      </p:sp>
      <p:sp>
        <p:nvSpPr>
          <p:cNvPr id="2" name="Espace réservé du pied de page 1">
            <a:extLst>
              <a:ext uri="{FF2B5EF4-FFF2-40B4-BE49-F238E27FC236}">
                <a16:creationId xmlns:a16="http://schemas.microsoft.com/office/drawing/2014/main" id="{E6678231-E8A8-0FEF-0C71-943C5A8BD1FB}"/>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52236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re 1"/>
          <p:cNvSpPr>
            <a:spLocks noGrp="1"/>
          </p:cNvSpPr>
          <p:nvPr>
            <p:ph type="title"/>
          </p:nvPr>
        </p:nvSpPr>
        <p:spPr/>
        <p:txBody>
          <a:bodyPr/>
          <a:lstStyle/>
          <a:p>
            <a:r>
              <a:rPr lang="fr-FR" sz="2800" dirty="0" err="1">
                <a:latin typeface="Arial" charset="0"/>
                <a:cs typeface="ＭＳ Ｐゴシック" charset="0"/>
              </a:rPr>
              <a:t>Loops</a:t>
            </a:r>
            <a:r>
              <a:rPr lang="fr-FR" sz="2800" dirty="0">
                <a:latin typeface="Arial" charset="0"/>
                <a:cs typeface="ＭＳ Ｐゴシック" charset="0"/>
              </a:rPr>
              <a:t>: Control </a:t>
            </a:r>
            <a:r>
              <a:rPr lang="fr-FR" sz="2800" dirty="0" err="1">
                <a:latin typeface="Arial" charset="0"/>
                <a:cs typeface="ＭＳ Ｐゴシック" charset="0"/>
              </a:rPr>
              <a:t>statements</a:t>
            </a:r>
            <a:endParaRPr lang="fr-FR" sz="2800" dirty="0">
              <a:latin typeface="Arial" charset="0"/>
              <a:cs typeface="ＭＳ Ｐゴシック" charset="0"/>
            </a:endParaRPr>
          </a:p>
        </p:txBody>
      </p:sp>
      <p:sp>
        <p:nvSpPr>
          <p:cNvPr id="3" name="Espace réservé du contenu 2"/>
          <p:cNvSpPr>
            <a:spLocks noGrp="1"/>
          </p:cNvSpPr>
          <p:nvPr>
            <p:ph idx="1"/>
          </p:nvPr>
        </p:nvSpPr>
        <p:spPr>
          <a:xfrm>
            <a:off x="323528" y="944153"/>
            <a:ext cx="8820472" cy="4537075"/>
          </a:xfrm>
        </p:spPr>
        <p:txBody>
          <a:bodyPr/>
          <a:lstStyle/>
          <a:p>
            <a:pPr>
              <a:defRPr/>
            </a:pPr>
            <a:r>
              <a:rPr lang="en-GB" dirty="0"/>
              <a:t>Change execution from its normal sequence</a:t>
            </a:r>
          </a:p>
          <a:p>
            <a:pPr>
              <a:defRPr/>
            </a:pPr>
            <a:endParaRPr lang="en-GB" dirty="0"/>
          </a:p>
          <a:p>
            <a:pPr>
              <a:defRPr/>
            </a:pPr>
            <a:r>
              <a:rPr lang="en-GB" dirty="0"/>
              <a:t>Instruction </a:t>
            </a:r>
            <a:r>
              <a:rPr lang="en-GB" b="1" dirty="0">
                <a:latin typeface="Courier"/>
                <a:cs typeface="Courier"/>
              </a:rPr>
              <a:t>break;</a:t>
            </a:r>
          </a:p>
          <a:p>
            <a:pPr lvl="1">
              <a:defRPr/>
            </a:pPr>
            <a:r>
              <a:rPr lang="en-GB" dirty="0"/>
              <a:t>Terminates the </a:t>
            </a:r>
            <a:r>
              <a:rPr lang="en-GB" b="1" dirty="0">
                <a:latin typeface="Courier"/>
                <a:cs typeface="Courier"/>
              </a:rPr>
              <a:t>loop</a:t>
            </a:r>
            <a:r>
              <a:rPr lang="en-GB" dirty="0"/>
              <a:t> or </a:t>
            </a:r>
            <a:r>
              <a:rPr lang="en-GB" b="1" dirty="0">
                <a:latin typeface="Courier"/>
                <a:cs typeface="Courier"/>
              </a:rPr>
              <a:t>switch</a:t>
            </a:r>
            <a:r>
              <a:rPr lang="en-GB" dirty="0"/>
              <a:t> statement </a:t>
            </a:r>
          </a:p>
          <a:p>
            <a:pPr lvl="1">
              <a:defRPr/>
            </a:pPr>
            <a:r>
              <a:rPr lang="en-GB" dirty="0"/>
              <a:t>Transfers execution to the statement immediately following the END of the loop or switch.</a:t>
            </a:r>
          </a:p>
          <a:p>
            <a:pPr lvl="1">
              <a:defRPr/>
            </a:pPr>
            <a:endParaRPr lang="en-GB" sz="1000" b="1" dirty="0"/>
          </a:p>
          <a:p>
            <a:pPr>
              <a:defRPr/>
            </a:pPr>
            <a:r>
              <a:rPr lang="en-GB" dirty="0"/>
              <a:t>Instruction </a:t>
            </a:r>
            <a:r>
              <a:rPr lang="en-GB" b="1" dirty="0">
                <a:latin typeface="Courier"/>
                <a:cs typeface="Courier"/>
              </a:rPr>
              <a:t>continue;</a:t>
            </a:r>
          </a:p>
          <a:p>
            <a:pPr lvl="1">
              <a:defRPr/>
            </a:pPr>
            <a:r>
              <a:rPr lang="en-GB" dirty="0"/>
              <a:t>Causes the loop to skip the remaining of its BODY</a:t>
            </a:r>
          </a:p>
          <a:p>
            <a:pPr lvl="1">
              <a:defRPr/>
            </a:pPr>
            <a:r>
              <a:rPr lang="en-GB" dirty="0"/>
              <a:t>Immediately retests the condition expression before reiterating.</a:t>
            </a:r>
          </a:p>
          <a:p>
            <a:pPr>
              <a:defRPr/>
            </a:pPr>
            <a:endParaRPr lang="en-GB" dirty="0"/>
          </a:p>
          <a:p>
            <a:pPr>
              <a:defRPr/>
            </a:pPr>
            <a:r>
              <a:rPr lang="en-GB" dirty="0"/>
              <a:t>Instruction </a:t>
            </a:r>
            <a:r>
              <a:rPr lang="en-GB" b="1" dirty="0" err="1">
                <a:solidFill>
                  <a:srgbClr val="000000"/>
                </a:solidFill>
                <a:latin typeface="Courier"/>
                <a:cs typeface="Courier"/>
              </a:rPr>
              <a:t>goto</a:t>
            </a:r>
            <a:r>
              <a:rPr lang="en-GB" b="1" dirty="0">
                <a:solidFill>
                  <a:srgbClr val="000000"/>
                </a:solidFill>
                <a:latin typeface="Courier"/>
                <a:cs typeface="Courier"/>
              </a:rPr>
              <a:t> label;</a:t>
            </a:r>
          </a:p>
          <a:p>
            <a:pPr lvl="1">
              <a:defRPr/>
            </a:pPr>
            <a:r>
              <a:rPr lang="en-GB" b="1" dirty="0">
                <a:solidFill>
                  <a:srgbClr val="FF0000"/>
                </a:solidFill>
              </a:rPr>
              <a:t>NEVER USE </a:t>
            </a:r>
            <a:r>
              <a:rPr lang="en-GB" b="1" dirty="0" err="1">
                <a:solidFill>
                  <a:srgbClr val="FF0000"/>
                </a:solidFill>
              </a:rPr>
              <a:t>goto</a:t>
            </a:r>
            <a:r>
              <a:rPr lang="en-GB" b="1" dirty="0">
                <a:solidFill>
                  <a:srgbClr val="FF0000"/>
                </a:solidFill>
              </a:rPr>
              <a:t> ! (except special cases)</a:t>
            </a:r>
          </a:p>
          <a:p>
            <a:pPr marL="542925" lvl="1" indent="0">
              <a:buNone/>
              <a:defRPr/>
            </a:pPr>
            <a:endParaRPr lang="en-GB" sz="1000" b="1" dirty="0"/>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96</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1507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p:cNvSpPr>
            <a:spLocks noGrp="1"/>
          </p:cNvSpPr>
          <p:nvPr>
            <p:ph type="title"/>
          </p:nvPr>
        </p:nvSpPr>
        <p:spPr/>
        <p:txBody>
          <a:bodyPr/>
          <a:lstStyle/>
          <a:p>
            <a:r>
              <a:rPr lang="fr-FR" sz="2800" dirty="0" err="1">
                <a:latin typeface="Arial" charset="0"/>
                <a:cs typeface="ＭＳ Ｐゴシック" charset="0"/>
              </a:rPr>
              <a:t>Other</a:t>
            </a:r>
            <a:r>
              <a:rPr lang="fr-FR" sz="2800" dirty="0">
                <a:latin typeface="Arial" charset="0"/>
                <a:cs typeface="ＭＳ Ｐゴシック" charset="0"/>
              </a:rPr>
              <a:t> types of </a:t>
            </a:r>
            <a:r>
              <a:rPr lang="fr-FR" sz="2800" dirty="0" err="1">
                <a:latin typeface="Arial" charset="0"/>
                <a:cs typeface="ＭＳ Ｐゴシック" charset="0"/>
              </a:rPr>
              <a:t>objects</a:t>
            </a:r>
            <a:endParaRPr lang="fr-FR" sz="2800" dirty="0">
              <a:latin typeface="Arial" charset="0"/>
              <a:ea typeface="ＭＳ Ｐゴシック" charset="0"/>
              <a:cs typeface="ＭＳ Ｐゴシック" charset="0"/>
            </a:endParaRPr>
          </a:p>
        </p:txBody>
      </p:sp>
      <p:sp>
        <p:nvSpPr>
          <p:cNvPr id="70658" name="Espace réservé du contenu 2"/>
          <p:cNvSpPr>
            <a:spLocks noGrp="1"/>
          </p:cNvSpPr>
          <p:nvPr>
            <p:ph idx="1"/>
          </p:nvPr>
        </p:nvSpPr>
        <p:spPr>
          <a:xfrm>
            <a:off x="359532" y="1124744"/>
            <a:ext cx="8784468" cy="5400675"/>
          </a:xfrm>
        </p:spPr>
        <p:txBody>
          <a:bodyPr/>
          <a:lstStyle/>
          <a:p>
            <a:r>
              <a:rPr lang="en-US" dirty="0"/>
              <a:t>Derived data types:</a:t>
            </a:r>
          </a:p>
          <a:p>
            <a:pPr lvl="1"/>
            <a:r>
              <a:rPr lang="en-US" dirty="0"/>
              <a:t>Pointer type</a:t>
            </a:r>
          </a:p>
          <a:p>
            <a:pPr lvl="1"/>
            <a:r>
              <a:rPr lang="en-US" dirty="0"/>
              <a:t>Array type</a:t>
            </a:r>
          </a:p>
          <a:p>
            <a:pPr lvl="1"/>
            <a:r>
              <a:rPr lang="en-US" dirty="0"/>
              <a:t>Structure type</a:t>
            </a:r>
          </a:p>
          <a:p>
            <a:pPr lvl="1"/>
            <a:r>
              <a:rPr lang="en-US" dirty="0"/>
              <a:t>Union type</a:t>
            </a:r>
          </a:p>
          <a:p>
            <a:pPr lvl="1"/>
            <a:endParaRPr lang="en-US" dirty="0">
              <a:latin typeface="Arial" charset="0"/>
              <a:cs typeface="ＭＳ Ｐゴシック" charset="0"/>
            </a:endParaRPr>
          </a:p>
          <a:p>
            <a:r>
              <a:rPr lang="en-GB" dirty="0"/>
              <a:t>Enumerated types: </a:t>
            </a:r>
          </a:p>
          <a:p>
            <a:pPr lvl="1"/>
            <a:r>
              <a:rPr lang="en-GB" dirty="0"/>
              <a:t>Arithmetic types used to define variables</a:t>
            </a:r>
          </a:p>
          <a:p>
            <a:pPr lvl="1"/>
            <a:r>
              <a:rPr lang="en-GB" dirty="0"/>
              <a:t>Variables can only assign certain discrete integer values.</a:t>
            </a:r>
          </a:p>
          <a:p>
            <a:pPr marL="0" indent="0">
              <a:buNone/>
            </a:pPr>
            <a:endParaRPr lang="en-GB" dirty="0">
              <a:latin typeface="Arial" charset="0"/>
              <a:cs typeface="ＭＳ Ｐゴシック" charset="0"/>
            </a:endParaRPr>
          </a:p>
          <a:p>
            <a:r>
              <a:rPr lang="en-GB" dirty="0">
                <a:cs typeface="Courier"/>
              </a:rPr>
              <a:t>Function type</a:t>
            </a:r>
          </a:p>
          <a:p>
            <a:r>
              <a:rPr lang="en-GB" b="1" dirty="0">
                <a:latin typeface="Courier"/>
                <a:cs typeface="Courier"/>
              </a:rPr>
              <a:t>Void</a:t>
            </a:r>
            <a:r>
              <a:rPr lang="en-GB" b="1" dirty="0">
                <a:latin typeface="Arial" charset="0"/>
                <a:cs typeface="ＭＳ Ｐゴシック" charset="0"/>
              </a:rPr>
              <a:t> </a:t>
            </a:r>
            <a:r>
              <a:rPr lang="en-GB" dirty="0">
                <a:latin typeface="Arial" charset="0"/>
                <a:cs typeface="ＭＳ Ｐゴシック" charset="0"/>
              </a:rPr>
              <a:t>type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8104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5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65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98</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CM 5:</a:t>
            </a:r>
            <a:br>
              <a:rPr lang="en-GB" dirty="0">
                <a:latin typeface="Arial" charset="0"/>
              </a:rPr>
            </a:br>
            <a:r>
              <a:rPr lang="en-GB" dirty="0">
                <a:latin typeface="Arial" charset="0"/>
              </a:rPr>
              <a:t>Pointers and Arrays</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41469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a:latin typeface="Arial" charset="0"/>
                <a:ea typeface="ＭＳ Ｐゴシック" charset="0"/>
                <a:cs typeface="ＭＳ Ｐゴシック" charset="0"/>
              </a:rPr>
              <a:t>Pointer type</a:t>
            </a:r>
          </a:p>
        </p:txBody>
      </p:sp>
      <p:sp>
        <p:nvSpPr>
          <p:cNvPr id="106498" name="Espace réservé du contenu 2"/>
          <p:cNvSpPr>
            <a:spLocks noGrp="1"/>
          </p:cNvSpPr>
          <p:nvPr>
            <p:ph idx="1"/>
          </p:nvPr>
        </p:nvSpPr>
        <p:spPr>
          <a:xfrm>
            <a:off x="143508" y="980157"/>
            <a:ext cx="8532948" cy="4537075"/>
          </a:xfrm>
        </p:spPr>
        <p:txBody>
          <a:bodyPr/>
          <a:lstStyle/>
          <a:p>
            <a:r>
              <a:rPr lang="en-GB" dirty="0">
                <a:latin typeface="Arial" charset="0"/>
                <a:cs typeface="ＭＳ Ｐゴシック" charset="0"/>
              </a:rPr>
              <a:t>Syntax:</a:t>
            </a:r>
            <a:endParaRPr lang="en-GB" b="1" dirty="0">
              <a:latin typeface="Courier"/>
              <a:cs typeface="Courier"/>
            </a:endParaRPr>
          </a:p>
          <a:p>
            <a:pPr marL="542925" lvl="1" indent="0">
              <a:buNone/>
            </a:pPr>
            <a:r>
              <a:rPr lang="en-GB" b="1" dirty="0">
                <a:latin typeface="Courier"/>
                <a:cs typeface="Courier"/>
              </a:rPr>
              <a:t>type * identifier;</a:t>
            </a:r>
          </a:p>
          <a:p>
            <a:pPr lvl="1"/>
            <a:endParaRPr lang="en-GB" sz="1000" dirty="0">
              <a:latin typeface="Arial" charset="0"/>
              <a:cs typeface="ＭＳ Ｐゴシック" charset="0"/>
            </a:endParaRPr>
          </a:p>
          <a:p>
            <a:r>
              <a:rPr lang="en-GB" dirty="0">
                <a:latin typeface="Arial" charset="0"/>
              </a:rPr>
              <a:t>Function:</a:t>
            </a:r>
          </a:p>
          <a:p>
            <a:pPr lvl="1"/>
            <a:r>
              <a:rPr lang="en-GB" dirty="0">
                <a:latin typeface="Arial" charset="0"/>
              </a:rPr>
              <a:t>The pointer type, </a:t>
            </a:r>
            <a:r>
              <a:rPr lang="en-GB" b="1" dirty="0">
                <a:latin typeface="Courier"/>
                <a:cs typeface="Courier"/>
              </a:rPr>
              <a:t>*</a:t>
            </a:r>
            <a:r>
              <a:rPr lang="en-GB" dirty="0">
                <a:latin typeface="Arial" charset="0"/>
                <a:cs typeface="Courier"/>
              </a:rPr>
              <a:t>,</a:t>
            </a:r>
            <a:r>
              <a:rPr lang="en-GB" dirty="0">
                <a:latin typeface="Arial" charset="0"/>
              </a:rPr>
              <a:t> is applied over a specific </a:t>
            </a:r>
            <a:r>
              <a:rPr lang="en-GB" b="1" dirty="0">
                <a:latin typeface="Courier"/>
                <a:cs typeface="Courier"/>
              </a:rPr>
              <a:t>type</a:t>
            </a:r>
            <a:r>
              <a:rPr lang="en-GB" dirty="0">
                <a:latin typeface="Arial" charset="0"/>
              </a:rPr>
              <a:t> of an object </a:t>
            </a:r>
          </a:p>
          <a:p>
            <a:pPr lvl="1"/>
            <a:r>
              <a:rPr lang="en-GB" dirty="0">
                <a:latin typeface="Arial" charset="0"/>
              </a:rPr>
              <a:t>The </a:t>
            </a:r>
            <a:r>
              <a:rPr lang="en-GB" b="1" dirty="0">
                <a:latin typeface="Courier"/>
                <a:cs typeface="Courier"/>
              </a:rPr>
              <a:t>type </a:t>
            </a:r>
            <a:r>
              <a:rPr lang="en-GB" dirty="0">
                <a:latin typeface="Arial" charset="0"/>
                <a:cs typeface="Courier"/>
              </a:rPr>
              <a:t>can be anything</a:t>
            </a:r>
            <a:r>
              <a:rPr lang="en-GB" dirty="0">
                <a:latin typeface="Arial" charset="0"/>
              </a:rPr>
              <a:t>: integer, character, float, pointer, structure, function etc.</a:t>
            </a:r>
            <a:endParaRPr lang="en-GB" sz="1100" dirty="0">
              <a:latin typeface="Arial" charset="0"/>
            </a:endParaRPr>
          </a:p>
          <a:p>
            <a:pPr lvl="1"/>
            <a:r>
              <a:rPr lang="en-GB" dirty="0">
                <a:latin typeface="Arial" charset="0"/>
                <a:cs typeface="ＭＳ Ｐゴシック" charset="0"/>
              </a:rPr>
              <a:t>The </a:t>
            </a:r>
            <a:r>
              <a:rPr lang="en-GB" b="1" dirty="0">
                <a:latin typeface="Courier"/>
                <a:cs typeface="Courier"/>
              </a:rPr>
              <a:t>identifier </a:t>
            </a:r>
            <a:r>
              <a:rPr lang="en-GB" dirty="0">
                <a:latin typeface="Arial" charset="0"/>
              </a:rPr>
              <a:t>points (refers) to an objet of that </a:t>
            </a:r>
            <a:r>
              <a:rPr lang="en-GB" b="1" dirty="0">
                <a:latin typeface="Courier"/>
                <a:cs typeface="Courier"/>
              </a:rPr>
              <a:t>type</a:t>
            </a:r>
          </a:p>
          <a:p>
            <a:pPr lvl="2"/>
            <a:r>
              <a:rPr lang="en-GB" dirty="0">
                <a:latin typeface="Arial" charset="0"/>
              </a:rPr>
              <a:t>It contains the </a:t>
            </a:r>
            <a:r>
              <a:rPr lang="en-GB" b="1" dirty="0">
                <a:latin typeface="Arial" charset="0"/>
              </a:rPr>
              <a:t>address</a:t>
            </a:r>
            <a:r>
              <a:rPr lang="en-GB" dirty="0">
                <a:latin typeface="Arial" charset="0"/>
              </a:rPr>
              <a:t> of the object that it is pointing to</a:t>
            </a:r>
          </a:p>
          <a:p>
            <a:pPr marL="542925" lvl="1" indent="0">
              <a:buNone/>
            </a:pPr>
            <a:endParaRPr lang="en-GB" sz="1000"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99</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50790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49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4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re 1"/>
          <p:cNvSpPr>
            <a:spLocks noGrp="1"/>
          </p:cNvSpPr>
          <p:nvPr>
            <p:ph type="title"/>
          </p:nvPr>
        </p:nvSpPr>
        <p:spPr/>
        <p:txBody>
          <a:bodyPr/>
          <a:lstStyle/>
          <a:p>
            <a:r>
              <a:rPr lang="fr-FR" sz="2800" dirty="0">
                <a:latin typeface="Arial" charset="0"/>
                <a:cs typeface="ＭＳ Ｐゴシック" charset="0"/>
              </a:rPr>
              <a:t>Pointer</a:t>
            </a:r>
            <a:endParaRPr lang="fr-FR" sz="2800" dirty="0">
              <a:latin typeface="Arial" charset="0"/>
              <a:ea typeface="ＭＳ Ｐゴシック" charset="0"/>
              <a:cs typeface="ＭＳ Ｐゴシック" charset="0"/>
            </a:endParaRPr>
          </a:p>
        </p:txBody>
      </p:sp>
      <p:sp>
        <p:nvSpPr>
          <p:cNvPr id="109570" name="Espace réservé du contenu 2"/>
          <p:cNvSpPr>
            <a:spLocks noGrp="1"/>
          </p:cNvSpPr>
          <p:nvPr>
            <p:ph idx="1"/>
          </p:nvPr>
        </p:nvSpPr>
        <p:spPr/>
        <p:txBody>
          <a:bodyPr/>
          <a:lstStyle/>
          <a:p>
            <a:r>
              <a:rPr lang="en-GB" dirty="0">
                <a:latin typeface="Arial" charset="0"/>
                <a:ea typeface="ＭＳ Ｐゴシック" charset="0"/>
                <a:cs typeface="ＭＳ Ｐゴシック" charset="0"/>
              </a:rPr>
              <a:t>Useful</a:t>
            </a:r>
          </a:p>
          <a:p>
            <a:pPr lvl="1"/>
            <a:r>
              <a:rPr lang="en-GB" dirty="0">
                <a:latin typeface="Arial" charset="0"/>
                <a:ea typeface="ＭＳ Ｐゴシック" charset="0"/>
              </a:rPr>
              <a:t>Mechanism of indexing</a:t>
            </a:r>
          </a:p>
          <a:p>
            <a:pPr lvl="1"/>
            <a:r>
              <a:rPr lang="en-GB" dirty="0">
                <a:latin typeface="Arial" charset="0"/>
              </a:rPr>
              <a:t>List structures</a:t>
            </a:r>
            <a:endParaRPr lang="en-GB" dirty="0">
              <a:latin typeface="Arial" charset="0"/>
              <a:ea typeface="ＭＳ Ｐゴシック" charset="0"/>
            </a:endParaRPr>
          </a:p>
          <a:p>
            <a:pPr lvl="1"/>
            <a:r>
              <a:rPr lang="en-GB" dirty="0">
                <a:latin typeface="Arial" charset="0"/>
                <a:ea typeface="ＭＳ Ｐゴシック" charset="0"/>
              </a:rPr>
              <a:t>Passing arguments to a function</a:t>
            </a:r>
          </a:p>
          <a:p>
            <a:pPr lvl="1"/>
            <a:r>
              <a:rPr lang="en-GB" dirty="0">
                <a:latin typeface="Arial" charset="0"/>
                <a:ea typeface="ＭＳ Ｐゴシック" charset="0"/>
              </a:rPr>
              <a:t>Dynamic allocation</a:t>
            </a:r>
          </a:p>
          <a:p>
            <a:pPr lvl="1"/>
            <a:endParaRPr lang="en-GB" dirty="0">
              <a:latin typeface="Arial" charset="0"/>
              <a:ea typeface="ＭＳ Ｐゴシック" charset="0"/>
            </a:endParaRPr>
          </a:p>
          <a:p>
            <a:r>
              <a:rPr lang="en-GB" dirty="0">
                <a:latin typeface="Arial" charset="0"/>
                <a:cs typeface="ＭＳ Ｐゴシック" charset="0"/>
              </a:rPr>
              <a:t>Often associated with</a:t>
            </a:r>
            <a:r>
              <a:rPr lang="en-GB" dirty="0">
                <a:latin typeface="Arial" charset="0"/>
                <a:ea typeface="ＭＳ Ｐゴシック" charset="0"/>
                <a:cs typeface="ＭＳ Ｐゴシック" charset="0"/>
              </a:rPr>
              <a:t> </a:t>
            </a:r>
            <a:r>
              <a:rPr lang="en-GB" b="1" dirty="0">
                <a:latin typeface="Courier"/>
                <a:ea typeface="ＭＳ Ｐゴシック" charset="0"/>
                <a:cs typeface="Courier"/>
              </a:rPr>
              <a:t>NULL</a:t>
            </a:r>
          </a:p>
          <a:p>
            <a:pPr lvl="1"/>
            <a:r>
              <a:rPr lang="en-GB" b="1" dirty="0">
                <a:latin typeface="Courier"/>
                <a:ea typeface="ＭＳ Ｐゴシック" charset="0"/>
                <a:cs typeface="Courier"/>
              </a:rPr>
              <a:t>NULL</a:t>
            </a:r>
            <a:r>
              <a:rPr lang="en-GB" dirty="0">
                <a:latin typeface="Arial" charset="0"/>
                <a:ea typeface="ＭＳ Ｐゴシック" charset="0"/>
              </a:rPr>
              <a:t> is a value of </a:t>
            </a:r>
            <a:r>
              <a:rPr lang="en-GB" dirty="0">
                <a:latin typeface="Arial" charset="0"/>
              </a:rPr>
              <a:t>pointer that points to nothing (nothing is an invalid address)</a:t>
            </a:r>
            <a:endParaRPr lang="en-GB" dirty="0">
              <a:latin typeface="Arial" charset="0"/>
              <a:ea typeface="ＭＳ Ｐゴシック" charset="0"/>
            </a:endParaRPr>
          </a:p>
          <a:p>
            <a:pPr lvl="1"/>
            <a:r>
              <a:rPr lang="en-GB" b="1" dirty="0">
                <a:solidFill>
                  <a:srgbClr val="FF0000"/>
                </a:solidFill>
                <a:latin typeface="Arial" charset="0"/>
                <a:ea typeface="ＭＳ Ｐゴシック" charset="0"/>
              </a:rPr>
              <a:t>Attention CAPITAL letters!!</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100</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3448743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a:latin typeface="Arial" charset="0"/>
                <a:ea typeface="ＭＳ Ｐゴシック" charset="0"/>
                <a:cs typeface="ＭＳ Ｐゴシック" charset="0"/>
              </a:rPr>
              <a:t>Pointer: </a:t>
            </a:r>
            <a:r>
              <a:rPr lang="fr-FR" sz="2800" dirty="0" err="1">
                <a:latin typeface="Arial" charset="0"/>
                <a:ea typeface="ＭＳ Ｐゴシック" charset="0"/>
                <a:cs typeface="ＭＳ Ｐゴシック" charset="0"/>
              </a:rPr>
              <a:t>Definition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101</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856154540"/>
              </p:ext>
            </p:extLst>
          </p:nvPr>
        </p:nvGraphicFramePr>
        <p:xfrm>
          <a:off x="4681678" y="1412776"/>
          <a:ext cx="2124236" cy="25958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4" name="Rectangle 3"/>
          <p:cNvSpPr/>
          <p:nvPr/>
        </p:nvSpPr>
        <p:spPr>
          <a:xfrm>
            <a:off x="174564" y="872716"/>
            <a:ext cx="1569886" cy="400110"/>
          </a:xfrm>
          <a:prstGeom prst="rect">
            <a:avLst/>
          </a:prstGeom>
        </p:spPr>
        <p:txBody>
          <a:bodyPr wrap="none">
            <a:spAutoFit/>
          </a:bodyPr>
          <a:lstStyle/>
          <a:p>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 </a:t>
            </a:r>
            <a:endParaRPr lang="en-US" sz="2000" dirty="0"/>
          </a:p>
        </p:txBody>
      </p:sp>
      <p:grpSp>
        <p:nvGrpSpPr>
          <p:cNvPr id="9" name="Group 8"/>
          <p:cNvGrpSpPr/>
          <p:nvPr/>
        </p:nvGrpSpPr>
        <p:grpSpPr>
          <a:xfrm>
            <a:off x="2914952" y="1736812"/>
            <a:ext cx="3962970" cy="468052"/>
            <a:chOff x="1617142" y="1736812"/>
            <a:chExt cx="3962970" cy="468052"/>
          </a:xfrm>
        </p:grpSpPr>
        <p:sp>
          <p:nvSpPr>
            <p:cNvPr id="7" name="Rectangle 6"/>
            <p:cNvSpPr/>
            <p:nvPr/>
          </p:nvSpPr>
          <p:spPr bwMode="auto">
            <a:xfrm>
              <a:off x="3311860" y="1736812"/>
              <a:ext cx="2268252" cy="468052"/>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161714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grpSp>
      <p:sp>
        <p:nvSpPr>
          <p:cNvPr id="13" name="Rectangle 12"/>
          <p:cNvSpPr/>
          <p:nvPr/>
        </p:nvSpPr>
        <p:spPr>
          <a:xfrm>
            <a:off x="5077722" y="1772816"/>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grpSp>
        <p:nvGrpSpPr>
          <p:cNvPr id="15" name="Group 14"/>
          <p:cNvGrpSpPr/>
          <p:nvPr/>
        </p:nvGrpSpPr>
        <p:grpSpPr>
          <a:xfrm>
            <a:off x="7021938" y="1772816"/>
            <a:ext cx="1978554" cy="400110"/>
            <a:chOff x="5724128" y="1772816"/>
            <a:chExt cx="1978554" cy="400110"/>
          </a:xfrm>
        </p:grpSpPr>
        <p:cxnSp>
          <p:nvCxnSpPr>
            <p:cNvPr id="12" name="Straight Arrow Connector 11"/>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Rectangle 16"/>
            <p:cNvSpPr/>
            <p:nvPr/>
          </p:nvSpPr>
          <p:spPr>
            <a:xfrm>
              <a:off x="7056276" y="1772816"/>
              <a:ext cx="646406" cy="400110"/>
            </a:xfrm>
            <a:prstGeom prst="rect">
              <a:avLst/>
            </a:prstGeom>
          </p:spPr>
          <p:txBody>
            <a:bodyPr wrap="none">
              <a:spAutoFit/>
            </a:bodyPr>
            <a:lstStyle/>
            <a:p>
              <a:r>
                <a:rPr lang="en-GB" sz="2000" b="1" dirty="0" err="1">
                  <a:solidFill>
                    <a:srgbClr val="FF0000"/>
                  </a:solidFill>
                  <a:latin typeface="Courier"/>
                  <a:cs typeface="Courier"/>
                </a:rPr>
                <a:t>int</a:t>
              </a:r>
              <a:endParaRPr lang="en-US" sz="2000" dirty="0">
                <a:solidFill>
                  <a:srgbClr val="FF0000"/>
                </a:solidFill>
              </a:endParaRPr>
            </a:p>
          </p:txBody>
        </p:sp>
      </p:grpSp>
      <p:sp>
        <p:nvSpPr>
          <p:cNvPr id="1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9184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a:latin typeface="Arial" charset="0"/>
                <a:ea typeface="ＭＳ Ｐゴシック" charset="0"/>
                <a:cs typeface="ＭＳ Ｐゴシック" charset="0"/>
              </a:rPr>
              <a:t>Pointer: </a:t>
            </a:r>
            <a:r>
              <a:rPr lang="fr-FR" sz="2800" dirty="0" err="1">
                <a:latin typeface="Arial" charset="0"/>
                <a:ea typeface="ＭＳ Ｐゴシック" charset="0"/>
                <a:cs typeface="ＭＳ Ｐゴシック" charset="0"/>
              </a:rPr>
              <a:t>Definition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102</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360273233"/>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grpSp>
        <p:nvGrpSpPr>
          <p:cNvPr id="9" name="Group 8"/>
          <p:cNvGrpSpPr/>
          <p:nvPr/>
        </p:nvGrpSpPr>
        <p:grpSpPr>
          <a:xfrm>
            <a:off x="2914952" y="1736812"/>
            <a:ext cx="3962970" cy="468052"/>
            <a:chOff x="1617142" y="1736812"/>
            <a:chExt cx="3962970" cy="468052"/>
          </a:xfrm>
        </p:grpSpPr>
        <p:sp>
          <p:nvSpPr>
            <p:cNvPr id="7" name="Rectangle 6"/>
            <p:cNvSpPr/>
            <p:nvPr/>
          </p:nvSpPr>
          <p:spPr bwMode="auto">
            <a:xfrm>
              <a:off x="3311860" y="1736812"/>
              <a:ext cx="2268252" cy="468052"/>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161714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grpSp>
      <p:sp>
        <p:nvSpPr>
          <p:cNvPr id="13" name="Rectangle 12"/>
          <p:cNvSpPr/>
          <p:nvPr/>
        </p:nvSpPr>
        <p:spPr>
          <a:xfrm>
            <a:off x="5077722" y="1772816"/>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grpSp>
        <p:nvGrpSpPr>
          <p:cNvPr id="15" name="Group 14"/>
          <p:cNvGrpSpPr/>
          <p:nvPr/>
        </p:nvGrpSpPr>
        <p:grpSpPr>
          <a:xfrm>
            <a:off x="7021938" y="1772816"/>
            <a:ext cx="1978554" cy="400110"/>
            <a:chOff x="5724128" y="1772816"/>
            <a:chExt cx="1978554" cy="400110"/>
          </a:xfrm>
        </p:grpSpPr>
        <p:cxnSp>
          <p:nvCxnSpPr>
            <p:cNvPr id="12" name="Straight Arrow Connector 11"/>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Rectangle 16"/>
            <p:cNvSpPr/>
            <p:nvPr/>
          </p:nvSpPr>
          <p:spPr>
            <a:xfrm>
              <a:off x="7056276" y="1772816"/>
              <a:ext cx="646406" cy="400110"/>
            </a:xfrm>
            <a:prstGeom prst="rect">
              <a:avLst/>
            </a:prstGeom>
          </p:spPr>
          <p:txBody>
            <a:bodyPr wrap="none">
              <a:spAutoFit/>
            </a:bodyPr>
            <a:lstStyle/>
            <a:p>
              <a:r>
                <a:rPr lang="en-GB" sz="2000" b="1" dirty="0" err="1">
                  <a:solidFill>
                    <a:srgbClr val="FF0000"/>
                  </a:solidFill>
                  <a:latin typeface="Courier"/>
                  <a:cs typeface="Courier"/>
                </a:rPr>
                <a:t>int</a:t>
              </a:r>
              <a:endParaRPr lang="en-US" sz="2000" dirty="0">
                <a:solidFill>
                  <a:srgbClr val="FF0000"/>
                </a:solidFill>
              </a:endParaRPr>
            </a:p>
          </p:txBody>
        </p:sp>
      </p:grpSp>
      <p:sp>
        <p:nvSpPr>
          <p:cNvPr id="16" name="Rectangle 15"/>
          <p:cNvSpPr/>
          <p:nvPr/>
        </p:nvSpPr>
        <p:spPr>
          <a:xfrm>
            <a:off x="111897" y="872716"/>
            <a:ext cx="2185539" cy="2616101"/>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r>
              <a:rPr lang="en-GB" sz="2000" b="1" dirty="0">
                <a:latin typeface="Courier"/>
                <a:cs typeface="Courier"/>
              </a:rPr>
              <a:t>...</a:t>
            </a:r>
          </a:p>
          <a:p>
            <a:pPr algn="l"/>
            <a:r>
              <a:rPr lang="en-GB" sz="2000" b="1" dirty="0">
                <a:latin typeface="Courier"/>
                <a:cs typeface="Courier"/>
              </a:rPr>
              <a:t>char c = ‘A’; </a:t>
            </a:r>
            <a:endParaRPr lang="en-US" sz="2000" dirty="0"/>
          </a:p>
        </p:txBody>
      </p:sp>
      <p:sp>
        <p:nvSpPr>
          <p:cNvPr id="18" name="TextBox 17"/>
          <p:cNvSpPr txBox="1"/>
          <p:nvPr/>
        </p:nvSpPr>
        <p:spPr>
          <a:xfrm>
            <a:off x="3668921"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690211" y="3609020"/>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150151" y="2852936"/>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1" name="TextBox 20"/>
          <p:cNvSpPr txBox="1"/>
          <p:nvPr/>
        </p:nvSpPr>
        <p:spPr>
          <a:xfrm>
            <a:off x="3186155" y="3532946"/>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22" name="Rectangle 21"/>
          <p:cNvSpPr/>
          <p:nvPr/>
        </p:nvSpPr>
        <p:spPr>
          <a:xfrm>
            <a:off x="5568851" y="288894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4" name="TextBox 23"/>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25" name="TextBox 24"/>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c</a:t>
            </a:r>
            <a:r>
              <a:rPr lang="en-US" sz="2000" b="1" dirty="0"/>
              <a:t>:</a:t>
            </a:r>
          </a:p>
        </p:txBody>
      </p:sp>
      <p:sp>
        <p:nvSpPr>
          <p:cNvPr id="26" name="Rectangle 25"/>
          <p:cNvSpPr/>
          <p:nvPr/>
        </p:nvSpPr>
        <p:spPr>
          <a:xfrm>
            <a:off x="5580112" y="4329100"/>
            <a:ext cx="492493" cy="400110"/>
          </a:xfrm>
          <a:prstGeom prst="rect">
            <a:avLst/>
          </a:prstGeom>
        </p:spPr>
        <p:txBody>
          <a:bodyPr wrap="none">
            <a:spAutoFit/>
          </a:bodyPr>
          <a:lstStyle/>
          <a:p>
            <a:r>
              <a:rPr lang="en-GB" sz="2000" b="1" dirty="0">
                <a:solidFill>
                  <a:schemeClr val="tx1"/>
                </a:solidFill>
                <a:latin typeface="Courier"/>
                <a:cs typeface="Courier"/>
              </a:rPr>
              <a:t>65</a:t>
            </a:r>
            <a:endParaRPr lang="en-US" sz="2000" dirty="0">
              <a:solidFill>
                <a:schemeClr val="tx1"/>
              </a:solidFill>
            </a:endParaRPr>
          </a:p>
        </p:txBody>
      </p:sp>
      <p:sp>
        <p:nvSpPr>
          <p:cNvPr id="27" name="Espace réservé du contenu 2"/>
          <p:cNvSpPr txBox="1">
            <a:spLocks/>
          </p:cNvSpPr>
          <p:nvPr/>
        </p:nvSpPr>
        <p:spPr bwMode="auto">
          <a:xfrm>
            <a:off x="179512" y="5157192"/>
            <a:ext cx="8460940" cy="12601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cs typeface="ＭＳ Ｐゴシック" charset="0"/>
              </a:rPr>
              <a:t>The object </a:t>
            </a:r>
            <a:r>
              <a:rPr lang="en-GB" b="1" dirty="0" err="1">
                <a:latin typeface="Courier"/>
                <a:cs typeface="Courier"/>
              </a:rPr>
              <a:t>ptr</a:t>
            </a:r>
            <a:r>
              <a:rPr lang="en-GB" dirty="0">
                <a:latin typeface="Arial" charset="0"/>
                <a:cs typeface="ＭＳ Ｐゴシック" charset="0"/>
              </a:rPr>
              <a:t> is declared as a pointer to integers (</a:t>
            </a:r>
            <a:r>
              <a:rPr lang="en-GB" b="1" dirty="0" err="1">
                <a:latin typeface="Courier"/>
                <a:cs typeface="Courier"/>
              </a:rPr>
              <a:t>int</a:t>
            </a:r>
            <a:r>
              <a:rPr lang="en-GB" b="1" dirty="0">
                <a:latin typeface="Courier"/>
                <a:cs typeface="Courier"/>
              </a:rPr>
              <a:t>*</a:t>
            </a:r>
            <a:r>
              <a:rPr lang="en-GB" dirty="0">
                <a:latin typeface="Arial" charset="0"/>
                <a:cs typeface="ＭＳ Ｐゴシック" charset="0"/>
              </a:rPr>
              <a:t>)</a:t>
            </a:r>
          </a:p>
          <a:p>
            <a:pPr lvl="1"/>
            <a:r>
              <a:rPr lang="en-GB" dirty="0">
                <a:latin typeface="Arial" charset="0"/>
              </a:rPr>
              <a:t>It can contain the address of </a:t>
            </a:r>
            <a:r>
              <a:rPr lang="en-GB" b="1" dirty="0">
                <a:latin typeface="Courier"/>
                <a:cs typeface="Courier"/>
              </a:rPr>
              <a:t>x</a:t>
            </a:r>
            <a:r>
              <a:rPr lang="en-GB" dirty="0">
                <a:latin typeface="Arial" charset="0"/>
              </a:rPr>
              <a:t> or to </a:t>
            </a:r>
            <a:r>
              <a:rPr lang="en-GB" b="1" dirty="0">
                <a:latin typeface="Courier"/>
                <a:cs typeface="Courier"/>
              </a:rPr>
              <a:t>y</a:t>
            </a:r>
            <a:r>
              <a:rPr lang="en-GB" dirty="0">
                <a:latin typeface="Arial" charset="0"/>
              </a:rPr>
              <a:t> (both are </a:t>
            </a:r>
            <a:r>
              <a:rPr lang="en-GB" b="1" dirty="0" err="1">
                <a:latin typeface="Courier"/>
                <a:cs typeface="Courier"/>
              </a:rPr>
              <a:t>int</a:t>
            </a:r>
            <a:r>
              <a:rPr lang="en-GB" dirty="0">
                <a:latin typeface="Arial" charset="0"/>
              </a:rPr>
              <a:t>), but not to </a:t>
            </a:r>
            <a:r>
              <a:rPr lang="en-GB" b="1" dirty="0">
                <a:latin typeface="Courier"/>
                <a:cs typeface="Courier"/>
              </a:rPr>
              <a:t>c</a:t>
            </a:r>
            <a:r>
              <a:rPr lang="en-GB" b="1" dirty="0">
                <a:latin typeface="Arial" charset="0"/>
              </a:rPr>
              <a:t> </a:t>
            </a:r>
            <a:r>
              <a:rPr lang="en-GB" dirty="0">
                <a:latin typeface="Arial" charset="0"/>
              </a:rPr>
              <a:t>(as it is a </a:t>
            </a:r>
            <a:r>
              <a:rPr lang="en-GB" b="1" dirty="0">
                <a:latin typeface="Courier"/>
                <a:cs typeface="Courier"/>
              </a:rPr>
              <a:t>char</a:t>
            </a:r>
            <a:r>
              <a:rPr lang="en-GB" dirty="0">
                <a:latin typeface="Arial" charset="0"/>
              </a:rPr>
              <a:t>)</a:t>
            </a:r>
          </a:p>
          <a:p>
            <a:pPr lvl="1"/>
            <a:endParaRPr lang="en-GB" sz="1000" dirty="0">
              <a:latin typeface="Arial" charset="0"/>
            </a:endParaRP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11593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a:latin typeface="Arial" charset="0"/>
                <a:cs typeface="ＭＳ Ｐゴシック" charset="0"/>
              </a:rPr>
              <a:t>Pointer Operations: </a:t>
            </a:r>
            <a:r>
              <a:rPr lang="fr-FR" sz="2800" dirty="0" err="1">
                <a:latin typeface="Arial" charset="0"/>
                <a:cs typeface="ＭＳ Ｐゴシック" charset="0"/>
              </a:rPr>
              <a:t>Address</a:t>
            </a:r>
            <a:r>
              <a:rPr lang="fr-FR" sz="2800" dirty="0">
                <a:latin typeface="Arial" charset="0"/>
                <a:cs typeface="ＭＳ Ｐゴシック" charset="0"/>
              </a:rPr>
              <a:t> </a:t>
            </a:r>
            <a:r>
              <a:rPr lang="fr-FR" sz="2800" dirty="0" err="1">
                <a:latin typeface="Arial" charset="0"/>
                <a:cs typeface="ＭＳ Ｐゴシック" charset="0"/>
              </a:rPr>
              <a:t>reception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103</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569420530"/>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grpSp>
        <p:nvGrpSpPr>
          <p:cNvPr id="9" name="Group 8"/>
          <p:cNvGrpSpPr/>
          <p:nvPr/>
        </p:nvGrpSpPr>
        <p:grpSpPr>
          <a:xfrm>
            <a:off x="2914952" y="1736812"/>
            <a:ext cx="3962970" cy="468052"/>
            <a:chOff x="1617142" y="1736812"/>
            <a:chExt cx="3962970" cy="468052"/>
          </a:xfrm>
        </p:grpSpPr>
        <p:sp>
          <p:nvSpPr>
            <p:cNvPr id="7" name="Rectangle 6"/>
            <p:cNvSpPr/>
            <p:nvPr/>
          </p:nvSpPr>
          <p:spPr bwMode="auto">
            <a:xfrm>
              <a:off x="3311860" y="1736812"/>
              <a:ext cx="2268252" cy="468052"/>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161714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grpSp>
      <p:sp>
        <p:nvSpPr>
          <p:cNvPr id="13" name="Rectangle 12"/>
          <p:cNvSpPr/>
          <p:nvPr/>
        </p:nvSpPr>
        <p:spPr>
          <a:xfrm>
            <a:off x="5077722" y="1772816"/>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grpSp>
        <p:nvGrpSpPr>
          <p:cNvPr id="15" name="Group 14"/>
          <p:cNvGrpSpPr/>
          <p:nvPr/>
        </p:nvGrpSpPr>
        <p:grpSpPr>
          <a:xfrm>
            <a:off x="7021938" y="1772816"/>
            <a:ext cx="1978554" cy="400110"/>
            <a:chOff x="5724128" y="1772816"/>
            <a:chExt cx="1978554" cy="400110"/>
          </a:xfrm>
        </p:grpSpPr>
        <p:cxnSp>
          <p:nvCxnSpPr>
            <p:cNvPr id="12" name="Straight Arrow Connector 11"/>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Rectangle 16"/>
            <p:cNvSpPr/>
            <p:nvPr/>
          </p:nvSpPr>
          <p:spPr>
            <a:xfrm>
              <a:off x="7056276" y="1772816"/>
              <a:ext cx="646406" cy="400110"/>
            </a:xfrm>
            <a:prstGeom prst="rect">
              <a:avLst/>
            </a:prstGeom>
          </p:spPr>
          <p:txBody>
            <a:bodyPr wrap="none">
              <a:spAutoFit/>
            </a:bodyPr>
            <a:lstStyle/>
            <a:p>
              <a:r>
                <a:rPr lang="en-GB" sz="2000" b="1" dirty="0" err="1">
                  <a:solidFill>
                    <a:srgbClr val="FF0000"/>
                  </a:solidFill>
                  <a:latin typeface="Courier"/>
                  <a:cs typeface="Courier"/>
                </a:rPr>
                <a:t>int</a:t>
              </a:r>
              <a:endParaRPr lang="en-US" sz="2000" dirty="0">
                <a:solidFill>
                  <a:srgbClr val="FF0000"/>
                </a:solidFill>
              </a:endParaRPr>
            </a:p>
          </p:txBody>
        </p:sp>
      </p:grpSp>
      <p:sp>
        <p:nvSpPr>
          <p:cNvPr id="16" name="Rectangle 15"/>
          <p:cNvSpPr/>
          <p:nvPr/>
        </p:nvSpPr>
        <p:spPr>
          <a:xfrm>
            <a:off x="111897" y="872716"/>
            <a:ext cx="2185539" cy="3354765"/>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r>
              <a:rPr lang="en-GB" sz="2000" b="1" dirty="0">
                <a:latin typeface="Courier"/>
                <a:cs typeface="Courier"/>
              </a:rPr>
              <a:t>...</a:t>
            </a:r>
          </a:p>
          <a:p>
            <a:pPr algn="l"/>
            <a:r>
              <a:rPr lang="en-GB" sz="2000" b="1" dirty="0">
                <a:latin typeface="Courier"/>
                <a:cs typeface="Courier"/>
              </a:rPr>
              <a:t>char c = ‘A’;</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rgbClr val="FF0000"/>
                </a:solidFill>
                <a:latin typeface="Courier"/>
                <a:cs typeface="Courier"/>
              </a:rPr>
              <a:t>&amp;</a:t>
            </a:r>
            <a:r>
              <a:rPr lang="en-GB" sz="2000" b="1" dirty="0">
                <a:latin typeface="Courier"/>
                <a:cs typeface="Courier"/>
              </a:rPr>
              <a:t> x; </a:t>
            </a:r>
            <a:endParaRPr lang="en-US" sz="2000" dirty="0"/>
          </a:p>
        </p:txBody>
      </p:sp>
      <p:sp>
        <p:nvSpPr>
          <p:cNvPr id="18" name="TextBox 17"/>
          <p:cNvSpPr txBox="1"/>
          <p:nvPr/>
        </p:nvSpPr>
        <p:spPr>
          <a:xfrm>
            <a:off x="3668921"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690211" y="3609020"/>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150151" y="2852936"/>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1" name="TextBox 20"/>
          <p:cNvSpPr txBox="1"/>
          <p:nvPr/>
        </p:nvSpPr>
        <p:spPr>
          <a:xfrm>
            <a:off x="3186155" y="3532946"/>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22" name="Rectangle 21"/>
          <p:cNvSpPr/>
          <p:nvPr/>
        </p:nvSpPr>
        <p:spPr>
          <a:xfrm>
            <a:off x="5568851" y="288894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4" name="TextBox 23"/>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25" name="TextBox 24"/>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c</a:t>
            </a:r>
            <a:r>
              <a:rPr lang="en-US" sz="2000" b="1" dirty="0"/>
              <a:t>:</a:t>
            </a:r>
          </a:p>
        </p:txBody>
      </p:sp>
      <p:sp>
        <p:nvSpPr>
          <p:cNvPr id="26" name="Rectangle 25"/>
          <p:cNvSpPr/>
          <p:nvPr/>
        </p:nvSpPr>
        <p:spPr>
          <a:xfrm>
            <a:off x="5580112" y="4329100"/>
            <a:ext cx="492493" cy="400110"/>
          </a:xfrm>
          <a:prstGeom prst="rect">
            <a:avLst/>
          </a:prstGeom>
        </p:spPr>
        <p:txBody>
          <a:bodyPr wrap="none">
            <a:spAutoFit/>
          </a:bodyPr>
          <a:lstStyle/>
          <a:p>
            <a:r>
              <a:rPr lang="en-GB" sz="2000" b="1" dirty="0">
                <a:solidFill>
                  <a:schemeClr val="tx1"/>
                </a:solidFill>
                <a:latin typeface="Courier"/>
                <a:cs typeface="Courier"/>
              </a:rPr>
              <a:t>65</a:t>
            </a:r>
            <a:endParaRPr lang="en-US" sz="2000" dirty="0">
              <a:solidFill>
                <a:schemeClr val="tx1"/>
              </a:solidFill>
            </a:endParaRPr>
          </a:p>
        </p:txBody>
      </p:sp>
      <p:sp>
        <p:nvSpPr>
          <p:cNvPr id="28" name="Espace réservé du contenu 2"/>
          <p:cNvSpPr>
            <a:spLocks noGrp="1"/>
          </p:cNvSpPr>
          <p:nvPr>
            <p:ph idx="1"/>
          </p:nvPr>
        </p:nvSpPr>
        <p:spPr>
          <a:xfrm>
            <a:off x="11997" y="5553236"/>
            <a:ext cx="8604956" cy="1188132"/>
          </a:xfrm>
        </p:spPr>
        <p:txBody>
          <a:bodyPr/>
          <a:lstStyle/>
          <a:p>
            <a:r>
              <a:rPr lang="en-GB" sz="2400" dirty="0">
                <a:latin typeface="Arial" charset="0"/>
              </a:rPr>
              <a:t>Address reception (noted as </a:t>
            </a:r>
            <a:r>
              <a:rPr lang="en-GB" sz="2400" b="1" dirty="0">
                <a:latin typeface="Courier"/>
                <a:cs typeface="Courier"/>
              </a:rPr>
              <a:t>&amp;</a:t>
            </a:r>
            <a:r>
              <a:rPr lang="en-GB" sz="2400" dirty="0">
                <a:latin typeface="Arial" charset="0"/>
              </a:rPr>
              <a:t>) returns the address of an object</a:t>
            </a:r>
            <a:endParaRPr lang="en-GB" sz="800" dirty="0">
              <a:latin typeface="Arial" charset="0"/>
              <a:cs typeface="ＭＳ Ｐゴシック" charset="0"/>
            </a:endParaRPr>
          </a:p>
        </p:txBody>
      </p:sp>
      <p:sp>
        <p:nvSpPr>
          <p:cNvPr id="29" name="Oval 28"/>
          <p:cNvSpPr/>
          <p:nvPr/>
        </p:nvSpPr>
        <p:spPr bwMode="auto">
          <a:xfrm>
            <a:off x="3023828" y="2636912"/>
            <a:ext cx="1728192" cy="93610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9145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a:latin typeface="Arial" charset="0"/>
                <a:cs typeface="ＭＳ Ｐゴシック" charset="0"/>
              </a:rPr>
              <a:t>Pointer Operations: </a:t>
            </a:r>
            <a:r>
              <a:rPr lang="fr-FR" sz="2800" dirty="0" err="1">
                <a:latin typeface="Arial" charset="0"/>
                <a:cs typeface="ＭＳ Ｐゴシック" charset="0"/>
              </a:rPr>
              <a:t>Address</a:t>
            </a:r>
            <a:r>
              <a:rPr lang="fr-FR" sz="2800" dirty="0">
                <a:latin typeface="Arial" charset="0"/>
                <a:cs typeface="ＭＳ Ｐゴシック" charset="0"/>
              </a:rPr>
              <a:t> </a:t>
            </a:r>
            <a:r>
              <a:rPr lang="fr-FR" sz="2800" dirty="0" err="1">
                <a:latin typeface="Arial" charset="0"/>
                <a:cs typeface="ＭＳ Ｐゴシック" charset="0"/>
              </a:rPr>
              <a:t>reception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104</a:t>
            </a:fld>
            <a:endParaRPr lang="fr-FR" sz="1400">
              <a:solidFill>
                <a:srgbClr val="000208"/>
              </a:solidFill>
              <a:latin typeface="Times New Roman" charset="0"/>
            </a:endParaRPr>
          </a:p>
        </p:txBody>
      </p:sp>
      <p:graphicFrame>
        <p:nvGraphicFramePr>
          <p:cNvPr id="6" name="Table 5"/>
          <p:cNvGraphicFramePr>
            <a:graphicFrameLocks noGrp="1"/>
          </p:cNvGraphicFramePr>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grpSp>
        <p:nvGrpSpPr>
          <p:cNvPr id="9" name="Group 8"/>
          <p:cNvGrpSpPr/>
          <p:nvPr/>
        </p:nvGrpSpPr>
        <p:grpSpPr>
          <a:xfrm>
            <a:off x="2914952" y="1736812"/>
            <a:ext cx="3962970" cy="468052"/>
            <a:chOff x="1617142" y="1736812"/>
            <a:chExt cx="3962970" cy="468052"/>
          </a:xfrm>
        </p:grpSpPr>
        <p:sp>
          <p:nvSpPr>
            <p:cNvPr id="7" name="Rectangle 6"/>
            <p:cNvSpPr/>
            <p:nvPr/>
          </p:nvSpPr>
          <p:spPr bwMode="auto">
            <a:xfrm>
              <a:off x="3311860" y="1736812"/>
              <a:ext cx="2268252" cy="468052"/>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161714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grpSp>
      <p:grpSp>
        <p:nvGrpSpPr>
          <p:cNvPr id="15" name="Group 14"/>
          <p:cNvGrpSpPr/>
          <p:nvPr/>
        </p:nvGrpSpPr>
        <p:grpSpPr>
          <a:xfrm>
            <a:off x="7021938" y="1772816"/>
            <a:ext cx="1978554" cy="400110"/>
            <a:chOff x="5724128" y="1772816"/>
            <a:chExt cx="1978554" cy="400110"/>
          </a:xfrm>
        </p:grpSpPr>
        <p:cxnSp>
          <p:nvCxnSpPr>
            <p:cNvPr id="12" name="Straight Arrow Connector 11"/>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Rectangle 16"/>
            <p:cNvSpPr/>
            <p:nvPr/>
          </p:nvSpPr>
          <p:spPr>
            <a:xfrm>
              <a:off x="7056276" y="1772816"/>
              <a:ext cx="646406" cy="400110"/>
            </a:xfrm>
            <a:prstGeom prst="rect">
              <a:avLst/>
            </a:prstGeom>
          </p:spPr>
          <p:txBody>
            <a:bodyPr wrap="none">
              <a:spAutoFit/>
            </a:bodyPr>
            <a:lstStyle/>
            <a:p>
              <a:r>
                <a:rPr lang="en-GB" sz="2000" b="1" dirty="0" err="1">
                  <a:solidFill>
                    <a:srgbClr val="FF0000"/>
                  </a:solidFill>
                  <a:latin typeface="Courier"/>
                  <a:cs typeface="Courier"/>
                </a:rPr>
                <a:t>int</a:t>
              </a:r>
              <a:endParaRPr lang="en-US" sz="2000" dirty="0">
                <a:solidFill>
                  <a:srgbClr val="FF0000"/>
                </a:solidFill>
              </a:endParaRPr>
            </a:p>
          </p:txBody>
        </p:sp>
      </p:grpSp>
      <p:sp>
        <p:nvSpPr>
          <p:cNvPr id="16" name="Rectangle 15"/>
          <p:cNvSpPr/>
          <p:nvPr/>
        </p:nvSpPr>
        <p:spPr>
          <a:xfrm>
            <a:off x="111897" y="872716"/>
            <a:ext cx="2185539" cy="3354765"/>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r>
              <a:rPr lang="en-GB" sz="2000" b="1" dirty="0">
                <a:latin typeface="Courier"/>
                <a:cs typeface="Courier"/>
              </a:rPr>
              <a:t>...</a:t>
            </a:r>
          </a:p>
          <a:p>
            <a:pPr algn="l"/>
            <a:r>
              <a:rPr lang="en-GB" sz="2000" b="1" dirty="0">
                <a:latin typeface="Courier"/>
                <a:cs typeface="Courier"/>
              </a:rPr>
              <a:t>char c = ‘A’;</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rgbClr val="FF0000"/>
                </a:solidFill>
                <a:latin typeface="Courier"/>
                <a:cs typeface="Courier"/>
              </a:rPr>
              <a:t>&amp;</a:t>
            </a:r>
            <a:r>
              <a:rPr lang="en-GB" sz="2000" b="1" dirty="0">
                <a:latin typeface="Courier"/>
                <a:cs typeface="Courier"/>
              </a:rPr>
              <a:t> x; </a:t>
            </a:r>
            <a:endParaRPr lang="en-US" sz="2000" dirty="0"/>
          </a:p>
        </p:txBody>
      </p:sp>
      <p:sp>
        <p:nvSpPr>
          <p:cNvPr id="18" name="TextBox 17"/>
          <p:cNvSpPr txBox="1"/>
          <p:nvPr/>
        </p:nvSpPr>
        <p:spPr>
          <a:xfrm>
            <a:off x="3668921"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690211" y="3609020"/>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150151" y="2852936"/>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1" name="TextBox 20"/>
          <p:cNvSpPr txBox="1"/>
          <p:nvPr/>
        </p:nvSpPr>
        <p:spPr>
          <a:xfrm>
            <a:off x="3186155" y="3532946"/>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22" name="Rectangle 21"/>
          <p:cNvSpPr/>
          <p:nvPr/>
        </p:nvSpPr>
        <p:spPr>
          <a:xfrm>
            <a:off x="5568851" y="288894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4" name="TextBox 23"/>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25" name="TextBox 24"/>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c</a:t>
            </a:r>
            <a:r>
              <a:rPr lang="en-US" sz="2000" b="1" dirty="0"/>
              <a:t>:</a:t>
            </a:r>
          </a:p>
        </p:txBody>
      </p:sp>
      <p:sp>
        <p:nvSpPr>
          <p:cNvPr id="26" name="Rectangle 25"/>
          <p:cNvSpPr/>
          <p:nvPr/>
        </p:nvSpPr>
        <p:spPr>
          <a:xfrm>
            <a:off x="5580112" y="4329100"/>
            <a:ext cx="492493" cy="400110"/>
          </a:xfrm>
          <a:prstGeom prst="rect">
            <a:avLst/>
          </a:prstGeom>
        </p:spPr>
        <p:txBody>
          <a:bodyPr wrap="none">
            <a:spAutoFit/>
          </a:bodyPr>
          <a:lstStyle/>
          <a:p>
            <a:r>
              <a:rPr lang="en-GB" sz="2000" b="1" dirty="0">
                <a:solidFill>
                  <a:schemeClr val="tx1"/>
                </a:solidFill>
                <a:latin typeface="Courier"/>
                <a:cs typeface="Courier"/>
              </a:rPr>
              <a:t>65</a:t>
            </a:r>
            <a:endParaRPr lang="en-US" sz="2000" dirty="0">
              <a:solidFill>
                <a:schemeClr val="tx1"/>
              </a:solidFill>
            </a:endParaRPr>
          </a:p>
        </p:txBody>
      </p:sp>
      <p:sp>
        <p:nvSpPr>
          <p:cNvPr id="28" name="Espace réservé du contenu 2"/>
          <p:cNvSpPr>
            <a:spLocks noGrp="1"/>
          </p:cNvSpPr>
          <p:nvPr>
            <p:ph idx="1"/>
          </p:nvPr>
        </p:nvSpPr>
        <p:spPr>
          <a:xfrm>
            <a:off x="11997" y="5553236"/>
            <a:ext cx="8604956" cy="1188132"/>
          </a:xfrm>
        </p:spPr>
        <p:txBody>
          <a:bodyPr/>
          <a:lstStyle/>
          <a:p>
            <a:r>
              <a:rPr lang="en-GB" sz="2400" dirty="0">
                <a:latin typeface="Arial" charset="0"/>
              </a:rPr>
              <a:t>Address reception (noted as </a:t>
            </a:r>
            <a:r>
              <a:rPr lang="en-GB" sz="2400" b="1" dirty="0">
                <a:latin typeface="Courier"/>
                <a:cs typeface="Courier"/>
              </a:rPr>
              <a:t>&amp;</a:t>
            </a:r>
            <a:r>
              <a:rPr lang="en-GB" sz="2400" dirty="0">
                <a:latin typeface="Arial" charset="0"/>
              </a:rPr>
              <a:t>) returns the address of an object</a:t>
            </a:r>
            <a:endParaRPr lang="en-GB" sz="800" dirty="0">
              <a:latin typeface="Arial" charset="0"/>
              <a:cs typeface="ＭＳ Ｐゴシック" charset="0"/>
            </a:endParaRPr>
          </a:p>
        </p:txBody>
      </p:sp>
      <p:sp>
        <p:nvSpPr>
          <p:cNvPr id="31" name="Rectangle 30"/>
          <p:cNvSpPr/>
          <p:nvPr/>
        </p:nvSpPr>
        <p:spPr>
          <a:xfrm>
            <a:off x="5148064" y="1772816"/>
            <a:ext cx="1108146" cy="400110"/>
          </a:xfrm>
          <a:prstGeom prst="rect">
            <a:avLst/>
          </a:prstGeom>
        </p:spPr>
        <p:txBody>
          <a:bodyPr wrap="none">
            <a:spAutoFit/>
          </a:bodyPr>
          <a:lstStyle/>
          <a:p>
            <a:r>
              <a:rPr lang="en-GB" sz="2000" b="1" dirty="0">
                <a:solidFill>
                  <a:schemeClr val="tx1"/>
                </a:solidFill>
                <a:latin typeface="Courier"/>
                <a:cs typeface="Courier"/>
              </a:rPr>
              <a:t>0x100C</a:t>
            </a:r>
            <a:endParaRPr lang="en-US" sz="2000" dirty="0">
              <a:solidFill>
                <a:schemeClr val="tx1"/>
              </a:solidFill>
            </a:endParaRPr>
          </a:p>
        </p:txBody>
      </p: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30" name="Oval 29">
            <a:extLst>
              <a:ext uri="{FF2B5EF4-FFF2-40B4-BE49-F238E27FC236}">
                <a16:creationId xmlns:a16="http://schemas.microsoft.com/office/drawing/2014/main" id="{0686B2B6-7352-0D4F-897C-DA6EC494C459}"/>
              </a:ext>
            </a:extLst>
          </p:cNvPr>
          <p:cNvSpPr/>
          <p:nvPr/>
        </p:nvSpPr>
        <p:spPr bwMode="auto">
          <a:xfrm>
            <a:off x="3023828" y="2636912"/>
            <a:ext cx="1728192" cy="93610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Tree>
    <p:extLst>
      <p:ext uri="{BB962C8B-B14F-4D97-AF65-F5344CB8AC3E}">
        <p14:creationId xmlns:p14="http://schemas.microsoft.com/office/powerpoint/2010/main" val="27429507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fr-FR" sz="2800" dirty="0">
                <a:latin typeface="Arial" charset="0"/>
                <a:cs typeface="ＭＳ Ｐゴシック" charset="0"/>
              </a:rPr>
              <a:t>Pointer Operations: </a:t>
            </a:r>
            <a:r>
              <a:rPr lang="fr-FR" sz="2800" dirty="0" err="1">
                <a:latin typeface="Arial" charset="0"/>
                <a:cs typeface="ＭＳ Ｐゴシック" charset="0"/>
              </a:rPr>
              <a:t>Address</a:t>
            </a:r>
            <a:r>
              <a:rPr lang="fr-FR" sz="2800" dirty="0">
                <a:latin typeface="Arial" charset="0"/>
                <a:cs typeface="ＭＳ Ｐゴシック" charset="0"/>
              </a:rPr>
              <a:t> </a:t>
            </a:r>
            <a:r>
              <a:rPr lang="fr-FR" sz="2800" dirty="0" err="1">
                <a:latin typeface="Arial" charset="0"/>
                <a:cs typeface="ＭＳ Ｐゴシック" charset="0"/>
              </a:rPr>
              <a:t>reception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105</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604397171"/>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grpSp>
        <p:nvGrpSpPr>
          <p:cNvPr id="9" name="Group 8"/>
          <p:cNvGrpSpPr/>
          <p:nvPr/>
        </p:nvGrpSpPr>
        <p:grpSpPr>
          <a:xfrm>
            <a:off x="2914952" y="1736812"/>
            <a:ext cx="3962970" cy="468052"/>
            <a:chOff x="1617142" y="1736812"/>
            <a:chExt cx="3962970" cy="468052"/>
          </a:xfrm>
        </p:grpSpPr>
        <p:sp>
          <p:nvSpPr>
            <p:cNvPr id="7" name="Rectangle 6"/>
            <p:cNvSpPr/>
            <p:nvPr/>
          </p:nvSpPr>
          <p:spPr bwMode="auto">
            <a:xfrm>
              <a:off x="3311860" y="1736812"/>
              <a:ext cx="2268252" cy="468052"/>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TextBox 10"/>
            <p:cNvSpPr txBox="1"/>
            <p:nvPr/>
          </p:nvSpPr>
          <p:spPr>
            <a:xfrm>
              <a:off x="161714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grpSp>
      <p:sp>
        <p:nvSpPr>
          <p:cNvPr id="16" name="Rectangle 15"/>
          <p:cNvSpPr/>
          <p:nvPr/>
        </p:nvSpPr>
        <p:spPr>
          <a:xfrm>
            <a:off x="111897" y="872716"/>
            <a:ext cx="2185539" cy="3354765"/>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r>
              <a:rPr lang="en-GB" sz="2000" b="1" dirty="0">
                <a:latin typeface="Courier"/>
                <a:cs typeface="Courier"/>
              </a:rPr>
              <a:t>...</a:t>
            </a:r>
          </a:p>
          <a:p>
            <a:pPr algn="l"/>
            <a:r>
              <a:rPr lang="en-GB" sz="2000" b="1" dirty="0">
                <a:latin typeface="Courier"/>
                <a:cs typeface="Courier"/>
              </a:rPr>
              <a:t>char c = ‘A’;</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rgbClr val="FF0000"/>
                </a:solidFill>
                <a:latin typeface="Courier"/>
                <a:cs typeface="Courier"/>
              </a:rPr>
              <a:t>&amp;</a:t>
            </a:r>
            <a:r>
              <a:rPr lang="en-GB" sz="2000" b="1" dirty="0">
                <a:latin typeface="Courier"/>
                <a:cs typeface="Courier"/>
              </a:rPr>
              <a:t> x;</a:t>
            </a:r>
            <a:endParaRPr lang="en-US" sz="2000" dirty="0"/>
          </a:p>
        </p:txBody>
      </p:sp>
      <p:sp>
        <p:nvSpPr>
          <p:cNvPr id="18" name="TextBox 17"/>
          <p:cNvSpPr txBox="1"/>
          <p:nvPr/>
        </p:nvSpPr>
        <p:spPr>
          <a:xfrm>
            <a:off x="3668921"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690211" y="3609020"/>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150151" y="2852936"/>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1" name="TextBox 20"/>
          <p:cNvSpPr txBox="1"/>
          <p:nvPr/>
        </p:nvSpPr>
        <p:spPr>
          <a:xfrm>
            <a:off x="3186155" y="3532946"/>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22" name="Rectangle 21"/>
          <p:cNvSpPr/>
          <p:nvPr/>
        </p:nvSpPr>
        <p:spPr>
          <a:xfrm>
            <a:off x="5568851" y="288894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4" name="TextBox 23"/>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25" name="TextBox 24"/>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c</a:t>
            </a:r>
            <a:r>
              <a:rPr lang="en-US" sz="2000" b="1" dirty="0"/>
              <a:t>:</a:t>
            </a:r>
          </a:p>
        </p:txBody>
      </p:sp>
      <p:sp>
        <p:nvSpPr>
          <p:cNvPr id="26" name="Rectangle 25"/>
          <p:cNvSpPr/>
          <p:nvPr/>
        </p:nvSpPr>
        <p:spPr>
          <a:xfrm>
            <a:off x="5580112" y="4329100"/>
            <a:ext cx="492493" cy="400110"/>
          </a:xfrm>
          <a:prstGeom prst="rect">
            <a:avLst/>
          </a:prstGeom>
        </p:spPr>
        <p:txBody>
          <a:bodyPr wrap="none">
            <a:spAutoFit/>
          </a:bodyPr>
          <a:lstStyle/>
          <a:p>
            <a:r>
              <a:rPr lang="en-GB" sz="2000" b="1" dirty="0">
                <a:solidFill>
                  <a:schemeClr val="tx1"/>
                </a:solidFill>
                <a:latin typeface="Courier"/>
                <a:cs typeface="Courier"/>
              </a:rPr>
              <a:t>65</a:t>
            </a:r>
            <a:endParaRPr lang="en-US" sz="2000" dirty="0">
              <a:solidFill>
                <a:schemeClr val="tx1"/>
              </a:solidFill>
            </a:endParaRPr>
          </a:p>
        </p:txBody>
      </p:sp>
      <p:sp>
        <p:nvSpPr>
          <p:cNvPr id="28" name="Espace réservé du contenu 2"/>
          <p:cNvSpPr>
            <a:spLocks noGrp="1"/>
          </p:cNvSpPr>
          <p:nvPr>
            <p:ph idx="1"/>
          </p:nvPr>
        </p:nvSpPr>
        <p:spPr>
          <a:xfrm>
            <a:off x="11997" y="5553236"/>
            <a:ext cx="8604956" cy="1188132"/>
          </a:xfrm>
        </p:spPr>
        <p:txBody>
          <a:bodyPr/>
          <a:lstStyle/>
          <a:p>
            <a:r>
              <a:rPr lang="en-GB" sz="2400" dirty="0">
                <a:latin typeface="Arial" charset="0"/>
              </a:rPr>
              <a:t>Address reception (noted as </a:t>
            </a:r>
            <a:r>
              <a:rPr lang="en-GB" sz="2400" b="1" dirty="0">
                <a:latin typeface="Courier"/>
                <a:cs typeface="Courier"/>
              </a:rPr>
              <a:t>&amp;</a:t>
            </a:r>
            <a:r>
              <a:rPr lang="en-GB" sz="2400" dirty="0">
                <a:latin typeface="Arial" charset="0"/>
              </a:rPr>
              <a:t>) returns the address of an object</a:t>
            </a:r>
            <a:endParaRPr lang="en-GB" sz="800" dirty="0">
              <a:latin typeface="Arial" charset="0"/>
              <a:cs typeface="ＭＳ Ｐゴシック" charset="0"/>
            </a:endParaRPr>
          </a:p>
        </p:txBody>
      </p:sp>
      <p:sp>
        <p:nvSpPr>
          <p:cNvPr id="31" name="Rectangle 30"/>
          <p:cNvSpPr/>
          <p:nvPr/>
        </p:nvSpPr>
        <p:spPr>
          <a:xfrm>
            <a:off x="5148064" y="1772816"/>
            <a:ext cx="1108146" cy="400110"/>
          </a:xfrm>
          <a:prstGeom prst="rect">
            <a:avLst/>
          </a:prstGeom>
        </p:spPr>
        <p:txBody>
          <a:bodyPr wrap="none">
            <a:spAutoFit/>
          </a:bodyPr>
          <a:lstStyle/>
          <a:p>
            <a:r>
              <a:rPr lang="en-GB" sz="2000" b="1" dirty="0">
                <a:solidFill>
                  <a:schemeClr val="tx1"/>
                </a:solidFill>
                <a:latin typeface="Courier"/>
                <a:cs typeface="Courier"/>
              </a:rPr>
              <a:t>0x100C</a:t>
            </a:r>
            <a:endParaRPr lang="en-US" sz="2000" dirty="0">
              <a:solidFill>
                <a:schemeClr val="tx1"/>
              </a:solidFill>
            </a:endParaRPr>
          </a:p>
        </p:txBody>
      </p:sp>
      <p:cxnSp>
        <p:nvCxnSpPr>
          <p:cNvPr id="4" name="Curved Connector 3"/>
          <p:cNvCxnSpPr>
            <a:stCxn id="7" idx="3"/>
            <a:endCxn id="20" idx="1"/>
          </p:cNvCxnSpPr>
          <p:nvPr/>
        </p:nvCxnSpPr>
        <p:spPr bwMode="auto">
          <a:xfrm flipH="1">
            <a:off x="3150151" y="1970838"/>
            <a:ext cx="3727771" cy="1082153"/>
          </a:xfrm>
          <a:prstGeom prst="curvedConnector5">
            <a:avLst>
              <a:gd name="adj1" fmla="val -6132"/>
              <a:gd name="adj2" fmla="val 51570"/>
              <a:gd name="adj3" fmla="val 106132"/>
            </a:avLst>
          </a:prstGeom>
          <a:noFill/>
          <a:ln w="38100"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291216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Operations: Dereference/Accessing</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106</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206825212"/>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2185539"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r>
              <a:rPr lang="en-GB" sz="2000" b="1" dirty="0">
                <a:latin typeface="Courier"/>
                <a:cs typeface="Courier"/>
              </a:rPr>
              <a:t>...</a:t>
            </a:r>
          </a:p>
          <a:p>
            <a:pPr algn="l"/>
            <a:r>
              <a:rPr lang="en-GB" sz="2000" b="1" dirty="0">
                <a:latin typeface="Courier"/>
                <a:cs typeface="Courier"/>
              </a:rPr>
              <a:t>char c = ‘A’;</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a:latin typeface="Courier"/>
                <a:cs typeface="Courier"/>
              </a:rPr>
              <a:t>y = </a:t>
            </a:r>
            <a:r>
              <a:rPr lang="en-GB" sz="2000" b="1" dirty="0">
                <a:solidFill>
                  <a:srgbClr val="FF0000"/>
                </a:solidFill>
                <a:latin typeface="Courier"/>
                <a:cs typeface="Courier"/>
              </a:rPr>
              <a:t>*</a:t>
            </a:r>
            <a:r>
              <a:rPr lang="en-GB" sz="2000" b="1" dirty="0" err="1">
                <a:latin typeface="Courier"/>
                <a:cs typeface="Courier"/>
              </a:rPr>
              <a:t>ptr</a:t>
            </a:r>
            <a:r>
              <a:rPr lang="en-GB" sz="2000" b="1" dirty="0">
                <a:latin typeface="Courier"/>
                <a:cs typeface="Courier"/>
              </a:rPr>
              <a:t> + 1;</a:t>
            </a:r>
            <a:endParaRPr lang="en-US" sz="2000" dirty="0"/>
          </a:p>
        </p:txBody>
      </p:sp>
      <p:sp>
        <p:nvSpPr>
          <p:cNvPr id="18" name="TextBox 17"/>
          <p:cNvSpPr txBox="1"/>
          <p:nvPr/>
        </p:nvSpPr>
        <p:spPr>
          <a:xfrm>
            <a:off x="3668921"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690211" y="3609020"/>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150151" y="2852936"/>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1" name="TextBox 20"/>
          <p:cNvSpPr txBox="1"/>
          <p:nvPr/>
        </p:nvSpPr>
        <p:spPr>
          <a:xfrm>
            <a:off x="3186155" y="3532946"/>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22" name="Rectangle 21"/>
          <p:cNvSpPr/>
          <p:nvPr/>
        </p:nvSpPr>
        <p:spPr>
          <a:xfrm>
            <a:off x="5568851" y="288894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4" name="TextBox 23"/>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25" name="TextBox 24"/>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c</a:t>
            </a:r>
            <a:r>
              <a:rPr lang="en-US" sz="2000" b="1" dirty="0"/>
              <a:t>:</a:t>
            </a:r>
          </a:p>
        </p:txBody>
      </p:sp>
      <p:sp>
        <p:nvSpPr>
          <p:cNvPr id="26" name="Rectangle 25"/>
          <p:cNvSpPr/>
          <p:nvPr/>
        </p:nvSpPr>
        <p:spPr>
          <a:xfrm>
            <a:off x="5580112" y="4329100"/>
            <a:ext cx="492493" cy="400110"/>
          </a:xfrm>
          <a:prstGeom prst="rect">
            <a:avLst/>
          </a:prstGeom>
        </p:spPr>
        <p:txBody>
          <a:bodyPr wrap="none">
            <a:spAutoFit/>
          </a:bodyPr>
          <a:lstStyle/>
          <a:p>
            <a:r>
              <a:rPr lang="en-GB" sz="2000" b="1" dirty="0">
                <a:solidFill>
                  <a:schemeClr val="tx1"/>
                </a:solidFill>
                <a:latin typeface="Courier"/>
                <a:cs typeface="Courier"/>
              </a:rPr>
              <a:t>65</a:t>
            </a:r>
            <a:endParaRPr lang="en-US" sz="2000" dirty="0">
              <a:solidFill>
                <a:schemeClr val="tx1"/>
              </a:solidFill>
            </a:endParaRPr>
          </a:p>
        </p:txBody>
      </p:sp>
      <p:sp>
        <p:nvSpPr>
          <p:cNvPr id="31" name="Rectangle 30"/>
          <p:cNvSpPr/>
          <p:nvPr/>
        </p:nvSpPr>
        <p:spPr>
          <a:xfrm>
            <a:off x="5148064" y="1772816"/>
            <a:ext cx="1108146" cy="400110"/>
          </a:xfrm>
          <a:prstGeom prst="rect">
            <a:avLst/>
          </a:prstGeom>
        </p:spPr>
        <p:txBody>
          <a:bodyPr wrap="none">
            <a:spAutoFit/>
          </a:bodyPr>
          <a:lstStyle/>
          <a:p>
            <a:r>
              <a:rPr lang="en-GB" sz="2000" b="1" dirty="0">
                <a:solidFill>
                  <a:schemeClr val="tx1"/>
                </a:solidFill>
                <a:latin typeface="Courier"/>
                <a:cs typeface="Courier"/>
              </a:rPr>
              <a:t>0x100C</a:t>
            </a:r>
            <a:endParaRPr lang="en-US" sz="2000" dirty="0">
              <a:solidFill>
                <a:schemeClr val="tx1"/>
              </a:solidFill>
            </a:endParaRPr>
          </a:p>
        </p:txBody>
      </p:sp>
      <p:sp>
        <p:nvSpPr>
          <p:cNvPr id="27" name="Espace réservé du contenu 2"/>
          <p:cNvSpPr txBox="1">
            <a:spLocks/>
          </p:cNvSpPr>
          <p:nvPr/>
        </p:nvSpPr>
        <p:spPr bwMode="auto">
          <a:xfrm>
            <a:off x="539044" y="5301208"/>
            <a:ext cx="8604956" cy="11881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The dereference (noted as </a:t>
            </a:r>
            <a:r>
              <a:rPr lang="en-GB" b="1" dirty="0">
                <a:latin typeface="Courier"/>
                <a:cs typeface="Courier"/>
              </a:rPr>
              <a:t>*</a:t>
            </a:r>
            <a:r>
              <a:rPr lang="en-GB" dirty="0">
                <a:latin typeface="Arial" charset="0"/>
              </a:rPr>
              <a:t>) returns the value stored in the memory where the pointer points to</a:t>
            </a:r>
            <a:endParaRPr lang="en-GB" sz="800" dirty="0">
              <a:latin typeface="Arial" charset="0"/>
              <a:cs typeface="ＭＳ Ｐゴシック" charset="0"/>
            </a:endParaRPr>
          </a:p>
        </p:txBody>
      </p:sp>
      <p:sp>
        <p:nvSpPr>
          <p:cNvPr id="29" name="Oval 28"/>
          <p:cNvSpPr/>
          <p:nvPr/>
        </p:nvSpPr>
        <p:spPr bwMode="auto">
          <a:xfrm>
            <a:off x="4860032" y="1628800"/>
            <a:ext cx="1656184" cy="639372"/>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0" name="Oval 29"/>
          <p:cNvSpPr/>
          <p:nvPr/>
        </p:nvSpPr>
        <p:spPr bwMode="auto">
          <a:xfrm>
            <a:off x="5004048" y="2744924"/>
            <a:ext cx="1656184" cy="70330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32" name="Curved Connector 31"/>
          <p:cNvCxnSpPr>
            <a:stCxn id="29" idx="6"/>
            <a:endCxn id="20" idx="1"/>
          </p:cNvCxnSpPr>
          <p:nvPr/>
        </p:nvCxnSpPr>
        <p:spPr bwMode="auto">
          <a:xfrm flipH="1">
            <a:off x="3150151" y="1948486"/>
            <a:ext cx="3366065" cy="1104505"/>
          </a:xfrm>
          <a:prstGeom prst="curvedConnector5">
            <a:avLst>
              <a:gd name="adj1" fmla="val -6791"/>
              <a:gd name="adj2" fmla="val 55416"/>
              <a:gd name="adj3" fmla="val 106791"/>
            </a:avLst>
          </a:prstGeom>
          <a:noFill/>
          <a:ln w="38100" cap="flat" cmpd="sng" algn="ctr">
            <a:solidFill>
              <a:srgbClr val="FF0000"/>
            </a:solidFill>
            <a:prstDash val="solid"/>
            <a:round/>
            <a:headEnd type="none" w="lg" len="lg"/>
            <a:tailEnd type="triangle" w="lg"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 name="Rectangle 33"/>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11</a:t>
            </a:r>
            <a:endParaRPr lang="en-US" sz="2000" dirty="0">
              <a:solidFill>
                <a:schemeClr val="tx1"/>
              </a:solidFill>
            </a:endParaRP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87669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9" grpId="0" animBg="1"/>
      <p:bldP spid="30" grpId="0" animBg="1"/>
      <p:bldP spid="34"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re 1"/>
          <p:cNvSpPr>
            <a:spLocks noGrp="1"/>
          </p:cNvSpPr>
          <p:nvPr>
            <p:ph type="title"/>
          </p:nvPr>
        </p:nvSpPr>
        <p:spPr/>
        <p:txBody>
          <a:bodyPr/>
          <a:lstStyle/>
          <a:p>
            <a:r>
              <a:rPr lang="fr-FR" sz="2800" dirty="0">
                <a:latin typeface="Arial" charset="0"/>
                <a:cs typeface="ＭＳ Ｐゴシック" charset="0"/>
              </a:rPr>
              <a:t>Pointer O</a:t>
            </a:r>
            <a:r>
              <a:rPr lang="fr-FR" sz="2800" dirty="0">
                <a:latin typeface="Arial" charset="0"/>
                <a:ea typeface="ＭＳ Ｐゴシック" charset="0"/>
                <a:cs typeface="ＭＳ Ｐゴシック" charset="0"/>
              </a:rPr>
              <a:t>perations: </a:t>
            </a:r>
            <a:r>
              <a:rPr lang="fr-FR" sz="2800" dirty="0" err="1">
                <a:latin typeface="Arial" charset="0"/>
                <a:ea typeface="ＭＳ Ｐゴシック" charset="0"/>
                <a:cs typeface="ＭＳ Ｐゴシック" charset="0"/>
              </a:rPr>
              <a:t>Remarks</a:t>
            </a:r>
            <a:endParaRPr lang="fr-FR" sz="2800" dirty="0">
              <a:latin typeface="Arial" charset="0"/>
              <a:ea typeface="ＭＳ Ｐゴシック" charset="0"/>
              <a:cs typeface="ＭＳ Ｐゴシック" charset="0"/>
            </a:endParaRPr>
          </a:p>
        </p:txBody>
      </p:sp>
      <p:sp>
        <p:nvSpPr>
          <p:cNvPr id="10" name="Rectangle 9"/>
          <p:cNvSpPr/>
          <p:nvPr/>
        </p:nvSpPr>
        <p:spPr>
          <a:xfrm>
            <a:off x="1907704" y="2132856"/>
            <a:ext cx="5004556" cy="3108544"/>
          </a:xfrm>
          <a:prstGeom prst="rect">
            <a:avLst/>
          </a:prstGeom>
          <a:ln w="38100" cmpd="sng">
            <a:solidFill>
              <a:srgbClr val="FF0000"/>
            </a:solidFill>
          </a:ln>
        </p:spPr>
        <p:txBody>
          <a:bodyPr wrap="square">
            <a:spAutoFit/>
          </a:bodyPr>
          <a:lstStyle/>
          <a:p>
            <a:pPr lvl="1"/>
            <a:endParaRPr lang="en-GB" sz="2800" b="1" dirty="0">
              <a:solidFill>
                <a:srgbClr val="FF0000"/>
              </a:solidFill>
            </a:endParaRPr>
          </a:p>
          <a:p>
            <a:pPr lvl="1"/>
            <a:r>
              <a:rPr lang="en-GB" sz="2800" b="1" dirty="0">
                <a:solidFill>
                  <a:srgbClr val="FF0000"/>
                </a:solidFill>
              </a:rPr>
              <a:t>ATTENTION: </a:t>
            </a:r>
          </a:p>
          <a:p>
            <a:pPr lvl="1" algn="l"/>
            <a:r>
              <a:rPr lang="en-GB" sz="2800" b="1" dirty="0">
                <a:solidFill>
                  <a:srgbClr val="FF0000"/>
                </a:solidFill>
              </a:rPr>
              <a:t>Pointer definition     !=</a:t>
            </a:r>
          </a:p>
          <a:p>
            <a:pPr lvl="1" algn="l"/>
            <a:r>
              <a:rPr lang="en-GB" sz="2800" b="1" dirty="0">
                <a:solidFill>
                  <a:srgbClr val="FF0000"/>
                </a:solidFill>
              </a:rPr>
              <a:t>Pointer dereference !=</a:t>
            </a:r>
          </a:p>
          <a:p>
            <a:pPr lvl="1" algn="l"/>
            <a:r>
              <a:rPr lang="en-GB" sz="2800" b="1" dirty="0">
                <a:solidFill>
                  <a:srgbClr val="FF0000"/>
                </a:solidFill>
              </a:rPr>
              <a:t>Multiplication operation</a:t>
            </a:r>
          </a:p>
          <a:p>
            <a:pPr lvl="1" algn="l"/>
            <a:endParaRPr lang="en-GB" sz="2800" b="1" dirty="0">
              <a:solidFill>
                <a:srgbClr val="FF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Espace réservé du numéro de diapositive 1">
            <a:extLst>
              <a:ext uri="{FF2B5EF4-FFF2-40B4-BE49-F238E27FC236}">
                <a16:creationId xmlns:a16="http://schemas.microsoft.com/office/drawing/2014/main" id="{445A03EF-EB0E-182C-EEAA-15DCD778663F}"/>
              </a:ext>
            </a:extLst>
          </p:cNvPr>
          <p:cNvSpPr>
            <a:spLocks noGrp="1"/>
          </p:cNvSpPr>
          <p:nvPr>
            <p:ph type="sldNum" sz="quarter" idx="11"/>
          </p:nvPr>
        </p:nvSpPr>
        <p:spPr/>
        <p:txBody>
          <a:bodyPr/>
          <a:lstStyle/>
          <a:p>
            <a:pPr lvl="2"/>
            <a:fld id="{28BEB0BA-EEE4-5F45-9179-3BC54B76BCCF}" type="slidenum">
              <a:rPr lang="fr-FR" smtClean="0"/>
              <a:pPr lvl="2"/>
              <a:t>107</a:t>
            </a:fld>
            <a:endParaRPr lang="fr-FR"/>
          </a:p>
        </p:txBody>
      </p:sp>
    </p:spTree>
    <p:extLst>
      <p:ext uri="{BB962C8B-B14F-4D97-AF65-F5344CB8AC3E}">
        <p14:creationId xmlns:p14="http://schemas.microsoft.com/office/powerpoint/2010/main" val="422798306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re 1"/>
          <p:cNvSpPr>
            <a:spLocks noGrp="1"/>
          </p:cNvSpPr>
          <p:nvPr>
            <p:ph type="title"/>
          </p:nvPr>
        </p:nvSpPr>
        <p:spPr/>
        <p:txBody>
          <a:bodyPr/>
          <a:lstStyle/>
          <a:p>
            <a:r>
              <a:rPr lang="fr-FR" sz="2800" dirty="0">
                <a:latin typeface="Arial" charset="0"/>
                <a:cs typeface="ＭＳ Ｐゴシック" charset="0"/>
              </a:rPr>
              <a:t>Pointer to pointer</a:t>
            </a:r>
          </a:p>
        </p:txBody>
      </p:sp>
      <p:sp>
        <p:nvSpPr>
          <p:cNvPr id="107522" name="Espace réservé du contenu 2"/>
          <p:cNvSpPr>
            <a:spLocks noGrp="1"/>
          </p:cNvSpPr>
          <p:nvPr>
            <p:ph idx="1"/>
          </p:nvPr>
        </p:nvSpPr>
        <p:spPr>
          <a:xfrm>
            <a:off x="215516" y="1016732"/>
            <a:ext cx="8928484" cy="4537075"/>
          </a:xfrm>
        </p:spPr>
        <p:txBody>
          <a:bodyPr/>
          <a:lstStyle/>
          <a:p>
            <a:r>
              <a:rPr lang="en-GB" dirty="0">
                <a:latin typeface="Arial" charset="0"/>
                <a:cs typeface="ＭＳ Ｐゴシック" charset="0"/>
              </a:rPr>
              <a:t>The </a:t>
            </a:r>
            <a:r>
              <a:rPr lang="en-GB" dirty="0">
                <a:cs typeface="Courier"/>
              </a:rPr>
              <a:t>object, where a </a:t>
            </a:r>
            <a:r>
              <a:rPr lang="en-GB" dirty="0">
                <a:latin typeface="Arial" charset="0"/>
                <a:cs typeface="ＭＳ Ｐゴシック" charset="0"/>
              </a:rPr>
              <a:t>pointer points to, can be also a pointer </a:t>
            </a:r>
          </a:p>
          <a:p>
            <a:endParaRPr lang="en-GB" dirty="0">
              <a:latin typeface="Arial" charset="0"/>
              <a:cs typeface="ＭＳ Ｐゴシック" charset="0"/>
            </a:endParaRPr>
          </a:p>
          <a:p>
            <a:r>
              <a:rPr lang="en-GB" dirty="0">
                <a:latin typeface="Arial" charset="0"/>
                <a:cs typeface="ＭＳ Ｐゴシック" charset="0"/>
              </a:rPr>
              <a:t>In this case,  the </a:t>
            </a:r>
            <a:r>
              <a:rPr lang="en-GB" b="1" dirty="0">
                <a:latin typeface="Courier"/>
                <a:cs typeface="Courier"/>
              </a:rPr>
              <a:t>type </a:t>
            </a:r>
            <a:r>
              <a:rPr lang="en-GB" dirty="0">
                <a:cs typeface="Courier"/>
              </a:rPr>
              <a:t>of the object is </a:t>
            </a:r>
            <a:r>
              <a:rPr lang="en-US" b="1" dirty="0">
                <a:solidFill>
                  <a:srgbClr val="000000"/>
                </a:solidFill>
                <a:latin typeface="Courier"/>
                <a:cs typeface="Courier"/>
              </a:rPr>
              <a:t>type*</a:t>
            </a:r>
            <a:r>
              <a:rPr lang="en-GB" dirty="0">
                <a:cs typeface="Courier"/>
              </a:rPr>
              <a:t>, i.e. pointer type</a:t>
            </a:r>
          </a:p>
          <a:p>
            <a:pPr marL="363538" lvl="1" indent="-363538">
              <a:buSzTx/>
              <a:buBlip>
                <a:blip r:embed="rId2"/>
              </a:buBlip>
            </a:pPr>
            <a:endParaRPr lang="en-GB" sz="2400" b="1" dirty="0">
              <a:latin typeface="Courier"/>
              <a:cs typeface="Courier"/>
            </a:endParaRPr>
          </a:p>
          <a:p>
            <a:pPr marL="363538" lvl="1" indent="-363538">
              <a:buSzTx/>
              <a:buBlip>
                <a:blip r:embed="rId2"/>
              </a:buBlip>
            </a:pPr>
            <a:r>
              <a:rPr lang="en-GB" sz="2400" b="1" dirty="0" err="1">
                <a:latin typeface="Courier"/>
                <a:cs typeface="Courier"/>
              </a:rPr>
              <a:t>int</a:t>
            </a:r>
            <a:r>
              <a:rPr lang="en-GB" sz="2400" b="1" dirty="0">
                <a:latin typeface="Courier"/>
                <a:cs typeface="Courier"/>
              </a:rPr>
              <a:t> **</a:t>
            </a:r>
            <a:r>
              <a:rPr lang="en-GB" sz="2400" b="1" dirty="0" err="1">
                <a:latin typeface="Courier"/>
                <a:cs typeface="Courier"/>
              </a:rPr>
              <a:t>pp</a:t>
            </a:r>
            <a:r>
              <a:rPr lang="en-GB" sz="2400" b="1" dirty="0">
                <a:latin typeface="Courier"/>
                <a:cs typeface="Courier"/>
              </a:rPr>
              <a:t>; </a:t>
            </a:r>
            <a:r>
              <a:rPr lang="en-GB" sz="2400" dirty="0">
                <a:latin typeface="Arial" charset="0"/>
                <a:cs typeface="ＭＳ Ｐゴシック" charset="0"/>
              </a:rPr>
              <a:t>means that </a:t>
            </a:r>
            <a:r>
              <a:rPr lang="en-GB" sz="2400" b="1" dirty="0" err="1">
                <a:latin typeface="Courier"/>
                <a:cs typeface="Courier"/>
              </a:rPr>
              <a:t>pp</a:t>
            </a:r>
            <a:r>
              <a:rPr lang="en-GB" sz="2400" dirty="0">
                <a:latin typeface="Arial" charset="0"/>
                <a:cs typeface="ＭＳ Ｐゴシック" charset="0"/>
              </a:rPr>
              <a:t> is a pointer that points to a pointer that points to integers</a:t>
            </a:r>
            <a:endParaRPr lang="en-GB" dirty="0">
              <a:latin typeface="Arial" charset="0"/>
              <a:cs typeface="ＭＳ Ｐゴシック" charset="0"/>
            </a:endParaRPr>
          </a:p>
          <a:p>
            <a:pPr marL="542925" lvl="1" indent="0">
              <a:buNone/>
            </a:pPr>
            <a:endParaRPr lang="en-GB" dirty="0">
              <a:latin typeface="Arial" charset="0"/>
            </a:endParaRPr>
          </a:p>
        </p:txBody>
      </p:sp>
      <p:sp>
        <p:nvSpPr>
          <p:cNvPr id="22" name="Espace réservé du numéro de diapositive 4"/>
          <p:cNvSpPr>
            <a:spLocks noGrp="1"/>
          </p:cNvSpPr>
          <p:nvPr>
            <p:ph type="sldNum" sz="quarter" idx="11"/>
          </p:nvPr>
        </p:nvSpPr>
        <p:spPr>
          <a:xfrm>
            <a:off x="6336196" y="6381328"/>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108</a:t>
            </a:fld>
            <a:endParaRPr lang="fr-FR" sz="1400">
              <a:solidFill>
                <a:srgbClr val="000208"/>
              </a:solidFill>
              <a:latin typeface="Times New Roman" charset="0"/>
            </a:endParaRPr>
          </a:p>
        </p:txBody>
      </p:sp>
      <p:sp>
        <p:nvSpPr>
          <p:cNvPr id="2" name="Rectangle 1"/>
          <p:cNvSpPr/>
          <p:nvPr/>
        </p:nvSpPr>
        <p:spPr>
          <a:xfrm>
            <a:off x="2915816" y="5157192"/>
            <a:ext cx="923450" cy="584776"/>
          </a:xfrm>
          <a:prstGeom prst="rect">
            <a:avLst/>
          </a:prstGeom>
        </p:spPr>
        <p:txBody>
          <a:bodyPr wrap="none">
            <a:spAutoFit/>
          </a:bodyPr>
          <a:lstStyle/>
          <a:p>
            <a:r>
              <a:rPr lang="en-GB" sz="3200" b="1" dirty="0" err="1">
                <a:solidFill>
                  <a:srgbClr val="800000"/>
                </a:solidFill>
                <a:latin typeface="Courier"/>
                <a:cs typeface="Courier"/>
              </a:rPr>
              <a:t>int</a:t>
            </a:r>
            <a:endParaRPr lang="en-US" sz="3200" dirty="0">
              <a:solidFill>
                <a:srgbClr val="800000"/>
              </a:solidFill>
            </a:endParaRPr>
          </a:p>
        </p:txBody>
      </p:sp>
      <p:sp>
        <p:nvSpPr>
          <p:cNvPr id="3" name="Rectangle 2"/>
          <p:cNvSpPr/>
          <p:nvPr/>
        </p:nvSpPr>
        <p:spPr bwMode="auto">
          <a:xfrm>
            <a:off x="2087724" y="4761148"/>
            <a:ext cx="2304256" cy="1440160"/>
          </a:xfrm>
          <a:prstGeom prst="rect">
            <a:avLst/>
          </a:prstGeom>
          <a:noFill/>
          <a:ln w="6350" cap="flat" cmpd="sng" algn="ctr">
            <a:solidFill>
              <a:srgbClr val="0000FF"/>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8" name="Rectangle 7"/>
          <p:cNvSpPr/>
          <p:nvPr/>
        </p:nvSpPr>
        <p:spPr bwMode="auto">
          <a:xfrm>
            <a:off x="2807804" y="5229200"/>
            <a:ext cx="1080120" cy="540060"/>
          </a:xfrm>
          <a:prstGeom prst="rect">
            <a:avLst/>
          </a:prstGeom>
          <a:noFill/>
          <a:ln w="63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p:txBody>
      </p:sp>
      <p:sp>
        <p:nvSpPr>
          <p:cNvPr id="4" name="Rectangle 3"/>
          <p:cNvSpPr/>
          <p:nvPr/>
        </p:nvSpPr>
        <p:spPr>
          <a:xfrm>
            <a:off x="2856462" y="4329100"/>
            <a:ext cx="923450" cy="461665"/>
          </a:xfrm>
          <a:prstGeom prst="rect">
            <a:avLst/>
          </a:prstGeom>
          <a:ln>
            <a:noFill/>
          </a:ln>
        </p:spPr>
        <p:txBody>
          <a:bodyPr wrap="none">
            <a:spAutoFit/>
          </a:bodyPr>
          <a:lstStyle/>
          <a:p>
            <a:r>
              <a:rPr lang="en-GB" sz="2400" b="1" dirty="0">
                <a:solidFill>
                  <a:schemeClr val="accent1"/>
                </a:solidFill>
                <a:latin typeface="Courier"/>
                <a:cs typeface="Courier"/>
              </a:rPr>
              <a:t>type</a:t>
            </a:r>
            <a:endParaRPr lang="en-US" sz="2400" dirty="0">
              <a:solidFill>
                <a:schemeClr val="accent1"/>
              </a:solidFill>
            </a:endParaRPr>
          </a:p>
        </p:txBody>
      </p:sp>
      <p:sp>
        <p:nvSpPr>
          <p:cNvPr id="10" name="Rectangle 9"/>
          <p:cNvSpPr/>
          <p:nvPr/>
        </p:nvSpPr>
        <p:spPr>
          <a:xfrm>
            <a:off x="2892466" y="4797152"/>
            <a:ext cx="923450" cy="461665"/>
          </a:xfrm>
          <a:prstGeom prst="rect">
            <a:avLst/>
          </a:prstGeom>
        </p:spPr>
        <p:txBody>
          <a:bodyPr wrap="none">
            <a:spAutoFit/>
          </a:bodyPr>
          <a:lstStyle/>
          <a:p>
            <a:r>
              <a:rPr lang="en-GB" sz="2400" b="1" dirty="0">
                <a:solidFill>
                  <a:schemeClr val="accent2"/>
                </a:solidFill>
                <a:latin typeface="Courier"/>
                <a:cs typeface="Courier"/>
              </a:rPr>
              <a:t>type</a:t>
            </a:r>
            <a:endParaRPr lang="en-US" sz="2400" dirty="0">
              <a:solidFill>
                <a:schemeClr val="accent2"/>
              </a:solidFill>
            </a:endParaRPr>
          </a:p>
        </p:txBody>
      </p:sp>
      <p:sp>
        <p:nvSpPr>
          <p:cNvPr id="11" name="Rectangle 10"/>
          <p:cNvSpPr/>
          <p:nvPr/>
        </p:nvSpPr>
        <p:spPr>
          <a:xfrm>
            <a:off x="5148064" y="5193196"/>
            <a:ext cx="677189" cy="584776"/>
          </a:xfrm>
          <a:prstGeom prst="rect">
            <a:avLst/>
          </a:prstGeom>
        </p:spPr>
        <p:txBody>
          <a:bodyPr wrap="none">
            <a:spAutoFit/>
          </a:bodyPr>
          <a:lstStyle/>
          <a:p>
            <a:r>
              <a:rPr lang="en-GB" sz="3200" b="1" dirty="0" err="1">
                <a:latin typeface="Courier"/>
                <a:cs typeface="Courier"/>
              </a:rPr>
              <a:t>pp</a:t>
            </a:r>
            <a:endParaRPr lang="en-US" sz="3200" dirty="0"/>
          </a:p>
        </p:txBody>
      </p:sp>
      <p:sp>
        <p:nvSpPr>
          <p:cNvPr id="12" name="Rectangle 11"/>
          <p:cNvSpPr/>
          <p:nvPr/>
        </p:nvSpPr>
        <p:spPr>
          <a:xfrm>
            <a:off x="4752020" y="5256492"/>
            <a:ext cx="430927" cy="584776"/>
          </a:xfrm>
          <a:prstGeom prst="rect">
            <a:avLst/>
          </a:prstGeom>
        </p:spPr>
        <p:txBody>
          <a:bodyPr wrap="none">
            <a:spAutoFit/>
          </a:bodyPr>
          <a:lstStyle/>
          <a:p>
            <a:r>
              <a:rPr lang="en-GB" sz="3200" b="1" dirty="0">
                <a:solidFill>
                  <a:srgbClr val="3366FF"/>
                </a:solidFill>
                <a:latin typeface="Courier"/>
                <a:cs typeface="Courier"/>
              </a:rPr>
              <a:t>*</a:t>
            </a:r>
            <a:endParaRPr lang="en-US" sz="3200" dirty="0"/>
          </a:p>
        </p:txBody>
      </p:sp>
      <p:sp>
        <p:nvSpPr>
          <p:cNvPr id="13" name="Rectangle 12"/>
          <p:cNvSpPr/>
          <p:nvPr/>
        </p:nvSpPr>
        <p:spPr>
          <a:xfrm>
            <a:off x="3887924" y="5193196"/>
            <a:ext cx="430927" cy="584776"/>
          </a:xfrm>
          <a:prstGeom prst="rect">
            <a:avLst/>
          </a:prstGeom>
        </p:spPr>
        <p:txBody>
          <a:bodyPr wrap="none">
            <a:spAutoFit/>
          </a:bodyPr>
          <a:lstStyle/>
          <a:p>
            <a:r>
              <a:rPr lang="en-GB" sz="3200" b="1" dirty="0">
                <a:solidFill>
                  <a:srgbClr val="009900"/>
                </a:solidFill>
                <a:latin typeface="Courier"/>
                <a:cs typeface="Courier"/>
              </a:rPr>
              <a:t>*</a:t>
            </a:r>
            <a:endParaRPr lang="en-US" sz="3200" dirty="0"/>
          </a:p>
        </p:txBody>
      </p:sp>
      <p:sp>
        <p:nvSpPr>
          <p:cNvPr id="1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04232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52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P spid="4" grpId="0"/>
      <p:bldP spid="10" grpId="0"/>
      <p:bldP spid="11" grpId="0"/>
      <p:bldP spid="12" grpId="0"/>
      <p:bldP spid="1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109</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878998709"/>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2616101"/>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1" name="Rectangle 30"/>
          <p:cNvSpPr/>
          <p:nvPr/>
        </p:nvSpPr>
        <p:spPr>
          <a:xfrm>
            <a:off x="5301978" y="1772816"/>
            <a:ext cx="800319" cy="400110"/>
          </a:xfrm>
          <a:prstGeom prst="rect">
            <a:avLst/>
          </a:prstGeom>
        </p:spPr>
        <p:txBody>
          <a:bodyPr wrap="none">
            <a:spAutoFit/>
          </a:bodyPr>
          <a:lstStyle/>
          <a:p>
            <a:r>
              <a:rPr lang="en-GB" sz="2000" b="1" dirty="0" err="1">
                <a:solidFill>
                  <a:srgbClr val="FF0000"/>
                </a:solidFill>
                <a:latin typeface="Courier"/>
                <a:cs typeface="Courier"/>
              </a:rPr>
              <a:t>xxxx</a:t>
            </a:r>
            <a:endParaRPr lang="en-US" sz="2000" dirty="0">
              <a:solidFill>
                <a:srgbClr val="FF0000"/>
              </a:solidFill>
            </a:endParaRPr>
          </a:p>
        </p:txBody>
      </p:sp>
      <p:sp>
        <p:nvSpPr>
          <p:cNvPr id="28" name="Rectangle 27"/>
          <p:cNvSpPr/>
          <p:nvPr/>
        </p:nvSpPr>
        <p:spPr>
          <a:xfrm>
            <a:off x="5292080" y="2852936"/>
            <a:ext cx="1097841" cy="400110"/>
          </a:xfrm>
          <a:prstGeom prst="rect">
            <a:avLst/>
          </a:prstGeom>
        </p:spPr>
        <p:txBody>
          <a:bodyPr wrap="square">
            <a:spAutoFit/>
          </a:bodyPr>
          <a:lstStyle/>
          <a:p>
            <a:r>
              <a:rPr lang="en-GB" sz="2000" b="1" dirty="0" err="1">
                <a:solidFill>
                  <a:srgbClr val="FF0000"/>
                </a:solidFill>
                <a:latin typeface="Courier"/>
                <a:cs typeface="Courier"/>
              </a:rPr>
              <a:t>xxxx</a:t>
            </a:r>
            <a:endParaRPr lang="en-US" sz="2000" dirty="0">
              <a:solidFill>
                <a:srgbClr val="FF0000"/>
              </a:solidFill>
            </a:endParaRPr>
          </a:p>
        </p:txBody>
      </p:sp>
      <p:grpSp>
        <p:nvGrpSpPr>
          <p:cNvPr id="33" name="Group 32"/>
          <p:cNvGrpSpPr/>
          <p:nvPr/>
        </p:nvGrpSpPr>
        <p:grpSpPr>
          <a:xfrm>
            <a:off x="6876256" y="1772816"/>
            <a:ext cx="1978554" cy="400110"/>
            <a:chOff x="5724128" y="1772816"/>
            <a:chExt cx="1978554" cy="400110"/>
          </a:xfrm>
        </p:grpSpPr>
        <p:cxnSp>
          <p:nvCxnSpPr>
            <p:cNvPr id="34" name="Straight Arrow Connector 33"/>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5" name="Rectangle 34"/>
            <p:cNvSpPr/>
            <p:nvPr/>
          </p:nvSpPr>
          <p:spPr>
            <a:xfrm>
              <a:off x="7056276" y="1772816"/>
              <a:ext cx="646406" cy="400110"/>
            </a:xfrm>
            <a:prstGeom prst="rect">
              <a:avLst/>
            </a:prstGeom>
          </p:spPr>
          <p:txBody>
            <a:bodyPr wrap="none">
              <a:spAutoFit/>
            </a:bodyPr>
            <a:lstStyle/>
            <a:p>
              <a:r>
                <a:rPr lang="en-GB" sz="2000" b="1" dirty="0" err="1">
                  <a:solidFill>
                    <a:srgbClr val="FF0000"/>
                  </a:solidFill>
                  <a:latin typeface="Courier"/>
                  <a:cs typeface="Courier"/>
                </a:rPr>
                <a:t>int</a:t>
              </a:r>
              <a:endParaRPr lang="en-US" sz="2000" dirty="0">
                <a:solidFill>
                  <a:srgbClr val="FF0000"/>
                </a:solidFill>
              </a:endParaRPr>
            </a:p>
          </p:txBody>
        </p:sp>
      </p:grpSp>
      <p:grpSp>
        <p:nvGrpSpPr>
          <p:cNvPr id="36" name="Group 35"/>
          <p:cNvGrpSpPr/>
          <p:nvPr/>
        </p:nvGrpSpPr>
        <p:grpSpPr>
          <a:xfrm>
            <a:off x="6876256" y="2816932"/>
            <a:ext cx="2055511" cy="400110"/>
            <a:chOff x="5724128" y="1772816"/>
            <a:chExt cx="2055511" cy="400110"/>
          </a:xfrm>
        </p:grpSpPr>
        <p:cxnSp>
          <p:nvCxnSpPr>
            <p:cNvPr id="37" name="Straight Arrow Connector 36"/>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 name="Rectangle 37"/>
            <p:cNvSpPr/>
            <p:nvPr/>
          </p:nvSpPr>
          <p:spPr>
            <a:xfrm>
              <a:off x="6979320" y="1772816"/>
              <a:ext cx="800319" cy="400110"/>
            </a:xfrm>
            <a:prstGeom prst="rect">
              <a:avLst/>
            </a:prstGeom>
          </p:spPr>
          <p:txBody>
            <a:bodyPr wrap="none">
              <a:spAutoFit/>
            </a:bodyPr>
            <a:lstStyle/>
            <a:p>
              <a:r>
                <a:rPr lang="en-GB" sz="2000" b="1" dirty="0" err="1">
                  <a:solidFill>
                    <a:srgbClr val="FF0000"/>
                  </a:solidFill>
                  <a:latin typeface="Courier"/>
                  <a:cs typeface="Courier"/>
                </a:rPr>
                <a:t>int</a:t>
              </a:r>
              <a:r>
                <a:rPr lang="en-GB" sz="2000" b="1" dirty="0">
                  <a:solidFill>
                    <a:srgbClr val="FF0000"/>
                  </a:solidFill>
                  <a:latin typeface="Courier"/>
                  <a:cs typeface="Courier"/>
                </a:rPr>
                <a:t>*</a:t>
              </a:r>
              <a:endParaRPr lang="en-US" sz="2000" dirty="0">
                <a:solidFill>
                  <a:srgbClr val="FF0000"/>
                </a:solidFill>
              </a:endParaRPr>
            </a:p>
          </p:txBody>
        </p:sp>
      </p:gr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86991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xEl>
                                              <p:pRg st="6" end="6"/>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8" grpId="0"/>
      <p:bldP spid="39" grpId="0"/>
      <p:bldP spid="40" grpId="0"/>
      <p:bldP spid="41"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110</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853830895"/>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354765"/>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1" name="Rectangle 30"/>
          <p:cNvSpPr/>
          <p:nvPr/>
        </p:nvSpPr>
        <p:spPr>
          <a:xfrm>
            <a:off x="5148066" y="1772816"/>
            <a:ext cx="1108146" cy="400110"/>
          </a:xfrm>
          <a:prstGeom prst="rect">
            <a:avLst/>
          </a:prstGeom>
        </p:spPr>
        <p:txBody>
          <a:bodyPr wrap="none">
            <a:spAutoFit/>
          </a:bodyPr>
          <a:lstStyle/>
          <a:p>
            <a:r>
              <a:rPr lang="en-GB" sz="2000" b="1" dirty="0">
                <a:solidFill>
                  <a:schemeClr val="tx1"/>
                </a:solidFill>
                <a:latin typeface="Courier"/>
                <a:cs typeface="Courier"/>
              </a:rPr>
              <a:t>0x1010</a:t>
            </a:r>
            <a:endParaRPr lang="en-US" sz="2000" dirty="0">
              <a:solidFill>
                <a:schemeClr val="tx1"/>
              </a:solidFill>
            </a:endParaRPr>
          </a:p>
        </p:txBody>
      </p:sp>
      <p:sp>
        <p:nvSpPr>
          <p:cNvPr id="28" name="Rectangle 27"/>
          <p:cNvSpPr/>
          <p:nvPr/>
        </p:nvSpPr>
        <p:spPr>
          <a:xfrm>
            <a:off x="5292080" y="2852936"/>
            <a:ext cx="1097841" cy="400110"/>
          </a:xfrm>
          <a:prstGeom prst="rect">
            <a:avLst/>
          </a:prstGeom>
        </p:spPr>
        <p:txBody>
          <a:bodyPr wrap="square">
            <a:spAutoFit/>
          </a:bodyPr>
          <a:lstStyle/>
          <a:p>
            <a:r>
              <a:rPr lang="en-GB" sz="2000" b="1" dirty="0" err="1">
                <a:solidFill>
                  <a:srgbClr val="FF0000"/>
                </a:solidFill>
                <a:latin typeface="Courier"/>
                <a:cs typeface="Courier"/>
              </a:rPr>
              <a:t>xxxx</a:t>
            </a:r>
            <a:endParaRPr lang="en-US" sz="2000" dirty="0">
              <a:solidFill>
                <a:srgbClr val="FF0000"/>
              </a:solidFill>
            </a:endParaRPr>
          </a:p>
        </p:txBody>
      </p:sp>
      <p:grpSp>
        <p:nvGrpSpPr>
          <p:cNvPr id="36" name="Group 35"/>
          <p:cNvGrpSpPr/>
          <p:nvPr/>
        </p:nvGrpSpPr>
        <p:grpSpPr>
          <a:xfrm>
            <a:off x="6876256" y="2816932"/>
            <a:ext cx="2055511" cy="400110"/>
            <a:chOff x="5724128" y="1772816"/>
            <a:chExt cx="2055511" cy="400110"/>
          </a:xfrm>
        </p:grpSpPr>
        <p:cxnSp>
          <p:nvCxnSpPr>
            <p:cNvPr id="37" name="Straight Arrow Connector 36"/>
            <p:cNvCxnSpPr/>
            <p:nvPr/>
          </p:nvCxnSpPr>
          <p:spPr bwMode="auto">
            <a:xfrm>
              <a:off x="5724128" y="1988840"/>
              <a:ext cx="1080120" cy="0"/>
            </a:xfrm>
            <a:prstGeom prst="straightConnector1">
              <a:avLst/>
            </a:prstGeom>
            <a:noFill/>
            <a:ln w="38100" cap="flat" cmpd="sng" algn="ctr">
              <a:solidFill>
                <a:srgbClr val="FF0000"/>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 name="Rectangle 37"/>
            <p:cNvSpPr/>
            <p:nvPr/>
          </p:nvSpPr>
          <p:spPr>
            <a:xfrm>
              <a:off x="6979320" y="1772816"/>
              <a:ext cx="800319" cy="400110"/>
            </a:xfrm>
            <a:prstGeom prst="rect">
              <a:avLst/>
            </a:prstGeom>
          </p:spPr>
          <p:txBody>
            <a:bodyPr wrap="none">
              <a:spAutoFit/>
            </a:bodyPr>
            <a:lstStyle/>
            <a:p>
              <a:r>
                <a:rPr lang="en-GB" sz="2000" b="1" dirty="0" err="1">
                  <a:solidFill>
                    <a:srgbClr val="FF0000"/>
                  </a:solidFill>
                  <a:latin typeface="Courier"/>
                  <a:cs typeface="Courier"/>
                </a:rPr>
                <a:t>int</a:t>
              </a:r>
              <a:r>
                <a:rPr lang="en-GB" sz="2000" b="1" dirty="0">
                  <a:solidFill>
                    <a:srgbClr val="FF0000"/>
                  </a:solidFill>
                  <a:latin typeface="Courier"/>
                  <a:cs typeface="Courier"/>
                </a:rPr>
                <a:t>*</a:t>
              </a:r>
              <a:endParaRPr lang="en-US" sz="2000" dirty="0">
                <a:solidFill>
                  <a:srgbClr val="FF0000"/>
                </a:solidFill>
              </a:endParaRPr>
            </a:p>
          </p:txBody>
        </p:sp>
      </p:gr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2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958850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111</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42636618"/>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err="1">
                <a:latin typeface="Courier"/>
                <a:cs typeface="Courier"/>
              </a:rPr>
              <a:t>pp</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endParaRPr lang="en-US" sz="2000" dirty="0"/>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1" name="Rectangle 30"/>
          <p:cNvSpPr/>
          <p:nvPr/>
        </p:nvSpPr>
        <p:spPr>
          <a:xfrm>
            <a:off x="5148066" y="1772816"/>
            <a:ext cx="1108146" cy="400110"/>
          </a:xfrm>
          <a:prstGeom prst="rect">
            <a:avLst/>
          </a:prstGeom>
        </p:spPr>
        <p:txBody>
          <a:bodyPr wrap="none">
            <a:spAutoFit/>
          </a:bodyPr>
          <a:lstStyle/>
          <a:p>
            <a:r>
              <a:rPr lang="en-GB" sz="2000" b="1" dirty="0">
                <a:solidFill>
                  <a:schemeClr val="tx1"/>
                </a:solidFill>
                <a:latin typeface="Courier"/>
                <a:cs typeface="Courier"/>
              </a:rPr>
              <a:t>0x1010</a:t>
            </a:r>
            <a:endParaRPr lang="en-US" sz="2000" dirty="0">
              <a:solidFill>
                <a:schemeClr val="tx1"/>
              </a:solidFill>
            </a:endParaRPr>
          </a:p>
        </p:txBody>
      </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43" name="Rectangle 42"/>
          <p:cNvSpPr/>
          <p:nvPr/>
        </p:nvSpPr>
        <p:spPr>
          <a:xfrm>
            <a:off x="5148064" y="2888940"/>
            <a:ext cx="1108146" cy="400110"/>
          </a:xfrm>
          <a:prstGeom prst="rect">
            <a:avLst/>
          </a:prstGeom>
        </p:spPr>
        <p:txBody>
          <a:bodyPr wrap="none">
            <a:spAutoFit/>
          </a:bodyPr>
          <a:lstStyle/>
          <a:p>
            <a:r>
              <a:rPr lang="en-GB" sz="2000" b="1" dirty="0">
                <a:solidFill>
                  <a:schemeClr val="tx1"/>
                </a:solidFill>
                <a:latin typeface="Courier"/>
                <a:cs typeface="Courier"/>
              </a:rPr>
              <a:t>0x1000</a:t>
            </a:r>
            <a:endParaRPr lang="en-US" sz="2000" dirty="0">
              <a:solidFill>
                <a:schemeClr val="tx1"/>
              </a:solidFill>
            </a:endParaRPr>
          </a:p>
        </p:txBody>
      </p:sp>
      <p:sp>
        <p:nvSpPr>
          <p:cNvPr id="25" name="Espace réservé du contenu 2"/>
          <p:cNvSpPr>
            <a:spLocks noGrp="1"/>
          </p:cNvSpPr>
          <p:nvPr>
            <p:ph idx="1"/>
          </p:nvPr>
        </p:nvSpPr>
        <p:spPr>
          <a:xfrm>
            <a:off x="215516" y="4905164"/>
            <a:ext cx="8604956" cy="1656755"/>
          </a:xfrm>
        </p:spPr>
        <p:txBody>
          <a:bodyPr/>
          <a:lstStyle/>
          <a:p>
            <a:r>
              <a:rPr lang="en-GB" altLang="ja-JP" sz="2400" dirty="0">
                <a:cs typeface="Courier"/>
              </a:rPr>
              <a:t>What is the result of </a:t>
            </a:r>
            <a:r>
              <a:rPr lang="en-GB" altLang="ja-JP" sz="2400" b="1" dirty="0">
                <a:latin typeface="Courier"/>
                <a:cs typeface="Courier"/>
              </a:rPr>
              <a:t>*</a:t>
            </a:r>
            <a:r>
              <a:rPr lang="en-GB" altLang="ja-JP" sz="2400" b="1" dirty="0" err="1">
                <a:latin typeface="Courier"/>
                <a:cs typeface="Courier"/>
              </a:rPr>
              <a:t>ptr</a:t>
            </a:r>
            <a:r>
              <a:rPr lang="en-GB" altLang="ja-JP" sz="2400" b="1" dirty="0">
                <a:latin typeface="Courier"/>
                <a:cs typeface="Courier"/>
              </a:rPr>
              <a:t>?</a:t>
            </a:r>
          </a:p>
        </p:txBody>
      </p:sp>
      <p:sp>
        <p:nvSpPr>
          <p:cNvPr id="26" name="Oval 25"/>
          <p:cNvSpPr/>
          <p:nvPr/>
        </p:nvSpPr>
        <p:spPr bwMode="auto">
          <a:xfrm>
            <a:off x="4932040" y="1700808"/>
            <a:ext cx="1656184"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9" name="Oval 28"/>
          <p:cNvSpPr/>
          <p:nvPr/>
        </p:nvSpPr>
        <p:spPr bwMode="auto">
          <a:xfrm>
            <a:off x="5173979" y="3540470"/>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30" name="Curved Connector 29"/>
          <p:cNvCxnSpPr>
            <a:stCxn id="26" idx="6"/>
            <a:endCxn id="21" idx="1"/>
          </p:cNvCxnSpPr>
          <p:nvPr/>
        </p:nvCxnSpPr>
        <p:spPr bwMode="auto">
          <a:xfrm flipH="1">
            <a:off x="3136789" y="1940993"/>
            <a:ext cx="3451435" cy="1868082"/>
          </a:xfrm>
          <a:prstGeom prst="curvedConnector5">
            <a:avLst>
              <a:gd name="adj1" fmla="val -6623"/>
              <a:gd name="adj2" fmla="val 28413"/>
              <a:gd name="adj3" fmla="val 106623"/>
            </a:avLst>
          </a:prstGeom>
          <a:noFill/>
          <a:ln w="38100" cap="flat" cmpd="sng" algn="ctr">
            <a:solidFill>
              <a:srgbClr val="FF0000"/>
            </a:solidFill>
            <a:prstDash val="solid"/>
            <a:round/>
            <a:headEnd type="none" w="lg" len="lg"/>
            <a:tailEnd type="triangle" w="lg"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381328"/>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94408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112</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70456216"/>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err="1">
                <a:latin typeface="Courier"/>
                <a:cs typeface="Courier"/>
              </a:rPr>
              <a:t>pp</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endParaRPr lang="en-US" sz="2000" dirty="0"/>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1" name="Rectangle 30"/>
          <p:cNvSpPr/>
          <p:nvPr/>
        </p:nvSpPr>
        <p:spPr>
          <a:xfrm>
            <a:off x="5148066" y="1772816"/>
            <a:ext cx="1108146" cy="400110"/>
          </a:xfrm>
          <a:prstGeom prst="rect">
            <a:avLst/>
          </a:prstGeom>
        </p:spPr>
        <p:txBody>
          <a:bodyPr wrap="none">
            <a:spAutoFit/>
          </a:bodyPr>
          <a:lstStyle/>
          <a:p>
            <a:r>
              <a:rPr lang="en-GB" sz="2000" b="1" dirty="0">
                <a:solidFill>
                  <a:schemeClr val="tx1"/>
                </a:solidFill>
                <a:latin typeface="Courier"/>
                <a:cs typeface="Courier"/>
              </a:rPr>
              <a:t>0x1010</a:t>
            </a:r>
            <a:endParaRPr lang="en-US" sz="2000" dirty="0">
              <a:solidFill>
                <a:schemeClr val="tx1"/>
              </a:solidFill>
            </a:endParaRPr>
          </a:p>
        </p:txBody>
      </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43" name="Rectangle 42"/>
          <p:cNvSpPr/>
          <p:nvPr/>
        </p:nvSpPr>
        <p:spPr>
          <a:xfrm>
            <a:off x="5148064" y="2888940"/>
            <a:ext cx="1108146" cy="400110"/>
          </a:xfrm>
          <a:prstGeom prst="rect">
            <a:avLst/>
          </a:prstGeom>
        </p:spPr>
        <p:txBody>
          <a:bodyPr wrap="none">
            <a:spAutoFit/>
          </a:bodyPr>
          <a:lstStyle/>
          <a:p>
            <a:r>
              <a:rPr lang="en-GB" sz="2000" b="1" dirty="0">
                <a:solidFill>
                  <a:schemeClr val="tx1"/>
                </a:solidFill>
                <a:latin typeface="Courier"/>
                <a:cs typeface="Courier"/>
              </a:rPr>
              <a:t>0x1000</a:t>
            </a:r>
            <a:endParaRPr lang="en-US" sz="2000" dirty="0">
              <a:solidFill>
                <a:schemeClr val="tx1"/>
              </a:solidFill>
            </a:endParaRPr>
          </a:p>
        </p:txBody>
      </p:sp>
      <p:sp>
        <p:nvSpPr>
          <p:cNvPr id="25" name="Espace réservé du contenu 2"/>
          <p:cNvSpPr>
            <a:spLocks noGrp="1"/>
          </p:cNvSpPr>
          <p:nvPr>
            <p:ph idx="1"/>
          </p:nvPr>
        </p:nvSpPr>
        <p:spPr>
          <a:xfrm>
            <a:off x="215516" y="4905164"/>
            <a:ext cx="8604956" cy="1656755"/>
          </a:xfrm>
        </p:spPr>
        <p:txBody>
          <a:bodyPr/>
          <a:lstStyle/>
          <a:p>
            <a:r>
              <a:rPr lang="en-GB" altLang="ja-JP" dirty="0">
                <a:cs typeface="Courier"/>
              </a:rPr>
              <a:t>What is the result of </a:t>
            </a:r>
            <a:r>
              <a:rPr lang="en-GB" altLang="ja-JP" b="1" dirty="0">
                <a:latin typeface="Courier"/>
                <a:cs typeface="Courier"/>
              </a:rPr>
              <a:t>*</a:t>
            </a:r>
            <a:r>
              <a:rPr lang="en-GB" altLang="ja-JP" b="1" dirty="0" err="1">
                <a:latin typeface="Courier"/>
                <a:cs typeface="Courier"/>
              </a:rPr>
              <a:t>pp</a:t>
            </a:r>
            <a:r>
              <a:rPr lang="en-GB" altLang="ja-JP" b="1" dirty="0">
                <a:latin typeface="Courier"/>
                <a:cs typeface="Courier"/>
              </a:rPr>
              <a:t>?</a:t>
            </a:r>
          </a:p>
        </p:txBody>
      </p:sp>
      <p:sp>
        <p:nvSpPr>
          <p:cNvPr id="26" name="Oval 25"/>
          <p:cNvSpPr/>
          <p:nvPr/>
        </p:nvSpPr>
        <p:spPr bwMode="auto">
          <a:xfrm>
            <a:off x="4860032" y="2816932"/>
            <a:ext cx="1656184"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9" name="Oval 28"/>
          <p:cNvSpPr/>
          <p:nvPr/>
        </p:nvSpPr>
        <p:spPr bwMode="auto">
          <a:xfrm>
            <a:off x="5040052" y="1700808"/>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30" name="Curved Connector 29"/>
          <p:cNvCxnSpPr>
            <a:stCxn id="26" idx="6"/>
            <a:endCxn id="11" idx="1"/>
          </p:cNvCxnSpPr>
          <p:nvPr/>
        </p:nvCxnSpPr>
        <p:spPr bwMode="auto">
          <a:xfrm flipH="1" flipV="1">
            <a:off x="2914952" y="1972871"/>
            <a:ext cx="3601264" cy="1084246"/>
          </a:xfrm>
          <a:prstGeom prst="curvedConnector5">
            <a:avLst>
              <a:gd name="adj1" fmla="val -6348"/>
              <a:gd name="adj2" fmla="val 51851"/>
              <a:gd name="adj3" fmla="val 106348"/>
            </a:avLst>
          </a:prstGeom>
          <a:noFill/>
          <a:ln w="38100" cap="flat" cmpd="sng" algn="ctr">
            <a:solidFill>
              <a:srgbClr val="FF0000"/>
            </a:solidFill>
            <a:prstDash val="solid"/>
            <a:round/>
            <a:headEnd type="none" w="lg" len="lg"/>
            <a:tailEnd type="triangle" w="lg"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04903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113</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835624501"/>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err="1">
                <a:latin typeface="Courier"/>
                <a:cs typeface="Courier"/>
              </a:rPr>
              <a:t>pp</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endParaRPr lang="en-US" sz="2000" dirty="0"/>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1" name="Rectangle 30"/>
          <p:cNvSpPr/>
          <p:nvPr/>
        </p:nvSpPr>
        <p:spPr>
          <a:xfrm>
            <a:off x="5148066" y="1772816"/>
            <a:ext cx="1108146" cy="400110"/>
          </a:xfrm>
          <a:prstGeom prst="rect">
            <a:avLst/>
          </a:prstGeom>
        </p:spPr>
        <p:txBody>
          <a:bodyPr wrap="none">
            <a:spAutoFit/>
          </a:bodyPr>
          <a:lstStyle/>
          <a:p>
            <a:r>
              <a:rPr lang="en-GB" sz="2000" b="1" dirty="0">
                <a:solidFill>
                  <a:schemeClr val="tx1"/>
                </a:solidFill>
                <a:latin typeface="Courier"/>
                <a:cs typeface="Courier"/>
              </a:rPr>
              <a:t>0x1010</a:t>
            </a:r>
            <a:endParaRPr lang="en-US" sz="2000" dirty="0">
              <a:solidFill>
                <a:schemeClr val="tx1"/>
              </a:solidFill>
            </a:endParaRPr>
          </a:p>
        </p:txBody>
      </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43" name="Rectangle 42"/>
          <p:cNvSpPr/>
          <p:nvPr/>
        </p:nvSpPr>
        <p:spPr>
          <a:xfrm>
            <a:off x="5148064" y="2888940"/>
            <a:ext cx="1108146" cy="400110"/>
          </a:xfrm>
          <a:prstGeom prst="rect">
            <a:avLst/>
          </a:prstGeom>
        </p:spPr>
        <p:txBody>
          <a:bodyPr wrap="none">
            <a:spAutoFit/>
          </a:bodyPr>
          <a:lstStyle/>
          <a:p>
            <a:r>
              <a:rPr lang="en-GB" sz="2000" b="1" dirty="0">
                <a:solidFill>
                  <a:schemeClr val="tx1"/>
                </a:solidFill>
                <a:latin typeface="Courier"/>
                <a:cs typeface="Courier"/>
              </a:rPr>
              <a:t>0x1000</a:t>
            </a:r>
            <a:endParaRPr lang="en-US" sz="2000" dirty="0">
              <a:solidFill>
                <a:schemeClr val="tx1"/>
              </a:solidFill>
            </a:endParaRPr>
          </a:p>
        </p:txBody>
      </p:sp>
      <p:sp>
        <p:nvSpPr>
          <p:cNvPr id="26" name="Oval 25"/>
          <p:cNvSpPr/>
          <p:nvPr/>
        </p:nvSpPr>
        <p:spPr bwMode="auto">
          <a:xfrm>
            <a:off x="4860032" y="2816932"/>
            <a:ext cx="1656184"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9" name="Oval 28"/>
          <p:cNvSpPr/>
          <p:nvPr/>
        </p:nvSpPr>
        <p:spPr bwMode="auto">
          <a:xfrm>
            <a:off x="5040052" y="1700808"/>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30" name="Curved Connector 29"/>
          <p:cNvCxnSpPr>
            <a:stCxn id="26" idx="6"/>
            <a:endCxn id="11" idx="1"/>
          </p:cNvCxnSpPr>
          <p:nvPr/>
        </p:nvCxnSpPr>
        <p:spPr bwMode="auto">
          <a:xfrm flipH="1" flipV="1">
            <a:off x="2914952" y="1972871"/>
            <a:ext cx="3601264" cy="1084246"/>
          </a:xfrm>
          <a:prstGeom prst="curvedConnector5">
            <a:avLst>
              <a:gd name="adj1" fmla="val -6348"/>
              <a:gd name="adj2" fmla="val 51851"/>
              <a:gd name="adj3" fmla="val 106348"/>
            </a:avLst>
          </a:prstGeom>
          <a:noFill/>
          <a:ln w="38100" cap="flat" cmpd="sng" algn="ctr">
            <a:solidFill>
              <a:srgbClr val="FF0000"/>
            </a:solidFill>
            <a:prstDash val="solid"/>
            <a:round/>
            <a:headEnd type="none" w="lg" len="lg"/>
            <a:tailEnd type="triangle" w="lg"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contenu 2"/>
          <p:cNvSpPr txBox="1">
            <a:spLocks/>
          </p:cNvSpPr>
          <p:nvPr/>
        </p:nvSpPr>
        <p:spPr bwMode="auto">
          <a:xfrm>
            <a:off x="215516" y="4905164"/>
            <a:ext cx="8604956" cy="1656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altLang="ja-JP" dirty="0">
                <a:cs typeface="Courier"/>
              </a:rPr>
              <a:t>What is the result of </a:t>
            </a:r>
            <a:r>
              <a:rPr lang="en-GB" altLang="ja-JP" b="1" dirty="0">
                <a:latin typeface="Courier"/>
                <a:cs typeface="Courier"/>
              </a:rPr>
              <a:t>*</a:t>
            </a:r>
            <a:r>
              <a:rPr lang="en-GB" altLang="ja-JP" b="1" dirty="0" err="1">
                <a:latin typeface="Courier"/>
                <a:cs typeface="Courier"/>
              </a:rPr>
              <a:t>pp</a:t>
            </a:r>
            <a:r>
              <a:rPr lang="en-GB" altLang="ja-JP" dirty="0">
                <a:latin typeface="Arial" charset="0"/>
              </a:rPr>
              <a:t> = </a:t>
            </a:r>
            <a:r>
              <a:rPr lang="en-GB" altLang="ja-JP" b="1" dirty="0">
                <a:latin typeface="Courier"/>
                <a:cs typeface="Courier"/>
              </a:rPr>
              <a:t>&amp;y</a:t>
            </a:r>
            <a:r>
              <a:rPr lang="en-GB" altLang="ja-JP" dirty="0">
                <a:latin typeface="Arial" charset="0"/>
              </a:rPr>
              <a:t> ?</a:t>
            </a:r>
          </a:p>
          <a:p>
            <a:r>
              <a:rPr lang="en-GB" dirty="0">
                <a:latin typeface="Arial" charset="0"/>
              </a:rPr>
              <a:t>The instruction </a:t>
            </a:r>
            <a:r>
              <a:rPr lang="en-GB" b="1" dirty="0">
                <a:latin typeface="Courier"/>
                <a:cs typeface="Courier"/>
              </a:rPr>
              <a:t>*</a:t>
            </a:r>
            <a:r>
              <a:rPr lang="en-GB" b="1" dirty="0" err="1">
                <a:latin typeface="Courier"/>
                <a:cs typeface="Courier"/>
              </a:rPr>
              <a:t>pp</a:t>
            </a:r>
            <a:r>
              <a:rPr lang="en-GB" b="1" dirty="0">
                <a:latin typeface="Courier"/>
                <a:cs typeface="Courier"/>
              </a:rPr>
              <a:t>=&amp;y</a:t>
            </a:r>
            <a:r>
              <a:rPr lang="en-GB" b="1" dirty="0">
                <a:latin typeface="Arial" charset="0"/>
              </a:rPr>
              <a:t> </a:t>
            </a:r>
            <a:r>
              <a:rPr lang="en-GB" dirty="0">
                <a:latin typeface="Arial" charset="0"/>
              </a:rPr>
              <a:t>modifies the content of the object pointed by </a:t>
            </a:r>
            <a:r>
              <a:rPr lang="en-GB" b="1" dirty="0" err="1">
                <a:latin typeface="Courier"/>
                <a:cs typeface="Courier"/>
              </a:rPr>
              <a:t>pp</a:t>
            </a:r>
            <a:r>
              <a:rPr lang="en-GB" b="1" dirty="0">
                <a:latin typeface="Arial" charset="0"/>
              </a:rPr>
              <a:t> </a:t>
            </a:r>
            <a:r>
              <a:rPr lang="en-GB" dirty="0">
                <a:latin typeface="Arial" charset="0"/>
              </a:rPr>
              <a:t>(which is </a:t>
            </a:r>
            <a:r>
              <a:rPr lang="en-GB" b="1" dirty="0" err="1">
                <a:latin typeface="Courier"/>
                <a:cs typeface="Courier"/>
              </a:rPr>
              <a:t>ptr</a:t>
            </a:r>
            <a:r>
              <a:rPr lang="en-GB" dirty="0">
                <a:latin typeface="Arial" charset="0"/>
              </a:rPr>
              <a:t>) by storing the address of the object </a:t>
            </a:r>
            <a:r>
              <a:rPr lang="en-GB" b="1" dirty="0">
                <a:latin typeface="Courier"/>
                <a:cs typeface="Courier"/>
              </a:rPr>
              <a:t>y</a:t>
            </a:r>
            <a:endParaRPr lang="en-GB" dirty="0">
              <a:latin typeface="Courier"/>
              <a:cs typeface="Courier"/>
            </a:endParaRPr>
          </a:p>
        </p:txBody>
      </p:sp>
      <p:sp>
        <p:nvSpPr>
          <p:cNvPr id="27" name="Oval 26"/>
          <p:cNvSpPr/>
          <p:nvPr/>
        </p:nvSpPr>
        <p:spPr bwMode="auto">
          <a:xfrm>
            <a:off x="3599892" y="4329100"/>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2043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2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114</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55222695"/>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err="1">
                <a:latin typeface="Courier"/>
                <a:cs typeface="Courier"/>
              </a:rPr>
              <a:t>pp</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endParaRPr lang="en-US" sz="2000" dirty="0"/>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43" name="Rectangle 42"/>
          <p:cNvSpPr/>
          <p:nvPr/>
        </p:nvSpPr>
        <p:spPr>
          <a:xfrm>
            <a:off x="5148064" y="2888940"/>
            <a:ext cx="1108146" cy="400110"/>
          </a:xfrm>
          <a:prstGeom prst="rect">
            <a:avLst/>
          </a:prstGeom>
        </p:spPr>
        <p:txBody>
          <a:bodyPr wrap="none">
            <a:spAutoFit/>
          </a:bodyPr>
          <a:lstStyle/>
          <a:p>
            <a:r>
              <a:rPr lang="en-GB" sz="2000" b="1" dirty="0">
                <a:solidFill>
                  <a:schemeClr val="tx1"/>
                </a:solidFill>
                <a:latin typeface="Courier"/>
                <a:cs typeface="Courier"/>
              </a:rPr>
              <a:t>0x1000</a:t>
            </a:r>
            <a:endParaRPr lang="en-US" sz="2000" dirty="0">
              <a:solidFill>
                <a:schemeClr val="tx1"/>
              </a:solidFill>
            </a:endParaRPr>
          </a:p>
        </p:txBody>
      </p:sp>
      <p:sp>
        <p:nvSpPr>
          <p:cNvPr id="26" name="Oval 25"/>
          <p:cNvSpPr/>
          <p:nvPr/>
        </p:nvSpPr>
        <p:spPr bwMode="auto">
          <a:xfrm>
            <a:off x="4860032" y="2816932"/>
            <a:ext cx="1656184"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9" name="Oval 28"/>
          <p:cNvSpPr/>
          <p:nvPr/>
        </p:nvSpPr>
        <p:spPr bwMode="auto">
          <a:xfrm>
            <a:off x="5040052" y="1700808"/>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30" name="Curved Connector 29"/>
          <p:cNvCxnSpPr>
            <a:stCxn id="26" idx="6"/>
            <a:endCxn id="11" idx="1"/>
          </p:cNvCxnSpPr>
          <p:nvPr/>
        </p:nvCxnSpPr>
        <p:spPr bwMode="auto">
          <a:xfrm flipH="1" flipV="1">
            <a:off x="2914952" y="1972871"/>
            <a:ext cx="3601264" cy="1084246"/>
          </a:xfrm>
          <a:prstGeom prst="curvedConnector5">
            <a:avLst>
              <a:gd name="adj1" fmla="val -6348"/>
              <a:gd name="adj2" fmla="val 51851"/>
              <a:gd name="adj3" fmla="val 106348"/>
            </a:avLst>
          </a:prstGeom>
          <a:noFill/>
          <a:ln w="38100" cap="flat" cmpd="sng" algn="ctr">
            <a:solidFill>
              <a:srgbClr val="FF0000"/>
            </a:solidFill>
            <a:prstDash val="solid"/>
            <a:round/>
            <a:headEnd type="none" w="lg" len="lg"/>
            <a:tailEnd type="triangle" w="lg"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contenu 2"/>
          <p:cNvSpPr txBox="1">
            <a:spLocks/>
          </p:cNvSpPr>
          <p:nvPr/>
        </p:nvSpPr>
        <p:spPr bwMode="auto">
          <a:xfrm>
            <a:off x="215516" y="4905164"/>
            <a:ext cx="8604956" cy="1656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altLang="ja-JP" dirty="0">
                <a:cs typeface="Courier"/>
              </a:rPr>
              <a:t>What is the result of </a:t>
            </a:r>
            <a:r>
              <a:rPr lang="en-GB" altLang="ja-JP" b="1" dirty="0">
                <a:latin typeface="Courier"/>
                <a:cs typeface="Courier"/>
              </a:rPr>
              <a:t>*</a:t>
            </a:r>
            <a:r>
              <a:rPr lang="en-GB" altLang="ja-JP" b="1" dirty="0" err="1">
                <a:latin typeface="Courier"/>
                <a:cs typeface="Courier"/>
              </a:rPr>
              <a:t>pp</a:t>
            </a:r>
            <a:r>
              <a:rPr lang="en-GB" altLang="ja-JP" dirty="0">
                <a:latin typeface="Arial" charset="0"/>
              </a:rPr>
              <a:t> = </a:t>
            </a:r>
            <a:r>
              <a:rPr lang="en-GB" altLang="ja-JP" b="1" dirty="0">
                <a:latin typeface="Courier"/>
                <a:cs typeface="Courier"/>
              </a:rPr>
              <a:t>&amp;y</a:t>
            </a:r>
            <a:r>
              <a:rPr lang="en-GB" altLang="ja-JP" dirty="0">
                <a:latin typeface="Arial" charset="0"/>
              </a:rPr>
              <a:t> ?</a:t>
            </a:r>
          </a:p>
          <a:p>
            <a:r>
              <a:rPr lang="en-GB" dirty="0">
                <a:latin typeface="Arial" charset="0"/>
              </a:rPr>
              <a:t>The instruction </a:t>
            </a:r>
            <a:r>
              <a:rPr lang="en-GB" b="1" dirty="0">
                <a:latin typeface="Courier"/>
                <a:cs typeface="Courier"/>
              </a:rPr>
              <a:t>*</a:t>
            </a:r>
            <a:r>
              <a:rPr lang="en-GB" b="1" dirty="0" err="1">
                <a:latin typeface="Courier"/>
                <a:cs typeface="Courier"/>
              </a:rPr>
              <a:t>pp</a:t>
            </a:r>
            <a:r>
              <a:rPr lang="en-GB" b="1" dirty="0">
                <a:latin typeface="Courier"/>
                <a:cs typeface="Courier"/>
              </a:rPr>
              <a:t>=&amp;y</a:t>
            </a:r>
            <a:r>
              <a:rPr lang="en-GB" b="1" dirty="0">
                <a:latin typeface="Arial" charset="0"/>
              </a:rPr>
              <a:t> </a:t>
            </a:r>
            <a:r>
              <a:rPr lang="en-GB" dirty="0">
                <a:latin typeface="Arial" charset="0"/>
              </a:rPr>
              <a:t>modifies the content of the object pointed by </a:t>
            </a:r>
            <a:r>
              <a:rPr lang="en-GB" b="1" dirty="0" err="1">
                <a:latin typeface="Courier"/>
                <a:cs typeface="Courier"/>
              </a:rPr>
              <a:t>pp</a:t>
            </a:r>
            <a:r>
              <a:rPr lang="en-GB" b="1" dirty="0">
                <a:latin typeface="Arial" charset="0"/>
              </a:rPr>
              <a:t> </a:t>
            </a:r>
            <a:r>
              <a:rPr lang="en-GB" dirty="0">
                <a:latin typeface="Arial" charset="0"/>
              </a:rPr>
              <a:t>(which is </a:t>
            </a:r>
            <a:r>
              <a:rPr lang="en-GB" b="1" dirty="0" err="1">
                <a:latin typeface="Courier"/>
                <a:cs typeface="Courier"/>
              </a:rPr>
              <a:t>ptr</a:t>
            </a:r>
            <a:r>
              <a:rPr lang="en-GB" dirty="0">
                <a:latin typeface="Arial" charset="0"/>
              </a:rPr>
              <a:t>) by storing the address of the object </a:t>
            </a:r>
            <a:r>
              <a:rPr lang="en-GB" b="1" dirty="0">
                <a:latin typeface="Courier"/>
                <a:cs typeface="Courier"/>
              </a:rPr>
              <a:t>y</a:t>
            </a:r>
            <a:endParaRPr lang="en-GB" dirty="0">
              <a:latin typeface="Courier"/>
              <a:cs typeface="Courier"/>
            </a:endParaRPr>
          </a:p>
        </p:txBody>
      </p:sp>
      <p:sp>
        <p:nvSpPr>
          <p:cNvPr id="27" name="Oval 26"/>
          <p:cNvSpPr/>
          <p:nvPr/>
        </p:nvSpPr>
        <p:spPr bwMode="auto">
          <a:xfrm>
            <a:off x="3599892" y="4329100"/>
            <a:ext cx="1244315" cy="480369"/>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8" name="Rectangle 27"/>
          <p:cNvSpPr/>
          <p:nvPr/>
        </p:nvSpPr>
        <p:spPr>
          <a:xfrm>
            <a:off x="5112060" y="1732746"/>
            <a:ext cx="1108146" cy="400110"/>
          </a:xfrm>
          <a:prstGeom prst="rect">
            <a:avLst/>
          </a:prstGeom>
        </p:spPr>
        <p:txBody>
          <a:bodyPr wrap="none">
            <a:spAutoFit/>
          </a:bodyPr>
          <a:lstStyle/>
          <a:p>
            <a:r>
              <a:rPr lang="en-GB" sz="2000" b="1" dirty="0">
                <a:solidFill>
                  <a:schemeClr val="tx1"/>
                </a:solidFill>
                <a:latin typeface="Courier"/>
                <a:cs typeface="Courier"/>
              </a:rPr>
              <a:t>0x1018</a:t>
            </a:r>
            <a:endParaRPr lang="en-US" sz="2000" dirty="0">
              <a:solidFill>
                <a:schemeClr val="tx1"/>
              </a:solidFill>
            </a:endParaRPr>
          </a:p>
        </p:txBody>
      </p:sp>
      <p:sp>
        <p:nvSpPr>
          <p:cNvPr id="2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423916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a:xfrm>
            <a:off x="304800" y="152400"/>
            <a:ext cx="8659688" cy="533400"/>
          </a:xfrm>
        </p:spPr>
        <p:txBody>
          <a:bodyPr/>
          <a:lstStyle/>
          <a:p>
            <a:r>
              <a:rPr lang="en-GB" sz="2800" dirty="0">
                <a:latin typeface="Arial" charset="0"/>
                <a:cs typeface="ＭＳ Ｐゴシック" charset="0"/>
              </a:rPr>
              <a:t>Pointer to pointer: Example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115</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10000057"/>
              </p:ext>
            </p:extLst>
          </p:nvPr>
        </p:nvGraphicFramePr>
        <p:xfrm>
          <a:off x="4681678" y="1412776"/>
          <a:ext cx="2124236" cy="33375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bl>
          </a:graphicData>
        </a:graphic>
      </p:graphicFrame>
      <p:sp>
        <p:nvSpPr>
          <p:cNvPr id="3" name="TextBox 2"/>
          <p:cNvSpPr txBox="1"/>
          <p:nvPr/>
        </p:nvSpPr>
        <p:spPr>
          <a:xfrm>
            <a:off x="5077722" y="944724"/>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3529753" y="1808820"/>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914952" y="1772816"/>
            <a:ext cx="731816" cy="400110"/>
          </a:xfrm>
          <a:prstGeom prst="rect">
            <a:avLst/>
          </a:prstGeom>
          <a:noFill/>
        </p:spPr>
        <p:txBody>
          <a:bodyPr wrap="none" rtlCol="0">
            <a:spAutoFit/>
          </a:bodyPr>
          <a:lstStyle/>
          <a:p>
            <a:r>
              <a:rPr lang="en-US" sz="2000" b="1" dirty="0" err="1">
                <a:latin typeface="Courier"/>
                <a:cs typeface="Courier"/>
              </a:rPr>
              <a:t>ptr</a:t>
            </a:r>
            <a:r>
              <a:rPr lang="en-US" sz="2000" b="1" dirty="0"/>
              <a:t>:</a:t>
            </a:r>
          </a:p>
        </p:txBody>
      </p:sp>
      <p:sp>
        <p:nvSpPr>
          <p:cNvPr id="16" name="Rectangle 15"/>
          <p:cNvSpPr/>
          <p:nvPr/>
        </p:nvSpPr>
        <p:spPr>
          <a:xfrm>
            <a:off x="111897" y="872716"/>
            <a:ext cx="1877713" cy="3724097"/>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pp</a:t>
            </a:r>
            <a:r>
              <a:rPr lang="en-GB" sz="2000" b="1" dirty="0">
                <a:latin typeface="Courier"/>
                <a:cs typeface="Courier"/>
              </a:rPr>
              <a:t>;</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x = 10;</a:t>
            </a:r>
          </a:p>
          <a:p>
            <a:pPr algn="l"/>
            <a:r>
              <a:rPr lang="en-GB" sz="2000" b="1" dirty="0">
                <a:latin typeface="Courier"/>
                <a:cs typeface="Courier"/>
              </a:rPr>
              <a:t>...</a:t>
            </a:r>
          </a:p>
          <a:p>
            <a:pPr algn="l"/>
            <a:r>
              <a:rPr lang="en-GB" sz="2000" b="1" dirty="0" err="1">
                <a:latin typeface="Courier"/>
                <a:cs typeface="Courier"/>
              </a:rPr>
              <a:t>int</a:t>
            </a:r>
            <a:r>
              <a:rPr lang="en-GB" sz="2000" b="1" dirty="0">
                <a:latin typeface="Courier"/>
                <a:cs typeface="Courier"/>
              </a:rPr>
              <a:t> y = 20;</a:t>
            </a:r>
          </a:p>
          <a:p>
            <a:pPr algn="l"/>
            <a:endParaRPr lang="en-GB" sz="2000" b="1" dirty="0">
              <a:latin typeface="Courier"/>
              <a:cs typeface="Courier"/>
            </a:endParaRPr>
          </a:p>
          <a:p>
            <a:pPr algn="l"/>
            <a:r>
              <a:rPr lang="en-GB" sz="2000" b="1" dirty="0" err="1">
                <a:latin typeface="Courier"/>
                <a:cs typeface="Courier"/>
              </a:rPr>
              <a:t>ptr</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x;</a:t>
            </a:r>
          </a:p>
          <a:p>
            <a:pPr algn="l"/>
            <a:r>
              <a:rPr lang="en-GB" sz="2000" b="1" dirty="0" err="1">
                <a:latin typeface="Courier"/>
                <a:cs typeface="Courier"/>
              </a:rPr>
              <a:t>pp</a:t>
            </a:r>
            <a:r>
              <a:rPr lang="en-GB" sz="2000" b="1" dirty="0">
                <a:latin typeface="Courier"/>
                <a:cs typeface="Courier"/>
              </a:rPr>
              <a:t> = </a:t>
            </a:r>
            <a:r>
              <a:rPr lang="en-GB" sz="2000" b="1" dirty="0">
                <a:solidFill>
                  <a:schemeClr val="tx1"/>
                </a:solidFill>
                <a:latin typeface="Courier"/>
                <a:cs typeface="Courier"/>
              </a:rPr>
              <a:t>&amp;</a:t>
            </a:r>
            <a:r>
              <a:rPr lang="en-GB" sz="2000" b="1" dirty="0">
                <a:latin typeface="Courier"/>
                <a:cs typeface="Courier"/>
              </a:rPr>
              <a:t> </a:t>
            </a:r>
            <a:r>
              <a:rPr lang="en-GB" sz="2000" b="1" dirty="0" err="1">
                <a:latin typeface="Courier"/>
                <a:cs typeface="Courier"/>
              </a:rPr>
              <a:t>ptr</a:t>
            </a:r>
            <a:r>
              <a:rPr lang="en-GB" sz="2000" b="1" dirty="0">
                <a:latin typeface="Courier"/>
                <a:cs typeface="Courier"/>
              </a:rPr>
              <a:t>;</a:t>
            </a:r>
            <a:endParaRPr lang="en-US" sz="2000" dirty="0"/>
          </a:p>
        </p:txBody>
      </p:sp>
      <p:sp>
        <p:nvSpPr>
          <p:cNvPr id="18" name="TextBox 17"/>
          <p:cNvSpPr txBox="1"/>
          <p:nvPr/>
        </p:nvSpPr>
        <p:spPr>
          <a:xfrm>
            <a:off x="3599892" y="2888940"/>
            <a:ext cx="1083099" cy="400110"/>
          </a:xfrm>
          <a:prstGeom prst="rect">
            <a:avLst/>
          </a:prstGeom>
          <a:noFill/>
        </p:spPr>
        <p:txBody>
          <a:bodyPr wrap="none" rtlCol="0">
            <a:spAutoFit/>
          </a:bodyPr>
          <a:lstStyle/>
          <a:p>
            <a:r>
              <a:rPr lang="en-US" sz="2000" b="1" dirty="0"/>
              <a:t>0x100C</a:t>
            </a:r>
          </a:p>
        </p:txBody>
      </p:sp>
      <p:sp>
        <p:nvSpPr>
          <p:cNvPr id="19" name="TextBox 18"/>
          <p:cNvSpPr txBox="1"/>
          <p:nvPr/>
        </p:nvSpPr>
        <p:spPr>
          <a:xfrm>
            <a:off x="3563888" y="3645024"/>
            <a:ext cx="1040519" cy="400110"/>
          </a:xfrm>
          <a:prstGeom prst="rect">
            <a:avLst/>
          </a:prstGeom>
          <a:noFill/>
        </p:spPr>
        <p:txBody>
          <a:bodyPr wrap="none" rtlCol="0">
            <a:spAutoFit/>
          </a:bodyPr>
          <a:lstStyle/>
          <a:p>
            <a:r>
              <a:rPr lang="en-US" sz="2000" b="1" dirty="0"/>
              <a:t>0x1010</a:t>
            </a:r>
          </a:p>
        </p:txBody>
      </p:sp>
      <p:sp>
        <p:nvSpPr>
          <p:cNvPr id="20" name="TextBox 19"/>
          <p:cNvSpPr txBox="1"/>
          <p:nvPr/>
        </p:nvSpPr>
        <p:spPr>
          <a:xfrm>
            <a:off x="3073194" y="2852936"/>
            <a:ext cx="577903" cy="400110"/>
          </a:xfrm>
          <a:prstGeom prst="rect">
            <a:avLst/>
          </a:prstGeom>
          <a:noFill/>
        </p:spPr>
        <p:txBody>
          <a:bodyPr wrap="none" rtlCol="0">
            <a:spAutoFit/>
          </a:bodyPr>
          <a:lstStyle/>
          <a:p>
            <a:r>
              <a:rPr lang="en-US" sz="2000" b="1" dirty="0" err="1">
                <a:latin typeface="Courier"/>
                <a:cs typeface="Courier"/>
              </a:rPr>
              <a:t>pp</a:t>
            </a:r>
            <a:r>
              <a:rPr lang="en-US" sz="2000" b="1" dirty="0"/>
              <a:t>:</a:t>
            </a:r>
          </a:p>
        </p:txBody>
      </p:sp>
      <p:sp>
        <p:nvSpPr>
          <p:cNvPr id="21" name="TextBox 20"/>
          <p:cNvSpPr txBox="1"/>
          <p:nvPr/>
        </p:nvSpPr>
        <p:spPr>
          <a:xfrm>
            <a:off x="3136789" y="3609020"/>
            <a:ext cx="423989" cy="400110"/>
          </a:xfrm>
          <a:prstGeom prst="rect">
            <a:avLst/>
          </a:prstGeom>
          <a:noFill/>
        </p:spPr>
        <p:txBody>
          <a:bodyPr wrap="none" rtlCol="0">
            <a:spAutoFit/>
          </a:bodyPr>
          <a:lstStyle/>
          <a:p>
            <a:r>
              <a:rPr lang="en-US" sz="2000" b="1" dirty="0">
                <a:latin typeface="Courier"/>
                <a:cs typeface="Courier"/>
              </a:rPr>
              <a:t>x</a:t>
            </a:r>
            <a:r>
              <a:rPr lang="en-US" sz="2000" b="1" dirty="0"/>
              <a:t>:</a:t>
            </a:r>
          </a:p>
        </p:txBody>
      </p:sp>
      <p:sp>
        <p:nvSpPr>
          <p:cNvPr id="23" name="Rectangle 22"/>
          <p:cNvSpPr/>
          <p:nvPr/>
        </p:nvSpPr>
        <p:spPr>
          <a:xfrm>
            <a:off x="5580112" y="3609020"/>
            <a:ext cx="492493" cy="400110"/>
          </a:xfrm>
          <a:prstGeom prst="rect">
            <a:avLst/>
          </a:prstGeom>
        </p:spPr>
        <p:txBody>
          <a:bodyPr wrap="none">
            <a:spAutoFit/>
          </a:bodyPr>
          <a:lstStyle/>
          <a:p>
            <a:r>
              <a:rPr lang="en-GB" sz="2000" b="1" dirty="0">
                <a:solidFill>
                  <a:schemeClr val="tx1"/>
                </a:solidFill>
                <a:latin typeface="Courier"/>
                <a:cs typeface="Courier"/>
              </a:rPr>
              <a:t>10</a:t>
            </a:r>
            <a:endParaRPr lang="en-US" sz="2000" dirty="0">
              <a:solidFill>
                <a:schemeClr val="tx1"/>
              </a:solidFill>
            </a:endParaRPr>
          </a:p>
        </p:txBody>
      </p:sp>
      <p:sp>
        <p:nvSpPr>
          <p:cNvPr id="39" name="TextBox 38"/>
          <p:cNvSpPr txBox="1"/>
          <p:nvPr/>
        </p:nvSpPr>
        <p:spPr>
          <a:xfrm>
            <a:off x="3671900" y="4361038"/>
            <a:ext cx="1040519" cy="400110"/>
          </a:xfrm>
          <a:prstGeom prst="rect">
            <a:avLst/>
          </a:prstGeom>
          <a:noFill/>
        </p:spPr>
        <p:txBody>
          <a:bodyPr wrap="none" rtlCol="0">
            <a:spAutoFit/>
          </a:bodyPr>
          <a:lstStyle/>
          <a:p>
            <a:r>
              <a:rPr lang="en-US" sz="2000" b="1" dirty="0"/>
              <a:t>0x1018</a:t>
            </a:r>
          </a:p>
        </p:txBody>
      </p:sp>
      <p:sp>
        <p:nvSpPr>
          <p:cNvPr id="40" name="TextBox 39"/>
          <p:cNvSpPr txBox="1"/>
          <p:nvPr/>
        </p:nvSpPr>
        <p:spPr>
          <a:xfrm>
            <a:off x="3167844" y="4284964"/>
            <a:ext cx="423989" cy="400110"/>
          </a:xfrm>
          <a:prstGeom prst="rect">
            <a:avLst/>
          </a:prstGeom>
          <a:noFill/>
        </p:spPr>
        <p:txBody>
          <a:bodyPr wrap="none" rtlCol="0">
            <a:spAutoFit/>
          </a:bodyPr>
          <a:lstStyle/>
          <a:p>
            <a:r>
              <a:rPr lang="en-US" sz="2000" b="1" dirty="0">
                <a:latin typeface="Courier"/>
                <a:cs typeface="Courier"/>
              </a:rPr>
              <a:t>y</a:t>
            </a:r>
            <a:r>
              <a:rPr lang="en-US" sz="2000" b="1" dirty="0"/>
              <a:t>:</a:t>
            </a:r>
          </a:p>
        </p:txBody>
      </p:sp>
      <p:sp>
        <p:nvSpPr>
          <p:cNvPr id="41" name="Rectangle 40"/>
          <p:cNvSpPr/>
          <p:nvPr/>
        </p:nvSpPr>
        <p:spPr>
          <a:xfrm>
            <a:off x="5580112" y="4401108"/>
            <a:ext cx="492493" cy="400110"/>
          </a:xfrm>
          <a:prstGeom prst="rect">
            <a:avLst/>
          </a:prstGeom>
        </p:spPr>
        <p:txBody>
          <a:bodyPr wrap="none">
            <a:spAutoFit/>
          </a:bodyPr>
          <a:lstStyle/>
          <a:p>
            <a:r>
              <a:rPr lang="en-GB" sz="2000" b="1" dirty="0">
                <a:solidFill>
                  <a:schemeClr val="tx1"/>
                </a:solidFill>
                <a:latin typeface="Courier"/>
                <a:cs typeface="Courier"/>
              </a:rPr>
              <a:t>20</a:t>
            </a:r>
            <a:endParaRPr lang="en-US" sz="2000" dirty="0">
              <a:solidFill>
                <a:schemeClr val="tx1"/>
              </a:solidFill>
            </a:endParaRPr>
          </a:p>
        </p:txBody>
      </p:sp>
      <p:sp>
        <p:nvSpPr>
          <p:cNvPr id="43" name="Rectangle 42"/>
          <p:cNvSpPr/>
          <p:nvPr/>
        </p:nvSpPr>
        <p:spPr>
          <a:xfrm>
            <a:off x="5148064" y="2888940"/>
            <a:ext cx="1108146" cy="400110"/>
          </a:xfrm>
          <a:prstGeom prst="rect">
            <a:avLst/>
          </a:prstGeom>
        </p:spPr>
        <p:txBody>
          <a:bodyPr wrap="none">
            <a:spAutoFit/>
          </a:bodyPr>
          <a:lstStyle/>
          <a:p>
            <a:r>
              <a:rPr lang="en-GB" sz="2000" b="1" dirty="0">
                <a:solidFill>
                  <a:schemeClr val="tx1"/>
                </a:solidFill>
                <a:latin typeface="Courier"/>
                <a:cs typeface="Courier"/>
              </a:rPr>
              <a:t>0x1000</a:t>
            </a:r>
            <a:endParaRPr lang="en-US" sz="2000" dirty="0">
              <a:solidFill>
                <a:schemeClr val="tx1"/>
              </a:solidFill>
            </a:endParaRPr>
          </a:p>
        </p:txBody>
      </p:sp>
      <p:sp>
        <p:nvSpPr>
          <p:cNvPr id="24" name="Espace réservé du contenu 2"/>
          <p:cNvSpPr txBox="1">
            <a:spLocks/>
          </p:cNvSpPr>
          <p:nvPr/>
        </p:nvSpPr>
        <p:spPr bwMode="auto">
          <a:xfrm>
            <a:off x="215516" y="4905164"/>
            <a:ext cx="8604956" cy="1656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altLang="ja-JP" dirty="0">
                <a:cs typeface="Courier"/>
              </a:rPr>
              <a:t>What is now the result of </a:t>
            </a:r>
            <a:r>
              <a:rPr lang="en-GB" altLang="ja-JP" b="1" dirty="0">
                <a:latin typeface="Courier"/>
                <a:cs typeface="Courier"/>
              </a:rPr>
              <a:t>*</a:t>
            </a:r>
            <a:r>
              <a:rPr lang="en-GB" altLang="ja-JP" b="1" dirty="0" err="1">
                <a:latin typeface="Courier"/>
                <a:cs typeface="Courier"/>
              </a:rPr>
              <a:t>ptr</a:t>
            </a:r>
            <a:r>
              <a:rPr lang="en-GB" altLang="ja-JP" b="1" dirty="0">
                <a:latin typeface="Courier"/>
                <a:cs typeface="Courier"/>
              </a:rPr>
              <a:t>?</a:t>
            </a:r>
          </a:p>
        </p:txBody>
      </p:sp>
      <p:sp>
        <p:nvSpPr>
          <p:cNvPr id="28" name="Rectangle 27"/>
          <p:cNvSpPr/>
          <p:nvPr/>
        </p:nvSpPr>
        <p:spPr>
          <a:xfrm>
            <a:off x="5148064" y="1736812"/>
            <a:ext cx="1108146" cy="400110"/>
          </a:xfrm>
          <a:prstGeom prst="rect">
            <a:avLst/>
          </a:prstGeom>
        </p:spPr>
        <p:txBody>
          <a:bodyPr wrap="none">
            <a:spAutoFit/>
          </a:bodyPr>
          <a:lstStyle/>
          <a:p>
            <a:r>
              <a:rPr lang="en-GB" sz="2000" b="1" dirty="0">
                <a:solidFill>
                  <a:schemeClr val="tx1"/>
                </a:solidFill>
                <a:latin typeface="Courier"/>
                <a:cs typeface="Courier"/>
              </a:rPr>
              <a:t>0x1018</a:t>
            </a:r>
            <a:endParaRPr lang="en-US" sz="2000" dirty="0">
              <a:solidFill>
                <a:schemeClr val="tx1"/>
              </a:solidFill>
            </a:endParaRPr>
          </a:p>
        </p:txBody>
      </p:sp>
      <p:sp>
        <p:nvSpPr>
          <p:cNvPr id="2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601591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re 1"/>
          <p:cNvSpPr>
            <a:spLocks noGrp="1"/>
          </p:cNvSpPr>
          <p:nvPr>
            <p:ph type="title"/>
          </p:nvPr>
        </p:nvSpPr>
        <p:spPr/>
        <p:txBody>
          <a:bodyPr/>
          <a:lstStyle/>
          <a:p>
            <a:r>
              <a:rPr lang="fr-FR" sz="2800" dirty="0" err="1">
                <a:latin typeface="Arial" charset="0"/>
                <a:cs typeface="ＭＳ Ｐゴシック" charset="0"/>
              </a:rPr>
              <a:t>Let’s</a:t>
            </a:r>
            <a:r>
              <a:rPr lang="fr-FR" sz="2800" dirty="0">
                <a:latin typeface="Arial" charset="0"/>
                <a:cs typeface="ＭＳ Ｐゴシック" charset="0"/>
              </a:rPr>
              <a:t>…</a:t>
            </a:r>
            <a:endParaRPr lang="fr-FR" sz="2800" dirty="0">
              <a:latin typeface="Arial" charset="0"/>
              <a:ea typeface="ＭＳ Ｐゴシック" charset="0"/>
              <a:cs typeface="ＭＳ Ｐゴシック" charset="0"/>
            </a:endParaRPr>
          </a:p>
        </p:txBody>
      </p:sp>
      <p:sp>
        <p:nvSpPr>
          <p:cNvPr id="16" name="Espace réservé du numéro de diapositive 4"/>
          <p:cNvSpPr>
            <a:spLocks noGrp="1"/>
          </p:cNvSpPr>
          <p:nvPr>
            <p:ph type="sldNum" sz="quarter" idx="11"/>
          </p:nvPr>
        </p:nvSpPr>
        <p:spPr>
          <a:xfrm>
            <a:off x="6336196" y="6381328"/>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116</a:t>
            </a:fld>
            <a:endParaRPr lang="fr-FR" sz="1400">
              <a:solidFill>
                <a:srgbClr val="000208"/>
              </a:solidFill>
              <a:latin typeface="Times New Roman" charset="0"/>
            </a:endParaRPr>
          </a:p>
        </p:txBody>
      </p:sp>
      <p:sp>
        <p:nvSpPr>
          <p:cNvPr id="26" name="Espace réservé du contenu 2"/>
          <p:cNvSpPr txBox="1">
            <a:spLocks/>
          </p:cNvSpPr>
          <p:nvPr/>
        </p:nvSpPr>
        <p:spPr bwMode="auto">
          <a:xfrm>
            <a:off x="395536" y="944725"/>
            <a:ext cx="8604956" cy="900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None/>
            </a:pPr>
            <a:endParaRPr lang="en-GB" sz="3200" i="1" dirty="0">
              <a:solidFill>
                <a:srgbClr val="800000"/>
              </a:solidFill>
              <a:latin typeface="Arial" charset="0"/>
              <a:cs typeface="ＭＳ Ｐゴシック" charset="0"/>
            </a:endParaRPr>
          </a:p>
          <a:p>
            <a:pPr marL="0" indent="0" algn="ctr">
              <a:buNone/>
            </a:pPr>
            <a:endParaRPr lang="en-GB" sz="3200" b="1" i="1" dirty="0">
              <a:solidFill>
                <a:srgbClr val="800000"/>
              </a:solidFill>
              <a:latin typeface="Arial" charset="0"/>
              <a:cs typeface="ＭＳ Ｐゴシック" charset="0"/>
            </a:endParaRPr>
          </a:p>
          <a:p>
            <a:pPr marL="0" indent="0" algn="ctr">
              <a:buNone/>
            </a:pPr>
            <a:endParaRPr lang="en-GB" sz="3200" b="1" i="1" dirty="0">
              <a:solidFill>
                <a:srgbClr val="800000"/>
              </a:solidFill>
              <a:latin typeface="Arial" charset="0"/>
              <a:cs typeface="ＭＳ Ｐゴシック" charset="0"/>
            </a:endParaRPr>
          </a:p>
          <a:p>
            <a:pPr marL="0" indent="0" algn="ctr">
              <a:buNone/>
            </a:pPr>
            <a:r>
              <a:rPr lang="en-GB" sz="3200" b="1" dirty="0" err="1">
                <a:solidFill>
                  <a:srgbClr val="800000"/>
                </a:solidFill>
                <a:latin typeface="Arial" charset="0"/>
                <a:cs typeface="ＭＳ Ｐゴシック" charset="0"/>
              </a:rPr>
              <a:t>Kahoot</a:t>
            </a:r>
            <a:r>
              <a:rPr lang="en-GB" sz="3200" b="1" dirty="0">
                <a:solidFill>
                  <a:srgbClr val="800000"/>
                </a:solidFill>
                <a:latin typeface="Arial" charset="0"/>
                <a:cs typeface="ＭＳ Ｐゴシック" charset="0"/>
              </a:rPr>
              <a:t> time !!</a:t>
            </a:r>
          </a:p>
          <a:p>
            <a:pPr marL="0" indent="0" algn="ctr">
              <a:buNone/>
            </a:pPr>
            <a:r>
              <a:rPr lang="en-GB" sz="3200" b="1" dirty="0">
                <a:solidFill>
                  <a:srgbClr val="800000"/>
                </a:solidFill>
                <a:latin typeface="Arial" charset="0"/>
                <a:cs typeface="ＭＳ Ｐゴシック" charset="0"/>
              </a:rPr>
              <a:t>Q1 – Q6</a:t>
            </a:r>
          </a:p>
          <a:p>
            <a:pPr marL="0" indent="0" algn="ctr">
              <a:buNone/>
            </a:pPr>
            <a:endParaRPr lang="en-GB" sz="3200" b="1" i="1" dirty="0">
              <a:solidFill>
                <a:srgbClr val="800000"/>
              </a:solidFill>
              <a:latin typeface="Arial" charset="0"/>
              <a:cs typeface="ＭＳ Ｐゴシック"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191389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a:latin typeface="Arial" charset="0"/>
                <a:cs typeface="ＭＳ Ｐゴシック" charset="0"/>
              </a:rPr>
              <a:t>Pointer </a:t>
            </a:r>
            <a:r>
              <a:rPr lang="fr-FR" sz="2800" dirty="0" err="1">
                <a:latin typeface="Arial" charset="0"/>
                <a:cs typeface="ＭＳ Ｐゴシック" charset="0"/>
              </a:rPr>
              <a:t>arithmetic</a:t>
            </a:r>
            <a:endParaRPr lang="fr-FR" sz="2800" dirty="0">
              <a:latin typeface="Arial" charset="0"/>
              <a:ea typeface="ＭＳ Ｐゴシック" charset="0"/>
              <a:cs typeface="ＭＳ Ｐゴシック" charset="0"/>
            </a:endParaRPr>
          </a:p>
        </p:txBody>
      </p:sp>
      <p:sp>
        <p:nvSpPr>
          <p:cNvPr id="18" name="Espace réservé du contenu 2"/>
          <p:cNvSpPr txBox="1">
            <a:spLocks/>
          </p:cNvSpPr>
          <p:nvPr/>
        </p:nvSpPr>
        <p:spPr bwMode="auto">
          <a:xfrm>
            <a:off x="143508" y="944724"/>
            <a:ext cx="8820980" cy="1153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A pointer is </a:t>
            </a:r>
            <a:r>
              <a:rPr lang="en-US" b="1" dirty="0">
                <a:solidFill>
                  <a:srgbClr val="FF0000"/>
                </a:solidFill>
              </a:rPr>
              <a:t>NOT ONLY</a:t>
            </a:r>
            <a:r>
              <a:rPr lang="en-US" b="1" dirty="0"/>
              <a:t> </a:t>
            </a:r>
            <a:r>
              <a:rPr lang="en-US" dirty="0"/>
              <a:t>an </a:t>
            </a:r>
            <a:r>
              <a:rPr lang="en-US" b="1" dirty="0">
                <a:solidFill>
                  <a:srgbClr val="FF0000"/>
                </a:solidFill>
              </a:rPr>
              <a:t>address</a:t>
            </a:r>
            <a:r>
              <a:rPr lang="en-US" dirty="0"/>
              <a:t>!</a:t>
            </a:r>
          </a:p>
          <a:p>
            <a:endParaRPr lang="en-US" dirty="0"/>
          </a:p>
          <a:p>
            <a:r>
              <a:rPr lang="en-US" dirty="0"/>
              <a:t>It provides information about</a:t>
            </a:r>
          </a:p>
          <a:p>
            <a:pPr lvl="1"/>
            <a:r>
              <a:rPr lang="en-US" dirty="0"/>
              <a:t>What </a:t>
            </a:r>
            <a:r>
              <a:rPr lang="en-US" b="1" dirty="0">
                <a:solidFill>
                  <a:srgbClr val="FF0000"/>
                </a:solidFill>
                <a:latin typeface="Courier"/>
                <a:cs typeface="Courier"/>
              </a:rPr>
              <a:t>type</a:t>
            </a:r>
            <a:r>
              <a:rPr lang="en-US" dirty="0">
                <a:solidFill>
                  <a:srgbClr val="FF0000"/>
                </a:solidFill>
              </a:rPr>
              <a:t> </a:t>
            </a:r>
            <a:r>
              <a:rPr lang="en-US" dirty="0"/>
              <a:t>is the object stored in the address where the pointer points to</a:t>
            </a:r>
          </a:p>
          <a:p>
            <a:pPr lvl="1"/>
            <a:r>
              <a:rPr lang="en-US" dirty="0"/>
              <a:t>And thus, what is the size of the object. </a:t>
            </a:r>
          </a:p>
          <a:p>
            <a:pPr lvl="2"/>
            <a:r>
              <a:rPr lang="en-US" dirty="0"/>
              <a:t>Data type's size can be given by the </a:t>
            </a:r>
            <a:r>
              <a:rPr lang="en-US" b="1" dirty="0" err="1">
                <a:latin typeface="Courier"/>
                <a:cs typeface="Courier"/>
              </a:rPr>
              <a:t>sizeof</a:t>
            </a:r>
            <a:r>
              <a:rPr lang="en-US" b="1" dirty="0">
                <a:latin typeface="Courier"/>
                <a:cs typeface="Courier"/>
              </a:rPr>
              <a:t>(</a:t>
            </a:r>
            <a:r>
              <a:rPr lang="en-US" b="1" dirty="0"/>
              <a:t>)</a:t>
            </a:r>
            <a:r>
              <a:rPr lang="en-US" dirty="0"/>
              <a:t> operator. </a:t>
            </a:r>
          </a:p>
          <a:p>
            <a:pPr marL="542925" lvl="1" indent="0">
              <a:buNone/>
            </a:pPr>
            <a:r>
              <a:rPr lang="en-US" b="1" dirty="0">
                <a:latin typeface="Courier"/>
                <a:cs typeface="Courier"/>
              </a:rPr>
              <a:t>		</a:t>
            </a:r>
            <a:r>
              <a:rPr lang="en-US" b="1" dirty="0" err="1">
                <a:latin typeface="Courier"/>
                <a:cs typeface="Courier"/>
              </a:rPr>
              <a:t>sizeof</a:t>
            </a:r>
            <a:r>
              <a:rPr lang="en-US" b="1" dirty="0">
                <a:latin typeface="Courier"/>
                <a:cs typeface="Courier"/>
              </a:rPr>
              <a:t>(</a:t>
            </a:r>
            <a:r>
              <a:rPr lang="en-US" b="1" dirty="0" err="1">
                <a:latin typeface="Courier"/>
                <a:cs typeface="Courier"/>
              </a:rPr>
              <a:t>int</a:t>
            </a:r>
            <a:r>
              <a:rPr lang="en-US" b="1" dirty="0">
                <a:latin typeface="Courier"/>
                <a:cs typeface="Courier"/>
              </a:rPr>
              <a:t>), </a:t>
            </a:r>
            <a:r>
              <a:rPr lang="en-US" b="1" dirty="0" err="1">
                <a:latin typeface="Courier"/>
                <a:cs typeface="Courier"/>
              </a:rPr>
              <a:t>sizeof</a:t>
            </a:r>
            <a:r>
              <a:rPr lang="en-US" b="1" dirty="0">
                <a:latin typeface="Courier"/>
                <a:cs typeface="Courier"/>
              </a:rPr>
              <a:t>(short)</a:t>
            </a:r>
          </a:p>
          <a:p>
            <a:pPr lvl="2"/>
            <a:r>
              <a:rPr lang="en-US" dirty="0"/>
              <a:t>The return value depends on </a:t>
            </a:r>
            <a:r>
              <a:rPr lang="en-US" dirty="0">
                <a:solidFill>
                  <a:schemeClr val="tx1"/>
                </a:solidFill>
              </a:rPr>
              <a:t>the compiler and the target architecture!</a:t>
            </a:r>
          </a:p>
          <a:p>
            <a:pPr marL="542925" lvl="1" indent="0">
              <a:buNone/>
            </a:pPr>
            <a:endParaRPr lang="en-US" dirty="0"/>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117</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043598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Espace réservé du contenu 2"/>
          <p:cNvSpPr txBox="1">
            <a:spLocks/>
          </p:cNvSpPr>
          <p:nvPr/>
        </p:nvSpPr>
        <p:spPr bwMode="auto">
          <a:xfrm>
            <a:off x="0" y="3825044"/>
            <a:ext cx="8820980" cy="5760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Example (assuming </a:t>
            </a:r>
            <a:r>
              <a:rPr lang="en-US" b="1" dirty="0" err="1">
                <a:latin typeface="Courier"/>
                <a:cs typeface="Courier"/>
              </a:rPr>
              <a:t>sizeof</a:t>
            </a:r>
            <a:r>
              <a:rPr lang="en-US" b="1" dirty="0">
                <a:latin typeface="Courier"/>
                <a:cs typeface="Courier"/>
              </a:rPr>
              <a:t>(</a:t>
            </a:r>
            <a:r>
              <a:rPr lang="en-US" b="1" dirty="0" err="1">
                <a:latin typeface="Courier"/>
                <a:cs typeface="Courier"/>
              </a:rPr>
              <a:t>int</a:t>
            </a:r>
            <a:r>
              <a:rPr lang="en-US" b="1" dirty="0">
                <a:latin typeface="Courier"/>
                <a:cs typeface="Courier"/>
              </a:rPr>
              <a:t>) == 4</a:t>
            </a:r>
            <a:r>
              <a:rPr lang="en-US" dirty="0"/>
              <a:t>).</a:t>
            </a:r>
          </a:p>
        </p:txBody>
      </p:sp>
      <p:sp>
        <p:nvSpPr>
          <p:cNvPr id="2" name="Title 1"/>
          <p:cNvSpPr>
            <a:spLocks noGrp="1"/>
          </p:cNvSpPr>
          <p:nvPr>
            <p:ph type="title"/>
          </p:nvPr>
        </p:nvSpPr>
        <p:spPr/>
        <p:txBody>
          <a:bodyPr/>
          <a:lstStyle/>
          <a:p>
            <a:r>
              <a:rPr lang="en-US" sz="2800" dirty="0"/>
              <a:t>Pointer arithmetic operators</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118</a:t>
            </a:fld>
            <a:endParaRPr lang="fr-FR"/>
          </a:p>
        </p:txBody>
      </p:sp>
      <p:sp>
        <p:nvSpPr>
          <p:cNvPr id="6" name="Rectangle 5"/>
          <p:cNvSpPr/>
          <p:nvPr/>
        </p:nvSpPr>
        <p:spPr>
          <a:xfrm>
            <a:off x="0" y="1452699"/>
            <a:ext cx="9540552" cy="1938992"/>
          </a:xfrm>
          <a:prstGeom prst="rect">
            <a:avLst/>
          </a:prstGeom>
        </p:spPr>
        <p:txBody>
          <a:bodyPr wrap="square">
            <a:spAutoFit/>
          </a:bodyPr>
          <a:lstStyle/>
          <a:p>
            <a:pPr algn="l"/>
            <a:r>
              <a:rPr lang="en-US" sz="2400" b="1" dirty="0"/>
              <a:t>Operator 	Description 					</a:t>
            </a:r>
          </a:p>
          <a:p>
            <a:pPr algn="l"/>
            <a:r>
              <a:rPr lang="en-US" sz="2000" b="1" dirty="0" err="1">
                <a:latin typeface="Courier"/>
                <a:cs typeface="Courier"/>
              </a:rPr>
              <a:t>ptr</a:t>
            </a:r>
            <a:r>
              <a:rPr lang="en-US" sz="2000" b="1" dirty="0">
                <a:latin typeface="Courier"/>
                <a:cs typeface="Courier"/>
              </a:rPr>
              <a:t> + x	</a:t>
            </a:r>
            <a:r>
              <a:rPr lang="en-US" sz="2000" dirty="0"/>
              <a:t>Adds </a:t>
            </a:r>
            <a:r>
              <a:rPr lang="en-US" sz="2000" b="1" dirty="0" err="1">
                <a:latin typeface="Courier"/>
                <a:cs typeface="Courier"/>
              </a:rPr>
              <a:t>sizeof</a:t>
            </a:r>
            <a:r>
              <a:rPr lang="en-US" sz="2000" b="1" dirty="0">
                <a:latin typeface="Courier"/>
                <a:cs typeface="Courier"/>
              </a:rPr>
              <a:t>(type) * x </a:t>
            </a:r>
            <a:r>
              <a:rPr lang="en-US" sz="2000" dirty="0"/>
              <a:t>to the pointer value </a:t>
            </a:r>
          </a:p>
          <a:p>
            <a:pPr algn="l"/>
            <a:r>
              <a:rPr lang="en-US" sz="2000" b="1" dirty="0" err="1">
                <a:latin typeface="Courier"/>
                <a:cs typeface="Courier"/>
              </a:rPr>
              <a:t>ptr</a:t>
            </a:r>
            <a:r>
              <a:rPr lang="en-US" sz="2000" b="1" dirty="0">
                <a:latin typeface="Courier"/>
                <a:cs typeface="Courier"/>
              </a:rPr>
              <a:t> − x	</a:t>
            </a:r>
            <a:r>
              <a:rPr lang="en-US" sz="2000" dirty="0"/>
              <a:t>Subtracts </a:t>
            </a:r>
            <a:r>
              <a:rPr lang="en-US" sz="2000" b="1" dirty="0" err="1">
                <a:latin typeface="Courier"/>
                <a:cs typeface="Courier"/>
              </a:rPr>
              <a:t>sizeof</a:t>
            </a:r>
            <a:r>
              <a:rPr lang="en-US" sz="2000" b="1" dirty="0">
                <a:latin typeface="Courier"/>
                <a:cs typeface="Courier"/>
              </a:rPr>
              <a:t>(type) * x </a:t>
            </a:r>
            <a:r>
              <a:rPr lang="en-US" sz="2000" dirty="0"/>
              <a:t>to the pointer value </a:t>
            </a:r>
            <a:r>
              <a:rPr lang="en-US" sz="2000" dirty="0" err="1"/>
              <a:t>ptr</a:t>
            </a:r>
            <a:r>
              <a:rPr lang="en-US" sz="2000" dirty="0"/>
              <a:t> 	</a:t>
            </a:r>
          </a:p>
          <a:p>
            <a:pPr algn="l"/>
            <a:r>
              <a:rPr lang="en-US" sz="2000" b="1" dirty="0" err="1">
                <a:latin typeface="Courier"/>
                <a:cs typeface="Courier"/>
              </a:rPr>
              <a:t>ptr</a:t>
            </a:r>
            <a:r>
              <a:rPr lang="en-US" sz="2000" b="1" dirty="0">
                <a:latin typeface="Courier"/>
                <a:cs typeface="Courier"/>
              </a:rPr>
              <a:t> ++	</a:t>
            </a:r>
            <a:r>
              <a:rPr lang="en-US" sz="2000" dirty="0"/>
              <a:t>Increases the pointer value by </a:t>
            </a:r>
            <a:r>
              <a:rPr lang="en-US" sz="2000" b="1" dirty="0" err="1">
                <a:latin typeface="Courier"/>
                <a:cs typeface="Courier"/>
              </a:rPr>
              <a:t>sizeof</a:t>
            </a:r>
            <a:r>
              <a:rPr lang="en-US" sz="2000" b="1" dirty="0">
                <a:latin typeface="Courier"/>
                <a:cs typeface="Courier"/>
              </a:rPr>
              <a:t>(type)</a:t>
            </a:r>
            <a:r>
              <a:rPr lang="en-US" sz="2000" dirty="0"/>
              <a:t>	</a:t>
            </a:r>
          </a:p>
          <a:p>
            <a:pPr algn="l"/>
            <a:r>
              <a:rPr lang="en-US" sz="2000" b="1" dirty="0" err="1">
                <a:latin typeface="Courier"/>
                <a:cs typeface="Courier"/>
              </a:rPr>
              <a:t>ptr</a:t>
            </a:r>
            <a:r>
              <a:rPr lang="en-US" sz="2000" b="1" dirty="0">
                <a:latin typeface="Courier"/>
                <a:cs typeface="Courier"/>
              </a:rPr>
              <a:t> -- </a:t>
            </a:r>
            <a:r>
              <a:rPr lang="en-US" sz="2000" dirty="0"/>
              <a:t>	Decreases the pointer value by </a:t>
            </a:r>
            <a:r>
              <a:rPr lang="en-US" sz="2000" b="1" dirty="0" err="1">
                <a:latin typeface="Courier"/>
                <a:cs typeface="Courier"/>
              </a:rPr>
              <a:t>sizeof</a:t>
            </a:r>
            <a:r>
              <a:rPr lang="en-US" sz="2000" b="1" dirty="0">
                <a:latin typeface="Courier"/>
                <a:cs typeface="Courier"/>
              </a:rPr>
              <a:t>(type)</a:t>
            </a:r>
            <a:r>
              <a:rPr lang="en-US" sz="2000" dirty="0"/>
              <a:t>	</a:t>
            </a:r>
          </a:p>
        </p:txBody>
      </p:sp>
      <p:cxnSp>
        <p:nvCxnSpPr>
          <p:cNvPr id="7" name="Straight Connector 6"/>
          <p:cNvCxnSpPr/>
          <p:nvPr/>
        </p:nvCxnSpPr>
        <p:spPr bwMode="auto">
          <a:xfrm>
            <a:off x="0" y="1920751"/>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Straight Connector 7"/>
          <p:cNvCxnSpPr/>
          <p:nvPr/>
        </p:nvCxnSpPr>
        <p:spPr bwMode="auto">
          <a:xfrm>
            <a:off x="1583668" y="1439347"/>
            <a:ext cx="0" cy="1989653"/>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8" name="Straight Connector 17"/>
          <p:cNvCxnSpPr/>
          <p:nvPr/>
        </p:nvCxnSpPr>
        <p:spPr bwMode="auto">
          <a:xfrm>
            <a:off x="35496" y="3429000"/>
            <a:ext cx="9036496" cy="0"/>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aphicFrame>
        <p:nvGraphicFramePr>
          <p:cNvPr id="17" name="Table 16"/>
          <p:cNvGraphicFramePr>
            <a:graphicFrameLocks noGrp="1"/>
          </p:cNvGraphicFramePr>
          <p:nvPr>
            <p:extLst>
              <p:ext uri="{D42A27DB-BD31-4B8C-83A1-F6EECF244321}">
                <p14:modId xmlns:p14="http://schemas.microsoft.com/office/powerpoint/2010/main" val="1517726896"/>
              </p:ext>
            </p:extLst>
          </p:nvPr>
        </p:nvGraphicFramePr>
        <p:xfrm>
          <a:off x="6120172" y="4717948"/>
          <a:ext cx="2124236" cy="148336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rgbClr val="FFFFFF"/>
                    </a:solidFill>
                  </a:tcPr>
                </a:tc>
                <a:extLst>
                  <a:ext uri="{0D108BD9-81ED-4DB2-BD59-A6C34878D82A}">
                    <a16:rowId xmlns:a16="http://schemas.microsoft.com/office/drawing/2014/main" val="10000"/>
                  </a:ext>
                </a:extLst>
              </a:tr>
              <a:tr h="370840">
                <a:tc>
                  <a:txBody>
                    <a:bodyPr/>
                    <a:lstStyle/>
                    <a:p>
                      <a:endParaRPr lang="en-US" dirty="0"/>
                    </a:p>
                  </a:txBody>
                  <a:tcPr>
                    <a:solidFill>
                      <a:srgbClr val="FFFFFF"/>
                    </a:solid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9" name="TextBox 18"/>
          <p:cNvSpPr txBox="1"/>
          <p:nvPr/>
        </p:nvSpPr>
        <p:spPr>
          <a:xfrm>
            <a:off x="5004048" y="4725144"/>
            <a:ext cx="1040519" cy="400110"/>
          </a:xfrm>
          <a:prstGeom prst="rect">
            <a:avLst/>
          </a:prstGeom>
          <a:noFill/>
        </p:spPr>
        <p:txBody>
          <a:bodyPr wrap="none" rtlCol="0">
            <a:spAutoFit/>
          </a:bodyPr>
          <a:lstStyle/>
          <a:p>
            <a:r>
              <a:rPr lang="en-US" sz="2000" b="1" dirty="0"/>
              <a:t>0x1000</a:t>
            </a:r>
          </a:p>
        </p:txBody>
      </p:sp>
      <p:sp>
        <p:nvSpPr>
          <p:cNvPr id="20" name="TextBox 19"/>
          <p:cNvSpPr txBox="1"/>
          <p:nvPr/>
        </p:nvSpPr>
        <p:spPr>
          <a:xfrm>
            <a:off x="3455876" y="4725144"/>
            <a:ext cx="646331" cy="400110"/>
          </a:xfrm>
          <a:prstGeom prst="rect">
            <a:avLst/>
          </a:prstGeom>
          <a:noFill/>
        </p:spPr>
        <p:txBody>
          <a:bodyPr wrap="none" rtlCol="0">
            <a:spAutoFit/>
          </a:bodyPr>
          <a:lstStyle/>
          <a:p>
            <a:r>
              <a:rPr lang="en-US" sz="2000" b="1" dirty="0" err="1">
                <a:latin typeface="Courier"/>
                <a:cs typeface="Courier"/>
              </a:rPr>
              <a:t>ptr</a:t>
            </a:r>
            <a:endParaRPr lang="en-US" sz="2000" b="1" dirty="0"/>
          </a:p>
        </p:txBody>
      </p:sp>
      <p:sp>
        <p:nvSpPr>
          <p:cNvPr id="30" name="Rectangle 29"/>
          <p:cNvSpPr/>
          <p:nvPr/>
        </p:nvSpPr>
        <p:spPr>
          <a:xfrm>
            <a:off x="50187" y="4717948"/>
            <a:ext cx="2646878" cy="400110"/>
          </a:xfrm>
          <a:prstGeom prst="rect">
            <a:avLst/>
          </a:prstGeom>
        </p:spPr>
        <p:txBody>
          <a:bodyPr wrap="none">
            <a:spAutoFit/>
          </a:bodyPr>
          <a:lstStyle/>
          <a:p>
            <a:r>
              <a:rPr lang="en-GB" sz="2000" b="1" dirty="0">
                <a:solidFill>
                  <a:schemeClr val="tx1"/>
                </a:solidFill>
                <a:latin typeface="Courier"/>
                <a:cs typeface="Courier"/>
              </a:rPr>
              <a:t>int *</a:t>
            </a:r>
            <a:r>
              <a:rPr lang="en-GB" sz="2000" b="1" dirty="0" err="1">
                <a:solidFill>
                  <a:schemeClr val="tx1"/>
                </a:solidFill>
                <a:latin typeface="Courier"/>
                <a:cs typeface="Courier"/>
              </a:rPr>
              <a:t>ptr</a:t>
            </a:r>
            <a:r>
              <a:rPr lang="en-GB" sz="2000" b="1" dirty="0">
                <a:solidFill>
                  <a:schemeClr val="tx1"/>
                </a:solidFill>
                <a:latin typeface="Courier"/>
                <a:cs typeface="Courier"/>
              </a:rPr>
              <a:t>=0x1000;</a:t>
            </a:r>
            <a:endParaRPr lang="en-US" sz="2000" dirty="0">
              <a:solidFill>
                <a:schemeClr val="tx1"/>
              </a:solidFill>
            </a:endParaRPr>
          </a:p>
        </p:txBody>
      </p:sp>
      <p:sp>
        <p:nvSpPr>
          <p:cNvPr id="4" name="Rectangle 3"/>
          <p:cNvSpPr/>
          <p:nvPr/>
        </p:nvSpPr>
        <p:spPr>
          <a:xfrm>
            <a:off x="2166270" y="728700"/>
            <a:ext cx="4062831" cy="461665"/>
          </a:xfrm>
          <a:prstGeom prst="rect">
            <a:avLst/>
          </a:prstGeom>
        </p:spPr>
        <p:txBody>
          <a:bodyPr wrap="none">
            <a:spAutoFit/>
          </a:bodyPr>
          <a:lstStyle/>
          <a:p>
            <a:r>
              <a:rPr lang="en-US" sz="2400" b="1" dirty="0">
                <a:latin typeface="Courier"/>
                <a:cs typeface="Courier"/>
              </a:rPr>
              <a:t>type *</a:t>
            </a:r>
            <a:r>
              <a:rPr lang="en-US" sz="2400" b="1" dirty="0" err="1">
                <a:latin typeface="Courier"/>
                <a:cs typeface="Courier"/>
              </a:rPr>
              <a:t>ptr</a:t>
            </a:r>
            <a:r>
              <a:rPr lang="en-US" sz="2400" b="1" dirty="0">
                <a:latin typeface="Courier"/>
                <a:cs typeface="Courier"/>
              </a:rPr>
              <a:t>;	</a:t>
            </a:r>
            <a:r>
              <a:rPr lang="en-US" sz="2400" b="1" dirty="0" err="1">
                <a:latin typeface="Courier"/>
                <a:cs typeface="Courier"/>
              </a:rPr>
              <a:t>int</a:t>
            </a:r>
            <a:r>
              <a:rPr lang="en-US" sz="2400" b="1" dirty="0">
                <a:latin typeface="Courier"/>
                <a:cs typeface="Courier"/>
              </a:rPr>
              <a:t> x;</a:t>
            </a:r>
            <a:endParaRPr lang="en-US" sz="2400" dirty="0"/>
          </a:p>
        </p:txBody>
      </p:sp>
      <p:sp>
        <p:nvSpPr>
          <p:cNvPr id="32" name="TextBox 31"/>
          <p:cNvSpPr txBox="1"/>
          <p:nvPr/>
        </p:nvSpPr>
        <p:spPr>
          <a:xfrm>
            <a:off x="5002370" y="5081118"/>
            <a:ext cx="1043876" cy="400110"/>
          </a:xfrm>
          <a:prstGeom prst="rect">
            <a:avLst/>
          </a:prstGeom>
          <a:noFill/>
        </p:spPr>
        <p:txBody>
          <a:bodyPr wrap="none" rtlCol="0">
            <a:spAutoFit/>
          </a:bodyPr>
          <a:lstStyle/>
          <a:p>
            <a:r>
              <a:rPr lang="en-US" sz="2000" b="1" dirty="0"/>
              <a:t>0x1004</a:t>
            </a:r>
          </a:p>
        </p:txBody>
      </p:sp>
      <p:sp>
        <p:nvSpPr>
          <p:cNvPr id="33" name="TextBox 32"/>
          <p:cNvSpPr txBox="1"/>
          <p:nvPr/>
        </p:nvSpPr>
        <p:spPr>
          <a:xfrm>
            <a:off x="5041730" y="5445224"/>
            <a:ext cx="1040519" cy="400110"/>
          </a:xfrm>
          <a:prstGeom prst="rect">
            <a:avLst/>
          </a:prstGeom>
          <a:noFill/>
        </p:spPr>
        <p:txBody>
          <a:bodyPr wrap="none" rtlCol="0">
            <a:spAutoFit/>
          </a:bodyPr>
          <a:lstStyle/>
          <a:p>
            <a:r>
              <a:rPr lang="en-US" sz="2000" b="1" dirty="0"/>
              <a:t>0x1008</a:t>
            </a:r>
          </a:p>
        </p:txBody>
      </p:sp>
      <p:sp>
        <p:nvSpPr>
          <p:cNvPr id="34" name="TextBox 33"/>
          <p:cNvSpPr txBox="1"/>
          <p:nvPr/>
        </p:nvSpPr>
        <p:spPr>
          <a:xfrm>
            <a:off x="3498581" y="5085184"/>
            <a:ext cx="954233" cy="400110"/>
          </a:xfrm>
          <a:prstGeom prst="rect">
            <a:avLst/>
          </a:prstGeom>
          <a:noFill/>
        </p:spPr>
        <p:txBody>
          <a:bodyPr wrap="none" rtlCol="0">
            <a:spAutoFit/>
          </a:bodyPr>
          <a:lstStyle/>
          <a:p>
            <a:r>
              <a:rPr lang="en-US" sz="2000" b="1" dirty="0">
                <a:latin typeface="Courier"/>
                <a:cs typeface="Courier"/>
              </a:rPr>
              <a:t>ptr+1</a:t>
            </a:r>
            <a:endParaRPr lang="en-US" sz="2000" b="1" dirty="0"/>
          </a:p>
        </p:txBody>
      </p:sp>
      <p:sp>
        <p:nvSpPr>
          <p:cNvPr id="35" name="TextBox 34"/>
          <p:cNvSpPr txBox="1"/>
          <p:nvPr/>
        </p:nvSpPr>
        <p:spPr>
          <a:xfrm>
            <a:off x="3498581" y="5441158"/>
            <a:ext cx="954233" cy="400110"/>
          </a:xfrm>
          <a:prstGeom prst="rect">
            <a:avLst/>
          </a:prstGeom>
          <a:noFill/>
        </p:spPr>
        <p:txBody>
          <a:bodyPr wrap="none" rtlCol="0">
            <a:spAutoFit/>
          </a:bodyPr>
          <a:lstStyle/>
          <a:p>
            <a:r>
              <a:rPr lang="en-US" sz="2000" b="1" dirty="0">
                <a:latin typeface="Courier"/>
                <a:cs typeface="Courier"/>
              </a:rPr>
              <a:t>ptr+2</a:t>
            </a:r>
            <a:endParaRPr lang="en-US" sz="2000" b="1" dirty="0"/>
          </a:p>
        </p:txBody>
      </p:sp>
      <p:cxnSp>
        <p:nvCxnSpPr>
          <p:cNvPr id="11" name="Straight Arrow Connector 10"/>
          <p:cNvCxnSpPr>
            <a:stCxn id="34" idx="3"/>
            <a:endCxn id="32" idx="1"/>
          </p:cNvCxnSpPr>
          <p:nvPr/>
        </p:nvCxnSpPr>
        <p:spPr bwMode="auto">
          <a:xfrm flipV="1">
            <a:off x="4452814" y="5281173"/>
            <a:ext cx="549556" cy="4066"/>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Arrow Connector 35"/>
          <p:cNvCxnSpPr>
            <a:stCxn id="35" idx="3"/>
            <a:endCxn id="33" idx="1"/>
          </p:cNvCxnSpPr>
          <p:nvPr/>
        </p:nvCxnSpPr>
        <p:spPr bwMode="auto">
          <a:xfrm>
            <a:off x="4452814" y="5641213"/>
            <a:ext cx="588916" cy="4066"/>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cxnSp>
        <p:nvCxnSpPr>
          <p:cNvPr id="22" name="Straight Arrow Connector 21">
            <a:extLst>
              <a:ext uri="{FF2B5EF4-FFF2-40B4-BE49-F238E27FC236}">
                <a16:creationId xmlns:a16="http://schemas.microsoft.com/office/drawing/2014/main" id="{13D82C9D-3D77-C64C-BEAB-457F6C4FBA1D}"/>
              </a:ext>
            </a:extLst>
          </p:cNvPr>
          <p:cNvCxnSpPr/>
          <p:nvPr/>
        </p:nvCxnSpPr>
        <p:spPr bwMode="auto">
          <a:xfrm flipV="1">
            <a:off x="4445944" y="4920729"/>
            <a:ext cx="549556" cy="4066"/>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 name="TextBox 22">
            <a:extLst>
              <a:ext uri="{FF2B5EF4-FFF2-40B4-BE49-F238E27FC236}">
                <a16:creationId xmlns:a16="http://schemas.microsoft.com/office/drawing/2014/main" id="{F42050DC-2CA2-AE45-B7CA-3489492D8298}"/>
              </a:ext>
            </a:extLst>
          </p:cNvPr>
          <p:cNvSpPr txBox="1"/>
          <p:nvPr/>
        </p:nvSpPr>
        <p:spPr>
          <a:xfrm>
            <a:off x="5319069" y="5818941"/>
            <a:ext cx="800219" cy="400110"/>
          </a:xfrm>
          <a:prstGeom prst="rect">
            <a:avLst/>
          </a:prstGeom>
          <a:noFill/>
        </p:spPr>
        <p:txBody>
          <a:bodyPr wrap="none" rtlCol="0">
            <a:spAutoFit/>
          </a:bodyPr>
          <a:lstStyle/>
          <a:p>
            <a:r>
              <a:rPr lang="en-US" sz="2000" b="1" dirty="0" err="1">
                <a:latin typeface="Courier"/>
                <a:cs typeface="Courier"/>
              </a:rPr>
              <a:t>ptr</a:t>
            </a:r>
            <a:r>
              <a:rPr lang="en-US" sz="2000" b="1" dirty="0">
                <a:latin typeface="Courier"/>
                <a:cs typeface="Courier"/>
              </a:rPr>
              <a:t>:</a:t>
            </a:r>
            <a:endParaRPr lang="en-US" sz="2000" b="1" dirty="0"/>
          </a:p>
        </p:txBody>
      </p:sp>
      <p:sp>
        <p:nvSpPr>
          <p:cNvPr id="24" name="TextBox 23">
            <a:extLst>
              <a:ext uri="{FF2B5EF4-FFF2-40B4-BE49-F238E27FC236}">
                <a16:creationId xmlns:a16="http://schemas.microsoft.com/office/drawing/2014/main" id="{57BAD581-0DF1-3E49-9BBA-53C5E15EDE97}"/>
              </a:ext>
            </a:extLst>
          </p:cNvPr>
          <p:cNvSpPr txBox="1"/>
          <p:nvPr/>
        </p:nvSpPr>
        <p:spPr>
          <a:xfrm>
            <a:off x="6571530" y="5810070"/>
            <a:ext cx="1040519" cy="400110"/>
          </a:xfrm>
          <a:prstGeom prst="rect">
            <a:avLst/>
          </a:prstGeom>
          <a:noFill/>
        </p:spPr>
        <p:txBody>
          <a:bodyPr wrap="none" rtlCol="0">
            <a:spAutoFit/>
          </a:bodyPr>
          <a:lstStyle/>
          <a:p>
            <a:r>
              <a:rPr lang="en-US" sz="2000" b="1" dirty="0"/>
              <a:t>0x1000</a:t>
            </a:r>
          </a:p>
        </p:txBody>
      </p:sp>
    </p:spTree>
    <p:extLst>
      <p:ext uri="{BB962C8B-B14F-4D97-AF65-F5344CB8AC3E}">
        <p14:creationId xmlns:p14="http://schemas.microsoft.com/office/powerpoint/2010/main" val="20082929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a:latin typeface="Arial" charset="0"/>
                <a:ea typeface="ＭＳ Ｐゴシック" charset="0"/>
                <a:cs typeface="ＭＳ Ｐゴシック" charset="0"/>
              </a:rPr>
              <a:t>Pointer </a:t>
            </a:r>
            <a:r>
              <a:rPr lang="fr-FR" sz="2800" dirty="0" err="1">
                <a:latin typeface="Arial" charset="0"/>
                <a:ea typeface="ＭＳ Ｐゴシック" charset="0"/>
                <a:cs typeface="ＭＳ Ｐゴシック" charset="0"/>
              </a:rPr>
              <a:t>arithmetic</a:t>
            </a:r>
            <a:r>
              <a:rPr lang="fr-FR" sz="2800" dirty="0">
                <a:latin typeface="Arial" charset="0"/>
                <a:ea typeface="ＭＳ Ｐゴシック" charset="0"/>
                <a:cs typeface="ＭＳ Ｐゴシック" charset="0"/>
              </a:rPr>
              <a:t>: </a:t>
            </a:r>
            <a:r>
              <a:rPr lang="fr-FR" sz="2800" dirty="0" err="1">
                <a:latin typeface="Arial" charset="0"/>
                <a:cs typeface="ＭＳ Ｐゴシック" charset="0"/>
              </a:rPr>
              <a:t>Problems</a:t>
            </a:r>
            <a:r>
              <a:rPr lang="fr-FR" sz="2800" dirty="0">
                <a:latin typeface="Arial" charset="0"/>
                <a:cs typeface="ＭＳ Ｐゴシック" charset="0"/>
              </a:rPr>
              <a:t>!</a:t>
            </a:r>
            <a:endParaRPr lang="fr-FR" sz="2800" dirty="0">
              <a:latin typeface="Arial" charset="0"/>
              <a:ea typeface="ＭＳ Ｐゴシック" charset="0"/>
              <a:cs typeface="ＭＳ Ｐゴシック" charset="0"/>
            </a:endParaRPr>
          </a:p>
        </p:txBody>
      </p:sp>
      <p:sp>
        <p:nvSpPr>
          <p:cNvPr id="18" name="Espace réservé du contenu 2"/>
          <p:cNvSpPr txBox="1">
            <a:spLocks/>
          </p:cNvSpPr>
          <p:nvPr/>
        </p:nvSpPr>
        <p:spPr bwMode="auto">
          <a:xfrm>
            <a:off x="143508" y="944724"/>
            <a:ext cx="9000492" cy="1153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You can make a pointer </a:t>
            </a:r>
            <a:r>
              <a:rPr lang="en-US" b="1" dirty="0">
                <a:solidFill>
                  <a:srgbClr val="FF0000"/>
                </a:solidFill>
              </a:rPr>
              <a:t>point anywhere</a:t>
            </a:r>
            <a:r>
              <a:rPr lang="en-US" dirty="0"/>
              <a:t>, the compiler will </a:t>
            </a:r>
            <a:r>
              <a:rPr lang="en-US" b="1" dirty="0">
                <a:solidFill>
                  <a:srgbClr val="FF0000"/>
                </a:solidFill>
              </a:rPr>
              <a:t>NOT complain</a:t>
            </a:r>
            <a:r>
              <a:rPr lang="en-US" dirty="0"/>
              <a:t>. The following are valid:</a:t>
            </a:r>
          </a:p>
          <a:p>
            <a:pPr lvl="1"/>
            <a:r>
              <a:rPr lang="en-US" b="1" dirty="0" err="1">
                <a:latin typeface="Courier"/>
                <a:cs typeface="Courier"/>
              </a:rPr>
              <a:t>ptr</a:t>
            </a:r>
            <a:r>
              <a:rPr lang="en-US" b="1" dirty="0">
                <a:latin typeface="Courier"/>
                <a:cs typeface="Courier"/>
              </a:rPr>
              <a:t> + 10000</a:t>
            </a:r>
            <a:endParaRPr lang="en-US" dirty="0">
              <a:latin typeface="Courier"/>
              <a:cs typeface="Courier"/>
            </a:endParaRPr>
          </a:p>
          <a:p>
            <a:pPr lvl="1"/>
            <a:r>
              <a:rPr lang="en-US" b="1" dirty="0" err="1">
                <a:latin typeface="Courier"/>
                <a:cs typeface="Courier"/>
              </a:rPr>
              <a:t>ptr</a:t>
            </a:r>
            <a:r>
              <a:rPr lang="en-US" b="1" dirty="0">
                <a:latin typeface="Courier"/>
                <a:cs typeface="Courier"/>
              </a:rPr>
              <a:t> – 10000</a:t>
            </a:r>
            <a:endParaRPr lang="en-US" dirty="0"/>
          </a:p>
          <a:p>
            <a:pPr lvl="1"/>
            <a:r>
              <a:rPr lang="en-US" b="1" dirty="0">
                <a:latin typeface="Courier"/>
                <a:cs typeface="Courier"/>
              </a:rPr>
              <a:t>c</a:t>
            </a:r>
            <a:r>
              <a:rPr lang="en-GB" b="1" dirty="0" err="1">
                <a:latin typeface="Courier"/>
                <a:cs typeface="Courier"/>
              </a:rPr>
              <a:t>har</a:t>
            </a:r>
            <a:r>
              <a:rPr lang="en-GB" b="1" dirty="0">
                <a:latin typeface="Courier"/>
                <a:cs typeface="Courier"/>
              </a:rPr>
              <a:t> *</a:t>
            </a:r>
            <a:r>
              <a:rPr lang="en-GB" b="1" dirty="0" err="1">
                <a:latin typeface="Courier"/>
                <a:cs typeface="Courier"/>
              </a:rPr>
              <a:t>ptr</a:t>
            </a:r>
            <a:r>
              <a:rPr lang="en-GB" b="1" dirty="0">
                <a:latin typeface="Courier"/>
                <a:cs typeface="Courier"/>
              </a:rPr>
              <a:t> = (char *) 0x0000ffff </a:t>
            </a:r>
            <a:endParaRPr lang="en-US" dirty="0"/>
          </a:p>
          <a:p>
            <a:endParaRPr lang="en-US" sz="800" dirty="0"/>
          </a:p>
          <a:p>
            <a:r>
              <a:rPr lang="en-US" dirty="0"/>
              <a:t>However, problems occur when you attempt to </a:t>
            </a:r>
            <a:r>
              <a:rPr lang="en-US" b="1" dirty="0"/>
              <a:t>access an invalid memory </a:t>
            </a:r>
            <a:r>
              <a:rPr lang="en-US" dirty="0"/>
              <a:t>address by dereferencing the pointer</a:t>
            </a:r>
          </a:p>
          <a:p>
            <a:endParaRPr lang="en-US" sz="800" dirty="0"/>
          </a:p>
          <a:p>
            <a:r>
              <a:rPr lang="en-US" dirty="0">
                <a:solidFill>
                  <a:srgbClr val="000000"/>
                </a:solidFill>
              </a:rPr>
              <a:t>Usually, the operating system forbids access outside of the program’s allocated memory</a:t>
            </a:r>
          </a:p>
          <a:p>
            <a:pPr lvl="1"/>
            <a:r>
              <a:rPr lang="en-GB" dirty="0"/>
              <a:t>If the program </a:t>
            </a:r>
            <a:r>
              <a:rPr lang="en-GB" b="1" dirty="0"/>
              <a:t>can access </a:t>
            </a:r>
            <a:r>
              <a:rPr lang="en-GB" dirty="0"/>
              <a:t>the memory location, the data is not valid</a:t>
            </a:r>
          </a:p>
          <a:p>
            <a:pPr lvl="1"/>
            <a:r>
              <a:rPr lang="en-US" dirty="0"/>
              <a:t>I</a:t>
            </a:r>
            <a:r>
              <a:rPr lang="en-GB" dirty="0"/>
              <a:t>f the program </a:t>
            </a:r>
            <a:r>
              <a:rPr lang="en-GB" b="1" dirty="0"/>
              <a:t>cannot access</a:t>
            </a:r>
            <a:r>
              <a:rPr lang="en-GB" dirty="0"/>
              <a:t>, </a:t>
            </a:r>
            <a:r>
              <a:rPr lang="en-US" dirty="0"/>
              <a:t>it results to segmentation fault </a:t>
            </a:r>
          </a:p>
          <a:p>
            <a:pPr lvl="2"/>
            <a:r>
              <a:rPr lang="en-US" dirty="0"/>
              <a:t>The operating system sends the SEGFAULT signal to the process that caused the memory violation, the process core dumps and terminates</a:t>
            </a: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119</a:t>
            </a:fld>
            <a:endParaRPr lang="fr-FR" sz="1400">
              <a:solidFill>
                <a:srgbClr val="000208"/>
              </a:solidFill>
              <a:latin typeface="Times New Roman" charset="0"/>
            </a:endParaRPr>
          </a:p>
        </p:txBody>
      </p:sp>
      <p:sp>
        <p:nvSpPr>
          <p:cNvPr id="6" name="Rectangle 5"/>
          <p:cNvSpPr/>
          <p:nvPr/>
        </p:nvSpPr>
        <p:spPr>
          <a:xfrm rot="20061788">
            <a:off x="6039602" y="1921587"/>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03888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re 1"/>
          <p:cNvSpPr>
            <a:spLocks noGrp="1"/>
          </p:cNvSpPr>
          <p:nvPr>
            <p:ph type="title"/>
          </p:nvPr>
        </p:nvSpPr>
        <p:spPr/>
        <p:txBody>
          <a:bodyPr/>
          <a:lstStyle/>
          <a:p>
            <a:r>
              <a:rPr lang="fr-FR" sz="2800" dirty="0" err="1">
                <a:latin typeface="Arial" charset="0"/>
                <a:ea typeface="ＭＳ Ｐゴシック" charset="0"/>
                <a:cs typeface="ＭＳ Ｐゴシック" charset="0"/>
              </a:rPr>
              <a:t>Array</a:t>
            </a:r>
            <a:r>
              <a:rPr lang="fr-FR" sz="2800" dirty="0">
                <a:latin typeface="Arial" charset="0"/>
                <a:ea typeface="ＭＳ Ｐゴシック" charset="0"/>
                <a:cs typeface="ＭＳ Ｐゴシック" charset="0"/>
              </a:rPr>
              <a:t> type</a:t>
            </a:r>
          </a:p>
        </p:txBody>
      </p:sp>
      <p:sp>
        <p:nvSpPr>
          <p:cNvPr id="3"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rPr>
              <a:t>Syntax:</a:t>
            </a:r>
            <a:endParaRPr lang="en-US" b="1" dirty="0">
              <a:latin typeface="Courier"/>
              <a:cs typeface="Courier"/>
            </a:endParaRPr>
          </a:p>
          <a:p>
            <a:pPr marL="542925" lvl="1" indent="0">
              <a:buNone/>
            </a:pPr>
            <a:r>
              <a:rPr lang="en-US" b="1" dirty="0">
                <a:latin typeface="Courier"/>
                <a:cs typeface="Courier"/>
              </a:rPr>
              <a:t>type identifier[SIZE];</a:t>
            </a:r>
          </a:p>
          <a:p>
            <a:pPr lvl="1"/>
            <a:endParaRPr lang="en-US" sz="800" b="1" dirty="0">
              <a:latin typeface="Courier"/>
              <a:cs typeface="Courier"/>
            </a:endParaRPr>
          </a:p>
          <a:p>
            <a:pPr>
              <a:defRPr/>
            </a:pPr>
            <a:r>
              <a:rPr lang="en-US" dirty="0"/>
              <a:t>Function:</a:t>
            </a:r>
          </a:p>
          <a:p>
            <a:pPr lvl="1">
              <a:defRPr/>
            </a:pPr>
            <a:r>
              <a:rPr lang="en-US" dirty="0"/>
              <a:t>The </a:t>
            </a:r>
            <a:r>
              <a:rPr lang="en-US" b="1" dirty="0">
                <a:latin typeface="Courier"/>
                <a:cs typeface="Courier"/>
              </a:rPr>
              <a:t>identifier</a:t>
            </a:r>
            <a:r>
              <a:rPr lang="en-US" dirty="0"/>
              <a:t> is an array with a size equal to </a:t>
            </a:r>
            <a:r>
              <a:rPr lang="en-US" b="1" dirty="0">
                <a:latin typeface="Courier"/>
                <a:cs typeface="Courier"/>
              </a:rPr>
              <a:t>SIZE </a:t>
            </a:r>
          </a:p>
          <a:p>
            <a:pPr lvl="1">
              <a:defRPr/>
            </a:pPr>
            <a:r>
              <a:rPr lang="en-US" dirty="0"/>
              <a:t>Each array element is a object of type </a:t>
            </a:r>
            <a:r>
              <a:rPr lang="en-US" b="1" dirty="0">
                <a:latin typeface="Courier"/>
                <a:cs typeface="Courier"/>
              </a:rPr>
              <a:t>type</a:t>
            </a:r>
            <a:r>
              <a:rPr lang="en-US" dirty="0">
                <a:latin typeface="Courier"/>
                <a:cs typeface="Courier"/>
              </a:rPr>
              <a:t> </a:t>
            </a:r>
          </a:p>
          <a:p>
            <a:pPr lvl="1">
              <a:defRPr/>
            </a:pPr>
            <a:r>
              <a:rPr lang="en-US" dirty="0"/>
              <a:t>The array </a:t>
            </a:r>
            <a:r>
              <a:rPr lang="en-US" b="1" dirty="0">
                <a:solidFill>
                  <a:srgbClr val="FF0000"/>
                </a:solidFill>
              </a:rPr>
              <a:t>is statically allocated</a:t>
            </a:r>
            <a:r>
              <a:rPr lang="en-US" dirty="0">
                <a:solidFill>
                  <a:srgbClr val="000000"/>
                </a:solidFill>
              </a:rPr>
              <a:t>. During definition</a:t>
            </a:r>
          </a:p>
          <a:p>
            <a:pPr lvl="2">
              <a:defRPr/>
            </a:pPr>
            <a:r>
              <a:rPr lang="en-US" dirty="0">
                <a:cs typeface="Courier"/>
              </a:rPr>
              <a:t>The </a:t>
            </a:r>
            <a:r>
              <a:rPr lang="en-US" b="1" dirty="0">
                <a:latin typeface="Courier"/>
                <a:cs typeface="Courier"/>
              </a:rPr>
              <a:t>SIZE </a:t>
            </a:r>
            <a:r>
              <a:rPr lang="en-US" dirty="0">
                <a:cs typeface="Courier"/>
              </a:rPr>
              <a:t>must be </a:t>
            </a:r>
            <a:r>
              <a:rPr lang="en-US" dirty="0"/>
              <a:t>is a </a:t>
            </a:r>
            <a:r>
              <a:rPr lang="en-US" b="1" dirty="0"/>
              <a:t>constant</a:t>
            </a:r>
            <a:endParaRPr lang="en-US" dirty="0"/>
          </a:p>
          <a:p>
            <a:pPr lvl="2">
              <a:defRPr/>
            </a:pPr>
            <a:r>
              <a:rPr lang="en-US" dirty="0"/>
              <a:t>The memory to store </a:t>
            </a:r>
            <a:r>
              <a:rPr lang="en-US" b="1" dirty="0">
                <a:latin typeface="Courier"/>
                <a:cs typeface="Courier"/>
              </a:rPr>
              <a:t>SIZE</a:t>
            </a:r>
            <a:r>
              <a:rPr lang="en-US" dirty="0"/>
              <a:t> elements of type </a:t>
            </a:r>
            <a:r>
              <a:rPr lang="en-US" b="1" dirty="0">
                <a:latin typeface="Courier"/>
                <a:cs typeface="Courier"/>
              </a:rPr>
              <a:t>type</a:t>
            </a:r>
            <a:r>
              <a:rPr lang="en-US" dirty="0"/>
              <a:t> is reserved</a:t>
            </a:r>
          </a:p>
          <a:p>
            <a:pPr lvl="2"/>
            <a:r>
              <a:rPr lang="en-US" dirty="0">
                <a:latin typeface="Arial" charset="0"/>
                <a:cs typeface="ＭＳ Ｐゴシック" charset="0"/>
              </a:rPr>
              <a:t>The name of the array (</a:t>
            </a:r>
            <a:r>
              <a:rPr lang="en-US" b="1" dirty="0">
                <a:latin typeface="Courier"/>
                <a:cs typeface="Courier"/>
              </a:rPr>
              <a:t>identifier) </a:t>
            </a:r>
            <a:r>
              <a:rPr lang="en-US" dirty="0">
                <a:latin typeface="Arial" charset="0"/>
                <a:cs typeface="ＭＳ Ｐゴシック" charset="0"/>
              </a:rPr>
              <a:t>is </a:t>
            </a:r>
            <a:r>
              <a:rPr lang="en-US" dirty="0">
                <a:solidFill>
                  <a:srgbClr val="FF0000"/>
                </a:solidFill>
                <a:latin typeface="Arial" charset="0"/>
                <a:cs typeface="ＭＳ Ｐゴシック" charset="0"/>
              </a:rPr>
              <a:t>a </a:t>
            </a:r>
            <a:r>
              <a:rPr lang="en-US" b="1" dirty="0">
                <a:solidFill>
                  <a:srgbClr val="FF0000"/>
                </a:solidFill>
                <a:latin typeface="Arial" charset="0"/>
                <a:cs typeface="ＭＳ Ｐゴシック" charset="0"/>
              </a:rPr>
              <a:t>constant</a:t>
            </a:r>
            <a:r>
              <a:rPr lang="en-US" dirty="0">
                <a:solidFill>
                  <a:srgbClr val="FF0000"/>
                </a:solidFill>
                <a:latin typeface="Arial" charset="0"/>
                <a:cs typeface="ＭＳ Ｐゴシック" charset="0"/>
              </a:rPr>
              <a:t> </a:t>
            </a:r>
            <a:r>
              <a:rPr lang="en-US" b="1" dirty="0">
                <a:solidFill>
                  <a:srgbClr val="FF0000"/>
                </a:solidFill>
                <a:latin typeface="Arial" charset="0"/>
                <a:cs typeface="ＭＳ Ｐゴシック" charset="0"/>
              </a:rPr>
              <a:t>pointer</a:t>
            </a:r>
            <a:r>
              <a:rPr lang="en-US" dirty="0">
                <a:solidFill>
                  <a:srgbClr val="FF0000"/>
                </a:solidFill>
                <a:latin typeface="Arial" charset="0"/>
                <a:cs typeface="ＭＳ Ｐゴシック" charset="0"/>
              </a:rPr>
              <a:t> </a:t>
            </a:r>
            <a:r>
              <a:rPr lang="en-US" dirty="0">
                <a:latin typeface="Arial" charset="0"/>
                <a:cs typeface="ＭＳ Ｐゴシック" charset="0"/>
              </a:rPr>
              <a:t>that points to the address of the first element of the array</a:t>
            </a:r>
            <a:endParaRPr lang="en-US" dirty="0"/>
          </a:p>
          <a:p>
            <a:pPr lvl="1">
              <a:defRPr/>
            </a:pPr>
            <a:r>
              <a:rPr lang="en-US" dirty="0">
                <a:latin typeface="Arial" charset="0"/>
              </a:rPr>
              <a:t>The index of the array is an integer</a:t>
            </a:r>
          </a:p>
          <a:p>
            <a:pPr lvl="2">
              <a:defRPr/>
            </a:pPr>
            <a:r>
              <a:rPr lang="en-US" dirty="0">
                <a:latin typeface="Arial" charset="0"/>
              </a:rPr>
              <a:t>Values from </a:t>
            </a:r>
            <a:r>
              <a:rPr lang="en-US" b="1" dirty="0">
                <a:latin typeface="Courier"/>
                <a:cs typeface="Courier"/>
              </a:rPr>
              <a:t>0</a:t>
            </a:r>
            <a:r>
              <a:rPr lang="en-US" dirty="0">
                <a:latin typeface="Arial" charset="0"/>
              </a:rPr>
              <a:t> to </a:t>
            </a:r>
            <a:r>
              <a:rPr lang="en-US" b="1" dirty="0">
                <a:latin typeface="Courier"/>
                <a:cs typeface="Courier"/>
              </a:rPr>
              <a:t>SIZE-1</a:t>
            </a:r>
          </a:p>
          <a:p>
            <a:pPr lvl="1">
              <a:defRPr/>
            </a:pPr>
            <a:endParaRPr lang="en-US" sz="800" dirty="0">
              <a:latin typeface="Arial" charset="0"/>
              <a:cs typeface="ＭＳ Ｐゴシック" charset="0"/>
            </a:endParaRPr>
          </a:p>
          <a:p>
            <a:pPr>
              <a:defRPr/>
            </a:pPr>
            <a:r>
              <a:rPr lang="en-US" dirty="0">
                <a:latin typeface="Arial" charset="0"/>
                <a:cs typeface="ＭＳ Ｐゴシック" charset="0"/>
              </a:rPr>
              <a:t>It can be initialized during its definition </a:t>
            </a:r>
            <a:r>
              <a:rPr lang="en-US" sz="2000" dirty="0">
                <a:latin typeface="Arial" charset="0"/>
                <a:cs typeface="ＭＳ Ｐゴシック" charset="0"/>
              </a:rPr>
              <a:t>(</a:t>
            </a:r>
            <a:r>
              <a:rPr lang="en-US" sz="2000" b="1" dirty="0">
                <a:latin typeface="Courier"/>
                <a:cs typeface="Courier"/>
              </a:rPr>
              <a:t>SIZE</a:t>
            </a:r>
            <a:r>
              <a:rPr lang="en-US" sz="2000" dirty="0">
                <a:latin typeface="Arial" charset="0"/>
                <a:cs typeface="ＭＳ Ｐゴシック" charset="0"/>
              </a:rPr>
              <a:t>=elements)</a:t>
            </a:r>
            <a:br>
              <a:rPr lang="en-US" sz="2000" dirty="0">
                <a:latin typeface="Arial" charset="0"/>
                <a:cs typeface="ＭＳ Ｐゴシック" charset="0"/>
              </a:rPr>
            </a:br>
            <a:r>
              <a:rPr lang="en-US" sz="2000" b="1" dirty="0" err="1">
                <a:latin typeface="Courier"/>
                <a:cs typeface="Courier"/>
              </a:rPr>
              <a:t>int</a:t>
            </a:r>
            <a:r>
              <a:rPr lang="en-US" sz="2000" b="1" dirty="0">
                <a:latin typeface="Courier"/>
                <a:cs typeface="Courier"/>
              </a:rPr>
              <a:t> array[]={1,3,-2,19,-79};</a:t>
            </a:r>
          </a:p>
          <a:p>
            <a:pPr>
              <a:defRPr/>
            </a:pPr>
            <a:endParaRPr lang="en-US" sz="1100" dirty="0"/>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120</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93791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re 1"/>
          <p:cNvSpPr>
            <a:spLocks noGrp="1"/>
          </p:cNvSpPr>
          <p:nvPr>
            <p:ph type="title"/>
          </p:nvPr>
        </p:nvSpPr>
        <p:spPr/>
        <p:txBody>
          <a:bodyPr/>
          <a:lstStyle/>
          <a:p>
            <a:r>
              <a:rPr lang="fr-FR" sz="2800" dirty="0" err="1">
                <a:latin typeface="Arial" charset="0"/>
                <a:ea typeface="ＭＳ Ｐゴシック" charset="0"/>
                <a:cs typeface="ＭＳ Ｐゴシック" charset="0"/>
              </a:rPr>
              <a:t>Array</a:t>
            </a:r>
            <a:r>
              <a:rPr lang="fr-FR" sz="2800" dirty="0">
                <a:latin typeface="Arial" charset="0"/>
                <a:ea typeface="ＭＳ Ｐゴシック" charset="0"/>
                <a:cs typeface="ＭＳ Ｐゴシック" charset="0"/>
              </a:rPr>
              <a:t> type: </a:t>
            </a:r>
            <a:r>
              <a:rPr lang="fr-FR" sz="2800" dirty="0" err="1">
                <a:latin typeface="Arial" charset="0"/>
                <a:ea typeface="ＭＳ Ｐゴシック" charset="0"/>
                <a:cs typeface="ＭＳ Ｐゴシック" charset="0"/>
              </a:rPr>
              <a:t>Definition</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121</a:t>
            </a:fld>
            <a:endParaRPr lang="fr-FR" sz="1400">
              <a:solidFill>
                <a:srgbClr val="000208"/>
              </a:solidFill>
              <a:latin typeface="Times New Roman"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16506150"/>
              </p:ext>
            </p:extLst>
          </p:nvPr>
        </p:nvGraphicFramePr>
        <p:xfrm>
          <a:off x="2948630" y="1571208"/>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3" name="TextBox 2"/>
          <p:cNvSpPr txBox="1"/>
          <p:nvPr/>
        </p:nvSpPr>
        <p:spPr>
          <a:xfrm>
            <a:off x="3344674" y="1103156"/>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1796705" y="1967252"/>
            <a:ext cx="1040519" cy="400110"/>
          </a:xfrm>
          <a:prstGeom prst="rect">
            <a:avLst/>
          </a:prstGeom>
          <a:noFill/>
        </p:spPr>
        <p:txBody>
          <a:bodyPr wrap="none" rtlCol="0">
            <a:spAutoFit/>
          </a:bodyPr>
          <a:lstStyle/>
          <a:p>
            <a:r>
              <a:rPr lang="en-US" sz="2000" b="1" dirty="0"/>
              <a:t>0x1000</a:t>
            </a:r>
          </a:p>
        </p:txBody>
      </p:sp>
      <p:sp>
        <p:nvSpPr>
          <p:cNvPr id="4" name="Rectangle 3"/>
          <p:cNvSpPr/>
          <p:nvPr/>
        </p:nvSpPr>
        <p:spPr>
          <a:xfrm>
            <a:off x="628972" y="872716"/>
            <a:ext cx="2031626" cy="400110"/>
          </a:xfrm>
          <a:prstGeom prst="rect">
            <a:avLst/>
          </a:prstGeom>
        </p:spPr>
        <p:txBody>
          <a:bodyPr wrap="none">
            <a:spAutoFit/>
          </a:bodyPr>
          <a:lstStyle/>
          <a:p>
            <a:r>
              <a:rPr lang="en-GB" sz="2000" b="1" dirty="0" err="1">
                <a:latin typeface="Courier"/>
                <a:cs typeface="Courier"/>
              </a:rPr>
              <a:t>int</a:t>
            </a:r>
            <a:r>
              <a:rPr lang="en-GB" sz="2000" b="1" dirty="0">
                <a:latin typeface="Courier"/>
                <a:cs typeface="Courier"/>
              </a:rPr>
              <a:t> </a:t>
            </a:r>
            <a:r>
              <a:rPr lang="en-GB" sz="2000" b="1" dirty="0" err="1">
                <a:latin typeface="Courier"/>
                <a:cs typeface="Courier"/>
              </a:rPr>
              <a:t>arr</a:t>
            </a:r>
            <a:r>
              <a:rPr lang="en-GB" sz="2000" b="1" dirty="0">
                <a:latin typeface="Courier"/>
                <a:cs typeface="Courier"/>
              </a:rPr>
              <a:t>[10]; </a:t>
            </a:r>
            <a:endParaRPr lang="en-US" sz="2000" dirty="0"/>
          </a:p>
        </p:txBody>
      </p:sp>
      <p:sp>
        <p:nvSpPr>
          <p:cNvPr id="11" name="TextBox 10"/>
          <p:cNvSpPr txBox="1"/>
          <p:nvPr/>
        </p:nvSpPr>
        <p:spPr>
          <a:xfrm>
            <a:off x="1084910" y="1931248"/>
            <a:ext cx="925804" cy="400110"/>
          </a:xfrm>
          <a:prstGeom prst="rect">
            <a:avLst/>
          </a:prstGeom>
          <a:noFill/>
        </p:spPr>
        <p:txBody>
          <a:bodyPr wrap="none" rtlCol="0">
            <a:spAutoFit/>
          </a:bodyPr>
          <a:lstStyle/>
          <a:p>
            <a:r>
              <a:rPr lang="en-US" sz="2000" b="1" dirty="0" err="1"/>
              <a:t>arr</a:t>
            </a:r>
            <a:r>
              <a:rPr lang="en-US" sz="2000" b="1" dirty="0"/>
              <a:t>[0]:</a:t>
            </a:r>
          </a:p>
        </p:txBody>
      </p:sp>
      <p:sp>
        <p:nvSpPr>
          <p:cNvPr id="13" name="Rectangle 12"/>
          <p:cNvSpPr/>
          <p:nvPr/>
        </p:nvSpPr>
        <p:spPr>
          <a:xfrm>
            <a:off x="3344386" y="1931248"/>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16" name="TextBox 15"/>
          <p:cNvSpPr txBox="1"/>
          <p:nvPr/>
        </p:nvSpPr>
        <p:spPr>
          <a:xfrm>
            <a:off x="1794739" y="2395234"/>
            <a:ext cx="1043876" cy="400110"/>
          </a:xfrm>
          <a:prstGeom prst="rect">
            <a:avLst/>
          </a:prstGeom>
          <a:noFill/>
        </p:spPr>
        <p:txBody>
          <a:bodyPr wrap="none" rtlCol="0">
            <a:spAutoFit/>
          </a:bodyPr>
          <a:lstStyle/>
          <a:p>
            <a:r>
              <a:rPr lang="en-US" sz="2000" b="1" dirty="0"/>
              <a:t>0x1004</a:t>
            </a:r>
          </a:p>
        </p:txBody>
      </p:sp>
      <p:sp>
        <p:nvSpPr>
          <p:cNvPr id="20" name="TextBox 19"/>
          <p:cNvSpPr txBox="1"/>
          <p:nvPr/>
        </p:nvSpPr>
        <p:spPr>
          <a:xfrm>
            <a:off x="1084622" y="2359230"/>
            <a:ext cx="925804" cy="400110"/>
          </a:xfrm>
          <a:prstGeom prst="rect">
            <a:avLst/>
          </a:prstGeom>
          <a:noFill/>
        </p:spPr>
        <p:txBody>
          <a:bodyPr wrap="none" rtlCol="0">
            <a:spAutoFit/>
          </a:bodyPr>
          <a:lstStyle/>
          <a:p>
            <a:r>
              <a:rPr lang="en-US" sz="2000" b="1" dirty="0" err="1"/>
              <a:t>arr</a:t>
            </a:r>
            <a:r>
              <a:rPr lang="en-US" sz="2000" b="1" dirty="0"/>
              <a:t>[1]:</a:t>
            </a:r>
          </a:p>
        </p:txBody>
      </p:sp>
      <p:sp>
        <p:nvSpPr>
          <p:cNvPr id="21" name="Rectangle 20"/>
          <p:cNvSpPr/>
          <p:nvPr/>
        </p:nvSpPr>
        <p:spPr>
          <a:xfrm>
            <a:off x="3344386" y="2359230"/>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22" name="TextBox 21"/>
          <p:cNvSpPr txBox="1"/>
          <p:nvPr/>
        </p:nvSpPr>
        <p:spPr>
          <a:xfrm>
            <a:off x="1796417" y="5347562"/>
            <a:ext cx="1040519" cy="400110"/>
          </a:xfrm>
          <a:prstGeom prst="rect">
            <a:avLst/>
          </a:prstGeom>
          <a:noFill/>
        </p:spPr>
        <p:txBody>
          <a:bodyPr wrap="none" rtlCol="0">
            <a:spAutoFit/>
          </a:bodyPr>
          <a:lstStyle/>
          <a:p>
            <a:r>
              <a:rPr lang="en-US" sz="2000" b="1" dirty="0"/>
              <a:t>0x1028</a:t>
            </a:r>
          </a:p>
        </p:txBody>
      </p:sp>
      <p:grpSp>
        <p:nvGrpSpPr>
          <p:cNvPr id="23" name="Group 22"/>
          <p:cNvGrpSpPr/>
          <p:nvPr/>
        </p:nvGrpSpPr>
        <p:grpSpPr>
          <a:xfrm>
            <a:off x="1084622" y="1859240"/>
            <a:ext cx="4059964" cy="3924436"/>
            <a:chOff x="1520148" y="-1719572"/>
            <a:chExt cx="4059964" cy="3924436"/>
          </a:xfrm>
        </p:grpSpPr>
        <p:sp>
          <p:nvSpPr>
            <p:cNvPr id="24" name="Rectangle 23"/>
            <p:cNvSpPr/>
            <p:nvPr/>
          </p:nvSpPr>
          <p:spPr bwMode="auto">
            <a:xfrm>
              <a:off x="3311860" y="-1719572"/>
              <a:ext cx="2268252" cy="3924436"/>
            </a:xfrm>
            <a:prstGeom prst="rect">
              <a:avLst/>
            </a:prstGeom>
            <a:noFill/>
            <a:ln w="3810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25" name="TextBox 24"/>
            <p:cNvSpPr txBox="1"/>
            <p:nvPr/>
          </p:nvSpPr>
          <p:spPr>
            <a:xfrm>
              <a:off x="1520148" y="1772816"/>
              <a:ext cx="925804" cy="400110"/>
            </a:xfrm>
            <a:prstGeom prst="rect">
              <a:avLst/>
            </a:prstGeom>
            <a:noFill/>
          </p:spPr>
          <p:txBody>
            <a:bodyPr wrap="none" rtlCol="0">
              <a:spAutoFit/>
            </a:bodyPr>
            <a:lstStyle/>
            <a:p>
              <a:r>
                <a:rPr lang="en-US" sz="2000" b="1" dirty="0" err="1"/>
                <a:t>arr</a:t>
              </a:r>
              <a:r>
                <a:rPr lang="en-US" sz="2000" b="1" dirty="0"/>
                <a:t>[9]:</a:t>
              </a:r>
            </a:p>
          </p:txBody>
        </p:sp>
      </p:grpSp>
      <p:sp>
        <p:nvSpPr>
          <p:cNvPr id="26" name="Rectangle 25"/>
          <p:cNvSpPr/>
          <p:nvPr/>
        </p:nvSpPr>
        <p:spPr>
          <a:xfrm>
            <a:off x="3344386" y="5351628"/>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27" name="TextBox 26"/>
          <p:cNvSpPr txBox="1"/>
          <p:nvPr/>
        </p:nvSpPr>
        <p:spPr>
          <a:xfrm>
            <a:off x="1953852" y="3515424"/>
            <a:ext cx="441146" cy="400110"/>
          </a:xfrm>
          <a:prstGeom prst="rect">
            <a:avLst/>
          </a:prstGeom>
          <a:noFill/>
        </p:spPr>
        <p:txBody>
          <a:bodyPr wrap="none" rtlCol="0">
            <a:spAutoFit/>
          </a:bodyPr>
          <a:lstStyle/>
          <a:p>
            <a:r>
              <a:rPr lang="en-US" sz="2000" b="1" dirty="0"/>
              <a:t>…</a:t>
            </a:r>
          </a:p>
        </p:txBody>
      </p:sp>
      <p:grpSp>
        <p:nvGrpSpPr>
          <p:cNvPr id="10" name="Group 9"/>
          <p:cNvGrpSpPr/>
          <p:nvPr/>
        </p:nvGrpSpPr>
        <p:grpSpPr>
          <a:xfrm>
            <a:off x="5144874" y="2132856"/>
            <a:ext cx="4035638" cy="2016224"/>
            <a:chOff x="5832140" y="2312876"/>
            <a:chExt cx="2772308" cy="2016224"/>
          </a:xfrm>
        </p:grpSpPr>
        <p:sp>
          <p:nvSpPr>
            <p:cNvPr id="28" name="Rectangle 27"/>
            <p:cNvSpPr/>
            <p:nvPr/>
          </p:nvSpPr>
          <p:spPr>
            <a:xfrm>
              <a:off x="5832140" y="2708920"/>
              <a:ext cx="2772308" cy="523220"/>
            </a:xfrm>
            <a:prstGeom prst="rect">
              <a:avLst/>
            </a:prstGeom>
            <a:ln w="38100" cmpd="sng">
              <a:noFill/>
            </a:ln>
          </p:spPr>
          <p:txBody>
            <a:bodyPr wrap="square">
              <a:spAutoFit/>
            </a:bodyPr>
            <a:lstStyle/>
            <a:p>
              <a:pPr lvl="1">
                <a:spcBef>
                  <a:spcPts val="600"/>
                </a:spcBef>
                <a:spcAft>
                  <a:spcPts val="600"/>
                </a:spcAft>
              </a:pPr>
              <a:r>
                <a:rPr lang="en-GB" sz="2800" b="1" dirty="0" err="1">
                  <a:solidFill>
                    <a:srgbClr val="FF0000"/>
                  </a:solidFill>
                </a:rPr>
                <a:t>arr</a:t>
              </a:r>
              <a:r>
                <a:rPr lang="en-GB" sz="2800" b="1" dirty="0">
                  <a:solidFill>
                    <a:srgbClr val="FF0000"/>
                  </a:solidFill>
                </a:rPr>
                <a:t> == &amp; </a:t>
              </a:r>
              <a:r>
                <a:rPr lang="en-GB" sz="2800" b="1" dirty="0" err="1">
                  <a:solidFill>
                    <a:srgbClr val="FF0000"/>
                  </a:solidFill>
                </a:rPr>
                <a:t>arr</a:t>
              </a:r>
              <a:r>
                <a:rPr lang="en-GB" sz="2800" b="1" dirty="0">
                  <a:solidFill>
                    <a:srgbClr val="FF0000"/>
                  </a:solidFill>
                </a:rPr>
                <a:t>[0]</a:t>
              </a:r>
            </a:p>
          </p:txBody>
        </p:sp>
        <p:sp>
          <p:nvSpPr>
            <p:cNvPr id="2" name="Rectangle 1"/>
            <p:cNvSpPr/>
            <p:nvPr/>
          </p:nvSpPr>
          <p:spPr bwMode="auto">
            <a:xfrm>
              <a:off x="6243838" y="2312876"/>
              <a:ext cx="2284219" cy="2016224"/>
            </a:xfrm>
            <a:prstGeom prst="rect">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29" name="Rectangle 28"/>
          <p:cNvSpPr/>
          <p:nvPr/>
        </p:nvSpPr>
        <p:spPr>
          <a:xfrm>
            <a:off x="5436096" y="3140968"/>
            <a:ext cx="3528392" cy="523220"/>
          </a:xfrm>
          <a:prstGeom prst="rect">
            <a:avLst/>
          </a:prstGeom>
          <a:ln w="38100" cmpd="sng">
            <a:noFill/>
          </a:ln>
        </p:spPr>
        <p:txBody>
          <a:bodyPr wrap="square">
            <a:spAutoFit/>
          </a:bodyPr>
          <a:lstStyle/>
          <a:p>
            <a:pPr lvl="1">
              <a:spcBef>
                <a:spcPts val="600"/>
              </a:spcBef>
              <a:spcAft>
                <a:spcPts val="600"/>
              </a:spcAft>
            </a:pPr>
            <a:r>
              <a:rPr lang="en-GB" sz="2800" b="1" dirty="0">
                <a:solidFill>
                  <a:srgbClr val="FF0000"/>
                </a:solidFill>
              </a:rPr>
              <a:t>*</a:t>
            </a:r>
            <a:r>
              <a:rPr lang="en-GB" sz="2800" b="1" dirty="0" err="1">
                <a:solidFill>
                  <a:srgbClr val="FF0000"/>
                </a:solidFill>
              </a:rPr>
              <a:t>arr</a:t>
            </a:r>
            <a:r>
              <a:rPr lang="en-GB" sz="2800" b="1" dirty="0">
                <a:solidFill>
                  <a:srgbClr val="FF0000"/>
                </a:solidFill>
              </a:rPr>
              <a:t> == </a:t>
            </a:r>
            <a:r>
              <a:rPr lang="en-GB" sz="2800" b="1" dirty="0" err="1">
                <a:solidFill>
                  <a:srgbClr val="FF0000"/>
                </a:solidFill>
              </a:rPr>
              <a:t>arr</a:t>
            </a:r>
            <a:r>
              <a:rPr lang="en-GB" sz="2800" b="1" dirty="0">
                <a:solidFill>
                  <a:srgbClr val="FF0000"/>
                </a:solidFill>
              </a:rPr>
              <a:t>[0]</a:t>
            </a:r>
          </a:p>
        </p:txBody>
      </p:sp>
      <p:sp>
        <p:nvSpPr>
          <p:cNvPr id="30" name="Rectangle 29"/>
          <p:cNvSpPr/>
          <p:nvPr/>
        </p:nvSpPr>
        <p:spPr>
          <a:xfrm>
            <a:off x="3344386" y="2719270"/>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1" name="Rectangle 30"/>
          <p:cNvSpPr/>
          <p:nvPr/>
        </p:nvSpPr>
        <p:spPr>
          <a:xfrm>
            <a:off x="3344386" y="3079310"/>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2" name="Rectangle 31"/>
          <p:cNvSpPr/>
          <p:nvPr/>
        </p:nvSpPr>
        <p:spPr>
          <a:xfrm>
            <a:off x="3344386" y="3367342"/>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3" name="Rectangle 32"/>
          <p:cNvSpPr/>
          <p:nvPr/>
        </p:nvSpPr>
        <p:spPr>
          <a:xfrm>
            <a:off x="3344386" y="3727382"/>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4" name="Rectangle 33"/>
          <p:cNvSpPr/>
          <p:nvPr/>
        </p:nvSpPr>
        <p:spPr>
          <a:xfrm>
            <a:off x="3344386" y="4087422"/>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5" name="Rectangle 34"/>
          <p:cNvSpPr/>
          <p:nvPr/>
        </p:nvSpPr>
        <p:spPr>
          <a:xfrm>
            <a:off x="3344386" y="4483466"/>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6" name="Rectangle 35"/>
          <p:cNvSpPr/>
          <p:nvPr/>
        </p:nvSpPr>
        <p:spPr>
          <a:xfrm>
            <a:off x="3344386" y="4879510"/>
            <a:ext cx="1262059" cy="400110"/>
          </a:xfrm>
          <a:prstGeom prst="rect">
            <a:avLst/>
          </a:prstGeom>
        </p:spPr>
        <p:txBody>
          <a:bodyPr wrap="none">
            <a:spAutoFit/>
          </a:bodyPr>
          <a:lstStyle/>
          <a:p>
            <a:r>
              <a:rPr lang="en-GB" sz="2000" b="1" dirty="0">
                <a:solidFill>
                  <a:srgbClr val="FF0000"/>
                </a:solidFill>
                <a:latin typeface="Courier"/>
                <a:cs typeface="Courier"/>
              </a:rPr>
              <a:t>XXXXXXX</a:t>
            </a:r>
            <a:endParaRPr lang="en-US" sz="2000" dirty="0">
              <a:solidFill>
                <a:srgbClr val="FF0000"/>
              </a:solidFill>
            </a:endParaRPr>
          </a:p>
        </p:txBody>
      </p:sp>
      <p:sp>
        <p:nvSpPr>
          <p:cNvPr id="37" name="Rectangle 36"/>
          <p:cNvSpPr/>
          <p:nvPr/>
        </p:nvSpPr>
        <p:spPr>
          <a:xfrm>
            <a:off x="-2032" y="1968805"/>
            <a:ext cx="646406" cy="400110"/>
          </a:xfrm>
          <a:prstGeom prst="rect">
            <a:avLst/>
          </a:prstGeom>
        </p:spPr>
        <p:txBody>
          <a:bodyPr wrap="none">
            <a:spAutoFit/>
          </a:bodyPr>
          <a:lstStyle/>
          <a:p>
            <a:r>
              <a:rPr lang="en-GB" sz="2000" b="1" dirty="0" err="1">
                <a:latin typeface="Courier"/>
                <a:cs typeface="Courier"/>
              </a:rPr>
              <a:t>arr</a:t>
            </a:r>
            <a:endParaRPr lang="en-US" sz="2000" dirty="0"/>
          </a:p>
        </p:txBody>
      </p:sp>
      <p:cxnSp>
        <p:nvCxnSpPr>
          <p:cNvPr id="38" name="Straight Arrow Connector 37"/>
          <p:cNvCxnSpPr>
            <a:stCxn id="37" idx="3"/>
          </p:cNvCxnSpPr>
          <p:nvPr/>
        </p:nvCxnSpPr>
        <p:spPr bwMode="auto">
          <a:xfrm>
            <a:off x="644374" y="2168860"/>
            <a:ext cx="542014"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1415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ea typeface="ＭＳ Ｐゴシック" charset="0"/>
                <a:cs typeface="ＭＳ Ｐゴシック" charset="0"/>
              </a:rPr>
              <a:t>Arrays</a:t>
            </a:r>
            <a:r>
              <a:rPr lang="fr-FR" sz="2800" dirty="0">
                <a:latin typeface="Arial" charset="0"/>
                <a:ea typeface="ＭＳ Ｐゴシック" charset="0"/>
                <a:cs typeface="ＭＳ Ｐゴシック" charset="0"/>
              </a:rPr>
              <a:t> and Pointers</a:t>
            </a:r>
          </a:p>
        </p:txBody>
      </p:sp>
      <p:sp>
        <p:nvSpPr>
          <p:cNvPr id="116738" name="Espace réservé du contenu 2"/>
          <p:cNvSpPr>
            <a:spLocks noGrp="1"/>
          </p:cNvSpPr>
          <p:nvPr>
            <p:ph idx="1"/>
          </p:nvPr>
        </p:nvSpPr>
        <p:spPr>
          <a:xfrm>
            <a:off x="215516" y="656692"/>
            <a:ext cx="9145016" cy="1254460"/>
          </a:xfrm>
        </p:spPr>
        <p:txBody>
          <a:bodyPr/>
          <a:lstStyle/>
          <a:p>
            <a:pPr marL="363538" lvl="1" indent="-363538">
              <a:buSzTx/>
              <a:buBlip>
                <a:blip r:embed="rId2"/>
              </a:buBlip>
            </a:pPr>
            <a:r>
              <a:rPr lang="en-GB" sz="2400" dirty="0">
                <a:latin typeface="Arial" charset="0"/>
              </a:rPr>
              <a:t>The notion of array is very close to the notion of pointer</a:t>
            </a:r>
          </a:p>
          <a:p>
            <a:r>
              <a:rPr lang="en-GB" b="1" dirty="0" err="1">
                <a:latin typeface="Courier"/>
                <a:cs typeface="Courier"/>
              </a:rPr>
              <a:t>arr</a:t>
            </a:r>
            <a:r>
              <a:rPr lang="en-GB" b="1" dirty="0">
                <a:latin typeface="Courier"/>
                <a:cs typeface="Courier"/>
              </a:rPr>
              <a:t>[</a:t>
            </a:r>
            <a:r>
              <a:rPr lang="en-GB" b="1" dirty="0" err="1">
                <a:latin typeface="Courier"/>
                <a:cs typeface="Courier"/>
              </a:rPr>
              <a:t>i</a:t>
            </a:r>
            <a:r>
              <a:rPr lang="en-GB" b="1" dirty="0">
                <a:latin typeface="Courier"/>
                <a:cs typeface="Courier"/>
              </a:rPr>
              <a:t>]</a:t>
            </a:r>
            <a:r>
              <a:rPr lang="en-GB" dirty="0">
                <a:latin typeface="Courier"/>
                <a:cs typeface="Courier"/>
              </a:rPr>
              <a:t> == </a:t>
            </a:r>
            <a:r>
              <a:rPr lang="en-GB" b="1" dirty="0">
                <a:latin typeface="Courier"/>
                <a:cs typeface="Courier"/>
              </a:rPr>
              <a:t>*(</a:t>
            </a:r>
            <a:r>
              <a:rPr lang="en-GB" b="1" dirty="0" err="1">
                <a:latin typeface="Courier"/>
                <a:cs typeface="Courier"/>
              </a:rPr>
              <a:t>arr+i</a:t>
            </a:r>
            <a:r>
              <a:rPr lang="en-GB" b="1" dirty="0">
                <a:latin typeface="Courier"/>
                <a:cs typeface="Courier"/>
              </a:rPr>
              <a:t>)</a:t>
            </a:r>
            <a:r>
              <a:rPr lang="en-GB" dirty="0">
                <a:latin typeface="Arial" charset="0"/>
              </a:rPr>
              <a:t> , so they indicate the same element !</a:t>
            </a:r>
          </a:p>
          <a:p>
            <a:r>
              <a:rPr lang="en-GB" b="1" dirty="0" err="1">
                <a:latin typeface="Courier"/>
                <a:cs typeface="Courier"/>
              </a:rPr>
              <a:t>arr+i</a:t>
            </a:r>
            <a:r>
              <a:rPr lang="en-GB" b="1" dirty="0">
                <a:latin typeface="Courier"/>
                <a:cs typeface="Courier"/>
              </a:rPr>
              <a:t> = </a:t>
            </a:r>
            <a:r>
              <a:rPr lang="en-GB" b="1" dirty="0" err="1">
                <a:latin typeface="Courier"/>
                <a:cs typeface="Courier"/>
              </a:rPr>
              <a:t>arr</a:t>
            </a:r>
            <a:r>
              <a:rPr lang="en-GB" b="1" dirty="0">
                <a:latin typeface="Courier"/>
                <a:cs typeface="Courier"/>
              </a:rPr>
              <a:t> + </a:t>
            </a:r>
            <a:r>
              <a:rPr lang="en-GB" b="1" dirty="0" err="1">
                <a:latin typeface="Courier"/>
                <a:cs typeface="Courier"/>
              </a:rPr>
              <a:t>sizeof</a:t>
            </a:r>
            <a:r>
              <a:rPr lang="en-GB" b="1" dirty="0">
                <a:latin typeface="Courier"/>
                <a:cs typeface="Courier"/>
              </a:rPr>
              <a:t>(type)*</a:t>
            </a:r>
            <a:r>
              <a:rPr lang="en-GB" b="1" dirty="0" err="1">
                <a:latin typeface="Courier"/>
                <a:cs typeface="Courier"/>
              </a:rPr>
              <a:t>i</a:t>
            </a:r>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122</a:t>
            </a:fld>
            <a:endParaRPr lang="fr-FR" sz="1400">
              <a:solidFill>
                <a:srgbClr val="000208"/>
              </a:solidFill>
              <a:latin typeface="Times New Roman"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119804093"/>
              </p:ext>
            </p:extLst>
          </p:nvPr>
        </p:nvGraphicFramePr>
        <p:xfrm>
          <a:off x="6228184" y="2204864"/>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6624228" y="1736812"/>
            <a:ext cx="1184940" cy="400110"/>
          </a:xfrm>
          <a:prstGeom prst="rect">
            <a:avLst/>
          </a:prstGeom>
          <a:noFill/>
        </p:spPr>
        <p:txBody>
          <a:bodyPr wrap="none" rtlCol="0">
            <a:spAutoFit/>
          </a:bodyPr>
          <a:lstStyle/>
          <a:p>
            <a:r>
              <a:rPr lang="en-US" sz="2000" b="1" dirty="0"/>
              <a:t>Memory</a:t>
            </a:r>
          </a:p>
        </p:txBody>
      </p:sp>
      <p:sp>
        <p:nvSpPr>
          <p:cNvPr id="9" name="TextBox 8"/>
          <p:cNvSpPr txBox="1"/>
          <p:nvPr/>
        </p:nvSpPr>
        <p:spPr>
          <a:xfrm>
            <a:off x="5076259" y="2600908"/>
            <a:ext cx="1040519" cy="400110"/>
          </a:xfrm>
          <a:prstGeom prst="rect">
            <a:avLst/>
          </a:prstGeom>
          <a:noFill/>
        </p:spPr>
        <p:txBody>
          <a:bodyPr wrap="none" rtlCol="0">
            <a:spAutoFit/>
          </a:bodyPr>
          <a:lstStyle/>
          <a:p>
            <a:r>
              <a:rPr lang="en-US" sz="2000" b="1" dirty="0"/>
              <a:t>0x1000</a:t>
            </a:r>
          </a:p>
        </p:txBody>
      </p:sp>
      <p:sp>
        <p:nvSpPr>
          <p:cNvPr id="10" name="Rectangle 9"/>
          <p:cNvSpPr/>
          <p:nvPr/>
        </p:nvSpPr>
        <p:spPr>
          <a:xfrm>
            <a:off x="179512" y="2168860"/>
            <a:ext cx="2031626" cy="400110"/>
          </a:xfrm>
          <a:prstGeom prst="rect">
            <a:avLst/>
          </a:prstGeom>
        </p:spPr>
        <p:txBody>
          <a:bodyPr wrap="none">
            <a:spAutoFit/>
          </a:bodyPr>
          <a:lstStyle/>
          <a:p>
            <a:r>
              <a:rPr lang="en-GB" sz="2000" b="1" dirty="0" err="1">
                <a:latin typeface="Courier"/>
                <a:cs typeface="Courier"/>
              </a:rPr>
              <a:t>int</a:t>
            </a:r>
            <a:r>
              <a:rPr lang="en-GB" sz="2000" b="1" dirty="0">
                <a:latin typeface="Courier"/>
                <a:cs typeface="Courier"/>
              </a:rPr>
              <a:t> </a:t>
            </a:r>
            <a:r>
              <a:rPr lang="en-GB" sz="2000" b="1" dirty="0" err="1">
                <a:latin typeface="Courier"/>
                <a:cs typeface="Courier"/>
              </a:rPr>
              <a:t>arr</a:t>
            </a:r>
            <a:r>
              <a:rPr lang="en-GB" sz="2000" b="1" dirty="0">
                <a:latin typeface="Courier"/>
                <a:cs typeface="Courier"/>
              </a:rPr>
              <a:t>[10]; </a:t>
            </a:r>
            <a:endParaRPr lang="en-US" sz="2000" dirty="0"/>
          </a:p>
        </p:txBody>
      </p:sp>
      <p:sp>
        <p:nvSpPr>
          <p:cNvPr id="11" name="TextBox 10"/>
          <p:cNvSpPr txBox="1"/>
          <p:nvPr/>
        </p:nvSpPr>
        <p:spPr>
          <a:xfrm>
            <a:off x="4364464" y="2564904"/>
            <a:ext cx="925804" cy="400110"/>
          </a:xfrm>
          <a:prstGeom prst="rect">
            <a:avLst/>
          </a:prstGeom>
          <a:noFill/>
        </p:spPr>
        <p:txBody>
          <a:bodyPr wrap="none" rtlCol="0">
            <a:spAutoFit/>
          </a:bodyPr>
          <a:lstStyle/>
          <a:p>
            <a:r>
              <a:rPr lang="en-US" sz="2000" b="1" dirty="0" err="1"/>
              <a:t>arr</a:t>
            </a:r>
            <a:r>
              <a:rPr lang="en-US" sz="2000" b="1" dirty="0"/>
              <a:t>[0]:</a:t>
            </a:r>
          </a:p>
        </p:txBody>
      </p:sp>
      <p:sp>
        <p:nvSpPr>
          <p:cNvPr id="12" name="Rectangle 11"/>
          <p:cNvSpPr/>
          <p:nvPr/>
        </p:nvSpPr>
        <p:spPr>
          <a:xfrm>
            <a:off x="7085680" y="2564904"/>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3" name="TextBox 12"/>
          <p:cNvSpPr txBox="1"/>
          <p:nvPr/>
        </p:nvSpPr>
        <p:spPr>
          <a:xfrm>
            <a:off x="5074293" y="3028890"/>
            <a:ext cx="1043876" cy="400110"/>
          </a:xfrm>
          <a:prstGeom prst="rect">
            <a:avLst/>
          </a:prstGeom>
          <a:noFill/>
        </p:spPr>
        <p:txBody>
          <a:bodyPr wrap="none" rtlCol="0">
            <a:spAutoFit/>
          </a:bodyPr>
          <a:lstStyle/>
          <a:p>
            <a:r>
              <a:rPr lang="en-US" sz="2000" b="1" dirty="0"/>
              <a:t>0x1004</a:t>
            </a:r>
          </a:p>
        </p:txBody>
      </p:sp>
      <p:sp>
        <p:nvSpPr>
          <p:cNvPr id="14" name="TextBox 13"/>
          <p:cNvSpPr txBox="1"/>
          <p:nvPr/>
        </p:nvSpPr>
        <p:spPr>
          <a:xfrm>
            <a:off x="4364176" y="2992886"/>
            <a:ext cx="925804" cy="400110"/>
          </a:xfrm>
          <a:prstGeom prst="rect">
            <a:avLst/>
          </a:prstGeom>
          <a:noFill/>
        </p:spPr>
        <p:txBody>
          <a:bodyPr wrap="none" rtlCol="0">
            <a:spAutoFit/>
          </a:bodyPr>
          <a:lstStyle/>
          <a:p>
            <a:r>
              <a:rPr lang="en-US" sz="2000" b="1" dirty="0" err="1"/>
              <a:t>arr</a:t>
            </a:r>
            <a:r>
              <a:rPr lang="en-US" sz="2000" b="1" dirty="0"/>
              <a:t>[1]:</a:t>
            </a:r>
          </a:p>
        </p:txBody>
      </p:sp>
      <p:sp>
        <p:nvSpPr>
          <p:cNvPr id="15" name="Rectangle 14"/>
          <p:cNvSpPr/>
          <p:nvPr/>
        </p:nvSpPr>
        <p:spPr>
          <a:xfrm>
            <a:off x="7085680" y="2992886"/>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6" name="TextBox 15"/>
          <p:cNvSpPr txBox="1"/>
          <p:nvPr/>
        </p:nvSpPr>
        <p:spPr>
          <a:xfrm>
            <a:off x="5075971" y="5981218"/>
            <a:ext cx="1040519" cy="400110"/>
          </a:xfrm>
          <a:prstGeom prst="rect">
            <a:avLst/>
          </a:prstGeom>
          <a:noFill/>
        </p:spPr>
        <p:txBody>
          <a:bodyPr wrap="none" rtlCol="0">
            <a:spAutoFit/>
          </a:bodyPr>
          <a:lstStyle/>
          <a:p>
            <a:r>
              <a:rPr lang="en-US" sz="2000" b="1" dirty="0"/>
              <a:t>0x1028</a:t>
            </a:r>
          </a:p>
        </p:txBody>
      </p:sp>
      <p:sp>
        <p:nvSpPr>
          <p:cNvPr id="19" name="TextBox 18"/>
          <p:cNvSpPr txBox="1"/>
          <p:nvPr/>
        </p:nvSpPr>
        <p:spPr>
          <a:xfrm>
            <a:off x="4364176" y="5985284"/>
            <a:ext cx="925804" cy="400110"/>
          </a:xfrm>
          <a:prstGeom prst="rect">
            <a:avLst/>
          </a:prstGeom>
          <a:noFill/>
        </p:spPr>
        <p:txBody>
          <a:bodyPr wrap="none" rtlCol="0">
            <a:spAutoFit/>
          </a:bodyPr>
          <a:lstStyle/>
          <a:p>
            <a:r>
              <a:rPr lang="en-US" sz="2000" b="1" dirty="0" err="1"/>
              <a:t>arr</a:t>
            </a:r>
            <a:r>
              <a:rPr lang="en-US" sz="2000" b="1" dirty="0"/>
              <a:t>[9]:</a:t>
            </a:r>
          </a:p>
        </p:txBody>
      </p:sp>
      <p:sp>
        <p:nvSpPr>
          <p:cNvPr id="20" name="Rectangle 19"/>
          <p:cNvSpPr/>
          <p:nvPr/>
        </p:nvSpPr>
        <p:spPr>
          <a:xfrm>
            <a:off x="7085680" y="5913276"/>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21" name="TextBox 20"/>
          <p:cNvSpPr txBox="1"/>
          <p:nvPr/>
        </p:nvSpPr>
        <p:spPr>
          <a:xfrm>
            <a:off x="5233406" y="4149080"/>
            <a:ext cx="441146" cy="400110"/>
          </a:xfrm>
          <a:prstGeom prst="rect">
            <a:avLst/>
          </a:prstGeom>
          <a:noFill/>
        </p:spPr>
        <p:txBody>
          <a:bodyPr wrap="none" rtlCol="0">
            <a:spAutoFit/>
          </a:bodyPr>
          <a:lstStyle/>
          <a:p>
            <a:r>
              <a:rPr lang="en-US" sz="2000" b="1" dirty="0"/>
              <a:t>…</a:t>
            </a:r>
          </a:p>
        </p:txBody>
      </p:sp>
      <p:sp>
        <p:nvSpPr>
          <p:cNvPr id="22" name="Rectangle 21"/>
          <p:cNvSpPr/>
          <p:nvPr/>
        </p:nvSpPr>
        <p:spPr>
          <a:xfrm>
            <a:off x="7085680" y="3352926"/>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23" name="Rectangle 22"/>
          <p:cNvSpPr/>
          <p:nvPr/>
        </p:nvSpPr>
        <p:spPr>
          <a:xfrm>
            <a:off x="7085680" y="3712966"/>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4" name="Rectangle 23"/>
          <p:cNvSpPr/>
          <p:nvPr/>
        </p:nvSpPr>
        <p:spPr>
          <a:xfrm>
            <a:off x="7085680" y="4000998"/>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5" name="Rectangle 24"/>
          <p:cNvSpPr/>
          <p:nvPr/>
        </p:nvSpPr>
        <p:spPr>
          <a:xfrm>
            <a:off x="7085680" y="4361038"/>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6" name="Rectangle 25"/>
          <p:cNvSpPr/>
          <p:nvPr/>
        </p:nvSpPr>
        <p:spPr>
          <a:xfrm>
            <a:off x="7085680" y="4721078"/>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7" name="Rectangle 26"/>
          <p:cNvSpPr/>
          <p:nvPr/>
        </p:nvSpPr>
        <p:spPr>
          <a:xfrm>
            <a:off x="7085680" y="5117122"/>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8" name="Rectangle 27"/>
          <p:cNvSpPr/>
          <p:nvPr/>
        </p:nvSpPr>
        <p:spPr>
          <a:xfrm>
            <a:off x="7085680" y="5513166"/>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9" name="Rectangle 28"/>
          <p:cNvSpPr/>
          <p:nvPr/>
        </p:nvSpPr>
        <p:spPr>
          <a:xfrm>
            <a:off x="3275856" y="2564904"/>
            <a:ext cx="646406" cy="400110"/>
          </a:xfrm>
          <a:prstGeom prst="rect">
            <a:avLst/>
          </a:prstGeom>
        </p:spPr>
        <p:txBody>
          <a:bodyPr wrap="none">
            <a:spAutoFit/>
          </a:bodyPr>
          <a:lstStyle/>
          <a:p>
            <a:r>
              <a:rPr lang="en-GB" sz="2000" b="1" dirty="0" err="1">
                <a:latin typeface="Courier"/>
                <a:cs typeface="Courier"/>
              </a:rPr>
              <a:t>arr</a:t>
            </a:r>
            <a:endParaRPr lang="en-US" sz="2000" dirty="0"/>
          </a:p>
        </p:txBody>
      </p:sp>
      <p:cxnSp>
        <p:nvCxnSpPr>
          <p:cNvPr id="3" name="Straight Arrow Connector 2"/>
          <p:cNvCxnSpPr>
            <a:stCxn id="29" idx="3"/>
            <a:endCxn id="11" idx="1"/>
          </p:cNvCxnSpPr>
          <p:nvPr/>
        </p:nvCxnSpPr>
        <p:spPr bwMode="auto">
          <a:xfrm>
            <a:off x="3922262" y="2764959"/>
            <a:ext cx="442202"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TextBox 30"/>
          <p:cNvSpPr txBox="1"/>
          <p:nvPr/>
        </p:nvSpPr>
        <p:spPr>
          <a:xfrm>
            <a:off x="5054681" y="3712966"/>
            <a:ext cx="1083099" cy="400110"/>
          </a:xfrm>
          <a:prstGeom prst="rect">
            <a:avLst/>
          </a:prstGeom>
          <a:noFill/>
        </p:spPr>
        <p:txBody>
          <a:bodyPr wrap="none" rtlCol="0">
            <a:spAutoFit/>
          </a:bodyPr>
          <a:lstStyle/>
          <a:p>
            <a:r>
              <a:rPr lang="en-US" sz="2000" b="1" dirty="0"/>
              <a:t>0x100C</a:t>
            </a:r>
          </a:p>
        </p:txBody>
      </p:sp>
      <p:sp>
        <p:nvSpPr>
          <p:cNvPr id="32" name="TextBox 31"/>
          <p:cNvSpPr txBox="1"/>
          <p:nvPr/>
        </p:nvSpPr>
        <p:spPr>
          <a:xfrm>
            <a:off x="4364176" y="3676962"/>
            <a:ext cx="925804" cy="400110"/>
          </a:xfrm>
          <a:prstGeom prst="rect">
            <a:avLst/>
          </a:prstGeom>
          <a:noFill/>
        </p:spPr>
        <p:txBody>
          <a:bodyPr wrap="none" rtlCol="0">
            <a:spAutoFit/>
          </a:bodyPr>
          <a:lstStyle/>
          <a:p>
            <a:r>
              <a:rPr lang="en-US" sz="2000" b="1" dirty="0" err="1"/>
              <a:t>arr</a:t>
            </a:r>
            <a:r>
              <a:rPr lang="en-US" sz="2000" b="1" dirty="0"/>
              <a:t>[3]:</a:t>
            </a:r>
          </a:p>
        </p:txBody>
      </p:sp>
      <p:sp>
        <p:nvSpPr>
          <p:cNvPr id="33" name="Rectangle 32"/>
          <p:cNvSpPr/>
          <p:nvPr/>
        </p:nvSpPr>
        <p:spPr>
          <a:xfrm>
            <a:off x="3159613" y="3733001"/>
            <a:ext cx="954233" cy="400110"/>
          </a:xfrm>
          <a:prstGeom prst="rect">
            <a:avLst/>
          </a:prstGeom>
        </p:spPr>
        <p:txBody>
          <a:bodyPr wrap="none">
            <a:spAutoFit/>
          </a:bodyPr>
          <a:lstStyle/>
          <a:p>
            <a:r>
              <a:rPr lang="en-GB" sz="2000" b="1" dirty="0">
                <a:latin typeface="Courier"/>
                <a:cs typeface="Courier"/>
              </a:rPr>
              <a:t>arr+3</a:t>
            </a:r>
            <a:endParaRPr lang="en-US" sz="2000" dirty="0"/>
          </a:p>
        </p:txBody>
      </p:sp>
      <p:cxnSp>
        <p:nvCxnSpPr>
          <p:cNvPr id="34" name="Straight Arrow Connector 33"/>
          <p:cNvCxnSpPr>
            <a:stCxn id="33" idx="3"/>
          </p:cNvCxnSpPr>
          <p:nvPr/>
        </p:nvCxnSpPr>
        <p:spPr bwMode="auto">
          <a:xfrm>
            <a:off x="4113846" y="3933056"/>
            <a:ext cx="388100"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5" name="Rectangle 34"/>
          <p:cNvSpPr/>
          <p:nvPr/>
        </p:nvSpPr>
        <p:spPr>
          <a:xfrm>
            <a:off x="4319972" y="4797152"/>
            <a:ext cx="1415973" cy="400110"/>
          </a:xfrm>
          <a:prstGeom prst="rect">
            <a:avLst/>
          </a:prstGeom>
        </p:spPr>
        <p:txBody>
          <a:bodyPr wrap="none">
            <a:spAutoFit/>
          </a:bodyPr>
          <a:lstStyle/>
          <a:p>
            <a:r>
              <a:rPr lang="en-GB" sz="2000" b="1" dirty="0">
                <a:solidFill>
                  <a:srgbClr val="FF0000"/>
                </a:solidFill>
                <a:latin typeface="Courier"/>
                <a:cs typeface="Courier"/>
              </a:rPr>
              <a:t>*(arr+3)</a:t>
            </a:r>
            <a:endParaRPr lang="en-US" sz="2000" dirty="0">
              <a:solidFill>
                <a:srgbClr val="FF0000"/>
              </a:solidFill>
            </a:endParaRPr>
          </a:p>
        </p:txBody>
      </p:sp>
      <p:sp>
        <p:nvSpPr>
          <p:cNvPr id="4" name="Oval 3"/>
          <p:cNvSpPr/>
          <p:nvPr/>
        </p:nvSpPr>
        <p:spPr bwMode="auto">
          <a:xfrm>
            <a:off x="6840252" y="3681028"/>
            <a:ext cx="828092" cy="432048"/>
          </a:xfrm>
          <a:prstGeom prst="ellipse">
            <a:avLst/>
          </a:prstGeom>
          <a:noFill/>
          <a:ln w="28575"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6736" name="Rectangle 116735"/>
          <p:cNvSpPr/>
          <p:nvPr/>
        </p:nvSpPr>
        <p:spPr>
          <a:xfrm>
            <a:off x="-144524" y="4545124"/>
            <a:ext cx="4572000" cy="1348061"/>
          </a:xfrm>
          <a:prstGeom prst="rect">
            <a:avLst/>
          </a:prstGeom>
        </p:spPr>
        <p:txBody>
          <a:bodyPr>
            <a:spAutoFit/>
          </a:bodyPr>
          <a:lstStyle/>
          <a:p>
            <a:pPr lvl="1" algn="l"/>
            <a:r>
              <a:rPr lang="en-GB" sz="2400" b="1" dirty="0" err="1">
                <a:latin typeface="Courier"/>
                <a:cs typeface="Courier"/>
              </a:rPr>
              <a:t>arr</a:t>
            </a:r>
            <a:r>
              <a:rPr lang="en-GB" sz="2400" b="1" dirty="0">
                <a:latin typeface="Courier"/>
                <a:cs typeface="Courier"/>
              </a:rPr>
              <a:t> </a:t>
            </a:r>
            <a:r>
              <a:rPr lang="en-GB" sz="2400" dirty="0">
                <a:cs typeface="Courier"/>
              </a:rPr>
              <a:t>is a constant pointer</a:t>
            </a:r>
          </a:p>
          <a:p>
            <a:pPr lvl="1" algn="l"/>
            <a:r>
              <a:rPr lang="en-GB" sz="2400" dirty="0">
                <a:cs typeface="Courier"/>
                <a:sym typeface="Wingdings"/>
              </a:rPr>
              <a:t>		</a:t>
            </a:r>
          </a:p>
          <a:p>
            <a:pPr lvl="1" algn="l"/>
            <a:r>
              <a:rPr lang="en-GB" sz="2400" b="1" dirty="0" err="1">
                <a:latin typeface="Courier"/>
                <a:cs typeface="Courier"/>
              </a:rPr>
              <a:t>arr</a:t>
            </a:r>
            <a:r>
              <a:rPr lang="en-GB" sz="2400" b="1" dirty="0">
                <a:latin typeface="Courier"/>
                <a:cs typeface="Courier"/>
              </a:rPr>
              <a:t>++ </a:t>
            </a:r>
            <a:r>
              <a:rPr lang="en-GB" sz="2400" dirty="0">
                <a:cs typeface="Courier"/>
              </a:rPr>
              <a:t>is not allowed</a:t>
            </a:r>
            <a:endParaRPr lang="en-GB" sz="2400" dirty="0"/>
          </a:p>
        </p:txBody>
      </p:sp>
      <p:sp>
        <p:nvSpPr>
          <p:cNvPr id="116739" name="Rectangle 116738"/>
          <p:cNvSpPr/>
          <p:nvPr/>
        </p:nvSpPr>
        <p:spPr bwMode="auto">
          <a:xfrm>
            <a:off x="215516" y="4437112"/>
            <a:ext cx="3852428" cy="1656184"/>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0" name="TextBox 39"/>
          <p:cNvSpPr txBox="1"/>
          <p:nvPr/>
        </p:nvSpPr>
        <p:spPr>
          <a:xfrm>
            <a:off x="5079653" y="3356992"/>
            <a:ext cx="1040519" cy="400110"/>
          </a:xfrm>
          <a:prstGeom prst="rect">
            <a:avLst/>
          </a:prstGeom>
          <a:noFill/>
        </p:spPr>
        <p:txBody>
          <a:bodyPr wrap="none" rtlCol="0">
            <a:spAutoFit/>
          </a:bodyPr>
          <a:lstStyle/>
          <a:p>
            <a:r>
              <a:rPr lang="en-US" sz="2000" b="1" dirty="0"/>
              <a:t>0x1008</a:t>
            </a:r>
          </a:p>
        </p:txBody>
      </p:sp>
      <p:sp>
        <p:nvSpPr>
          <p:cNvPr id="41" name="TextBox 40"/>
          <p:cNvSpPr txBox="1"/>
          <p:nvPr/>
        </p:nvSpPr>
        <p:spPr>
          <a:xfrm>
            <a:off x="4367858" y="3320988"/>
            <a:ext cx="925804" cy="400110"/>
          </a:xfrm>
          <a:prstGeom prst="rect">
            <a:avLst/>
          </a:prstGeom>
          <a:noFill/>
        </p:spPr>
        <p:txBody>
          <a:bodyPr wrap="none" rtlCol="0">
            <a:spAutoFit/>
          </a:bodyPr>
          <a:lstStyle/>
          <a:p>
            <a:r>
              <a:rPr lang="en-US" sz="2000" b="1" dirty="0" err="1"/>
              <a:t>arr</a:t>
            </a:r>
            <a:r>
              <a:rPr lang="en-US" sz="2000" b="1" dirty="0"/>
              <a:t>[2]:</a:t>
            </a:r>
          </a:p>
        </p:txBody>
      </p:sp>
      <p:sp>
        <p:nvSpPr>
          <p:cNvPr id="3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52730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73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167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67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P spid="13" grpId="0"/>
      <p:bldP spid="14" grpId="0"/>
      <p:bldP spid="15" grpId="0"/>
      <p:bldP spid="16" grpId="0"/>
      <p:bldP spid="19" grpId="0"/>
      <p:bldP spid="20" grpId="0"/>
      <p:bldP spid="21" grpId="0"/>
      <p:bldP spid="22" grpId="0"/>
      <p:bldP spid="23" grpId="0"/>
      <p:bldP spid="24" grpId="0"/>
      <p:bldP spid="25" grpId="0"/>
      <p:bldP spid="26" grpId="0"/>
      <p:bldP spid="27" grpId="0"/>
      <p:bldP spid="28" grpId="0"/>
      <p:bldP spid="29" grpId="0"/>
      <p:bldP spid="31" grpId="0"/>
      <p:bldP spid="32" grpId="0"/>
      <p:bldP spid="33" grpId="0"/>
      <p:bldP spid="35" grpId="0"/>
      <p:bldP spid="4" grpId="0" animBg="1"/>
      <p:bldP spid="116736" grpId="0"/>
      <p:bldP spid="116739" grpId="0" animBg="1"/>
      <p:bldP spid="40" grpId="0"/>
      <p:bldP spid="41"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ea typeface="ＭＳ Ｐゴシック" charset="0"/>
                <a:cs typeface="ＭＳ Ｐゴシック" charset="0"/>
              </a:rPr>
              <a:t>Arrays</a:t>
            </a:r>
            <a:r>
              <a:rPr lang="fr-FR" sz="2800" dirty="0">
                <a:latin typeface="Arial" charset="0"/>
                <a:ea typeface="ＭＳ Ｐゴシック" charset="0"/>
                <a:cs typeface="ＭＳ Ｐゴシック" charset="0"/>
              </a:rPr>
              <a:t> and Pointers</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123</a:t>
            </a:fld>
            <a:endParaRPr lang="fr-FR" sz="1400">
              <a:solidFill>
                <a:srgbClr val="000208"/>
              </a:solidFill>
              <a:latin typeface="Times New Roman"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17219394"/>
              </p:ext>
            </p:extLst>
          </p:nvPr>
        </p:nvGraphicFramePr>
        <p:xfrm>
          <a:off x="6228184" y="2204864"/>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6624228" y="1736812"/>
            <a:ext cx="1184940" cy="400110"/>
          </a:xfrm>
          <a:prstGeom prst="rect">
            <a:avLst/>
          </a:prstGeom>
          <a:noFill/>
        </p:spPr>
        <p:txBody>
          <a:bodyPr wrap="none" rtlCol="0">
            <a:spAutoFit/>
          </a:bodyPr>
          <a:lstStyle/>
          <a:p>
            <a:r>
              <a:rPr lang="en-US" sz="2000" b="1" dirty="0"/>
              <a:t>Memory</a:t>
            </a:r>
          </a:p>
        </p:txBody>
      </p:sp>
      <p:sp>
        <p:nvSpPr>
          <p:cNvPr id="9" name="TextBox 8"/>
          <p:cNvSpPr txBox="1"/>
          <p:nvPr/>
        </p:nvSpPr>
        <p:spPr>
          <a:xfrm>
            <a:off x="5076259" y="2600908"/>
            <a:ext cx="1040519" cy="400110"/>
          </a:xfrm>
          <a:prstGeom prst="rect">
            <a:avLst/>
          </a:prstGeom>
          <a:noFill/>
        </p:spPr>
        <p:txBody>
          <a:bodyPr wrap="none" rtlCol="0">
            <a:spAutoFit/>
          </a:bodyPr>
          <a:lstStyle/>
          <a:p>
            <a:r>
              <a:rPr lang="en-US" sz="2000" b="1" dirty="0"/>
              <a:t>0x1000</a:t>
            </a:r>
          </a:p>
        </p:txBody>
      </p:sp>
      <p:sp>
        <p:nvSpPr>
          <p:cNvPr id="10" name="Rectangle 9"/>
          <p:cNvSpPr/>
          <p:nvPr/>
        </p:nvSpPr>
        <p:spPr>
          <a:xfrm>
            <a:off x="179512" y="1715224"/>
            <a:ext cx="2493366" cy="769441"/>
          </a:xfrm>
          <a:prstGeom prst="rect">
            <a:avLst/>
          </a:prstGeom>
        </p:spPr>
        <p:txBody>
          <a:bodyPr wrap="none">
            <a:spAutoFit/>
          </a:bodyPr>
          <a:lstStyle/>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arr</a:t>
            </a:r>
            <a:r>
              <a:rPr lang="en-GB" sz="2000" b="1" dirty="0">
                <a:latin typeface="Courier"/>
                <a:cs typeface="Courier"/>
              </a:rPr>
              <a:t>[10];</a:t>
            </a:r>
          </a:p>
          <a:p>
            <a:pPr algn="l"/>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ptr</a:t>
            </a:r>
            <a:r>
              <a:rPr lang="en-GB" sz="2000" b="1" dirty="0">
                <a:latin typeface="Courier"/>
                <a:cs typeface="Courier"/>
              </a:rPr>
              <a:t> = </a:t>
            </a:r>
            <a:r>
              <a:rPr lang="en-GB" sz="2000" b="1" dirty="0" err="1">
                <a:latin typeface="Courier"/>
                <a:cs typeface="Courier"/>
              </a:rPr>
              <a:t>arr</a:t>
            </a:r>
            <a:r>
              <a:rPr lang="en-GB" sz="2000" b="1" dirty="0">
                <a:latin typeface="Courier"/>
                <a:cs typeface="Courier"/>
              </a:rPr>
              <a:t>; </a:t>
            </a:r>
            <a:endParaRPr lang="en-US" sz="2000" dirty="0"/>
          </a:p>
        </p:txBody>
      </p:sp>
      <p:sp>
        <p:nvSpPr>
          <p:cNvPr id="11" name="TextBox 10"/>
          <p:cNvSpPr txBox="1"/>
          <p:nvPr/>
        </p:nvSpPr>
        <p:spPr>
          <a:xfrm>
            <a:off x="4364464" y="2564904"/>
            <a:ext cx="925804" cy="400110"/>
          </a:xfrm>
          <a:prstGeom prst="rect">
            <a:avLst/>
          </a:prstGeom>
          <a:noFill/>
        </p:spPr>
        <p:txBody>
          <a:bodyPr wrap="none" rtlCol="0">
            <a:spAutoFit/>
          </a:bodyPr>
          <a:lstStyle/>
          <a:p>
            <a:r>
              <a:rPr lang="en-US" sz="2000" b="1" dirty="0" err="1"/>
              <a:t>arr</a:t>
            </a:r>
            <a:r>
              <a:rPr lang="en-US" sz="2000" b="1" dirty="0"/>
              <a:t>[0]:</a:t>
            </a:r>
          </a:p>
        </p:txBody>
      </p:sp>
      <p:sp>
        <p:nvSpPr>
          <p:cNvPr id="12" name="Rectangle 11"/>
          <p:cNvSpPr/>
          <p:nvPr/>
        </p:nvSpPr>
        <p:spPr>
          <a:xfrm>
            <a:off x="7085680" y="2564904"/>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3" name="TextBox 12"/>
          <p:cNvSpPr txBox="1"/>
          <p:nvPr/>
        </p:nvSpPr>
        <p:spPr>
          <a:xfrm>
            <a:off x="5074293" y="3028890"/>
            <a:ext cx="1043876" cy="400110"/>
          </a:xfrm>
          <a:prstGeom prst="rect">
            <a:avLst/>
          </a:prstGeom>
          <a:noFill/>
        </p:spPr>
        <p:txBody>
          <a:bodyPr wrap="none" rtlCol="0">
            <a:spAutoFit/>
          </a:bodyPr>
          <a:lstStyle/>
          <a:p>
            <a:r>
              <a:rPr lang="en-US" sz="2000" b="1" dirty="0"/>
              <a:t>0x1004</a:t>
            </a:r>
          </a:p>
        </p:txBody>
      </p:sp>
      <p:sp>
        <p:nvSpPr>
          <p:cNvPr id="14" name="TextBox 13"/>
          <p:cNvSpPr txBox="1"/>
          <p:nvPr/>
        </p:nvSpPr>
        <p:spPr>
          <a:xfrm>
            <a:off x="4364176" y="2992886"/>
            <a:ext cx="925804" cy="400110"/>
          </a:xfrm>
          <a:prstGeom prst="rect">
            <a:avLst/>
          </a:prstGeom>
          <a:noFill/>
        </p:spPr>
        <p:txBody>
          <a:bodyPr wrap="none" rtlCol="0">
            <a:spAutoFit/>
          </a:bodyPr>
          <a:lstStyle/>
          <a:p>
            <a:r>
              <a:rPr lang="en-US" sz="2000" b="1" dirty="0" err="1"/>
              <a:t>arr</a:t>
            </a:r>
            <a:r>
              <a:rPr lang="en-US" sz="2000" b="1" dirty="0"/>
              <a:t>[1]:</a:t>
            </a:r>
          </a:p>
        </p:txBody>
      </p:sp>
      <p:sp>
        <p:nvSpPr>
          <p:cNvPr id="15" name="Rectangle 14"/>
          <p:cNvSpPr/>
          <p:nvPr/>
        </p:nvSpPr>
        <p:spPr>
          <a:xfrm>
            <a:off x="7085680" y="2992886"/>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6" name="TextBox 15"/>
          <p:cNvSpPr txBox="1"/>
          <p:nvPr/>
        </p:nvSpPr>
        <p:spPr>
          <a:xfrm>
            <a:off x="5075971" y="5981218"/>
            <a:ext cx="1040519" cy="400110"/>
          </a:xfrm>
          <a:prstGeom prst="rect">
            <a:avLst/>
          </a:prstGeom>
          <a:noFill/>
        </p:spPr>
        <p:txBody>
          <a:bodyPr wrap="none" rtlCol="0">
            <a:spAutoFit/>
          </a:bodyPr>
          <a:lstStyle/>
          <a:p>
            <a:r>
              <a:rPr lang="en-US" sz="2000" b="1" dirty="0"/>
              <a:t>0x1028</a:t>
            </a:r>
          </a:p>
        </p:txBody>
      </p:sp>
      <p:sp>
        <p:nvSpPr>
          <p:cNvPr id="19" name="TextBox 18"/>
          <p:cNvSpPr txBox="1"/>
          <p:nvPr/>
        </p:nvSpPr>
        <p:spPr>
          <a:xfrm>
            <a:off x="4364176" y="5985284"/>
            <a:ext cx="925804" cy="400110"/>
          </a:xfrm>
          <a:prstGeom prst="rect">
            <a:avLst/>
          </a:prstGeom>
          <a:noFill/>
        </p:spPr>
        <p:txBody>
          <a:bodyPr wrap="none" rtlCol="0">
            <a:spAutoFit/>
          </a:bodyPr>
          <a:lstStyle/>
          <a:p>
            <a:r>
              <a:rPr lang="en-US" sz="2000" b="1" dirty="0" err="1"/>
              <a:t>arr</a:t>
            </a:r>
            <a:r>
              <a:rPr lang="en-US" sz="2000" b="1" dirty="0"/>
              <a:t>[9]:</a:t>
            </a:r>
          </a:p>
        </p:txBody>
      </p:sp>
      <p:sp>
        <p:nvSpPr>
          <p:cNvPr id="20" name="Rectangle 19"/>
          <p:cNvSpPr/>
          <p:nvPr/>
        </p:nvSpPr>
        <p:spPr>
          <a:xfrm>
            <a:off x="7085680" y="5913276"/>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21" name="TextBox 20"/>
          <p:cNvSpPr txBox="1"/>
          <p:nvPr/>
        </p:nvSpPr>
        <p:spPr>
          <a:xfrm>
            <a:off x="5233406" y="4149080"/>
            <a:ext cx="441146" cy="400110"/>
          </a:xfrm>
          <a:prstGeom prst="rect">
            <a:avLst/>
          </a:prstGeom>
          <a:noFill/>
        </p:spPr>
        <p:txBody>
          <a:bodyPr wrap="none" rtlCol="0">
            <a:spAutoFit/>
          </a:bodyPr>
          <a:lstStyle/>
          <a:p>
            <a:r>
              <a:rPr lang="en-US" sz="2000" b="1" dirty="0"/>
              <a:t>…</a:t>
            </a:r>
          </a:p>
        </p:txBody>
      </p:sp>
      <p:sp>
        <p:nvSpPr>
          <p:cNvPr id="22" name="Rectangle 21"/>
          <p:cNvSpPr/>
          <p:nvPr/>
        </p:nvSpPr>
        <p:spPr>
          <a:xfrm>
            <a:off x="7085680" y="3352926"/>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23" name="Rectangle 22"/>
          <p:cNvSpPr/>
          <p:nvPr/>
        </p:nvSpPr>
        <p:spPr>
          <a:xfrm>
            <a:off x="7085680" y="3712966"/>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4" name="Rectangle 23"/>
          <p:cNvSpPr/>
          <p:nvPr/>
        </p:nvSpPr>
        <p:spPr>
          <a:xfrm>
            <a:off x="7085680" y="4000998"/>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5" name="Rectangle 24"/>
          <p:cNvSpPr/>
          <p:nvPr/>
        </p:nvSpPr>
        <p:spPr>
          <a:xfrm>
            <a:off x="7085680" y="4361038"/>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6" name="Rectangle 25"/>
          <p:cNvSpPr/>
          <p:nvPr/>
        </p:nvSpPr>
        <p:spPr>
          <a:xfrm>
            <a:off x="7085680" y="4721078"/>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7" name="Rectangle 26"/>
          <p:cNvSpPr/>
          <p:nvPr/>
        </p:nvSpPr>
        <p:spPr>
          <a:xfrm>
            <a:off x="7085680" y="5117122"/>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8" name="Rectangle 27"/>
          <p:cNvSpPr/>
          <p:nvPr/>
        </p:nvSpPr>
        <p:spPr>
          <a:xfrm>
            <a:off x="7085680" y="5513166"/>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9" name="Rectangle 28"/>
          <p:cNvSpPr/>
          <p:nvPr/>
        </p:nvSpPr>
        <p:spPr>
          <a:xfrm>
            <a:off x="3275856" y="2564904"/>
            <a:ext cx="646406" cy="400110"/>
          </a:xfrm>
          <a:prstGeom prst="rect">
            <a:avLst/>
          </a:prstGeom>
        </p:spPr>
        <p:txBody>
          <a:bodyPr wrap="none">
            <a:spAutoFit/>
          </a:bodyPr>
          <a:lstStyle/>
          <a:p>
            <a:r>
              <a:rPr lang="en-GB" sz="2000" b="1" dirty="0" err="1">
                <a:latin typeface="Courier"/>
                <a:cs typeface="Courier"/>
              </a:rPr>
              <a:t>arr</a:t>
            </a:r>
            <a:endParaRPr lang="en-US" sz="2000" dirty="0"/>
          </a:p>
        </p:txBody>
      </p:sp>
      <p:cxnSp>
        <p:nvCxnSpPr>
          <p:cNvPr id="3" name="Straight Arrow Connector 2"/>
          <p:cNvCxnSpPr>
            <a:stCxn id="29" idx="3"/>
            <a:endCxn id="11" idx="1"/>
          </p:cNvCxnSpPr>
          <p:nvPr/>
        </p:nvCxnSpPr>
        <p:spPr bwMode="auto">
          <a:xfrm>
            <a:off x="3922262" y="2764959"/>
            <a:ext cx="442202"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TextBox 30"/>
          <p:cNvSpPr txBox="1"/>
          <p:nvPr/>
        </p:nvSpPr>
        <p:spPr>
          <a:xfrm>
            <a:off x="5075971" y="3414584"/>
            <a:ext cx="1040519" cy="400110"/>
          </a:xfrm>
          <a:prstGeom prst="rect">
            <a:avLst/>
          </a:prstGeom>
          <a:noFill/>
        </p:spPr>
        <p:txBody>
          <a:bodyPr wrap="none" rtlCol="0">
            <a:spAutoFit/>
          </a:bodyPr>
          <a:lstStyle/>
          <a:p>
            <a:r>
              <a:rPr lang="en-US" sz="2000" b="1" dirty="0"/>
              <a:t>0x1008</a:t>
            </a:r>
          </a:p>
        </p:txBody>
      </p:sp>
      <p:sp>
        <p:nvSpPr>
          <p:cNvPr id="32" name="TextBox 31"/>
          <p:cNvSpPr txBox="1"/>
          <p:nvPr/>
        </p:nvSpPr>
        <p:spPr>
          <a:xfrm>
            <a:off x="4364176" y="3378580"/>
            <a:ext cx="925804" cy="400110"/>
          </a:xfrm>
          <a:prstGeom prst="rect">
            <a:avLst/>
          </a:prstGeom>
          <a:noFill/>
        </p:spPr>
        <p:txBody>
          <a:bodyPr wrap="none" rtlCol="0">
            <a:spAutoFit/>
          </a:bodyPr>
          <a:lstStyle/>
          <a:p>
            <a:r>
              <a:rPr lang="en-US" sz="2000" b="1" dirty="0" err="1"/>
              <a:t>arr</a:t>
            </a:r>
            <a:r>
              <a:rPr lang="en-US" sz="2000" b="1" dirty="0"/>
              <a:t>[2]:</a:t>
            </a:r>
          </a:p>
        </p:txBody>
      </p:sp>
      <p:sp>
        <p:nvSpPr>
          <p:cNvPr id="33" name="Rectangle 32"/>
          <p:cNvSpPr/>
          <p:nvPr/>
        </p:nvSpPr>
        <p:spPr>
          <a:xfrm>
            <a:off x="3023828" y="3434619"/>
            <a:ext cx="954233" cy="400110"/>
          </a:xfrm>
          <a:prstGeom prst="rect">
            <a:avLst/>
          </a:prstGeom>
        </p:spPr>
        <p:txBody>
          <a:bodyPr wrap="none">
            <a:spAutoFit/>
          </a:bodyPr>
          <a:lstStyle/>
          <a:p>
            <a:r>
              <a:rPr lang="en-GB" sz="2000" b="1" dirty="0" err="1">
                <a:latin typeface="Courier"/>
                <a:cs typeface="Courier"/>
              </a:rPr>
              <a:t>ptr</a:t>
            </a:r>
            <a:r>
              <a:rPr lang="en-GB" sz="2000" b="1" dirty="0">
                <a:latin typeface="Courier"/>
                <a:cs typeface="Courier"/>
              </a:rPr>
              <a:t>++</a:t>
            </a:r>
            <a:endParaRPr lang="en-US" sz="2000" dirty="0"/>
          </a:p>
        </p:txBody>
      </p:sp>
      <p:cxnSp>
        <p:nvCxnSpPr>
          <p:cNvPr id="34" name="Straight Arrow Connector 33"/>
          <p:cNvCxnSpPr>
            <a:stCxn id="33" idx="3"/>
          </p:cNvCxnSpPr>
          <p:nvPr/>
        </p:nvCxnSpPr>
        <p:spPr bwMode="auto">
          <a:xfrm>
            <a:off x="3978061" y="3634674"/>
            <a:ext cx="388100"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6" name="Rectangle 35"/>
          <p:cNvSpPr/>
          <p:nvPr/>
        </p:nvSpPr>
        <p:spPr>
          <a:xfrm>
            <a:off x="3275856" y="2082436"/>
            <a:ext cx="646406" cy="400110"/>
          </a:xfrm>
          <a:prstGeom prst="rect">
            <a:avLst/>
          </a:prstGeom>
        </p:spPr>
        <p:txBody>
          <a:bodyPr wrap="none">
            <a:spAutoFit/>
          </a:bodyPr>
          <a:lstStyle/>
          <a:p>
            <a:r>
              <a:rPr lang="en-GB" sz="2000" b="1" dirty="0" err="1">
                <a:latin typeface="Courier"/>
                <a:cs typeface="Courier"/>
              </a:rPr>
              <a:t>ptr</a:t>
            </a:r>
            <a:endParaRPr lang="en-US" sz="2000" dirty="0"/>
          </a:p>
        </p:txBody>
      </p:sp>
      <p:cxnSp>
        <p:nvCxnSpPr>
          <p:cNvPr id="37" name="Straight Arrow Connector 36"/>
          <p:cNvCxnSpPr>
            <a:stCxn id="36" idx="3"/>
            <a:endCxn id="11" idx="1"/>
          </p:cNvCxnSpPr>
          <p:nvPr/>
        </p:nvCxnSpPr>
        <p:spPr bwMode="auto">
          <a:xfrm>
            <a:off x="3922262" y="2282491"/>
            <a:ext cx="442202" cy="482468"/>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 name="Espace réservé du contenu 2"/>
          <p:cNvSpPr>
            <a:spLocks noGrp="1"/>
          </p:cNvSpPr>
          <p:nvPr>
            <p:ph idx="1"/>
          </p:nvPr>
        </p:nvSpPr>
        <p:spPr>
          <a:xfrm>
            <a:off x="215516" y="872716"/>
            <a:ext cx="8543292" cy="1254460"/>
          </a:xfrm>
        </p:spPr>
        <p:txBody>
          <a:bodyPr/>
          <a:lstStyle/>
          <a:p>
            <a:pPr marL="363538" lvl="1" indent="-363538">
              <a:buSzTx/>
              <a:buBlip>
                <a:blip r:embed="rId2"/>
              </a:buBlip>
            </a:pPr>
            <a:r>
              <a:rPr lang="en-GB" sz="2400" dirty="0">
                <a:latin typeface="Arial" charset="0"/>
              </a:rPr>
              <a:t>We can use a pointer to point to the array</a:t>
            </a:r>
            <a:endParaRPr lang="en-GB" dirty="0">
              <a:latin typeface="Arial" charset="0"/>
            </a:endParaRPr>
          </a:p>
        </p:txBody>
      </p:sp>
      <p:sp>
        <p:nvSpPr>
          <p:cNvPr id="41" name="Rectangle 40"/>
          <p:cNvSpPr/>
          <p:nvPr/>
        </p:nvSpPr>
        <p:spPr>
          <a:xfrm>
            <a:off x="3032059" y="3018540"/>
            <a:ext cx="954233" cy="400110"/>
          </a:xfrm>
          <a:prstGeom prst="rect">
            <a:avLst/>
          </a:prstGeom>
        </p:spPr>
        <p:txBody>
          <a:bodyPr wrap="none">
            <a:spAutoFit/>
          </a:bodyPr>
          <a:lstStyle/>
          <a:p>
            <a:r>
              <a:rPr lang="en-GB" sz="2000" b="1" dirty="0" err="1">
                <a:latin typeface="Courier"/>
                <a:cs typeface="Courier"/>
              </a:rPr>
              <a:t>ptr</a:t>
            </a:r>
            <a:r>
              <a:rPr lang="en-GB" sz="2000" b="1" dirty="0">
                <a:latin typeface="Courier"/>
                <a:cs typeface="Courier"/>
              </a:rPr>
              <a:t>++</a:t>
            </a:r>
            <a:endParaRPr lang="en-US" sz="2000" dirty="0"/>
          </a:p>
        </p:txBody>
      </p:sp>
      <p:cxnSp>
        <p:nvCxnSpPr>
          <p:cNvPr id="42" name="Straight Arrow Connector 41"/>
          <p:cNvCxnSpPr>
            <a:stCxn id="41" idx="3"/>
          </p:cNvCxnSpPr>
          <p:nvPr/>
        </p:nvCxnSpPr>
        <p:spPr bwMode="auto">
          <a:xfrm>
            <a:off x="3986292" y="3218595"/>
            <a:ext cx="388100"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3" name="TextBox 42"/>
          <p:cNvSpPr txBox="1"/>
          <p:nvPr/>
        </p:nvSpPr>
        <p:spPr>
          <a:xfrm>
            <a:off x="5062912" y="3786527"/>
            <a:ext cx="1083099" cy="400110"/>
          </a:xfrm>
          <a:prstGeom prst="rect">
            <a:avLst/>
          </a:prstGeom>
          <a:noFill/>
        </p:spPr>
        <p:txBody>
          <a:bodyPr wrap="none" rtlCol="0">
            <a:spAutoFit/>
          </a:bodyPr>
          <a:lstStyle/>
          <a:p>
            <a:r>
              <a:rPr lang="en-US" sz="2000" b="1" dirty="0"/>
              <a:t>0x100C</a:t>
            </a:r>
          </a:p>
        </p:txBody>
      </p:sp>
      <p:sp>
        <p:nvSpPr>
          <p:cNvPr id="44" name="TextBox 43"/>
          <p:cNvSpPr txBox="1"/>
          <p:nvPr/>
        </p:nvSpPr>
        <p:spPr>
          <a:xfrm>
            <a:off x="4372407" y="3750523"/>
            <a:ext cx="925804" cy="400110"/>
          </a:xfrm>
          <a:prstGeom prst="rect">
            <a:avLst/>
          </a:prstGeom>
          <a:noFill/>
        </p:spPr>
        <p:txBody>
          <a:bodyPr wrap="none" rtlCol="0">
            <a:spAutoFit/>
          </a:bodyPr>
          <a:lstStyle/>
          <a:p>
            <a:r>
              <a:rPr lang="en-US" sz="2000" b="1" dirty="0" err="1"/>
              <a:t>arr</a:t>
            </a:r>
            <a:r>
              <a:rPr lang="en-US" sz="2000" b="1" dirty="0"/>
              <a:t>[3]:</a:t>
            </a:r>
          </a:p>
        </p:txBody>
      </p:sp>
      <p:sp>
        <p:nvSpPr>
          <p:cNvPr id="45" name="Rectangle 44"/>
          <p:cNvSpPr/>
          <p:nvPr/>
        </p:nvSpPr>
        <p:spPr>
          <a:xfrm>
            <a:off x="3032059" y="3806562"/>
            <a:ext cx="954233" cy="400110"/>
          </a:xfrm>
          <a:prstGeom prst="rect">
            <a:avLst/>
          </a:prstGeom>
        </p:spPr>
        <p:txBody>
          <a:bodyPr wrap="none">
            <a:spAutoFit/>
          </a:bodyPr>
          <a:lstStyle/>
          <a:p>
            <a:r>
              <a:rPr lang="en-GB" sz="2000" b="1" dirty="0" err="1">
                <a:latin typeface="Courier"/>
                <a:cs typeface="Courier"/>
              </a:rPr>
              <a:t>ptr</a:t>
            </a:r>
            <a:r>
              <a:rPr lang="en-GB" sz="2000" b="1" dirty="0">
                <a:latin typeface="Courier"/>
                <a:cs typeface="Courier"/>
              </a:rPr>
              <a:t>++</a:t>
            </a:r>
            <a:endParaRPr lang="en-US" sz="2000" dirty="0"/>
          </a:p>
        </p:txBody>
      </p:sp>
      <p:cxnSp>
        <p:nvCxnSpPr>
          <p:cNvPr id="46" name="Straight Arrow Connector 45"/>
          <p:cNvCxnSpPr>
            <a:stCxn id="45" idx="3"/>
          </p:cNvCxnSpPr>
          <p:nvPr/>
        </p:nvCxnSpPr>
        <p:spPr bwMode="auto">
          <a:xfrm>
            <a:off x="3986292" y="4006617"/>
            <a:ext cx="388100"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7076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P spid="41" grpId="0"/>
      <p:bldP spid="4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ea typeface="ＭＳ Ｐゴシック" charset="0"/>
                <a:cs typeface="ＭＳ Ｐゴシック" charset="0"/>
              </a:rPr>
              <a:t>Arrays</a:t>
            </a:r>
            <a:r>
              <a:rPr lang="fr-FR" sz="2800" dirty="0">
                <a:latin typeface="Arial" charset="0"/>
                <a:ea typeface="ＭＳ Ｐゴシック" charset="0"/>
                <a:cs typeface="ＭＳ Ｐゴシック" charset="0"/>
              </a:rPr>
              <a:t> and Pointers</a:t>
            </a:r>
          </a:p>
        </p:txBody>
      </p:sp>
      <p:sp>
        <p:nvSpPr>
          <p:cNvPr id="116738" name="Espace réservé du contenu 2"/>
          <p:cNvSpPr>
            <a:spLocks noGrp="1"/>
          </p:cNvSpPr>
          <p:nvPr>
            <p:ph idx="1"/>
          </p:nvPr>
        </p:nvSpPr>
        <p:spPr>
          <a:xfrm>
            <a:off x="457200" y="914400"/>
            <a:ext cx="8543292" cy="5257800"/>
          </a:xfrm>
        </p:spPr>
        <p:txBody>
          <a:bodyPr/>
          <a:lstStyle/>
          <a:p>
            <a:r>
              <a:rPr lang="en-GB" dirty="0">
                <a:latin typeface="Arial" charset="0"/>
                <a:cs typeface="ＭＳ Ｐゴシック" charset="0"/>
              </a:rPr>
              <a:t>What is the difference ?</a:t>
            </a:r>
          </a:p>
          <a:p>
            <a:endParaRPr lang="en-GB" dirty="0">
              <a:latin typeface="Arial" charset="0"/>
              <a:cs typeface="ＭＳ Ｐゴシック" charset="0"/>
            </a:endParaRPr>
          </a:p>
          <a:p>
            <a:r>
              <a:rPr lang="en-GB" dirty="0">
                <a:latin typeface="Arial" charset="0"/>
              </a:rPr>
              <a:t>When we define an array:</a:t>
            </a:r>
          </a:p>
          <a:p>
            <a:pPr lvl="1"/>
            <a:r>
              <a:rPr lang="en-GB" dirty="0">
                <a:latin typeface="Arial" charset="0"/>
              </a:rPr>
              <a:t>We </a:t>
            </a:r>
            <a:r>
              <a:rPr lang="en-GB" b="1" dirty="0">
                <a:solidFill>
                  <a:srgbClr val="FF0000"/>
                </a:solidFill>
                <a:latin typeface="Arial" charset="0"/>
              </a:rPr>
              <a:t>reserve</a:t>
            </a:r>
            <a:r>
              <a:rPr lang="en-GB" dirty="0">
                <a:solidFill>
                  <a:srgbClr val="FF0000"/>
                </a:solidFill>
                <a:latin typeface="Arial" charset="0"/>
              </a:rPr>
              <a:t> </a:t>
            </a:r>
            <a:r>
              <a:rPr lang="en-GB" b="1" dirty="0">
                <a:solidFill>
                  <a:srgbClr val="FF0000"/>
                </a:solidFill>
                <a:latin typeface="Arial" charset="0"/>
              </a:rPr>
              <a:t>one</a:t>
            </a:r>
            <a:r>
              <a:rPr lang="en-GB" dirty="0">
                <a:solidFill>
                  <a:srgbClr val="FF0000"/>
                </a:solidFill>
                <a:latin typeface="Arial" charset="0"/>
              </a:rPr>
              <a:t> </a:t>
            </a:r>
            <a:r>
              <a:rPr lang="en-GB" b="1" dirty="0">
                <a:solidFill>
                  <a:srgbClr val="FF0000"/>
                </a:solidFill>
                <a:latin typeface="Arial" charset="0"/>
              </a:rPr>
              <a:t>memory</a:t>
            </a:r>
            <a:r>
              <a:rPr lang="en-GB" dirty="0">
                <a:solidFill>
                  <a:srgbClr val="FF0000"/>
                </a:solidFill>
                <a:latin typeface="Arial" charset="0"/>
              </a:rPr>
              <a:t> </a:t>
            </a:r>
            <a:r>
              <a:rPr lang="en-GB" b="1" dirty="0">
                <a:solidFill>
                  <a:srgbClr val="FF0000"/>
                </a:solidFill>
                <a:latin typeface="Arial" charset="0"/>
              </a:rPr>
              <a:t>block</a:t>
            </a:r>
            <a:r>
              <a:rPr lang="en-GB" dirty="0">
                <a:solidFill>
                  <a:srgbClr val="FF0000"/>
                </a:solidFill>
                <a:latin typeface="Arial" charset="0"/>
              </a:rPr>
              <a:t> </a:t>
            </a:r>
            <a:r>
              <a:rPr lang="en-GB" dirty="0">
                <a:latin typeface="Arial" charset="0"/>
              </a:rPr>
              <a:t>equal to the size required to store the values of </a:t>
            </a:r>
            <a:r>
              <a:rPr lang="en-GB" b="1" dirty="0">
                <a:solidFill>
                  <a:srgbClr val="FF0000"/>
                </a:solidFill>
                <a:latin typeface="Arial" charset="0"/>
              </a:rPr>
              <a:t>all the array elements</a:t>
            </a:r>
          </a:p>
          <a:p>
            <a:pPr lvl="1"/>
            <a:r>
              <a:rPr lang="en-GB" dirty="0">
                <a:solidFill>
                  <a:schemeClr val="tx1"/>
                </a:solidFill>
                <a:latin typeface="Arial" charset="0"/>
              </a:rPr>
              <a:t>The array name is a constant pointer, its value cannot be modified</a:t>
            </a:r>
          </a:p>
          <a:p>
            <a:pPr lvl="1"/>
            <a:endParaRPr lang="en-GB" dirty="0">
              <a:latin typeface="Arial" charset="0"/>
            </a:endParaRPr>
          </a:p>
          <a:p>
            <a:r>
              <a:rPr lang="en-GB" dirty="0">
                <a:latin typeface="Arial" charset="0"/>
              </a:rPr>
              <a:t>When we define a pointer:</a:t>
            </a:r>
          </a:p>
          <a:p>
            <a:pPr lvl="1"/>
            <a:r>
              <a:rPr lang="en-GB" dirty="0">
                <a:latin typeface="Arial" charset="0"/>
              </a:rPr>
              <a:t>we do </a:t>
            </a:r>
            <a:r>
              <a:rPr lang="en-GB" b="1" dirty="0">
                <a:solidFill>
                  <a:srgbClr val="FF0000"/>
                </a:solidFill>
                <a:latin typeface="Arial" charset="0"/>
              </a:rPr>
              <a:t>NOT reserve </a:t>
            </a:r>
            <a:r>
              <a:rPr lang="en-GB" dirty="0">
                <a:solidFill>
                  <a:schemeClr val="tx1"/>
                </a:solidFill>
                <a:latin typeface="Arial" charset="0"/>
              </a:rPr>
              <a:t>the memory where we will store the values of </a:t>
            </a:r>
            <a:r>
              <a:rPr lang="en-GB" dirty="0">
                <a:solidFill>
                  <a:srgbClr val="FF0000"/>
                </a:solidFill>
                <a:latin typeface="Arial" charset="0"/>
              </a:rPr>
              <a:t>the </a:t>
            </a:r>
            <a:r>
              <a:rPr lang="en-GB" b="1" dirty="0">
                <a:solidFill>
                  <a:srgbClr val="FF0000"/>
                </a:solidFill>
                <a:latin typeface="Arial" charset="0"/>
              </a:rPr>
              <a:t>array elements</a:t>
            </a:r>
            <a:r>
              <a:rPr lang="en-GB" dirty="0">
                <a:solidFill>
                  <a:srgbClr val="FF0000"/>
                </a:solidFill>
                <a:latin typeface="Arial" charset="0"/>
              </a:rPr>
              <a:t>, </a:t>
            </a:r>
          </a:p>
          <a:p>
            <a:pPr lvl="1"/>
            <a:r>
              <a:rPr lang="en-GB" dirty="0">
                <a:latin typeface="Arial" charset="0"/>
              </a:rPr>
              <a:t>We reserve </a:t>
            </a:r>
            <a:r>
              <a:rPr lang="en-GB" b="1" dirty="0">
                <a:solidFill>
                  <a:srgbClr val="FF0000"/>
                </a:solidFill>
                <a:latin typeface="Arial" charset="0"/>
              </a:rPr>
              <a:t>ONLY the memory</a:t>
            </a:r>
            <a:r>
              <a:rPr lang="en-GB" dirty="0">
                <a:solidFill>
                  <a:srgbClr val="FF0000"/>
                </a:solidFill>
                <a:latin typeface="Arial" charset="0"/>
              </a:rPr>
              <a:t>, </a:t>
            </a:r>
            <a:r>
              <a:rPr lang="en-GB" dirty="0">
                <a:latin typeface="Arial" charset="0"/>
              </a:rPr>
              <a:t>where we will store the </a:t>
            </a:r>
            <a:r>
              <a:rPr lang="en-GB" b="1" dirty="0">
                <a:solidFill>
                  <a:srgbClr val="FF0000"/>
                </a:solidFill>
                <a:latin typeface="Arial" charset="0"/>
              </a:rPr>
              <a:t>pointer</a:t>
            </a:r>
          </a:p>
          <a:p>
            <a:pPr lvl="1"/>
            <a:r>
              <a:rPr lang="en-GB" dirty="0">
                <a:solidFill>
                  <a:srgbClr val="000000"/>
                </a:solidFill>
                <a:latin typeface="Arial" charset="0"/>
              </a:rPr>
              <a:t>The pointer is a variable, its value can be modified</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124</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5915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73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673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673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73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673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673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673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a:xfrm>
            <a:off x="304800" y="152400"/>
            <a:ext cx="8551676" cy="533400"/>
          </a:xfrm>
        </p:spPr>
        <p:txBody>
          <a:bodyPr/>
          <a:lstStyle/>
          <a:p>
            <a:r>
              <a:rPr lang="en-US" sz="2800" dirty="0"/>
              <a:t>An array of pointers</a:t>
            </a:r>
            <a:endParaRPr lang="fr-FR" sz="2800" dirty="0">
              <a:latin typeface="Arial" charset="0"/>
              <a:ea typeface="ＭＳ Ｐゴシック" charset="0"/>
              <a:cs typeface="ＭＳ Ｐゴシック" charset="0"/>
            </a:endParaRPr>
          </a:p>
        </p:txBody>
      </p:sp>
      <p:sp>
        <p:nvSpPr>
          <p:cNvPr id="18" name="Espace réservé du contenu 2"/>
          <p:cNvSpPr txBox="1">
            <a:spLocks/>
          </p:cNvSpPr>
          <p:nvPr/>
        </p:nvSpPr>
        <p:spPr bwMode="auto">
          <a:xfrm>
            <a:off x="143508" y="944724"/>
            <a:ext cx="9000492" cy="1153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The </a:t>
            </a:r>
            <a:r>
              <a:rPr lang="en-US" b="1" dirty="0">
                <a:latin typeface="Courier"/>
                <a:cs typeface="Courier"/>
              </a:rPr>
              <a:t>type</a:t>
            </a:r>
            <a:r>
              <a:rPr lang="en-US" dirty="0"/>
              <a:t> of the elements of an array can be also pointers, that is of type </a:t>
            </a:r>
            <a:r>
              <a:rPr lang="en-US" b="1" dirty="0">
                <a:solidFill>
                  <a:srgbClr val="000000"/>
                </a:solidFill>
                <a:latin typeface="Courier"/>
                <a:cs typeface="Courier"/>
              </a:rPr>
              <a:t>type*</a:t>
            </a:r>
            <a:endParaRPr lang="en-US" dirty="0"/>
          </a:p>
          <a:p>
            <a:endParaRPr lang="en-US" sz="800" dirty="0"/>
          </a:p>
          <a:p>
            <a:r>
              <a:rPr lang="en-US" dirty="0"/>
              <a:t>Example: </a:t>
            </a:r>
          </a:p>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[10]; </a:t>
            </a:r>
          </a:p>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ptr</a:t>
            </a:r>
            <a:r>
              <a:rPr lang="en-US" sz="2000" b="1" dirty="0">
                <a:latin typeface="Courier"/>
                <a:cs typeface="Courier"/>
              </a:rPr>
              <a:t> = </a:t>
            </a:r>
            <a:r>
              <a:rPr lang="en-US" sz="2000" b="1" dirty="0" err="1">
                <a:latin typeface="Courier"/>
                <a:cs typeface="Courier"/>
              </a:rPr>
              <a:t>arr</a:t>
            </a:r>
            <a:r>
              <a:rPr lang="en-US" sz="2000" b="1" dirty="0">
                <a:latin typeface="Courier"/>
                <a:cs typeface="Courier"/>
              </a:rPr>
              <a:t>;</a:t>
            </a:r>
          </a:p>
          <a:p>
            <a:pPr marL="0" indent="0">
              <a:buNone/>
            </a:pPr>
            <a:r>
              <a:rPr lang="en-US" sz="2000" b="1" dirty="0">
                <a:latin typeface="Courier"/>
                <a:cs typeface="Courier"/>
              </a:rPr>
              <a:t> </a:t>
            </a:r>
            <a:endParaRPr lang="en-US" b="1" dirty="0">
              <a:latin typeface="Courier"/>
              <a:cs typeface="Courier"/>
            </a:endParaRPr>
          </a:p>
          <a:p>
            <a:r>
              <a:rPr lang="en-US" dirty="0">
                <a:cs typeface="Courier"/>
              </a:rPr>
              <a:t>An element in the array </a:t>
            </a:r>
            <a:r>
              <a:rPr lang="en-US" b="1" dirty="0" err="1">
                <a:latin typeface="Courier"/>
                <a:cs typeface="Courier"/>
              </a:rPr>
              <a:t>arr</a:t>
            </a:r>
            <a:r>
              <a:rPr lang="en-US" dirty="0">
                <a:cs typeface="Courier"/>
              </a:rPr>
              <a:t> (e.g. </a:t>
            </a:r>
            <a:r>
              <a:rPr lang="en-US" b="1" dirty="0" err="1">
                <a:latin typeface="Courier"/>
                <a:cs typeface="Courier"/>
              </a:rPr>
              <a:t>arr</a:t>
            </a:r>
            <a:r>
              <a:rPr lang="en-US" b="1" dirty="0">
                <a:latin typeface="Courier"/>
                <a:cs typeface="Courier"/>
              </a:rPr>
              <a:t>[0]</a:t>
            </a:r>
            <a:r>
              <a:rPr lang="en-US" dirty="0">
                <a:cs typeface="Courier"/>
              </a:rPr>
              <a:t>) is of </a:t>
            </a:r>
            <a:r>
              <a:rPr lang="en-US" dirty="0"/>
              <a:t>type </a:t>
            </a:r>
            <a:r>
              <a:rPr lang="en-US" b="1" dirty="0" err="1">
                <a:latin typeface="Courier"/>
                <a:cs typeface="Courier"/>
              </a:rPr>
              <a:t>int</a:t>
            </a:r>
            <a:r>
              <a:rPr lang="en-US" b="1" dirty="0">
                <a:latin typeface="Courier"/>
                <a:cs typeface="Courier"/>
              </a:rPr>
              <a:t>*</a:t>
            </a:r>
            <a:r>
              <a:rPr lang="en-US" dirty="0"/>
              <a:t> </a:t>
            </a:r>
          </a:p>
          <a:p>
            <a:r>
              <a:rPr lang="en-US" dirty="0">
                <a:cs typeface="Courier"/>
              </a:rPr>
              <a:t>The constant pointer </a:t>
            </a:r>
            <a:r>
              <a:rPr lang="en-US" b="1" dirty="0" err="1">
                <a:latin typeface="Courier"/>
                <a:cs typeface="Courier"/>
              </a:rPr>
              <a:t>arr</a:t>
            </a:r>
            <a:r>
              <a:rPr lang="en-US" dirty="0">
                <a:cs typeface="Courier"/>
              </a:rPr>
              <a:t> is the address of the first element of the array</a:t>
            </a:r>
          </a:p>
          <a:p>
            <a:r>
              <a:rPr lang="en-US" dirty="0">
                <a:cs typeface="Courier"/>
              </a:rPr>
              <a:t>Hence, the </a:t>
            </a:r>
            <a:r>
              <a:rPr lang="en-US" b="1" dirty="0" err="1">
                <a:latin typeface="Courier"/>
                <a:cs typeface="Courier"/>
              </a:rPr>
              <a:t>ptr</a:t>
            </a:r>
            <a:r>
              <a:rPr lang="en-US" dirty="0">
                <a:cs typeface="Courier"/>
              </a:rPr>
              <a:t> is a pointer to a pointer of integers</a:t>
            </a:r>
          </a:p>
          <a:p>
            <a:pPr marL="542925" lvl="1" indent="0">
              <a:buNone/>
            </a:pPr>
            <a:r>
              <a:rPr lang="en-US" sz="2400" b="1" dirty="0" err="1">
                <a:latin typeface="Courier"/>
                <a:cs typeface="Courier"/>
              </a:rPr>
              <a:t>ptr+i</a:t>
            </a:r>
            <a:r>
              <a:rPr lang="en-US" sz="2400" b="1" dirty="0">
                <a:latin typeface="Courier"/>
                <a:cs typeface="Courier"/>
              </a:rPr>
              <a:t> = </a:t>
            </a:r>
            <a:r>
              <a:rPr lang="en-US" sz="2400" b="1" dirty="0" err="1">
                <a:latin typeface="Courier"/>
                <a:cs typeface="Courier"/>
              </a:rPr>
              <a:t>ptr</a:t>
            </a:r>
            <a:r>
              <a:rPr lang="en-US" sz="2400" b="1" dirty="0">
                <a:latin typeface="Courier"/>
                <a:cs typeface="Courier"/>
              </a:rPr>
              <a:t> + </a:t>
            </a:r>
            <a:r>
              <a:rPr lang="en-US" sz="2400" b="1" dirty="0" err="1">
                <a:latin typeface="Courier"/>
                <a:cs typeface="Courier"/>
              </a:rPr>
              <a:t>sizeof</a:t>
            </a:r>
            <a:r>
              <a:rPr lang="en-US" sz="2400" b="1" dirty="0">
                <a:latin typeface="Courier"/>
                <a:cs typeface="Courier"/>
              </a:rPr>
              <a:t>(</a:t>
            </a:r>
            <a:r>
              <a:rPr lang="en-US" sz="2400" b="1" dirty="0" err="1">
                <a:latin typeface="Courier"/>
                <a:cs typeface="Courier"/>
              </a:rPr>
              <a:t>int</a:t>
            </a:r>
            <a:r>
              <a:rPr lang="en-US" sz="2400" b="1" dirty="0">
                <a:latin typeface="Courier"/>
                <a:cs typeface="Courier"/>
              </a:rPr>
              <a:t>*) * </a:t>
            </a:r>
            <a:r>
              <a:rPr lang="en-US" sz="2400" b="1" dirty="0" err="1">
                <a:latin typeface="Courier"/>
                <a:cs typeface="Courier"/>
              </a:rPr>
              <a:t>i</a:t>
            </a:r>
            <a:r>
              <a:rPr lang="en-US" sz="2400" b="1" dirty="0">
                <a:latin typeface="Courier"/>
                <a:cs typeface="Courier"/>
              </a:rPr>
              <a:t> </a:t>
            </a:r>
          </a:p>
          <a:p>
            <a:pPr marL="0" indent="0">
              <a:buNone/>
            </a:pPr>
            <a:r>
              <a:rPr lang="en-US" sz="2000" b="1" dirty="0">
                <a:latin typeface="Courier"/>
                <a:cs typeface="Courier"/>
              </a:rPr>
              <a:t>			</a:t>
            </a:r>
            <a:endParaRPr lang="en-US" sz="2000" dirty="0">
              <a:cs typeface="Courier"/>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125</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67467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ea typeface="ＭＳ Ｐゴシック" charset="0"/>
                <a:cs typeface="ＭＳ Ｐゴシック" charset="0"/>
              </a:rPr>
              <a:t>An </a:t>
            </a:r>
            <a:r>
              <a:rPr lang="fr-FR" sz="2800" dirty="0" err="1">
                <a:latin typeface="Arial" charset="0"/>
                <a:cs typeface="ＭＳ Ｐゴシック" charset="0"/>
              </a:rPr>
              <a:t>a</a:t>
            </a:r>
            <a:r>
              <a:rPr lang="fr-FR" sz="2800" dirty="0" err="1">
                <a:latin typeface="Arial" charset="0"/>
                <a:ea typeface="ＭＳ Ｐゴシック" charset="0"/>
                <a:cs typeface="ＭＳ Ｐゴシック" charset="0"/>
              </a:rPr>
              <a:t>rray</a:t>
            </a:r>
            <a:r>
              <a:rPr lang="fr-FR" sz="2800" dirty="0">
                <a:latin typeface="Arial" charset="0"/>
                <a:ea typeface="ＭＳ Ｐゴシック" charset="0"/>
                <a:cs typeface="ＭＳ Ｐゴシック" charset="0"/>
              </a:rPr>
              <a:t> of </a:t>
            </a:r>
            <a:r>
              <a:rPr lang="fr-FR" sz="2800" dirty="0" err="1">
                <a:latin typeface="Arial" charset="0"/>
                <a:ea typeface="ＭＳ Ｐゴシック" charset="0"/>
                <a:cs typeface="ＭＳ Ｐゴシック" charset="0"/>
              </a:rPr>
              <a:t>characters</a:t>
            </a:r>
            <a:r>
              <a:rPr lang="fr-FR" sz="2800" dirty="0">
                <a:latin typeface="Arial" charset="0"/>
                <a:ea typeface="ＭＳ Ｐゴシック" charset="0"/>
                <a:cs typeface="ＭＳ Ｐゴシック" charset="0"/>
              </a:rPr>
              <a:t>: String</a:t>
            </a:r>
          </a:p>
        </p:txBody>
      </p:sp>
      <p:sp>
        <p:nvSpPr>
          <p:cNvPr id="92162" name="Espace réservé du contenu 2"/>
          <p:cNvSpPr>
            <a:spLocks noGrp="1"/>
          </p:cNvSpPr>
          <p:nvPr>
            <p:ph idx="1"/>
          </p:nvPr>
        </p:nvSpPr>
        <p:spPr>
          <a:xfrm>
            <a:off x="287524" y="872716"/>
            <a:ext cx="8856476" cy="4537075"/>
          </a:xfrm>
        </p:spPr>
        <p:txBody>
          <a:bodyPr/>
          <a:lstStyle/>
          <a:p>
            <a:r>
              <a:rPr lang="en-GB" dirty="0">
                <a:latin typeface="Arial" charset="0"/>
                <a:cs typeface="ＭＳ Ｐゴシック" charset="0"/>
              </a:rPr>
              <a:t>There is </a:t>
            </a:r>
            <a:r>
              <a:rPr lang="en-GB" b="1" dirty="0">
                <a:solidFill>
                  <a:srgbClr val="FF0000"/>
                </a:solidFill>
                <a:latin typeface="Arial" charset="0"/>
                <a:cs typeface="ＭＳ Ｐゴシック" charset="0"/>
              </a:rPr>
              <a:t>no string type</a:t>
            </a:r>
            <a:r>
              <a:rPr lang="en-GB" dirty="0">
                <a:solidFill>
                  <a:srgbClr val="FF0000"/>
                </a:solidFill>
                <a:latin typeface="Arial" charset="0"/>
                <a:cs typeface="ＭＳ Ｐゴシック" charset="0"/>
              </a:rPr>
              <a:t> </a:t>
            </a:r>
            <a:r>
              <a:rPr lang="en-GB" dirty="0">
                <a:latin typeface="Arial" charset="0"/>
                <a:cs typeface="ＭＳ Ｐゴシック" charset="0"/>
              </a:rPr>
              <a:t>in C</a:t>
            </a:r>
          </a:p>
          <a:p>
            <a:endParaRPr lang="en-GB" sz="1000" dirty="0">
              <a:latin typeface="Arial" charset="0"/>
              <a:cs typeface="ＭＳ Ｐゴシック" charset="0"/>
            </a:endParaRPr>
          </a:p>
          <a:p>
            <a:r>
              <a:rPr lang="en-GB" dirty="0">
                <a:latin typeface="Arial" charset="0"/>
                <a:cs typeface="ＭＳ Ｐゴシック" charset="0"/>
              </a:rPr>
              <a:t>A string is an array of characters finishing with </a:t>
            </a:r>
            <a:r>
              <a:rPr lang="en-GB" b="1" dirty="0">
                <a:latin typeface="Courier"/>
                <a:cs typeface="Courier"/>
              </a:rPr>
              <a:t>‘\0’</a:t>
            </a:r>
          </a:p>
          <a:p>
            <a:pPr marL="0" indent="0">
              <a:buNone/>
            </a:pPr>
            <a:r>
              <a:rPr lang="en-GB" sz="2000" b="1" dirty="0">
                <a:latin typeface="Courier"/>
                <a:cs typeface="Courier"/>
              </a:rPr>
              <a:t>  char string[SIZE]</a:t>
            </a:r>
          </a:p>
          <a:p>
            <a:pPr marL="0" indent="0">
              <a:buNone/>
            </a:pPr>
            <a:endParaRPr lang="en-GB" sz="800" dirty="0">
              <a:latin typeface="Arial" charset="0"/>
            </a:endParaRPr>
          </a:p>
          <a:p>
            <a:r>
              <a:rPr lang="en-GB" dirty="0">
                <a:latin typeface="Arial" charset="0"/>
              </a:rPr>
              <a:t>The </a:t>
            </a:r>
            <a:r>
              <a:rPr lang="en-GB" b="1" dirty="0">
                <a:latin typeface="Courier"/>
                <a:cs typeface="Courier"/>
              </a:rPr>
              <a:t>SIZE </a:t>
            </a:r>
            <a:r>
              <a:rPr lang="en-GB" dirty="0">
                <a:latin typeface="Arial" charset="0"/>
              </a:rPr>
              <a:t>must be large enough to hold this additional byte! </a:t>
            </a:r>
          </a:p>
          <a:p>
            <a:pPr lvl="1"/>
            <a:r>
              <a:rPr lang="en-GB" dirty="0">
                <a:latin typeface="Arial" charset="0"/>
              </a:rPr>
              <a:t>Compiler puts the </a:t>
            </a:r>
            <a:r>
              <a:rPr lang="en-GB" b="1" dirty="0">
                <a:latin typeface="Courier"/>
                <a:cs typeface="Courier"/>
              </a:rPr>
              <a:t>‘\0’</a:t>
            </a:r>
            <a:r>
              <a:rPr lang="en-GB" b="1" dirty="0">
                <a:cs typeface="Courier"/>
              </a:rPr>
              <a:t> </a:t>
            </a:r>
            <a:r>
              <a:rPr lang="en-GB" dirty="0">
                <a:cs typeface="Courier"/>
              </a:rPr>
              <a:t>character at the first empty element of the array</a:t>
            </a:r>
            <a:endParaRPr lang="en-GB" dirty="0">
              <a:latin typeface="Arial" charset="0"/>
            </a:endParaRPr>
          </a:p>
          <a:p>
            <a:pPr lvl="1"/>
            <a:r>
              <a:rPr lang="en-GB" dirty="0">
                <a:latin typeface="Arial" charset="0"/>
              </a:rPr>
              <a:t>No automatic array bound checking! </a:t>
            </a:r>
          </a:p>
          <a:p>
            <a:pPr lvl="2"/>
            <a:r>
              <a:rPr lang="en-GB" dirty="0">
                <a:latin typeface="Arial" charset="0"/>
              </a:rPr>
              <a:t>If number of characters and </a:t>
            </a:r>
            <a:r>
              <a:rPr lang="en-GB" b="1" dirty="0">
                <a:latin typeface="Courier"/>
                <a:cs typeface="Courier"/>
              </a:rPr>
              <a:t>‘\0’</a:t>
            </a:r>
            <a:r>
              <a:rPr lang="en-GB" dirty="0">
                <a:latin typeface="Arial" charset="0"/>
              </a:rPr>
              <a:t>&gt; array maximum size </a:t>
            </a:r>
            <a:endParaRPr lang="en-GB" dirty="0">
              <a:latin typeface="Arial" charset="0"/>
              <a:sym typeface="Wingdings"/>
            </a:endParaRPr>
          </a:p>
          <a:p>
            <a:pPr lvl="3"/>
            <a:r>
              <a:rPr lang="en-GB" sz="2000" b="1" dirty="0">
                <a:solidFill>
                  <a:srgbClr val="FF0000"/>
                </a:solidFill>
                <a:latin typeface="Arial" charset="0"/>
              </a:rPr>
              <a:t>UNDEFINED BEHAVIOUR</a:t>
            </a:r>
            <a:endParaRPr lang="en-GB" sz="2000" dirty="0"/>
          </a:p>
          <a:p>
            <a:r>
              <a:rPr lang="en-GB" dirty="0">
                <a:latin typeface="Arial" charset="0"/>
              </a:rPr>
              <a:t>Responsibility of the programmer: </a:t>
            </a:r>
          </a:p>
          <a:p>
            <a:pPr lvl="1"/>
            <a:r>
              <a:rPr lang="en-GB" dirty="0">
                <a:latin typeface="Arial" charset="0"/>
              </a:rPr>
              <a:t>content of the string &lt;= size reserved in the array</a:t>
            </a:r>
          </a:p>
          <a:p>
            <a:pPr marL="0" indent="0">
              <a:buNone/>
            </a:pPr>
            <a:endParaRPr lang="en-GB" b="1" dirty="0">
              <a:solidFill>
                <a:srgbClr val="FF0000"/>
              </a:solidFill>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126</a:t>
            </a:fld>
            <a:endParaRPr lang="fr-FR" sz="1400">
              <a:solidFill>
                <a:srgbClr val="000208"/>
              </a:solidFill>
              <a:latin typeface="Times New Roman" charset="0"/>
            </a:endParaRPr>
          </a:p>
        </p:txBody>
      </p:sp>
      <p:sp>
        <p:nvSpPr>
          <p:cNvPr id="2" name="Rectangle 1"/>
          <p:cNvSpPr/>
          <p:nvPr/>
        </p:nvSpPr>
        <p:spPr bwMode="auto">
          <a:xfrm>
            <a:off x="683568" y="5481228"/>
            <a:ext cx="4896544" cy="972108"/>
          </a:xfrm>
          <a:prstGeom prst="rect">
            <a:avLst/>
          </a:prstGeom>
          <a:noFill/>
          <a:ln w="5715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indent="0">
              <a:buNone/>
            </a:pPr>
            <a:r>
              <a:rPr lang="en-GB" sz="2400" b="1" dirty="0">
                <a:solidFill>
                  <a:srgbClr val="FF0000"/>
                </a:solidFill>
              </a:rPr>
              <a:t>This is the source of </a:t>
            </a:r>
          </a:p>
          <a:p>
            <a:pPr marL="0" indent="0">
              <a:buNone/>
            </a:pPr>
            <a:r>
              <a:rPr lang="en-GB" sz="2400" b="1" dirty="0">
                <a:solidFill>
                  <a:srgbClr val="FF0000"/>
                </a:solidFill>
              </a:rPr>
              <a:t>A LOT of ERRORS !</a:t>
            </a:r>
          </a:p>
        </p:txBody>
      </p:sp>
      <p:sp>
        <p:nvSpPr>
          <p:cNvPr id="7" name="Rectangle 6"/>
          <p:cNvSpPr/>
          <p:nvPr/>
        </p:nvSpPr>
        <p:spPr>
          <a:xfrm rot="20061788">
            <a:off x="5886315" y="5521988"/>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1165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16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6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16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6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16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16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16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800" dirty="0">
                <a:latin typeface="Arial" charset="0"/>
                <a:cs typeface="ＭＳ Ｐゴシック" charset="0"/>
              </a:rPr>
              <a:t>String initialisation</a:t>
            </a:r>
            <a:endParaRPr lang="en-US" sz="2800" dirty="0"/>
          </a:p>
        </p:txBody>
      </p:sp>
      <p:sp>
        <p:nvSpPr>
          <p:cNvPr id="3" name="Content Placeholder 2"/>
          <p:cNvSpPr>
            <a:spLocks noGrp="1"/>
          </p:cNvSpPr>
          <p:nvPr>
            <p:ph idx="1"/>
          </p:nvPr>
        </p:nvSpPr>
        <p:spPr/>
        <p:txBody>
          <a:bodyPr/>
          <a:lstStyle/>
          <a:p>
            <a:r>
              <a:rPr lang="tr-TR" sz="2000" b="1" dirty="0" err="1">
                <a:latin typeface="Courier"/>
                <a:cs typeface="Courier"/>
              </a:rPr>
              <a:t>char</a:t>
            </a:r>
            <a:r>
              <a:rPr lang="tr-TR" sz="2000" b="1" dirty="0">
                <a:latin typeface="Courier"/>
                <a:cs typeface="Courier"/>
              </a:rPr>
              <a:t> c[] = "</a:t>
            </a:r>
            <a:r>
              <a:rPr lang="tr-TR" sz="2000" b="1" dirty="0" err="1">
                <a:latin typeface="Courier"/>
                <a:cs typeface="Courier"/>
              </a:rPr>
              <a:t>abcde</a:t>
            </a:r>
            <a:r>
              <a:rPr lang="tr-TR" sz="2000" b="1" dirty="0">
                <a:latin typeface="Courier"/>
                <a:cs typeface="Courier"/>
              </a:rPr>
              <a:t>";</a:t>
            </a:r>
          </a:p>
          <a:p>
            <a:endParaRPr lang="tr-TR" sz="2000" b="1" dirty="0">
              <a:latin typeface="Courier"/>
              <a:cs typeface="Courier"/>
            </a:endParaRPr>
          </a:p>
          <a:p>
            <a:r>
              <a:rPr lang="tr-TR" sz="2000" b="1" dirty="0" err="1">
                <a:latin typeface="Courier"/>
                <a:cs typeface="Courier"/>
              </a:rPr>
              <a:t>char</a:t>
            </a:r>
            <a:r>
              <a:rPr lang="tr-TR" sz="2000" b="1" dirty="0">
                <a:latin typeface="Courier"/>
                <a:cs typeface="Courier"/>
              </a:rPr>
              <a:t> c[6] = "</a:t>
            </a:r>
            <a:r>
              <a:rPr lang="tr-TR" sz="2000" b="1" dirty="0" err="1">
                <a:latin typeface="Courier"/>
                <a:cs typeface="Courier"/>
              </a:rPr>
              <a:t>abcde</a:t>
            </a:r>
            <a:r>
              <a:rPr lang="tr-TR" sz="2000" b="1" dirty="0">
                <a:latin typeface="Courier"/>
                <a:cs typeface="Courier"/>
              </a:rPr>
              <a:t>"; </a:t>
            </a:r>
          </a:p>
          <a:p>
            <a:endParaRPr lang="tr-TR" sz="2000" b="1" dirty="0">
              <a:latin typeface="Courier"/>
              <a:cs typeface="Courier"/>
            </a:endParaRPr>
          </a:p>
          <a:p>
            <a:r>
              <a:rPr lang="tr-TR" sz="2000" b="1" dirty="0" err="1">
                <a:latin typeface="Courier"/>
                <a:cs typeface="Courier"/>
              </a:rPr>
              <a:t>char</a:t>
            </a:r>
            <a:r>
              <a:rPr lang="tr-TR" sz="2000" b="1" dirty="0">
                <a:latin typeface="Courier"/>
                <a:cs typeface="Courier"/>
              </a:rPr>
              <a:t> c[]={'</a:t>
            </a:r>
            <a:r>
              <a:rPr lang="tr-TR" sz="2000" b="1" dirty="0" err="1">
                <a:latin typeface="Courier"/>
                <a:cs typeface="Courier"/>
              </a:rPr>
              <a:t>a','b','c','d','e</a:t>
            </a:r>
            <a:r>
              <a:rPr lang="tr-TR" sz="2000" b="1" dirty="0">
                <a:latin typeface="Courier"/>
                <a:cs typeface="Courier"/>
              </a:rPr>
              <a:t>','\0'}; </a:t>
            </a:r>
          </a:p>
          <a:p>
            <a:endParaRPr lang="tr-TR" sz="2000" b="1" dirty="0">
              <a:latin typeface="Courier"/>
              <a:cs typeface="Courier"/>
            </a:endParaRPr>
          </a:p>
          <a:p>
            <a:r>
              <a:rPr lang="tr-TR" sz="2000" b="1" dirty="0" err="1">
                <a:latin typeface="Courier"/>
                <a:cs typeface="Courier"/>
              </a:rPr>
              <a:t>char</a:t>
            </a:r>
            <a:r>
              <a:rPr lang="tr-TR" sz="2000" b="1" dirty="0">
                <a:latin typeface="Courier"/>
                <a:cs typeface="Courier"/>
              </a:rPr>
              <a:t> c[6]={'</a:t>
            </a:r>
            <a:r>
              <a:rPr lang="tr-TR" sz="2000" b="1" dirty="0" err="1">
                <a:latin typeface="Courier"/>
                <a:cs typeface="Courier"/>
              </a:rPr>
              <a:t>a','b','c','d',’e</a:t>
            </a:r>
            <a:r>
              <a:rPr lang="tr-TR" sz="2000" b="1" dirty="0">
                <a:latin typeface="Courier"/>
                <a:cs typeface="Courier"/>
              </a:rPr>
              <a:t>','\0'};</a:t>
            </a:r>
            <a:endParaRPr lang="en-US" sz="2000" b="1" dirty="0">
              <a:latin typeface="Courier"/>
              <a:cs typeface="Courier"/>
            </a:endParaRP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127</a:t>
            </a:fld>
            <a:endParaRPr lang="fr-FR"/>
          </a:p>
        </p:txBody>
      </p:sp>
      <p:graphicFrame>
        <p:nvGraphicFramePr>
          <p:cNvPr id="6" name="Table 5"/>
          <p:cNvGraphicFramePr>
            <a:graphicFrameLocks noGrp="1"/>
          </p:cNvGraphicFramePr>
          <p:nvPr>
            <p:extLst>
              <p:ext uri="{D42A27DB-BD31-4B8C-83A1-F6EECF244321}">
                <p14:modId xmlns:p14="http://schemas.microsoft.com/office/powerpoint/2010/main" val="292089948"/>
              </p:ext>
            </p:extLst>
          </p:nvPr>
        </p:nvGraphicFramePr>
        <p:xfrm>
          <a:off x="6732240" y="2204864"/>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7" name="TextBox 6"/>
          <p:cNvSpPr txBox="1"/>
          <p:nvPr/>
        </p:nvSpPr>
        <p:spPr>
          <a:xfrm>
            <a:off x="7128284" y="1736812"/>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5630830" y="3717032"/>
            <a:ext cx="1083099" cy="400110"/>
          </a:xfrm>
          <a:prstGeom prst="rect">
            <a:avLst/>
          </a:prstGeom>
          <a:noFill/>
        </p:spPr>
        <p:txBody>
          <a:bodyPr wrap="none" rtlCol="0">
            <a:spAutoFit/>
          </a:bodyPr>
          <a:lstStyle/>
          <a:p>
            <a:r>
              <a:rPr lang="en-US" sz="2000" b="1" dirty="0"/>
              <a:t>0x100C</a:t>
            </a:r>
          </a:p>
        </p:txBody>
      </p:sp>
      <p:sp>
        <p:nvSpPr>
          <p:cNvPr id="9" name="TextBox 8"/>
          <p:cNvSpPr txBox="1"/>
          <p:nvPr/>
        </p:nvSpPr>
        <p:spPr>
          <a:xfrm>
            <a:off x="5004048" y="3717032"/>
            <a:ext cx="726180" cy="400110"/>
          </a:xfrm>
          <a:prstGeom prst="rect">
            <a:avLst/>
          </a:prstGeom>
          <a:noFill/>
        </p:spPr>
        <p:txBody>
          <a:bodyPr wrap="none" rtlCol="0">
            <a:spAutoFit/>
          </a:bodyPr>
          <a:lstStyle/>
          <a:p>
            <a:r>
              <a:rPr lang="en-US" sz="2000" b="1" dirty="0"/>
              <a:t>c[0]:</a:t>
            </a:r>
          </a:p>
        </p:txBody>
      </p:sp>
      <p:sp>
        <p:nvSpPr>
          <p:cNvPr id="10" name="TextBox 9"/>
          <p:cNvSpPr txBox="1"/>
          <p:nvPr/>
        </p:nvSpPr>
        <p:spPr>
          <a:xfrm>
            <a:off x="4247964" y="3733965"/>
            <a:ext cx="297553" cy="363736"/>
          </a:xfrm>
          <a:prstGeom prst="rect">
            <a:avLst/>
          </a:prstGeom>
          <a:noFill/>
        </p:spPr>
        <p:txBody>
          <a:bodyPr wrap="none" rtlCol="0">
            <a:spAutoFit/>
          </a:bodyPr>
          <a:lstStyle/>
          <a:p>
            <a:r>
              <a:rPr lang="en-US" sz="2000" b="1" dirty="0"/>
              <a:t>c</a:t>
            </a:r>
          </a:p>
        </p:txBody>
      </p:sp>
      <p:cxnSp>
        <p:nvCxnSpPr>
          <p:cNvPr id="12" name="Straight Arrow Connector 11"/>
          <p:cNvCxnSpPr>
            <a:stCxn id="10" idx="3"/>
            <a:endCxn id="9" idx="1"/>
          </p:cNvCxnSpPr>
          <p:nvPr/>
        </p:nvCxnSpPr>
        <p:spPr bwMode="auto">
          <a:xfrm>
            <a:off x="4545517" y="3915833"/>
            <a:ext cx="458531" cy="1254"/>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Rectangle 13"/>
          <p:cNvSpPr/>
          <p:nvPr/>
        </p:nvSpPr>
        <p:spPr>
          <a:xfrm>
            <a:off x="6912260" y="3681028"/>
            <a:ext cx="338579" cy="400110"/>
          </a:xfrm>
          <a:prstGeom prst="rect">
            <a:avLst/>
          </a:prstGeom>
        </p:spPr>
        <p:txBody>
          <a:bodyPr wrap="none">
            <a:spAutoFit/>
          </a:bodyPr>
          <a:lstStyle/>
          <a:p>
            <a:r>
              <a:rPr lang="en-GB" sz="2000" b="1" dirty="0">
                <a:solidFill>
                  <a:srgbClr val="000000"/>
                </a:solidFill>
                <a:latin typeface="Courier"/>
                <a:cs typeface="Courier"/>
              </a:rPr>
              <a:t>a</a:t>
            </a:r>
            <a:endParaRPr lang="en-US" sz="2000" dirty="0">
              <a:solidFill>
                <a:srgbClr val="000000"/>
              </a:solidFill>
            </a:endParaRPr>
          </a:p>
        </p:txBody>
      </p:sp>
      <p:sp>
        <p:nvSpPr>
          <p:cNvPr id="15" name="Rectangle 14"/>
          <p:cNvSpPr/>
          <p:nvPr/>
        </p:nvSpPr>
        <p:spPr>
          <a:xfrm>
            <a:off x="7344308" y="3681028"/>
            <a:ext cx="338579" cy="400110"/>
          </a:xfrm>
          <a:prstGeom prst="rect">
            <a:avLst/>
          </a:prstGeom>
        </p:spPr>
        <p:txBody>
          <a:bodyPr wrap="none">
            <a:spAutoFit/>
          </a:bodyPr>
          <a:lstStyle/>
          <a:p>
            <a:r>
              <a:rPr lang="en-GB" sz="2000" b="1" dirty="0">
                <a:solidFill>
                  <a:srgbClr val="000000"/>
                </a:solidFill>
                <a:latin typeface="Courier"/>
                <a:cs typeface="Courier"/>
              </a:rPr>
              <a:t>b</a:t>
            </a:r>
            <a:endParaRPr lang="en-US" sz="2000" dirty="0">
              <a:solidFill>
                <a:srgbClr val="000000"/>
              </a:solidFill>
            </a:endParaRPr>
          </a:p>
        </p:txBody>
      </p:sp>
      <p:sp>
        <p:nvSpPr>
          <p:cNvPr id="16" name="Rectangle 15"/>
          <p:cNvSpPr/>
          <p:nvPr/>
        </p:nvSpPr>
        <p:spPr>
          <a:xfrm>
            <a:off x="7833821" y="3681028"/>
            <a:ext cx="338579" cy="400110"/>
          </a:xfrm>
          <a:prstGeom prst="rect">
            <a:avLst/>
          </a:prstGeom>
        </p:spPr>
        <p:txBody>
          <a:bodyPr wrap="none">
            <a:spAutoFit/>
          </a:bodyPr>
          <a:lstStyle/>
          <a:p>
            <a:r>
              <a:rPr lang="en-GB" sz="2000" b="1" dirty="0">
                <a:solidFill>
                  <a:srgbClr val="000000"/>
                </a:solidFill>
                <a:latin typeface="Courier"/>
                <a:cs typeface="Courier"/>
              </a:rPr>
              <a:t>c</a:t>
            </a:r>
            <a:endParaRPr lang="en-US" sz="2000" dirty="0">
              <a:solidFill>
                <a:srgbClr val="000000"/>
              </a:solidFill>
            </a:endParaRPr>
          </a:p>
        </p:txBody>
      </p:sp>
      <p:sp>
        <p:nvSpPr>
          <p:cNvPr id="17" name="Rectangle 16"/>
          <p:cNvSpPr/>
          <p:nvPr/>
        </p:nvSpPr>
        <p:spPr>
          <a:xfrm>
            <a:off x="8424428" y="3681028"/>
            <a:ext cx="338579" cy="400110"/>
          </a:xfrm>
          <a:prstGeom prst="rect">
            <a:avLst/>
          </a:prstGeom>
        </p:spPr>
        <p:txBody>
          <a:bodyPr wrap="none">
            <a:spAutoFit/>
          </a:bodyPr>
          <a:lstStyle/>
          <a:p>
            <a:r>
              <a:rPr lang="en-GB" sz="2000" b="1" dirty="0">
                <a:solidFill>
                  <a:srgbClr val="000000"/>
                </a:solidFill>
                <a:latin typeface="Courier"/>
                <a:cs typeface="Courier"/>
              </a:rPr>
              <a:t>d</a:t>
            </a:r>
            <a:endParaRPr lang="en-US" sz="2000" dirty="0">
              <a:solidFill>
                <a:srgbClr val="000000"/>
              </a:solidFill>
            </a:endParaRPr>
          </a:p>
        </p:txBody>
      </p:sp>
      <p:sp>
        <p:nvSpPr>
          <p:cNvPr id="18" name="Rectangle 17"/>
          <p:cNvSpPr/>
          <p:nvPr/>
        </p:nvSpPr>
        <p:spPr>
          <a:xfrm>
            <a:off x="6912260" y="4077072"/>
            <a:ext cx="338579" cy="400110"/>
          </a:xfrm>
          <a:prstGeom prst="rect">
            <a:avLst/>
          </a:prstGeom>
        </p:spPr>
        <p:txBody>
          <a:bodyPr wrap="none">
            <a:spAutoFit/>
          </a:bodyPr>
          <a:lstStyle/>
          <a:p>
            <a:r>
              <a:rPr lang="en-GB" sz="2000" b="1" dirty="0">
                <a:solidFill>
                  <a:srgbClr val="000000"/>
                </a:solidFill>
                <a:latin typeface="Courier"/>
                <a:cs typeface="Courier"/>
              </a:rPr>
              <a:t>e</a:t>
            </a:r>
            <a:endParaRPr lang="en-US" sz="2000" dirty="0">
              <a:solidFill>
                <a:srgbClr val="000000"/>
              </a:solidFill>
            </a:endParaRPr>
          </a:p>
        </p:txBody>
      </p:sp>
      <p:sp>
        <p:nvSpPr>
          <p:cNvPr id="19" name="Rectangle 18"/>
          <p:cNvSpPr/>
          <p:nvPr/>
        </p:nvSpPr>
        <p:spPr>
          <a:xfrm>
            <a:off x="7236296" y="4077072"/>
            <a:ext cx="492493"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cxnSp>
        <p:nvCxnSpPr>
          <p:cNvPr id="21" name="Straight Connector 20"/>
          <p:cNvCxnSpPr/>
          <p:nvPr/>
        </p:nvCxnSpPr>
        <p:spPr bwMode="auto">
          <a:xfrm>
            <a:off x="7272300" y="3681028"/>
            <a:ext cx="0" cy="756084"/>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 name="Straight Connector 21"/>
          <p:cNvCxnSpPr/>
          <p:nvPr/>
        </p:nvCxnSpPr>
        <p:spPr bwMode="auto">
          <a:xfrm>
            <a:off x="7776356" y="3681028"/>
            <a:ext cx="0" cy="756084"/>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Straight Connector 22"/>
          <p:cNvCxnSpPr/>
          <p:nvPr/>
        </p:nvCxnSpPr>
        <p:spPr bwMode="auto">
          <a:xfrm>
            <a:off x="8316416" y="3681028"/>
            <a:ext cx="0" cy="756084"/>
          </a:xfrm>
          <a:prstGeom prst="line">
            <a:avLst/>
          </a:prstGeom>
          <a:noFill/>
          <a:ln w="6350"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9173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4" grpId="0"/>
      <p:bldP spid="15" grpId="0"/>
      <p:bldP spid="16" grpId="0"/>
      <p:bldP spid="17" grpId="0"/>
      <p:bldP spid="18" grpId="0"/>
      <p:bldP spid="1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String: </a:t>
            </a:r>
            <a:r>
              <a:rPr lang="fr-FR" sz="2800" dirty="0" err="1">
                <a:latin typeface="Arial" charset="0"/>
                <a:cs typeface="ＭＳ Ｐゴシック" charset="0"/>
              </a:rPr>
              <a:t>Remarks</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72385" y="872716"/>
            <a:ext cx="8856476" cy="4537075"/>
          </a:xfrm>
        </p:spPr>
        <p:txBody>
          <a:bodyPr/>
          <a:lstStyle/>
          <a:p>
            <a:r>
              <a:rPr lang="en-GB" dirty="0">
                <a:latin typeface="Arial" charset="0"/>
                <a:cs typeface="ＭＳ Ｐゴシック" charset="0"/>
              </a:rPr>
              <a:t>Static declaration</a:t>
            </a:r>
          </a:p>
          <a:p>
            <a:pPr marL="0" lvl="1" indent="0">
              <a:buSzTx/>
              <a:buNone/>
            </a:pPr>
            <a:r>
              <a:rPr lang="en-GB" b="1" dirty="0">
                <a:latin typeface="Courier"/>
                <a:cs typeface="Courier"/>
              </a:rPr>
              <a:t>char str1[]=“hello”;</a:t>
            </a:r>
          </a:p>
          <a:p>
            <a:pPr marL="0" lvl="1" indent="0">
              <a:buSzTx/>
              <a:buNone/>
            </a:pPr>
            <a:r>
              <a:rPr lang="en-GB" b="1" dirty="0">
                <a:latin typeface="Courier"/>
                <a:cs typeface="Courier"/>
              </a:rPr>
              <a:t>char str2[]=“world”;</a:t>
            </a:r>
            <a:endParaRPr lang="en-GB" dirty="0">
              <a:latin typeface="Arial" charset="0"/>
              <a:cs typeface="ＭＳ Ｐゴシック" charset="0"/>
            </a:endParaRPr>
          </a:p>
          <a:p>
            <a:pPr lvl="1"/>
            <a:r>
              <a:rPr lang="en-GB" dirty="0">
                <a:latin typeface="Arial" charset="0"/>
                <a:cs typeface="ＭＳ Ｐゴシック" charset="0"/>
              </a:rPr>
              <a:t>We </a:t>
            </a:r>
            <a:r>
              <a:rPr lang="en-GB" dirty="0">
                <a:solidFill>
                  <a:srgbClr val="FF0000"/>
                </a:solidFill>
                <a:latin typeface="Arial" charset="0"/>
                <a:cs typeface="ＭＳ Ｐゴシック" charset="0"/>
              </a:rPr>
              <a:t>CANNOT</a:t>
            </a:r>
            <a:r>
              <a:rPr lang="en-GB" dirty="0">
                <a:latin typeface="Arial" charset="0"/>
                <a:cs typeface="ＭＳ Ｐゴシック" charset="0"/>
              </a:rPr>
              <a:t> assign a string to another (</a:t>
            </a:r>
            <a:r>
              <a:rPr lang="en-GB" b="1" dirty="0">
                <a:solidFill>
                  <a:srgbClr val="FF0000"/>
                </a:solidFill>
                <a:latin typeface="Courier"/>
                <a:cs typeface="Courier"/>
              </a:rPr>
              <a:t>str2 = str1;</a:t>
            </a:r>
            <a:r>
              <a:rPr lang="en-GB" b="1" dirty="0">
                <a:solidFill>
                  <a:schemeClr val="tx1"/>
                </a:solidFill>
                <a:cs typeface="Courier"/>
              </a:rPr>
              <a:t>). </a:t>
            </a:r>
            <a:r>
              <a:rPr lang="en-GB" dirty="0">
                <a:latin typeface="Arial" charset="0"/>
                <a:cs typeface="ＭＳ Ｐゴシック" charset="0"/>
              </a:rPr>
              <a:t>They are constant pointers!</a:t>
            </a:r>
          </a:p>
          <a:p>
            <a:pPr lvl="2"/>
            <a:r>
              <a:rPr lang="en-GB" dirty="0">
                <a:latin typeface="Arial" charset="0"/>
                <a:cs typeface="ＭＳ Ｐゴシック" charset="0"/>
              </a:rPr>
              <a:t>We have to copy one to the other!</a:t>
            </a:r>
          </a:p>
          <a:p>
            <a:pPr lvl="1"/>
            <a:r>
              <a:rPr lang="en-GB" dirty="0">
                <a:latin typeface="Arial" charset="0"/>
                <a:cs typeface="ＭＳ Ｐゴシック" charset="0"/>
              </a:rPr>
              <a:t>Once the string is initialized, it </a:t>
            </a:r>
            <a:r>
              <a:rPr lang="en-GB" dirty="0">
                <a:solidFill>
                  <a:srgbClr val="FF0000"/>
                </a:solidFill>
                <a:latin typeface="Arial" charset="0"/>
                <a:cs typeface="ＭＳ Ｐゴシック" charset="0"/>
              </a:rPr>
              <a:t>CANNOT </a:t>
            </a:r>
            <a:r>
              <a:rPr lang="en-GB" dirty="0">
                <a:latin typeface="Arial" charset="0"/>
                <a:cs typeface="ＭＳ Ｐゴシック" charset="0"/>
              </a:rPr>
              <a:t>be assigned to another </a:t>
            </a:r>
            <a:r>
              <a:rPr lang="en-GB" dirty="0">
                <a:solidFill>
                  <a:srgbClr val="FF0000"/>
                </a:solidFill>
                <a:latin typeface="Arial" charset="0"/>
                <a:cs typeface="ＭＳ Ｐゴシック" charset="0"/>
              </a:rPr>
              <a:t>set of characters</a:t>
            </a:r>
          </a:p>
          <a:p>
            <a:pPr marL="542925" lvl="1" indent="0">
              <a:buNone/>
            </a:pPr>
            <a:r>
              <a:rPr lang="en-GB" b="1" dirty="0">
                <a:solidFill>
                  <a:srgbClr val="FF0000"/>
                </a:solidFill>
                <a:latin typeface="Courier"/>
                <a:cs typeface="Courier"/>
              </a:rPr>
              <a:t>str1 = “bye”;</a:t>
            </a:r>
            <a:endParaRPr lang="en-GB" sz="800" dirty="0">
              <a:latin typeface="Arial" charset="0"/>
              <a:cs typeface="ＭＳ Ｐゴシック" charset="0"/>
            </a:endParaRPr>
          </a:p>
          <a:p>
            <a:pPr marL="542925" lvl="1" indent="0">
              <a:buNone/>
            </a:pPr>
            <a:endParaRPr lang="en-GB"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128</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02243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cs typeface="ＭＳ Ｐゴシック" charset="0"/>
              </a:rPr>
              <a:t>Arrays</a:t>
            </a:r>
            <a:r>
              <a:rPr lang="fr-FR" sz="2800" dirty="0">
                <a:latin typeface="Arial" charset="0"/>
                <a:cs typeface="ＭＳ Ｐゴシック" charset="0"/>
              </a:rPr>
              <a:t> and Pointers: Attention !</a:t>
            </a:r>
            <a:endParaRPr lang="fr-FR" sz="2800" dirty="0">
              <a:latin typeface="Arial" charset="0"/>
              <a:ea typeface="ＭＳ Ｐゴシック" charset="0"/>
              <a:cs typeface="ＭＳ Ｐゴシック" charset="0"/>
            </a:endParaRPr>
          </a:p>
        </p:txBody>
      </p:sp>
      <p:sp>
        <p:nvSpPr>
          <p:cNvPr id="18" name="Espace réservé du contenu 2"/>
          <p:cNvSpPr txBox="1">
            <a:spLocks/>
          </p:cNvSpPr>
          <p:nvPr/>
        </p:nvSpPr>
        <p:spPr bwMode="auto">
          <a:xfrm>
            <a:off x="143508" y="944724"/>
            <a:ext cx="9000492" cy="1153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Example:</a:t>
            </a:r>
          </a:p>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[10] ; </a:t>
            </a:r>
          </a:p>
          <a:p>
            <a:pPr marL="0" indent="0">
              <a:buNone/>
            </a:pPr>
            <a:r>
              <a:rPr lang="en-US" sz="2000" b="1" dirty="0" err="1">
                <a:latin typeface="Courier"/>
                <a:cs typeface="Courier"/>
              </a:rPr>
              <a:t>int</a:t>
            </a:r>
            <a:r>
              <a:rPr lang="en-US" sz="2000" b="1" dirty="0">
                <a:latin typeface="Courier"/>
                <a:cs typeface="Courier"/>
              </a:rPr>
              <a:t> *ptr1, *ptr2 ; </a:t>
            </a:r>
          </a:p>
          <a:p>
            <a:pPr marL="0" indent="0">
              <a:buNone/>
            </a:pPr>
            <a:r>
              <a:rPr lang="en-US" sz="2000" b="1" dirty="0">
                <a:latin typeface="Courier"/>
                <a:cs typeface="Courier"/>
              </a:rPr>
              <a:t>ptr1 = </a:t>
            </a:r>
            <a:r>
              <a:rPr lang="en-US" sz="2000" b="1" dirty="0" err="1">
                <a:latin typeface="Courier"/>
                <a:cs typeface="Courier"/>
              </a:rPr>
              <a:t>arr</a:t>
            </a:r>
            <a:r>
              <a:rPr lang="en-US" sz="2000" b="1" dirty="0">
                <a:latin typeface="Courier"/>
                <a:cs typeface="Courier"/>
              </a:rPr>
              <a:t> + 3 ; //ptr1 == &amp; </a:t>
            </a:r>
            <a:r>
              <a:rPr lang="en-US" sz="2000" b="1" dirty="0" err="1">
                <a:latin typeface="Courier"/>
                <a:cs typeface="Courier"/>
              </a:rPr>
              <a:t>arr</a:t>
            </a:r>
            <a:r>
              <a:rPr lang="en-US" sz="2000" b="1" dirty="0">
                <a:latin typeface="Courier"/>
                <a:cs typeface="Courier"/>
              </a:rPr>
              <a:t>[3] </a:t>
            </a:r>
          </a:p>
          <a:p>
            <a:pPr marL="0" indent="0">
              <a:buNone/>
            </a:pPr>
            <a:r>
              <a:rPr lang="en-US" sz="2000" b="1" dirty="0">
                <a:latin typeface="Courier"/>
                <a:cs typeface="Courier"/>
              </a:rPr>
              <a:t>ptr2 = ptr1 - 2 ; //ptr2 == &amp; </a:t>
            </a:r>
            <a:r>
              <a:rPr lang="en-US" sz="2000" b="1" dirty="0" err="1">
                <a:latin typeface="Courier"/>
                <a:cs typeface="Courier"/>
              </a:rPr>
              <a:t>arr</a:t>
            </a:r>
            <a:r>
              <a:rPr lang="en-US" sz="2000" b="1" dirty="0">
                <a:latin typeface="Courier"/>
                <a:cs typeface="Courier"/>
              </a:rPr>
              <a:t>[1] ;</a:t>
            </a:r>
          </a:p>
          <a:p>
            <a:endParaRPr lang="en-US" dirty="0"/>
          </a:p>
          <a:p>
            <a:r>
              <a:rPr lang="en-US" dirty="0"/>
              <a:t>Pointer </a:t>
            </a:r>
            <a:r>
              <a:rPr lang="en-US" b="1" dirty="0">
                <a:latin typeface="Courier"/>
                <a:cs typeface="Courier"/>
              </a:rPr>
              <a:t>ptr1</a:t>
            </a:r>
            <a:r>
              <a:rPr lang="en-US" dirty="0"/>
              <a:t> points the fourth element of the array</a:t>
            </a:r>
            <a:endParaRPr lang="en-US" sz="1000" dirty="0"/>
          </a:p>
          <a:p>
            <a:r>
              <a:rPr lang="en-US" dirty="0"/>
              <a:t>Pointer </a:t>
            </a:r>
            <a:r>
              <a:rPr lang="en-US" b="1" dirty="0">
                <a:latin typeface="Courier"/>
                <a:cs typeface="Courier"/>
              </a:rPr>
              <a:t>ptr2</a:t>
            </a:r>
            <a:r>
              <a:rPr lang="en-US" dirty="0"/>
              <a:t> points two elements back from </a:t>
            </a:r>
            <a:r>
              <a:rPr lang="en-US" b="1" dirty="0">
                <a:latin typeface="Courier"/>
                <a:cs typeface="Courier"/>
              </a:rPr>
              <a:t>ptr1</a:t>
            </a:r>
            <a:r>
              <a:rPr lang="en-US" dirty="0"/>
              <a:t>.</a:t>
            </a:r>
          </a:p>
          <a:p>
            <a:endParaRPr lang="en-US" sz="1000" dirty="0"/>
          </a:p>
          <a:p>
            <a:r>
              <a:rPr lang="en-US" dirty="0"/>
              <a:t>Still, within the memory block of the array </a:t>
            </a:r>
            <a:r>
              <a:rPr lang="en-US" b="1" dirty="0">
                <a:latin typeface="Courier"/>
                <a:cs typeface="Courier"/>
              </a:rPr>
              <a:t>arr</a:t>
            </a:r>
            <a:r>
              <a:rPr lang="en-US" dirty="0"/>
              <a:t>.</a:t>
            </a: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129</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95800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cs typeface="ＭＳ Ｐゴシック" charset="0"/>
              </a:rPr>
              <a:t>Arrays</a:t>
            </a:r>
            <a:r>
              <a:rPr lang="fr-FR" sz="2800" dirty="0">
                <a:latin typeface="Arial" charset="0"/>
                <a:cs typeface="ＭＳ Ｐゴシック" charset="0"/>
              </a:rPr>
              <a:t> and Pointers: Attention !</a:t>
            </a:r>
            <a:endParaRPr lang="fr-FR" sz="2800" dirty="0">
              <a:latin typeface="Arial" charset="0"/>
              <a:ea typeface="ＭＳ Ｐゴシック" charset="0"/>
              <a:cs typeface="ＭＳ Ｐゴシック" charset="0"/>
            </a:endParaRPr>
          </a:p>
        </p:txBody>
      </p:sp>
      <p:sp>
        <p:nvSpPr>
          <p:cNvPr id="18" name="Espace réservé du contenu 2"/>
          <p:cNvSpPr txBox="1">
            <a:spLocks/>
          </p:cNvSpPr>
          <p:nvPr/>
        </p:nvSpPr>
        <p:spPr bwMode="auto">
          <a:xfrm>
            <a:off x="143508" y="944724"/>
            <a:ext cx="9000492" cy="1153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Example:</a:t>
            </a:r>
          </a:p>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[10] ; </a:t>
            </a:r>
          </a:p>
          <a:p>
            <a:pPr marL="0" indent="0">
              <a:buNone/>
            </a:pPr>
            <a:r>
              <a:rPr lang="en-US" sz="2000" b="1" dirty="0" err="1">
                <a:latin typeface="Courier"/>
                <a:cs typeface="Courier"/>
              </a:rPr>
              <a:t>int</a:t>
            </a:r>
            <a:r>
              <a:rPr lang="en-US" sz="2000" b="1" dirty="0">
                <a:latin typeface="Courier"/>
                <a:cs typeface="Courier"/>
              </a:rPr>
              <a:t> *ptr1, *ptr2 ; </a:t>
            </a:r>
          </a:p>
          <a:p>
            <a:pPr marL="0" indent="0">
              <a:buNone/>
            </a:pPr>
            <a:r>
              <a:rPr lang="en-US" sz="2000" b="1" dirty="0">
                <a:latin typeface="Courier"/>
                <a:cs typeface="Courier"/>
              </a:rPr>
              <a:t>ptr1 = </a:t>
            </a:r>
            <a:r>
              <a:rPr lang="en-US" sz="2000" b="1" dirty="0" err="1">
                <a:latin typeface="Courier"/>
                <a:cs typeface="Courier"/>
              </a:rPr>
              <a:t>arr</a:t>
            </a:r>
            <a:r>
              <a:rPr lang="en-US" sz="2000" b="1" dirty="0">
                <a:latin typeface="Courier"/>
                <a:cs typeface="Courier"/>
              </a:rPr>
              <a:t> + 30 ; //ptr1 == &amp; </a:t>
            </a:r>
            <a:r>
              <a:rPr lang="en-US" sz="2000" b="1" dirty="0" err="1">
                <a:latin typeface="Courier"/>
                <a:cs typeface="Courier"/>
              </a:rPr>
              <a:t>arr</a:t>
            </a:r>
            <a:r>
              <a:rPr lang="en-US" sz="2000" b="1" dirty="0">
                <a:latin typeface="Courier"/>
                <a:cs typeface="Courier"/>
              </a:rPr>
              <a:t>[30] </a:t>
            </a:r>
          </a:p>
          <a:p>
            <a:pPr marL="0" indent="0">
              <a:buNone/>
            </a:pPr>
            <a:r>
              <a:rPr lang="en-US" sz="2000" b="1" dirty="0">
                <a:latin typeface="Courier"/>
                <a:cs typeface="Courier"/>
              </a:rPr>
              <a:t>ptr2 = ptr1 - 2 ; //ptr2 == &amp; </a:t>
            </a:r>
            <a:r>
              <a:rPr lang="en-US" sz="2000" b="1" dirty="0" err="1">
                <a:latin typeface="Courier"/>
                <a:cs typeface="Courier"/>
              </a:rPr>
              <a:t>arr</a:t>
            </a:r>
            <a:r>
              <a:rPr lang="en-US" sz="2000" b="1" dirty="0">
                <a:latin typeface="Courier"/>
                <a:cs typeface="Courier"/>
              </a:rPr>
              <a:t>[28] </a:t>
            </a:r>
          </a:p>
          <a:p>
            <a:endParaRPr lang="en-US" dirty="0"/>
          </a:p>
          <a:p>
            <a:r>
              <a:rPr lang="en-US" dirty="0"/>
              <a:t>Now, pointer </a:t>
            </a:r>
            <a:r>
              <a:rPr lang="en-US" b="1" dirty="0">
                <a:latin typeface="Courier"/>
                <a:cs typeface="Courier"/>
              </a:rPr>
              <a:t>ptr1</a:t>
            </a:r>
            <a:r>
              <a:rPr lang="en-US" dirty="0"/>
              <a:t> points the outside the memory block of the array ! </a:t>
            </a:r>
          </a:p>
          <a:p>
            <a:r>
              <a:rPr lang="en-US" dirty="0"/>
              <a:t>There </a:t>
            </a:r>
            <a:r>
              <a:rPr lang="en-US" b="1" dirty="0"/>
              <a:t>is no compiler error</a:t>
            </a:r>
            <a:r>
              <a:rPr lang="en-US" dirty="0"/>
              <a:t>, the compiler still computes the address! </a:t>
            </a:r>
          </a:p>
          <a:p>
            <a:r>
              <a:rPr lang="en-US" dirty="0"/>
              <a:t>There is </a:t>
            </a:r>
            <a:r>
              <a:rPr lang="en-US" b="1" dirty="0"/>
              <a:t>no core dump</a:t>
            </a:r>
            <a:r>
              <a:rPr lang="en-US" dirty="0"/>
              <a:t>, if we are </a:t>
            </a:r>
            <a:r>
              <a:rPr lang="en-US" b="1" dirty="0"/>
              <a:t>accessing</a:t>
            </a:r>
            <a:r>
              <a:rPr lang="en-US" dirty="0"/>
              <a:t> the address space dedicated to the program! </a:t>
            </a:r>
          </a:p>
          <a:p>
            <a:r>
              <a:rPr lang="en-US" dirty="0"/>
              <a:t>The data that we will read through </a:t>
            </a:r>
            <a:r>
              <a:rPr lang="en-US" b="1" dirty="0">
                <a:latin typeface="Courier"/>
                <a:cs typeface="Courier"/>
              </a:rPr>
              <a:t>*ptr1</a:t>
            </a:r>
            <a:r>
              <a:rPr lang="en-US" dirty="0"/>
              <a:t> are not valid!</a:t>
            </a: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130</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492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re 1"/>
          <p:cNvSpPr>
            <a:spLocks noGrp="1"/>
          </p:cNvSpPr>
          <p:nvPr>
            <p:ph type="title"/>
          </p:nvPr>
        </p:nvSpPr>
        <p:spPr/>
        <p:txBody>
          <a:bodyPr/>
          <a:lstStyle/>
          <a:p>
            <a:r>
              <a:rPr lang="fr-FR" sz="2800" dirty="0" err="1">
                <a:latin typeface="Arial" charset="0"/>
                <a:cs typeface="ＭＳ Ｐゴシック" charset="0"/>
              </a:rPr>
              <a:t>Let’s</a:t>
            </a:r>
            <a:r>
              <a:rPr lang="fr-FR" sz="2800" dirty="0">
                <a:latin typeface="Arial" charset="0"/>
                <a:cs typeface="ＭＳ Ｐゴシック" charset="0"/>
              </a:rPr>
              <a:t>…</a:t>
            </a:r>
            <a:endParaRPr lang="fr-FR" sz="2800" dirty="0">
              <a:latin typeface="Arial" charset="0"/>
              <a:ea typeface="ＭＳ Ｐゴシック" charset="0"/>
              <a:cs typeface="ＭＳ Ｐゴシック" charset="0"/>
            </a:endParaRPr>
          </a:p>
        </p:txBody>
      </p:sp>
      <p:sp>
        <p:nvSpPr>
          <p:cNvPr id="20" name="Espace réservé du contenu 2"/>
          <p:cNvSpPr>
            <a:spLocks noGrp="1"/>
          </p:cNvSpPr>
          <p:nvPr>
            <p:ph idx="1"/>
          </p:nvPr>
        </p:nvSpPr>
        <p:spPr>
          <a:xfrm>
            <a:off x="200270" y="980728"/>
            <a:ext cx="8939336" cy="5257800"/>
          </a:xfrm>
        </p:spPr>
        <p:txBody>
          <a:bodyPr/>
          <a:lstStyle/>
          <a:p>
            <a:pPr marL="542925" lvl="1" indent="0">
              <a:buNone/>
            </a:pPr>
            <a:endParaRPr lang="en-US" sz="1000" dirty="0"/>
          </a:p>
          <a:p>
            <a:pPr lvl="1"/>
            <a:endParaRPr lang="en-US" sz="1000" dirty="0"/>
          </a:p>
          <a:p>
            <a:pPr lvl="1"/>
            <a:endParaRPr lang="en-US" sz="1000" dirty="0"/>
          </a:p>
          <a:p>
            <a:pPr lvl="1"/>
            <a:endParaRPr lang="en-US" sz="1000" dirty="0"/>
          </a:p>
          <a:p>
            <a:pPr lvl="1"/>
            <a:endParaRPr lang="en-US" sz="1000" dirty="0"/>
          </a:p>
          <a:p>
            <a:pPr lvl="1"/>
            <a:endParaRPr lang="en-US" sz="1000" dirty="0"/>
          </a:p>
          <a:p>
            <a:pPr lvl="1"/>
            <a:endParaRPr lang="en-US" sz="1000" dirty="0"/>
          </a:p>
          <a:p>
            <a:pPr marL="542925" lvl="1" indent="0" algn="ctr">
              <a:buNone/>
            </a:pPr>
            <a:r>
              <a:rPr lang="en-US" sz="3200" b="1" dirty="0" err="1">
                <a:solidFill>
                  <a:srgbClr val="800000"/>
                </a:solidFill>
              </a:rPr>
              <a:t>Kahoot</a:t>
            </a:r>
            <a:r>
              <a:rPr lang="en-US" sz="3200" b="1" dirty="0">
                <a:solidFill>
                  <a:srgbClr val="800000"/>
                </a:solidFill>
              </a:rPr>
              <a:t> time !! </a:t>
            </a:r>
          </a:p>
          <a:p>
            <a:pPr marL="542925" lvl="1" indent="0" algn="ctr">
              <a:buNone/>
            </a:pPr>
            <a:r>
              <a:rPr lang="en-US" sz="3200" b="1" dirty="0">
                <a:solidFill>
                  <a:srgbClr val="800000"/>
                </a:solidFill>
              </a:rPr>
              <a:t>Q7 – Q11</a:t>
            </a:r>
          </a:p>
          <a:p>
            <a:pPr marL="542925" lvl="1" indent="0">
              <a:buNone/>
            </a:pPr>
            <a:endParaRPr lang="en-US" sz="1000" dirty="0"/>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131</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0748264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2D Array: Array of Arrays</a:t>
            </a:r>
          </a:p>
        </p:txBody>
      </p:sp>
      <p:sp>
        <p:nvSpPr>
          <p:cNvPr id="3" name="Content Placeholder 2"/>
          <p:cNvSpPr>
            <a:spLocks noGrp="1"/>
          </p:cNvSpPr>
          <p:nvPr>
            <p:ph idx="1"/>
          </p:nvPr>
        </p:nvSpPr>
        <p:spPr>
          <a:xfrm>
            <a:off x="457200" y="908720"/>
            <a:ext cx="8261350" cy="5263480"/>
          </a:xfrm>
        </p:spPr>
        <p:txBody>
          <a:bodyPr/>
          <a:lstStyle/>
          <a:p>
            <a:r>
              <a:rPr lang="en-US" dirty="0"/>
              <a:t>Syntax:</a:t>
            </a:r>
          </a:p>
          <a:p>
            <a:pPr marL="0" indent="0">
              <a:buNone/>
            </a:pPr>
            <a:r>
              <a:rPr lang="en-US" b="1" dirty="0">
                <a:latin typeface="Courier"/>
                <a:cs typeface="Courier"/>
              </a:rPr>
              <a:t>type identifier[ROWS][COLS] ; </a:t>
            </a:r>
          </a:p>
          <a:p>
            <a:pPr marL="0" indent="0">
              <a:buNone/>
            </a:pPr>
            <a:endParaRPr lang="en-US" dirty="0"/>
          </a:p>
          <a:p>
            <a:r>
              <a:rPr lang="en-US" dirty="0"/>
              <a:t>A 2D array named </a:t>
            </a:r>
            <a:r>
              <a:rPr lang="en-US" b="1" dirty="0">
                <a:latin typeface="Courier"/>
                <a:cs typeface="Courier"/>
              </a:rPr>
              <a:t>identifier</a:t>
            </a:r>
            <a:r>
              <a:rPr lang="en-US" dirty="0"/>
              <a:t> is defined as </a:t>
            </a:r>
          </a:p>
          <a:p>
            <a:pPr lvl="1"/>
            <a:r>
              <a:rPr lang="en-US" dirty="0"/>
              <a:t>a number of </a:t>
            </a:r>
            <a:r>
              <a:rPr lang="en-US" b="1" dirty="0">
                <a:latin typeface="Courier"/>
                <a:cs typeface="Courier"/>
              </a:rPr>
              <a:t>ROWS</a:t>
            </a:r>
            <a:r>
              <a:rPr lang="en-US" dirty="0"/>
              <a:t> </a:t>
            </a:r>
          </a:p>
          <a:p>
            <a:pPr lvl="1"/>
            <a:r>
              <a:rPr lang="en-US" dirty="0"/>
              <a:t>Each row is an 1D array of </a:t>
            </a:r>
            <a:r>
              <a:rPr lang="en-US" b="1" dirty="0">
                <a:latin typeface="Courier"/>
                <a:cs typeface="Courier"/>
              </a:rPr>
              <a:t>COLS</a:t>
            </a:r>
            <a:r>
              <a:rPr lang="en-US" dirty="0"/>
              <a:t> elements of type </a:t>
            </a:r>
            <a:r>
              <a:rPr lang="en-US" b="1" dirty="0">
                <a:latin typeface="Courier"/>
                <a:cs typeface="Courier"/>
              </a:rPr>
              <a:t>type </a:t>
            </a:r>
            <a:endParaRPr lang="en-US" dirty="0"/>
          </a:p>
          <a:p>
            <a:endParaRPr lang="en-US" dirty="0"/>
          </a:p>
          <a:p>
            <a:r>
              <a:rPr lang="en-US" dirty="0"/>
              <a:t>When initializing during definition:</a:t>
            </a:r>
          </a:p>
          <a:p>
            <a:pPr lvl="1"/>
            <a:r>
              <a:rPr lang="en-US" dirty="0"/>
              <a:t>It is always required to give the </a:t>
            </a:r>
            <a:r>
              <a:rPr lang="en-US" b="1" dirty="0">
                <a:latin typeface="Courier"/>
                <a:cs typeface="Courier"/>
              </a:rPr>
              <a:t>COLS</a:t>
            </a:r>
            <a:r>
              <a:rPr lang="en-US" dirty="0"/>
              <a:t> dimension</a:t>
            </a:r>
          </a:p>
          <a:p>
            <a:pPr lvl="1"/>
            <a:r>
              <a:rPr lang="en-US" dirty="0"/>
              <a:t>The number of </a:t>
            </a:r>
            <a:r>
              <a:rPr lang="en-US" b="1" dirty="0">
                <a:latin typeface="Courier"/>
                <a:cs typeface="Courier"/>
              </a:rPr>
              <a:t>ROWS</a:t>
            </a:r>
            <a:r>
              <a:rPr lang="en-US" b="1" dirty="0"/>
              <a:t> </a:t>
            </a:r>
            <a:r>
              <a:rPr lang="en-US" dirty="0"/>
              <a:t>is NOT always required</a:t>
            </a:r>
          </a:p>
          <a:p>
            <a:pPr lvl="2"/>
            <a:r>
              <a:rPr lang="en-US" dirty="0"/>
              <a:t>it can be calculated based on the number of columns and the initialization.</a:t>
            </a:r>
          </a:p>
          <a:p>
            <a:pPr lvl="1"/>
            <a:endParaRPr lang="en-US" dirty="0"/>
          </a:p>
          <a:p>
            <a:pPr lvl="1"/>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132</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3803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Array of Arrays: Initialization</a:t>
            </a:r>
          </a:p>
        </p:txBody>
      </p:sp>
      <p:sp>
        <p:nvSpPr>
          <p:cNvPr id="3" name="Content Placeholder 2"/>
          <p:cNvSpPr>
            <a:spLocks noGrp="1"/>
          </p:cNvSpPr>
          <p:nvPr>
            <p:ph idx="1"/>
          </p:nvPr>
        </p:nvSpPr>
        <p:spPr>
          <a:xfrm>
            <a:off x="457200" y="908720"/>
            <a:ext cx="8261350" cy="5263480"/>
          </a:xfrm>
        </p:spPr>
        <p:txBody>
          <a:bodyPr/>
          <a:lstStyle/>
          <a:p>
            <a:r>
              <a:rPr lang="fr-FR" b="1" dirty="0" err="1">
                <a:latin typeface="Courier"/>
                <a:cs typeface="Courier"/>
              </a:rPr>
              <a:t>int</a:t>
            </a:r>
            <a:r>
              <a:rPr lang="fr-FR" b="1" dirty="0">
                <a:latin typeface="Courier"/>
                <a:cs typeface="Courier"/>
              </a:rPr>
              <a:t> </a:t>
            </a:r>
            <a:r>
              <a:rPr lang="fr-FR" b="1" dirty="0" err="1">
                <a:latin typeface="Courier"/>
                <a:cs typeface="Courier"/>
              </a:rPr>
              <a:t>arr</a:t>
            </a:r>
            <a:r>
              <a:rPr lang="fr-FR" b="1" dirty="0">
                <a:latin typeface="Courier"/>
                <a:cs typeface="Courier"/>
              </a:rPr>
              <a:t>[3][2] = { </a:t>
            </a:r>
          </a:p>
          <a:p>
            <a:pPr marL="0" indent="0">
              <a:buNone/>
            </a:pPr>
            <a:r>
              <a:rPr lang="fr-FR" b="1" dirty="0">
                <a:latin typeface="Courier"/>
                <a:cs typeface="Courier"/>
              </a:rPr>
              <a:t>				{ 1 , 4 }, </a:t>
            </a:r>
          </a:p>
          <a:p>
            <a:pPr marL="0" indent="0">
              <a:buNone/>
            </a:pPr>
            <a:r>
              <a:rPr lang="fr-FR" b="1" dirty="0">
                <a:latin typeface="Courier"/>
                <a:cs typeface="Courier"/>
              </a:rPr>
              <a:t>				{ 5 , 2 }, </a:t>
            </a:r>
          </a:p>
          <a:p>
            <a:pPr marL="0" indent="0">
              <a:buNone/>
            </a:pPr>
            <a:r>
              <a:rPr lang="fr-FR" b="1" dirty="0">
                <a:latin typeface="Courier"/>
                <a:cs typeface="Courier"/>
              </a:rPr>
              <a:t>				{ 6 , 5 } 	</a:t>
            </a:r>
          </a:p>
          <a:p>
            <a:pPr marL="0" indent="0">
              <a:buNone/>
            </a:pPr>
            <a:r>
              <a:rPr lang="fr-FR" b="1" dirty="0">
                <a:latin typeface="Courier"/>
                <a:cs typeface="Courier"/>
              </a:rPr>
              <a:t>			};</a:t>
            </a:r>
            <a:endParaRPr lang="en-US" b="1" dirty="0">
              <a:latin typeface="Courier"/>
              <a:cs typeface="Courier"/>
            </a:endParaRPr>
          </a:p>
          <a:p>
            <a:r>
              <a:rPr lang="hu-HU" b="1" dirty="0">
                <a:latin typeface="Courier"/>
                <a:cs typeface="Courier"/>
              </a:rPr>
              <a:t>int arr[3][2] = { 1, 4, 5, 2, 6, 5 };</a:t>
            </a:r>
          </a:p>
          <a:p>
            <a:endParaRPr lang="hu-HU" b="1" dirty="0">
              <a:latin typeface="Courier"/>
              <a:cs typeface="Courier"/>
            </a:endParaRPr>
          </a:p>
          <a:p>
            <a:r>
              <a:rPr lang="hu-HU" b="1" dirty="0">
                <a:latin typeface="Courier"/>
                <a:cs typeface="Courier"/>
              </a:rPr>
              <a:t>int arr[3][2] = { { 1 }, { 5, 2 }, { 6 }};</a:t>
            </a:r>
          </a:p>
          <a:p>
            <a:pPr lvl="1"/>
            <a:r>
              <a:rPr lang="hu-HU" sz="2400" dirty="0">
                <a:cs typeface="Courier"/>
              </a:rPr>
              <a:t>Not initialised elements will get 0</a:t>
            </a:r>
          </a:p>
          <a:p>
            <a:pPr lvl="1"/>
            <a:endParaRPr lang="hu-HU" sz="2400" b="1" dirty="0">
              <a:latin typeface="Courier"/>
              <a:cs typeface="Courier"/>
            </a:endParaRPr>
          </a:p>
          <a:p>
            <a:r>
              <a:rPr lang="hu-HU" b="1" dirty="0">
                <a:latin typeface="Courier"/>
                <a:cs typeface="Courier"/>
              </a:rPr>
              <a:t>int arr[3][2] = {{ 0 }};</a:t>
            </a:r>
          </a:p>
          <a:p>
            <a:pPr lvl="1"/>
            <a:r>
              <a:rPr lang="hu-HU" sz="2400" dirty="0">
                <a:cs typeface="Courier"/>
              </a:rPr>
              <a:t>All elements are initialised to 0</a:t>
            </a:r>
          </a:p>
          <a:p>
            <a:endParaRPr lang="en-US" b="1" dirty="0">
              <a:latin typeface="Courier"/>
              <a:cs typeface="Courier"/>
            </a:endParaRP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133</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9816622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re 1"/>
          <p:cNvSpPr>
            <a:spLocks noGrp="1"/>
          </p:cNvSpPr>
          <p:nvPr>
            <p:ph type="title"/>
          </p:nvPr>
        </p:nvSpPr>
        <p:spPr/>
        <p:txBody>
          <a:bodyPr/>
          <a:lstStyle/>
          <a:p>
            <a:r>
              <a:rPr lang="en-US" sz="2800" dirty="0"/>
              <a:t>Array of Arrays</a:t>
            </a:r>
            <a:endParaRPr lang="fr-FR" sz="2800" dirty="0">
              <a:solidFill>
                <a:srgbClr val="800000"/>
              </a:solidFill>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134</a:t>
            </a:fld>
            <a:endParaRPr lang="fr-FR" sz="1400">
              <a:solidFill>
                <a:srgbClr val="000208"/>
              </a:solidFill>
              <a:latin typeface="Times New Roman"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872828821"/>
              </p:ext>
            </p:extLst>
          </p:nvPr>
        </p:nvGraphicFramePr>
        <p:xfrm>
          <a:off x="2673307" y="2237276"/>
          <a:ext cx="1197526" cy="2595880"/>
        </p:xfrm>
        <a:graphic>
          <a:graphicData uri="http://schemas.openxmlformats.org/drawingml/2006/table">
            <a:tbl>
              <a:tblPr firstRow="1" bandRow="1">
                <a:tableStyleId>{17292A2E-F333-43FB-9621-5CBBE7FDCDCB}</a:tableStyleId>
              </a:tblPr>
              <a:tblGrid>
                <a:gridCol w="1197526">
                  <a:extLst>
                    <a:ext uri="{9D8B030D-6E8A-4147-A177-3AD203B41FA5}">
                      <a16:colId xmlns:a16="http://schemas.microsoft.com/office/drawing/2014/main" val="20000"/>
                    </a:ext>
                  </a:extLst>
                </a:gridCol>
              </a:tblGrid>
              <a:tr h="370840">
                <a:tc>
                  <a:txBody>
                    <a:bodyPr/>
                    <a:lstStyle/>
                    <a:p>
                      <a:r>
                        <a:rPr lang="en-US" b="0" dirty="0">
                          <a:solidFill>
                            <a:srgbClr val="000000"/>
                          </a:solidFill>
                        </a:rPr>
                        <a:t>1</a:t>
                      </a:r>
                    </a:p>
                  </a:txBody>
                  <a:tcPr>
                    <a:solidFill>
                      <a:srgbClr val="FFFFFF"/>
                    </a:solidFill>
                  </a:tcPr>
                </a:tc>
                <a:extLst>
                  <a:ext uri="{0D108BD9-81ED-4DB2-BD59-A6C34878D82A}">
                    <a16:rowId xmlns:a16="http://schemas.microsoft.com/office/drawing/2014/main" val="10000"/>
                  </a:ext>
                </a:extLst>
              </a:tr>
              <a:tr h="370840">
                <a:tc>
                  <a:txBody>
                    <a:bodyPr/>
                    <a:lstStyle/>
                    <a:p>
                      <a:r>
                        <a:rPr lang="en-US" dirty="0"/>
                        <a:t>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US" dirty="0"/>
                        <a:t>7</a:t>
                      </a:r>
                    </a:p>
                  </a:txBody>
                  <a:tcPr>
                    <a:solidFill>
                      <a:srgbClr val="FFFFFF"/>
                    </a:solidFill>
                  </a:tcPr>
                </a:tc>
                <a:extLst>
                  <a:ext uri="{0D108BD9-81ED-4DB2-BD59-A6C34878D82A}">
                    <a16:rowId xmlns:a16="http://schemas.microsoft.com/office/drawing/2014/main" val="10002"/>
                  </a:ext>
                </a:extLst>
              </a:tr>
              <a:tr h="370840">
                <a:tc>
                  <a:txBody>
                    <a:bodyPr/>
                    <a:lstStyle/>
                    <a:p>
                      <a:r>
                        <a:rPr lang="en-US" dirty="0"/>
                        <a:t>10</a:t>
                      </a:r>
                    </a:p>
                  </a:txBody>
                  <a:tcPr>
                    <a:solidFill>
                      <a:srgbClr val="D9D9D9"/>
                    </a:solidFill>
                  </a:tcPr>
                </a:tc>
                <a:extLst>
                  <a:ext uri="{0D108BD9-81ED-4DB2-BD59-A6C34878D82A}">
                    <a16:rowId xmlns:a16="http://schemas.microsoft.com/office/drawing/2014/main" val="10003"/>
                  </a:ext>
                </a:extLst>
              </a:tr>
              <a:tr h="370840">
                <a:tc>
                  <a:txBody>
                    <a:bodyPr/>
                    <a:lstStyle/>
                    <a:p>
                      <a:endParaRPr lang="en-US" dirty="0"/>
                    </a:p>
                  </a:txBody>
                  <a:tcPr>
                    <a:solidFill>
                      <a:schemeClr val="bg1"/>
                    </a:solidFill>
                  </a:tcPr>
                </a:tc>
                <a:extLst>
                  <a:ext uri="{0D108BD9-81ED-4DB2-BD59-A6C34878D82A}">
                    <a16:rowId xmlns:a16="http://schemas.microsoft.com/office/drawing/2014/main" val="10004"/>
                  </a:ext>
                </a:extLst>
              </a:tr>
              <a:tr h="370840">
                <a:tc>
                  <a:txBody>
                    <a:bodyPr/>
                    <a:lstStyle/>
                    <a:p>
                      <a:endParaRPr lang="en-US" dirty="0"/>
                    </a:p>
                  </a:txBody>
                  <a:tcPr>
                    <a:solidFill>
                      <a:schemeClr val="bg1">
                        <a:lumMod val="85000"/>
                      </a:schemeClr>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97404244"/>
              </p:ext>
            </p:extLst>
          </p:nvPr>
        </p:nvGraphicFramePr>
        <p:xfrm>
          <a:off x="3942840" y="2237276"/>
          <a:ext cx="1197526" cy="2595880"/>
        </p:xfrm>
        <a:graphic>
          <a:graphicData uri="http://schemas.openxmlformats.org/drawingml/2006/table">
            <a:tbl>
              <a:tblPr firstRow="1" bandRow="1">
                <a:tableStyleId>{17292A2E-F333-43FB-9621-5CBBE7FDCDCB}</a:tableStyleId>
              </a:tblPr>
              <a:tblGrid>
                <a:gridCol w="1197526">
                  <a:extLst>
                    <a:ext uri="{9D8B030D-6E8A-4147-A177-3AD203B41FA5}">
                      <a16:colId xmlns:a16="http://schemas.microsoft.com/office/drawing/2014/main" val="20000"/>
                    </a:ext>
                  </a:extLst>
                </a:gridCol>
              </a:tblGrid>
              <a:tr h="370840">
                <a:tc>
                  <a:txBody>
                    <a:bodyPr/>
                    <a:lstStyle/>
                    <a:p>
                      <a:r>
                        <a:rPr lang="en-US" b="0" dirty="0">
                          <a:solidFill>
                            <a:schemeClr val="tx1"/>
                          </a:solidFill>
                        </a:rPr>
                        <a:t>2</a:t>
                      </a:r>
                    </a:p>
                  </a:txBody>
                  <a:tcPr>
                    <a:solidFill>
                      <a:srgbClr val="FFFFFF"/>
                    </a:solidFill>
                  </a:tcPr>
                </a:tc>
                <a:extLst>
                  <a:ext uri="{0D108BD9-81ED-4DB2-BD59-A6C34878D82A}">
                    <a16:rowId xmlns:a16="http://schemas.microsoft.com/office/drawing/2014/main" val="10000"/>
                  </a:ext>
                </a:extLst>
              </a:tr>
              <a:tr h="370840">
                <a:tc>
                  <a:txBody>
                    <a:bodyPr/>
                    <a:lstStyle/>
                    <a:p>
                      <a:r>
                        <a:rPr lang="en-US" dirty="0"/>
                        <a:t>5</a:t>
                      </a:r>
                    </a:p>
                  </a:txBody>
                  <a:tcPr>
                    <a:solidFill>
                      <a:srgbClr val="D9D9D9"/>
                    </a:solidFill>
                  </a:tcPr>
                </a:tc>
                <a:extLst>
                  <a:ext uri="{0D108BD9-81ED-4DB2-BD59-A6C34878D82A}">
                    <a16:rowId xmlns:a16="http://schemas.microsoft.com/office/drawing/2014/main" val="10001"/>
                  </a:ext>
                </a:extLst>
              </a:tr>
              <a:tr h="370840">
                <a:tc>
                  <a:txBody>
                    <a:bodyPr/>
                    <a:lstStyle/>
                    <a:p>
                      <a:r>
                        <a:rPr lang="en-US" dirty="0"/>
                        <a:t>8</a:t>
                      </a:r>
                    </a:p>
                  </a:txBody>
                  <a:tcPr>
                    <a:solidFill>
                      <a:srgbClr val="FFFFFF"/>
                    </a:solidFill>
                  </a:tcPr>
                </a:tc>
                <a:extLst>
                  <a:ext uri="{0D108BD9-81ED-4DB2-BD59-A6C34878D82A}">
                    <a16:rowId xmlns:a16="http://schemas.microsoft.com/office/drawing/2014/main" val="10002"/>
                  </a:ext>
                </a:extLst>
              </a:tr>
              <a:tr h="370840">
                <a:tc>
                  <a:txBody>
                    <a:bodyPr/>
                    <a:lstStyle/>
                    <a:p>
                      <a:r>
                        <a:rPr lang="en-US" dirty="0"/>
                        <a:t>11</a:t>
                      </a:r>
                    </a:p>
                  </a:txBody>
                  <a:tcPr>
                    <a:solidFill>
                      <a:srgbClr val="D9D9D9"/>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chemeClr val="bg1">
                        <a:lumMod val="85000"/>
                      </a:schemeClr>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882640379"/>
              </p:ext>
            </p:extLst>
          </p:nvPr>
        </p:nvGraphicFramePr>
        <p:xfrm>
          <a:off x="5210678" y="2237276"/>
          <a:ext cx="1197526" cy="2595880"/>
        </p:xfrm>
        <a:graphic>
          <a:graphicData uri="http://schemas.openxmlformats.org/drawingml/2006/table">
            <a:tbl>
              <a:tblPr firstRow="1" bandRow="1">
                <a:tableStyleId>{17292A2E-F333-43FB-9621-5CBBE7FDCDCB}</a:tableStyleId>
              </a:tblPr>
              <a:tblGrid>
                <a:gridCol w="1197526">
                  <a:extLst>
                    <a:ext uri="{9D8B030D-6E8A-4147-A177-3AD203B41FA5}">
                      <a16:colId xmlns:a16="http://schemas.microsoft.com/office/drawing/2014/main" val="20000"/>
                    </a:ext>
                  </a:extLst>
                </a:gridCol>
              </a:tblGrid>
              <a:tr h="370840">
                <a:tc>
                  <a:txBody>
                    <a:bodyPr/>
                    <a:lstStyle/>
                    <a:p>
                      <a:r>
                        <a:rPr lang="en-US" b="0" dirty="0">
                          <a:solidFill>
                            <a:srgbClr val="000000"/>
                          </a:solidFill>
                        </a:rPr>
                        <a:t>3</a:t>
                      </a:r>
                    </a:p>
                  </a:txBody>
                  <a:tcPr>
                    <a:solidFill>
                      <a:srgbClr val="FFFFFF"/>
                    </a:solidFill>
                  </a:tcPr>
                </a:tc>
                <a:extLst>
                  <a:ext uri="{0D108BD9-81ED-4DB2-BD59-A6C34878D82A}">
                    <a16:rowId xmlns:a16="http://schemas.microsoft.com/office/drawing/2014/main" val="10000"/>
                  </a:ext>
                </a:extLst>
              </a:tr>
              <a:tr h="370840">
                <a:tc>
                  <a:txBody>
                    <a:bodyPr/>
                    <a:lstStyle/>
                    <a:p>
                      <a:r>
                        <a:rPr lang="en-US" dirty="0"/>
                        <a:t>6</a:t>
                      </a:r>
                    </a:p>
                  </a:txBody>
                  <a:tcPr>
                    <a:solidFill>
                      <a:srgbClr val="D9D9D9"/>
                    </a:solidFill>
                  </a:tcPr>
                </a:tc>
                <a:extLst>
                  <a:ext uri="{0D108BD9-81ED-4DB2-BD59-A6C34878D82A}">
                    <a16:rowId xmlns:a16="http://schemas.microsoft.com/office/drawing/2014/main" val="10001"/>
                  </a:ext>
                </a:extLst>
              </a:tr>
              <a:tr h="370840">
                <a:tc>
                  <a:txBody>
                    <a:bodyPr/>
                    <a:lstStyle/>
                    <a:p>
                      <a:r>
                        <a:rPr lang="en-US" dirty="0"/>
                        <a:t>9</a:t>
                      </a:r>
                    </a:p>
                  </a:txBody>
                  <a:tcPr>
                    <a:solidFill>
                      <a:srgbClr val="FFFFFF"/>
                    </a:solidFill>
                  </a:tcPr>
                </a:tc>
                <a:extLst>
                  <a:ext uri="{0D108BD9-81ED-4DB2-BD59-A6C34878D82A}">
                    <a16:rowId xmlns:a16="http://schemas.microsoft.com/office/drawing/2014/main" val="10002"/>
                  </a:ext>
                </a:extLst>
              </a:tr>
              <a:tr h="370840">
                <a:tc>
                  <a:txBody>
                    <a:bodyPr/>
                    <a:lstStyle/>
                    <a:p>
                      <a:r>
                        <a:rPr lang="en-US" dirty="0"/>
                        <a:t>12</a:t>
                      </a:r>
                    </a:p>
                  </a:txBody>
                  <a:tcPr>
                    <a:solidFill>
                      <a:srgbClr val="D9D9D9"/>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chemeClr val="bg1">
                        <a:lumMod val="85000"/>
                      </a:schemeClr>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bl>
          </a:graphicData>
        </a:graphic>
      </p:graphicFrame>
      <p:grpSp>
        <p:nvGrpSpPr>
          <p:cNvPr id="10" name="Group 9"/>
          <p:cNvGrpSpPr/>
          <p:nvPr/>
        </p:nvGrpSpPr>
        <p:grpSpPr>
          <a:xfrm>
            <a:off x="2015716" y="1520788"/>
            <a:ext cx="1569886" cy="936104"/>
            <a:chOff x="2015716" y="1520788"/>
            <a:chExt cx="1569886" cy="936104"/>
          </a:xfrm>
        </p:grpSpPr>
        <p:sp>
          <p:nvSpPr>
            <p:cNvPr id="29" name="TextBox 28"/>
            <p:cNvSpPr txBox="1"/>
            <p:nvPr/>
          </p:nvSpPr>
          <p:spPr>
            <a:xfrm>
              <a:off x="2015716" y="1520788"/>
              <a:ext cx="156988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[0][0]</a:t>
              </a:r>
            </a:p>
          </p:txBody>
        </p:sp>
        <p:cxnSp>
          <p:nvCxnSpPr>
            <p:cNvPr id="24" name="Curved Connector 23"/>
            <p:cNvCxnSpPr>
              <a:stCxn id="29" idx="2"/>
            </p:cNvCxnSpPr>
            <p:nvPr/>
          </p:nvCxnSpPr>
          <p:spPr bwMode="auto">
            <a:xfrm rot="16200000" flipH="1">
              <a:off x="2716254" y="2005302"/>
              <a:ext cx="535994" cy="367185"/>
            </a:xfrm>
            <a:prstGeom prst="curvedConnector3">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3" name="Group 12"/>
          <p:cNvGrpSpPr/>
          <p:nvPr/>
        </p:nvGrpSpPr>
        <p:grpSpPr>
          <a:xfrm>
            <a:off x="5508104" y="1448780"/>
            <a:ext cx="1569886" cy="1008113"/>
            <a:chOff x="3779912" y="1520788"/>
            <a:chExt cx="1569886" cy="1008113"/>
          </a:xfrm>
        </p:grpSpPr>
        <p:sp>
          <p:nvSpPr>
            <p:cNvPr id="30" name="TextBox 29"/>
            <p:cNvSpPr txBox="1"/>
            <p:nvPr/>
          </p:nvSpPr>
          <p:spPr>
            <a:xfrm>
              <a:off x="3779912" y="1520788"/>
              <a:ext cx="156988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[0][2]</a:t>
              </a:r>
            </a:p>
          </p:txBody>
        </p:sp>
        <p:cxnSp>
          <p:nvCxnSpPr>
            <p:cNvPr id="33" name="Curved Connector 32"/>
            <p:cNvCxnSpPr>
              <a:stCxn id="30" idx="2"/>
            </p:cNvCxnSpPr>
            <p:nvPr/>
          </p:nvCxnSpPr>
          <p:spPr bwMode="auto">
            <a:xfrm rot="5400000">
              <a:off x="4156416" y="2120461"/>
              <a:ext cx="608002" cy="208877"/>
            </a:xfrm>
            <a:prstGeom prst="curvedConnector3">
              <a:avLst>
                <a:gd name="adj1" fmla="val 50000"/>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4" name="Group 13"/>
          <p:cNvGrpSpPr/>
          <p:nvPr/>
        </p:nvGrpSpPr>
        <p:grpSpPr>
          <a:xfrm>
            <a:off x="827584" y="2744924"/>
            <a:ext cx="2376264" cy="1620180"/>
            <a:chOff x="827584" y="2744924"/>
            <a:chExt cx="2376264" cy="1620180"/>
          </a:xfrm>
        </p:grpSpPr>
        <p:sp>
          <p:nvSpPr>
            <p:cNvPr id="36" name="TextBox 35"/>
            <p:cNvSpPr txBox="1"/>
            <p:nvPr/>
          </p:nvSpPr>
          <p:spPr>
            <a:xfrm>
              <a:off x="827584" y="3964994"/>
              <a:ext cx="156988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[1][0]</a:t>
              </a:r>
            </a:p>
          </p:txBody>
        </p:sp>
        <p:cxnSp>
          <p:nvCxnSpPr>
            <p:cNvPr id="37" name="Curved Connector 36"/>
            <p:cNvCxnSpPr>
              <a:stCxn id="36" idx="3"/>
            </p:cNvCxnSpPr>
            <p:nvPr/>
          </p:nvCxnSpPr>
          <p:spPr bwMode="auto">
            <a:xfrm flipV="1">
              <a:off x="2397470" y="2744924"/>
              <a:ext cx="806378" cy="1420125"/>
            </a:xfrm>
            <a:prstGeom prst="curvedConnector2">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 name="Group 2"/>
          <p:cNvGrpSpPr/>
          <p:nvPr/>
        </p:nvGrpSpPr>
        <p:grpSpPr>
          <a:xfrm>
            <a:off x="755576" y="2197656"/>
            <a:ext cx="6228692" cy="400110"/>
            <a:chOff x="755576" y="2197656"/>
            <a:chExt cx="6228692" cy="400110"/>
          </a:xfrm>
        </p:grpSpPr>
        <p:sp>
          <p:nvSpPr>
            <p:cNvPr id="8" name="TextBox 7"/>
            <p:cNvSpPr txBox="1"/>
            <p:nvPr/>
          </p:nvSpPr>
          <p:spPr>
            <a:xfrm>
              <a:off x="755576" y="2197656"/>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a:t>
              </a:r>
            </a:p>
          </p:txBody>
        </p:sp>
        <p:cxnSp>
          <p:nvCxnSpPr>
            <p:cNvPr id="22" name="Straight Arrow Connector 21"/>
            <p:cNvCxnSpPr/>
            <p:nvPr/>
          </p:nvCxnSpPr>
          <p:spPr bwMode="auto">
            <a:xfrm>
              <a:off x="1871700" y="2420888"/>
              <a:ext cx="684076"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Rectangle 1"/>
            <p:cNvSpPr/>
            <p:nvPr/>
          </p:nvSpPr>
          <p:spPr bwMode="auto">
            <a:xfrm>
              <a:off x="2087724" y="2204864"/>
              <a:ext cx="4896544" cy="36004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4" name="Group 3"/>
          <p:cNvGrpSpPr/>
          <p:nvPr/>
        </p:nvGrpSpPr>
        <p:grpSpPr>
          <a:xfrm>
            <a:off x="755576" y="2560838"/>
            <a:ext cx="6228692" cy="400110"/>
            <a:chOff x="755576" y="2560838"/>
            <a:chExt cx="6228692" cy="400110"/>
          </a:xfrm>
        </p:grpSpPr>
        <p:sp>
          <p:nvSpPr>
            <p:cNvPr id="25" name="TextBox 24"/>
            <p:cNvSpPr txBox="1"/>
            <p:nvPr/>
          </p:nvSpPr>
          <p:spPr>
            <a:xfrm>
              <a:off x="755576" y="2560838"/>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[1]</a:t>
              </a:r>
            </a:p>
          </p:txBody>
        </p:sp>
        <p:cxnSp>
          <p:nvCxnSpPr>
            <p:cNvPr id="26" name="Straight Arrow Connector 25"/>
            <p:cNvCxnSpPr/>
            <p:nvPr/>
          </p:nvCxnSpPr>
          <p:spPr bwMode="auto">
            <a:xfrm>
              <a:off x="1871700" y="2784070"/>
              <a:ext cx="684076"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 name="Rectangle 22"/>
            <p:cNvSpPr/>
            <p:nvPr/>
          </p:nvSpPr>
          <p:spPr bwMode="auto">
            <a:xfrm>
              <a:off x="2087724" y="2600908"/>
              <a:ext cx="4896544" cy="36004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9" name="Group 8"/>
          <p:cNvGrpSpPr/>
          <p:nvPr/>
        </p:nvGrpSpPr>
        <p:grpSpPr>
          <a:xfrm>
            <a:off x="755576" y="2924944"/>
            <a:ext cx="6228692" cy="432048"/>
            <a:chOff x="755576" y="2924944"/>
            <a:chExt cx="6228692" cy="432048"/>
          </a:xfrm>
        </p:grpSpPr>
        <p:sp>
          <p:nvSpPr>
            <p:cNvPr id="27" name="TextBox 26"/>
            <p:cNvSpPr txBox="1"/>
            <p:nvPr/>
          </p:nvSpPr>
          <p:spPr>
            <a:xfrm>
              <a:off x="755576" y="2924944"/>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[2]</a:t>
              </a:r>
            </a:p>
          </p:txBody>
        </p:sp>
        <p:cxnSp>
          <p:nvCxnSpPr>
            <p:cNvPr id="28" name="Straight Arrow Connector 27"/>
            <p:cNvCxnSpPr/>
            <p:nvPr/>
          </p:nvCxnSpPr>
          <p:spPr bwMode="auto">
            <a:xfrm>
              <a:off x="1871700" y="3148176"/>
              <a:ext cx="684076"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Rectangle 30"/>
            <p:cNvSpPr/>
            <p:nvPr/>
          </p:nvSpPr>
          <p:spPr bwMode="auto">
            <a:xfrm>
              <a:off x="2087724" y="2996952"/>
              <a:ext cx="4896544" cy="36004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15" name="Rectangle 14"/>
          <p:cNvSpPr/>
          <p:nvPr/>
        </p:nvSpPr>
        <p:spPr>
          <a:xfrm>
            <a:off x="468469" y="764704"/>
            <a:ext cx="2493366" cy="400110"/>
          </a:xfrm>
          <a:prstGeom prst="rect">
            <a:avLst/>
          </a:prstGeom>
        </p:spPr>
        <p:txBody>
          <a:bodyPr wrap="none">
            <a:spAutoFit/>
          </a:bodyPr>
          <a:lstStyle/>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[4][3] ; </a:t>
            </a:r>
          </a:p>
        </p:txBody>
      </p:sp>
      <p:grpSp>
        <p:nvGrpSpPr>
          <p:cNvPr id="32" name="Group 31"/>
          <p:cNvGrpSpPr/>
          <p:nvPr/>
        </p:nvGrpSpPr>
        <p:grpSpPr>
          <a:xfrm>
            <a:off x="755576" y="3284984"/>
            <a:ext cx="6228692" cy="432048"/>
            <a:chOff x="755576" y="2924944"/>
            <a:chExt cx="6228692" cy="432048"/>
          </a:xfrm>
        </p:grpSpPr>
        <p:sp>
          <p:nvSpPr>
            <p:cNvPr id="34" name="TextBox 33"/>
            <p:cNvSpPr txBox="1"/>
            <p:nvPr/>
          </p:nvSpPr>
          <p:spPr>
            <a:xfrm>
              <a:off x="755576" y="2924944"/>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[3]</a:t>
              </a:r>
            </a:p>
          </p:txBody>
        </p:sp>
        <p:cxnSp>
          <p:nvCxnSpPr>
            <p:cNvPr id="35" name="Straight Arrow Connector 34"/>
            <p:cNvCxnSpPr/>
            <p:nvPr/>
          </p:nvCxnSpPr>
          <p:spPr bwMode="auto">
            <a:xfrm>
              <a:off x="1871700" y="3148176"/>
              <a:ext cx="684076"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8" name="Rectangle 37"/>
            <p:cNvSpPr/>
            <p:nvPr/>
          </p:nvSpPr>
          <p:spPr bwMode="auto">
            <a:xfrm>
              <a:off x="2087724" y="2996952"/>
              <a:ext cx="4896544" cy="36004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39" name="Group 38"/>
          <p:cNvGrpSpPr/>
          <p:nvPr/>
        </p:nvGrpSpPr>
        <p:grpSpPr>
          <a:xfrm>
            <a:off x="4248077" y="3537018"/>
            <a:ext cx="1584063" cy="2668356"/>
            <a:chOff x="1403761" y="2744930"/>
            <a:chExt cx="1584063" cy="2668356"/>
          </a:xfrm>
        </p:grpSpPr>
        <p:sp>
          <p:nvSpPr>
            <p:cNvPr id="40" name="TextBox 39"/>
            <p:cNvSpPr txBox="1"/>
            <p:nvPr/>
          </p:nvSpPr>
          <p:spPr>
            <a:xfrm>
              <a:off x="1403761" y="5013176"/>
              <a:ext cx="1569660"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[3][2]</a:t>
              </a:r>
            </a:p>
          </p:txBody>
        </p:sp>
        <p:cxnSp>
          <p:nvCxnSpPr>
            <p:cNvPr id="41" name="Curved Connector 40"/>
            <p:cNvCxnSpPr>
              <a:stCxn id="40" idx="0"/>
            </p:cNvCxnSpPr>
            <p:nvPr/>
          </p:nvCxnSpPr>
          <p:spPr bwMode="auto">
            <a:xfrm rot="5400000" flipH="1" flipV="1">
              <a:off x="1454084" y="3479437"/>
              <a:ext cx="2268247" cy="799233"/>
            </a:xfrm>
            <a:prstGeom prst="curvedConnector3">
              <a:avLst>
                <a:gd name="adj1" fmla="val 50000"/>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2" name="Group 41"/>
          <p:cNvGrpSpPr/>
          <p:nvPr/>
        </p:nvGrpSpPr>
        <p:grpSpPr>
          <a:xfrm>
            <a:off x="3794202" y="1412776"/>
            <a:ext cx="1569886" cy="1008113"/>
            <a:chOff x="3779912" y="1520788"/>
            <a:chExt cx="1569886" cy="1008113"/>
          </a:xfrm>
        </p:grpSpPr>
        <p:sp>
          <p:nvSpPr>
            <p:cNvPr id="43" name="TextBox 42"/>
            <p:cNvSpPr txBox="1"/>
            <p:nvPr/>
          </p:nvSpPr>
          <p:spPr>
            <a:xfrm>
              <a:off x="3779912" y="1520788"/>
              <a:ext cx="156988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[0][1]</a:t>
              </a:r>
            </a:p>
          </p:txBody>
        </p:sp>
        <p:cxnSp>
          <p:nvCxnSpPr>
            <p:cNvPr id="44" name="Curved Connector 43"/>
            <p:cNvCxnSpPr>
              <a:stCxn id="43" idx="2"/>
            </p:cNvCxnSpPr>
            <p:nvPr/>
          </p:nvCxnSpPr>
          <p:spPr bwMode="auto">
            <a:xfrm rot="5400000">
              <a:off x="4156415" y="2120460"/>
              <a:ext cx="608002" cy="208879"/>
            </a:xfrm>
            <a:prstGeom prst="curvedConnector3">
              <a:avLst>
                <a:gd name="adj1" fmla="val 50000"/>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03700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4044613" y="3954644"/>
            <a:ext cx="1239267" cy="400110"/>
          </a:xfrm>
          <a:prstGeom prst="rect">
            <a:avLst/>
          </a:prstGeom>
          <a:noFill/>
        </p:spPr>
        <p:txBody>
          <a:bodyPr wrap="none" rtlCol="0">
            <a:spAutoFit/>
          </a:bodyPr>
          <a:lstStyle/>
          <a:p>
            <a:r>
              <a:rPr lang="en-US" sz="2000" b="1" dirty="0" err="1"/>
              <a:t>arr</a:t>
            </a:r>
            <a:r>
              <a:rPr lang="en-US" sz="2000" b="1" dirty="0"/>
              <a:t>[2][0]:</a:t>
            </a:r>
          </a:p>
        </p:txBody>
      </p:sp>
      <p:sp>
        <p:nvSpPr>
          <p:cNvPr id="2" name="Title 1"/>
          <p:cNvSpPr>
            <a:spLocks noGrp="1"/>
          </p:cNvSpPr>
          <p:nvPr>
            <p:ph type="title"/>
          </p:nvPr>
        </p:nvSpPr>
        <p:spPr/>
        <p:txBody>
          <a:bodyPr/>
          <a:lstStyle/>
          <a:p>
            <a:r>
              <a:rPr lang="en-US" sz="2800" dirty="0"/>
              <a:t>Array of Arrays</a:t>
            </a:r>
          </a:p>
        </p:txBody>
      </p:sp>
      <p:sp>
        <p:nvSpPr>
          <p:cNvPr id="3" name="Content Placeholder 2"/>
          <p:cNvSpPr>
            <a:spLocks noGrp="1"/>
          </p:cNvSpPr>
          <p:nvPr>
            <p:ph idx="1"/>
          </p:nvPr>
        </p:nvSpPr>
        <p:spPr>
          <a:xfrm>
            <a:off x="457200" y="728700"/>
            <a:ext cx="8261350" cy="504056"/>
          </a:xfrm>
        </p:spPr>
        <p:txBody>
          <a:bodyPr/>
          <a:lstStyle/>
          <a:p>
            <a:r>
              <a:rPr lang="en-US" dirty="0"/>
              <a:t>It is continuously stored in memory, row by row</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135</a:t>
            </a:fld>
            <a:endParaRPr lang="fr-FR"/>
          </a:p>
        </p:txBody>
      </p:sp>
      <p:graphicFrame>
        <p:nvGraphicFramePr>
          <p:cNvPr id="6" name="Table 5"/>
          <p:cNvGraphicFramePr>
            <a:graphicFrameLocks noGrp="1"/>
          </p:cNvGraphicFramePr>
          <p:nvPr>
            <p:extLst>
              <p:ext uri="{D42A27DB-BD31-4B8C-83A1-F6EECF244321}">
                <p14:modId xmlns:p14="http://schemas.microsoft.com/office/powerpoint/2010/main" val="2713158646"/>
              </p:ext>
            </p:extLst>
          </p:nvPr>
        </p:nvGraphicFramePr>
        <p:xfrm>
          <a:off x="6228184" y="1808820"/>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7" name="TextBox 6"/>
          <p:cNvSpPr txBox="1"/>
          <p:nvPr/>
        </p:nvSpPr>
        <p:spPr>
          <a:xfrm>
            <a:off x="6624228" y="1319180"/>
            <a:ext cx="1184940" cy="400110"/>
          </a:xfrm>
          <a:prstGeom prst="rect">
            <a:avLst/>
          </a:prstGeom>
          <a:noFill/>
        </p:spPr>
        <p:txBody>
          <a:bodyPr wrap="none" rtlCol="0">
            <a:spAutoFit/>
          </a:bodyPr>
          <a:lstStyle/>
          <a:p>
            <a:r>
              <a:rPr lang="en-US" sz="2000" b="1" dirty="0"/>
              <a:t>Memory</a:t>
            </a:r>
          </a:p>
        </p:txBody>
      </p:sp>
      <p:sp>
        <p:nvSpPr>
          <p:cNvPr id="8" name="TextBox 7"/>
          <p:cNvSpPr txBox="1"/>
          <p:nvPr/>
        </p:nvSpPr>
        <p:spPr>
          <a:xfrm>
            <a:off x="5076259" y="1772816"/>
            <a:ext cx="1040519" cy="400110"/>
          </a:xfrm>
          <a:prstGeom prst="rect">
            <a:avLst/>
          </a:prstGeom>
          <a:noFill/>
        </p:spPr>
        <p:txBody>
          <a:bodyPr wrap="none" rtlCol="0">
            <a:spAutoFit/>
          </a:bodyPr>
          <a:lstStyle/>
          <a:p>
            <a:r>
              <a:rPr lang="en-US" sz="2000" b="1" dirty="0"/>
              <a:t>0x1000</a:t>
            </a:r>
          </a:p>
        </p:txBody>
      </p:sp>
      <p:sp>
        <p:nvSpPr>
          <p:cNvPr id="9" name="TextBox 8"/>
          <p:cNvSpPr txBox="1"/>
          <p:nvPr/>
        </p:nvSpPr>
        <p:spPr>
          <a:xfrm>
            <a:off x="4004136" y="1736812"/>
            <a:ext cx="1239267" cy="400110"/>
          </a:xfrm>
          <a:prstGeom prst="rect">
            <a:avLst/>
          </a:prstGeom>
          <a:noFill/>
        </p:spPr>
        <p:txBody>
          <a:bodyPr wrap="none" rtlCol="0">
            <a:spAutoFit/>
          </a:bodyPr>
          <a:lstStyle/>
          <a:p>
            <a:r>
              <a:rPr lang="en-US" sz="2000" b="1" dirty="0" err="1"/>
              <a:t>arr</a:t>
            </a:r>
            <a:r>
              <a:rPr lang="en-US" sz="2000" b="1" dirty="0"/>
              <a:t>[0][0]:</a:t>
            </a:r>
          </a:p>
        </p:txBody>
      </p:sp>
      <p:sp>
        <p:nvSpPr>
          <p:cNvPr id="10" name="Rectangle 9"/>
          <p:cNvSpPr/>
          <p:nvPr/>
        </p:nvSpPr>
        <p:spPr>
          <a:xfrm>
            <a:off x="7085680" y="1736812"/>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1" name="TextBox 10"/>
          <p:cNvSpPr txBox="1"/>
          <p:nvPr/>
        </p:nvSpPr>
        <p:spPr>
          <a:xfrm>
            <a:off x="5074293" y="2200798"/>
            <a:ext cx="1043876" cy="400110"/>
          </a:xfrm>
          <a:prstGeom prst="rect">
            <a:avLst/>
          </a:prstGeom>
          <a:noFill/>
        </p:spPr>
        <p:txBody>
          <a:bodyPr wrap="none" rtlCol="0">
            <a:spAutoFit/>
          </a:bodyPr>
          <a:lstStyle/>
          <a:p>
            <a:r>
              <a:rPr lang="en-US" sz="2000" b="1" dirty="0"/>
              <a:t>0x1004</a:t>
            </a:r>
          </a:p>
        </p:txBody>
      </p:sp>
      <p:sp>
        <p:nvSpPr>
          <p:cNvPr id="12" name="TextBox 11"/>
          <p:cNvSpPr txBox="1"/>
          <p:nvPr/>
        </p:nvSpPr>
        <p:spPr>
          <a:xfrm>
            <a:off x="4040140" y="2164794"/>
            <a:ext cx="1239267" cy="400110"/>
          </a:xfrm>
          <a:prstGeom prst="rect">
            <a:avLst/>
          </a:prstGeom>
          <a:noFill/>
        </p:spPr>
        <p:txBody>
          <a:bodyPr wrap="none" rtlCol="0">
            <a:spAutoFit/>
          </a:bodyPr>
          <a:lstStyle/>
          <a:p>
            <a:r>
              <a:rPr lang="en-US" sz="2000" b="1" dirty="0" err="1"/>
              <a:t>arr</a:t>
            </a:r>
            <a:r>
              <a:rPr lang="en-US" sz="2000" b="1" dirty="0"/>
              <a:t>[0][1]:</a:t>
            </a:r>
          </a:p>
        </p:txBody>
      </p:sp>
      <p:sp>
        <p:nvSpPr>
          <p:cNvPr id="13" name="Rectangle 12"/>
          <p:cNvSpPr/>
          <p:nvPr/>
        </p:nvSpPr>
        <p:spPr>
          <a:xfrm>
            <a:off x="7085680" y="2164794"/>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4" name="TextBox 13"/>
          <p:cNvSpPr txBox="1"/>
          <p:nvPr/>
        </p:nvSpPr>
        <p:spPr>
          <a:xfrm>
            <a:off x="5075971" y="5153126"/>
            <a:ext cx="1040519" cy="400110"/>
          </a:xfrm>
          <a:prstGeom prst="rect">
            <a:avLst/>
          </a:prstGeom>
          <a:noFill/>
        </p:spPr>
        <p:txBody>
          <a:bodyPr wrap="none" rtlCol="0">
            <a:spAutoFit/>
          </a:bodyPr>
          <a:lstStyle/>
          <a:p>
            <a:r>
              <a:rPr lang="en-US" sz="2000" b="1" dirty="0"/>
              <a:t>0x1028</a:t>
            </a:r>
          </a:p>
        </p:txBody>
      </p:sp>
      <p:sp>
        <p:nvSpPr>
          <p:cNvPr id="15" name="TextBox 14"/>
          <p:cNvSpPr txBox="1"/>
          <p:nvPr/>
        </p:nvSpPr>
        <p:spPr>
          <a:xfrm>
            <a:off x="4040140" y="5157192"/>
            <a:ext cx="1239267" cy="400110"/>
          </a:xfrm>
          <a:prstGeom prst="rect">
            <a:avLst/>
          </a:prstGeom>
          <a:noFill/>
        </p:spPr>
        <p:txBody>
          <a:bodyPr wrap="none" rtlCol="0">
            <a:spAutoFit/>
          </a:bodyPr>
          <a:lstStyle/>
          <a:p>
            <a:r>
              <a:rPr lang="en-US" sz="2000" b="1" dirty="0" err="1"/>
              <a:t>arr</a:t>
            </a:r>
            <a:r>
              <a:rPr lang="en-US" sz="2000" b="1" dirty="0"/>
              <a:t>[3][0]:</a:t>
            </a:r>
          </a:p>
        </p:txBody>
      </p:sp>
      <p:sp>
        <p:nvSpPr>
          <p:cNvPr id="16" name="Rectangle 15"/>
          <p:cNvSpPr/>
          <p:nvPr/>
        </p:nvSpPr>
        <p:spPr>
          <a:xfrm>
            <a:off x="7085680" y="5085184"/>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18" name="Rectangle 17"/>
          <p:cNvSpPr/>
          <p:nvPr/>
        </p:nvSpPr>
        <p:spPr>
          <a:xfrm>
            <a:off x="7085680" y="2524834"/>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19" name="Rectangle 18"/>
          <p:cNvSpPr/>
          <p:nvPr/>
        </p:nvSpPr>
        <p:spPr>
          <a:xfrm>
            <a:off x="7085680" y="2884874"/>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0" name="Rectangle 19"/>
          <p:cNvSpPr/>
          <p:nvPr/>
        </p:nvSpPr>
        <p:spPr>
          <a:xfrm>
            <a:off x="7085680" y="3172906"/>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1" name="Rectangle 20"/>
          <p:cNvSpPr/>
          <p:nvPr/>
        </p:nvSpPr>
        <p:spPr>
          <a:xfrm>
            <a:off x="7085680" y="3532946"/>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2" name="Rectangle 21"/>
          <p:cNvSpPr/>
          <p:nvPr/>
        </p:nvSpPr>
        <p:spPr>
          <a:xfrm>
            <a:off x="7085680" y="3892986"/>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3" name="Rectangle 22"/>
          <p:cNvSpPr/>
          <p:nvPr/>
        </p:nvSpPr>
        <p:spPr>
          <a:xfrm>
            <a:off x="7085680" y="4289030"/>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4" name="Rectangle 23"/>
          <p:cNvSpPr/>
          <p:nvPr/>
        </p:nvSpPr>
        <p:spPr>
          <a:xfrm>
            <a:off x="7085680" y="4685074"/>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5" name="TextBox 24"/>
          <p:cNvSpPr txBox="1"/>
          <p:nvPr/>
        </p:nvSpPr>
        <p:spPr>
          <a:xfrm>
            <a:off x="5075971" y="2586492"/>
            <a:ext cx="1040519" cy="400110"/>
          </a:xfrm>
          <a:prstGeom prst="rect">
            <a:avLst/>
          </a:prstGeom>
          <a:noFill/>
        </p:spPr>
        <p:txBody>
          <a:bodyPr wrap="none" rtlCol="0">
            <a:spAutoFit/>
          </a:bodyPr>
          <a:lstStyle/>
          <a:p>
            <a:r>
              <a:rPr lang="en-US" sz="2000" b="1" dirty="0"/>
              <a:t>0x1008</a:t>
            </a:r>
          </a:p>
        </p:txBody>
      </p:sp>
      <p:sp>
        <p:nvSpPr>
          <p:cNvPr id="26" name="TextBox 25"/>
          <p:cNvSpPr txBox="1"/>
          <p:nvPr/>
        </p:nvSpPr>
        <p:spPr>
          <a:xfrm>
            <a:off x="4040140" y="2550488"/>
            <a:ext cx="1239267" cy="400110"/>
          </a:xfrm>
          <a:prstGeom prst="rect">
            <a:avLst/>
          </a:prstGeom>
          <a:noFill/>
        </p:spPr>
        <p:txBody>
          <a:bodyPr wrap="none" rtlCol="0">
            <a:spAutoFit/>
          </a:bodyPr>
          <a:lstStyle/>
          <a:p>
            <a:r>
              <a:rPr lang="en-US" sz="2000" b="1" dirty="0" err="1"/>
              <a:t>arr</a:t>
            </a:r>
            <a:r>
              <a:rPr lang="en-US" sz="2000" b="1" dirty="0"/>
              <a:t>[0][2]:</a:t>
            </a:r>
          </a:p>
        </p:txBody>
      </p:sp>
      <p:sp>
        <p:nvSpPr>
          <p:cNvPr id="27" name="TextBox 26"/>
          <p:cNvSpPr txBox="1"/>
          <p:nvPr/>
        </p:nvSpPr>
        <p:spPr>
          <a:xfrm>
            <a:off x="5062912" y="2958435"/>
            <a:ext cx="1083099" cy="400110"/>
          </a:xfrm>
          <a:prstGeom prst="rect">
            <a:avLst/>
          </a:prstGeom>
          <a:noFill/>
        </p:spPr>
        <p:txBody>
          <a:bodyPr wrap="none" rtlCol="0">
            <a:spAutoFit/>
          </a:bodyPr>
          <a:lstStyle/>
          <a:p>
            <a:r>
              <a:rPr lang="en-US" sz="2000" b="1" dirty="0"/>
              <a:t>0x100C</a:t>
            </a:r>
          </a:p>
        </p:txBody>
      </p:sp>
      <p:sp>
        <p:nvSpPr>
          <p:cNvPr id="28" name="TextBox 27"/>
          <p:cNvSpPr txBox="1"/>
          <p:nvPr/>
        </p:nvSpPr>
        <p:spPr>
          <a:xfrm>
            <a:off x="4040140" y="2922431"/>
            <a:ext cx="1239267" cy="400110"/>
          </a:xfrm>
          <a:prstGeom prst="rect">
            <a:avLst/>
          </a:prstGeom>
          <a:noFill/>
        </p:spPr>
        <p:txBody>
          <a:bodyPr wrap="none" rtlCol="0">
            <a:spAutoFit/>
          </a:bodyPr>
          <a:lstStyle/>
          <a:p>
            <a:r>
              <a:rPr lang="en-US" sz="2000" b="1" dirty="0" err="1"/>
              <a:t>arr</a:t>
            </a:r>
            <a:r>
              <a:rPr lang="en-US" sz="2000" b="1" dirty="0"/>
              <a:t>[1][0]:</a:t>
            </a:r>
          </a:p>
        </p:txBody>
      </p:sp>
      <p:sp>
        <p:nvSpPr>
          <p:cNvPr id="29" name="Rectangle 28"/>
          <p:cNvSpPr/>
          <p:nvPr/>
        </p:nvSpPr>
        <p:spPr>
          <a:xfrm>
            <a:off x="287524" y="1196752"/>
            <a:ext cx="2493366" cy="400110"/>
          </a:xfrm>
          <a:prstGeom prst="rect">
            <a:avLst/>
          </a:prstGeom>
        </p:spPr>
        <p:txBody>
          <a:bodyPr wrap="none">
            <a:spAutoFit/>
          </a:bodyPr>
          <a:lstStyle/>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[4][3] ; </a:t>
            </a:r>
          </a:p>
        </p:txBody>
      </p:sp>
      <p:grpSp>
        <p:nvGrpSpPr>
          <p:cNvPr id="39" name="Group 38"/>
          <p:cNvGrpSpPr/>
          <p:nvPr/>
        </p:nvGrpSpPr>
        <p:grpSpPr>
          <a:xfrm>
            <a:off x="2695920" y="2924943"/>
            <a:ext cx="5724891" cy="1116123"/>
            <a:chOff x="-1619655" y="2953749"/>
            <a:chExt cx="8001148" cy="892899"/>
          </a:xfrm>
        </p:grpSpPr>
        <p:sp>
          <p:nvSpPr>
            <p:cNvPr id="40" name="TextBox 39"/>
            <p:cNvSpPr txBox="1"/>
            <p:nvPr/>
          </p:nvSpPr>
          <p:spPr>
            <a:xfrm>
              <a:off x="-1619655" y="2953749"/>
              <a:ext cx="1279961" cy="320088"/>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[1]</a:t>
              </a:r>
            </a:p>
          </p:txBody>
        </p:sp>
        <p:cxnSp>
          <p:nvCxnSpPr>
            <p:cNvPr id="41" name="Straight Arrow Connector 40"/>
            <p:cNvCxnSpPr>
              <a:stCxn id="40" idx="3"/>
              <a:endCxn id="28" idx="1"/>
            </p:cNvCxnSpPr>
            <p:nvPr/>
          </p:nvCxnSpPr>
          <p:spPr bwMode="auto">
            <a:xfrm flipV="1">
              <a:off x="-339694" y="3111784"/>
              <a:ext cx="598731" cy="201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2" name="Rectangle 41"/>
            <p:cNvSpPr/>
            <p:nvPr/>
          </p:nvSpPr>
          <p:spPr bwMode="auto">
            <a:xfrm>
              <a:off x="297895" y="2982552"/>
              <a:ext cx="6083598" cy="864096"/>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43" name="Group 42"/>
          <p:cNvGrpSpPr/>
          <p:nvPr/>
        </p:nvGrpSpPr>
        <p:grpSpPr>
          <a:xfrm>
            <a:off x="2731924" y="3968174"/>
            <a:ext cx="5688887" cy="1153017"/>
            <a:chOff x="-1502357" y="2852224"/>
            <a:chExt cx="7950825" cy="922413"/>
          </a:xfrm>
        </p:grpSpPr>
        <p:sp>
          <p:nvSpPr>
            <p:cNvPr id="44" name="TextBox 43"/>
            <p:cNvSpPr txBox="1"/>
            <p:nvPr/>
          </p:nvSpPr>
          <p:spPr>
            <a:xfrm>
              <a:off x="-1502357" y="2852224"/>
              <a:ext cx="1279960" cy="290989"/>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[2]</a:t>
              </a:r>
            </a:p>
          </p:txBody>
        </p:sp>
        <p:cxnSp>
          <p:nvCxnSpPr>
            <p:cNvPr id="45" name="Straight Arrow Connector 44"/>
            <p:cNvCxnSpPr>
              <a:stCxn id="44" idx="3"/>
              <a:endCxn id="56" idx="1"/>
            </p:cNvCxnSpPr>
            <p:nvPr/>
          </p:nvCxnSpPr>
          <p:spPr bwMode="auto">
            <a:xfrm>
              <a:off x="-222397" y="2997718"/>
              <a:ext cx="554662" cy="3726"/>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Rectangle 45"/>
            <p:cNvSpPr/>
            <p:nvPr/>
          </p:nvSpPr>
          <p:spPr bwMode="auto">
            <a:xfrm>
              <a:off x="364873" y="2910541"/>
              <a:ext cx="6083595" cy="864096"/>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47" name="Group 46"/>
          <p:cNvGrpSpPr/>
          <p:nvPr/>
        </p:nvGrpSpPr>
        <p:grpSpPr>
          <a:xfrm>
            <a:off x="2720073" y="1736811"/>
            <a:ext cx="5704356" cy="1188129"/>
            <a:chOff x="-1619099" y="2939346"/>
            <a:chExt cx="7972452" cy="950504"/>
          </a:xfrm>
        </p:grpSpPr>
        <p:sp>
          <p:nvSpPr>
            <p:cNvPr id="48" name="TextBox 47"/>
            <p:cNvSpPr txBox="1"/>
            <p:nvPr/>
          </p:nvSpPr>
          <p:spPr>
            <a:xfrm>
              <a:off x="-1619099" y="2939346"/>
              <a:ext cx="1279961" cy="320088"/>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a:t>
              </a:r>
            </a:p>
          </p:txBody>
        </p:sp>
        <p:cxnSp>
          <p:nvCxnSpPr>
            <p:cNvPr id="49" name="Straight Arrow Connector 48"/>
            <p:cNvCxnSpPr>
              <a:stCxn id="48" idx="3"/>
              <a:endCxn id="9" idx="1"/>
            </p:cNvCxnSpPr>
            <p:nvPr/>
          </p:nvCxnSpPr>
          <p:spPr bwMode="auto">
            <a:xfrm>
              <a:off x="-339138" y="3099390"/>
              <a:ext cx="514655" cy="1"/>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0" name="Rectangle 49"/>
            <p:cNvSpPr/>
            <p:nvPr/>
          </p:nvSpPr>
          <p:spPr bwMode="auto">
            <a:xfrm>
              <a:off x="264697" y="2996951"/>
              <a:ext cx="6088656" cy="892899"/>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51" name="Group 50"/>
          <p:cNvGrpSpPr/>
          <p:nvPr/>
        </p:nvGrpSpPr>
        <p:grpSpPr>
          <a:xfrm>
            <a:off x="251521" y="1700808"/>
            <a:ext cx="8422328" cy="4644516"/>
            <a:chOff x="-2846968" y="1916832"/>
            <a:chExt cx="6327829" cy="4644516"/>
          </a:xfrm>
        </p:grpSpPr>
        <p:sp>
          <p:nvSpPr>
            <p:cNvPr id="52" name="TextBox 51"/>
            <p:cNvSpPr txBox="1"/>
            <p:nvPr/>
          </p:nvSpPr>
          <p:spPr>
            <a:xfrm>
              <a:off x="-2846968" y="1952836"/>
              <a:ext cx="646406" cy="400110"/>
            </a:xfrm>
            <a:prstGeom prst="rect">
              <a:avLst/>
            </a:prstGeom>
            <a:noFill/>
          </p:spPr>
          <p:txBody>
            <a:bodyPr wrap="none" rtlCol="0">
              <a:spAutoFit/>
            </a:bodyPr>
            <a:lstStyle/>
            <a:p>
              <a:r>
                <a:rPr lang="en-US" sz="2000" b="1" dirty="0" err="1">
                  <a:latin typeface="Courier"/>
                  <a:cs typeface="Courier"/>
                </a:rPr>
                <a:t>arr</a:t>
              </a:r>
              <a:endParaRPr lang="en-US" sz="2000" b="1" dirty="0">
                <a:latin typeface="Courier"/>
                <a:cs typeface="Courier"/>
              </a:endParaRPr>
            </a:p>
          </p:txBody>
        </p:sp>
        <p:cxnSp>
          <p:nvCxnSpPr>
            <p:cNvPr id="53" name="Straight Arrow Connector 52"/>
            <p:cNvCxnSpPr>
              <a:stCxn id="52" idx="3"/>
            </p:cNvCxnSpPr>
            <p:nvPr/>
          </p:nvCxnSpPr>
          <p:spPr bwMode="auto">
            <a:xfrm>
              <a:off x="-2200562" y="2152891"/>
              <a:ext cx="706112" cy="15969"/>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4" name="Rectangle 53"/>
            <p:cNvSpPr/>
            <p:nvPr/>
          </p:nvSpPr>
          <p:spPr bwMode="auto">
            <a:xfrm>
              <a:off x="-1359197" y="1916832"/>
              <a:ext cx="4840058" cy="4644516"/>
            </a:xfrm>
            <a:prstGeom prst="rect">
              <a:avLst/>
            </a:prstGeom>
            <a:noFill/>
            <a:ln w="5715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55" name="TextBox 54"/>
          <p:cNvSpPr txBox="1"/>
          <p:nvPr/>
        </p:nvSpPr>
        <p:spPr>
          <a:xfrm>
            <a:off x="5084202" y="3990648"/>
            <a:ext cx="1040519" cy="400110"/>
          </a:xfrm>
          <a:prstGeom prst="rect">
            <a:avLst/>
          </a:prstGeom>
          <a:noFill/>
        </p:spPr>
        <p:txBody>
          <a:bodyPr wrap="none" rtlCol="0">
            <a:spAutoFit/>
          </a:bodyPr>
          <a:lstStyle/>
          <a:p>
            <a:r>
              <a:rPr lang="en-US" sz="2000" b="1" dirty="0"/>
              <a:t>0x1018</a:t>
            </a:r>
          </a:p>
        </p:txBody>
      </p:sp>
      <p:sp>
        <p:nvSpPr>
          <p:cNvPr id="57" name="Rectangle 56"/>
          <p:cNvSpPr/>
          <p:nvPr/>
        </p:nvSpPr>
        <p:spPr>
          <a:xfrm>
            <a:off x="6979319" y="5498750"/>
            <a:ext cx="492493" cy="400110"/>
          </a:xfrm>
          <a:prstGeom prst="rect">
            <a:avLst/>
          </a:prstGeom>
        </p:spPr>
        <p:txBody>
          <a:bodyPr wrap="none">
            <a:spAutoFit/>
          </a:bodyPr>
          <a:lstStyle/>
          <a:p>
            <a:r>
              <a:rPr lang="en-GB" sz="2000" b="1" dirty="0">
                <a:solidFill>
                  <a:srgbClr val="000000"/>
                </a:solidFill>
                <a:latin typeface="Courier"/>
                <a:cs typeface="Courier"/>
              </a:rPr>
              <a:t>10</a:t>
            </a:r>
            <a:endParaRPr lang="en-US" sz="2000" dirty="0">
              <a:solidFill>
                <a:srgbClr val="000000"/>
              </a:solidFill>
            </a:endParaRPr>
          </a:p>
        </p:txBody>
      </p:sp>
      <p:sp>
        <p:nvSpPr>
          <p:cNvPr id="58" name="Rectangle 57"/>
          <p:cNvSpPr/>
          <p:nvPr/>
        </p:nvSpPr>
        <p:spPr>
          <a:xfrm>
            <a:off x="7020272" y="5862856"/>
            <a:ext cx="492493" cy="400110"/>
          </a:xfrm>
          <a:prstGeom prst="rect">
            <a:avLst/>
          </a:prstGeom>
        </p:spPr>
        <p:txBody>
          <a:bodyPr wrap="none">
            <a:spAutoFit/>
          </a:bodyPr>
          <a:lstStyle/>
          <a:p>
            <a:r>
              <a:rPr lang="en-GB" sz="2000" b="1" dirty="0">
                <a:solidFill>
                  <a:srgbClr val="000000"/>
                </a:solidFill>
                <a:latin typeface="Courier"/>
                <a:cs typeface="Courier"/>
              </a:rPr>
              <a:t>11</a:t>
            </a:r>
            <a:endParaRPr lang="en-US" sz="2000" dirty="0">
              <a:solidFill>
                <a:srgbClr val="000000"/>
              </a:solidFill>
            </a:endParaRPr>
          </a:p>
        </p:txBody>
      </p:sp>
      <p:grpSp>
        <p:nvGrpSpPr>
          <p:cNvPr id="66" name="Group 65"/>
          <p:cNvGrpSpPr/>
          <p:nvPr/>
        </p:nvGrpSpPr>
        <p:grpSpPr>
          <a:xfrm>
            <a:off x="2639635" y="5085184"/>
            <a:ext cx="5785048" cy="1153017"/>
            <a:chOff x="-1636752" y="2852224"/>
            <a:chExt cx="8085220" cy="922413"/>
          </a:xfrm>
        </p:grpSpPr>
        <p:sp>
          <p:nvSpPr>
            <p:cNvPr id="67" name="TextBox 66"/>
            <p:cNvSpPr txBox="1"/>
            <p:nvPr/>
          </p:nvSpPr>
          <p:spPr>
            <a:xfrm>
              <a:off x="-1636752" y="2852224"/>
              <a:ext cx="1548752" cy="320088"/>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[3]</a:t>
              </a:r>
            </a:p>
          </p:txBody>
        </p:sp>
        <p:cxnSp>
          <p:nvCxnSpPr>
            <p:cNvPr id="68" name="Straight Arrow Connector 67"/>
            <p:cNvCxnSpPr>
              <a:stCxn id="67" idx="3"/>
            </p:cNvCxnSpPr>
            <p:nvPr/>
          </p:nvCxnSpPr>
          <p:spPr bwMode="auto">
            <a:xfrm flipV="1">
              <a:off x="-88000" y="3001446"/>
              <a:ext cx="559764" cy="1082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9" name="Rectangle 68"/>
            <p:cNvSpPr/>
            <p:nvPr/>
          </p:nvSpPr>
          <p:spPr bwMode="auto">
            <a:xfrm>
              <a:off x="364873" y="2910541"/>
              <a:ext cx="6083595" cy="864096"/>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59" name="Rectangle 58"/>
          <p:cNvSpPr/>
          <p:nvPr/>
        </p:nvSpPr>
        <p:spPr bwMode="auto">
          <a:xfrm>
            <a:off x="4139952" y="1844824"/>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0" name="Rectangle 59"/>
          <p:cNvSpPr/>
          <p:nvPr/>
        </p:nvSpPr>
        <p:spPr bwMode="auto">
          <a:xfrm>
            <a:off x="4139952" y="2204865"/>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1" name="Rectangle 60"/>
          <p:cNvSpPr/>
          <p:nvPr/>
        </p:nvSpPr>
        <p:spPr bwMode="auto">
          <a:xfrm>
            <a:off x="4139952" y="2564905"/>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5347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Array of Arrays: Remarks!</a:t>
            </a:r>
          </a:p>
        </p:txBody>
      </p:sp>
      <p:sp>
        <p:nvSpPr>
          <p:cNvPr id="3" name="Content Placeholder 2"/>
          <p:cNvSpPr>
            <a:spLocks noGrp="1"/>
          </p:cNvSpPr>
          <p:nvPr>
            <p:ph idx="1"/>
          </p:nvPr>
        </p:nvSpPr>
        <p:spPr>
          <a:xfrm>
            <a:off x="457200" y="908720"/>
            <a:ext cx="8261350" cy="5263480"/>
          </a:xfrm>
        </p:spPr>
        <p:txBody>
          <a:bodyPr/>
          <a:lstStyle/>
          <a:p>
            <a:r>
              <a:rPr lang="en-US" dirty="0"/>
              <a:t>The </a:t>
            </a:r>
            <a:r>
              <a:rPr lang="en-US" b="1" dirty="0"/>
              <a:t>name</a:t>
            </a:r>
            <a:r>
              <a:rPr lang="en-US" dirty="0"/>
              <a:t> of the array is a constant pointer that points to the first element of the array</a:t>
            </a:r>
          </a:p>
          <a:p>
            <a:pPr lvl="1"/>
            <a:r>
              <a:rPr lang="en-US" dirty="0"/>
              <a:t>2 levels of hierarchy</a:t>
            </a:r>
          </a:p>
          <a:p>
            <a:pPr lvl="2"/>
            <a:r>
              <a:rPr lang="en-US" dirty="0"/>
              <a:t>Row</a:t>
            </a:r>
          </a:p>
          <a:p>
            <a:pPr lvl="2"/>
            <a:r>
              <a:rPr lang="en-US" dirty="0"/>
              <a:t>Columns -&gt; elements</a:t>
            </a:r>
          </a:p>
          <a:p>
            <a:pPr lvl="1"/>
            <a:r>
              <a:rPr lang="en-US" dirty="0"/>
              <a:t>first level of hierarchy is the row, so it points to the first raw ! </a:t>
            </a:r>
          </a:p>
          <a:p>
            <a:pPr lvl="2"/>
            <a:r>
              <a:rPr lang="en-US" b="1" dirty="0" err="1">
                <a:latin typeface="Courier"/>
                <a:cs typeface="Courier"/>
              </a:rPr>
              <a:t>arr</a:t>
            </a:r>
            <a:r>
              <a:rPr lang="en-US" b="1" dirty="0">
                <a:latin typeface="Courier"/>
                <a:cs typeface="Courier"/>
              </a:rPr>
              <a:t> == &amp;</a:t>
            </a:r>
            <a:r>
              <a:rPr lang="en-US" b="1" dirty="0" err="1">
                <a:latin typeface="Courier"/>
                <a:cs typeface="Courier"/>
              </a:rPr>
              <a:t>arr</a:t>
            </a:r>
            <a:r>
              <a:rPr lang="en-US" b="1" dirty="0">
                <a:latin typeface="Courier"/>
                <a:cs typeface="Courier"/>
              </a:rPr>
              <a:t>[0]</a:t>
            </a:r>
          </a:p>
          <a:p>
            <a:pPr lvl="2"/>
            <a:endParaRPr lang="en-US" sz="800" dirty="0"/>
          </a:p>
          <a:p>
            <a:r>
              <a:rPr lang="en-US" dirty="0"/>
              <a:t>The </a:t>
            </a:r>
            <a:r>
              <a:rPr lang="en-US" b="1" dirty="0"/>
              <a:t>name</a:t>
            </a:r>
            <a:r>
              <a:rPr lang="en-US" dirty="0"/>
              <a:t> of the array is </a:t>
            </a:r>
            <a:r>
              <a:rPr lang="en-US" b="1" dirty="0">
                <a:solidFill>
                  <a:srgbClr val="FF0000"/>
                </a:solidFill>
              </a:rPr>
              <a:t>NOT</a:t>
            </a:r>
            <a:r>
              <a:rPr lang="en-US" dirty="0">
                <a:solidFill>
                  <a:srgbClr val="FF0000"/>
                </a:solidFill>
              </a:rPr>
              <a:t> </a:t>
            </a:r>
            <a:r>
              <a:rPr lang="en-US" dirty="0"/>
              <a:t>a </a:t>
            </a:r>
            <a:r>
              <a:rPr lang="en-US" dirty="0">
                <a:solidFill>
                  <a:srgbClr val="FF0000"/>
                </a:solidFill>
              </a:rPr>
              <a:t>pointer to pointer </a:t>
            </a:r>
            <a:r>
              <a:rPr lang="en-US" dirty="0"/>
              <a:t>to </a:t>
            </a:r>
            <a:r>
              <a:rPr lang="en-US" b="1" dirty="0">
                <a:latin typeface="Courier"/>
                <a:cs typeface="Courier"/>
              </a:rPr>
              <a:t>type,</a:t>
            </a:r>
            <a:r>
              <a:rPr lang="en-US" dirty="0"/>
              <a:t>(</a:t>
            </a:r>
            <a:r>
              <a:rPr lang="en-US" b="1" dirty="0">
                <a:latin typeface="Courier"/>
                <a:cs typeface="Courier"/>
              </a:rPr>
              <a:t>type**</a:t>
            </a:r>
            <a:r>
              <a:rPr lang="en-US" dirty="0"/>
              <a:t>)</a:t>
            </a:r>
          </a:p>
          <a:p>
            <a:pPr lvl="1"/>
            <a:r>
              <a:rPr lang="en-US" dirty="0"/>
              <a:t>This is NOT OK with the pointer arithmetic ! </a:t>
            </a:r>
          </a:p>
          <a:p>
            <a:pPr lvl="1"/>
            <a:endParaRPr lang="en-US" sz="800" dirty="0"/>
          </a:p>
          <a:p>
            <a:pPr lvl="1"/>
            <a:endParaRPr lang="en-US" sz="800" dirty="0"/>
          </a:p>
          <a:p>
            <a:r>
              <a:rPr lang="en-US" dirty="0"/>
              <a:t>The name of the 1D arrays, i.e. the rows, point to the first element of the 1D array</a:t>
            </a:r>
          </a:p>
          <a:p>
            <a:pPr lvl="2"/>
            <a:r>
              <a:rPr lang="en-US" b="1" dirty="0" err="1">
                <a:latin typeface="Courier"/>
                <a:cs typeface="Courier"/>
              </a:rPr>
              <a:t>arr</a:t>
            </a:r>
            <a:r>
              <a:rPr lang="en-US" b="1" dirty="0">
                <a:latin typeface="Courier"/>
                <a:cs typeface="Courier"/>
              </a:rPr>
              <a:t>[</a:t>
            </a:r>
            <a:r>
              <a:rPr lang="en-US" b="1" dirty="0" err="1">
                <a:latin typeface="Courier"/>
                <a:cs typeface="Courier"/>
              </a:rPr>
              <a:t>i</a:t>
            </a:r>
            <a:r>
              <a:rPr lang="en-US" b="1" dirty="0">
                <a:latin typeface="Courier"/>
                <a:cs typeface="Courier"/>
              </a:rPr>
              <a:t>] == &amp;</a:t>
            </a:r>
            <a:r>
              <a:rPr lang="en-US" b="1" dirty="0" err="1">
                <a:latin typeface="Courier"/>
                <a:cs typeface="Courier"/>
              </a:rPr>
              <a:t>arr</a:t>
            </a:r>
            <a:r>
              <a:rPr lang="en-US" b="1" dirty="0">
                <a:latin typeface="Courier"/>
                <a:cs typeface="Courier"/>
              </a:rPr>
              <a:t>[</a:t>
            </a:r>
            <a:r>
              <a:rPr lang="en-US" b="1" dirty="0" err="1">
                <a:latin typeface="Courier"/>
                <a:cs typeface="Courier"/>
              </a:rPr>
              <a:t>i</a:t>
            </a:r>
            <a:r>
              <a:rPr lang="en-US" b="1" dirty="0">
                <a:latin typeface="Courier"/>
                <a:cs typeface="Courier"/>
              </a:rPr>
              <a:t>][0]</a:t>
            </a:r>
          </a:p>
          <a:p>
            <a:pPr lvl="1"/>
            <a:endParaRPr lang="en-US" dirty="0"/>
          </a:p>
          <a:p>
            <a:pPr lvl="1"/>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136</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4578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Array of Arrays: Pointer arithmetic</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137</a:t>
            </a:fld>
            <a:endParaRPr lang="fr-FR"/>
          </a:p>
        </p:txBody>
      </p:sp>
      <p:sp>
        <p:nvSpPr>
          <p:cNvPr id="6" name="TextBox 5"/>
          <p:cNvSpPr txBox="1"/>
          <p:nvPr/>
        </p:nvSpPr>
        <p:spPr>
          <a:xfrm>
            <a:off x="4044613" y="4289030"/>
            <a:ext cx="1239267" cy="400110"/>
          </a:xfrm>
          <a:prstGeom prst="rect">
            <a:avLst/>
          </a:prstGeom>
          <a:noFill/>
        </p:spPr>
        <p:txBody>
          <a:bodyPr wrap="none" rtlCol="0">
            <a:spAutoFit/>
          </a:bodyPr>
          <a:lstStyle/>
          <a:p>
            <a:r>
              <a:rPr lang="en-US" sz="2000" b="1" dirty="0" err="1"/>
              <a:t>arr</a:t>
            </a:r>
            <a:r>
              <a:rPr lang="en-US" sz="2000" b="1" dirty="0"/>
              <a:t>[2][0]:</a:t>
            </a:r>
          </a:p>
        </p:txBody>
      </p:sp>
      <p:graphicFrame>
        <p:nvGraphicFramePr>
          <p:cNvPr id="7" name="Table 6"/>
          <p:cNvGraphicFramePr>
            <a:graphicFrameLocks noGrp="1"/>
          </p:cNvGraphicFramePr>
          <p:nvPr>
            <p:extLst>
              <p:ext uri="{D42A27DB-BD31-4B8C-83A1-F6EECF244321}">
                <p14:modId xmlns:p14="http://schemas.microsoft.com/office/powerpoint/2010/main" val="365967618"/>
              </p:ext>
            </p:extLst>
          </p:nvPr>
        </p:nvGraphicFramePr>
        <p:xfrm>
          <a:off x="6228184" y="2143206"/>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6624228" y="1768750"/>
            <a:ext cx="1184940" cy="400110"/>
          </a:xfrm>
          <a:prstGeom prst="rect">
            <a:avLst/>
          </a:prstGeom>
          <a:noFill/>
        </p:spPr>
        <p:txBody>
          <a:bodyPr wrap="none" rtlCol="0">
            <a:spAutoFit/>
          </a:bodyPr>
          <a:lstStyle/>
          <a:p>
            <a:r>
              <a:rPr lang="en-US" sz="2000" b="1" dirty="0"/>
              <a:t>Memory</a:t>
            </a:r>
          </a:p>
        </p:txBody>
      </p:sp>
      <p:sp>
        <p:nvSpPr>
          <p:cNvPr id="9" name="TextBox 8"/>
          <p:cNvSpPr txBox="1"/>
          <p:nvPr/>
        </p:nvSpPr>
        <p:spPr>
          <a:xfrm>
            <a:off x="5076259" y="2107202"/>
            <a:ext cx="1040519" cy="400110"/>
          </a:xfrm>
          <a:prstGeom prst="rect">
            <a:avLst/>
          </a:prstGeom>
          <a:noFill/>
        </p:spPr>
        <p:txBody>
          <a:bodyPr wrap="none" rtlCol="0">
            <a:spAutoFit/>
          </a:bodyPr>
          <a:lstStyle/>
          <a:p>
            <a:r>
              <a:rPr lang="en-US" sz="2000" b="1" dirty="0"/>
              <a:t>0x1000</a:t>
            </a:r>
          </a:p>
        </p:txBody>
      </p:sp>
      <p:sp>
        <p:nvSpPr>
          <p:cNvPr id="10" name="TextBox 9"/>
          <p:cNvSpPr txBox="1"/>
          <p:nvPr/>
        </p:nvSpPr>
        <p:spPr>
          <a:xfrm>
            <a:off x="4004136" y="2071198"/>
            <a:ext cx="1239267" cy="400110"/>
          </a:xfrm>
          <a:prstGeom prst="rect">
            <a:avLst/>
          </a:prstGeom>
          <a:noFill/>
        </p:spPr>
        <p:txBody>
          <a:bodyPr wrap="none" rtlCol="0">
            <a:spAutoFit/>
          </a:bodyPr>
          <a:lstStyle/>
          <a:p>
            <a:r>
              <a:rPr lang="en-US" sz="2000" b="1" dirty="0" err="1"/>
              <a:t>arr</a:t>
            </a:r>
            <a:r>
              <a:rPr lang="en-US" sz="2000" b="1" dirty="0"/>
              <a:t>[0][0]:</a:t>
            </a:r>
          </a:p>
        </p:txBody>
      </p:sp>
      <p:sp>
        <p:nvSpPr>
          <p:cNvPr id="11" name="Rectangle 10"/>
          <p:cNvSpPr/>
          <p:nvPr/>
        </p:nvSpPr>
        <p:spPr>
          <a:xfrm>
            <a:off x="7085680" y="2071198"/>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2" name="TextBox 11"/>
          <p:cNvSpPr txBox="1"/>
          <p:nvPr/>
        </p:nvSpPr>
        <p:spPr>
          <a:xfrm>
            <a:off x="5074293" y="2535184"/>
            <a:ext cx="1043876" cy="400110"/>
          </a:xfrm>
          <a:prstGeom prst="rect">
            <a:avLst/>
          </a:prstGeom>
          <a:noFill/>
        </p:spPr>
        <p:txBody>
          <a:bodyPr wrap="none" rtlCol="0">
            <a:spAutoFit/>
          </a:bodyPr>
          <a:lstStyle/>
          <a:p>
            <a:r>
              <a:rPr lang="en-US" sz="2000" b="1" dirty="0"/>
              <a:t>0x1004</a:t>
            </a:r>
          </a:p>
        </p:txBody>
      </p:sp>
      <p:sp>
        <p:nvSpPr>
          <p:cNvPr id="13" name="TextBox 12"/>
          <p:cNvSpPr txBox="1"/>
          <p:nvPr/>
        </p:nvSpPr>
        <p:spPr>
          <a:xfrm>
            <a:off x="4040140" y="2499180"/>
            <a:ext cx="1239267" cy="400110"/>
          </a:xfrm>
          <a:prstGeom prst="rect">
            <a:avLst/>
          </a:prstGeom>
          <a:noFill/>
        </p:spPr>
        <p:txBody>
          <a:bodyPr wrap="none" rtlCol="0">
            <a:spAutoFit/>
          </a:bodyPr>
          <a:lstStyle/>
          <a:p>
            <a:r>
              <a:rPr lang="en-US" sz="2000" b="1" dirty="0" err="1"/>
              <a:t>arr</a:t>
            </a:r>
            <a:r>
              <a:rPr lang="en-US" sz="2000" b="1" dirty="0"/>
              <a:t>[0][1]:</a:t>
            </a:r>
          </a:p>
        </p:txBody>
      </p:sp>
      <p:sp>
        <p:nvSpPr>
          <p:cNvPr id="14" name="Rectangle 13"/>
          <p:cNvSpPr/>
          <p:nvPr/>
        </p:nvSpPr>
        <p:spPr>
          <a:xfrm>
            <a:off x="7085680" y="2499180"/>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5" name="TextBox 14"/>
          <p:cNvSpPr txBox="1"/>
          <p:nvPr/>
        </p:nvSpPr>
        <p:spPr>
          <a:xfrm>
            <a:off x="5075971" y="5487512"/>
            <a:ext cx="1040519" cy="400110"/>
          </a:xfrm>
          <a:prstGeom prst="rect">
            <a:avLst/>
          </a:prstGeom>
          <a:noFill/>
        </p:spPr>
        <p:txBody>
          <a:bodyPr wrap="none" rtlCol="0">
            <a:spAutoFit/>
          </a:bodyPr>
          <a:lstStyle/>
          <a:p>
            <a:r>
              <a:rPr lang="en-US" sz="2000" b="1" dirty="0"/>
              <a:t>0x1028</a:t>
            </a:r>
          </a:p>
        </p:txBody>
      </p:sp>
      <p:sp>
        <p:nvSpPr>
          <p:cNvPr id="16" name="TextBox 15"/>
          <p:cNvSpPr txBox="1"/>
          <p:nvPr/>
        </p:nvSpPr>
        <p:spPr>
          <a:xfrm>
            <a:off x="4040140" y="5491578"/>
            <a:ext cx="1239267" cy="400110"/>
          </a:xfrm>
          <a:prstGeom prst="rect">
            <a:avLst/>
          </a:prstGeom>
          <a:noFill/>
        </p:spPr>
        <p:txBody>
          <a:bodyPr wrap="none" rtlCol="0">
            <a:spAutoFit/>
          </a:bodyPr>
          <a:lstStyle/>
          <a:p>
            <a:r>
              <a:rPr lang="en-US" sz="2000" b="1" dirty="0" err="1"/>
              <a:t>arr</a:t>
            </a:r>
            <a:r>
              <a:rPr lang="en-US" sz="2000" b="1" dirty="0"/>
              <a:t>[3][0]:</a:t>
            </a:r>
          </a:p>
        </p:txBody>
      </p:sp>
      <p:sp>
        <p:nvSpPr>
          <p:cNvPr id="17" name="Rectangle 16"/>
          <p:cNvSpPr/>
          <p:nvPr/>
        </p:nvSpPr>
        <p:spPr>
          <a:xfrm>
            <a:off x="7085680" y="5419570"/>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18" name="Rectangle 17"/>
          <p:cNvSpPr/>
          <p:nvPr/>
        </p:nvSpPr>
        <p:spPr>
          <a:xfrm>
            <a:off x="7085680" y="2859220"/>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19" name="Rectangle 18"/>
          <p:cNvSpPr/>
          <p:nvPr/>
        </p:nvSpPr>
        <p:spPr>
          <a:xfrm>
            <a:off x="7085680" y="3219260"/>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0" name="Rectangle 19"/>
          <p:cNvSpPr/>
          <p:nvPr/>
        </p:nvSpPr>
        <p:spPr>
          <a:xfrm>
            <a:off x="7085680" y="3507292"/>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1" name="Rectangle 20"/>
          <p:cNvSpPr/>
          <p:nvPr/>
        </p:nvSpPr>
        <p:spPr>
          <a:xfrm>
            <a:off x="7085680" y="3867332"/>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2" name="Rectangle 21"/>
          <p:cNvSpPr/>
          <p:nvPr/>
        </p:nvSpPr>
        <p:spPr>
          <a:xfrm>
            <a:off x="7085680" y="4227372"/>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3" name="Rectangle 22"/>
          <p:cNvSpPr/>
          <p:nvPr/>
        </p:nvSpPr>
        <p:spPr>
          <a:xfrm>
            <a:off x="7085680" y="4623416"/>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4" name="Rectangle 23"/>
          <p:cNvSpPr/>
          <p:nvPr/>
        </p:nvSpPr>
        <p:spPr>
          <a:xfrm>
            <a:off x="7085680" y="5019460"/>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5" name="TextBox 24"/>
          <p:cNvSpPr txBox="1"/>
          <p:nvPr/>
        </p:nvSpPr>
        <p:spPr>
          <a:xfrm>
            <a:off x="5075971" y="2920878"/>
            <a:ext cx="1040519" cy="400110"/>
          </a:xfrm>
          <a:prstGeom prst="rect">
            <a:avLst/>
          </a:prstGeom>
          <a:noFill/>
        </p:spPr>
        <p:txBody>
          <a:bodyPr wrap="none" rtlCol="0">
            <a:spAutoFit/>
          </a:bodyPr>
          <a:lstStyle/>
          <a:p>
            <a:r>
              <a:rPr lang="en-US" sz="2000" b="1" dirty="0"/>
              <a:t>0x1008</a:t>
            </a:r>
          </a:p>
        </p:txBody>
      </p:sp>
      <p:sp>
        <p:nvSpPr>
          <p:cNvPr id="26" name="TextBox 25"/>
          <p:cNvSpPr txBox="1"/>
          <p:nvPr/>
        </p:nvSpPr>
        <p:spPr>
          <a:xfrm>
            <a:off x="4040140" y="2884874"/>
            <a:ext cx="1239267" cy="400110"/>
          </a:xfrm>
          <a:prstGeom prst="rect">
            <a:avLst/>
          </a:prstGeom>
          <a:noFill/>
        </p:spPr>
        <p:txBody>
          <a:bodyPr wrap="none" rtlCol="0">
            <a:spAutoFit/>
          </a:bodyPr>
          <a:lstStyle/>
          <a:p>
            <a:r>
              <a:rPr lang="en-US" sz="2000" b="1" dirty="0" err="1"/>
              <a:t>arr</a:t>
            </a:r>
            <a:r>
              <a:rPr lang="en-US" sz="2000" b="1" dirty="0"/>
              <a:t>[0][2]:</a:t>
            </a:r>
          </a:p>
        </p:txBody>
      </p:sp>
      <p:sp>
        <p:nvSpPr>
          <p:cNvPr id="27" name="TextBox 26"/>
          <p:cNvSpPr txBox="1"/>
          <p:nvPr/>
        </p:nvSpPr>
        <p:spPr>
          <a:xfrm>
            <a:off x="5062912" y="3292821"/>
            <a:ext cx="1083099" cy="400110"/>
          </a:xfrm>
          <a:prstGeom prst="rect">
            <a:avLst/>
          </a:prstGeom>
          <a:noFill/>
        </p:spPr>
        <p:txBody>
          <a:bodyPr wrap="none" rtlCol="0">
            <a:spAutoFit/>
          </a:bodyPr>
          <a:lstStyle/>
          <a:p>
            <a:r>
              <a:rPr lang="en-US" sz="2000" b="1" dirty="0"/>
              <a:t>0x100C</a:t>
            </a:r>
          </a:p>
        </p:txBody>
      </p:sp>
      <p:sp>
        <p:nvSpPr>
          <p:cNvPr id="28" name="TextBox 27"/>
          <p:cNvSpPr txBox="1"/>
          <p:nvPr/>
        </p:nvSpPr>
        <p:spPr>
          <a:xfrm>
            <a:off x="4040140" y="3256817"/>
            <a:ext cx="1239267" cy="400110"/>
          </a:xfrm>
          <a:prstGeom prst="rect">
            <a:avLst/>
          </a:prstGeom>
          <a:noFill/>
        </p:spPr>
        <p:txBody>
          <a:bodyPr wrap="none" rtlCol="0">
            <a:spAutoFit/>
          </a:bodyPr>
          <a:lstStyle/>
          <a:p>
            <a:r>
              <a:rPr lang="en-US" sz="2000" b="1" dirty="0" err="1"/>
              <a:t>arr</a:t>
            </a:r>
            <a:r>
              <a:rPr lang="en-US" sz="2000" b="1" dirty="0"/>
              <a:t>[1][0]:</a:t>
            </a:r>
          </a:p>
        </p:txBody>
      </p:sp>
      <p:sp>
        <p:nvSpPr>
          <p:cNvPr id="29" name="Rectangle 28"/>
          <p:cNvSpPr/>
          <p:nvPr/>
        </p:nvSpPr>
        <p:spPr>
          <a:xfrm>
            <a:off x="6769051" y="1304764"/>
            <a:ext cx="2339453" cy="400110"/>
          </a:xfrm>
          <a:prstGeom prst="rect">
            <a:avLst/>
          </a:prstGeom>
        </p:spPr>
        <p:txBody>
          <a:bodyPr wrap="none">
            <a:spAutoFit/>
          </a:bodyPr>
          <a:lstStyle/>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[4][3]; </a:t>
            </a:r>
          </a:p>
        </p:txBody>
      </p:sp>
      <p:cxnSp>
        <p:nvCxnSpPr>
          <p:cNvPr id="32" name="Straight Arrow Connector 31"/>
          <p:cNvCxnSpPr>
            <a:endCxn id="28" idx="1"/>
          </p:cNvCxnSpPr>
          <p:nvPr/>
        </p:nvCxnSpPr>
        <p:spPr bwMode="auto">
          <a:xfrm flipV="1">
            <a:off x="3611743" y="3456872"/>
            <a:ext cx="428397"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TextBox 45"/>
          <p:cNvSpPr txBox="1"/>
          <p:nvPr/>
        </p:nvSpPr>
        <p:spPr>
          <a:xfrm>
            <a:off x="5084202" y="4325034"/>
            <a:ext cx="1040519" cy="400110"/>
          </a:xfrm>
          <a:prstGeom prst="rect">
            <a:avLst/>
          </a:prstGeom>
          <a:noFill/>
        </p:spPr>
        <p:txBody>
          <a:bodyPr wrap="none" rtlCol="0">
            <a:spAutoFit/>
          </a:bodyPr>
          <a:lstStyle/>
          <a:p>
            <a:r>
              <a:rPr lang="en-US" sz="2000" b="1" dirty="0"/>
              <a:t>0x1018</a:t>
            </a:r>
          </a:p>
        </p:txBody>
      </p:sp>
      <p:sp>
        <p:nvSpPr>
          <p:cNvPr id="47" name="Rectangle 46"/>
          <p:cNvSpPr/>
          <p:nvPr/>
        </p:nvSpPr>
        <p:spPr>
          <a:xfrm>
            <a:off x="6979319" y="5833136"/>
            <a:ext cx="492493" cy="400110"/>
          </a:xfrm>
          <a:prstGeom prst="rect">
            <a:avLst/>
          </a:prstGeom>
        </p:spPr>
        <p:txBody>
          <a:bodyPr wrap="none">
            <a:spAutoFit/>
          </a:bodyPr>
          <a:lstStyle/>
          <a:p>
            <a:r>
              <a:rPr lang="en-GB" sz="2000" b="1" dirty="0">
                <a:solidFill>
                  <a:srgbClr val="000000"/>
                </a:solidFill>
                <a:latin typeface="Courier"/>
                <a:cs typeface="Courier"/>
              </a:rPr>
              <a:t>10</a:t>
            </a:r>
            <a:endParaRPr lang="en-US" sz="2000" dirty="0">
              <a:solidFill>
                <a:srgbClr val="000000"/>
              </a:solidFill>
            </a:endParaRPr>
          </a:p>
        </p:txBody>
      </p:sp>
      <p:sp>
        <p:nvSpPr>
          <p:cNvPr id="48" name="Rectangle 47"/>
          <p:cNvSpPr/>
          <p:nvPr/>
        </p:nvSpPr>
        <p:spPr>
          <a:xfrm>
            <a:off x="7020272" y="6197242"/>
            <a:ext cx="492493" cy="400110"/>
          </a:xfrm>
          <a:prstGeom prst="rect">
            <a:avLst/>
          </a:prstGeom>
        </p:spPr>
        <p:txBody>
          <a:bodyPr wrap="none">
            <a:spAutoFit/>
          </a:bodyPr>
          <a:lstStyle/>
          <a:p>
            <a:r>
              <a:rPr lang="en-GB" sz="2000" b="1" dirty="0">
                <a:solidFill>
                  <a:srgbClr val="000000"/>
                </a:solidFill>
                <a:latin typeface="Courier"/>
                <a:cs typeface="Courier"/>
              </a:rPr>
              <a:t>11</a:t>
            </a:r>
            <a:endParaRPr lang="en-US" sz="2000" dirty="0">
              <a:solidFill>
                <a:srgbClr val="000000"/>
              </a:solidFill>
            </a:endParaRPr>
          </a:p>
        </p:txBody>
      </p:sp>
      <p:sp>
        <p:nvSpPr>
          <p:cNvPr id="52" name="Rectangle 51"/>
          <p:cNvSpPr/>
          <p:nvPr/>
        </p:nvSpPr>
        <p:spPr bwMode="auto">
          <a:xfrm>
            <a:off x="3959932" y="3284984"/>
            <a:ext cx="4392488" cy="1080121"/>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54" name="Espace réservé du contenu 2"/>
          <p:cNvSpPr>
            <a:spLocks noGrp="1"/>
          </p:cNvSpPr>
          <p:nvPr>
            <p:ph idx="1"/>
          </p:nvPr>
        </p:nvSpPr>
        <p:spPr>
          <a:xfrm>
            <a:off x="215516" y="764704"/>
            <a:ext cx="8928484" cy="468052"/>
          </a:xfrm>
          <a:ln>
            <a:noFill/>
          </a:ln>
        </p:spPr>
        <p:txBody>
          <a:bodyPr/>
          <a:lstStyle/>
          <a:p>
            <a:r>
              <a:rPr lang="hr-HR" sz="2000" b="1" dirty="0">
                <a:latin typeface="Courier"/>
                <a:cs typeface="Courier"/>
              </a:rPr>
              <a:t>arr[i][j] = </a:t>
            </a:r>
            <a:r>
              <a:rPr lang="hr-HR" sz="2000" b="1" dirty="0">
                <a:solidFill>
                  <a:srgbClr val="FF0000"/>
                </a:solidFill>
                <a:latin typeface="Courier"/>
                <a:cs typeface="Courier"/>
              </a:rPr>
              <a:t>*</a:t>
            </a:r>
            <a:r>
              <a:rPr lang="hr-HR" sz="2000" b="1" dirty="0">
                <a:latin typeface="Courier"/>
                <a:cs typeface="Courier"/>
              </a:rPr>
              <a:t>( </a:t>
            </a:r>
            <a:r>
              <a:rPr lang="hr-HR" sz="2000" b="1" dirty="0">
                <a:solidFill>
                  <a:srgbClr val="FF9933"/>
                </a:solidFill>
                <a:latin typeface="Courier"/>
                <a:cs typeface="Courier"/>
              </a:rPr>
              <a:t>arr[i]     </a:t>
            </a:r>
            <a:r>
              <a:rPr lang="hr-HR" sz="2000" b="1" dirty="0">
                <a:solidFill>
                  <a:schemeClr val="accent2"/>
                </a:solidFill>
                <a:latin typeface="Courier"/>
                <a:cs typeface="Courier"/>
              </a:rPr>
              <a:t>+ j</a:t>
            </a:r>
            <a:r>
              <a:rPr lang="hr-HR" sz="2000" b="1" dirty="0">
                <a:latin typeface="Courier"/>
                <a:cs typeface="Courier"/>
              </a:rPr>
              <a:t>)</a:t>
            </a:r>
          </a:p>
          <a:p>
            <a:pPr marL="0" indent="0">
              <a:buNone/>
            </a:pPr>
            <a:r>
              <a:rPr lang="hr-HR" sz="2000" b="1" dirty="0">
                <a:latin typeface="Courier"/>
                <a:cs typeface="Courier"/>
              </a:rPr>
              <a:t>       </a:t>
            </a:r>
            <a:endParaRPr lang="fr-FR" sz="2000" b="1" dirty="0">
              <a:latin typeface="Courier"/>
              <a:cs typeface="Courier"/>
            </a:endParaRPr>
          </a:p>
        </p:txBody>
      </p:sp>
      <p:sp>
        <p:nvSpPr>
          <p:cNvPr id="56" name="TextBox 55"/>
          <p:cNvSpPr txBox="1"/>
          <p:nvPr/>
        </p:nvSpPr>
        <p:spPr>
          <a:xfrm>
            <a:off x="2519772" y="3248980"/>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a:t>
            </a:r>
            <a:r>
              <a:rPr lang="en-US" sz="2000" b="1" dirty="0" err="1">
                <a:latin typeface="Courier"/>
                <a:cs typeface="Courier"/>
              </a:rPr>
              <a:t>i</a:t>
            </a:r>
            <a:r>
              <a:rPr lang="en-US" sz="2000" b="1" dirty="0">
                <a:latin typeface="Courier"/>
                <a:cs typeface="Courier"/>
              </a:rPr>
              <a:t>]</a:t>
            </a:r>
          </a:p>
        </p:txBody>
      </p:sp>
      <p:cxnSp>
        <p:nvCxnSpPr>
          <p:cNvPr id="57" name="Straight Arrow Connector 56"/>
          <p:cNvCxnSpPr/>
          <p:nvPr/>
        </p:nvCxnSpPr>
        <p:spPr bwMode="auto">
          <a:xfrm flipV="1">
            <a:off x="3647747" y="4172886"/>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TextBox 57"/>
          <p:cNvSpPr txBox="1"/>
          <p:nvPr/>
        </p:nvSpPr>
        <p:spPr>
          <a:xfrm>
            <a:off x="2255927" y="3964994"/>
            <a:ext cx="1415973"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a:t>
            </a:r>
            <a:r>
              <a:rPr lang="en-US" sz="2000" b="1" dirty="0" err="1">
                <a:latin typeface="Courier"/>
                <a:cs typeface="Courier"/>
              </a:rPr>
              <a:t>i</a:t>
            </a:r>
            <a:r>
              <a:rPr lang="en-US" sz="2000" b="1" dirty="0">
                <a:latin typeface="Courier"/>
                <a:cs typeface="Courier"/>
              </a:rPr>
              <a:t>]+j</a:t>
            </a:r>
          </a:p>
        </p:txBody>
      </p:sp>
      <p:sp>
        <p:nvSpPr>
          <p:cNvPr id="59" name="Rectangle 58"/>
          <p:cNvSpPr/>
          <p:nvPr/>
        </p:nvSpPr>
        <p:spPr bwMode="auto">
          <a:xfrm>
            <a:off x="4211960" y="3969061"/>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0" name="TextBox 59"/>
          <p:cNvSpPr txBox="1"/>
          <p:nvPr/>
        </p:nvSpPr>
        <p:spPr>
          <a:xfrm>
            <a:off x="5082524" y="3928990"/>
            <a:ext cx="1043876" cy="400110"/>
          </a:xfrm>
          <a:prstGeom prst="rect">
            <a:avLst/>
          </a:prstGeom>
          <a:noFill/>
        </p:spPr>
        <p:txBody>
          <a:bodyPr wrap="none" rtlCol="0">
            <a:spAutoFit/>
          </a:bodyPr>
          <a:lstStyle/>
          <a:p>
            <a:r>
              <a:rPr lang="en-US" sz="2000" b="1" dirty="0"/>
              <a:t>0x1014</a:t>
            </a:r>
          </a:p>
        </p:txBody>
      </p:sp>
      <p:sp>
        <p:nvSpPr>
          <p:cNvPr id="61" name="TextBox 60"/>
          <p:cNvSpPr txBox="1"/>
          <p:nvPr/>
        </p:nvSpPr>
        <p:spPr>
          <a:xfrm>
            <a:off x="4040140" y="3892986"/>
            <a:ext cx="1239267" cy="400110"/>
          </a:xfrm>
          <a:prstGeom prst="rect">
            <a:avLst/>
          </a:prstGeom>
          <a:noFill/>
        </p:spPr>
        <p:txBody>
          <a:bodyPr wrap="none" rtlCol="0">
            <a:spAutoFit/>
          </a:bodyPr>
          <a:lstStyle/>
          <a:p>
            <a:r>
              <a:rPr lang="en-US" sz="2000" b="1" dirty="0" err="1"/>
              <a:t>arr</a:t>
            </a:r>
            <a:r>
              <a:rPr lang="en-US" sz="2000" b="1" dirty="0"/>
              <a:t>[1][2]:</a:t>
            </a:r>
          </a:p>
        </p:txBody>
      </p:sp>
      <p:sp>
        <p:nvSpPr>
          <p:cNvPr id="62" name="Oval 61"/>
          <p:cNvSpPr/>
          <p:nvPr/>
        </p:nvSpPr>
        <p:spPr bwMode="auto">
          <a:xfrm>
            <a:off x="6876256" y="3789040"/>
            <a:ext cx="792088" cy="57606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64" name="Straight Connector 63"/>
          <p:cNvCxnSpPr/>
          <p:nvPr/>
        </p:nvCxnSpPr>
        <p:spPr bwMode="auto">
          <a:xfrm flipV="1">
            <a:off x="3959932" y="3609020"/>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5" name="Straight Connector 64"/>
          <p:cNvCxnSpPr/>
          <p:nvPr/>
        </p:nvCxnSpPr>
        <p:spPr bwMode="auto">
          <a:xfrm flipV="1">
            <a:off x="3959932" y="3933056"/>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6" name="Rectangle 65"/>
          <p:cNvSpPr/>
          <p:nvPr/>
        </p:nvSpPr>
        <p:spPr>
          <a:xfrm>
            <a:off x="323528" y="5265204"/>
            <a:ext cx="3345587" cy="400110"/>
          </a:xfrm>
          <a:prstGeom prst="rect">
            <a:avLst/>
          </a:prstGeom>
        </p:spPr>
        <p:txBody>
          <a:bodyPr wrap="none">
            <a:spAutoFit/>
          </a:bodyPr>
          <a:lstStyle/>
          <a:p>
            <a:pPr marL="0" indent="0">
              <a:buNone/>
            </a:pPr>
            <a:r>
              <a:rPr lang="en-US" sz="2000" dirty="0">
                <a:solidFill>
                  <a:schemeClr val="tx1"/>
                </a:solidFill>
                <a:latin typeface="+mn-lt"/>
                <a:cs typeface="Courier"/>
              </a:rPr>
              <a:t>so, we add: </a:t>
            </a:r>
            <a:r>
              <a:rPr lang="en-US" sz="2000" b="1" dirty="0" err="1">
                <a:solidFill>
                  <a:srgbClr val="000000"/>
                </a:solidFill>
                <a:latin typeface="Courier"/>
                <a:cs typeface="Courier"/>
              </a:rPr>
              <a:t>sizeof</a:t>
            </a:r>
            <a:r>
              <a:rPr lang="en-US" sz="2000" b="1" dirty="0">
                <a:solidFill>
                  <a:srgbClr val="000000"/>
                </a:solidFill>
                <a:latin typeface="Courier"/>
                <a:cs typeface="Courier"/>
              </a:rPr>
              <a:t>(</a:t>
            </a:r>
            <a:r>
              <a:rPr lang="en-US" sz="2000" b="1" dirty="0" err="1">
                <a:solidFill>
                  <a:schemeClr val="accent2"/>
                </a:solidFill>
                <a:latin typeface="Courier"/>
                <a:cs typeface="Courier"/>
              </a:rPr>
              <a:t>int</a:t>
            </a:r>
            <a:r>
              <a:rPr lang="en-US" sz="2000" b="1" dirty="0">
                <a:solidFill>
                  <a:srgbClr val="000000"/>
                </a:solidFill>
                <a:latin typeface="Courier"/>
                <a:cs typeface="Courier"/>
              </a:rPr>
              <a:t>)</a:t>
            </a:r>
          </a:p>
        </p:txBody>
      </p:sp>
      <p:sp>
        <p:nvSpPr>
          <p:cNvPr id="67" name="Rectangle 66"/>
          <p:cNvSpPr/>
          <p:nvPr/>
        </p:nvSpPr>
        <p:spPr>
          <a:xfrm>
            <a:off x="359532" y="4869160"/>
            <a:ext cx="2764624" cy="400110"/>
          </a:xfrm>
          <a:prstGeom prst="rect">
            <a:avLst/>
          </a:prstGeom>
        </p:spPr>
        <p:txBody>
          <a:bodyPr wrap="none">
            <a:spAutoFit/>
          </a:bodyPr>
          <a:lstStyle/>
          <a:p>
            <a:pPr marL="0" indent="0">
              <a:buNone/>
            </a:pPr>
            <a:r>
              <a:rPr lang="en-US" sz="2000" b="1" dirty="0" err="1">
                <a:solidFill>
                  <a:srgbClr val="FF9933"/>
                </a:solidFill>
                <a:latin typeface="Courier"/>
                <a:cs typeface="Courier"/>
              </a:rPr>
              <a:t>arr</a:t>
            </a:r>
            <a:r>
              <a:rPr lang="en-US" sz="2000" b="1" dirty="0">
                <a:solidFill>
                  <a:srgbClr val="FF9933"/>
                </a:solidFill>
                <a:latin typeface="Courier"/>
                <a:cs typeface="Courier"/>
              </a:rPr>
              <a:t>[</a:t>
            </a:r>
            <a:r>
              <a:rPr lang="en-US" sz="2000" b="1" dirty="0" err="1">
                <a:solidFill>
                  <a:srgbClr val="FF9933"/>
                </a:solidFill>
                <a:latin typeface="Courier"/>
                <a:cs typeface="Courier"/>
              </a:rPr>
              <a:t>i</a:t>
            </a:r>
            <a:r>
              <a:rPr lang="en-US" sz="2000" b="1" dirty="0">
                <a:solidFill>
                  <a:srgbClr val="FF9933"/>
                </a:solidFill>
                <a:latin typeface="Courier"/>
                <a:cs typeface="Courier"/>
              </a:rPr>
              <a:t>] </a:t>
            </a:r>
            <a:r>
              <a:rPr lang="en-US" sz="2000" dirty="0">
                <a:solidFill>
                  <a:schemeClr val="tx1"/>
                </a:solidFill>
                <a:latin typeface="+mn-lt"/>
                <a:cs typeface="Courier"/>
              </a:rPr>
              <a:t>points to </a:t>
            </a:r>
            <a:r>
              <a:rPr lang="en-US" sz="2000" b="1" dirty="0" err="1">
                <a:solidFill>
                  <a:schemeClr val="accent2"/>
                </a:solidFill>
                <a:latin typeface="Courier"/>
                <a:cs typeface="Courier"/>
              </a:rPr>
              <a:t>int</a:t>
            </a:r>
            <a:endParaRPr lang="en-US" sz="2000" b="1" dirty="0">
              <a:solidFill>
                <a:schemeClr val="accent2"/>
              </a:solidFill>
              <a:latin typeface="Courier"/>
              <a:cs typeface="Courier"/>
            </a:endParaRPr>
          </a:p>
        </p:txBody>
      </p:sp>
      <p:sp>
        <p:nvSpPr>
          <p:cNvPr id="4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15880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6" grpId="0"/>
      <p:bldP spid="58" grpId="0"/>
      <p:bldP spid="59" grpId="0" animBg="1"/>
      <p:bldP spid="62" grpId="0" animBg="1"/>
      <p:bldP spid="66" grpId="0"/>
      <p:bldP spid="67"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Array of Arrays: Pointer arithmetic</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138</a:t>
            </a:fld>
            <a:endParaRPr lang="fr-FR"/>
          </a:p>
        </p:txBody>
      </p:sp>
      <p:sp>
        <p:nvSpPr>
          <p:cNvPr id="6" name="TextBox 5"/>
          <p:cNvSpPr txBox="1"/>
          <p:nvPr/>
        </p:nvSpPr>
        <p:spPr>
          <a:xfrm>
            <a:off x="4044613" y="4289030"/>
            <a:ext cx="1239267" cy="400110"/>
          </a:xfrm>
          <a:prstGeom prst="rect">
            <a:avLst/>
          </a:prstGeom>
          <a:noFill/>
        </p:spPr>
        <p:txBody>
          <a:bodyPr wrap="none" rtlCol="0">
            <a:spAutoFit/>
          </a:bodyPr>
          <a:lstStyle/>
          <a:p>
            <a:r>
              <a:rPr lang="en-US" sz="2000" b="1" dirty="0" err="1"/>
              <a:t>arr</a:t>
            </a:r>
            <a:r>
              <a:rPr lang="en-US" sz="2000" b="1" dirty="0"/>
              <a:t>[2][0]:</a:t>
            </a:r>
          </a:p>
        </p:txBody>
      </p:sp>
      <p:graphicFrame>
        <p:nvGraphicFramePr>
          <p:cNvPr id="7" name="Table 6"/>
          <p:cNvGraphicFramePr>
            <a:graphicFrameLocks noGrp="1"/>
          </p:cNvGraphicFramePr>
          <p:nvPr>
            <p:extLst>
              <p:ext uri="{D42A27DB-BD31-4B8C-83A1-F6EECF244321}">
                <p14:modId xmlns:p14="http://schemas.microsoft.com/office/powerpoint/2010/main" val="3013926807"/>
              </p:ext>
            </p:extLst>
          </p:nvPr>
        </p:nvGraphicFramePr>
        <p:xfrm>
          <a:off x="6228184" y="2143206"/>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6624228" y="1768750"/>
            <a:ext cx="1184940" cy="400110"/>
          </a:xfrm>
          <a:prstGeom prst="rect">
            <a:avLst/>
          </a:prstGeom>
          <a:noFill/>
        </p:spPr>
        <p:txBody>
          <a:bodyPr wrap="none" rtlCol="0">
            <a:spAutoFit/>
          </a:bodyPr>
          <a:lstStyle/>
          <a:p>
            <a:r>
              <a:rPr lang="en-US" sz="2000" b="1" dirty="0"/>
              <a:t>Memory</a:t>
            </a:r>
          </a:p>
        </p:txBody>
      </p:sp>
      <p:sp>
        <p:nvSpPr>
          <p:cNvPr id="9" name="TextBox 8"/>
          <p:cNvSpPr txBox="1"/>
          <p:nvPr/>
        </p:nvSpPr>
        <p:spPr>
          <a:xfrm>
            <a:off x="5076259" y="2107202"/>
            <a:ext cx="1040519" cy="400110"/>
          </a:xfrm>
          <a:prstGeom prst="rect">
            <a:avLst/>
          </a:prstGeom>
          <a:noFill/>
        </p:spPr>
        <p:txBody>
          <a:bodyPr wrap="none" rtlCol="0">
            <a:spAutoFit/>
          </a:bodyPr>
          <a:lstStyle/>
          <a:p>
            <a:r>
              <a:rPr lang="en-US" sz="2000" b="1" dirty="0"/>
              <a:t>0x1000</a:t>
            </a:r>
          </a:p>
        </p:txBody>
      </p:sp>
      <p:sp>
        <p:nvSpPr>
          <p:cNvPr id="10" name="TextBox 9"/>
          <p:cNvSpPr txBox="1"/>
          <p:nvPr/>
        </p:nvSpPr>
        <p:spPr>
          <a:xfrm>
            <a:off x="4004136" y="2071198"/>
            <a:ext cx="1239267" cy="400110"/>
          </a:xfrm>
          <a:prstGeom prst="rect">
            <a:avLst/>
          </a:prstGeom>
          <a:noFill/>
        </p:spPr>
        <p:txBody>
          <a:bodyPr wrap="none" rtlCol="0">
            <a:spAutoFit/>
          </a:bodyPr>
          <a:lstStyle/>
          <a:p>
            <a:r>
              <a:rPr lang="en-US" sz="2000" b="1" dirty="0" err="1"/>
              <a:t>arr</a:t>
            </a:r>
            <a:r>
              <a:rPr lang="en-US" sz="2000" b="1" dirty="0"/>
              <a:t>[0][0]:</a:t>
            </a:r>
          </a:p>
        </p:txBody>
      </p:sp>
      <p:sp>
        <p:nvSpPr>
          <p:cNvPr id="11" name="Rectangle 10"/>
          <p:cNvSpPr/>
          <p:nvPr/>
        </p:nvSpPr>
        <p:spPr>
          <a:xfrm>
            <a:off x="7085680" y="2071198"/>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2" name="TextBox 11"/>
          <p:cNvSpPr txBox="1"/>
          <p:nvPr/>
        </p:nvSpPr>
        <p:spPr>
          <a:xfrm>
            <a:off x="5074293" y="2535184"/>
            <a:ext cx="1043876" cy="400110"/>
          </a:xfrm>
          <a:prstGeom prst="rect">
            <a:avLst/>
          </a:prstGeom>
          <a:noFill/>
        </p:spPr>
        <p:txBody>
          <a:bodyPr wrap="none" rtlCol="0">
            <a:spAutoFit/>
          </a:bodyPr>
          <a:lstStyle/>
          <a:p>
            <a:r>
              <a:rPr lang="en-US" sz="2000" b="1" dirty="0"/>
              <a:t>0x1004</a:t>
            </a:r>
          </a:p>
        </p:txBody>
      </p:sp>
      <p:sp>
        <p:nvSpPr>
          <p:cNvPr id="13" name="TextBox 12"/>
          <p:cNvSpPr txBox="1"/>
          <p:nvPr/>
        </p:nvSpPr>
        <p:spPr>
          <a:xfrm>
            <a:off x="4040140" y="2499180"/>
            <a:ext cx="1239267" cy="400110"/>
          </a:xfrm>
          <a:prstGeom prst="rect">
            <a:avLst/>
          </a:prstGeom>
          <a:noFill/>
        </p:spPr>
        <p:txBody>
          <a:bodyPr wrap="none" rtlCol="0">
            <a:spAutoFit/>
          </a:bodyPr>
          <a:lstStyle/>
          <a:p>
            <a:r>
              <a:rPr lang="en-US" sz="2000" b="1" dirty="0" err="1"/>
              <a:t>arr</a:t>
            </a:r>
            <a:r>
              <a:rPr lang="en-US" sz="2000" b="1" dirty="0"/>
              <a:t>[0][1]:</a:t>
            </a:r>
          </a:p>
        </p:txBody>
      </p:sp>
      <p:sp>
        <p:nvSpPr>
          <p:cNvPr id="14" name="Rectangle 13"/>
          <p:cNvSpPr/>
          <p:nvPr/>
        </p:nvSpPr>
        <p:spPr>
          <a:xfrm>
            <a:off x="7085680" y="2499180"/>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5" name="TextBox 14"/>
          <p:cNvSpPr txBox="1"/>
          <p:nvPr/>
        </p:nvSpPr>
        <p:spPr>
          <a:xfrm>
            <a:off x="5075971" y="5487512"/>
            <a:ext cx="1040519" cy="400110"/>
          </a:xfrm>
          <a:prstGeom prst="rect">
            <a:avLst/>
          </a:prstGeom>
          <a:noFill/>
        </p:spPr>
        <p:txBody>
          <a:bodyPr wrap="none" rtlCol="0">
            <a:spAutoFit/>
          </a:bodyPr>
          <a:lstStyle/>
          <a:p>
            <a:r>
              <a:rPr lang="en-US" sz="2000" b="1" dirty="0"/>
              <a:t>0x1028</a:t>
            </a:r>
          </a:p>
        </p:txBody>
      </p:sp>
      <p:sp>
        <p:nvSpPr>
          <p:cNvPr id="16" name="TextBox 15"/>
          <p:cNvSpPr txBox="1"/>
          <p:nvPr/>
        </p:nvSpPr>
        <p:spPr>
          <a:xfrm>
            <a:off x="4040140" y="5491578"/>
            <a:ext cx="1239267" cy="400110"/>
          </a:xfrm>
          <a:prstGeom prst="rect">
            <a:avLst/>
          </a:prstGeom>
          <a:noFill/>
        </p:spPr>
        <p:txBody>
          <a:bodyPr wrap="none" rtlCol="0">
            <a:spAutoFit/>
          </a:bodyPr>
          <a:lstStyle/>
          <a:p>
            <a:r>
              <a:rPr lang="en-US" sz="2000" b="1" dirty="0" err="1"/>
              <a:t>arr</a:t>
            </a:r>
            <a:r>
              <a:rPr lang="en-US" sz="2000" b="1" dirty="0"/>
              <a:t>[3][0]:</a:t>
            </a:r>
          </a:p>
        </p:txBody>
      </p:sp>
      <p:sp>
        <p:nvSpPr>
          <p:cNvPr id="17" name="Rectangle 16"/>
          <p:cNvSpPr/>
          <p:nvPr/>
        </p:nvSpPr>
        <p:spPr>
          <a:xfrm>
            <a:off x="7085680" y="5419570"/>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18" name="Rectangle 17"/>
          <p:cNvSpPr/>
          <p:nvPr/>
        </p:nvSpPr>
        <p:spPr>
          <a:xfrm>
            <a:off x="7085680" y="2859220"/>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19" name="Rectangle 18"/>
          <p:cNvSpPr/>
          <p:nvPr/>
        </p:nvSpPr>
        <p:spPr>
          <a:xfrm>
            <a:off x="7085680" y="3219260"/>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0" name="Rectangle 19"/>
          <p:cNvSpPr/>
          <p:nvPr/>
        </p:nvSpPr>
        <p:spPr>
          <a:xfrm>
            <a:off x="7085680" y="3507292"/>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1" name="Rectangle 20"/>
          <p:cNvSpPr/>
          <p:nvPr/>
        </p:nvSpPr>
        <p:spPr>
          <a:xfrm>
            <a:off x="7085680" y="3867332"/>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2" name="Rectangle 21"/>
          <p:cNvSpPr/>
          <p:nvPr/>
        </p:nvSpPr>
        <p:spPr>
          <a:xfrm>
            <a:off x="7085680" y="4227372"/>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3" name="Rectangle 22"/>
          <p:cNvSpPr/>
          <p:nvPr/>
        </p:nvSpPr>
        <p:spPr>
          <a:xfrm>
            <a:off x="7085680" y="4623416"/>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4" name="Rectangle 23"/>
          <p:cNvSpPr/>
          <p:nvPr/>
        </p:nvSpPr>
        <p:spPr>
          <a:xfrm>
            <a:off x="7085680" y="5019460"/>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5" name="TextBox 24"/>
          <p:cNvSpPr txBox="1"/>
          <p:nvPr/>
        </p:nvSpPr>
        <p:spPr>
          <a:xfrm>
            <a:off x="5075971" y="2920878"/>
            <a:ext cx="1040519" cy="400110"/>
          </a:xfrm>
          <a:prstGeom prst="rect">
            <a:avLst/>
          </a:prstGeom>
          <a:noFill/>
        </p:spPr>
        <p:txBody>
          <a:bodyPr wrap="none" rtlCol="0">
            <a:spAutoFit/>
          </a:bodyPr>
          <a:lstStyle/>
          <a:p>
            <a:r>
              <a:rPr lang="en-US" sz="2000" b="1" dirty="0"/>
              <a:t>0x1008</a:t>
            </a:r>
          </a:p>
        </p:txBody>
      </p:sp>
      <p:sp>
        <p:nvSpPr>
          <p:cNvPr id="26" name="TextBox 25"/>
          <p:cNvSpPr txBox="1"/>
          <p:nvPr/>
        </p:nvSpPr>
        <p:spPr>
          <a:xfrm>
            <a:off x="4040140" y="2884874"/>
            <a:ext cx="1239267" cy="400110"/>
          </a:xfrm>
          <a:prstGeom prst="rect">
            <a:avLst/>
          </a:prstGeom>
          <a:noFill/>
        </p:spPr>
        <p:txBody>
          <a:bodyPr wrap="none" rtlCol="0">
            <a:spAutoFit/>
          </a:bodyPr>
          <a:lstStyle/>
          <a:p>
            <a:r>
              <a:rPr lang="en-US" sz="2000" b="1" dirty="0" err="1"/>
              <a:t>arr</a:t>
            </a:r>
            <a:r>
              <a:rPr lang="en-US" sz="2000" b="1" dirty="0"/>
              <a:t>[0][2]:</a:t>
            </a:r>
          </a:p>
        </p:txBody>
      </p:sp>
      <p:sp>
        <p:nvSpPr>
          <p:cNvPr id="27" name="TextBox 26"/>
          <p:cNvSpPr txBox="1"/>
          <p:nvPr/>
        </p:nvSpPr>
        <p:spPr>
          <a:xfrm>
            <a:off x="5062912" y="3292821"/>
            <a:ext cx="1083099" cy="400110"/>
          </a:xfrm>
          <a:prstGeom prst="rect">
            <a:avLst/>
          </a:prstGeom>
          <a:noFill/>
        </p:spPr>
        <p:txBody>
          <a:bodyPr wrap="none" rtlCol="0">
            <a:spAutoFit/>
          </a:bodyPr>
          <a:lstStyle/>
          <a:p>
            <a:r>
              <a:rPr lang="en-US" sz="2000" b="1" dirty="0"/>
              <a:t>0x100C</a:t>
            </a:r>
          </a:p>
        </p:txBody>
      </p:sp>
      <p:sp>
        <p:nvSpPr>
          <p:cNvPr id="28" name="TextBox 27"/>
          <p:cNvSpPr txBox="1"/>
          <p:nvPr/>
        </p:nvSpPr>
        <p:spPr>
          <a:xfrm>
            <a:off x="4040140" y="3256817"/>
            <a:ext cx="1239267" cy="400110"/>
          </a:xfrm>
          <a:prstGeom prst="rect">
            <a:avLst/>
          </a:prstGeom>
          <a:noFill/>
        </p:spPr>
        <p:txBody>
          <a:bodyPr wrap="none" rtlCol="0">
            <a:spAutoFit/>
          </a:bodyPr>
          <a:lstStyle/>
          <a:p>
            <a:r>
              <a:rPr lang="en-US" sz="2000" b="1" dirty="0" err="1"/>
              <a:t>arr</a:t>
            </a:r>
            <a:r>
              <a:rPr lang="en-US" sz="2000" b="1" dirty="0"/>
              <a:t>[1][0]:</a:t>
            </a:r>
          </a:p>
        </p:txBody>
      </p:sp>
      <p:sp>
        <p:nvSpPr>
          <p:cNvPr id="29" name="Rectangle 28"/>
          <p:cNvSpPr/>
          <p:nvPr/>
        </p:nvSpPr>
        <p:spPr>
          <a:xfrm>
            <a:off x="6769051" y="1304764"/>
            <a:ext cx="2339453" cy="400110"/>
          </a:xfrm>
          <a:prstGeom prst="rect">
            <a:avLst/>
          </a:prstGeom>
        </p:spPr>
        <p:txBody>
          <a:bodyPr wrap="none">
            <a:spAutoFit/>
          </a:bodyPr>
          <a:lstStyle/>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[4][3]; </a:t>
            </a:r>
          </a:p>
        </p:txBody>
      </p:sp>
      <p:cxnSp>
        <p:nvCxnSpPr>
          <p:cNvPr id="32" name="Straight Arrow Connector 31"/>
          <p:cNvCxnSpPr/>
          <p:nvPr/>
        </p:nvCxnSpPr>
        <p:spPr bwMode="auto">
          <a:xfrm flipV="1">
            <a:off x="3131840" y="3456872"/>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TextBox 45"/>
          <p:cNvSpPr txBox="1"/>
          <p:nvPr/>
        </p:nvSpPr>
        <p:spPr>
          <a:xfrm>
            <a:off x="5084202" y="4325034"/>
            <a:ext cx="1040519" cy="400110"/>
          </a:xfrm>
          <a:prstGeom prst="rect">
            <a:avLst/>
          </a:prstGeom>
          <a:noFill/>
        </p:spPr>
        <p:txBody>
          <a:bodyPr wrap="none" rtlCol="0">
            <a:spAutoFit/>
          </a:bodyPr>
          <a:lstStyle/>
          <a:p>
            <a:r>
              <a:rPr lang="en-US" sz="2000" b="1" dirty="0"/>
              <a:t>0x1018</a:t>
            </a:r>
          </a:p>
        </p:txBody>
      </p:sp>
      <p:sp>
        <p:nvSpPr>
          <p:cNvPr id="47" name="Rectangle 46"/>
          <p:cNvSpPr/>
          <p:nvPr/>
        </p:nvSpPr>
        <p:spPr>
          <a:xfrm>
            <a:off x="6979319" y="5833136"/>
            <a:ext cx="492493" cy="400110"/>
          </a:xfrm>
          <a:prstGeom prst="rect">
            <a:avLst/>
          </a:prstGeom>
        </p:spPr>
        <p:txBody>
          <a:bodyPr wrap="none">
            <a:spAutoFit/>
          </a:bodyPr>
          <a:lstStyle/>
          <a:p>
            <a:r>
              <a:rPr lang="en-GB" sz="2000" b="1" dirty="0">
                <a:solidFill>
                  <a:srgbClr val="000000"/>
                </a:solidFill>
                <a:latin typeface="Courier"/>
                <a:cs typeface="Courier"/>
              </a:rPr>
              <a:t>10</a:t>
            </a:r>
            <a:endParaRPr lang="en-US" sz="2000" dirty="0">
              <a:solidFill>
                <a:srgbClr val="000000"/>
              </a:solidFill>
            </a:endParaRPr>
          </a:p>
        </p:txBody>
      </p:sp>
      <p:sp>
        <p:nvSpPr>
          <p:cNvPr id="48" name="Rectangle 47"/>
          <p:cNvSpPr/>
          <p:nvPr/>
        </p:nvSpPr>
        <p:spPr>
          <a:xfrm>
            <a:off x="7020272" y="6197242"/>
            <a:ext cx="492493" cy="400110"/>
          </a:xfrm>
          <a:prstGeom prst="rect">
            <a:avLst/>
          </a:prstGeom>
        </p:spPr>
        <p:txBody>
          <a:bodyPr wrap="none">
            <a:spAutoFit/>
          </a:bodyPr>
          <a:lstStyle/>
          <a:p>
            <a:r>
              <a:rPr lang="en-GB" sz="2000" b="1" dirty="0">
                <a:solidFill>
                  <a:srgbClr val="000000"/>
                </a:solidFill>
                <a:latin typeface="Courier"/>
                <a:cs typeface="Courier"/>
              </a:rPr>
              <a:t>11</a:t>
            </a:r>
            <a:endParaRPr lang="en-US" sz="2000" dirty="0">
              <a:solidFill>
                <a:srgbClr val="000000"/>
              </a:solidFill>
            </a:endParaRPr>
          </a:p>
        </p:txBody>
      </p:sp>
      <p:sp>
        <p:nvSpPr>
          <p:cNvPr id="52" name="Rectangle 51"/>
          <p:cNvSpPr/>
          <p:nvPr/>
        </p:nvSpPr>
        <p:spPr bwMode="auto">
          <a:xfrm>
            <a:off x="3959932" y="3284984"/>
            <a:ext cx="4392488" cy="1080121"/>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54" name="Espace réservé du contenu 2"/>
          <p:cNvSpPr>
            <a:spLocks noGrp="1"/>
          </p:cNvSpPr>
          <p:nvPr>
            <p:ph idx="1"/>
          </p:nvPr>
        </p:nvSpPr>
        <p:spPr>
          <a:xfrm>
            <a:off x="215516" y="764704"/>
            <a:ext cx="8928484" cy="468052"/>
          </a:xfrm>
          <a:ln>
            <a:noFill/>
          </a:ln>
        </p:spPr>
        <p:txBody>
          <a:bodyPr/>
          <a:lstStyle/>
          <a:p>
            <a:r>
              <a:rPr lang="hr-HR" sz="2000" b="1" dirty="0">
                <a:latin typeface="Courier"/>
                <a:cs typeface="Courier"/>
              </a:rPr>
              <a:t>arr[i][j] = </a:t>
            </a:r>
            <a:r>
              <a:rPr lang="hr-HR" sz="2000" b="1" dirty="0">
                <a:solidFill>
                  <a:srgbClr val="FF0000"/>
                </a:solidFill>
                <a:latin typeface="Courier"/>
                <a:cs typeface="Courier"/>
              </a:rPr>
              <a:t>*</a:t>
            </a:r>
            <a:r>
              <a:rPr lang="hr-HR" sz="2000" b="1" dirty="0">
                <a:latin typeface="Courier"/>
                <a:cs typeface="Courier"/>
              </a:rPr>
              <a:t>( </a:t>
            </a:r>
            <a:r>
              <a:rPr lang="hr-HR" sz="2000" b="1" dirty="0">
                <a:solidFill>
                  <a:srgbClr val="FF9933"/>
                </a:solidFill>
                <a:latin typeface="Courier"/>
                <a:cs typeface="Courier"/>
              </a:rPr>
              <a:t>arr[i]     </a:t>
            </a:r>
            <a:r>
              <a:rPr lang="hr-HR" sz="2000" b="1" dirty="0">
                <a:solidFill>
                  <a:schemeClr val="accent2"/>
                </a:solidFill>
                <a:latin typeface="Courier"/>
                <a:cs typeface="Courier"/>
              </a:rPr>
              <a:t>+ j</a:t>
            </a:r>
            <a:r>
              <a:rPr lang="hr-HR" sz="2000" b="1" dirty="0">
                <a:latin typeface="Courier"/>
                <a:cs typeface="Courier"/>
              </a:rPr>
              <a:t>)</a:t>
            </a:r>
          </a:p>
          <a:p>
            <a:pPr marL="0" indent="0">
              <a:buNone/>
            </a:pPr>
            <a:r>
              <a:rPr lang="hr-HR" sz="2000" b="1" dirty="0">
                <a:latin typeface="Courier"/>
                <a:cs typeface="Courier"/>
              </a:rPr>
              <a:t>              </a:t>
            </a:r>
            <a:r>
              <a:rPr lang="hr-HR" sz="800" b="1" dirty="0">
                <a:latin typeface="Courier"/>
                <a:cs typeface="Courier"/>
              </a:rPr>
              <a:t> </a:t>
            </a:r>
            <a:r>
              <a:rPr lang="hr-HR" sz="2000" b="1" dirty="0">
                <a:solidFill>
                  <a:srgbClr val="FF0000"/>
                </a:solidFill>
                <a:latin typeface="Courier"/>
                <a:cs typeface="Courier"/>
              </a:rPr>
              <a:t>*</a:t>
            </a:r>
            <a:r>
              <a:rPr lang="hr-HR" sz="2000" b="1" dirty="0">
                <a:solidFill>
                  <a:schemeClr val="tx1"/>
                </a:solidFill>
                <a:latin typeface="Courier"/>
                <a:cs typeface="Courier"/>
              </a:rPr>
              <a:t>( *(</a:t>
            </a:r>
            <a:r>
              <a:rPr lang="hr-HR" sz="2000" b="1" dirty="0">
                <a:solidFill>
                  <a:srgbClr val="A70524"/>
                </a:solidFill>
                <a:latin typeface="Courier"/>
                <a:cs typeface="Courier"/>
              </a:rPr>
              <a:t>arr</a:t>
            </a:r>
            <a:r>
              <a:rPr lang="hr-HR" sz="2000" b="1" dirty="0">
                <a:solidFill>
                  <a:srgbClr val="3366FF"/>
                </a:solidFill>
                <a:latin typeface="Courier"/>
                <a:cs typeface="Courier"/>
              </a:rPr>
              <a:t> </a:t>
            </a:r>
            <a:r>
              <a:rPr lang="hr-HR" sz="2000" b="1" dirty="0">
                <a:solidFill>
                  <a:srgbClr val="FF9933"/>
                </a:solidFill>
                <a:latin typeface="Courier"/>
                <a:cs typeface="Courier"/>
              </a:rPr>
              <a:t>+ i</a:t>
            </a:r>
            <a:r>
              <a:rPr lang="hr-HR" sz="2000" b="1" dirty="0">
                <a:solidFill>
                  <a:srgbClr val="000000"/>
                </a:solidFill>
                <a:latin typeface="Courier"/>
                <a:cs typeface="Courier"/>
              </a:rPr>
              <a:t>)</a:t>
            </a:r>
            <a:r>
              <a:rPr lang="hr-HR" sz="2000" b="1" dirty="0">
                <a:solidFill>
                  <a:srgbClr val="3366FF"/>
                </a:solidFill>
                <a:latin typeface="Courier"/>
                <a:cs typeface="Courier"/>
              </a:rPr>
              <a:t> </a:t>
            </a:r>
            <a:r>
              <a:rPr lang="hr-HR" sz="2000" b="1" dirty="0">
                <a:solidFill>
                  <a:schemeClr val="accent2"/>
                </a:solidFill>
                <a:latin typeface="Courier"/>
                <a:cs typeface="Courier"/>
              </a:rPr>
              <a:t>+ j</a:t>
            </a:r>
            <a:r>
              <a:rPr lang="hr-HR" sz="2000" b="1" dirty="0">
                <a:solidFill>
                  <a:schemeClr val="tx1"/>
                </a:solidFill>
                <a:latin typeface="Courier"/>
                <a:cs typeface="Courier"/>
              </a:rPr>
              <a:t>)</a:t>
            </a:r>
          </a:p>
          <a:p>
            <a:endParaRPr lang="hr-HR" sz="2000" b="1" dirty="0">
              <a:latin typeface="Courier"/>
              <a:cs typeface="Courier"/>
            </a:endParaRPr>
          </a:p>
          <a:p>
            <a:pPr marL="0" indent="0">
              <a:buNone/>
            </a:pPr>
            <a:r>
              <a:rPr lang="hr-HR" sz="2000" b="1" dirty="0">
                <a:latin typeface="Courier"/>
                <a:cs typeface="Courier"/>
              </a:rPr>
              <a:t>       </a:t>
            </a:r>
            <a:endParaRPr lang="fr-FR" sz="2000" b="1" dirty="0">
              <a:latin typeface="Courier"/>
              <a:cs typeface="Courier"/>
            </a:endParaRPr>
          </a:p>
        </p:txBody>
      </p:sp>
      <p:sp>
        <p:nvSpPr>
          <p:cNvPr id="56" name="TextBox 55"/>
          <p:cNvSpPr txBox="1"/>
          <p:nvPr/>
        </p:nvSpPr>
        <p:spPr>
          <a:xfrm>
            <a:off x="2231740" y="3248980"/>
            <a:ext cx="954233" cy="400110"/>
          </a:xfrm>
          <a:prstGeom prst="rect">
            <a:avLst/>
          </a:prstGeom>
          <a:noFill/>
        </p:spPr>
        <p:txBody>
          <a:bodyPr wrap="none" rtlCol="0">
            <a:spAutoFit/>
          </a:bodyPr>
          <a:lstStyle/>
          <a:p>
            <a:r>
              <a:rPr lang="en-US" sz="2000" b="1" dirty="0" err="1">
                <a:latin typeface="Courier"/>
                <a:cs typeface="Courier"/>
              </a:rPr>
              <a:t>arr+i</a:t>
            </a:r>
            <a:endParaRPr lang="en-US" sz="2000" b="1" dirty="0">
              <a:latin typeface="Courier"/>
              <a:cs typeface="Courier"/>
            </a:endParaRPr>
          </a:p>
        </p:txBody>
      </p:sp>
      <p:cxnSp>
        <p:nvCxnSpPr>
          <p:cNvPr id="57" name="Straight Arrow Connector 56"/>
          <p:cNvCxnSpPr/>
          <p:nvPr/>
        </p:nvCxnSpPr>
        <p:spPr bwMode="auto">
          <a:xfrm flipV="1">
            <a:off x="3647747" y="4172886"/>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TextBox 57"/>
          <p:cNvSpPr txBox="1"/>
          <p:nvPr/>
        </p:nvSpPr>
        <p:spPr>
          <a:xfrm>
            <a:off x="2020109" y="3964994"/>
            <a:ext cx="1723799" cy="400110"/>
          </a:xfrm>
          <a:prstGeom prst="rect">
            <a:avLst/>
          </a:prstGeom>
          <a:noFill/>
        </p:spPr>
        <p:txBody>
          <a:bodyPr wrap="none" rtlCol="0">
            <a:spAutoFit/>
          </a:bodyPr>
          <a:lstStyle/>
          <a:p>
            <a:r>
              <a:rPr lang="en-US" sz="2000" b="1" dirty="0">
                <a:latin typeface="Courier"/>
                <a:cs typeface="Courier"/>
              </a:rPr>
              <a:t>*(</a:t>
            </a:r>
            <a:r>
              <a:rPr lang="en-US" sz="2000" b="1" dirty="0" err="1">
                <a:latin typeface="Courier"/>
                <a:cs typeface="Courier"/>
              </a:rPr>
              <a:t>arr+i</a:t>
            </a:r>
            <a:r>
              <a:rPr lang="en-US" sz="2000" b="1" dirty="0">
                <a:latin typeface="Courier"/>
                <a:cs typeface="Courier"/>
              </a:rPr>
              <a:t>)+j</a:t>
            </a:r>
          </a:p>
        </p:txBody>
      </p:sp>
      <p:sp>
        <p:nvSpPr>
          <p:cNvPr id="59" name="Rectangle 58"/>
          <p:cNvSpPr/>
          <p:nvPr/>
        </p:nvSpPr>
        <p:spPr bwMode="auto">
          <a:xfrm>
            <a:off x="4211960" y="3969061"/>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0" name="TextBox 59"/>
          <p:cNvSpPr txBox="1"/>
          <p:nvPr/>
        </p:nvSpPr>
        <p:spPr>
          <a:xfrm>
            <a:off x="5082524" y="3928990"/>
            <a:ext cx="1043876" cy="400110"/>
          </a:xfrm>
          <a:prstGeom prst="rect">
            <a:avLst/>
          </a:prstGeom>
          <a:noFill/>
        </p:spPr>
        <p:txBody>
          <a:bodyPr wrap="none" rtlCol="0">
            <a:spAutoFit/>
          </a:bodyPr>
          <a:lstStyle/>
          <a:p>
            <a:r>
              <a:rPr lang="en-US" sz="2000" b="1" dirty="0"/>
              <a:t>0x1014</a:t>
            </a:r>
          </a:p>
        </p:txBody>
      </p:sp>
      <p:sp>
        <p:nvSpPr>
          <p:cNvPr id="61" name="TextBox 60"/>
          <p:cNvSpPr txBox="1"/>
          <p:nvPr/>
        </p:nvSpPr>
        <p:spPr>
          <a:xfrm>
            <a:off x="4040140" y="3892986"/>
            <a:ext cx="1239267" cy="400110"/>
          </a:xfrm>
          <a:prstGeom prst="rect">
            <a:avLst/>
          </a:prstGeom>
          <a:noFill/>
        </p:spPr>
        <p:txBody>
          <a:bodyPr wrap="none" rtlCol="0">
            <a:spAutoFit/>
          </a:bodyPr>
          <a:lstStyle/>
          <a:p>
            <a:r>
              <a:rPr lang="en-US" sz="2000" b="1" dirty="0" err="1"/>
              <a:t>arr</a:t>
            </a:r>
            <a:r>
              <a:rPr lang="en-US" sz="2000" b="1" dirty="0"/>
              <a:t>[1][2]:</a:t>
            </a:r>
          </a:p>
        </p:txBody>
      </p:sp>
      <p:sp>
        <p:nvSpPr>
          <p:cNvPr id="62" name="Oval 61"/>
          <p:cNvSpPr/>
          <p:nvPr/>
        </p:nvSpPr>
        <p:spPr bwMode="auto">
          <a:xfrm>
            <a:off x="6876256" y="3789040"/>
            <a:ext cx="792088" cy="57606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64" name="Straight Connector 63"/>
          <p:cNvCxnSpPr/>
          <p:nvPr/>
        </p:nvCxnSpPr>
        <p:spPr bwMode="auto">
          <a:xfrm flipV="1">
            <a:off x="3959932" y="3609020"/>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5" name="Straight Connector 64"/>
          <p:cNvCxnSpPr/>
          <p:nvPr/>
        </p:nvCxnSpPr>
        <p:spPr bwMode="auto">
          <a:xfrm flipV="1">
            <a:off x="3959932" y="3933056"/>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6" name="Rectangle 65"/>
          <p:cNvSpPr/>
          <p:nvPr/>
        </p:nvSpPr>
        <p:spPr>
          <a:xfrm>
            <a:off x="323528" y="5265204"/>
            <a:ext cx="3345587" cy="400110"/>
          </a:xfrm>
          <a:prstGeom prst="rect">
            <a:avLst/>
          </a:prstGeom>
        </p:spPr>
        <p:txBody>
          <a:bodyPr wrap="none">
            <a:spAutoFit/>
          </a:bodyPr>
          <a:lstStyle/>
          <a:p>
            <a:pPr marL="0" indent="0">
              <a:buNone/>
            </a:pPr>
            <a:r>
              <a:rPr lang="en-US" sz="2000" dirty="0">
                <a:solidFill>
                  <a:schemeClr val="tx1"/>
                </a:solidFill>
                <a:latin typeface="+mn-lt"/>
                <a:cs typeface="Courier"/>
              </a:rPr>
              <a:t>so, we add: </a:t>
            </a:r>
            <a:r>
              <a:rPr lang="en-US" sz="2000" b="1" dirty="0" err="1">
                <a:solidFill>
                  <a:schemeClr val="tx1"/>
                </a:solidFill>
                <a:latin typeface="Courier"/>
                <a:cs typeface="Courier"/>
              </a:rPr>
              <a:t>sizeof</a:t>
            </a:r>
            <a:r>
              <a:rPr lang="en-US" sz="2000" b="1" dirty="0">
                <a:solidFill>
                  <a:schemeClr val="tx1"/>
                </a:solidFill>
                <a:latin typeface="Courier"/>
                <a:cs typeface="Courier"/>
              </a:rPr>
              <a:t>(</a:t>
            </a:r>
            <a:r>
              <a:rPr lang="en-US" sz="2000" b="1" dirty="0" err="1">
                <a:solidFill>
                  <a:schemeClr val="accent2"/>
                </a:solidFill>
                <a:latin typeface="Courier"/>
                <a:cs typeface="Courier"/>
              </a:rPr>
              <a:t>int</a:t>
            </a:r>
            <a:r>
              <a:rPr lang="en-US" sz="2000" b="1" dirty="0">
                <a:solidFill>
                  <a:srgbClr val="000000"/>
                </a:solidFill>
                <a:latin typeface="Courier"/>
                <a:cs typeface="Courier"/>
              </a:rPr>
              <a:t>)</a:t>
            </a:r>
          </a:p>
        </p:txBody>
      </p:sp>
      <p:sp>
        <p:nvSpPr>
          <p:cNvPr id="67" name="Rectangle 66"/>
          <p:cNvSpPr/>
          <p:nvPr/>
        </p:nvSpPr>
        <p:spPr>
          <a:xfrm>
            <a:off x="180754" y="4653136"/>
            <a:ext cx="3095102" cy="707886"/>
          </a:xfrm>
          <a:prstGeom prst="rect">
            <a:avLst/>
          </a:prstGeom>
        </p:spPr>
        <p:txBody>
          <a:bodyPr wrap="square">
            <a:spAutoFit/>
          </a:bodyPr>
          <a:lstStyle/>
          <a:p>
            <a:pPr marL="0" indent="0">
              <a:buNone/>
            </a:pPr>
            <a:r>
              <a:rPr lang="en-US" sz="2000" b="1" dirty="0">
                <a:solidFill>
                  <a:srgbClr val="000000"/>
                </a:solidFill>
                <a:latin typeface="Courier"/>
                <a:cs typeface="Courier"/>
              </a:rPr>
              <a:t>*</a:t>
            </a:r>
            <a:r>
              <a:rPr lang="en-US" sz="2000" b="1" dirty="0">
                <a:solidFill>
                  <a:schemeClr val="tx1"/>
                </a:solidFill>
                <a:latin typeface="Courier"/>
                <a:cs typeface="Courier"/>
              </a:rPr>
              <a:t>(</a:t>
            </a:r>
            <a:r>
              <a:rPr lang="en-US" sz="2000" b="1" dirty="0" err="1">
                <a:solidFill>
                  <a:srgbClr val="800000"/>
                </a:solidFill>
                <a:latin typeface="Courier"/>
                <a:cs typeface="Courier"/>
              </a:rPr>
              <a:t>arr</a:t>
            </a:r>
            <a:r>
              <a:rPr lang="en-US" sz="2000" b="1" dirty="0" err="1">
                <a:solidFill>
                  <a:srgbClr val="FF9933"/>
                </a:solidFill>
                <a:latin typeface="Courier"/>
                <a:cs typeface="Courier"/>
              </a:rPr>
              <a:t>+i</a:t>
            </a:r>
            <a:r>
              <a:rPr lang="en-US" sz="2000" b="1" dirty="0">
                <a:solidFill>
                  <a:srgbClr val="000000"/>
                </a:solidFill>
                <a:latin typeface="Courier"/>
                <a:cs typeface="Courier"/>
              </a:rPr>
              <a:t>) </a:t>
            </a:r>
            <a:r>
              <a:rPr lang="en-US" sz="2000" dirty="0">
                <a:solidFill>
                  <a:srgbClr val="000000"/>
                </a:solidFill>
                <a:latin typeface="+mn-lt"/>
                <a:cs typeface="Courier"/>
              </a:rPr>
              <a:t>is </a:t>
            </a:r>
            <a:r>
              <a:rPr lang="en-US" sz="2000" b="1" dirty="0" err="1">
                <a:solidFill>
                  <a:srgbClr val="FF9933"/>
                </a:solidFill>
                <a:latin typeface="Courier"/>
                <a:cs typeface="Courier"/>
              </a:rPr>
              <a:t>arr</a:t>
            </a:r>
            <a:r>
              <a:rPr lang="en-US" sz="2000" b="1" dirty="0">
                <a:solidFill>
                  <a:srgbClr val="FF9933"/>
                </a:solidFill>
                <a:latin typeface="Courier"/>
                <a:cs typeface="Courier"/>
              </a:rPr>
              <a:t>[</a:t>
            </a:r>
            <a:r>
              <a:rPr lang="en-US" sz="2000" b="1" dirty="0" err="1">
                <a:solidFill>
                  <a:srgbClr val="FF9933"/>
                </a:solidFill>
                <a:latin typeface="Courier"/>
                <a:cs typeface="Courier"/>
              </a:rPr>
              <a:t>i</a:t>
            </a:r>
            <a:r>
              <a:rPr lang="en-US" sz="2000" b="1" dirty="0">
                <a:solidFill>
                  <a:srgbClr val="000000"/>
                </a:solidFill>
                <a:latin typeface="Courier"/>
                <a:cs typeface="Courier"/>
              </a:rPr>
              <a:t>]</a:t>
            </a:r>
            <a:r>
              <a:rPr lang="en-US" sz="2000" b="1" dirty="0">
                <a:solidFill>
                  <a:srgbClr val="FF9933"/>
                </a:solidFill>
                <a:latin typeface="Courier"/>
                <a:cs typeface="Courier"/>
              </a:rPr>
              <a:t> </a:t>
            </a:r>
            <a:r>
              <a:rPr lang="en-US" sz="2000" dirty="0">
                <a:solidFill>
                  <a:schemeClr val="tx1"/>
                </a:solidFill>
                <a:latin typeface="+mn-lt"/>
                <a:cs typeface="Courier"/>
              </a:rPr>
              <a:t>i.e. 1D array of </a:t>
            </a:r>
            <a:r>
              <a:rPr lang="en-US" sz="2000" b="1" dirty="0" err="1">
                <a:solidFill>
                  <a:schemeClr val="accent2"/>
                </a:solidFill>
                <a:latin typeface="Courier"/>
                <a:cs typeface="Courier"/>
              </a:rPr>
              <a:t>int</a:t>
            </a:r>
            <a:endParaRPr lang="en-US" sz="2000" b="1" dirty="0">
              <a:solidFill>
                <a:schemeClr val="accent2"/>
              </a:solidFill>
              <a:latin typeface="Courier"/>
              <a:cs typeface="Courier"/>
            </a:endParaRPr>
          </a:p>
        </p:txBody>
      </p:sp>
      <p:cxnSp>
        <p:nvCxnSpPr>
          <p:cNvPr id="50" name="Straight Arrow Connector 49"/>
          <p:cNvCxnSpPr/>
          <p:nvPr/>
        </p:nvCxnSpPr>
        <p:spPr bwMode="auto">
          <a:xfrm flipV="1">
            <a:off x="3071683" y="2304744"/>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1" name="TextBox 50"/>
          <p:cNvSpPr txBox="1"/>
          <p:nvPr/>
        </p:nvSpPr>
        <p:spPr>
          <a:xfrm>
            <a:off x="2210581" y="2096852"/>
            <a:ext cx="646406" cy="400110"/>
          </a:xfrm>
          <a:prstGeom prst="rect">
            <a:avLst/>
          </a:prstGeom>
          <a:noFill/>
        </p:spPr>
        <p:txBody>
          <a:bodyPr wrap="none" rtlCol="0">
            <a:spAutoFit/>
          </a:bodyPr>
          <a:lstStyle/>
          <a:p>
            <a:r>
              <a:rPr lang="en-US" sz="2000" b="1" dirty="0" err="1">
                <a:latin typeface="Courier"/>
                <a:cs typeface="Courier"/>
              </a:rPr>
              <a:t>arr</a:t>
            </a:r>
            <a:endParaRPr lang="en-US" sz="2000" b="1" dirty="0">
              <a:latin typeface="Courier"/>
              <a:cs typeface="Courier"/>
            </a:endParaRPr>
          </a:p>
        </p:txBody>
      </p:sp>
      <p:sp>
        <p:nvSpPr>
          <p:cNvPr id="53" name="Rectangle 52"/>
          <p:cNvSpPr/>
          <p:nvPr/>
        </p:nvSpPr>
        <p:spPr bwMode="auto">
          <a:xfrm>
            <a:off x="3668699" y="2024844"/>
            <a:ext cx="5115769" cy="4644516"/>
          </a:xfrm>
          <a:prstGeom prst="rect">
            <a:avLst/>
          </a:prstGeom>
          <a:noFill/>
          <a:ln w="5715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55" name="Straight Connector 54"/>
          <p:cNvCxnSpPr/>
          <p:nvPr/>
        </p:nvCxnSpPr>
        <p:spPr bwMode="auto">
          <a:xfrm flipV="1">
            <a:off x="3851920" y="3248980"/>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3" name="Straight Connector 62"/>
          <p:cNvCxnSpPr/>
          <p:nvPr/>
        </p:nvCxnSpPr>
        <p:spPr bwMode="auto">
          <a:xfrm flipV="1">
            <a:off x="3834445" y="4329100"/>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8" name="Straight Connector 67"/>
          <p:cNvCxnSpPr/>
          <p:nvPr/>
        </p:nvCxnSpPr>
        <p:spPr bwMode="auto">
          <a:xfrm flipV="1">
            <a:off x="3870449" y="5445224"/>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9" name="Rectangle 68"/>
          <p:cNvSpPr/>
          <p:nvPr/>
        </p:nvSpPr>
        <p:spPr>
          <a:xfrm>
            <a:off x="-36512" y="3501008"/>
            <a:ext cx="4176464" cy="646331"/>
          </a:xfrm>
          <a:prstGeom prst="rect">
            <a:avLst/>
          </a:prstGeom>
        </p:spPr>
        <p:txBody>
          <a:bodyPr wrap="square">
            <a:spAutoFit/>
          </a:bodyPr>
          <a:lstStyle/>
          <a:p>
            <a:pPr marL="0" indent="0" algn="l">
              <a:buNone/>
            </a:pPr>
            <a:r>
              <a:rPr lang="en-US" sz="1800" dirty="0">
                <a:solidFill>
                  <a:schemeClr val="tx1"/>
                </a:solidFill>
                <a:latin typeface="+mn-lt"/>
                <a:cs typeface="Courier"/>
              </a:rPr>
              <a:t>so, we add the size of the array: </a:t>
            </a:r>
            <a:r>
              <a:rPr lang="en-US" sz="1800" b="1" dirty="0" err="1">
                <a:solidFill>
                  <a:schemeClr val="tx1"/>
                </a:solidFill>
                <a:latin typeface="Courier"/>
                <a:cs typeface="Courier"/>
              </a:rPr>
              <a:t>sizeof</a:t>
            </a:r>
            <a:r>
              <a:rPr lang="en-US" sz="1800" b="1" dirty="0">
                <a:solidFill>
                  <a:schemeClr val="tx1"/>
                </a:solidFill>
                <a:latin typeface="Courier"/>
                <a:cs typeface="Courier"/>
              </a:rPr>
              <a:t>(</a:t>
            </a:r>
            <a:r>
              <a:rPr lang="en-US" sz="1800" b="1" dirty="0" err="1">
                <a:solidFill>
                  <a:schemeClr val="accent2"/>
                </a:solidFill>
                <a:latin typeface="Courier"/>
                <a:cs typeface="Courier"/>
              </a:rPr>
              <a:t>int</a:t>
            </a:r>
            <a:r>
              <a:rPr lang="en-US" sz="1800" b="1" dirty="0">
                <a:solidFill>
                  <a:srgbClr val="000000"/>
                </a:solidFill>
                <a:latin typeface="Courier"/>
                <a:cs typeface="Courier"/>
              </a:rPr>
              <a:t>)*</a:t>
            </a:r>
            <a:r>
              <a:rPr lang="en-US" sz="1800" b="1" dirty="0">
                <a:solidFill>
                  <a:srgbClr val="FF9933"/>
                </a:solidFill>
                <a:latin typeface="Courier"/>
                <a:cs typeface="Courier"/>
              </a:rPr>
              <a:t>COLS</a:t>
            </a:r>
            <a:endParaRPr lang="en-US" sz="1800" b="1" dirty="0">
              <a:solidFill>
                <a:srgbClr val="000000"/>
              </a:solidFill>
              <a:latin typeface="Courier"/>
              <a:cs typeface="Courier"/>
            </a:endParaRPr>
          </a:p>
        </p:txBody>
      </p:sp>
      <p:sp>
        <p:nvSpPr>
          <p:cNvPr id="70" name="Rectangle 69"/>
          <p:cNvSpPr/>
          <p:nvPr/>
        </p:nvSpPr>
        <p:spPr>
          <a:xfrm>
            <a:off x="-508" y="2384884"/>
            <a:ext cx="3685975" cy="400110"/>
          </a:xfrm>
          <a:prstGeom prst="rect">
            <a:avLst/>
          </a:prstGeom>
        </p:spPr>
        <p:txBody>
          <a:bodyPr wrap="none">
            <a:spAutoFit/>
          </a:bodyPr>
          <a:lstStyle/>
          <a:p>
            <a:pPr marL="0" indent="0">
              <a:buNone/>
            </a:pPr>
            <a:r>
              <a:rPr lang="en-US" sz="2000" b="1" dirty="0" err="1">
                <a:solidFill>
                  <a:srgbClr val="A70524"/>
                </a:solidFill>
                <a:latin typeface="Courier"/>
                <a:cs typeface="Courier"/>
              </a:rPr>
              <a:t>arr</a:t>
            </a:r>
            <a:r>
              <a:rPr lang="en-US" sz="2000" b="1" dirty="0">
                <a:solidFill>
                  <a:srgbClr val="A70524"/>
                </a:solidFill>
                <a:latin typeface="Courier"/>
                <a:cs typeface="Courier"/>
              </a:rPr>
              <a:t> </a:t>
            </a:r>
            <a:r>
              <a:rPr lang="en-US" sz="2000" dirty="0">
                <a:solidFill>
                  <a:schemeClr val="tx1"/>
                </a:solidFill>
                <a:latin typeface="+mn-lt"/>
                <a:cs typeface="Courier"/>
              </a:rPr>
              <a:t>points to </a:t>
            </a:r>
            <a:r>
              <a:rPr lang="en-US" sz="2000" b="1" dirty="0">
                <a:solidFill>
                  <a:srgbClr val="FF9933"/>
                </a:solidFill>
                <a:latin typeface="+mn-lt"/>
                <a:cs typeface="Courier"/>
              </a:rPr>
              <a:t>1D array </a:t>
            </a:r>
            <a:r>
              <a:rPr lang="en-US" sz="2000" dirty="0">
                <a:solidFill>
                  <a:srgbClr val="FF9933"/>
                </a:solidFill>
                <a:latin typeface="+mn-lt"/>
                <a:cs typeface="Courier"/>
              </a:rPr>
              <a:t>of </a:t>
            </a:r>
            <a:r>
              <a:rPr lang="en-US" sz="2000" b="1" dirty="0" err="1">
                <a:solidFill>
                  <a:schemeClr val="accent2"/>
                </a:solidFill>
                <a:latin typeface="Courier"/>
                <a:cs typeface="Courier"/>
              </a:rPr>
              <a:t>int</a:t>
            </a:r>
            <a:endParaRPr lang="en-US" sz="2000" b="1" dirty="0">
              <a:solidFill>
                <a:schemeClr val="accent2"/>
              </a:solidFill>
              <a:latin typeface="Courier"/>
              <a:cs typeface="Courier"/>
            </a:endParaRPr>
          </a:p>
        </p:txBody>
      </p:sp>
      <p:sp>
        <p:nvSpPr>
          <p:cNvPr id="4" name="TextBox 3"/>
          <p:cNvSpPr txBox="1"/>
          <p:nvPr/>
        </p:nvSpPr>
        <p:spPr>
          <a:xfrm>
            <a:off x="827584" y="2600908"/>
            <a:ext cx="594634" cy="584776"/>
          </a:xfrm>
          <a:prstGeom prst="rect">
            <a:avLst/>
          </a:prstGeom>
          <a:noFill/>
        </p:spPr>
        <p:txBody>
          <a:bodyPr wrap="none" rtlCol="0">
            <a:spAutoFit/>
          </a:bodyPr>
          <a:lstStyle/>
          <a:p>
            <a:r>
              <a:rPr lang="en-US" sz="3200" b="1" dirty="0">
                <a:solidFill>
                  <a:srgbClr val="FF0000"/>
                </a:solidFill>
              </a:rPr>
              <a:t>!!!</a:t>
            </a:r>
          </a:p>
        </p:txBody>
      </p:sp>
      <p:sp>
        <p:nvSpPr>
          <p:cNvPr id="7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8336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6" grpId="0"/>
      <p:bldP spid="58" grpId="0"/>
      <p:bldP spid="59" grpId="0" animBg="1"/>
      <p:bldP spid="62" grpId="0" animBg="1"/>
      <p:bldP spid="66" grpId="0"/>
      <p:bldP spid="67" grpId="0"/>
      <p:bldP spid="51" grpId="0"/>
      <p:bldP spid="53" grpId="0" animBg="1"/>
      <p:bldP spid="69" grpId="0"/>
      <p:bldP spid="70"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Espace réservé du contenu 2"/>
          <p:cNvSpPr>
            <a:spLocks noGrp="1"/>
          </p:cNvSpPr>
          <p:nvPr>
            <p:ph idx="1"/>
          </p:nvPr>
        </p:nvSpPr>
        <p:spPr>
          <a:xfrm>
            <a:off x="215516" y="764704"/>
            <a:ext cx="8928484" cy="468052"/>
          </a:xfrm>
          <a:ln>
            <a:noFill/>
          </a:ln>
        </p:spPr>
        <p:txBody>
          <a:bodyPr/>
          <a:lstStyle/>
          <a:p>
            <a:r>
              <a:rPr lang="hr-HR" sz="2000" b="1" dirty="0">
                <a:latin typeface="Courier"/>
                <a:cs typeface="Courier"/>
              </a:rPr>
              <a:t>arr[i][j] = </a:t>
            </a:r>
            <a:r>
              <a:rPr lang="hr-HR" sz="2000" b="1" dirty="0">
                <a:solidFill>
                  <a:srgbClr val="FF0000"/>
                </a:solidFill>
                <a:latin typeface="Courier"/>
                <a:cs typeface="Courier"/>
              </a:rPr>
              <a:t>*</a:t>
            </a:r>
            <a:r>
              <a:rPr lang="hr-HR" sz="2000" b="1" dirty="0">
                <a:latin typeface="Courier"/>
                <a:cs typeface="Courier"/>
              </a:rPr>
              <a:t>( </a:t>
            </a:r>
            <a:r>
              <a:rPr lang="hr-HR" sz="2000" b="1" dirty="0">
                <a:solidFill>
                  <a:srgbClr val="FF9933"/>
                </a:solidFill>
                <a:latin typeface="Courier"/>
                <a:cs typeface="Courier"/>
              </a:rPr>
              <a:t>arr[i]     </a:t>
            </a:r>
            <a:r>
              <a:rPr lang="hr-HR" sz="2000" b="1" dirty="0">
                <a:solidFill>
                  <a:schemeClr val="accent2"/>
                </a:solidFill>
                <a:latin typeface="Courier"/>
                <a:cs typeface="Courier"/>
              </a:rPr>
              <a:t>+ j</a:t>
            </a:r>
            <a:r>
              <a:rPr lang="hr-HR" sz="2000" b="1" dirty="0">
                <a:latin typeface="Courier"/>
                <a:cs typeface="Courier"/>
              </a:rPr>
              <a:t>)</a:t>
            </a:r>
          </a:p>
          <a:p>
            <a:pPr marL="0" indent="0">
              <a:buNone/>
            </a:pPr>
            <a:r>
              <a:rPr lang="hr-HR" sz="2000" b="1" dirty="0">
                <a:latin typeface="Courier"/>
                <a:cs typeface="Courier"/>
              </a:rPr>
              <a:t>              </a:t>
            </a:r>
            <a:r>
              <a:rPr lang="hr-HR" sz="800" b="1" dirty="0">
                <a:latin typeface="Courier"/>
                <a:cs typeface="Courier"/>
              </a:rPr>
              <a:t> </a:t>
            </a:r>
            <a:r>
              <a:rPr lang="hr-HR" sz="2000" b="1" dirty="0">
                <a:solidFill>
                  <a:srgbClr val="FF0000"/>
                </a:solidFill>
                <a:latin typeface="Courier"/>
                <a:cs typeface="Courier"/>
              </a:rPr>
              <a:t>*</a:t>
            </a:r>
            <a:r>
              <a:rPr lang="hr-HR" sz="2000" b="1" dirty="0">
                <a:solidFill>
                  <a:schemeClr val="tx1"/>
                </a:solidFill>
                <a:latin typeface="Courier"/>
                <a:cs typeface="Courier"/>
              </a:rPr>
              <a:t>( *(</a:t>
            </a:r>
            <a:r>
              <a:rPr lang="hr-HR" sz="2000" b="1" dirty="0">
                <a:solidFill>
                  <a:srgbClr val="A70524"/>
                </a:solidFill>
                <a:latin typeface="Courier"/>
                <a:cs typeface="Courier"/>
              </a:rPr>
              <a:t>arr</a:t>
            </a:r>
            <a:r>
              <a:rPr lang="hr-HR" sz="2000" b="1" dirty="0">
                <a:solidFill>
                  <a:srgbClr val="3366FF"/>
                </a:solidFill>
                <a:latin typeface="Courier"/>
                <a:cs typeface="Courier"/>
              </a:rPr>
              <a:t> </a:t>
            </a:r>
            <a:r>
              <a:rPr lang="hr-HR" sz="2000" b="1" dirty="0">
                <a:solidFill>
                  <a:srgbClr val="FF9933"/>
                </a:solidFill>
                <a:latin typeface="Courier"/>
                <a:cs typeface="Courier"/>
              </a:rPr>
              <a:t>+ i</a:t>
            </a:r>
            <a:r>
              <a:rPr lang="hr-HR" sz="2000" b="1" dirty="0">
                <a:solidFill>
                  <a:srgbClr val="000000"/>
                </a:solidFill>
                <a:latin typeface="Courier"/>
                <a:cs typeface="Courier"/>
              </a:rPr>
              <a:t>)</a:t>
            </a:r>
            <a:r>
              <a:rPr lang="hr-HR" sz="2000" b="1" dirty="0">
                <a:solidFill>
                  <a:srgbClr val="3366FF"/>
                </a:solidFill>
                <a:latin typeface="Courier"/>
                <a:cs typeface="Courier"/>
              </a:rPr>
              <a:t> </a:t>
            </a:r>
            <a:r>
              <a:rPr lang="hr-HR" sz="2000" b="1" dirty="0">
                <a:solidFill>
                  <a:schemeClr val="accent2"/>
                </a:solidFill>
                <a:latin typeface="Courier"/>
                <a:cs typeface="Courier"/>
              </a:rPr>
              <a:t>+ j</a:t>
            </a:r>
            <a:r>
              <a:rPr lang="hr-HR" sz="2000" b="1" dirty="0">
                <a:solidFill>
                  <a:schemeClr val="tx1"/>
                </a:solidFill>
                <a:latin typeface="Courier"/>
                <a:cs typeface="Courier"/>
              </a:rPr>
              <a:t>)</a:t>
            </a:r>
          </a:p>
          <a:p>
            <a:pPr marL="0" indent="0">
              <a:buNone/>
            </a:pPr>
            <a:r>
              <a:rPr lang="hr-HR" sz="2000" b="1" dirty="0">
                <a:solidFill>
                  <a:schemeClr val="tx1"/>
                </a:solidFill>
                <a:latin typeface="Courier"/>
                <a:cs typeface="Courier"/>
              </a:rPr>
              <a:t>		  </a:t>
            </a:r>
            <a:r>
              <a:rPr lang="hr-HR" sz="800" b="1" dirty="0">
                <a:solidFill>
                  <a:schemeClr val="tx1"/>
                </a:solidFill>
                <a:latin typeface="Courier"/>
                <a:cs typeface="Courier"/>
              </a:rPr>
              <a:t> </a:t>
            </a:r>
            <a:r>
              <a:rPr lang="hr-HR" sz="2000" b="1" dirty="0">
                <a:solidFill>
                  <a:srgbClr val="FF0000"/>
                </a:solidFill>
                <a:latin typeface="Courier"/>
                <a:cs typeface="Courier"/>
              </a:rPr>
              <a:t>*</a:t>
            </a:r>
            <a:r>
              <a:rPr lang="hr-HR" sz="2000" b="1" dirty="0">
                <a:latin typeface="Courier"/>
                <a:cs typeface="Courier"/>
              </a:rPr>
              <a:t>( </a:t>
            </a:r>
            <a:r>
              <a:rPr lang="hr-HR" sz="2000" b="1" dirty="0">
                <a:solidFill>
                  <a:srgbClr val="000000"/>
                </a:solidFill>
                <a:latin typeface="Courier"/>
                <a:cs typeface="Courier"/>
              </a:rPr>
              <a:t>(*</a:t>
            </a:r>
            <a:r>
              <a:rPr lang="hr-HR" sz="2000" b="1" dirty="0">
                <a:solidFill>
                  <a:srgbClr val="A70524"/>
                </a:solidFill>
                <a:latin typeface="Courier"/>
                <a:cs typeface="Courier"/>
              </a:rPr>
              <a:t>arr</a:t>
            </a:r>
            <a:r>
              <a:rPr lang="hr-HR" sz="2000" b="1" dirty="0">
                <a:solidFill>
                  <a:schemeClr val="tx1"/>
                </a:solidFill>
                <a:latin typeface="Courier"/>
                <a:cs typeface="Courier"/>
              </a:rPr>
              <a:t>)</a:t>
            </a:r>
            <a:r>
              <a:rPr lang="hr-HR" sz="2000" b="1" dirty="0">
                <a:solidFill>
                  <a:srgbClr val="3366FF"/>
                </a:solidFill>
                <a:latin typeface="Courier"/>
                <a:cs typeface="Courier"/>
              </a:rPr>
              <a:t> </a:t>
            </a:r>
            <a:r>
              <a:rPr lang="hr-HR" sz="2000" b="1" dirty="0">
                <a:solidFill>
                  <a:srgbClr val="FF9933"/>
                </a:solidFill>
                <a:latin typeface="Courier"/>
                <a:cs typeface="Courier"/>
              </a:rPr>
              <a:t>+ i * COLS </a:t>
            </a:r>
            <a:r>
              <a:rPr lang="hr-HR" sz="2000" b="1" dirty="0">
                <a:solidFill>
                  <a:schemeClr val="accent2"/>
                </a:solidFill>
                <a:latin typeface="Courier"/>
                <a:cs typeface="Courier"/>
              </a:rPr>
              <a:t>+ j </a:t>
            </a:r>
            <a:r>
              <a:rPr lang="hr-HR" sz="2000" b="1" dirty="0">
                <a:latin typeface="Courier"/>
                <a:cs typeface="Courier"/>
              </a:rPr>
              <a:t>)</a:t>
            </a:r>
            <a:endParaRPr lang="hr-HR" sz="2000" b="1" dirty="0">
              <a:solidFill>
                <a:schemeClr val="tx1"/>
              </a:solidFill>
              <a:latin typeface="Courier"/>
              <a:cs typeface="Courier"/>
            </a:endParaRPr>
          </a:p>
          <a:p>
            <a:endParaRPr lang="hr-HR" sz="2000" b="1" dirty="0">
              <a:latin typeface="Courier"/>
              <a:cs typeface="Courier"/>
            </a:endParaRPr>
          </a:p>
          <a:p>
            <a:pPr marL="0" indent="0">
              <a:buNone/>
            </a:pPr>
            <a:r>
              <a:rPr lang="hr-HR" sz="2000" b="1" dirty="0">
                <a:latin typeface="Courier"/>
                <a:cs typeface="Courier"/>
              </a:rPr>
              <a:t>       </a:t>
            </a:r>
            <a:endParaRPr lang="fr-FR" sz="2000" b="1" dirty="0">
              <a:latin typeface="Courier"/>
              <a:cs typeface="Courier"/>
            </a:endParaRPr>
          </a:p>
        </p:txBody>
      </p:sp>
      <p:sp>
        <p:nvSpPr>
          <p:cNvPr id="2" name="Title 1"/>
          <p:cNvSpPr>
            <a:spLocks noGrp="1"/>
          </p:cNvSpPr>
          <p:nvPr>
            <p:ph type="title"/>
          </p:nvPr>
        </p:nvSpPr>
        <p:spPr/>
        <p:txBody>
          <a:bodyPr/>
          <a:lstStyle/>
          <a:p>
            <a:r>
              <a:rPr lang="en-US" sz="2800" dirty="0"/>
              <a:t>Array of Arrays: Pointer arithmetic</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139</a:t>
            </a:fld>
            <a:endParaRPr lang="fr-FR"/>
          </a:p>
        </p:txBody>
      </p:sp>
      <p:sp>
        <p:nvSpPr>
          <p:cNvPr id="6" name="TextBox 5"/>
          <p:cNvSpPr txBox="1"/>
          <p:nvPr/>
        </p:nvSpPr>
        <p:spPr>
          <a:xfrm>
            <a:off x="4044613" y="4289030"/>
            <a:ext cx="1239267" cy="400110"/>
          </a:xfrm>
          <a:prstGeom prst="rect">
            <a:avLst/>
          </a:prstGeom>
          <a:noFill/>
        </p:spPr>
        <p:txBody>
          <a:bodyPr wrap="none" rtlCol="0">
            <a:spAutoFit/>
          </a:bodyPr>
          <a:lstStyle/>
          <a:p>
            <a:r>
              <a:rPr lang="en-US" sz="2000" b="1" dirty="0" err="1"/>
              <a:t>arr</a:t>
            </a:r>
            <a:r>
              <a:rPr lang="en-US" sz="2000" b="1" dirty="0"/>
              <a:t>[2][0]:</a:t>
            </a:r>
          </a:p>
        </p:txBody>
      </p:sp>
      <p:graphicFrame>
        <p:nvGraphicFramePr>
          <p:cNvPr id="7" name="Table 6"/>
          <p:cNvGraphicFramePr>
            <a:graphicFrameLocks noGrp="1"/>
          </p:cNvGraphicFramePr>
          <p:nvPr>
            <p:extLst>
              <p:ext uri="{D42A27DB-BD31-4B8C-83A1-F6EECF244321}">
                <p14:modId xmlns:p14="http://schemas.microsoft.com/office/powerpoint/2010/main" val="4075426019"/>
              </p:ext>
            </p:extLst>
          </p:nvPr>
        </p:nvGraphicFramePr>
        <p:xfrm>
          <a:off x="6228184" y="2143206"/>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6624228" y="1768750"/>
            <a:ext cx="1184940" cy="400110"/>
          </a:xfrm>
          <a:prstGeom prst="rect">
            <a:avLst/>
          </a:prstGeom>
          <a:noFill/>
        </p:spPr>
        <p:txBody>
          <a:bodyPr wrap="none" rtlCol="0">
            <a:spAutoFit/>
          </a:bodyPr>
          <a:lstStyle/>
          <a:p>
            <a:r>
              <a:rPr lang="en-US" sz="2000" b="1" dirty="0"/>
              <a:t>Memory</a:t>
            </a:r>
          </a:p>
        </p:txBody>
      </p:sp>
      <p:sp>
        <p:nvSpPr>
          <p:cNvPr id="9" name="TextBox 8"/>
          <p:cNvSpPr txBox="1"/>
          <p:nvPr/>
        </p:nvSpPr>
        <p:spPr>
          <a:xfrm>
            <a:off x="5076259" y="2107202"/>
            <a:ext cx="1040519" cy="400110"/>
          </a:xfrm>
          <a:prstGeom prst="rect">
            <a:avLst/>
          </a:prstGeom>
          <a:noFill/>
        </p:spPr>
        <p:txBody>
          <a:bodyPr wrap="none" rtlCol="0">
            <a:spAutoFit/>
          </a:bodyPr>
          <a:lstStyle/>
          <a:p>
            <a:r>
              <a:rPr lang="en-US" sz="2000" b="1" dirty="0"/>
              <a:t>0x1000</a:t>
            </a:r>
          </a:p>
        </p:txBody>
      </p:sp>
      <p:sp>
        <p:nvSpPr>
          <p:cNvPr id="10" name="TextBox 9"/>
          <p:cNvSpPr txBox="1"/>
          <p:nvPr/>
        </p:nvSpPr>
        <p:spPr>
          <a:xfrm>
            <a:off x="4004136" y="2071198"/>
            <a:ext cx="1239267" cy="400110"/>
          </a:xfrm>
          <a:prstGeom prst="rect">
            <a:avLst/>
          </a:prstGeom>
          <a:noFill/>
        </p:spPr>
        <p:txBody>
          <a:bodyPr wrap="none" rtlCol="0">
            <a:spAutoFit/>
          </a:bodyPr>
          <a:lstStyle/>
          <a:p>
            <a:r>
              <a:rPr lang="en-US" sz="2000" b="1" dirty="0" err="1"/>
              <a:t>arr</a:t>
            </a:r>
            <a:r>
              <a:rPr lang="en-US" sz="2000" b="1" dirty="0"/>
              <a:t>[0][0]:</a:t>
            </a:r>
          </a:p>
        </p:txBody>
      </p:sp>
      <p:sp>
        <p:nvSpPr>
          <p:cNvPr id="11" name="Rectangle 10"/>
          <p:cNvSpPr/>
          <p:nvPr/>
        </p:nvSpPr>
        <p:spPr>
          <a:xfrm>
            <a:off x="7085680" y="2071198"/>
            <a:ext cx="338579" cy="400110"/>
          </a:xfrm>
          <a:prstGeom prst="rect">
            <a:avLst/>
          </a:prstGeom>
        </p:spPr>
        <p:txBody>
          <a:bodyPr wrap="none">
            <a:spAutoFit/>
          </a:bodyPr>
          <a:lstStyle/>
          <a:p>
            <a:r>
              <a:rPr lang="en-GB" sz="2000" b="1" dirty="0">
                <a:solidFill>
                  <a:srgbClr val="000000"/>
                </a:solidFill>
                <a:latin typeface="Courier"/>
                <a:cs typeface="Courier"/>
              </a:rPr>
              <a:t>0</a:t>
            </a:r>
            <a:endParaRPr lang="en-US" sz="2000" dirty="0">
              <a:solidFill>
                <a:srgbClr val="000000"/>
              </a:solidFill>
            </a:endParaRPr>
          </a:p>
        </p:txBody>
      </p:sp>
      <p:sp>
        <p:nvSpPr>
          <p:cNvPr id="12" name="TextBox 11"/>
          <p:cNvSpPr txBox="1"/>
          <p:nvPr/>
        </p:nvSpPr>
        <p:spPr>
          <a:xfrm>
            <a:off x="5074293" y="2535184"/>
            <a:ext cx="1043876" cy="400110"/>
          </a:xfrm>
          <a:prstGeom prst="rect">
            <a:avLst/>
          </a:prstGeom>
          <a:noFill/>
        </p:spPr>
        <p:txBody>
          <a:bodyPr wrap="none" rtlCol="0">
            <a:spAutoFit/>
          </a:bodyPr>
          <a:lstStyle/>
          <a:p>
            <a:r>
              <a:rPr lang="en-US" sz="2000" b="1" dirty="0"/>
              <a:t>0x1004</a:t>
            </a:r>
          </a:p>
        </p:txBody>
      </p:sp>
      <p:sp>
        <p:nvSpPr>
          <p:cNvPr id="13" name="TextBox 12"/>
          <p:cNvSpPr txBox="1"/>
          <p:nvPr/>
        </p:nvSpPr>
        <p:spPr>
          <a:xfrm>
            <a:off x="4040140" y="2499180"/>
            <a:ext cx="1239267" cy="400110"/>
          </a:xfrm>
          <a:prstGeom prst="rect">
            <a:avLst/>
          </a:prstGeom>
          <a:noFill/>
        </p:spPr>
        <p:txBody>
          <a:bodyPr wrap="none" rtlCol="0">
            <a:spAutoFit/>
          </a:bodyPr>
          <a:lstStyle/>
          <a:p>
            <a:r>
              <a:rPr lang="en-US" sz="2000" b="1" dirty="0" err="1"/>
              <a:t>arr</a:t>
            </a:r>
            <a:r>
              <a:rPr lang="en-US" sz="2000" b="1" dirty="0"/>
              <a:t>[0][1]:</a:t>
            </a:r>
          </a:p>
        </p:txBody>
      </p:sp>
      <p:sp>
        <p:nvSpPr>
          <p:cNvPr id="14" name="Rectangle 13"/>
          <p:cNvSpPr/>
          <p:nvPr/>
        </p:nvSpPr>
        <p:spPr>
          <a:xfrm>
            <a:off x="7085680" y="2499180"/>
            <a:ext cx="338579" cy="400110"/>
          </a:xfrm>
          <a:prstGeom prst="rect">
            <a:avLst/>
          </a:prstGeom>
        </p:spPr>
        <p:txBody>
          <a:bodyPr wrap="none">
            <a:spAutoFit/>
          </a:bodyPr>
          <a:lstStyle/>
          <a:p>
            <a:r>
              <a:rPr lang="en-GB" sz="2000" b="1" dirty="0">
                <a:solidFill>
                  <a:srgbClr val="000000"/>
                </a:solidFill>
                <a:latin typeface="Courier"/>
                <a:cs typeface="Courier"/>
              </a:rPr>
              <a:t>1</a:t>
            </a:r>
            <a:endParaRPr lang="en-US" sz="2000" dirty="0">
              <a:solidFill>
                <a:srgbClr val="000000"/>
              </a:solidFill>
            </a:endParaRPr>
          </a:p>
        </p:txBody>
      </p:sp>
      <p:sp>
        <p:nvSpPr>
          <p:cNvPr id="15" name="TextBox 14"/>
          <p:cNvSpPr txBox="1"/>
          <p:nvPr/>
        </p:nvSpPr>
        <p:spPr>
          <a:xfrm>
            <a:off x="5075971" y="5487512"/>
            <a:ext cx="1040519" cy="400110"/>
          </a:xfrm>
          <a:prstGeom prst="rect">
            <a:avLst/>
          </a:prstGeom>
          <a:noFill/>
        </p:spPr>
        <p:txBody>
          <a:bodyPr wrap="none" rtlCol="0">
            <a:spAutoFit/>
          </a:bodyPr>
          <a:lstStyle/>
          <a:p>
            <a:r>
              <a:rPr lang="en-US" sz="2000" b="1" dirty="0"/>
              <a:t>0x1028</a:t>
            </a:r>
          </a:p>
        </p:txBody>
      </p:sp>
      <p:sp>
        <p:nvSpPr>
          <p:cNvPr id="16" name="TextBox 15"/>
          <p:cNvSpPr txBox="1"/>
          <p:nvPr/>
        </p:nvSpPr>
        <p:spPr>
          <a:xfrm>
            <a:off x="4040140" y="5491578"/>
            <a:ext cx="1239267" cy="400110"/>
          </a:xfrm>
          <a:prstGeom prst="rect">
            <a:avLst/>
          </a:prstGeom>
          <a:noFill/>
        </p:spPr>
        <p:txBody>
          <a:bodyPr wrap="none" rtlCol="0">
            <a:spAutoFit/>
          </a:bodyPr>
          <a:lstStyle/>
          <a:p>
            <a:r>
              <a:rPr lang="en-US" sz="2000" b="1" dirty="0" err="1"/>
              <a:t>arr</a:t>
            </a:r>
            <a:r>
              <a:rPr lang="en-US" sz="2000" b="1" dirty="0"/>
              <a:t>[3][0]:</a:t>
            </a:r>
          </a:p>
        </p:txBody>
      </p:sp>
      <p:sp>
        <p:nvSpPr>
          <p:cNvPr id="17" name="Rectangle 16"/>
          <p:cNvSpPr/>
          <p:nvPr/>
        </p:nvSpPr>
        <p:spPr>
          <a:xfrm>
            <a:off x="7085680" y="5419570"/>
            <a:ext cx="338579" cy="400110"/>
          </a:xfrm>
          <a:prstGeom prst="rect">
            <a:avLst/>
          </a:prstGeom>
        </p:spPr>
        <p:txBody>
          <a:bodyPr wrap="none">
            <a:spAutoFit/>
          </a:bodyPr>
          <a:lstStyle/>
          <a:p>
            <a:r>
              <a:rPr lang="en-GB" sz="2000" b="1" dirty="0">
                <a:solidFill>
                  <a:srgbClr val="000000"/>
                </a:solidFill>
                <a:latin typeface="Courier"/>
                <a:cs typeface="Courier"/>
              </a:rPr>
              <a:t>9</a:t>
            </a:r>
            <a:endParaRPr lang="en-US" sz="2000" dirty="0">
              <a:solidFill>
                <a:srgbClr val="000000"/>
              </a:solidFill>
            </a:endParaRPr>
          </a:p>
        </p:txBody>
      </p:sp>
      <p:sp>
        <p:nvSpPr>
          <p:cNvPr id="18" name="Rectangle 17"/>
          <p:cNvSpPr/>
          <p:nvPr/>
        </p:nvSpPr>
        <p:spPr>
          <a:xfrm>
            <a:off x="7085680" y="2859220"/>
            <a:ext cx="338579" cy="400110"/>
          </a:xfrm>
          <a:prstGeom prst="rect">
            <a:avLst/>
          </a:prstGeom>
        </p:spPr>
        <p:txBody>
          <a:bodyPr wrap="none">
            <a:spAutoFit/>
          </a:bodyPr>
          <a:lstStyle/>
          <a:p>
            <a:r>
              <a:rPr lang="en-GB" sz="2000" b="1" dirty="0">
                <a:solidFill>
                  <a:srgbClr val="000000"/>
                </a:solidFill>
                <a:latin typeface="Courier"/>
                <a:cs typeface="Courier"/>
              </a:rPr>
              <a:t>2</a:t>
            </a:r>
            <a:endParaRPr lang="en-US" sz="2000" dirty="0">
              <a:solidFill>
                <a:srgbClr val="000000"/>
              </a:solidFill>
            </a:endParaRPr>
          </a:p>
        </p:txBody>
      </p:sp>
      <p:sp>
        <p:nvSpPr>
          <p:cNvPr id="19" name="Rectangle 18"/>
          <p:cNvSpPr/>
          <p:nvPr/>
        </p:nvSpPr>
        <p:spPr>
          <a:xfrm>
            <a:off x="7085680" y="3219260"/>
            <a:ext cx="338579" cy="400110"/>
          </a:xfrm>
          <a:prstGeom prst="rect">
            <a:avLst/>
          </a:prstGeom>
        </p:spPr>
        <p:txBody>
          <a:bodyPr wrap="none">
            <a:spAutoFit/>
          </a:bodyPr>
          <a:lstStyle/>
          <a:p>
            <a:r>
              <a:rPr lang="en-GB" sz="2000" b="1" dirty="0">
                <a:solidFill>
                  <a:srgbClr val="000000"/>
                </a:solidFill>
                <a:latin typeface="Courier"/>
                <a:cs typeface="Courier"/>
              </a:rPr>
              <a:t>3</a:t>
            </a:r>
            <a:endParaRPr lang="en-US" sz="2000" dirty="0">
              <a:solidFill>
                <a:srgbClr val="000000"/>
              </a:solidFill>
            </a:endParaRPr>
          </a:p>
        </p:txBody>
      </p:sp>
      <p:sp>
        <p:nvSpPr>
          <p:cNvPr id="20" name="Rectangle 19"/>
          <p:cNvSpPr/>
          <p:nvPr/>
        </p:nvSpPr>
        <p:spPr>
          <a:xfrm>
            <a:off x="7085680" y="3507292"/>
            <a:ext cx="338579" cy="400110"/>
          </a:xfrm>
          <a:prstGeom prst="rect">
            <a:avLst/>
          </a:prstGeom>
        </p:spPr>
        <p:txBody>
          <a:bodyPr wrap="none">
            <a:spAutoFit/>
          </a:bodyPr>
          <a:lstStyle/>
          <a:p>
            <a:r>
              <a:rPr lang="en-GB" sz="2000" b="1" dirty="0">
                <a:solidFill>
                  <a:srgbClr val="000000"/>
                </a:solidFill>
                <a:latin typeface="Courier"/>
                <a:cs typeface="Courier"/>
              </a:rPr>
              <a:t>4</a:t>
            </a:r>
            <a:endParaRPr lang="en-US" sz="2000" dirty="0">
              <a:solidFill>
                <a:srgbClr val="000000"/>
              </a:solidFill>
            </a:endParaRPr>
          </a:p>
        </p:txBody>
      </p:sp>
      <p:sp>
        <p:nvSpPr>
          <p:cNvPr id="21" name="Rectangle 20"/>
          <p:cNvSpPr/>
          <p:nvPr/>
        </p:nvSpPr>
        <p:spPr>
          <a:xfrm>
            <a:off x="7085680" y="3867332"/>
            <a:ext cx="338579" cy="400110"/>
          </a:xfrm>
          <a:prstGeom prst="rect">
            <a:avLst/>
          </a:prstGeom>
        </p:spPr>
        <p:txBody>
          <a:bodyPr wrap="none">
            <a:spAutoFit/>
          </a:bodyPr>
          <a:lstStyle/>
          <a:p>
            <a:r>
              <a:rPr lang="en-GB" sz="2000" b="1" dirty="0">
                <a:solidFill>
                  <a:srgbClr val="000000"/>
                </a:solidFill>
                <a:latin typeface="Courier"/>
                <a:cs typeface="Courier"/>
              </a:rPr>
              <a:t>5</a:t>
            </a:r>
            <a:endParaRPr lang="en-US" sz="2000" dirty="0">
              <a:solidFill>
                <a:srgbClr val="000000"/>
              </a:solidFill>
            </a:endParaRPr>
          </a:p>
        </p:txBody>
      </p:sp>
      <p:sp>
        <p:nvSpPr>
          <p:cNvPr id="22" name="Rectangle 21"/>
          <p:cNvSpPr/>
          <p:nvPr/>
        </p:nvSpPr>
        <p:spPr>
          <a:xfrm>
            <a:off x="7085680" y="4227372"/>
            <a:ext cx="338579" cy="400110"/>
          </a:xfrm>
          <a:prstGeom prst="rect">
            <a:avLst/>
          </a:prstGeom>
        </p:spPr>
        <p:txBody>
          <a:bodyPr wrap="none">
            <a:spAutoFit/>
          </a:bodyPr>
          <a:lstStyle/>
          <a:p>
            <a:r>
              <a:rPr lang="en-GB" sz="2000" b="1" dirty="0">
                <a:solidFill>
                  <a:srgbClr val="000000"/>
                </a:solidFill>
                <a:latin typeface="Courier"/>
                <a:cs typeface="Courier"/>
              </a:rPr>
              <a:t>6</a:t>
            </a:r>
            <a:endParaRPr lang="en-US" sz="2000" dirty="0">
              <a:solidFill>
                <a:srgbClr val="000000"/>
              </a:solidFill>
            </a:endParaRPr>
          </a:p>
        </p:txBody>
      </p:sp>
      <p:sp>
        <p:nvSpPr>
          <p:cNvPr id="23" name="Rectangle 22"/>
          <p:cNvSpPr/>
          <p:nvPr/>
        </p:nvSpPr>
        <p:spPr>
          <a:xfrm>
            <a:off x="7085680" y="4623416"/>
            <a:ext cx="338579" cy="400110"/>
          </a:xfrm>
          <a:prstGeom prst="rect">
            <a:avLst/>
          </a:prstGeom>
        </p:spPr>
        <p:txBody>
          <a:bodyPr wrap="none">
            <a:spAutoFit/>
          </a:bodyPr>
          <a:lstStyle/>
          <a:p>
            <a:r>
              <a:rPr lang="en-GB" sz="2000" b="1" dirty="0">
                <a:solidFill>
                  <a:srgbClr val="000000"/>
                </a:solidFill>
                <a:latin typeface="Courier"/>
                <a:cs typeface="Courier"/>
              </a:rPr>
              <a:t>7</a:t>
            </a:r>
            <a:endParaRPr lang="en-US" sz="2000" dirty="0">
              <a:solidFill>
                <a:srgbClr val="000000"/>
              </a:solidFill>
            </a:endParaRPr>
          </a:p>
        </p:txBody>
      </p:sp>
      <p:sp>
        <p:nvSpPr>
          <p:cNvPr id="24" name="Rectangle 23"/>
          <p:cNvSpPr/>
          <p:nvPr/>
        </p:nvSpPr>
        <p:spPr>
          <a:xfrm>
            <a:off x="7085680" y="5019460"/>
            <a:ext cx="338579" cy="400110"/>
          </a:xfrm>
          <a:prstGeom prst="rect">
            <a:avLst/>
          </a:prstGeom>
        </p:spPr>
        <p:txBody>
          <a:bodyPr wrap="none">
            <a:spAutoFit/>
          </a:bodyPr>
          <a:lstStyle/>
          <a:p>
            <a:r>
              <a:rPr lang="en-GB" sz="2000" b="1" dirty="0">
                <a:solidFill>
                  <a:srgbClr val="000000"/>
                </a:solidFill>
                <a:latin typeface="Courier"/>
                <a:cs typeface="Courier"/>
              </a:rPr>
              <a:t>8</a:t>
            </a:r>
            <a:endParaRPr lang="en-US" sz="2000" dirty="0">
              <a:solidFill>
                <a:srgbClr val="000000"/>
              </a:solidFill>
            </a:endParaRPr>
          </a:p>
        </p:txBody>
      </p:sp>
      <p:sp>
        <p:nvSpPr>
          <p:cNvPr id="25" name="TextBox 24"/>
          <p:cNvSpPr txBox="1"/>
          <p:nvPr/>
        </p:nvSpPr>
        <p:spPr>
          <a:xfrm>
            <a:off x="5075971" y="2920878"/>
            <a:ext cx="1040519" cy="400110"/>
          </a:xfrm>
          <a:prstGeom prst="rect">
            <a:avLst/>
          </a:prstGeom>
          <a:noFill/>
        </p:spPr>
        <p:txBody>
          <a:bodyPr wrap="none" rtlCol="0">
            <a:spAutoFit/>
          </a:bodyPr>
          <a:lstStyle/>
          <a:p>
            <a:r>
              <a:rPr lang="en-US" sz="2000" b="1" dirty="0"/>
              <a:t>0x1008</a:t>
            </a:r>
          </a:p>
        </p:txBody>
      </p:sp>
      <p:sp>
        <p:nvSpPr>
          <p:cNvPr id="26" name="TextBox 25"/>
          <p:cNvSpPr txBox="1"/>
          <p:nvPr/>
        </p:nvSpPr>
        <p:spPr>
          <a:xfrm>
            <a:off x="4040140" y="2884874"/>
            <a:ext cx="1239267" cy="400110"/>
          </a:xfrm>
          <a:prstGeom prst="rect">
            <a:avLst/>
          </a:prstGeom>
          <a:noFill/>
        </p:spPr>
        <p:txBody>
          <a:bodyPr wrap="none" rtlCol="0">
            <a:spAutoFit/>
          </a:bodyPr>
          <a:lstStyle/>
          <a:p>
            <a:r>
              <a:rPr lang="en-US" sz="2000" b="1" dirty="0" err="1"/>
              <a:t>arr</a:t>
            </a:r>
            <a:r>
              <a:rPr lang="en-US" sz="2000" b="1" dirty="0"/>
              <a:t>[0][2]:</a:t>
            </a:r>
          </a:p>
        </p:txBody>
      </p:sp>
      <p:sp>
        <p:nvSpPr>
          <p:cNvPr id="27" name="TextBox 26"/>
          <p:cNvSpPr txBox="1"/>
          <p:nvPr/>
        </p:nvSpPr>
        <p:spPr>
          <a:xfrm>
            <a:off x="5062912" y="3292821"/>
            <a:ext cx="1083099" cy="400110"/>
          </a:xfrm>
          <a:prstGeom prst="rect">
            <a:avLst/>
          </a:prstGeom>
          <a:noFill/>
        </p:spPr>
        <p:txBody>
          <a:bodyPr wrap="none" rtlCol="0">
            <a:spAutoFit/>
          </a:bodyPr>
          <a:lstStyle/>
          <a:p>
            <a:r>
              <a:rPr lang="en-US" sz="2000" b="1" dirty="0"/>
              <a:t>0x100C</a:t>
            </a:r>
          </a:p>
        </p:txBody>
      </p:sp>
      <p:sp>
        <p:nvSpPr>
          <p:cNvPr id="28" name="TextBox 27"/>
          <p:cNvSpPr txBox="1"/>
          <p:nvPr/>
        </p:nvSpPr>
        <p:spPr>
          <a:xfrm>
            <a:off x="4040140" y="3256817"/>
            <a:ext cx="1239267" cy="400110"/>
          </a:xfrm>
          <a:prstGeom prst="rect">
            <a:avLst/>
          </a:prstGeom>
          <a:noFill/>
        </p:spPr>
        <p:txBody>
          <a:bodyPr wrap="none" rtlCol="0">
            <a:spAutoFit/>
          </a:bodyPr>
          <a:lstStyle/>
          <a:p>
            <a:r>
              <a:rPr lang="en-US" sz="2000" b="1" dirty="0" err="1"/>
              <a:t>arr</a:t>
            </a:r>
            <a:r>
              <a:rPr lang="en-US" sz="2000" b="1" dirty="0"/>
              <a:t>[1][0]:</a:t>
            </a:r>
          </a:p>
        </p:txBody>
      </p:sp>
      <p:sp>
        <p:nvSpPr>
          <p:cNvPr id="29" name="Rectangle 28"/>
          <p:cNvSpPr/>
          <p:nvPr/>
        </p:nvSpPr>
        <p:spPr>
          <a:xfrm>
            <a:off x="6769051" y="1304764"/>
            <a:ext cx="2339453" cy="400110"/>
          </a:xfrm>
          <a:prstGeom prst="rect">
            <a:avLst/>
          </a:prstGeom>
        </p:spPr>
        <p:txBody>
          <a:bodyPr wrap="none">
            <a:spAutoFit/>
          </a:bodyPr>
          <a:lstStyle/>
          <a:p>
            <a:pPr marL="0" indent="0">
              <a:buNone/>
            </a:pP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[4][3]; </a:t>
            </a:r>
          </a:p>
        </p:txBody>
      </p:sp>
      <p:cxnSp>
        <p:nvCxnSpPr>
          <p:cNvPr id="32" name="Straight Arrow Connector 31"/>
          <p:cNvCxnSpPr/>
          <p:nvPr/>
        </p:nvCxnSpPr>
        <p:spPr bwMode="auto">
          <a:xfrm flipV="1">
            <a:off x="3131840" y="3456872"/>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TextBox 45"/>
          <p:cNvSpPr txBox="1"/>
          <p:nvPr/>
        </p:nvSpPr>
        <p:spPr>
          <a:xfrm>
            <a:off x="5084202" y="4325034"/>
            <a:ext cx="1040519" cy="400110"/>
          </a:xfrm>
          <a:prstGeom prst="rect">
            <a:avLst/>
          </a:prstGeom>
          <a:noFill/>
        </p:spPr>
        <p:txBody>
          <a:bodyPr wrap="none" rtlCol="0">
            <a:spAutoFit/>
          </a:bodyPr>
          <a:lstStyle/>
          <a:p>
            <a:r>
              <a:rPr lang="en-US" sz="2000" b="1" dirty="0"/>
              <a:t>0x1018</a:t>
            </a:r>
          </a:p>
        </p:txBody>
      </p:sp>
      <p:sp>
        <p:nvSpPr>
          <p:cNvPr id="47" name="Rectangle 46"/>
          <p:cNvSpPr/>
          <p:nvPr/>
        </p:nvSpPr>
        <p:spPr>
          <a:xfrm>
            <a:off x="6979319" y="5833136"/>
            <a:ext cx="492493" cy="400110"/>
          </a:xfrm>
          <a:prstGeom prst="rect">
            <a:avLst/>
          </a:prstGeom>
        </p:spPr>
        <p:txBody>
          <a:bodyPr wrap="none">
            <a:spAutoFit/>
          </a:bodyPr>
          <a:lstStyle/>
          <a:p>
            <a:r>
              <a:rPr lang="en-GB" sz="2000" b="1" dirty="0">
                <a:solidFill>
                  <a:srgbClr val="000000"/>
                </a:solidFill>
                <a:latin typeface="Courier"/>
                <a:cs typeface="Courier"/>
              </a:rPr>
              <a:t>10</a:t>
            </a:r>
            <a:endParaRPr lang="en-US" sz="2000" dirty="0">
              <a:solidFill>
                <a:srgbClr val="000000"/>
              </a:solidFill>
            </a:endParaRPr>
          </a:p>
        </p:txBody>
      </p:sp>
      <p:sp>
        <p:nvSpPr>
          <p:cNvPr id="48" name="Rectangle 47"/>
          <p:cNvSpPr/>
          <p:nvPr/>
        </p:nvSpPr>
        <p:spPr>
          <a:xfrm>
            <a:off x="7020272" y="6197242"/>
            <a:ext cx="492493" cy="400110"/>
          </a:xfrm>
          <a:prstGeom prst="rect">
            <a:avLst/>
          </a:prstGeom>
        </p:spPr>
        <p:txBody>
          <a:bodyPr wrap="none">
            <a:spAutoFit/>
          </a:bodyPr>
          <a:lstStyle/>
          <a:p>
            <a:r>
              <a:rPr lang="en-GB" sz="2000" b="1" dirty="0">
                <a:solidFill>
                  <a:srgbClr val="000000"/>
                </a:solidFill>
                <a:latin typeface="Courier"/>
                <a:cs typeface="Courier"/>
              </a:rPr>
              <a:t>11</a:t>
            </a:r>
            <a:endParaRPr lang="en-US" sz="2000" dirty="0">
              <a:solidFill>
                <a:srgbClr val="000000"/>
              </a:solidFill>
            </a:endParaRPr>
          </a:p>
        </p:txBody>
      </p:sp>
      <p:sp>
        <p:nvSpPr>
          <p:cNvPr id="52" name="Rectangle 51"/>
          <p:cNvSpPr/>
          <p:nvPr/>
        </p:nvSpPr>
        <p:spPr bwMode="auto">
          <a:xfrm>
            <a:off x="3959932" y="3284984"/>
            <a:ext cx="4392488" cy="1080121"/>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56" name="TextBox 55"/>
          <p:cNvSpPr txBox="1"/>
          <p:nvPr/>
        </p:nvSpPr>
        <p:spPr>
          <a:xfrm>
            <a:off x="1331084" y="3248980"/>
            <a:ext cx="1877713" cy="400110"/>
          </a:xfrm>
          <a:prstGeom prst="rect">
            <a:avLst/>
          </a:prstGeom>
          <a:noFill/>
        </p:spPr>
        <p:txBody>
          <a:bodyPr wrap="none" rtlCol="0">
            <a:spAutoFit/>
          </a:bodyPr>
          <a:lstStyle/>
          <a:p>
            <a:r>
              <a:rPr lang="en-US" sz="2000" b="1" dirty="0">
                <a:latin typeface="Courier"/>
                <a:cs typeface="Courier"/>
              </a:rPr>
              <a:t>*</a:t>
            </a:r>
            <a:r>
              <a:rPr lang="en-US" sz="2000" b="1" dirty="0" err="1">
                <a:latin typeface="Courier"/>
                <a:cs typeface="Courier"/>
              </a:rPr>
              <a:t>arr+i</a:t>
            </a:r>
            <a:r>
              <a:rPr lang="en-US" sz="2000" b="1" dirty="0">
                <a:latin typeface="Courier"/>
                <a:cs typeface="Courier"/>
              </a:rPr>
              <a:t>*COLS</a:t>
            </a:r>
          </a:p>
        </p:txBody>
      </p:sp>
      <p:cxnSp>
        <p:nvCxnSpPr>
          <p:cNvPr id="57" name="Straight Arrow Connector 56"/>
          <p:cNvCxnSpPr/>
          <p:nvPr/>
        </p:nvCxnSpPr>
        <p:spPr bwMode="auto">
          <a:xfrm flipV="1">
            <a:off x="3647747" y="4218576"/>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TextBox 57"/>
          <p:cNvSpPr txBox="1"/>
          <p:nvPr/>
        </p:nvSpPr>
        <p:spPr>
          <a:xfrm>
            <a:off x="1214538" y="4000998"/>
            <a:ext cx="2493366" cy="400110"/>
          </a:xfrm>
          <a:prstGeom prst="rect">
            <a:avLst/>
          </a:prstGeom>
          <a:noFill/>
        </p:spPr>
        <p:txBody>
          <a:bodyPr wrap="none" rtlCol="0">
            <a:spAutoFit/>
          </a:bodyPr>
          <a:lstStyle/>
          <a:p>
            <a:r>
              <a:rPr lang="en-US" sz="2000" b="1" dirty="0">
                <a:latin typeface="Courier"/>
                <a:cs typeface="Courier"/>
              </a:rPr>
              <a:t>(*</a:t>
            </a:r>
            <a:r>
              <a:rPr lang="en-US" sz="2000" b="1" dirty="0" err="1">
                <a:latin typeface="Courier"/>
                <a:cs typeface="Courier"/>
              </a:rPr>
              <a:t>arr</a:t>
            </a:r>
            <a:r>
              <a:rPr lang="en-US" sz="2000" b="1" dirty="0">
                <a:latin typeface="Courier"/>
                <a:cs typeface="Courier"/>
              </a:rPr>
              <a:t>)+</a:t>
            </a:r>
            <a:r>
              <a:rPr lang="en-US" sz="2000" b="1" dirty="0" err="1">
                <a:latin typeface="Courier"/>
                <a:cs typeface="Courier"/>
              </a:rPr>
              <a:t>i</a:t>
            </a:r>
            <a:r>
              <a:rPr lang="en-US" sz="2000" b="1" dirty="0">
                <a:latin typeface="Courier"/>
                <a:cs typeface="Courier"/>
              </a:rPr>
              <a:t>*</a:t>
            </a:r>
            <a:r>
              <a:rPr lang="en-US" sz="2000" b="1" dirty="0" err="1">
                <a:latin typeface="Courier"/>
                <a:cs typeface="Courier"/>
              </a:rPr>
              <a:t>COLS+j</a:t>
            </a:r>
            <a:endParaRPr lang="en-US" sz="2000" b="1" dirty="0">
              <a:latin typeface="Courier"/>
              <a:cs typeface="Courier"/>
            </a:endParaRPr>
          </a:p>
        </p:txBody>
      </p:sp>
      <p:sp>
        <p:nvSpPr>
          <p:cNvPr id="59" name="Rectangle 58"/>
          <p:cNvSpPr/>
          <p:nvPr/>
        </p:nvSpPr>
        <p:spPr bwMode="auto">
          <a:xfrm>
            <a:off x="4211960" y="3969061"/>
            <a:ext cx="4068452" cy="324035"/>
          </a:xfrm>
          <a:prstGeom prst="rect">
            <a:avLst/>
          </a:prstGeom>
          <a:noFill/>
          <a:ln w="57150" cap="flat" cmpd="sng" algn="ctr">
            <a:solidFill>
              <a:schemeClr val="accent2"/>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60" name="TextBox 59"/>
          <p:cNvSpPr txBox="1"/>
          <p:nvPr/>
        </p:nvSpPr>
        <p:spPr>
          <a:xfrm>
            <a:off x="5082524" y="3928990"/>
            <a:ext cx="1043876" cy="400110"/>
          </a:xfrm>
          <a:prstGeom prst="rect">
            <a:avLst/>
          </a:prstGeom>
          <a:noFill/>
        </p:spPr>
        <p:txBody>
          <a:bodyPr wrap="none" rtlCol="0">
            <a:spAutoFit/>
          </a:bodyPr>
          <a:lstStyle/>
          <a:p>
            <a:r>
              <a:rPr lang="en-US" sz="2000" b="1" dirty="0"/>
              <a:t>0x1014</a:t>
            </a:r>
          </a:p>
        </p:txBody>
      </p:sp>
      <p:sp>
        <p:nvSpPr>
          <p:cNvPr id="61" name="TextBox 60"/>
          <p:cNvSpPr txBox="1"/>
          <p:nvPr/>
        </p:nvSpPr>
        <p:spPr>
          <a:xfrm>
            <a:off x="4040140" y="3892986"/>
            <a:ext cx="1239267" cy="400110"/>
          </a:xfrm>
          <a:prstGeom prst="rect">
            <a:avLst/>
          </a:prstGeom>
          <a:noFill/>
        </p:spPr>
        <p:txBody>
          <a:bodyPr wrap="none" rtlCol="0">
            <a:spAutoFit/>
          </a:bodyPr>
          <a:lstStyle/>
          <a:p>
            <a:r>
              <a:rPr lang="en-US" sz="2000" b="1" dirty="0" err="1"/>
              <a:t>arr</a:t>
            </a:r>
            <a:r>
              <a:rPr lang="en-US" sz="2000" b="1" dirty="0"/>
              <a:t>[1][2]:</a:t>
            </a:r>
          </a:p>
        </p:txBody>
      </p:sp>
      <p:sp>
        <p:nvSpPr>
          <p:cNvPr id="62" name="Oval 61"/>
          <p:cNvSpPr/>
          <p:nvPr/>
        </p:nvSpPr>
        <p:spPr bwMode="auto">
          <a:xfrm>
            <a:off x="6876256" y="3789040"/>
            <a:ext cx="792088" cy="57606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64" name="Straight Connector 63"/>
          <p:cNvCxnSpPr/>
          <p:nvPr/>
        </p:nvCxnSpPr>
        <p:spPr bwMode="auto">
          <a:xfrm flipV="1">
            <a:off x="3959932" y="3609020"/>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5" name="Straight Connector 64"/>
          <p:cNvCxnSpPr/>
          <p:nvPr/>
        </p:nvCxnSpPr>
        <p:spPr bwMode="auto">
          <a:xfrm flipV="1">
            <a:off x="3959932" y="3933056"/>
            <a:ext cx="4392488" cy="36004"/>
          </a:xfrm>
          <a:prstGeom prst="line">
            <a:avLst/>
          </a:prstGeom>
          <a:noFill/>
          <a:ln w="6350" cap="flat" cmpd="sng" algn="ctr">
            <a:solidFill>
              <a:srgbClr val="FF9933"/>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0" name="Straight Arrow Connector 49"/>
          <p:cNvCxnSpPr/>
          <p:nvPr/>
        </p:nvCxnSpPr>
        <p:spPr bwMode="auto">
          <a:xfrm flipV="1">
            <a:off x="3071683" y="2304744"/>
            <a:ext cx="528209" cy="251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1" name="TextBox 50"/>
          <p:cNvSpPr txBox="1"/>
          <p:nvPr/>
        </p:nvSpPr>
        <p:spPr>
          <a:xfrm>
            <a:off x="2210581" y="2096852"/>
            <a:ext cx="646406" cy="400110"/>
          </a:xfrm>
          <a:prstGeom prst="rect">
            <a:avLst/>
          </a:prstGeom>
          <a:noFill/>
        </p:spPr>
        <p:txBody>
          <a:bodyPr wrap="none" rtlCol="0">
            <a:spAutoFit/>
          </a:bodyPr>
          <a:lstStyle/>
          <a:p>
            <a:r>
              <a:rPr lang="en-US" sz="2000" b="1" dirty="0" err="1">
                <a:latin typeface="Courier"/>
                <a:cs typeface="Courier"/>
              </a:rPr>
              <a:t>arr</a:t>
            </a:r>
            <a:endParaRPr lang="en-US" sz="2000" b="1" dirty="0">
              <a:latin typeface="Courier"/>
              <a:cs typeface="Courier"/>
            </a:endParaRPr>
          </a:p>
        </p:txBody>
      </p:sp>
      <p:sp>
        <p:nvSpPr>
          <p:cNvPr id="53" name="Rectangle 52"/>
          <p:cNvSpPr/>
          <p:nvPr/>
        </p:nvSpPr>
        <p:spPr bwMode="auto">
          <a:xfrm>
            <a:off x="3668699" y="2024844"/>
            <a:ext cx="5115769" cy="4644516"/>
          </a:xfrm>
          <a:prstGeom prst="rect">
            <a:avLst/>
          </a:prstGeom>
          <a:noFill/>
          <a:ln w="5715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55" name="Straight Connector 54"/>
          <p:cNvCxnSpPr/>
          <p:nvPr/>
        </p:nvCxnSpPr>
        <p:spPr bwMode="auto">
          <a:xfrm flipV="1">
            <a:off x="3851920" y="3248980"/>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3" name="Straight Connector 62"/>
          <p:cNvCxnSpPr/>
          <p:nvPr/>
        </p:nvCxnSpPr>
        <p:spPr bwMode="auto">
          <a:xfrm flipV="1">
            <a:off x="3834445" y="4329100"/>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8" name="Straight Connector 67"/>
          <p:cNvCxnSpPr/>
          <p:nvPr/>
        </p:nvCxnSpPr>
        <p:spPr bwMode="auto">
          <a:xfrm flipV="1">
            <a:off x="3870449" y="5445224"/>
            <a:ext cx="4842011" cy="36004"/>
          </a:xfrm>
          <a:prstGeom prst="line">
            <a:avLst/>
          </a:prstGeom>
          <a:noFill/>
          <a:ln w="6350" cap="flat" cmpd="sng" algn="ctr">
            <a:solidFill>
              <a:srgbClr val="A70524"/>
            </a:solidFill>
            <a:prstDash val="dash"/>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9" name="Rectangle 68"/>
          <p:cNvSpPr/>
          <p:nvPr/>
        </p:nvSpPr>
        <p:spPr>
          <a:xfrm>
            <a:off x="35496" y="3538753"/>
            <a:ext cx="4176464" cy="646331"/>
          </a:xfrm>
          <a:prstGeom prst="rect">
            <a:avLst/>
          </a:prstGeom>
        </p:spPr>
        <p:txBody>
          <a:bodyPr wrap="square">
            <a:spAutoFit/>
          </a:bodyPr>
          <a:lstStyle/>
          <a:p>
            <a:pPr marL="0" indent="0" algn="l">
              <a:buNone/>
            </a:pPr>
            <a:r>
              <a:rPr lang="en-US" sz="1800" dirty="0">
                <a:solidFill>
                  <a:schemeClr val="tx1"/>
                </a:solidFill>
                <a:latin typeface="+mn-lt"/>
                <a:cs typeface="Courier"/>
              </a:rPr>
              <a:t>Manually add the size of the array instead of compiler</a:t>
            </a:r>
            <a:endParaRPr lang="en-US" sz="1800" b="1" dirty="0">
              <a:solidFill>
                <a:srgbClr val="000000"/>
              </a:solidFill>
              <a:latin typeface="Courier"/>
              <a:cs typeface="Courier"/>
            </a:endParaRPr>
          </a:p>
        </p:txBody>
      </p:sp>
      <p:sp>
        <p:nvSpPr>
          <p:cNvPr id="70" name="Rectangle 69"/>
          <p:cNvSpPr/>
          <p:nvPr/>
        </p:nvSpPr>
        <p:spPr>
          <a:xfrm>
            <a:off x="-508" y="2384884"/>
            <a:ext cx="3685975" cy="400110"/>
          </a:xfrm>
          <a:prstGeom prst="rect">
            <a:avLst/>
          </a:prstGeom>
        </p:spPr>
        <p:txBody>
          <a:bodyPr wrap="none">
            <a:spAutoFit/>
          </a:bodyPr>
          <a:lstStyle/>
          <a:p>
            <a:pPr marL="0" indent="0">
              <a:buNone/>
            </a:pPr>
            <a:r>
              <a:rPr lang="en-US" sz="2000" b="1" dirty="0" err="1">
                <a:solidFill>
                  <a:srgbClr val="A70524"/>
                </a:solidFill>
                <a:latin typeface="Courier"/>
                <a:cs typeface="Courier"/>
              </a:rPr>
              <a:t>arr</a:t>
            </a:r>
            <a:r>
              <a:rPr lang="en-US" sz="2000" b="1" dirty="0">
                <a:solidFill>
                  <a:srgbClr val="A70524"/>
                </a:solidFill>
                <a:latin typeface="Courier"/>
                <a:cs typeface="Courier"/>
              </a:rPr>
              <a:t> </a:t>
            </a:r>
            <a:r>
              <a:rPr lang="en-US" sz="2000" dirty="0">
                <a:solidFill>
                  <a:schemeClr val="tx1"/>
                </a:solidFill>
                <a:latin typeface="+mn-lt"/>
                <a:cs typeface="Courier"/>
              </a:rPr>
              <a:t>points to </a:t>
            </a:r>
            <a:r>
              <a:rPr lang="en-US" sz="2000" b="1" dirty="0">
                <a:solidFill>
                  <a:srgbClr val="FF9933"/>
                </a:solidFill>
                <a:latin typeface="+mn-lt"/>
                <a:cs typeface="Courier"/>
              </a:rPr>
              <a:t>1D array </a:t>
            </a:r>
            <a:r>
              <a:rPr lang="en-US" sz="2000" dirty="0">
                <a:solidFill>
                  <a:srgbClr val="FF9933"/>
                </a:solidFill>
                <a:latin typeface="+mn-lt"/>
                <a:cs typeface="Courier"/>
              </a:rPr>
              <a:t>of </a:t>
            </a:r>
            <a:r>
              <a:rPr lang="en-US" sz="2000" b="1" dirty="0" err="1">
                <a:solidFill>
                  <a:schemeClr val="accent2"/>
                </a:solidFill>
                <a:latin typeface="Courier"/>
                <a:cs typeface="Courier"/>
              </a:rPr>
              <a:t>int</a:t>
            </a:r>
            <a:endParaRPr lang="en-US" sz="2000" b="1" dirty="0">
              <a:solidFill>
                <a:schemeClr val="accent2"/>
              </a:solidFill>
              <a:latin typeface="Courier"/>
              <a:cs typeface="Courier"/>
            </a:endParaRPr>
          </a:p>
        </p:txBody>
      </p:sp>
      <p:sp>
        <p:nvSpPr>
          <p:cNvPr id="6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5544661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re 1"/>
          <p:cNvSpPr>
            <a:spLocks noGrp="1"/>
          </p:cNvSpPr>
          <p:nvPr>
            <p:ph type="title"/>
          </p:nvPr>
        </p:nvSpPr>
        <p:spPr/>
        <p:txBody>
          <a:bodyPr/>
          <a:lstStyle/>
          <a:p>
            <a:r>
              <a:rPr lang="fr-FR" sz="2800" dirty="0">
                <a:latin typeface="Arial" charset="0"/>
                <a:cs typeface="ＭＳ Ｐゴシック" charset="0"/>
              </a:rPr>
              <a:t>Pointer to an </a:t>
            </a:r>
            <a:r>
              <a:rPr lang="fr-FR" sz="2800" dirty="0" err="1">
                <a:latin typeface="Arial" charset="0"/>
                <a:cs typeface="ＭＳ Ｐゴシック" charset="0"/>
              </a:rPr>
              <a:t>array</a:t>
            </a:r>
            <a:endParaRPr lang="fr-FR" sz="2800" dirty="0">
              <a:latin typeface="Arial" charset="0"/>
              <a:cs typeface="ＭＳ Ｐゴシック" charset="0"/>
            </a:endParaRPr>
          </a:p>
        </p:txBody>
      </p:sp>
      <p:sp>
        <p:nvSpPr>
          <p:cNvPr id="118786" name="Espace réservé du contenu 2"/>
          <p:cNvSpPr>
            <a:spLocks noGrp="1"/>
          </p:cNvSpPr>
          <p:nvPr>
            <p:ph idx="1"/>
          </p:nvPr>
        </p:nvSpPr>
        <p:spPr>
          <a:xfrm>
            <a:off x="215516" y="836712"/>
            <a:ext cx="8712968" cy="4537075"/>
          </a:xfrm>
        </p:spPr>
        <p:txBody>
          <a:bodyPr/>
          <a:lstStyle/>
          <a:p>
            <a:pPr marL="0" indent="0">
              <a:buNone/>
            </a:pPr>
            <a:r>
              <a:rPr lang="en-US" b="1" dirty="0" err="1">
                <a:latin typeface="Courier"/>
                <a:cs typeface="Courier"/>
              </a:rPr>
              <a:t>int</a:t>
            </a:r>
            <a:r>
              <a:rPr lang="en-US" b="1" dirty="0">
                <a:latin typeface="Courier"/>
                <a:cs typeface="Courier"/>
              </a:rPr>
              <a:t> </a:t>
            </a:r>
            <a:r>
              <a:rPr lang="en-US" b="1" dirty="0" err="1">
                <a:latin typeface="Courier"/>
                <a:cs typeface="Courier"/>
              </a:rPr>
              <a:t>arr</a:t>
            </a:r>
            <a:r>
              <a:rPr lang="en-US" b="1" dirty="0">
                <a:latin typeface="Courier"/>
                <a:cs typeface="Courier"/>
              </a:rPr>
              <a:t>[ROWS][COLS];</a:t>
            </a:r>
          </a:p>
          <a:p>
            <a:pPr marL="0" indent="0">
              <a:buNone/>
            </a:pPr>
            <a:r>
              <a:rPr lang="en-US" b="1" dirty="0" err="1">
                <a:latin typeface="Courier"/>
                <a:cs typeface="Courier"/>
              </a:rPr>
              <a:t>int</a:t>
            </a:r>
            <a:r>
              <a:rPr lang="en-US" b="1" dirty="0">
                <a:latin typeface="Courier"/>
                <a:cs typeface="Courier"/>
              </a:rPr>
              <a:t> (*</a:t>
            </a:r>
            <a:r>
              <a:rPr lang="en-US" b="1" dirty="0" err="1">
                <a:latin typeface="Courier"/>
                <a:cs typeface="Courier"/>
              </a:rPr>
              <a:t>ptr</a:t>
            </a:r>
            <a:r>
              <a:rPr lang="en-US" b="1" dirty="0">
                <a:latin typeface="Courier"/>
                <a:cs typeface="Courier"/>
              </a:rPr>
              <a:t>) [COLS] ;</a:t>
            </a:r>
          </a:p>
          <a:p>
            <a:pPr marL="0" indent="0">
              <a:buNone/>
            </a:pPr>
            <a:r>
              <a:rPr lang="en-US" b="1" dirty="0" err="1">
                <a:latin typeface="Courier"/>
                <a:cs typeface="Courier"/>
              </a:rPr>
              <a:t>ptr</a:t>
            </a:r>
            <a:r>
              <a:rPr lang="en-US" b="1" dirty="0">
                <a:latin typeface="Courier"/>
                <a:cs typeface="Courier"/>
              </a:rPr>
              <a:t> = </a:t>
            </a:r>
            <a:r>
              <a:rPr lang="en-US" b="1" dirty="0" err="1">
                <a:latin typeface="Courier"/>
                <a:cs typeface="Courier"/>
              </a:rPr>
              <a:t>arr</a:t>
            </a:r>
            <a:r>
              <a:rPr lang="en-US" b="1" dirty="0">
                <a:latin typeface="Courier"/>
                <a:cs typeface="Courier"/>
              </a:rPr>
              <a:t>;</a:t>
            </a:r>
          </a:p>
          <a:p>
            <a:pPr marL="0" indent="0">
              <a:buNone/>
            </a:pPr>
            <a:endParaRPr lang="en-US" b="1" dirty="0">
              <a:latin typeface="Courier"/>
              <a:cs typeface="Courier"/>
            </a:endParaRPr>
          </a:p>
          <a:p>
            <a:r>
              <a:rPr lang="en-US" b="1" dirty="0">
                <a:latin typeface="Courier"/>
                <a:cs typeface="Courier"/>
              </a:rPr>
              <a:t>(*</a:t>
            </a:r>
            <a:r>
              <a:rPr lang="en-US" b="1" dirty="0" err="1">
                <a:latin typeface="Courier"/>
                <a:cs typeface="Courier"/>
              </a:rPr>
              <a:t>ptr</a:t>
            </a:r>
            <a:r>
              <a:rPr lang="en-US" b="1" dirty="0">
                <a:latin typeface="Courier"/>
                <a:cs typeface="Courier"/>
              </a:rPr>
              <a:t>)</a:t>
            </a:r>
            <a:r>
              <a:rPr lang="en-US" dirty="0"/>
              <a:t> is a</a:t>
            </a:r>
            <a:r>
              <a:rPr lang="en-US" b="1" dirty="0"/>
              <a:t> </a:t>
            </a:r>
            <a:r>
              <a:rPr lang="en-US" dirty="0"/>
              <a:t>pointer to an 1D array of </a:t>
            </a:r>
            <a:r>
              <a:rPr lang="en-US" b="1" dirty="0">
                <a:latin typeface="Courier"/>
                <a:cs typeface="Courier"/>
              </a:rPr>
              <a:t>COLS</a:t>
            </a:r>
            <a:r>
              <a:rPr lang="en-US" dirty="0"/>
              <a:t> elements. The parentheses are </a:t>
            </a:r>
            <a:r>
              <a:rPr lang="en-US" dirty="0">
                <a:solidFill>
                  <a:srgbClr val="FF0000"/>
                </a:solidFill>
              </a:rPr>
              <a:t>NOT</a:t>
            </a:r>
            <a:r>
              <a:rPr lang="en-US" dirty="0"/>
              <a:t> optional !</a:t>
            </a:r>
          </a:p>
          <a:p>
            <a:pPr lvl="1"/>
            <a:r>
              <a:rPr lang="en-US" dirty="0"/>
              <a:t>Without the parentheses, </a:t>
            </a:r>
            <a:r>
              <a:rPr lang="en-US" b="1" dirty="0" err="1">
                <a:latin typeface="Courier"/>
                <a:cs typeface="Courier"/>
              </a:rPr>
              <a:t>ptr</a:t>
            </a:r>
            <a:r>
              <a:rPr lang="en-US" dirty="0"/>
              <a:t> becomes an array of </a:t>
            </a:r>
            <a:r>
              <a:rPr lang="en-US" b="1" dirty="0">
                <a:latin typeface="Courier"/>
                <a:cs typeface="Courier"/>
              </a:rPr>
              <a:t>COLS</a:t>
            </a:r>
            <a:r>
              <a:rPr lang="en-US" dirty="0"/>
              <a:t> pointers, not a pointer to an array of </a:t>
            </a:r>
            <a:r>
              <a:rPr lang="en-US" b="1" dirty="0">
                <a:latin typeface="Courier"/>
                <a:cs typeface="Courier"/>
              </a:rPr>
              <a:t>COLS</a:t>
            </a:r>
            <a:r>
              <a:rPr lang="en-US" dirty="0"/>
              <a:t> </a:t>
            </a:r>
            <a:r>
              <a:rPr lang="en-US" b="1" dirty="0" err="1">
                <a:latin typeface="Courier"/>
                <a:cs typeface="Courier"/>
              </a:rPr>
              <a:t>ints</a:t>
            </a:r>
            <a:endParaRPr lang="en-US" b="1" dirty="0">
              <a:latin typeface="Courier"/>
              <a:cs typeface="Courier"/>
            </a:endParaRPr>
          </a:p>
          <a:p>
            <a:pPr lvl="1"/>
            <a:endParaRPr lang="en-US" sz="1000" dirty="0"/>
          </a:p>
          <a:p>
            <a:r>
              <a:rPr lang="en-US" dirty="0"/>
              <a:t>Doing pointer arithmetic, we can compute correctly the address of </a:t>
            </a:r>
            <a:r>
              <a:rPr lang="en-US" b="1" dirty="0" err="1">
                <a:latin typeface="Courier"/>
                <a:cs typeface="Courier"/>
              </a:rPr>
              <a:t>ptr</a:t>
            </a:r>
            <a:r>
              <a:rPr lang="en-US" b="1" dirty="0">
                <a:latin typeface="Courier"/>
                <a:cs typeface="Courier"/>
              </a:rPr>
              <a:t>[row][col]</a:t>
            </a:r>
            <a:r>
              <a:rPr lang="en-US" dirty="0"/>
              <a:t> :</a:t>
            </a:r>
          </a:p>
          <a:p>
            <a:pPr marL="0" indent="0">
              <a:buNone/>
            </a:pPr>
            <a:r>
              <a:rPr lang="es-ES_tradnl" sz="2000" b="1" dirty="0" err="1">
                <a:latin typeface="Courier"/>
                <a:cs typeface="Courier"/>
              </a:rPr>
              <a:t>ptr</a:t>
            </a:r>
            <a:r>
              <a:rPr lang="es-ES_tradnl" sz="2000" b="1" dirty="0">
                <a:latin typeface="Courier"/>
                <a:cs typeface="Courier"/>
              </a:rPr>
              <a:t>[</a:t>
            </a:r>
            <a:r>
              <a:rPr lang="es-ES_tradnl" sz="2000" b="1" dirty="0" err="1">
                <a:latin typeface="Courier"/>
                <a:cs typeface="Courier"/>
              </a:rPr>
              <a:t>row</a:t>
            </a:r>
            <a:r>
              <a:rPr lang="es-ES_tradnl" sz="2000" b="1" dirty="0">
                <a:latin typeface="Courier"/>
                <a:cs typeface="Courier"/>
              </a:rPr>
              <a:t>][col] = </a:t>
            </a:r>
            <a:r>
              <a:rPr lang="es-ES_tradnl" sz="2000" b="1" dirty="0" err="1">
                <a:latin typeface="Courier"/>
                <a:cs typeface="Courier"/>
              </a:rPr>
              <a:t>ptr</a:t>
            </a:r>
            <a:r>
              <a:rPr lang="es-ES_tradnl" sz="2000" b="1" dirty="0">
                <a:latin typeface="Courier"/>
                <a:cs typeface="Courier"/>
              </a:rPr>
              <a:t> + </a:t>
            </a:r>
            <a:r>
              <a:rPr lang="en-US" sz="2000" b="1" dirty="0" err="1">
                <a:latin typeface="Courier"/>
                <a:cs typeface="Courier"/>
              </a:rPr>
              <a:t>sizeof</a:t>
            </a:r>
            <a:r>
              <a:rPr lang="en-US" sz="2000" b="1" dirty="0">
                <a:latin typeface="Courier"/>
                <a:cs typeface="Courier"/>
              </a:rPr>
              <a:t>(</a:t>
            </a:r>
            <a:r>
              <a:rPr lang="en-US" sz="2000" b="1" dirty="0" err="1">
                <a:latin typeface="Courier"/>
                <a:cs typeface="Courier"/>
              </a:rPr>
              <a:t>int</a:t>
            </a:r>
            <a:r>
              <a:rPr lang="en-US" sz="2000" b="1" dirty="0">
                <a:latin typeface="Courier"/>
                <a:cs typeface="Courier"/>
              </a:rPr>
              <a:t>) * </a:t>
            </a:r>
            <a:r>
              <a:rPr lang="es-ES_tradnl" sz="2000" b="1" dirty="0">
                <a:latin typeface="Courier"/>
                <a:cs typeface="Courier"/>
              </a:rPr>
              <a:t>COLS * </a:t>
            </a:r>
            <a:r>
              <a:rPr lang="es-ES_tradnl" sz="2000" b="1" dirty="0" err="1">
                <a:latin typeface="Courier"/>
                <a:cs typeface="Courier"/>
              </a:rPr>
              <a:t>row</a:t>
            </a:r>
            <a:r>
              <a:rPr lang="es-ES_tradnl" sz="2000" b="1" dirty="0">
                <a:latin typeface="Courier"/>
                <a:cs typeface="Courier"/>
              </a:rPr>
              <a:t> </a:t>
            </a:r>
          </a:p>
          <a:p>
            <a:pPr marL="0" indent="0">
              <a:buNone/>
            </a:pPr>
            <a:r>
              <a:rPr lang="es-ES_tradnl" sz="2000" b="1" dirty="0">
                <a:latin typeface="Courier"/>
                <a:cs typeface="Courier"/>
              </a:rPr>
              <a:t>			  + </a:t>
            </a:r>
            <a:r>
              <a:rPr lang="en-US" sz="2000" b="1" dirty="0" err="1">
                <a:latin typeface="Courier"/>
                <a:cs typeface="Courier"/>
              </a:rPr>
              <a:t>sizeof</a:t>
            </a:r>
            <a:r>
              <a:rPr lang="en-US" sz="2000" b="1" dirty="0">
                <a:latin typeface="Courier"/>
                <a:cs typeface="Courier"/>
              </a:rPr>
              <a:t>(</a:t>
            </a:r>
            <a:r>
              <a:rPr lang="en-US" sz="2000" b="1" dirty="0" err="1">
                <a:latin typeface="Courier"/>
                <a:cs typeface="Courier"/>
              </a:rPr>
              <a:t>int</a:t>
            </a:r>
            <a:r>
              <a:rPr lang="en-US" sz="2000" b="1" dirty="0">
                <a:latin typeface="Courier"/>
                <a:cs typeface="Courier"/>
              </a:rPr>
              <a:t>) * </a:t>
            </a:r>
            <a:r>
              <a:rPr lang="es-ES_tradnl" sz="2000" b="1" dirty="0">
                <a:latin typeface="Courier"/>
                <a:cs typeface="Courier"/>
              </a:rPr>
              <a:t>col</a:t>
            </a:r>
            <a:endParaRPr lang="en-US"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140</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9596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786">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78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re 1"/>
          <p:cNvSpPr>
            <a:spLocks noGrp="1"/>
          </p:cNvSpPr>
          <p:nvPr>
            <p:ph type="title"/>
          </p:nvPr>
        </p:nvSpPr>
        <p:spPr/>
        <p:txBody>
          <a:bodyPr/>
          <a:lstStyle/>
          <a:p>
            <a:r>
              <a:rPr lang="fr-FR" sz="2800" dirty="0" err="1">
                <a:latin typeface="Arial" charset="0"/>
                <a:cs typeface="ＭＳ Ｐゴシック" charset="0"/>
              </a:rPr>
              <a:t>Let’s</a:t>
            </a:r>
            <a:r>
              <a:rPr lang="fr-FR" sz="2800" dirty="0">
                <a:latin typeface="Arial" charset="0"/>
                <a:cs typeface="ＭＳ Ｐゴシック" charset="0"/>
              </a:rPr>
              <a: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141</a:t>
            </a:fld>
            <a:endParaRPr lang="fr-FR" sz="1400">
              <a:solidFill>
                <a:srgbClr val="000208"/>
              </a:solidFill>
              <a:latin typeface="Times New Roman" charset="0"/>
            </a:endParaRPr>
          </a:p>
        </p:txBody>
      </p:sp>
      <p:sp>
        <p:nvSpPr>
          <p:cNvPr id="19"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Q12 – Q19</a:t>
            </a:r>
            <a:endParaRPr lang="en-US" sz="4000" b="1" dirty="0">
              <a:solidFill>
                <a:srgbClr val="800000"/>
              </a:solidFill>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0822570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142</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sz="3600">
                <a:latin typeface="Arial" charset="0"/>
              </a:rPr>
              <a:t>CM 6:</a:t>
            </a:r>
            <a:br>
              <a:rPr lang="en-GB" sz="3600">
                <a:latin typeface="Arial" charset="0"/>
              </a:rPr>
            </a:br>
            <a:r>
              <a:rPr lang="en-GB" sz="3600">
                <a:latin typeface="Arial" charset="0"/>
              </a:rPr>
              <a:t>Functions</a:t>
            </a:r>
            <a:endParaRPr lang="en-GB" sz="3600"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792956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re 1"/>
          <p:cNvSpPr>
            <a:spLocks noGrp="1"/>
          </p:cNvSpPr>
          <p:nvPr>
            <p:ph type="title"/>
          </p:nvPr>
        </p:nvSpPr>
        <p:spPr/>
        <p:txBody>
          <a:bodyPr/>
          <a:lstStyle/>
          <a:p>
            <a:r>
              <a:rPr lang="fr-FR" sz="2800" dirty="0" err="1">
                <a:latin typeface="Arial" charset="0"/>
                <a:ea typeface="ＭＳ Ｐゴシック" charset="0"/>
                <a:cs typeface="ＭＳ Ｐゴシック" charset="0"/>
              </a:rPr>
              <a:t>Function</a:t>
            </a:r>
            <a:r>
              <a:rPr lang="fr-FR" sz="2800" dirty="0">
                <a:latin typeface="Arial" charset="0"/>
                <a:ea typeface="ＭＳ Ｐゴシック" charset="0"/>
                <a:cs typeface="ＭＳ Ｐゴシック" charset="0"/>
              </a:rPr>
              <a:t> body</a:t>
            </a:r>
          </a:p>
        </p:txBody>
      </p:sp>
      <p:sp>
        <p:nvSpPr>
          <p:cNvPr id="84994" name="Espace réservé du contenu 2"/>
          <p:cNvSpPr>
            <a:spLocks noGrp="1"/>
          </p:cNvSpPr>
          <p:nvPr>
            <p:ph idx="1"/>
          </p:nvPr>
        </p:nvSpPr>
        <p:spPr>
          <a:xfrm>
            <a:off x="-508" y="692696"/>
            <a:ext cx="9468544" cy="4537075"/>
          </a:xfrm>
        </p:spPr>
        <p:txBody>
          <a:bodyPr/>
          <a:lstStyle/>
          <a:p>
            <a:r>
              <a:rPr lang="en-GB" dirty="0">
                <a:latin typeface="Arial" charset="0"/>
                <a:ea typeface="ＭＳ Ｐゴシック" charset="0"/>
                <a:cs typeface="ＭＳ Ｐゴシック" charset="0"/>
              </a:rPr>
              <a:t>Syntax</a:t>
            </a:r>
          </a:p>
          <a:p>
            <a:pPr marL="0" indent="0">
              <a:buNone/>
            </a:pPr>
            <a:r>
              <a:rPr lang="en-GB" sz="2000" b="1" dirty="0">
                <a:latin typeface="Courier"/>
                <a:cs typeface="Courier"/>
              </a:rPr>
              <a:t>type identifier (type1 parameter1, type2 parameter2, …)</a:t>
            </a:r>
            <a:br>
              <a:rPr lang="en-GB" sz="2000" b="1" dirty="0">
                <a:latin typeface="Courier"/>
                <a:cs typeface="Courier"/>
              </a:rPr>
            </a:br>
            <a:r>
              <a:rPr lang="en-GB" sz="2000" b="1" dirty="0">
                <a:latin typeface="Courier"/>
                <a:cs typeface="Courier"/>
              </a:rPr>
              <a:t>{</a:t>
            </a:r>
            <a:br>
              <a:rPr lang="en-GB" sz="2000" b="1" dirty="0">
                <a:latin typeface="Courier"/>
                <a:cs typeface="Courier"/>
              </a:rPr>
            </a:br>
            <a:r>
              <a:rPr lang="en-GB" sz="2000" b="1" dirty="0">
                <a:latin typeface="Courier"/>
                <a:cs typeface="Courier"/>
              </a:rPr>
              <a:t>    …</a:t>
            </a:r>
          </a:p>
          <a:p>
            <a:pPr marL="0" indent="0">
              <a:buNone/>
            </a:pPr>
            <a:r>
              <a:rPr lang="en-GB" sz="2000" b="1" dirty="0">
                <a:latin typeface="Courier"/>
                <a:cs typeface="Courier"/>
              </a:rPr>
              <a:t>    return expression; </a:t>
            </a:r>
            <a:br>
              <a:rPr lang="en-GB" sz="2000" b="1" dirty="0">
                <a:latin typeface="Courier"/>
                <a:cs typeface="Courier"/>
              </a:rPr>
            </a:br>
            <a:r>
              <a:rPr lang="en-GB" sz="2000" b="1" dirty="0">
                <a:latin typeface="Courier"/>
                <a:cs typeface="Courier"/>
              </a:rPr>
              <a:t>}</a:t>
            </a:r>
            <a:endParaRPr lang="en-GB" sz="1400" dirty="0">
              <a:latin typeface="Arial" charset="0"/>
              <a:ea typeface="ＭＳ Ｐゴシック" charset="0"/>
              <a:cs typeface="ＭＳ Ｐゴシック" charset="0"/>
            </a:endParaRPr>
          </a:p>
          <a:p>
            <a:r>
              <a:rPr lang="en-GB" dirty="0">
                <a:latin typeface="Arial" charset="0"/>
                <a:ea typeface="ＭＳ Ｐゴシック" charset="0"/>
                <a:cs typeface="ＭＳ Ｐゴシック" charset="0"/>
              </a:rPr>
              <a:t>Function</a:t>
            </a:r>
          </a:p>
          <a:p>
            <a:pPr lvl="1"/>
            <a:r>
              <a:rPr lang="en-GB" dirty="0">
                <a:latin typeface="Arial" charset="0"/>
                <a:cs typeface="ＭＳ Ｐゴシック" charset="0"/>
              </a:rPr>
              <a:t>Subroutine to performs a specific job with a unique name (</a:t>
            </a:r>
            <a:r>
              <a:rPr lang="en-GB" b="1" dirty="0">
                <a:latin typeface="Courier"/>
                <a:cs typeface="Courier"/>
              </a:rPr>
              <a:t>identifier</a:t>
            </a:r>
            <a:r>
              <a:rPr lang="en-GB" dirty="0">
                <a:latin typeface="Arial" charset="0"/>
                <a:cs typeface="ＭＳ Ｐゴシック" charset="0"/>
              </a:rPr>
              <a:t>) </a:t>
            </a:r>
          </a:p>
          <a:p>
            <a:pPr lvl="1"/>
            <a:r>
              <a:rPr lang="en-GB" dirty="0">
                <a:latin typeface="Arial" charset="0"/>
              </a:rPr>
              <a:t>The functions are defined at the same level as main</a:t>
            </a:r>
            <a:endParaRPr lang="en-GB" dirty="0">
              <a:latin typeface="Arial" charset="0"/>
              <a:cs typeface="ＭＳ Ｐゴシック" charset="0"/>
            </a:endParaRPr>
          </a:p>
          <a:p>
            <a:pPr lvl="1"/>
            <a:r>
              <a:rPr lang="en-GB" dirty="0">
                <a:latin typeface="Arial" charset="0"/>
                <a:cs typeface="ＭＳ Ｐゴシック" charset="0"/>
              </a:rPr>
              <a:t>Can be used (called) using its name several times from different positions</a:t>
            </a:r>
          </a:p>
          <a:p>
            <a:pPr lvl="1"/>
            <a:r>
              <a:rPr lang="en-GB" dirty="0">
                <a:latin typeface="Arial" charset="0"/>
                <a:cs typeface="ＭＳ Ｐゴシック" charset="0"/>
              </a:rPr>
              <a:t>Information </a:t>
            </a:r>
          </a:p>
          <a:p>
            <a:pPr lvl="2"/>
            <a:r>
              <a:rPr lang="en-GB" dirty="0">
                <a:latin typeface="Arial" charset="0"/>
                <a:cs typeface="ＭＳ Ｐゴシック" charset="0"/>
              </a:rPr>
              <a:t>can be passed to the function through the function parameters</a:t>
            </a:r>
          </a:p>
          <a:p>
            <a:pPr lvl="2"/>
            <a:r>
              <a:rPr lang="en-GB" dirty="0">
                <a:latin typeface="Arial" charset="0"/>
                <a:cs typeface="ＭＳ Ｐゴシック" charset="0"/>
              </a:rPr>
              <a:t>can be returned to the position where the function was called through the </a:t>
            </a:r>
            <a:r>
              <a:rPr lang="en-GB" b="1" dirty="0">
                <a:latin typeface="Courier"/>
                <a:cs typeface="Courier"/>
              </a:rPr>
              <a:t>return</a:t>
            </a:r>
            <a:r>
              <a:rPr lang="en-GB" dirty="0">
                <a:latin typeface="Arial" charset="0"/>
                <a:cs typeface="ＭＳ Ｐゴシック" charset="0"/>
              </a:rPr>
              <a:t> statement</a:t>
            </a:r>
          </a:p>
          <a:p>
            <a:pPr lvl="1"/>
            <a:r>
              <a:rPr lang="en-GB" dirty="0">
                <a:latin typeface="Arial" charset="0"/>
                <a:cs typeface="ＭＳ Ｐゴシック" charset="0"/>
              </a:rPr>
              <a:t>The type of the function equals to the type of the value returned</a:t>
            </a:r>
          </a:p>
          <a:p>
            <a:pPr lvl="2"/>
            <a:r>
              <a:rPr lang="en-GB" dirty="0">
                <a:latin typeface="Arial" charset="0"/>
                <a:cs typeface="ＭＳ Ｐゴシック" charset="0"/>
              </a:rPr>
              <a:t>If no function type is defined, then it is by default </a:t>
            </a:r>
            <a:r>
              <a:rPr lang="en-GB" b="1" dirty="0" err="1">
                <a:latin typeface="Courier"/>
                <a:cs typeface="Courier"/>
              </a:rPr>
              <a:t>int</a:t>
            </a:r>
            <a:endParaRPr lang="en-GB" b="1" dirty="0">
              <a:latin typeface="Courier"/>
              <a:cs typeface="Courier"/>
            </a:endParaRPr>
          </a:p>
          <a:p>
            <a:pPr lvl="2"/>
            <a:r>
              <a:rPr lang="en-GB" dirty="0">
                <a:latin typeface="Arial" charset="0"/>
                <a:cs typeface="ＭＳ Ｐゴシック" charset="0"/>
              </a:rPr>
              <a:t>If no return value, then the function type is </a:t>
            </a:r>
            <a:r>
              <a:rPr lang="en-GB" b="1" dirty="0">
                <a:latin typeface="Courier"/>
                <a:cs typeface="Courier"/>
              </a:rPr>
              <a:t>void</a:t>
            </a:r>
            <a:endParaRPr lang="en-GB" dirty="0">
              <a:cs typeface="Courier"/>
            </a:endParaRPr>
          </a:p>
        </p:txBody>
      </p:sp>
      <p:sp>
        <p:nvSpPr>
          <p:cNvPr id="21"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143</a:t>
            </a:fld>
            <a:endParaRPr lang="fr-FR" sz="1400">
              <a:solidFill>
                <a:srgbClr val="000208"/>
              </a:solidFill>
              <a:latin typeface="Times New Roman" charset="0"/>
            </a:endParaRPr>
          </a:p>
        </p:txBody>
      </p:sp>
      <p:sp>
        <p:nvSpPr>
          <p:cNvPr id="2" name="Espace réservé du pied de page 1">
            <a:extLst>
              <a:ext uri="{FF2B5EF4-FFF2-40B4-BE49-F238E27FC236}">
                <a16:creationId xmlns:a16="http://schemas.microsoft.com/office/drawing/2014/main" id="{71574EE4-A881-A7F0-A438-44964118F6AC}"/>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21528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994">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994">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4994">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994">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499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re 1"/>
          <p:cNvSpPr>
            <a:spLocks noGrp="1"/>
          </p:cNvSpPr>
          <p:nvPr>
            <p:ph type="title"/>
          </p:nvPr>
        </p:nvSpPr>
        <p:spPr/>
        <p:txBody>
          <a:bodyPr/>
          <a:lstStyle/>
          <a:p>
            <a:r>
              <a:rPr lang="fr-FR" sz="2800" dirty="0">
                <a:latin typeface="Arial" charset="0"/>
                <a:cs typeface="ＭＳ Ｐゴシック" charset="0"/>
              </a:rPr>
              <a:t>Return value</a:t>
            </a:r>
          </a:p>
        </p:txBody>
      </p:sp>
      <p:sp>
        <p:nvSpPr>
          <p:cNvPr id="88066" name="Espace réservé du contenu 2"/>
          <p:cNvSpPr>
            <a:spLocks noGrp="1"/>
          </p:cNvSpPr>
          <p:nvPr>
            <p:ph idx="1"/>
          </p:nvPr>
        </p:nvSpPr>
        <p:spPr>
          <a:xfrm>
            <a:off x="143508" y="980728"/>
            <a:ext cx="9000492" cy="4537075"/>
          </a:xfrm>
        </p:spPr>
        <p:txBody>
          <a:bodyPr/>
          <a:lstStyle/>
          <a:p>
            <a:r>
              <a:rPr lang="en-GB" dirty="0">
                <a:latin typeface="Arial" charset="0"/>
                <a:cs typeface="ＭＳ Ｐゴシック" charset="0"/>
              </a:rPr>
              <a:t>Syntax:</a:t>
            </a:r>
            <a:br>
              <a:rPr lang="en-GB" dirty="0">
                <a:latin typeface="Arial" charset="0"/>
                <a:cs typeface="ＭＳ Ｐゴシック" charset="0"/>
              </a:rPr>
            </a:br>
            <a:r>
              <a:rPr lang="en-GB" sz="2000" b="1" dirty="0">
                <a:latin typeface="Courier"/>
                <a:cs typeface="Courier"/>
              </a:rPr>
              <a:t>return expression;</a:t>
            </a:r>
          </a:p>
          <a:p>
            <a:endParaRPr lang="en-GB" sz="800" dirty="0">
              <a:latin typeface="Arial" charset="0"/>
              <a:cs typeface="ＭＳ Ｐゴシック" charset="0"/>
            </a:endParaRPr>
          </a:p>
          <a:p>
            <a:pPr marL="0" indent="0">
              <a:buNone/>
            </a:pPr>
            <a:endParaRPr lang="en-GB" sz="1000" b="1" dirty="0">
              <a:latin typeface="Arial" charset="0"/>
              <a:cs typeface="ＭＳ Ｐゴシック" charset="0"/>
            </a:endParaRPr>
          </a:p>
          <a:p>
            <a:r>
              <a:rPr lang="en-GB" dirty="0">
                <a:latin typeface="Arial" charset="0"/>
                <a:cs typeface="ＭＳ Ｐゴシック" charset="0"/>
              </a:rPr>
              <a:t>The possible types that can be returned by the evaluation of the expression are</a:t>
            </a:r>
          </a:p>
          <a:p>
            <a:pPr lvl="1"/>
            <a:r>
              <a:rPr lang="en-GB" dirty="0">
                <a:latin typeface="Arial" charset="0"/>
              </a:rPr>
              <a:t>The primitive data types</a:t>
            </a:r>
          </a:p>
          <a:p>
            <a:pPr lvl="1"/>
            <a:r>
              <a:rPr lang="en-GB" dirty="0">
                <a:latin typeface="Arial" charset="0"/>
              </a:rPr>
              <a:t>The structures</a:t>
            </a:r>
          </a:p>
          <a:p>
            <a:pPr lvl="1"/>
            <a:r>
              <a:rPr lang="en-GB" dirty="0">
                <a:latin typeface="Arial" charset="0"/>
              </a:rPr>
              <a:t>The pointers</a:t>
            </a:r>
          </a:p>
          <a:p>
            <a:pPr lvl="1"/>
            <a:r>
              <a:rPr lang="en-GB" dirty="0">
                <a:solidFill>
                  <a:srgbClr val="FF0000"/>
                </a:solidFill>
                <a:latin typeface="Arial" charset="0"/>
              </a:rPr>
              <a:t>Attention: We </a:t>
            </a:r>
            <a:r>
              <a:rPr lang="en-GB" b="1" dirty="0">
                <a:solidFill>
                  <a:srgbClr val="FF0000"/>
                </a:solidFill>
                <a:latin typeface="Arial" charset="0"/>
              </a:rPr>
              <a:t>CANNOT</a:t>
            </a:r>
            <a:r>
              <a:rPr lang="en-GB" dirty="0">
                <a:solidFill>
                  <a:srgbClr val="FF0000"/>
                </a:solidFill>
                <a:latin typeface="Arial" charset="0"/>
              </a:rPr>
              <a:t> </a:t>
            </a:r>
            <a:r>
              <a:rPr lang="en-GB" b="1" dirty="0">
                <a:solidFill>
                  <a:srgbClr val="FF0000"/>
                </a:solidFill>
                <a:latin typeface="Arial" charset="0"/>
              </a:rPr>
              <a:t>return</a:t>
            </a:r>
            <a:r>
              <a:rPr lang="en-GB" dirty="0">
                <a:solidFill>
                  <a:srgbClr val="FF0000"/>
                </a:solidFill>
                <a:latin typeface="Arial" charset="0"/>
              </a:rPr>
              <a:t> </a:t>
            </a:r>
            <a:r>
              <a:rPr lang="en-GB" b="1" dirty="0">
                <a:solidFill>
                  <a:srgbClr val="FF0000"/>
                </a:solidFill>
                <a:latin typeface="Arial" charset="0"/>
              </a:rPr>
              <a:t>arrays</a:t>
            </a:r>
            <a:r>
              <a:rPr lang="en-GB" dirty="0">
                <a:solidFill>
                  <a:srgbClr val="FF0000"/>
                </a:solidFill>
                <a:latin typeface="Arial" charset="0"/>
              </a:rPr>
              <a:t>! </a:t>
            </a:r>
            <a:r>
              <a:rPr lang="en-GB" sz="1800" dirty="0">
                <a:latin typeface="Arial" charset="0"/>
              </a:rPr>
              <a:t>We can return a pointer </a:t>
            </a:r>
            <a:r>
              <a:rPr lang="en-GB" sz="1800" b="1" dirty="0">
                <a:latin typeface="Courier"/>
                <a:cs typeface="Courier"/>
              </a:rPr>
              <a:t>char*</a:t>
            </a:r>
            <a:r>
              <a:rPr lang="en-GB" sz="1800" dirty="0">
                <a:latin typeface="Arial" charset="0"/>
              </a:rPr>
              <a:t>, </a:t>
            </a:r>
            <a:r>
              <a:rPr lang="en-GB" sz="1800" b="1" dirty="0" err="1">
                <a:latin typeface="Courier"/>
                <a:cs typeface="Courier"/>
              </a:rPr>
              <a:t>int</a:t>
            </a:r>
            <a:r>
              <a:rPr lang="en-GB" sz="1800" b="1" dirty="0">
                <a:latin typeface="Courier"/>
                <a:cs typeface="Courier"/>
              </a:rPr>
              <a:t>*</a:t>
            </a:r>
            <a:r>
              <a:rPr lang="en-GB" sz="1800" dirty="0">
                <a:latin typeface="Arial" charset="0"/>
              </a:rPr>
              <a:t>, … </a:t>
            </a:r>
          </a:p>
          <a:p>
            <a:pPr lvl="2"/>
            <a:r>
              <a:rPr lang="en-GB" sz="1800" dirty="0">
                <a:latin typeface="Arial" charset="0"/>
              </a:rPr>
              <a:t>passed as argument during the function call </a:t>
            </a:r>
          </a:p>
          <a:p>
            <a:pPr lvl="2"/>
            <a:r>
              <a:rPr lang="en-GB" sz="1800" dirty="0">
                <a:latin typeface="Arial" charset="0"/>
              </a:rPr>
              <a:t>dynamically allocated inside the function</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144</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3268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06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06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80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re 1"/>
          <p:cNvSpPr>
            <a:spLocks noGrp="1"/>
          </p:cNvSpPr>
          <p:nvPr>
            <p:ph type="title"/>
          </p:nvPr>
        </p:nvSpPr>
        <p:spPr/>
        <p:txBody>
          <a:bodyPr/>
          <a:lstStyle/>
          <a:p>
            <a:r>
              <a:rPr lang="fr-FR" sz="2800" dirty="0">
                <a:latin typeface="Arial" charset="0"/>
                <a:cs typeface="ＭＳ Ｐゴシック" charset="0"/>
              </a:rPr>
              <a:t>Exit value</a:t>
            </a:r>
          </a:p>
        </p:txBody>
      </p:sp>
      <p:sp>
        <p:nvSpPr>
          <p:cNvPr id="88066" name="Espace réservé du contenu 2"/>
          <p:cNvSpPr>
            <a:spLocks noGrp="1"/>
          </p:cNvSpPr>
          <p:nvPr>
            <p:ph idx="1"/>
          </p:nvPr>
        </p:nvSpPr>
        <p:spPr>
          <a:xfrm>
            <a:off x="143508" y="980728"/>
            <a:ext cx="9000492" cy="4537075"/>
          </a:xfrm>
        </p:spPr>
        <p:txBody>
          <a:bodyPr/>
          <a:lstStyle/>
          <a:p>
            <a:r>
              <a:rPr lang="en-GB" dirty="0">
                <a:latin typeface="Arial" charset="0"/>
                <a:cs typeface="ＭＳ Ｐゴシック" charset="0"/>
              </a:rPr>
              <a:t>Syntax:</a:t>
            </a:r>
            <a:br>
              <a:rPr lang="en-GB" dirty="0">
                <a:latin typeface="Arial" charset="0"/>
                <a:cs typeface="ＭＳ Ｐゴシック" charset="0"/>
              </a:rPr>
            </a:br>
            <a:r>
              <a:rPr lang="en-GB" sz="2000" b="1" dirty="0">
                <a:latin typeface="Courier"/>
                <a:cs typeface="Courier"/>
              </a:rPr>
              <a:t>exit(</a:t>
            </a:r>
            <a:r>
              <a:rPr lang="en-GB" sz="2000" b="1" dirty="0" err="1">
                <a:latin typeface="Courier"/>
                <a:cs typeface="Courier"/>
              </a:rPr>
              <a:t>int</a:t>
            </a:r>
            <a:r>
              <a:rPr lang="en-GB" sz="2000" b="1" dirty="0">
                <a:latin typeface="Courier"/>
                <a:cs typeface="Courier"/>
              </a:rPr>
              <a:t>);</a:t>
            </a:r>
          </a:p>
          <a:p>
            <a:endParaRPr lang="en-GB" dirty="0">
              <a:cs typeface="Courier"/>
            </a:endParaRPr>
          </a:p>
          <a:p>
            <a:r>
              <a:rPr lang="en-GB" dirty="0">
                <a:cs typeface="Courier"/>
              </a:rPr>
              <a:t>Directive:</a:t>
            </a:r>
          </a:p>
          <a:p>
            <a:pPr lvl="1"/>
            <a:r>
              <a:rPr lang="en-GB" b="1" dirty="0">
                <a:latin typeface="Courier"/>
                <a:cs typeface="Courier"/>
              </a:rPr>
              <a:t>#include &lt;</a:t>
            </a:r>
            <a:r>
              <a:rPr lang="en-GB" b="1" dirty="0" err="1">
                <a:latin typeface="Courier"/>
                <a:cs typeface="Courier"/>
              </a:rPr>
              <a:t>stdlib.h</a:t>
            </a:r>
            <a:r>
              <a:rPr lang="en-GB" b="1" dirty="0">
                <a:latin typeface="Courier"/>
                <a:cs typeface="Courier"/>
              </a:rPr>
              <a:t>&gt;</a:t>
            </a:r>
          </a:p>
          <a:p>
            <a:endParaRPr lang="en-GB" sz="800" dirty="0">
              <a:latin typeface="Arial" charset="0"/>
              <a:cs typeface="ＭＳ Ｐゴシック" charset="0"/>
            </a:endParaRPr>
          </a:p>
          <a:p>
            <a:r>
              <a:rPr lang="en-GB" dirty="0">
                <a:latin typeface="Arial" charset="0"/>
              </a:rPr>
              <a:t>Function:</a:t>
            </a:r>
          </a:p>
          <a:p>
            <a:pPr lvl="1"/>
            <a:r>
              <a:rPr lang="en-GB" dirty="0">
                <a:latin typeface="Arial" charset="0"/>
              </a:rPr>
              <a:t>Exits the program</a:t>
            </a:r>
          </a:p>
          <a:p>
            <a:pPr lvl="1"/>
            <a:endParaRPr lang="en-GB" sz="1400" dirty="0">
              <a:latin typeface="Arial" charset="0"/>
            </a:endParaRPr>
          </a:p>
          <a:p>
            <a:r>
              <a:rPr lang="en-GB" dirty="0"/>
              <a:t>Parameters</a:t>
            </a:r>
          </a:p>
          <a:p>
            <a:pPr lvl="1"/>
            <a:r>
              <a:rPr lang="en-GB" dirty="0"/>
              <a:t>0 : usually means your program completed successfully (EXIT_SUCCESS)</a:t>
            </a:r>
          </a:p>
          <a:p>
            <a:pPr lvl="1"/>
            <a:r>
              <a:rPr lang="en-GB" dirty="0"/>
              <a:t>Non zero: Different values that can be used as error codes (EXIT_FAILURE)</a:t>
            </a:r>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145</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08933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6">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6">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0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re 1"/>
          <p:cNvSpPr>
            <a:spLocks noGrp="1"/>
          </p:cNvSpPr>
          <p:nvPr>
            <p:ph type="title"/>
          </p:nvPr>
        </p:nvSpPr>
        <p:spPr/>
        <p:txBody>
          <a:bodyPr/>
          <a:lstStyle/>
          <a:p>
            <a:r>
              <a:rPr lang="fr-FR" sz="2800" dirty="0" err="1">
                <a:latin typeface="Arial" charset="0"/>
                <a:ea typeface="ＭＳ Ｐゴシック" charset="0"/>
                <a:cs typeface="ＭＳ Ｐゴシック" charset="0"/>
              </a:rPr>
              <a:t>Function</a:t>
            </a:r>
            <a:r>
              <a:rPr lang="fr-FR" sz="2800" dirty="0">
                <a:latin typeface="Arial" charset="0"/>
                <a:ea typeface="ＭＳ Ｐゴシック" charset="0"/>
                <a:cs typeface="ＭＳ Ｐゴシック" charset="0"/>
              </a:rPr>
              <a:t> call</a:t>
            </a:r>
          </a:p>
        </p:txBody>
      </p:sp>
      <p:sp>
        <p:nvSpPr>
          <p:cNvPr id="84994" name="Espace réservé du contenu 2"/>
          <p:cNvSpPr>
            <a:spLocks noGrp="1"/>
          </p:cNvSpPr>
          <p:nvPr>
            <p:ph idx="1"/>
          </p:nvPr>
        </p:nvSpPr>
        <p:spPr>
          <a:xfrm>
            <a:off x="215516" y="908720"/>
            <a:ext cx="8928484" cy="4537075"/>
          </a:xfrm>
        </p:spPr>
        <p:txBody>
          <a:bodyPr/>
          <a:lstStyle/>
          <a:p>
            <a:r>
              <a:rPr lang="en-GB" dirty="0">
                <a:latin typeface="Arial" charset="0"/>
                <a:ea typeface="ＭＳ Ｐゴシック" charset="0"/>
                <a:cs typeface="ＭＳ Ｐゴシック" charset="0"/>
              </a:rPr>
              <a:t>Syntax</a:t>
            </a:r>
          </a:p>
          <a:p>
            <a:pPr marL="0" indent="0">
              <a:buNone/>
            </a:pPr>
            <a:r>
              <a:rPr lang="en-GB" sz="2000" b="1" dirty="0">
                <a:latin typeface="Courier"/>
                <a:cs typeface="Courier"/>
              </a:rPr>
              <a:t>variable = identifier(argument1, argument2, …)</a:t>
            </a:r>
            <a:br>
              <a:rPr lang="en-GB" sz="2000" b="1" dirty="0">
                <a:latin typeface="Courier"/>
                <a:cs typeface="Courier"/>
              </a:rPr>
            </a:br>
            <a:endParaRPr lang="en-GB" sz="1400" dirty="0">
              <a:latin typeface="Arial" charset="0"/>
              <a:ea typeface="ＭＳ Ｐゴシック" charset="0"/>
              <a:cs typeface="ＭＳ Ｐゴシック" charset="0"/>
            </a:endParaRPr>
          </a:p>
          <a:p>
            <a:r>
              <a:rPr lang="en-GB" dirty="0">
                <a:latin typeface="Arial" charset="0"/>
                <a:ea typeface="ＭＳ Ｐゴシック" charset="0"/>
                <a:cs typeface="ＭＳ Ｐゴシック" charset="0"/>
              </a:rPr>
              <a:t>Function</a:t>
            </a:r>
          </a:p>
          <a:p>
            <a:pPr lvl="1"/>
            <a:r>
              <a:rPr lang="en-GB" dirty="0">
                <a:latin typeface="Arial" charset="0"/>
                <a:cs typeface="ＭＳ Ｐゴシック" charset="0"/>
              </a:rPr>
              <a:t>When a function call occurs, the function parameters:</a:t>
            </a:r>
          </a:p>
          <a:p>
            <a:pPr lvl="2"/>
            <a:r>
              <a:rPr lang="en-US" dirty="0">
                <a:cs typeface="ＭＳ Ｐゴシック" charset="0"/>
              </a:rPr>
              <a:t>are created</a:t>
            </a:r>
            <a:r>
              <a:rPr lang="en-US" dirty="0"/>
              <a:t> (</a:t>
            </a:r>
            <a:r>
              <a:rPr lang="en-US" b="1" dirty="0">
                <a:solidFill>
                  <a:srgbClr val="FF0000"/>
                </a:solidFill>
              </a:rPr>
              <a:t>LOCAL variables</a:t>
            </a:r>
            <a:r>
              <a:rPr lang="en-US" dirty="0">
                <a:solidFill>
                  <a:srgbClr val="000000"/>
                </a:solidFill>
              </a:rPr>
              <a:t>)</a:t>
            </a:r>
            <a:r>
              <a:rPr lang="en-US" dirty="0"/>
              <a:t> </a:t>
            </a:r>
          </a:p>
          <a:p>
            <a:pPr lvl="2"/>
            <a:r>
              <a:rPr lang="en-US" dirty="0"/>
              <a:t>initialized with the </a:t>
            </a:r>
            <a:r>
              <a:rPr lang="en-US" b="1" dirty="0">
                <a:solidFill>
                  <a:srgbClr val="FF0000"/>
                </a:solidFill>
              </a:rPr>
              <a:t>value</a:t>
            </a:r>
            <a:r>
              <a:rPr lang="en-US" dirty="0">
                <a:solidFill>
                  <a:srgbClr val="FF0000"/>
                </a:solidFill>
              </a:rPr>
              <a:t> </a:t>
            </a:r>
            <a:r>
              <a:rPr lang="en-US" dirty="0"/>
              <a:t>of the passed </a:t>
            </a:r>
            <a:r>
              <a:rPr lang="en-US" b="1" dirty="0">
                <a:solidFill>
                  <a:srgbClr val="FF0000"/>
                </a:solidFill>
              </a:rPr>
              <a:t>argument</a:t>
            </a:r>
            <a:r>
              <a:rPr lang="en-US" dirty="0">
                <a:solidFill>
                  <a:srgbClr val="FF0000"/>
                </a:solidFill>
              </a:rPr>
              <a:t> </a:t>
            </a:r>
            <a:endParaRPr lang="en-GB" dirty="0">
              <a:latin typeface="Arial" charset="0"/>
              <a:cs typeface="ＭＳ Ｐゴシック" charset="0"/>
            </a:endParaRPr>
          </a:p>
          <a:p>
            <a:pPr lvl="3"/>
            <a:r>
              <a:rPr lang="en-GB" sz="2000" b="1" dirty="0">
                <a:latin typeface="Courier"/>
                <a:cs typeface="Courier"/>
              </a:rPr>
              <a:t>parameter1 = argument1 </a:t>
            </a:r>
          </a:p>
          <a:p>
            <a:pPr lvl="3"/>
            <a:r>
              <a:rPr lang="en-GB" sz="2000" b="1" dirty="0">
                <a:latin typeface="Courier"/>
                <a:cs typeface="Courier"/>
              </a:rPr>
              <a:t>parameter1</a:t>
            </a:r>
            <a:r>
              <a:rPr lang="en-GB" sz="2000" dirty="0">
                <a:cs typeface="Courier"/>
              </a:rPr>
              <a:t> is </a:t>
            </a:r>
            <a:r>
              <a:rPr lang="en-US" sz="2000" dirty="0">
                <a:cs typeface="Courier"/>
              </a:rPr>
              <a:t>a </a:t>
            </a:r>
            <a:r>
              <a:rPr lang="en-US" sz="2000" dirty="0"/>
              <a:t>copy of </a:t>
            </a:r>
            <a:r>
              <a:rPr lang="en-GB" sz="2000" b="1" dirty="0">
                <a:latin typeface="Courier"/>
                <a:cs typeface="Courier"/>
              </a:rPr>
              <a:t>argument1 </a:t>
            </a:r>
            <a:r>
              <a:rPr lang="en-US" sz="2000" dirty="0"/>
              <a:t>manipulated inside the function</a:t>
            </a:r>
          </a:p>
          <a:p>
            <a:pPr lvl="2"/>
            <a:r>
              <a:rPr lang="en-US" dirty="0"/>
              <a:t>the original argument is unchanged. </a:t>
            </a:r>
            <a:endParaRPr lang="en-GB" b="1" dirty="0">
              <a:latin typeface="Courier"/>
              <a:cs typeface="Courier"/>
            </a:endParaRPr>
          </a:p>
          <a:p>
            <a:pPr lvl="1"/>
            <a:r>
              <a:rPr lang="en-GB" dirty="0">
                <a:latin typeface="Arial" charset="0"/>
                <a:cs typeface="ＭＳ Ｐゴシック" charset="0"/>
              </a:rPr>
              <a:t>The function MUST be at least declared before it is called</a:t>
            </a:r>
          </a:p>
          <a:p>
            <a:pPr lvl="2"/>
            <a:r>
              <a:rPr lang="en-GB" dirty="0">
                <a:latin typeface="Arial" charset="0"/>
                <a:ea typeface="ＭＳ Ｐゴシック" charset="0"/>
              </a:rPr>
              <a:t>Put the function body before the first function call</a:t>
            </a:r>
          </a:p>
          <a:p>
            <a:pPr lvl="2"/>
            <a:r>
              <a:rPr lang="en-GB" dirty="0">
                <a:latin typeface="Arial" charset="0"/>
              </a:rPr>
              <a:t>Put the function declaration before any function body</a:t>
            </a:r>
            <a:endParaRPr lang="en-GB" dirty="0">
              <a:latin typeface="Arial" charset="0"/>
              <a:ea typeface="ＭＳ Ｐゴシック" charset="0"/>
            </a:endParaRPr>
          </a:p>
        </p:txBody>
      </p:sp>
      <p:sp>
        <p:nvSpPr>
          <p:cNvPr id="21"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146</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5127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499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99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9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994">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99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re 1"/>
          <p:cNvSpPr>
            <a:spLocks noGrp="1"/>
          </p:cNvSpPr>
          <p:nvPr>
            <p:ph type="title"/>
          </p:nvPr>
        </p:nvSpPr>
        <p:spPr/>
        <p:txBody>
          <a:bodyPr/>
          <a:lstStyle/>
          <a:p>
            <a:r>
              <a:rPr lang="fr-FR" sz="2800" dirty="0" err="1">
                <a:latin typeface="Arial" charset="0"/>
                <a:ea typeface="ＭＳ Ｐゴシック" charset="0"/>
                <a:cs typeface="ＭＳ Ｐゴシック" charset="0"/>
              </a:rPr>
              <a:t>Function</a:t>
            </a:r>
            <a:r>
              <a:rPr lang="fr-FR" sz="2800" dirty="0">
                <a:latin typeface="Arial" charset="0"/>
                <a:ea typeface="ＭＳ Ｐゴシック" charset="0"/>
                <a:cs typeface="ＭＳ Ｐゴシック" charset="0"/>
              </a:rPr>
              <a:t> </a:t>
            </a:r>
            <a:r>
              <a:rPr lang="fr-FR" sz="2800" dirty="0">
                <a:latin typeface="Arial" charset="0"/>
                <a:cs typeface="ＭＳ Ｐゴシック" charset="0"/>
              </a:rPr>
              <a:t>prototype</a:t>
            </a:r>
            <a:endParaRPr lang="fr-FR" sz="2800" dirty="0">
              <a:latin typeface="Arial" charset="0"/>
              <a:ea typeface="ＭＳ Ｐゴシック" charset="0"/>
              <a:cs typeface="ＭＳ Ｐゴシック" charset="0"/>
            </a:endParaRPr>
          </a:p>
        </p:txBody>
      </p:sp>
      <p:sp>
        <p:nvSpPr>
          <p:cNvPr id="87042" name="Espace réservé du contenu 2"/>
          <p:cNvSpPr>
            <a:spLocks noGrp="1"/>
          </p:cNvSpPr>
          <p:nvPr>
            <p:ph idx="1"/>
          </p:nvPr>
        </p:nvSpPr>
        <p:spPr>
          <a:xfrm>
            <a:off x="251520" y="914400"/>
            <a:ext cx="8892480" cy="5257800"/>
          </a:xfrm>
        </p:spPr>
        <p:txBody>
          <a:bodyPr/>
          <a:lstStyle/>
          <a:p>
            <a:r>
              <a:rPr lang="en-GB" dirty="0">
                <a:latin typeface="Arial" charset="0"/>
                <a:cs typeface="ＭＳ Ｐゴシック" charset="0"/>
              </a:rPr>
              <a:t>Syntax</a:t>
            </a:r>
          </a:p>
          <a:p>
            <a:pPr marL="0" indent="0">
              <a:buNone/>
            </a:pPr>
            <a:r>
              <a:rPr lang="en-GB" sz="2000" b="1" dirty="0">
                <a:latin typeface="Courier"/>
                <a:cs typeface="Courier"/>
              </a:rPr>
              <a:t>type identifier (type1 parameter1, type2 parameter2 ,…);</a:t>
            </a:r>
            <a:br>
              <a:rPr lang="en-GB" sz="2000" b="1" dirty="0">
                <a:latin typeface="Courier"/>
                <a:cs typeface="Courier"/>
              </a:rPr>
            </a:br>
            <a:endParaRPr lang="en-GB" b="1" dirty="0">
              <a:latin typeface="Courier"/>
              <a:cs typeface="Courier"/>
            </a:endParaRPr>
          </a:p>
          <a:p>
            <a:r>
              <a:rPr lang="en-GB" dirty="0">
                <a:latin typeface="Arial" charset="0"/>
                <a:cs typeface="ＭＳ Ｐゴシック" charset="0"/>
              </a:rPr>
              <a:t>The function declaration is the function prototype</a:t>
            </a:r>
          </a:p>
          <a:p>
            <a:endParaRPr lang="en-GB" dirty="0">
              <a:latin typeface="Arial" charset="0"/>
              <a:cs typeface="ＭＳ Ｐゴシック" charset="0"/>
            </a:endParaRPr>
          </a:p>
          <a:p>
            <a:r>
              <a:rPr lang="en-GB" dirty="0">
                <a:latin typeface="Arial" charset="0"/>
              </a:rPr>
              <a:t>The complete bloc of the function is replaced by a semicolon </a:t>
            </a:r>
            <a:r>
              <a:rPr lang="en-GB" b="1" dirty="0">
                <a:latin typeface="Courier"/>
                <a:cs typeface="Courier"/>
              </a:rPr>
              <a:t>;</a:t>
            </a:r>
          </a:p>
          <a:p>
            <a:endParaRPr lang="en-GB" b="1" dirty="0">
              <a:latin typeface="Courier"/>
              <a:cs typeface="Courier"/>
            </a:endParaRPr>
          </a:p>
          <a:p>
            <a:r>
              <a:rPr lang="en-GB" dirty="0">
                <a:latin typeface="Arial" charset="0"/>
              </a:rPr>
              <a:t>The name of the parameters can be omitted, but not their type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8411387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re 1"/>
          <p:cNvSpPr>
            <a:spLocks noGrp="1"/>
          </p:cNvSpPr>
          <p:nvPr>
            <p:ph type="title"/>
          </p:nvPr>
        </p:nvSpPr>
        <p:spPr/>
        <p:txBody>
          <a:bodyPr/>
          <a:lstStyle/>
          <a:p>
            <a:r>
              <a:rPr lang="fr-FR" sz="2800" dirty="0" err="1">
                <a:latin typeface="Arial" charset="0"/>
                <a:ea typeface="ＭＳ Ｐゴシック" charset="0"/>
                <a:cs typeface="ＭＳ Ｐゴシック" charset="0"/>
              </a:rPr>
              <a:t>Function</a:t>
            </a:r>
            <a:r>
              <a:rPr lang="fr-FR" sz="2800" dirty="0">
                <a:latin typeface="Arial" charset="0"/>
                <a:ea typeface="ＭＳ Ｐゴシック" charset="0"/>
                <a:cs typeface="ＭＳ Ｐゴシック" charset="0"/>
              </a:rPr>
              <a:t> call: </a:t>
            </a:r>
            <a:r>
              <a:rPr lang="fr-FR" sz="2800" dirty="0" err="1">
                <a:latin typeface="Arial" charset="0"/>
                <a:ea typeface="ＭＳ Ｐゴシック" charset="0"/>
                <a:cs typeface="ＭＳ Ｐゴシック" charset="0"/>
              </a:rPr>
              <a:t>Remarks</a:t>
            </a:r>
            <a:endParaRPr lang="fr-FR" sz="2800" dirty="0">
              <a:latin typeface="Arial" charset="0"/>
              <a:ea typeface="ＭＳ Ｐゴシック" charset="0"/>
              <a:cs typeface="ＭＳ Ｐゴシック" charset="0"/>
            </a:endParaRPr>
          </a:p>
        </p:txBody>
      </p:sp>
      <p:sp>
        <p:nvSpPr>
          <p:cNvPr id="84994" name="Espace réservé du contenu 2"/>
          <p:cNvSpPr>
            <a:spLocks noGrp="1"/>
          </p:cNvSpPr>
          <p:nvPr>
            <p:ph idx="1"/>
          </p:nvPr>
        </p:nvSpPr>
        <p:spPr>
          <a:xfrm>
            <a:off x="215516" y="908720"/>
            <a:ext cx="8928484" cy="4537075"/>
          </a:xfrm>
        </p:spPr>
        <p:txBody>
          <a:bodyPr/>
          <a:lstStyle/>
          <a:p>
            <a:r>
              <a:rPr lang="en-GB" dirty="0">
                <a:latin typeface="Arial" charset="0"/>
                <a:cs typeface="ＭＳ Ｐゴシック" charset="0"/>
              </a:rPr>
              <a:t>The </a:t>
            </a:r>
            <a:r>
              <a:rPr lang="en-GB" b="1" dirty="0">
                <a:latin typeface="Arial" charset="0"/>
                <a:cs typeface="ＭＳ Ｐゴシック" charset="0"/>
              </a:rPr>
              <a:t>type</a:t>
            </a:r>
            <a:r>
              <a:rPr lang="en-GB" dirty="0">
                <a:latin typeface="Arial" charset="0"/>
                <a:cs typeface="ＭＳ Ｐゴシック" charset="0"/>
              </a:rPr>
              <a:t> of the </a:t>
            </a:r>
            <a:r>
              <a:rPr lang="en-GB" b="1" dirty="0">
                <a:latin typeface="Arial" charset="0"/>
                <a:cs typeface="ＭＳ Ｐゴシック" charset="0"/>
              </a:rPr>
              <a:t>arguments</a:t>
            </a:r>
            <a:r>
              <a:rPr lang="en-GB" dirty="0">
                <a:latin typeface="Arial" charset="0"/>
                <a:cs typeface="ＭＳ Ｐゴシック" charset="0"/>
              </a:rPr>
              <a:t> must be the </a:t>
            </a:r>
            <a:r>
              <a:rPr lang="en-GB" b="1" dirty="0">
                <a:latin typeface="Arial" charset="0"/>
                <a:cs typeface="ＭＳ Ｐゴシック" charset="0"/>
              </a:rPr>
              <a:t>same</a:t>
            </a:r>
            <a:r>
              <a:rPr lang="en-GB" dirty="0">
                <a:latin typeface="Arial" charset="0"/>
                <a:cs typeface="ＭＳ Ｐゴシック" charset="0"/>
              </a:rPr>
              <a:t> as the type of the function </a:t>
            </a:r>
            <a:r>
              <a:rPr lang="en-GB" b="1" dirty="0">
                <a:latin typeface="Arial" charset="0"/>
                <a:cs typeface="ＭＳ Ｐゴシック" charset="0"/>
              </a:rPr>
              <a:t>parameters</a:t>
            </a:r>
          </a:p>
          <a:p>
            <a:r>
              <a:rPr lang="en-US" dirty="0">
                <a:latin typeface="Arial" charset="0"/>
                <a:cs typeface="ＭＳ Ｐゴシック" charset="0"/>
              </a:rPr>
              <a:t>When they are </a:t>
            </a:r>
            <a:r>
              <a:rPr lang="en-US" b="1" dirty="0">
                <a:latin typeface="Arial" charset="0"/>
                <a:cs typeface="ＭＳ Ｐゴシック" charset="0"/>
              </a:rPr>
              <a:t>different</a:t>
            </a:r>
            <a:endParaRPr lang="en-US" dirty="0">
              <a:latin typeface="Arial" charset="0"/>
              <a:cs typeface="ＭＳ Ｐゴシック" charset="0"/>
            </a:endParaRPr>
          </a:p>
          <a:p>
            <a:pPr lvl="1"/>
            <a:r>
              <a:rPr lang="en-GB" b="1" dirty="0">
                <a:solidFill>
                  <a:srgbClr val="FF0000"/>
                </a:solidFill>
                <a:latin typeface="Arial" charset="0"/>
                <a:cs typeface="ＭＳ Ｐゴシック" charset="0"/>
              </a:rPr>
              <a:t>Automatic</a:t>
            </a:r>
            <a:r>
              <a:rPr lang="en-GB" dirty="0">
                <a:latin typeface="Arial" charset="0"/>
                <a:cs typeface="ＭＳ Ｐゴシック" charset="0"/>
              </a:rPr>
              <a:t> and </a:t>
            </a:r>
            <a:r>
              <a:rPr lang="en-GB" b="1" dirty="0">
                <a:solidFill>
                  <a:srgbClr val="FF0000"/>
                </a:solidFill>
                <a:latin typeface="Arial" charset="0"/>
                <a:cs typeface="ＭＳ Ｐゴシック" charset="0"/>
              </a:rPr>
              <a:t>implicit</a:t>
            </a:r>
            <a:r>
              <a:rPr lang="en-GB" dirty="0">
                <a:solidFill>
                  <a:srgbClr val="FF0000"/>
                </a:solidFill>
                <a:latin typeface="Arial" charset="0"/>
                <a:cs typeface="ＭＳ Ｐゴシック" charset="0"/>
              </a:rPr>
              <a:t> </a:t>
            </a:r>
            <a:r>
              <a:rPr lang="en-GB" dirty="0">
                <a:latin typeface="Arial" charset="0"/>
                <a:cs typeface="ＭＳ Ｐゴシック" charset="0"/>
              </a:rPr>
              <a:t>conversion ! </a:t>
            </a:r>
            <a:endParaRPr lang="en-GB" dirty="0">
              <a:latin typeface="Arial" charset="0"/>
            </a:endParaRPr>
          </a:p>
          <a:p>
            <a:pPr lvl="2"/>
            <a:r>
              <a:rPr lang="en-GB" sz="2400" b="1" dirty="0">
                <a:latin typeface="Courier"/>
                <a:cs typeface="Courier"/>
              </a:rPr>
              <a:t>char</a:t>
            </a:r>
            <a:r>
              <a:rPr lang="en-GB" sz="2400" dirty="0">
                <a:latin typeface="Arial" charset="0"/>
                <a:cs typeface="ＭＳ Ｐゴシック" charset="0"/>
              </a:rPr>
              <a:t> and </a:t>
            </a:r>
            <a:r>
              <a:rPr lang="en-GB" sz="2400" b="1" dirty="0">
                <a:solidFill>
                  <a:schemeClr val="tx1"/>
                </a:solidFill>
                <a:latin typeface="Courier"/>
                <a:cs typeface="Courier"/>
              </a:rPr>
              <a:t>short</a:t>
            </a:r>
            <a:r>
              <a:rPr lang="en-GB" sz="2400" dirty="0">
                <a:latin typeface="Arial" charset="0"/>
                <a:cs typeface="ＭＳ Ｐゴシック" charset="0"/>
              </a:rPr>
              <a:t> (</a:t>
            </a:r>
            <a:r>
              <a:rPr lang="en-GB" sz="2400" b="1" dirty="0">
                <a:latin typeface="Courier"/>
                <a:cs typeface="Courier"/>
              </a:rPr>
              <a:t>signed, unsigned</a:t>
            </a:r>
            <a:r>
              <a:rPr lang="en-GB" sz="2400" dirty="0">
                <a:latin typeface="Arial" charset="0"/>
                <a:cs typeface="ＭＳ Ｐゴシック" charset="0"/>
              </a:rPr>
              <a:t>) </a:t>
            </a:r>
            <a:r>
              <a:rPr lang="en-GB" sz="2400" dirty="0">
                <a:latin typeface="Arial" charset="0"/>
                <a:cs typeface="ＭＳ Ｐゴシック" charset="0"/>
                <a:sym typeface="Wingdings"/>
              </a:rPr>
              <a:t> </a:t>
            </a:r>
            <a:r>
              <a:rPr lang="en-GB" sz="2400" b="1" dirty="0" err="1">
                <a:latin typeface="Courier"/>
                <a:cs typeface="Courier"/>
                <a:sym typeface="Wingdings"/>
              </a:rPr>
              <a:t>int</a:t>
            </a:r>
            <a:endParaRPr lang="en-GB" sz="2400" b="1" dirty="0">
              <a:latin typeface="Courier"/>
              <a:cs typeface="Courier"/>
              <a:sym typeface="Wingdings"/>
            </a:endParaRPr>
          </a:p>
          <a:p>
            <a:pPr lvl="2"/>
            <a:r>
              <a:rPr lang="en-GB" sz="2400" b="1" dirty="0">
                <a:latin typeface="Courier"/>
                <a:cs typeface="Courier"/>
                <a:sym typeface="Wingdings"/>
              </a:rPr>
              <a:t>float</a:t>
            </a:r>
            <a:r>
              <a:rPr lang="en-GB" sz="2400" dirty="0">
                <a:latin typeface="Arial" charset="0"/>
                <a:cs typeface="ＭＳ Ｐゴシック" charset="0"/>
                <a:sym typeface="Wingdings"/>
              </a:rPr>
              <a:t>  </a:t>
            </a:r>
            <a:r>
              <a:rPr lang="en-GB" sz="2400" b="1" dirty="0">
                <a:latin typeface="Courier"/>
                <a:cs typeface="Courier"/>
                <a:sym typeface="Wingdings"/>
              </a:rPr>
              <a:t>double</a:t>
            </a:r>
          </a:p>
          <a:p>
            <a:pPr lvl="1"/>
            <a:r>
              <a:rPr lang="en-GB" dirty="0">
                <a:latin typeface="Arial" charset="0"/>
                <a:cs typeface="ＭＳ Ｐゴシック" charset="0"/>
                <a:sym typeface="Wingdings"/>
              </a:rPr>
              <a:t>Implicit conversion rules are overridden by function prototype</a:t>
            </a:r>
          </a:p>
          <a:p>
            <a:pPr lvl="1"/>
            <a:endParaRPr lang="en-GB" dirty="0">
              <a:latin typeface="Arial" charset="0"/>
              <a:cs typeface="ＭＳ Ｐゴシック" charset="0"/>
              <a:sym typeface="Wingdings"/>
            </a:endParaRPr>
          </a:p>
          <a:p>
            <a:r>
              <a:rPr lang="en-GB" dirty="0">
                <a:latin typeface="Arial" charset="0"/>
                <a:cs typeface="ＭＳ Ｐゴシック" charset="0"/>
              </a:rPr>
              <a:t>The </a:t>
            </a:r>
            <a:r>
              <a:rPr lang="en-GB" b="1" dirty="0">
                <a:latin typeface="Arial" charset="0"/>
                <a:cs typeface="ＭＳ Ｐゴシック" charset="0"/>
              </a:rPr>
              <a:t>type</a:t>
            </a:r>
            <a:r>
              <a:rPr lang="en-GB" dirty="0">
                <a:latin typeface="Arial" charset="0"/>
                <a:cs typeface="ＭＳ Ｐゴシック" charset="0"/>
              </a:rPr>
              <a:t> of the </a:t>
            </a:r>
            <a:r>
              <a:rPr lang="en-GB" b="1" dirty="0">
                <a:latin typeface="Arial" charset="0"/>
                <a:cs typeface="ＭＳ Ｐゴシック" charset="0"/>
              </a:rPr>
              <a:t>variable,</a:t>
            </a:r>
            <a:r>
              <a:rPr lang="en-GB" dirty="0">
                <a:latin typeface="Arial" charset="0"/>
                <a:cs typeface="ＭＳ Ｐゴシック" charset="0"/>
              </a:rPr>
              <a:t> where the return value is assigned, must be the same as the </a:t>
            </a:r>
            <a:r>
              <a:rPr lang="en-GB" b="1" dirty="0">
                <a:latin typeface="Arial" charset="0"/>
                <a:cs typeface="ＭＳ Ｐゴシック" charset="0"/>
              </a:rPr>
              <a:t>return type </a:t>
            </a:r>
            <a:r>
              <a:rPr lang="en-GB" dirty="0">
                <a:latin typeface="Arial" charset="0"/>
                <a:cs typeface="ＭＳ Ｐゴシック" charset="0"/>
              </a:rPr>
              <a:t>of the function</a:t>
            </a:r>
          </a:p>
        </p:txBody>
      </p:sp>
      <p:sp>
        <p:nvSpPr>
          <p:cNvPr id="21"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148</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2402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499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99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99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499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re 1"/>
          <p:cNvSpPr>
            <a:spLocks noGrp="1"/>
          </p:cNvSpPr>
          <p:nvPr>
            <p:ph type="title"/>
          </p:nvPr>
        </p:nvSpPr>
        <p:spPr/>
        <p:txBody>
          <a:bodyPr/>
          <a:lstStyle/>
          <a:p>
            <a:r>
              <a:rPr lang="fr-FR" sz="2800" dirty="0" err="1">
                <a:latin typeface="Arial" charset="0"/>
                <a:cs typeface="ＭＳ Ｐゴシック" charset="0"/>
              </a:rPr>
              <a:t>Function</a:t>
            </a:r>
            <a:r>
              <a:rPr lang="fr-FR" sz="2800" dirty="0">
                <a:latin typeface="Arial" charset="0"/>
                <a:cs typeface="ＭＳ Ｐゴシック" charset="0"/>
              </a:rPr>
              <a:t>: </a:t>
            </a:r>
            <a:r>
              <a:rPr lang="fr-FR" sz="2800" dirty="0" err="1">
                <a:latin typeface="Arial" charset="0"/>
                <a:cs typeface="ＭＳ Ｐゴシック" charset="0"/>
              </a:rPr>
              <a:t>Examples</a:t>
            </a:r>
            <a:endParaRPr lang="fr-FR" sz="2800" dirty="0">
              <a:latin typeface="Arial" charset="0"/>
              <a:cs typeface="ＭＳ Ｐゴシック" charset="0"/>
            </a:endParaRPr>
          </a:p>
        </p:txBody>
      </p:sp>
      <p:sp>
        <p:nvSpPr>
          <p:cNvPr id="86018" name="Espace réservé du contenu 2"/>
          <p:cNvSpPr>
            <a:spLocks noGrp="1"/>
          </p:cNvSpPr>
          <p:nvPr>
            <p:ph idx="1"/>
          </p:nvPr>
        </p:nvSpPr>
        <p:spPr>
          <a:xfrm>
            <a:off x="457200" y="914400"/>
            <a:ext cx="8939336" cy="5257800"/>
          </a:xfrm>
        </p:spPr>
        <p:txBody>
          <a:bodyPr/>
          <a:lstStyle/>
          <a:p>
            <a:r>
              <a:rPr lang="en-US" dirty="0">
                <a:latin typeface="Arial" charset="0"/>
                <a:cs typeface="ＭＳ Ｐゴシック" charset="0"/>
              </a:rPr>
              <a:t>F</a:t>
            </a:r>
            <a:r>
              <a:rPr lang="en-US" dirty="0">
                <a:latin typeface="Arial" charset="0"/>
                <a:ea typeface="ＭＳ Ｐゴシック" charset="0"/>
                <a:cs typeface="ＭＳ Ｐゴシック" charset="0"/>
              </a:rPr>
              <a:t>unction bodies</a:t>
            </a:r>
            <a:endParaRPr lang="en-US" dirty="0">
              <a:latin typeface="Arial" charset="0"/>
              <a:cs typeface="ＭＳ Ｐゴシック" charset="0"/>
            </a:endParaRPr>
          </a:p>
          <a:p>
            <a:pPr lvl="1"/>
            <a:r>
              <a:rPr lang="en-US" dirty="0">
                <a:latin typeface="Arial" charset="0"/>
                <a:cs typeface="ＭＳ Ｐゴシック" charset="0"/>
              </a:rPr>
              <a:t>No Arguments and No return:</a:t>
            </a:r>
            <a:r>
              <a:rPr lang="en-US" b="1" dirty="0">
                <a:latin typeface="Arial" charset="0"/>
                <a:cs typeface="ＭＳ Ｐゴシック" charset="0"/>
              </a:rPr>
              <a:t> </a:t>
            </a:r>
            <a:r>
              <a:rPr lang="en-US" b="1" dirty="0">
                <a:latin typeface="Courier"/>
                <a:cs typeface="Courier"/>
              </a:rPr>
              <a:t>void proc1() { … }</a:t>
            </a:r>
          </a:p>
          <a:p>
            <a:pPr lvl="1"/>
            <a:r>
              <a:rPr lang="en-US" dirty="0">
                <a:cs typeface="Courier"/>
              </a:rPr>
              <a:t>Arguments and No return:</a:t>
            </a:r>
            <a:r>
              <a:rPr lang="en-US" b="1" dirty="0">
                <a:latin typeface="Courier"/>
                <a:cs typeface="Courier"/>
              </a:rPr>
              <a:t> </a:t>
            </a:r>
            <a:r>
              <a:rPr lang="en-US" sz="2000" b="1" dirty="0">
                <a:latin typeface="Courier"/>
                <a:ea typeface="ＭＳ Ｐゴシック" charset="0"/>
                <a:cs typeface="Courier"/>
              </a:rPr>
              <a:t>void proc2(</a:t>
            </a:r>
            <a:r>
              <a:rPr lang="en-US" sz="2000" b="1" dirty="0" err="1">
                <a:latin typeface="Courier"/>
                <a:ea typeface="ＭＳ Ｐゴシック" charset="0"/>
                <a:cs typeface="Courier"/>
              </a:rPr>
              <a:t>int</a:t>
            </a:r>
            <a:r>
              <a:rPr lang="en-US" sz="2000" b="1" dirty="0">
                <a:latin typeface="Courier"/>
                <a:ea typeface="ＭＳ Ｐゴシック" charset="0"/>
                <a:cs typeface="Courier"/>
              </a:rPr>
              <a:t> n, float x){ … }</a:t>
            </a:r>
          </a:p>
          <a:p>
            <a:pPr lvl="1"/>
            <a:r>
              <a:rPr lang="en-US" dirty="0">
                <a:cs typeface="Courier"/>
              </a:rPr>
              <a:t>No Arguments and return:</a:t>
            </a:r>
            <a:r>
              <a:rPr lang="en-US" b="1" dirty="0">
                <a:latin typeface="Courier"/>
                <a:cs typeface="Courier"/>
              </a:rPr>
              <a:t> </a:t>
            </a:r>
            <a:r>
              <a:rPr lang="en-US" b="1" dirty="0" err="1">
                <a:latin typeface="Courier"/>
                <a:cs typeface="Courier"/>
              </a:rPr>
              <a:t>int</a:t>
            </a:r>
            <a:r>
              <a:rPr lang="en-US" b="1" dirty="0">
                <a:latin typeface="Courier"/>
                <a:cs typeface="Courier"/>
              </a:rPr>
              <a:t> proc3(){ … }</a:t>
            </a:r>
          </a:p>
          <a:p>
            <a:pPr lvl="1"/>
            <a:r>
              <a:rPr lang="en-US" dirty="0">
                <a:cs typeface="Courier"/>
              </a:rPr>
              <a:t>Arguments and return:</a:t>
            </a:r>
            <a:r>
              <a:rPr lang="en-US" b="1" dirty="0">
                <a:latin typeface="Courier"/>
                <a:cs typeface="Courier"/>
              </a:rPr>
              <a:t> </a:t>
            </a:r>
            <a:r>
              <a:rPr lang="en-US" b="1" dirty="0" err="1">
                <a:latin typeface="Courier"/>
                <a:cs typeface="Courier"/>
              </a:rPr>
              <a:t>int</a:t>
            </a:r>
            <a:r>
              <a:rPr lang="en-US" b="1" dirty="0">
                <a:latin typeface="Courier"/>
                <a:cs typeface="Courier"/>
              </a:rPr>
              <a:t> proc4(</a:t>
            </a:r>
            <a:r>
              <a:rPr lang="en-US" b="1" dirty="0" err="1">
                <a:latin typeface="Courier"/>
                <a:cs typeface="Courier"/>
              </a:rPr>
              <a:t>int</a:t>
            </a:r>
            <a:r>
              <a:rPr lang="en-US" b="1" dirty="0">
                <a:latin typeface="Courier"/>
                <a:cs typeface="Courier"/>
              </a:rPr>
              <a:t> n, float x){ … }</a:t>
            </a:r>
          </a:p>
          <a:p>
            <a:endParaRPr lang="en-US" b="1" dirty="0">
              <a:latin typeface="Arial" charset="0"/>
              <a:ea typeface="ＭＳ Ｐゴシック" charset="0"/>
              <a:cs typeface="ＭＳ Ｐゴシック" charset="0"/>
            </a:endParaRPr>
          </a:p>
          <a:p>
            <a:r>
              <a:rPr lang="en-US" dirty="0">
                <a:latin typeface="Arial" charset="0"/>
                <a:ea typeface="ＭＳ Ｐゴシック" charset="0"/>
                <a:cs typeface="ＭＳ Ｐゴシック" charset="0"/>
              </a:rPr>
              <a:t>Function calls</a:t>
            </a:r>
            <a:endParaRPr lang="en-US" sz="2000" dirty="0">
              <a:latin typeface="Arial" charset="0"/>
              <a:ea typeface="ＭＳ Ｐゴシック" charset="0"/>
              <a:cs typeface="ＭＳ Ｐゴシック" charset="0"/>
            </a:endParaRPr>
          </a:p>
          <a:p>
            <a:pPr marL="0" indent="0">
              <a:buNone/>
            </a:pPr>
            <a:r>
              <a:rPr lang="en-US" sz="2000" dirty="0">
                <a:latin typeface="Arial" charset="0"/>
                <a:cs typeface="ＭＳ Ｐゴシック" charset="0"/>
              </a:rPr>
              <a:t>	</a:t>
            </a:r>
            <a:r>
              <a:rPr lang="en-US" sz="2000" b="1" dirty="0">
                <a:latin typeface="Courier"/>
                <a:cs typeface="Courier"/>
              </a:rPr>
              <a:t>float r ; </a:t>
            </a:r>
            <a:br>
              <a:rPr lang="en-US" sz="2000" dirty="0">
                <a:latin typeface="Courier"/>
                <a:cs typeface="Courier"/>
              </a:rPr>
            </a:br>
            <a:r>
              <a:rPr lang="en-US" sz="2000" dirty="0">
                <a:latin typeface="Courier"/>
                <a:cs typeface="Courier"/>
              </a:rPr>
              <a:t>	</a:t>
            </a:r>
            <a:r>
              <a:rPr lang="en-US" sz="2000" b="1" dirty="0" err="1">
                <a:latin typeface="Courier"/>
                <a:cs typeface="Courier"/>
              </a:rPr>
              <a:t>int</a:t>
            </a:r>
            <a:r>
              <a:rPr lang="en-US" sz="2000" b="1" dirty="0">
                <a:latin typeface="Courier"/>
                <a:cs typeface="Courier"/>
              </a:rPr>
              <a:t> a </a:t>
            </a:r>
            <a:r>
              <a:rPr lang="en-US" sz="2000" b="1" dirty="0">
                <a:latin typeface="Arial" charset="0"/>
                <a:cs typeface="ＭＳ Ｐゴシック" charset="0"/>
              </a:rPr>
              <a:t>;</a:t>
            </a:r>
            <a:endParaRPr lang="en-US" sz="2000" dirty="0">
              <a:latin typeface="Arial" charset="0"/>
              <a:cs typeface="ＭＳ Ｐゴシック" charset="0"/>
            </a:endParaRPr>
          </a:p>
          <a:p>
            <a:pPr lvl="1"/>
            <a:r>
              <a:rPr lang="en-US" dirty="0">
                <a:latin typeface="Arial" charset="0"/>
                <a:cs typeface="ＭＳ Ｐゴシック" charset="0"/>
              </a:rPr>
              <a:t>No Arguments and No return:</a:t>
            </a:r>
            <a:r>
              <a:rPr lang="en-US" b="1" dirty="0">
                <a:latin typeface="Arial" charset="0"/>
                <a:cs typeface="ＭＳ Ｐゴシック" charset="0"/>
              </a:rPr>
              <a:t> </a:t>
            </a:r>
            <a:r>
              <a:rPr lang="en-US" b="1" dirty="0">
                <a:latin typeface="Courier"/>
                <a:cs typeface="Courier"/>
              </a:rPr>
              <a:t>proc1(); </a:t>
            </a:r>
          </a:p>
          <a:p>
            <a:pPr lvl="1"/>
            <a:r>
              <a:rPr lang="en-US" dirty="0">
                <a:cs typeface="Courier"/>
              </a:rPr>
              <a:t>Arguments and No return:</a:t>
            </a:r>
            <a:r>
              <a:rPr lang="en-US" b="1" dirty="0">
                <a:latin typeface="Courier"/>
                <a:cs typeface="Courier"/>
              </a:rPr>
              <a:t> proc2(a, r);</a:t>
            </a:r>
            <a:r>
              <a:rPr lang="en-US" dirty="0">
                <a:cs typeface="Courier"/>
              </a:rPr>
              <a:t> or </a:t>
            </a:r>
            <a:r>
              <a:rPr lang="en-US" b="1" dirty="0">
                <a:latin typeface="Courier"/>
                <a:cs typeface="Courier"/>
              </a:rPr>
              <a:t>proc2(42, 3.14);</a:t>
            </a:r>
            <a:endParaRPr lang="en-US" dirty="0">
              <a:latin typeface="Courier"/>
              <a:cs typeface="Courier"/>
            </a:endParaRPr>
          </a:p>
          <a:p>
            <a:pPr lvl="1"/>
            <a:r>
              <a:rPr lang="en-US" dirty="0">
                <a:cs typeface="Courier"/>
              </a:rPr>
              <a:t>No Arguments and return:</a:t>
            </a:r>
            <a:r>
              <a:rPr lang="en-US" b="1" dirty="0">
                <a:latin typeface="Courier"/>
                <a:cs typeface="Courier"/>
              </a:rPr>
              <a:t> a=proc3();</a:t>
            </a:r>
          </a:p>
          <a:p>
            <a:pPr lvl="1"/>
            <a:r>
              <a:rPr lang="en-US" dirty="0">
                <a:cs typeface="Courier"/>
              </a:rPr>
              <a:t>Arguments and return:</a:t>
            </a:r>
            <a:r>
              <a:rPr lang="en-US" b="1" dirty="0">
                <a:latin typeface="Courier"/>
                <a:cs typeface="Courier"/>
              </a:rPr>
              <a:t> a=proc4(</a:t>
            </a:r>
            <a:r>
              <a:rPr lang="en-US" b="1" dirty="0" err="1">
                <a:latin typeface="Courier"/>
                <a:cs typeface="Courier"/>
              </a:rPr>
              <a:t>a,r</a:t>
            </a:r>
            <a:r>
              <a:rPr lang="en-US" b="1" dirty="0">
                <a:latin typeface="Courier"/>
                <a:cs typeface="Courier"/>
              </a:rPr>
              <a:t>);</a:t>
            </a:r>
            <a:endParaRPr lang="en-US" b="1" dirty="0">
              <a:latin typeface="Courier"/>
              <a:ea typeface="ＭＳ Ｐゴシック" charset="0"/>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149</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45823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01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6018">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018">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6018">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0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247964" y="949792"/>
            <a:ext cx="4968552" cy="5027179"/>
          </a:xfrm>
          <a:prstGeom prst="rect">
            <a:avLst/>
          </a:prstGeom>
        </p:spPr>
      </p:pic>
      <p:sp>
        <p:nvSpPr>
          <p:cNvPr id="2" name="Title 1"/>
          <p:cNvSpPr>
            <a:spLocks noGrp="1"/>
          </p:cNvSpPr>
          <p:nvPr>
            <p:ph type="title"/>
          </p:nvPr>
        </p:nvSpPr>
        <p:spPr/>
        <p:txBody>
          <a:bodyPr/>
          <a:lstStyle/>
          <a:p>
            <a:r>
              <a:rPr lang="en-US" sz="2800" dirty="0"/>
              <a:t>Variable allocation in memory</a:t>
            </a:r>
          </a:p>
        </p:txBody>
      </p:sp>
      <p:sp>
        <p:nvSpPr>
          <p:cNvPr id="3" name="Content Placeholder 2"/>
          <p:cNvSpPr>
            <a:spLocks noGrp="1"/>
          </p:cNvSpPr>
          <p:nvPr>
            <p:ph idx="1"/>
          </p:nvPr>
        </p:nvSpPr>
        <p:spPr>
          <a:xfrm>
            <a:off x="71500" y="764704"/>
            <a:ext cx="4644516" cy="2694620"/>
          </a:xfrm>
        </p:spPr>
        <p:txBody>
          <a:bodyPr/>
          <a:lstStyle/>
          <a:p>
            <a:r>
              <a:rPr lang="en-US" b="1" dirty="0"/>
              <a:t>Static</a:t>
            </a:r>
            <a:r>
              <a:rPr lang="en-US" dirty="0"/>
              <a:t>: </a:t>
            </a:r>
          </a:p>
          <a:p>
            <a:pPr lvl="1"/>
            <a:r>
              <a:rPr lang="en-US" dirty="0"/>
              <a:t>global and static variable storage</a:t>
            </a:r>
          </a:p>
          <a:p>
            <a:pPr lvl="1"/>
            <a:r>
              <a:rPr lang="en-US" dirty="0"/>
              <a:t>permanent for the entire run of the program.</a:t>
            </a:r>
          </a:p>
          <a:p>
            <a:pPr lvl="1"/>
            <a:r>
              <a:rPr lang="en-US" dirty="0"/>
              <a:t>Allocation at compile/link time</a:t>
            </a:r>
          </a:p>
          <a:p>
            <a:r>
              <a:rPr lang="en-US" b="1" dirty="0"/>
              <a:t>Stack</a:t>
            </a:r>
            <a:r>
              <a:rPr lang="en-US" dirty="0"/>
              <a:t>: </a:t>
            </a:r>
          </a:p>
          <a:p>
            <a:pPr lvl="1"/>
            <a:r>
              <a:rPr lang="en-US" dirty="0"/>
              <a:t>local variable storage </a:t>
            </a:r>
          </a:p>
          <a:p>
            <a:pPr lvl="1"/>
            <a:r>
              <a:rPr lang="en-US" dirty="0"/>
              <a:t>automatic, continuous memory</a:t>
            </a:r>
          </a:p>
          <a:p>
            <a:pPr lvl="1"/>
            <a:r>
              <a:rPr lang="en-US" dirty="0"/>
              <a:t>Allocation during execution</a:t>
            </a:r>
          </a:p>
          <a:p>
            <a:r>
              <a:rPr lang="en-US" b="1" dirty="0"/>
              <a:t>Heap</a:t>
            </a:r>
            <a:r>
              <a:rPr lang="en-US" dirty="0"/>
              <a:t>: </a:t>
            </a:r>
          </a:p>
          <a:p>
            <a:pPr lvl="1"/>
            <a:r>
              <a:rPr lang="en-US" dirty="0"/>
              <a:t>dynamic storage </a:t>
            </a:r>
          </a:p>
          <a:p>
            <a:pPr lvl="1"/>
            <a:r>
              <a:rPr lang="en-US" dirty="0"/>
              <a:t>large pool of memory, not allocated in contiguous order</a:t>
            </a:r>
          </a:p>
          <a:p>
            <a:pPr lvl="1"/>
            <a:r>
              <a:rPr lang="en-US" dirty="0"/>
              <a:t>Allocation during execution</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150</a:t>
            </a:fld>
            <a:endParaRPr lang="fr-F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9245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Stack</a:t>
            </a:r>
          </a:p>
        </p:txBody>
      </p:sp>
      <p:sp>
        <p:nvSpPr>
          <p:cNvPr id="3" name="Content Placeholder 2"/>
          <p:cNvSpPr>
            <a:spLocks noGrp="1"/>
          </p:cNvSpPr>
          <p:nvPr>
            <p:ph idx="1"/>
          </p:nvPr>
        </p:nvSpPr>
        <p:spPr/>
        <p:txBody>
          <a:bodyPr/>
          <a:lstStyle/>
          <a:p>
            <a:r>
              <a:rPr lang="en-US" dirty="0"/>
              <a:t>Each time a function call occurs, the stack grows to store the local variables of the function</a:t>
            </a:r>
          </a:p>
          <a:p>
            <a:endParaRPr lang="en-US" dirty="0"/>
          </a:p>
          <a:p>
            <a:r>
              <a:rPr lang="en-US" dirty="0"/>
              <a:t>Each time a function returns, the stack shrinks and removes the function local variables</a:t>
            </a:r>
          </a:p>
          <a:p>
            <a:endParaRPr lang="en-US" dirty="0"/>
          </a:p>
          <a:p>
            <a:r>
              <a:rPr lang="en-US" dirty="0"/>
              <a:t>So, stack variables </a:t>
            </a:r>
            <a:r>
              <a:rPr lang="en-US" b="1" dirty="0">
                <a:solidFill>
                  <a:srgbClr val="FF0000"/>
                </a:solidFill>
              </a:rPr>
              <a:t>ONLY</a:t>
            </a:r>
            <a:r>
              <a:rPr lang="en-US" dirty="0"/>
              <a:t> </a:t>
            </a:r>
            <a:r>
              <a:rPr lang="en-US" b="1" dirty="0">
                <a:solidFill>
                  <a:srgbClr val="FF0000"/>
                </a:solidFill>
              </a:rPr>
              <a:t>exist</a:t>
            </a:r>
            <a:r>
              <a:rPr lang="en-US" dirty="0"/>
              <a:t> while</a:t>
            </a:r>
            <a:r>
              <a:rPr lang="en-US" b="1" dirty="0"/>
              <a:t> </a:t>
            </a:r>
            <a:r>
              <a:rPr lang="en-US" dirty="0"/>
              <a:t>the</a:t>
            </a:r>
            <a:r>
              <a:rPr lang="en-US" b="1" dirty="0"/>
              <a:t> </a:t>
            </a:r>
            <a:r>
              <a:rPr lang="en-US" b="1" dirty="0">
                <a:solidFill>
                  <a:srgbClr val="FF0000"/>
                </a:solidFill>
              </a:rPr>
              <a:t>function</a:t>
            </a:r>
            <a:r>
              <a:rPr lang="en-US" b="1" dirty="0"/>
              <a:t> </a:t>
            </a:r>
            <a:r>
              <a:rPr lang="en-US" dirty="0"/>
              <a:t>that</a:t>
            </a:r>
            <a:r>
              <a:rPr lang="en-US" b="1" dirty="0"/>
              <a:t> </a:t>
            </a:r>
            <a:r>
              <a:rPr lang="en-US" b="1" dirty="0">
                <a:solidFill>
                  <a:srgbClr val="FF0000"/>
                </a:solidFill>
              </a:rPr>
              <a:t>created</a:t>
            </a:r>
            <a:r>
              <a:rPr lang="en-US" b="1" dirty="0"/>
              <a:t> </a:t>
            </a:r>
            <a:r>
              <a:rPr lang="en-US" dirty="0"/>
              <a:t>them is </a:t>
            </a:r>
            <a:r>
              <a:rPr lang="en-US" b="1" dirty="0">
                <a:solidFill>
                  <a:srgbClr val="FF0000"/>
                </a:solidFill>
              </a:rPr>
              <a:t>running</a:t>
            </a:r>
          </a:p>
          <a:p>
            <a:endParaRPr lang="en-US" dirty="0"/>
          </a:p>
          <a:p>
            <a:r>
              <a:rPr lang="en-US" dirty="0"/>
              <a:t>No need to manage the memory yourself, variables are allocated and freed automatically</a:t>
            </a:r>
          </a:p>
          <a:p>
            <a:endParaRPr lang="en-US" dirty="0"/>
          </a:p>
          <a:p>
            <a:r>
              <a:rPr lang="en-US" dirty="0"/>
              <a:t>The stack has size limits</a:t>
            </a:r>
          </a:p>
          <a:p>
            <a:endParaRPr lang="en-US" dirty="0"/>
          </a:p>
          <a:p>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151</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4516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re 1"/>
          <p:cNvSpPr>
            <a:spLocks noGrp="1"/>
          </p:cNvSpPr>
          <p:nvPr>
            <p:ph type="title"/>
          </p:nvPr>
        </p:nvSpPr>
        <p:spPr/>
        <p:txBody>
          <a:bodyPr/>
          <a:lstStyle/>
          <a:p>
            <a:r>
              <a:rPr lang="fr-FR" sz="2800" dirty="0" err="1">
                <a:latin typeface="Arial" charset="0"/>
                <a:cs typeface="ＭＳ Ｐゴシック" charset="0"/>
              </a:rPr>
              <a:t>What</a:t>
            </a:r>
            <a:r>
              <a:rPr lang="fr-FR" sz="2800" dirty="0">
                <a:latin typeface="Arial" charset="0"/>
                <a:cs typeface="ＭＳ Ｐゴシック" charset="0"/>
              </a:rPr>
              <a:t> </a:t>
            </a:r>
            <a:r>
              <a:rPr lang="fr-FR" sz="2800" dirty="0" err="1">
                <a:latin typeface="Arial" charset="0"/>
                <a:cs typeface="ＭＳ Ｐゴシック" charset="0"/>
              </a:rPr>
              <a:t>is</a:t>
            </a:r>
            <a:r>
              <a:rPr lang="fr-FR" sz="2800" dirty="0">
                <a:latin typeface="Arial" charset="0"/>
                <a:cs typeface="ＭＳ Ｐゴシック" charset="0"/>
              </a:rPr>
              <a:t> visible </a:t>
            </a:r>
            <a:r>
              <a:rPr lang="en-GB" sz="2800" u="sng" dirty="0">
                <a:latin typeface="Arial" charset="0"/>
                <a:cs typeface="ＭＳ Ｐゴシック" charset="0"/>
              </a:rPr>
              <a:t>inside</a:t>
            </a:r>
            <a:r>
              <a:rPr lang="en-GB" sz="2800" dirty="0">
                <a:latin typeface="Arial" charset="0"/>
                <a:cs typeface="ＭＳ Ｐゴシック" charset="0"/>
              </a:rPr>
              <a:t> a function? </a:t>
            </a:r>
            <a:endParaRPr lang="fr-FR" sz="2800" dirty="0">
              <a:latin typeface="Arial" charset="0"/>
              <a:ea typeface="ＭＳ Ｐゴシック" charset="0"/>
              <a:cs typeface="ＭＳ Ｐゴシック" charset="0"/>
            </a:endParaRPr>
          </a:p>
        </p:txBody>
      </p:sp>
      <p:sp>
        <p:nvSpPr>
          <p:cNvPr id="90114" name="Espace réservé du contenu 2"/>
          <p:cNvSpPr>
            <a:spLocks noGrp="1"/>
          </p:cNvSpPr>
          <p:nvPr>
            <p:ph idx="1"/>
          </p:nvPr>
        </p:nvSpPr>
        <p:spPr/>
        <p:txBody>
          <a:bodyPr/>
          <a:lstStyle/>
          <a:p>
            <a:r>
              <a:rPr lang="en-GB" dirty="0">
                <a:latin typeface="Arial" charset="0"/>
              </a:rPr>
              <a:t>The </a:t>
            </a:r>
            <a:r>
              <a:rPr lang="en-GB" b="1" dirty="0">
                <a:latin typeface="Arial" charset="0"/>
              </a:rPr>
              <a:t>parameters</a:t>
            </a:r>
            <a:r>
              <a:rPr lang="en-GB" dirty="0">
                <a:latin typeface="Arial" charset="0"/>
              </a:rPr>
              <a:t> of the function</a:t>
            </a:r>
          </a:p>
          <a:p>
            <a:endParaRPr lang="en-GB" sz="800" dirty="0">
              <a:latin typeface="Arial" charset="0"/>
            </a:endParaRPr>
          </a:p>
          <a:p>
            <a:r>
              <a:rPr lang="en-GB" dirty="0">
                <a:latin typeface="Arial" charset="0"/>
              </a:rPr>
              <a:t>The </a:t>
            </a:r>
            <a:r>
              <a:rPr lang="en-GB" b="1" dirty="0">
                <a:latin typeface="Arial" charset="0"/>
              </a:rPr>
              <a:t>local variables </a:t>
            </a:r>
            <a:r>
              <a:rPr lang="en-GB" dirty="0">
                <a:latin typeface="Arial" charset="0"/>
              </a:rPr>
              <a:t>(the ones defined inside the function bloc)</a:t>
            </a:r>
          </a:p>
          <a:p>
            <a:endParaRPr lang="en-GB" sz="800" dirty="0">
              <a:latin typeface="Arial" charset="0"/>
            </a:endParaRPr>
          </a:p>
          <a:p>
            <a:r>
              <a:rPr lang="en-GB" dirty="0">
                <a:latin typeface="Arial" charset="0"/>
              </a:rPr>
              <a:t>The </a:t>
            </a:r>
            <a:r>
              <a:rPr lang="en-GB" b="1" dirty="0">
                <a:latin typeface="Arial" charset="0"/>
              </a:rPr>
              <a:t>global variables </a:t>
            </a:r>
            <a:r>
              <a:rPr lang="en-GB" dirty="0">
                <a:latin typeface="Arial" charset="0"/>
              </a:rPr>
              <a:t>of the compilation file</a:t>
            </a:r>
          </a:p>
          <a:p>
            <a:endParaRPr lang="en-GB" sz="800" dirty="0">
              <a:latin typeface="Arial" charset="0"/>
            </a:endParaRPr>
          </a:p>
          <a:p>
            <a:r>
              <a:rPr lang="en-GB" dirty="0">
                <a:latin typeface="Arial" charset="0"/>
              </a:rPr>
              <a:t>The imported global variables (specified by </a:t>
            </a:r>
            <a:r>
              <a:rPr lang="en-GB" b="1" dirty="0">
                <a:latin typeface="Courier"/>
                <a:cs typeface="Courier"/>
              </a:rPr>
              <a:t>extern</a:t>
            </a:r>
            <a:r>
              <a:rPr lang="en-GB" dirty="0">
                <a:latin typeface="Arial" charset="0"/>
              </a:rPr>
              <a:t>)</a:t>
            </a:r>
          </a:p>
          <a:p>
            <a:endParaRPr lang="en-GB" sz="800" dirty="0">
              <a:latin typeface="Arial" charset="0"/>
            </a:endParaRPr>
          </a:p>
          <a:p>
            <a:r>
              <a:rPr lang="en-GB" dirty="0">
                <a:latin typeface="Arial" charset="0"/>
              </a:rPr>
              <a:t>The other functions declared before this function</a:t>
            </a:r>
          </a:p>
          <a:p>
            <a:pPr lvl="1"/>
            <a:r>
              <a:rPr lang="en-GB" dirty="0">
                <a:latin typeface="Arial" charset="0"/>
              </a:rPr>
              <a:t>inside the compilation file </a:t>
            </a:r>
          </a:p>
          <a:p>
            <a:pPr lvl="1"/>
            <a:r>
              <a:rPr lang="en-GB" dirty="0">
                <a:latin typeface="Arial" charset="0"/>
              </a:rPr>
              <a:t>external</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8122962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ea typeface="ＭＳ Ｐゴシック" charset="0"/>
                <a:cs typeface="ＭＳ Ｐゴシック" charset="0"/>
              </a:rPr>
              <a:t>Let’s</a:t>
            </a:r>
            <a:r>
              <a:rPr lang="fr-FR" sz="2800" dirty="0">
                <a:latin typeface="Arial" charset="0"/>
                <a:ea typeface="ＭＳ Ｐゴシック" charset="0"/>
                <a:cs typeface="ＭＳ Ｐゴシック" charset="0"/>
              </a:rPr>
              <a:t>…</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153</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Q1- Q4</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1039002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2"/>
          <p:cNvSpPr>
            <a:spLocks noGrp="1"/>
          </p:cNvSpPr>
          <p:nvPr>
            <p:ph idx="1"/>
          </p:nvPr>
        </p:nvSpPr>
        <p:spPr>
          <a:xfrm>
            <a:off x="179512" y="2060848"/>
            <a:ext cx="8975340" cy="4752528"/>
          </a:xfrm>
        </p:spPr>
        <p:txBody>
          <a:bodyPr/>
          <a:lstStyle/>
          <a:p>
            <a:r>
              <a:rPr lang="en-GB" b="1" dirty="0">
                <a:latin typeface="Arial" charset="0"/>
              </a:rPr>
              <a:t>Pass by Value:</a:t>
            </a:r>
            <a:r>
              <a:rPr lang="en-GB" dirty="0">
                <a:latin typeface="Arial" charset="0"/>
              </a:rPr>
              <a:t> pass the data object itself</a:t>
            </a:r>
          </a:p>
          <a:p>
            <a:endParaRPr lang="en-GB" dirty="0">
              <a:latin typeface="Arial" charset="0"/>
            </a:endParaRPr>
          </a:p>
          <a:p>
            <a:pPr>
              <a:defRPr/>
            </a:pPr>
            <a:r>
              <a:rPr lang="en-US" dirty="0"/>
              <a:t>The parameter is initialized with the </a:t>
            </a:r>
            <a:r>
              <a:rPr lang="en-US" b="1" dirty="0"/>
              <a:t>actual </a:t>
            </a:r>
            <a:r>
              <a:rPr lang="en-US" b="1" dirty="0">
                <a:solidFill>
                  <a:schemeClr val="tx1"/>
                </a:solidFill>
              </a:rPr>
              <a:t>value</a:t>
            </a:r>
            <a:r>
              <a:rPr lang="en-US" dirty="0">
                <a:solidFill>
                  <a:schemeClr val="tx1"/>
                </a:solidFill>
              </a:rPr>
              <a:t> </a:t>
            </a:r>
            <a:r>
              <a:rPr lang="en-US" dirty="0"/>
              <a:t>of the data object</a:t>
            </a:r>
          </a:p>
          <a:p>
            <a:pPr>
              <a:defRPr/>
            </a:pPr>
            <a:endParaRPr lang="en-US" dirty="0"/>
          </a:p>
          <a:p>
            <a:pPr>
              <a:defRPr/>
            </a:pPr>
            <a:r>
              <a:rPr lang="en-US" dirty="0"/>
              <a:t>When a function returns:</a:t>
            </a:r>
          </a:p>
          <a:p>
            <a:pPr lvl="1">
              <a:defRPr/>
            </a:pPr>
            <a:r>
              <a:rPr lang="en-US" dirty="0"/>
              <a:t>The space reserved for the local variables of the function is erased! </a:t>
            </a:r>
          </a:p>
          <a:p>
            <a:pPr lvl="1">
              <a:defRPr/>
            </a:pPr>
            <a:r>
              <a:rPr lang="en-US" dirty="0"/>
              <a:t>With that, any modification occurred on the local variables</a:t>
            </a:r>
          </a:p>
        </p:txBody>
      </p:sp>
      <p:sp>
        <p:nvSpPr>
          <p:cNvPr id="89089" name="Titre 1"/>
          <p:cNvSpPr>
            <a:spLocks noGrp="1"/>
          </p:cNvSpPr>
          <p:nvPr>
            <p:ph type="title"/>
          </p:nvPr>
        </p:nvSpPr>
        <p:spPr/>
        <p:txBody>
          <a:bodyPr/>
          <a:lstStyle/>
          <a:p>
            <a:r>
              <a:rPr lang="fr-FR" sz="2800" dirty="0">
                <a:latin typeface="Arial" charset="0"/>
                <a:cs typeface="ＭＳ Ｐゴシック" charset="0"/>
              </a:rPr>
              <a:t>P</a:t>
            </a:r>
            <a:r>
              <a:rPr lang="fr-FR" sz="2800" dirty="0">
                <a:latin typeface="Arial" charset="0"/>
                <a:ea typeface="ＭＳ Ｐゴシック" charset="0"/>
                <a:cs typeface="ＭＳ Ｐゴシック" charset="0"/>
              </a:rPr>
              <a:t>assing arguments: By value</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154</a:t>
            </a:fld>
            <a:endParaRPr lang="fr-FR" sz="1400">
              <a:solidFill>
                <a:srgbClr val="000208"/>
              </a:solidFill>
              <a:latin typeface="Times New Roman" charset="0"/>
            </a:endParaRPr>
          </a:p>
        </p:txBody>
      </p:sp>
      <p:sp>
        <p:nvSpPr>
          <p:cNvPr id="3" name="Rectangle 2"/>
          <p:cNvSpPr/>
          <p:nvPr/>
        </p:nvSpPr>
        <p:spPr>
          <a:xfrm>
            <a:off x="144016" y="764704"/>
            <a:ext cx="8784468" cy="707886"/>
          </a:xfrm>
          <a:prstGeom prst="rect">
            <a:avLst/>
          </a:prstGeom>
          <a:ln w="38100" cmpd="sng">
            <a:solidFill>
              <a:srgbClr val="FF0000"/>
            </a:solidFill>
          </a:ln>
        </p:spPr>
        <p:txBody>
          <a:bodyPr wrap="square">
            <a:spAutoFit/>
          </a:bodyPr>
          <a:lstStyle/>
          <a:p>
            <a:pPr marL="0" lvl="1" indent="0">
              <a:buSzTx/>
              <a:buNone/>
            </a:pPr>
            <a:r>
              <a:rPr lang="en-GB" sz="2000" b="1" dirty="0">
                <a:cs typeface="ＭＳ Ｐゴシック" charset="0"/>
              </a:rPr>
              <a:t>Function</a:t>
            </a:r>
            <a:r>
              <a:rPr lang="en-GB" sz="2000" dirty="0">
                <a:cs typeface="ＭＳ Ｐゴシック" charset="0"/>
              </a:rPr>
              <a:t> </a:t>
            </a:r>
            <a:r>
              <a:rPr lang="en-GB" sz="2000" b="1" dirty="0">
                <a:cs typeface="ＭＳ Ｐゴシック" charset="0"/>
              </a:rPr>
              <a:t>parameters</a:t>
            </a:r>
            <a:r>
              <a:rPr lang="en-US" sz="2000" dirty="0">
                <a:cs typeface="ＭＳ Ｐゴシック" charset="0"/>
              </a:rPr>
              <a:t>: </a:t>
            </a:r>
            <a:r>
              <a:rPr lang="en-US" sz="2000" b="1" dirty="0">
                <a:solidFill>
                  <a:srgbClr val="FF0000"/>
                </a:solidFill>
              </a:rPr>
              <a:t>LOCAL variables</a:t>
            </a:r>
            <a:r>
              <a:rPr lang="en-US" sz="2000" dirty="0"/>
              <a:t> initialized with the </a:t>
            </a:r>
            <a:r>
              <a:rPr lang="en-US" sz="2000" b="1" dirty="0">
                <a:solidFill>
                  <a:srgbClr val="FF0000"/>
                </a:solidFill>
              </a:rPr>
              <a:t>value</a:t>
            </a:r>
            <a:r>
              <a:rPr lang="en-US" sz="2000" dirty="0">
                <a:solidFill>
                  <a:srgbClr val="FF0000"/>
                </a:solidFill>
              </a:rPr>
              <a:t> </a:t>
            </a:r>
            <a:r>
              <a:rPr lang="en-US" sz="2000" dirty="0"/>
              <a:t>of the passed </a:t>
            </a:r>
            <a:r>
              <a:rPr lang="en-US" sz="2000" b="1" dirty="0">
                <a:solidFill>
                  <a:srgbClr val="FF0000"/>
                </a:solidFill>
              </a:rPr>
              <a:t>argument</a:t>
            </a:r>
            <a:r>
              <a:rPr lang="en-US" sz="2000" dirty="0">
                <a:solidFill>
                  <a:srgbClr val="FF0000"/>
                </a:solidFill>
              </a:rPr>
              <a:t> </a:t>
            </a:r>
            <a:endParaRPr lang="en-GB" sz="2000" b="1" dirty="0"/>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7973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a:t>
            </a:r>
          </a:p>
          <a:p>
            <a:pPr marL="0" indent="0">
              <a:buNone/>
              <a:defRPr/>
            </a:pPr>
            <a:endParaRPr lang="en-US" sz="2000" b="1" dirty="0">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proc(a);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extLst>
              <p:ext uri="{D42A27DB-BD31-4B8C-83A1-F6EECF244321}">
                <p14:modId xmlns:p14="http://schemas.microsoft.com/office/powerpoint/2010/main" val="4028710446"/>
              </p:ext>
            </p:extLst>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972993" y="2204864"/>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155</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12900" y="3501008"/>
            <a:ext cx="1048935" cy="461665"/>
          </a:xfrm>
          <a:prstGeom prst="rect">
            <a:avLst/>
          </a:prstGeom>
        </p:spPr>
        <p:txBody>
          <a:bodyPr wrap="none">
            <a:spAutoFit/>
          </a:bodyPr>
          <a:lstStyle/>
          <a:p>
            <a:r>
              <a:rPr lang="en-US" sz="2400" dirty="0"/>
              <a:t>a = 10</a:t>
            </a:r>
          </a:p>
        </p:txBody>
      </p:sp>
      <p:sp>
        <p:nvSpPr>
          <p:cNvPr id="23" name="Rectangle 22"/>
          <p:cNvSpPr/>
          <p:nvPr/>
        </p:nvSpPr>
        <p:spPr>
          <a:xfrm>
            <a:off x="6412900" y="2571291"/>
            <a:ext cx="1048935" cy="461665"/>
          </a:xfrm>
          <a:prstGeom prst="rect">
            <a:avLst/>
          </a:prstGeom>
        </p:spPr>
        <p:txBody>
          <a:bodyPr wrap="none">
            <a:spAutoFit/>
          </a:bodyPr>
          <a:lstStyle/>
          <a:p>
            <a:r>
              <a:rPr lang="en-US" sz="2400" dirty="0"/>
              <a:t>n = 10</a:t>
            </a:r>
          </a:p>
        </p:txBody>
      </p:sp>
      <p:sp>
        <p:nvSpPr>
          <p:cNvPr id="1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0799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endParaRPr lang="en-US" sz="2000" b="1" dirty="0">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972993" y="2204864"/>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156</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12900" y="3501008"/>
            <a:ext cx="1048935" cy="461665"/>
          </a:xfrm>
          <a:prstGeom prst="rect">
            <a:avLst/>
          </a:prstGeom>
        </p:spPr>
        <p:txBody>
          <a:bodyPr wrap="none">
            <a:spAutoFit/>
          </a:bodyPr>
          <a:lstStyle/>
          <a:p>
            <a:r>
              <a:rPr lang="en-US" sz="2400" dirty="0"/>
              <a:t>a = 10</a:t>
            </a:r>
          </a:p>
        </p:txBody>
      </p:sp>
      <p:sp>
        <p:nvSpPr>
          <p:cNvPr id="25" name="Rectangle 24"/>
          <p:cNvSpPr/>
          <p:nvPr/>
        </p:nvSpPr>
        <p:spPr>
          <a:xfrm>
            <a:off x="6408204" y="2578083"/>
            <a:ext cx="1026092" cy="461665"/>
          </a:xfrm>
          <a:prstGeom prst="rect">
            <a:avLst/>
          </a:prstGeom>
        </p:spPr>
        <p:txBody>
          <a:bodyPr wrap="none">
            <a:spAutoFit/>
          </a:bodyPr>
          <a:lstStyle/>
          <a:p>
            <a:r>
              <a:rPr lang="en-US" sz="2400" dirty="0"/>
              <a:t>n = 11</a:t>
            </a:r>
          </a:p>
        </p:txBody>
      </p:sp>
      <p:sp>
        <p:nvSpPr>
          <p:cNvPr id="1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1119783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proc(a);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157</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12900" y="3501008"/>
            <a:ext cx="1048935" cy="461665"/>
          </a:xfrm>
          <a:prstGeom prst="rect">
            <a:avLst/>
          </a:prstGeom>
        </p:spPr>
        <p:txBody>
          <a:bodyPr wrap="none">
            <a:spAutoFit/>
          </a:bodyPr>
          <a:lstStyle/>
          <a:p>
            <a:r>
              <a:rPr lang="en-US" sz="2400" dirty="0"/>
              <a:t>a = 10</a:t>
            </a:r>
          </a:p>
        </p:txBody>
      </p:sp>
      <p:sp>
        <p:nvSpPr>
          <p:cNvPr id="1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0992817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extLst>
              <p:ext uri="{D42A27DB-BD31-4B8C-83A1-F6EECF244321}">
                <p14:modId xmlns:p14="http://schemas.microsoft.com/office/powerpoint/2010/main" val="2906275915"/>
              </p:ext>
            </p:extLst>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158</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6" name="Rectangle 25"/>
          <p:cNvSpPr/>
          <p:nvPr/>
        </p:nvSpPr>
        <p:spPr>
          <a:xfrm>
            <a:off x="6458296" y="3510444"/>
            <a:ext cx="1048935" cy="461665"/>
          </a:xfrm>
          <a:prstGeom prst="rect">
            <a:avLst/>
          </a:prstGeom>
        </p:spPr>
        <p:txBody>
          <a:bodyPr wrap="none">
            <a:spAutoFit/>
          </a:bodyPr>
          <a:lstStyle/>
          <a:p>
            <a:r>
              <a:rPr lang="en-US" sz="2400" dirty="0"/>
              <a:t>a = 20</a:t>
            </a:r>
          </a:p>
        </p:txBody>
      </p:sp>
      <p:sp>
        <p:nvSpPr>
          <p:cNvPr id="1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05518779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2"/>
          <p:cNvSpPr>
            <a:spLocks noGrp="1"/>
          </p:cNvSpPr>
          <p:nvPr>
            <p:ph idx="1"/>
          </p:nvPr>
        </p:nvSpPr>
        <p:spPr>
          <a:xfrm>
            <a:off x="179512" y="2132856"/>
            <a:ext cx="9325036" cy="4680520"/>
          </a:xfrm>
        </p:spPr>
        <p:txBody>
          <a:bodyPr/>
          <a:lstStyle/>
          <a:p>
            <a:r>
              <a:rPr lang="en-GB" b="1" dirty="0">
                <a:latin typeface="Arial" charset="0"/>
              </a:rPr>
              <a:t>Pass by Reference:</a:t>
            </a:r>
            <a:r>
              <a:rPr lang="en-GB" dirty="0">
                <a:latin typeface="Arial" charset="0"/>
              </a:rPr>
              <a:t> pass the pointer of the data object</a:t>
            </a:r>
          </a:p>
          <a:p>
            <a:endParaRPr lang="en-GB" dirty="0">
              <a:latin typeface="Arial" charset="0"/>
            </a:endParaRPr>
          </a:p>
          <a:p>
            <a:pPr>
              <a:defRPr/>
            </a:pPr>
            <a:r>
              <a:rPr lang="en-US" dirty="0"/>
              <a:t>The parameter is initialized with the </a:t>
            </a:r>
            <a:r>
              <a:rPr lang="en-US" b="1" dirty="0"/>
              <a:t>address</a:t>
            </a:r>
            <a:r>
              <a:rPr lang="en-US" dirty="0">
                <a:solidFill>
                  <a:schemeClr val="tx1"/>
                </a:solidFill>
              </a:rPr>
              <a:t> </a:t>
            </a:r>
            <a:r>
              <a:rPr lang="en-US" dirty="0"/>
              <a:t>of the data object</a:t>
            </a:r>
          </a:p>
          <a:p>
            <a:pPr>
              <a:defRPr/>
            </a:pPr>
            <a:endParaRPr lang="en-US" dirty="0"/>
          </a:p>
          <a:p>
            <a:pPr>
              <a:defRPr/>
            </a:pPr>
            <a:r>
              <a:rPr lang="en-US" dirty="0"/>
              <a:t>When a function returns:</a:t>
            </a:r>
          </a:p>
          <a:p>
            <a:pPr lvl="1">
              <a:defRPr/>
            </a:pPr>
            <a:r>
              <a:rPr lang="en-US" dirty="0"/>
              <a:t>The space reserved for the local variables of the function is erased! </a:t>
            </a:r>
          </a:p>
          <a:p>
            <a:pPr lvl="1">
              <a:defRPr/>
            </a:pPr>
            <a:r>
              <a:rPr lang="en-US" dirty="0"/>
              <a:t>But… the modifications now occurred at addresses belonging to the function that made the call !</a:t>
            </a:r>
          </a:p>
        </p:txBody>
      </p:sp>
      <p:sp>
        <p:nvSpPr>
          <p:cNvPr id="89089" name="Titre 1"/>
          <p:cNvSpPr>
            <a:spLocks noGrp="1"/>
          </p:cNvSpPr>
          <p:nvPr>
            <p:ph type="title"/>
          </p:nvPr>
        </p:nvSpPr>
        <p:spPr/>
        <p:txBody>
          <a:bodyPr/>
          <a:lstStyle/>
          <a:p>
            <a:r>
              <a:rPr lang="fr-FR" sz="2800" dirty="0">
                <a:latin typeface="Arial" charset="0"/>
                <a:cs typeface="ＭＳ Ｐゴシック" charset="0"/>
              </a:rPr>
              <a:t>P</a:t>
            </a:r>
            <a:r>
              <a:rPr lang="fr-FR" sz="2800" dirty="0">
                <a:latin typeface="Arial" charset="0"/>
                <a:ea typeface="ＭＳ Ｐゴシック" charset="0"/>
                <a:cs typeface="ＭＳ Ｐゴシック" charset="0"/>
              </a:rPr>
              <a:t>assing arguments: by Reference</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159</a:t>
            </a:fld>
            <a:endParaRPr lang="fr-FR" sz="1400">
              <a:solidFill>
                <a:srgbClr val="000208"/>
              </a:solidFill>
              <a:latin typeface="Times New Roman" charset="0"/>
            </a:endParaRPr>
          </a:p>
        </p:txBody>
      </p:sp>
      <p:sp>
        <p:nvSpPr>
          <p:cNvPr id="3" name="Rectangle 2"/>
          <p:cNvSpPr/>
          <p:nvPr/>
        </p:nvSpPr>
        <p:spPr>
          <a:xfrm>
            <a:off x="144016" y="764704"/>
            <a:ext cx="8784468" cy="707886"/>
          </a:xfrm>
          <a:prstGeom prst="rect">
            <a:avLst/>
          </a:prstGeom>
          <a:ln w="38100" cmpd="sng">
            <a:solidFill>
              <a:srgbClr val="FF0000"/>
            </a:solidFill>
          </a:ln>
        </p:spPr>
        <p:txBody>
          <a:bodyPr wrap="square">
            <a:spAutoFit/>
          </a:bodyPr>
          <a:lstStyle/>
          <a:p>
            <a:pPr marL="0" lvl="1" indent="0">
              <a:buSzTx/>
              <a:buNone/>
            </a:pPr>
            <a:r>
              <a:rPr lang="en-GB" sz="2000" b="1" dirty="0">
                <a:cs typeface="ＭＳ Ｐゴシック" charset="0"/>
              </a:rPr>
              <a:t>Function</a:t>
            </a:r>
            <a:r>
              <a:rPr lang="en-GB" sz="2000" dirty="0">
                <a:cs typeface="ＭＳ Ｐゴシック" charset="0"/>
              </a:rPr>
              <a:t> </a:t>
            </a:r>
            <a:r>
              <a:rPr lang="en-GB" sz="2000" b="1" dirty="0">
                <a:cs typeface="ＭＳ Ｐゴシック" charset="0"/>
              </a:rPr>
              <a:t>parameters</a:t>
            </a:r>
            <a:r>
              <a:rPr lang="en-US" sz="2000" dirty="0">
                <a:cs typeface="ＭＳ Ｐゴシック" charset="0"/>
              </a:rPr>
              <a:t>: </a:t>
            </a:r>
            <a:r>
              <a:rPr lang="en-US" sz="2000" b="1" dirty="0">
                <a:solidFill>
                  <a:srgbClr val="FF0000"/>
                </a:solidFill>
              </a:rPr>
              <a:t>LOCAL variables</a:t>
            </a:r>
            <a:r>
              <a:rPr lang="en-US" sz="2000" dirty="0"/>
              <a:t> initialized with the </a:t>
            </a:r>
            <a:r>
              <a:rPr lang="en-US" sz="2000" b="1" dirty="0">
                <a:solidFill>
                  <a:srgbClr val="FF0000"/>
                </a:solidFill>
              </a:rPr>
              <a:t>value</a:t>
            </a:r>
            <a:r>
              <a:rPr lang="en-US" sz="2000" dirty="0">
                <a:solidFill>
                  <a:srgbClr val="FF0000"/>
                </a:solidFill>
              </a:rPr>
              <a:t> </a:t>
            </a:r>
            <a:r>
              <a:rPr lang="en-US" sz="2000" dirty="0"/>
              <a:t>of the passed </a:t>
            </a:r>
            <a:r>
              <a:rPr lang="en-US" sz="2000" b="1" dirty="0">
                <a:solidFill>
                  <a:srgbClr val="FF0000"/>
                </a:solidFill>
              </a:rPr>
              <a:t>argument</a:t>
            </a:r>
            <a:r>
              <a:rPr lang="en-US" sz="2000" dirty="0">
                <a:solidFill>
                  <a:srgbClr val="FF0000"/>
                </a:solidFill>
              </a:rPr>
              <a:t> </a:t>
            </a:r>
            <a:endParaRPr lang="en-GB" sz="2000" b="1" dirty="0"/>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63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endParaRPr lang="en-US" sz="2000" b="1" dirty="0">
              <a:solidFill>
                <a:schemeClr val="tx1"/>
              </a:solidFill>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chemeClr val="accent1"/>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extLst>
              <p:ext uri="{D42A27DB-BD31-4B8C-83A1-F6EECF244321}">
                <p14:modId xmlns:p14="http://schemas.microsoft.com/office/powerpoint/2010/main" val="2232354584"/>
              </p:ext>
            </p:extLst>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972993" y="2204864"/>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160</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12900" y="3501008"/>
            <a:ext cx="1048935" cy="461665"/>
          </a:xfrm>
          <a:prstGeom prst="rect">
            <a:avLst/>
          </a:prstGeom>
        </p:spPr>
        <p:txBody>
          <a:bodyPr wrap="none">
            <a:spAutoFit/>
          </a:bodyPr>
          <a:lstStyle/>
          <a:p>
            <a:r>
              <a:rPr lang="en-US" sz="2400" dirty="0"/>
              <a:t>a = 10</a:t>
            </a:r>
          </a:p>
        </p:txBody>
      </p:sp>
      <p:sp>
        <p:nvSpPr>
          <p:cNvPr id="23" name="Rectangle 22"/>
          <p:cNvSpPr/>
          <p:nvPr/>
        </p:nvSpPr>
        <p:spPr>
          <a:xfrm>
            <a:off x="6312049" y="2528900"/>
            <a:ext cx="1716335" cy="461665"/>
          </a:xfrm>
          <a:prstGeom prst="rect">
            <a:avLst/>
          </a:prstGeom>
        </p:spPr>
        <p:txBody>
          <a:bodyPr wrap="none">
            <a:spAutoFit/>
          </a:bodyPr>
          <a:lstStyle/>
          <a:p>
            <a:r>
              <a:rPr lang="en-US" sz="2400" dirty="0"/>
              <a:t>n = 0x1000</a:t>
            </a:r>
          </a:p>
        </p:txBody>
      </p: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4" name="Rectangle 23">
            <a:extLst>
              <a:ext uri="{FF2B5EF4-FFF2-40B4-BE49-F238E27FC236}">
                <a16:creationId xmlns:a16="http://schemas.microsoft.com/office/drawing/2014/main" id="{8AEEACC9-1041-8E41-A46B-9E57B39370BA}"/>
              </a:ext>
            </a:extLst>
          </p:cNvPr>
          <p:cNvSpPr/>
          <p:nvPr/>
        </p:nvSpPr>
        <p:spPr>
          <a:xfrm>
            <a:off x="8021013" y="3501008"/>
            <a:ext cx="1211690" cy="461665"/>
          </a:xfrm>
          <a:prstGeom prst="rect">
            <a:avLst/>
          </a:prstGeom>
        </p:spPr>
        <p:txBody>
          <a:bodyPr wrap="none">
            <a:spAutoFit/>
          </a:bodyPr>
          <a:lstStyle/>
          <a:p>
            <a:r>
              <a:rPr lang="en-US" sz="2400" b="1" dirty="0"/>
              <a:t>0x1000</a:t>
            </a:r>
          </a:p>
        </p:txBody>
      </p:sp>
      <p:cxnSp>
        <p:nvCxnSpPr>
          <p:cNvPr id="25" name="Curved Connector 24">
            <a:extLst>
              <a:ext uri="{FF2B5EF4-FFF2-40B4-BE49-F238E27FC236}">
                <a16:creationId xmlns:a16="http://schemas.microsoft.com/office/drawing/2014/main" id="{76835D47-9C52-8A4F-A8A0-08C0B2B250B7}"/>
              </a:ext>
            </a:extLst>
          </p:cNvPr>
          <p:cNvCxnSpPr/>
          <p:nvPr/>
        </p:nvCxnSpPr>
        <p:spPr bwMode="auto">
          <a:xfrm>
            <a:off x="8028384" y="2759733"/>
            <a:ext cx="598474" cy="741275"/>
          </a:xfrm>
          <a:prstGeom prst="curvedConnector2">
            <a:avLst/>
          </a:prstGeom>
          <a:noFill/>
          <a:ln w="38100" cap="flat" cmpd="sng" algn="ctr">
            <a:solidFill>
              <a:schemeClr val="accent1"/>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3545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1"/>
      <p:bldP spid="24"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endParaRPr lang="en-US" sz="2000" b="1" dirty="0">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chemeClr val="accent1"/>
                </a:solidFill>
                <a:latin typeface="Courier"/>
                <a:cs typeface="Courier"/>
              </a:rPr>
              <a:t>&amp;</a:t>
            </a:r>
            <a:r>
              <a:rPr lang="en-US" sz="2000" b="1" dirty="0">
                <a:latin typeface="Courier"/>
                <a:cs typeface="Courier"/>
              </a:rPr>
              <a:t>a);</a:t>
            </a:r>
          </a:p>
          <a:p>
            <a:pPr marL="0" indent="0">
              <a:buNone/>
              <a:defRPr/>
            </a:pPr>
            <a:endParaRPr lang="en-US" sz="2000" b="1" dirty="0">
              <a:latin typeface="Courier"/>
              <a:cs typeface="Courier"/>
            </a:endParaRP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972993" y="2204864"/>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161</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24439" y="3501008"/>
            <a:ext cx="1025858" cy="461665"/>
          </a:xfrm>
          <a:prstGeom prst="rect">
            <a:avLst/>
          </a:prstGeom>
        </p:spPr>
        <p:txBody>
          <a:bodyPr wrap="none">
            <a:spAutoFit/>
          </a:bodyPr>
          <a:lstStyle/>
          <a:p>
            <a:r>
              <a:rPr lang="en-US" sz="2400" dirty="0"/>
              <a:t>a = 11</a:t>
            </a:r>
          </a:p>
        </p:txBody>
      </p:sp>
      <p:sp>
        <p:nvSpPr>
          <p:cNvPr id="23" name="Rectangle 22"/>
          <p:cNvSpPr/>
          <p:nvPr/>
        </p:nvSpPr>
        <p:spPr>
          <a:xfrm>
            <a:off x="6312049" y="2528900"/>
            <a:ext cx="1716335" cy="461665"/>
          </a:xfrm>
          <a:prstGeom prst="rect">
            <a:avLst/>
          </a:prstGeom>
        </p:spPr>
        <p:txBody>
          <a:bodyPr wrap="none">
            <a:spAutoFit/>
          </a:bodyPr>
          <a:lstStyle/>
          <a:p>
            <a:r>
              <a:rPr lang="en-US" sz="2400" dirty="0"/>
              <a:t>n = 0x1000</a:t>
            </a:r>
          </a:p>
        </p:txBody>
      </p:sp>
      <p:sp>
        <p:nvSpPr>
          <p:cNvPr id="18" name="Rectangle 17"/>
          <p:cNvSpPr/>
          <p:nvPr/>
        </p:nvSpPr>
        <p:spPr>
          <a:xfrm>
            <a:off x="8021013" y="3501008"/>
            <a:ext cx="1211690" cy="461665"/>
          </a:xfrm>
          <a:prstGeom prst="rect">
            <a:avLst/>
          </a:prstGeom>
        </p:spPr>
        <p:txBody>
          <a:bodyPr wrap="none">
            <a:spAutoFit/>
          </a:bodyPr>
          <a:lstStyle/>
          <a:p>
            <a:r>
              <a:rPr lang="en-US" sz="2400" b="1" dirty="0"/>
              <a:t>0x1000</a:t>
            </a:r>
          </a:p>
        </p:txBody>
      </p:sp>
      <p:cxnSp>
        <p:nvCxnSpPr>
          <p:cNvPr id="5" name="Curved Connector 4"/>
          <p:cNvCxnSpPr>
            <a:stCxn id="23" idx="3"/>
            <a:endCxn id="18" idx="0"/>
          </p:cNvCxnSpPr>
          <p:nvPr/>
        </p:nvCxnSpPr>
        <p:spPr bwMode="auto">
          <a:xfrm>
            <a:off x="8028384" y="2759733"/>
            <a:ext cx="598474" cy="741275"/>
          </a:xfrm>
          <a:prstGeom prst="curvedConnector2">
            <a:avLst/>
          </a:prstGeom>
          <a:noFill/>
          <a:ln w="38100" cap="flat" cmpd="sng" algn="ctr">
            <a:solidFill>
              <a:schemeClr val="accent1"/>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2811812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chemeClr val="accent1"/>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162</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24439" y="3501008"/>
            <a:ext cx="1025858" cy="461665"/>
          </a:xfrm>
          <a:prstGeom prst="rect">
            <a:avLst/>
          </a:prstGeom>
        </p:spPr>
        <p:txBody>
          <a:bodyPr wrap="none">
            <a:spAutoFit/>
          </a:bodyPr>
          <a:lstStyle/>
          <a:p>
            <a:r>
              <a:rPr lang="en-US" sz="2400" dirty="0"/>
              <a:t>a = 11</a:t>
            </a:r>
          </a:p>
        </p:txBody>
      </p:sp>
      <p:sp>
        <p:nvSpPr>
          <p:cNvPr id="18" name="Rectangle 17"/>
          <p:cNvSpPr/>
          <p:nvPr/>
        </p:nvSpPr>
        <p:spPr>
          <a:xfrm>
            <a:off x="8021013" y="3501008"/>
            <a:ext cx="1211690" cy="461665"/>
          </a:xfrm>
          <a:prstGeom prst="rect">
            <a:avLst/>
          </a:prstGeom>
        </p:spPr>
        <p:txBody>
          <a:bodyPr wrap="none">
            <a:spAutoFit/>
          </a:bodyPr>
          <a:lstStyle/>
          <a:p>
            <a:r>
              <a:rPr lang="en-US" sz="2400" b="1" dirty="0"/>
              <a:t>0x1000</a:t>
            </a:r>
          </a:p>
        </p:txBody>
      </p: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12227533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chemeClr val="accent1"/>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160872" y="1196752"/>
          <a:ext cx="1872208" cy="3276364"/>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rgbClr val="FFFFFF"/>
                    </a:solidFill>
                  </a:tcPr>
                </a:tc>
                <a:extLst>
                  <a:ext uri="{0D108BD9-81ED-4DB2-BD59-A6C34878D82A}">
                    <a16:rowId xmlns:a16="http://schemas.microsoft.com/office/drawing/2014/main" val="10000"/>
                  </a:ext>
                </a:extLst>
              </a:tr>
              <a:tr h="468052">
                <a:tc>
                  <a:txBody>
                    <a:bodyPr/>
                    <a:lstStyle/>
                    <a:p>
                      <a:endParaRPr lang="en-US" dirty="0"/>
                    </a:p>
                  </a:txBody>
                  <a:tcPr>
                    <a:solidFill>
                      <a:srgbClr val="FFFFFF"/>
                    </a:solidFill>
                  </a:tcPr>
                </a:tc>
                <a:extLst>
                  <a:ext uri="{0D108BD9-81ED-4DB2-BD59-A6C34878D82A}">
                    <a16:rowId xmlns:a16="http://schemas.microsoft.com/office/drawing/2014/main" val="10001"/>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3"/>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4"/>
                  </a:ext>
                </a:extLst>
              </a:tr>
              <a:tr h="468052">
                <a:tc>
                  <a:txBody>
                    <a:bodyPr/>
                    <a:lstStyle/>
                    <a:p>
                      <a:endParaRPr lang="en-US" dirty="0"/>
                    </a:p>
                  </a:txBody>
                  <a:tcPr>
                    <a:solidFill>
                      <a:srgbClr val="FFFFFF"/>
                    </a:solidFill>
                  </a:tcPr>
                </a:tc>
                <a:extLst>
                  <a:ext uri="{0D108BD9-81ED-4DB2-BD59-A6C34878D82A}">
                    <a16:rowId xmlns:a16="http://schemas.microsoft.com/office/drawing/2014/main" val="10005"/>
                  </a:ext>
                </a:extLst>
              </a:tr>
              <a:tr h="468052">
                <a:tc>
                  <a:txBody>
                    <a:bodyPr/>
                    <a:lstStyle/>
                    <a:p>
                      <a:endParaRPr lang="en-US" dirty="0"/>
                    </a:p>
                  </a:txBody>
                  <a:tcPr>
                    <a:solidFill>
                      <a:srgbClr val="D9D9D9"/>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6556916" y="800708"/>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163</a:t>
            </a:fld>
            <a:endParaRPr lang="fr-FR" sz="1400">
              <a:solidFill>
                <a:srgbClr val="000208"/>
              </a:solidFill>
              <a:latin typeface="Times New Roman" charset="0"/>
            </a:endParaRPr>
          </a:p>
        </p:txBody>
      </p:sp>
      <p:grpSp>
        <p:nvGrpSpPr>
          <p:cNvPr id="8" name="Group 7"/>
          <p:cNvGrpSpPr/>
          <p:nvPr/>
        </p:nvGrpSpPr>
        <p:grpSpPr>
          <a:xfrm>
            <a:off x="5116756" y="3104964"/>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413025" y="3501008"/>
            <a:ext cx="1048685" cy="461665"/>
          </a:xfrm>
          <a:prstGeom prst="rect">
            <a:avLst/>
          </a:prstGeom>
        </p:spPr>
        <p:txBody>
          <a:bodyPr wrap="none">
            <a:spAutoFit/>
          </a:bodyPr>
          <a:lstStyle/>
          <a:p>
            <a:r>
              <a:rPr lang="en-US" sz="2400" dirty="0"/>
              <a:t>a = 21</a:t>
            </a:r>
          </a:p>
        </p:txBody>
      </p:sp>
      <p:sp>
        <p:nvSpPr>
          <p:cNvPr id="18" name="Rectangle 17"/>
          <p:cNvSpPr/>
          <p:nvPr/>
        </p:nvSpPr>
        <p:spPr>
          <a:xfrm>
            <a:off x="8021013" y="3501008"/>
            <a:ext cx="1211690" cy="461665"/>
          </a:xfrm>
          <a:prstGeom prst="rect">
            <a:avLst/>
          </a:prstGeom>
        </p:spPr>
        <p:txBody>
          <a:bodyPr wrap="none">
            <a:spAutoFit/>
          </a:bodyPr>
          <a:lstStyle/>
          <a:p>
            <a:r>
              <a:rPr lang="en-US" sz="2400" b="1" dirty="0"/>
              <a:t>0x1000</a:t>
            </a:r>
          </a:p>
        </p:txBody>
      </p: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9353676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 Pointer type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251773" y="483315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164</a:t>
            </a:fld>
            <a:endParaRPr lang="fr-FR" sz="1400">
              <a:solidFill>
                <a:srgbClr val="000208"/>
              </a:solidFill>
              <a:latin typeface="Times New Roman" charset="0"/>
            </a:endParaRPr>
          </a:p>
        </p:txBody>
      </p:sp>
      <p:grpSp>
        <p:nvGrpSpPr>
          <p:cNvPr id="8" name="Group 7"/>
          <p:cNvGrpSpPr/>
          <p:nvPr/>
        </p:nvGrpSpPr>
        <p:grpSpPr>
          <a:xfrm>
            <a:off x="395536" y="573325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5" name="Rectangle 24"/>
          <p:cNvSpPr/>
          <p:nvPr/>
        </p:nvSpPr>
        <p:spPr>
          <a:xfrm>
            <a:off x="1727684" y="5193196"/>
            <a:ext cx="1026092" cy="461665"/>
          </a:xfrm>
          <a:prstGeom prst="rect">
            <a:avLst/>
          </a:prstGeom>
        </p:spPr>
        <p:txBody>
          <a:bodyPr wrap="none">
            <a:spAutoFit/>
          </a:bodyPr>
          <a:lstStyle/>
          <a:p>
            <a:r>
              <a:rPr lang="en-US" sz="2400" dirty="0"/>
              <a:t>n = 11</a:t>
            </a:r>
          </a:p>
        </p:txBody>
      </p:sp>
      <p:sp>
        <p:nvSpPr>
          <p:cNvPr id="26" name="Rectangle 25"/>
          <p:cNvSpPr/>
          <p:nvPr/>
        </p:nvSpPr>
        <p:spPr>
          <a:xfrm>
            <a:off x="1727684" y="6165304"/>
            <a:ext cx="1048935" cy="461665"/>
          </a:xfrm>
          <a:prstGeom prst="rect">
            <a:avLst/>
          </a:prstGeom>
        </p:spPr>
        <p:txBody>
          <a:bodyPr wrap="none">
            <a:spAutoFit/>
          </a:bodyPr>
          <a:lstStyle/>
          <a:p>
            <a:r>
              <a:rPr lang="en-US" sz="2400" dirty="0"/>
              <a:t>a = 20</a:t>
            </a:r>
          </a:p>
        </p:txBody>
      </p:sp>
      <p:sp>
        <p:nvSpPr>
          <p:cNvPr id="19" name="Espace réservé du contenu 2"/>
          <p:cNvSpPr txBox="1">
            <a:spLocks/>
          </p:cNvSpPr>
          <p:nvPr/>
        </p:nvSpPr>
        <p:spPr bwMode="auto">
          <a:xfrm>
            <a:off x="4932040" y="944724"/>
            <a:ext cx="3492388"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a:t>
            </a:r>
          </a:p>
          <a:p>
            <a:pPr marL="0" indent="0">
              <a:buFont typeface="Monotype Sorts" charset="0"/>
              <a:buNone/>
              <a:defRPr/>
            </a:pPr>
            <a:endParaRPr lang="en-US" sz="2000" b="1" dirty="0">
              <a:latin typeface="Courier"/>
              <a:cs typeface="Courier"/>
            </a:endParaRP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 </a:t>
            </a:r>
          </a:p>
          <a:p>
            <a:pPr marL="0" indent="0">
              <a:buFont typeface="Monotype Sorts" charse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0" name="Table 19"/>
          <p:cNvGraphicFramePr>
            <a:graphicFrameLocks noGrp="1"/>
          </p:cNvGraphicFramePr>
          <p:nvPr/>
        </p:nvGraphicFramePr>
        <p:xfrm>
          <a:off x="6156176"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grpSp>
        <p:nvGrpSpPr>
          <p:cNvPr id="22" name="Group 21"/>
          <p:cNvGrpSpPr/>
          <p:nvPr/>
        </p:nvGrpSpPr>
        <p:grpSpPr>
          <a:xfrm>
            <a:off x="4968297" y="4761148"/>
            <a:ext cx="971855" cy="756072"/>
            <a:chOff x="5472353" y="2600908"/>
            <a:chExt cx="971855" cy="756072"/>
          </a:xfrm>
        </p:grpSpPr>
        <p:cxnSp>
          <p:nvCxnSpPr>
            <p:cNvPr id="24" name="Straight Arrow Connector 23"/>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28" name="Group 27"/>
          <p:cNvGrpSpPr/>
          <p:nvPr/>
        </p:nvGrpSpPr>
        <p:grpSpPr>
          <a:xfrm>
            <a:off x="5112060" y="5661248"/>
            <a:ext cx="832788" cy="828104"/>
            <a:chOff x="5116756" y="3104964"/>
            <a:chExt cx="832788" cy="828104"/>
          </a:xfrm>
        </p:grpSpPr>
        <p:cxnSp>
          <p:nvCxnSpPr>
            <p:cNvPr id="29" name="Straight Arrow Connector 28"/>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1" name="Rectangle 30"/>
          <p:cNvSpPr/>
          <p:nvPr/>
        </p:nvSpPr>
        <p:spPr>
          <a:xfrm>
            <a:off x="6245675" y="6135687"/>
            <a:ext cx="1373994" cy="461665"/>
          </a:xfrm>
          <a:prstGeom prst="rect">
            <a:avLst/>
          </a:prstGeom>
        </p:spPr>
        <p:txBody>
          <a:bodyPr wrap="none">
            <a:spAutoFit/>
          </a:bodyPr>
          <a:lstStyle/>
          <a:p>
            <a:r>
              <a:rPr lang="en-US" sz="2400" dirty="0"/>
              <a:t>a = 0x10</a:t>
            </a:r>
          </a:p>
        </p:txBody>
      </p:sp>
      <p:sp>
        <p:nvSpPr>
          <p:cNvPr id="32" name="Rectangle 31"/>
          <p:cNvSpPr/>
          <p:nvPr/>
        </p:nvSpPr>
        <p:spPr>
          <a:xfrm>
            <a:off x="6245675" y="5199583"/>
            <a:ext cx="1373994" cy="461665"/>
          </a:xfrm>
          <a:prstGeom prst="rect">
            <a:avLst/>
          </a:prstGeom>
        </p:spPr>
        <p:txBody>
          <a:bodyPr wrap="none">
            <a:spAutoFit/>
          </a:bodyPr>
          <a:lstStyle/>
          <a:p>
            <a:r>
              <a:rPr lang="en-US" sz="2400" dirty="0"/>
              <a:t>n = 0x10</a:t>
            </a:r>
          </a:p>
        </p:txBody>
      </p:sp>
      <p:sp>
        <p:nvSpPr>
          <p:cNvPr id="35" name="TextBox 34"/>
          <p:cNvSpPr txBox="1"/>
          <p:nvPr/>
        </p:nvSpPr>
        <p:spPr>
          <a:xfrm>
            <a:off x="6624228" y="4329100"/>
            <a:ext cx="954233" cy="400110"/>
          </a:xfrm>
          <a:prstGeom prst="rect">
            <a:avLst/>
          </a:prstGeom>
          <a:noFill/>
        </p:spPr>
        <p:txBody>
          <a:bodyPr wrap="none" rtlCol="0">
            <a:spAutoFit/>
          </a:bodyPr>
          <a:lstStyle/>
          <a:p>
            <a:r>
              <a:rPr lang="en-US" sz="2000" b="1" dirty="0">
                <a:latin typeface="Courier"/>
                <a:cs typeface="Courier"/>
              </a:rPr>
              <a:t>stack</a:t>
            </a:r>
          </a:p>
        </p:txBody>
      </p:sp>
      <p:cxnSp>
        <p:nvCxnSpPr>
          <p:cNvPr id="5" name="Straight Connector 4"/>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Connector 35"/>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 name="Espace réservé du pied de page 3">
            <a:extLst>
              <a:ext uri="{FF2B5EF4-FFF2-40B4-BE49-F238E27FC236}">
                <a16:creationId xmlns:a16="http://schemas.microsoft.com/office/drawing/2014/main" id="{E263FFF3-002A-36E8-2B46-3C0E4DDB5E89}"/>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72615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5"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 Pointer type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extLst>
              <p:ext uri="{D42A27DB-BD31-4B8C-83A1-F6EECF244321}">
                <p14:modId xmlns:p14="http://schemas.microsoft.com/office/powerpoint/2010/main" val="3491230172"/>
              </p:ext>
            </p:extLst>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251773" y="483315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165</a:t>
            </a:fld>
            <a:endParaRPr lang="fr-FR" sz="1400">
              <a:solidFill>
                <a:srgbClr val="000208"/>
              </a:solidFill>
              <a:latin typeface="Times New Roman" charset="0"/>
            </a:endParaRPr>
          </a:p>
        </p:txBody>
      </p:sp>
      <p:grpSp>
        <p:nvGrpSpPr>
          <p:cNvPr id="8" name="Group 7"/>
          <p:cNvGrpSpPr/>
          <p:nvPr/>
        </p:nvGrpSpPr>
        <p:grpSpPr>
          <a:xfrm>
            <a:off x="395536" y="573325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5" name="Rectangle 24"/>
          <p:cNvSpPr/>
          <p:nvPr/>
        </p:nvSpPr>
        <p:spPr>
          <a:xfrm>
            <a:off x="1727684" y="5193196"/>
            <a:ext cx="1026092" cy="461665"/>
          </a:xfrm>
          <a:prstGeom prst="rect">
            <a:avLst/>
          </a:prstGeom>
        </p:spPr>
        <p:txBody>
          <a:bodyPr wrap="none">
            <a:spAutoFit/>
          </a:bodyPr>
          <a:lstStyle/>
          <a:p>
            <a:r>
              <a:rPr lang="en-US" sz="2400" dirty="0"/>
              <a:t>n = 11</a:t>
            </a:r>
          </a:p>
        </p:txBody>
      </p:sp>
      <p:sp>
        <p:nvSpPr>
          <p:cNvPr id="26" name="Rectangle 25"/>
          <p:cNvSpPr/>
          <p:nvPr/>
        </p:nvSpPr>
        <p:spPr>
          <a:xfrm>
            <a:off x="1727684" y="6165304"/>
            <a:ext cx="1048935" cy="461665"/>
          </a:xfrm>
          <a:prstGeom prst="rect">
            <a:avLst/>
          </a:prstGeom>
        </p:spPr>
        <p:txBody>
          <a:bodyPr wrap="none">
            <a:spAutoFit/>
          </a:bodyPr>
          <a:lstStyle/>
          <a:p>
            <a:r>
              <a:rPr lang="en-US" sz="2400" dirty="0"/>
              <a:t>a = 20</a:t>
            </a:r>
          </a:p>
        </p:txBody>
      </p:sp>
      <p:sp>
        <p:nvSpPr>
          <p:cNvPr id="19" name="Espace réservé du contenu 2"/>
          <p:cNvSpPr txBox="1">
            <a:spLocks/>
          </p:cNvSpPr>
          <p:nvPr/>
        </p:nvSpPr>
        <p:spPr bwMode="auto">
          <a:xfrm>
            <a:off x="4932040" y="944724"/>
            <a:ext cx="3492388"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n++;</a:t>
            </a:r>
          </a:p>
          <a:p>
            <a:pPr marL="0" indent="0">
              <a:buFont typeface="Monotype Sorts" charset="0"/>
              <a:buNone/>
              <a:defRPr/>
            </a:pPr>
            <a:endParaRPr lang="en-US" sz="2000" b="1" dirty="0">
              <a:latin typeface="Courier"/>
              <a:cs typeface="Courier"/>
            </a:endParaRP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0" name="Table 19"/>
          <p:cNvGraphicFramePr>
            <a:graphicFrameLocks noGrp="1"/>
          </p:cNvGraphicFramePr>
          <p:nvPr>
            <p:extLst>
              <p:ext uri="{D42A27DB-BD31-4B8C-83A1-F6EECF244321}">
                <p14:modId xmlns:p14="http://schemas.microsoft.com/office/powerpoint/2010/main" val="3589476659"/>
              </p:ext>
            </p:extLst>
          </p:nvPr>
        </p:nvGraphicFramePr>
        <p:xfrm>
          <a:off x="6156176"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grpSp>
        <p:nvGrpSpPr>
          <p:cNvPr id="22" name="Group 21"/>
          <p:cNvGrpSpPr/>
          <p:nvPr/>
        </p:nvGrpSpPr>
        <p:grpSpPr>
          <a:xfrm>
            <a:off x="4968297" y="4761148"/>
            <a:ext cx="971855" cy="756072"/>
            <a:chOff x="5472353" y="2600908"/>
            <a:chExt cx="971855" cy="756072"/>
          </a:xfrm>
        </p:grpSpPr>
        <p:cxnSp>
          <p:nvCxnSpPr>
            <p:cNvPr id="24" name="Straight Arrow Connector 23"/>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28" name="Group 27"/>
          <p:cNvGrpSpPr/>
          <p:nvPr/>
        </p:nvGrpSpPr>
        <p:grpSpPr>
          <a:xfrm>
            <a:off x="5112060" y="5661248"/>
            <a:ext cx="832788" cy="828104"/>
            <a:chOff x="5116756" y="3104964"/>
            <a:chExt cx="832788" cy="828104"/>
          </a:xfrm>
        </p:grpSpPr>
        <p:cxnSp>
          <p:nvCxnSpPr>
            <p:cNvPr id="29" name="Straight Arrow Connector 28"/>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1" name="Rectangle 30"/>
          <p:cNvSpPr/>
          <p:nvPr/>
        </p:nvSpPr>
        <p:spPr>
          <a:xfrm>
            <a:off x="6245675" y="6135687"/>
            <a:ext cx="1373994" cy="461665"/>
          </a:xfrm>
          <a:prstGeom prst="rect">
            <a:avLst/>
          </a:prstGeom>
        </p:spPr>
        <p:txBody>
          <a:bodyPr wrap="none">
            <a:spAutoFit/>
          </a:bodyPr>
          <a:lstStyle/>
          <a:p>
            <a:r>
              <a:rPr lang="en-US" sz="2400" dirty="0"/>
              <a:t>a = 0x10</a:t>
            </a:r>
          </a:p>
        </p:txBody>
      </p:sp>
      <p:sp>
        <p:nvSpPr>
          <p:cNvPr id="33" name="Rectangle 32"/>
          <p:cNvSpPr/>
          <p:nvPr/>
        </p:nvSpPr>
        <p:spPr>
          <a:xfrm>
            <a:off x="6283464" y="5214745"/>
            <a:ext cx="1374094" cy="461665"/>
          </a:xfrm>
          <a:prstGeom prst="rect">
            <a:avLst/>
          </a:prstGeom>
        </p:spPr>
        <p:txBody>
          <a:bodyPr wrap="none">
            <a:spAutoFit/>
          </a:bodyPr>
          <a:lstStyle/>
          <a:p>
            <a:r>
              <a:rPr lang="en-US" sz="2400" dirty="0"/>
              <a:t>n = 0x14</a:t>
            </a:r>
          </a:p>
        </p:txBody>
      </p:sp>
      <p:sp>
        <p:nvSpPr>
          <p:cNvPr id="35" name="TextBox 34"/>
          <p:cNvSpPr txBox="1"/>
          <p:nvPr/>
        </p:nvSpPr>
        <p:spPr>
          <a:xfrm>
            <a:off x="6624228" y="4329100"/>
            <a:ext cx="954233" cy="400110"/>
          </a:xfrm>
          <a:prstGeom prst="rect">
            <a:avLst/>
          </a:prstGeom>
          <a:noFill/>
        </p:spPr>
        <p:txBody>
          <a:bodyPr wrap="none" rtlCol="0">
            <a:spAutoFit/>
          </a:bodyPr>
          <a:lstStyle/>
          <a:p>
            <a:r>
              <a:rPr lang="en-US" sz="2000" b="1" dirty="0">
                <a:latin typeface="Courier"/>
                <a:cs typeface="Courier"/>
              </a:rPr>
              <a:t>stack</a:t>
            </a:r>
          </a:p>
        </p:txBody>
      </p:sp>
      <p:cxnSp>
        <p:nvCxnSpPr>
          <p:cNvPr id="5" name="Straight Connector 4"/>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Connector 35"/>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 name="Espace réservé du pied de page 3">
            <a:extLst>
              <a:ext uri="{FF2B5EF4-FFF2-40B4-BE49-F238E27FC236}">
                <a16:creationId xmlns:a16="http://schemas.microsoft.com/office/drawing/2014/main" id="{CC4675D2-8498-5A0A-DA02-A832F9429736}"/>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92575932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 Pointer type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251773" y="483315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166</a:t>
            </a:fld>
            <a:endParaRPr lang="fr-FR" sz="1400">
              <a:solidFill>
                <a:srgbClr val="000208"/>
              </a:solidFill>
              <a:latin typeface="Times New Roman" charset="0"/>
            </a:endParaRPr>
          </a:p>
        </p:txBody>
      </p:sp>
      <p:grpSp>
        <p:nvGrpSpPr>
          <p:cNvPr id="8" name="Group 7"/>
          <p:cNvGrpSpPr/>
          <p:nvPr/>
        </p:nvGrpSpPr>
        <p:grpSpPr>
          <a:xfrm>
            <a:off x="395536" y="573325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5" name="Rectangle 24"/>
          <p:cNvSpPr/>
          <p:nvPr/>
        </p:nvSpPr>
        <p:spPr>
          <a:xfrm>
            <a:off x="1727684" y="5193196"/>
            <a:ext cx="1026092" cy="461665"/>
          </a:xfrm>
          <a:prstGeom prst="rect">
            <a:avLst/>
          </a:prstGeom>
        </p:spPr>
        <p:txBody>
          <a:bodyPr wrap="none">
            <a:spAutoFit/>
          </a:bodyPr>
          <a:lstStyle/>
          <a:p>
            <a:r>
              <a:rPr lang="en-US" sz="2400" dirty="0"/>
              <a:t>n = 11</a:t>
            </a:r>
          </a:p>
        </p:txBody>
      </p:sp>
      <p:sp>
        <p:nvSpPr>
          <p:cNvPr id="26" name="Rectangle 25"/>
          <p:cNvSpPr/>
          <p:nvPr/>
        </p:nvSpPr>
        <p:spPr>
          <a:xfrm>
            <a:off x="1727684" y="6165304"/>
            <a:ext cx="1048935" cy="461665"/>
          </a:xfrm>
          <a:prstGeom prst="rect">
            <a:avLst/>
          </a:prstGeom>
        </p:spPr>
        <p:txBody>
          <a:bodyPr wrap="none">
            <a:spAutoFit/>
          </a:bodyPr>
          <a:lstStyle/>
          <a:p>
            <a:r>
              <a:rPr lang="en-US" sz="2400" dirty="0"/>
              <a:t>a = 20</a:t>
            </a:r>
          </a:p>
        </p:txBody>
      </p:sp>
      <p:sp>
        <p:nvSpPr>
          <p:cNvPr id="19" name="Espace réservé du contenu 2"/>
          <p:cNvSpPr txBox="1">
            <a:spLocks/>
          </p:cNvSpPr>
          <p:nvPr/>
        </p:nvSpPr>
        <p:spPr bwMode="auto">
          <a:xfrm>
            <a:off x="4932040" y="944724"/>
            <a:ext cx="3492388"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0" name="Table 19"/>
          <p:cNvGraphicFramePr>
            <a:graphicFrameLocks noGrp="1"/>
          </p:cNvGraphicFramePr>
          <p:nvPr/>
        </p:nvGraphicFramePr>
        <p:xfrm>
          <a:off x="6156176"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grpSp>
        <p:nvGrpSpPr>
          <p:cNvPr id="28" name="Group 27"/>
          <p:cNvGrpSpPr/>
          <p:nvPr/>
        </p:nvGrpSpPr>
        <p:grpSpPr>
          <a:xfrm>
            <a:off x="5112060" y="5661248"/>
            <a:ext cx="832788" cy="828104"/>
            <a:chOff x="5116756" y="3104964"/>
            <a:chExt cx="832788" cy="828104"/>
          </a:xfrm>
        </p:grpSpPr>
        <p:cxnSp>
          <p:nvCxnSpPr>
            <p:cNvPr id="29" name="Straight Arrow Connector 28"/>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1" name="Rectangle 30"/>
          <p:cNvSpPr/>
          <p:nvPr/>
        </p:nvSpPr>
        <p:spPr>
          <a:xfrm>
            <a:off x="6245675" y="6135687"/>
            <a:ext cx="1373994" cy="461665"/>
          </a:xfrm>
          <a:prstGeom prst="rect">
            <a:avLst/>
          </a:prstGeom>
        </p:spPr>
        <p:txBody>
          <a:bodyPr wrap="none">
            <a:spAutoFit/>
          </a:bodyPr>
          <a:lstStyle/>
          <a:p>
            <a:r>
              <a:rPr lang="en-US" sz="2400" dirty="0"/>
              <a:t>a = 0x10</a:t>
            </a:r>
          </a:p>
        </p:txBody>
      </p:sp>
      <p:sp>
        <p:nvSpPr>
          <p:cNvPr id="35" name="TextBox 34"/>
          <p:cNvSpPr txBox="1"/>
          <p:nvPr/>
        </p:nvSpPr>
        <p:spPr>
          <a:xfrm>
            <a:off x="6624228" y="4329100"/>
            <a:ext cx="954233" cy="400110"/>
          </a:xfrm>
          <a:prstGeom prst="rect">
            <a:avLst/>
          </a:prstGeom>
          <a:noFill/>
        </p:spPr>
        <p:txBody>
          <a:bodyPr wrap="none" rtlCol="0">
            <a:spAutoFit/>
          </a:bodyPr>
          <a:lstStyle/>
          <a:p>
            <a:r>
              <a:rPr lang="en-US" sz="2000" b="1" dirty="0">
                <a:latin typeface="Courier"/>
                <a:cs typeface="Courier"/>
              </a:rPr>
              <a:t>stack</a:t>
            </a:r>
          </a:p>
        </p:txBody>
      </p:sp>
      <p:cxnSp>
        <p:nvCxnSpPr>
          <p:cNvPr id="5" name="Straight Connector 4"/>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Connector 35"/>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 name="Espace réservé du pied de page 3">
            <a:extLst>
              <a:ext uri="{FF2B5EF4-FFF2-40B4-BE49-F238E27FC236}">
                <a16:creationId xmlns:a16="http://schemas.microsoft.com/office/drawing/2014/main" id="{99A94BD5-9CD1-3091-A261-855286E08DB2}"/>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89664981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value: Pointer type</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457200" y="914400"/>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None/>
              <a:defRPr/>
            </a:pPr>
            <a:r>
              <a:rPr lang="en-US" sz="2000" b="1" dirty="0">
                <a:solidFill>
                  <a:schemeClr val="tx1"/>
                </a:solidFill>
                <a:latin typeface="Courier"/>
                <a:cs typeface="Courier"/>
              </a:rPr>
              <a:t>	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None/>
              <a:defRPr/>
            </a:pPr>
            <a:r>
              <a:rPr lang="en-US" sz="2000" b="1" dirty="0">
                <a:latin typeface="Courier"/>
                <a:cs typeface="Courier"/>
              </a:rPr>
              <a:t>	a = a + 10;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251773" y="483315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167</a:t>
            </a:fld>
            <a:endParaRPr lang="fr-FR" sz="1400">
              <a:solidFill>
                <a:srgbClr val="000208"/>
              </a:solidFill>
              <a:latin typeface="Times New Roman" charset="0"/>
            </a:endParaRPr>
          </a:p>
        </p:txBody>
      </p:sp>
      <p:grpSp>
        <p:nvGrpSpPr>
          <p:cNvPr id="8" name="Group 7"/>
          <p:cNvGrpSpPr/>
          <p:nvPr/>
        </p:nvGrpSpPr>
        <p:grpSpPr>
          <a:xfrm>
            <a:off x="395536" y="573325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5" name="Rectangle 24"/>
          <p:cNvSpPr/>
          <p:nvPr/>
        </p:nvSpPr>
        <p:spPr>
          <a:xfrm>
            <a:off x="1727684" y="5193196"/>
            <a:ext cx="1026092" cy="461665"/>
          </a:xfrm>
          <a:prstGeom prst="rect">
            <a:avLst/>
          </a:prstGeom>
        </p:spPr>
        <p:txBody>
          <a:bodyPr wrap="none">
            <a:spAutoFit/>
          </a:bodyPr>
          <a:lstStyle/>
          <a:p>
            <a:r>
              <a:rPr lang="en-US" sz="2400" dirty="0"/>
              <a:t>n = 11</a:t>
            </a:r>
          </a:p>
        </p:txBody>
      </p:sp>
      <p:sp>
        <p:nvSpPr>
          <p:cNvPr id="26" name="Rectangle 25"/>
          <p:cNvSpPr/>
          <p:nvPr/>
        </p:nvSpPr>
        <p:spPr>
          <a:xfrm>
            <a:off x="1727684" y="6165304"/>
            <a:ext cx="1048935" cy="461665"/>
          </a:xfrm>
          <a:prstGeom prst="rect">
            <a:avLst/>
          </a:prstGeom>
        </p:spPr>
        <p:txBody>
          <a:bodyPr wrap="none">
            <a:spAutoFit/>
          </a:bodyPr>
          <a:lstStyle/>
          <a:p>
            <a:r>
              <a:rPr lang="en-US" sz="2400" dirty="0"/>
              <a:t>a = 20</a:t>
            </a:r>
          </a:p>
        </p:txBody>
      </p:sp>
      <p:sp>
        <p:nvSpPr>
          <p:cNvPr id="19" name="Espace réservé du contenu 2"/>
          <p:cNvSpPr txBox="1">
            <a:spLocks/>
          </p:cNvSpPr>
          <p:nvPr/>
        </p:nvSpPr>
        <p:spPr bwMode="auto">
          <a:xfrm>
            <a:off x="4932040" y="944724"/>
            <a:ext cx="3492388"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a:t>
            </a:r>
          </a:p>
          <a:p>
            <a:pPr marL="0" indent="0">
              <a:buFont typeface="Monotype Sorts" charset="0"/>
              <a:buNone/>
              <a:defRPr/>
            </a:pPr>
            <a:r>
              <a:rPr lang="en-US" sz="2000" b="1" dirty="0">
                <a:latin typeface="Courier"/>
                <a:cs typeface="Courier"/>
              </a:rPr>
              <a:t>	a = a + 0x10;</a:t>
            </a:r>
          </a:p>
          <a:p>
            <a:pPr marL="0" indent="0">
              <a:buFont typeface="Monotype Sorts" charset="0"/>
              <a:buNone/>
              <a:defRPr/>
            </a:pPr>
            <a:r>
              <a:rPr lang="en-US" sz="2000" dirty="0">
                <a:latin typeface="Courier"/>
                <a:cs typeface="Courier"/>
              </a:rPr>
              <a:t>}</a:t>
            </a:r>
          </a:p>
        </p:txBody>
      </p:sp>
      <p:graphicFrame>
        <p:nvGraphicFramePr>
          <p:cNvPr id="20" name="Table 19"/>
          <p:cNvGraphicFramePr>
            <a:graphicFrameLocks noGrp="1"/>
          </p:cNvGraphicFramePr>
          <p:nvPr/>
        </p:nvGraphicFramePr>
        <p:xfrm>
          <a:off x="6156176"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grpSp>
        <p:nvGrpSpPr>
          <p:cNvPr id="28" name="Group 27"/>
          <p:cNvGrpSpPr/>
          <p:nvPr/>
        </p:nvGrpSpPr>
        <p:grpSpPr>
          <a:xfrm>
            <a:off x="5112060" y="5661248"/>
            <a:ext cx="832788" cy="828104"/>
            <a:chOff x="5116756" y="3104964"/>
            <a:chExt cx="832788" cy="828104"/>
          </a:xfrm>
        </p:grpSpPr>
        <p:cxnSp>
          <p:nvCxnSpPr>
            <p:cNvPr id="29" name="Straight Arrow Connector 28"/>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1" name="Rectangle 30"/>
          <p:cNvSpPr/>
          <p:nvPr/>
        </p:nvSpPr>
        <p:spPr>
          <a:xfrm>
            <a:off x="6245625" y="6135687"/>
            <a:ext cx="1374094" cy="461665"/>
          </a:xfrm>
          <a:prstGeom prst="rect">
            <a:avLst/>
          </a:prstGeom>
        </p:spPr>
        <p:txBody>
          <a:bodyPr wrap="none">
            <a:spAutoFit/>
          </a:bodyPr>
          <a:lstStyle/>
          <a:p>
            <a:r>
              <a:rPr lang="en-US" sz="2400" dirty="0"/>
              <a:t>a = 0x20</a:t>
            </a:r>
          </a:p>
        </p:txBody>
      </p:sp>
      <p:sp>
        <p:nvSpPr>
          <p:cNvPr id="35" name="TextBox 34"/>
          <p:cNvSpPr txBox="1"/>
          <p:nvPr/>
        </p:nvSpPr>
        <p:spPr>
          <a:xfrm>
            <a:off x="6624228" y="4329100"/>
            <a:ext cx="954233" cy="400110"/>
          </a:xfrm>
          <a:prstGeom prst="rect">
            <a:avLst/>
          </a:prstGeom>
          <a:noFill/>
        </p:spPr>
        <p:txBody>
          <a:bodyPr wrap="none" rtlCol="0">
            <a:spAutoFit/>
          </a:bodyPr>
          <a:lstStyle/>
          <a:p>
            <a:r>
              <a:rPr lang="en-US" sz="2000" b="1" dirty="0">
                <a:latin typeface="Courier"/>
                <a:cs typeface="Courier"/>
              </a:rPr>
              <a:t>stack</a:t>
            </a:r>
          </a:p>
        </p:txBody>
      </p:sp>
      <p:cxnSp>
        <p:nvCxnSpPr>
          <p:cNvPr id="5" name="Straight Connector 4"/>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Connector 35"/>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 name="Espace réservé du pied de page 3">
            <a:extLst>
              <a:ext uri="{FF2B5EF4-FFF2-40B4-BE49-F238E27FC236}">
                <a16:creationId xmlns:a16="http://schemas.microsoft.com/office/drawing/2014/main" id="{E6098DC4-EC4F-1CB8-F1EA-95184248DD11}"/>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44806365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r>
              <a:rPr lang="fr-FR" sz="2800" dirty="0">
                <a:latin typeface="Arial" charset="0"/>
                <a:cs typeface="ＭＳ Ｐゴシック" charset="0"/>
              </a:rPr>
              <a:t>: Pointer</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5569768" y="800708"/>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endParaRPr lang="en-US" sz="2000" b="1" dirty="0">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extLst>
              <p:ext uri="{D42A27DB-BD31-4B8C-83A1-F6EECF244321}">
                <p14:modId xmlns:p14="http://schemas.microsoft.com/office/powerpoint/2010/main" val="3163284153"/>
              </p:ext>
            </p:extLst>
          </p:nvPr>
        </p:nvGraphicFramePr>
        <p:xfrm>
          <a:off x="6064777" y="440110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600141" y="3969060"/>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876898" y="447311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168</a:t>
            </a:fld>
            <a:endParaRPr lang="fr-FR" sz="1400">
              <a:solidFill>
                <a:srgbClr val="000208"/>
              </a:solidFill>
              <a:latin typeface="Times New Roman" charset="0"/>
            </a:endParaRPr>
          </a:p>
        </p:txBody>
      </p:sp>
      <p:grpSp>
        <p:nvGrpSpPr>
          <p:cNvPr id="8" name="Group 7"/>
          <p:cNvGrpSpPr/>
          <p:nvPr/>
        </p:nvGrpSpPr>
        <p:grpSpPr>
          <a:xfrm>
            <a:off x="5020661" y="537321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154276" y="5769260"/>
            <a:ext cx="1373994" cy="461665"/>
          </a:xfrm>
          <a:prstGeom prst="rect">
            <a:avLst/>
          </a:prstGeom>
        </p:spPr>
        <p:txBody>
          <a:bodyPr wrap="none">
            <a:spAutoFit/>
          </a:bodyPr>
          <a:lstStyle/>
          <a:p>
            <a:r>
              <a:rPr lang="en-US" sz="2400" dirty="0"/>
              <a:t>a = 0x10</a:t>
            </a:r>
          </a:p>
        </p:txBody>
      </p:sp>
      <p:sp>
        <p:nvSpPr>
          <p:cNvPr id="23" name="Rectangle 22"/>
          <p:cNvSpPr/>
          <p:nvPr/>
        </p:nvSpPr>
        <p:spPr>
          <a:xfrm>
            <a:off x="6215954" y="4797152"/>
            <a:ext cx="1716335" cy="461665"/>
          </a:xfrm>
          <a:prstGeom prst="rect">
            <a:avLst/>
          </a:prstGeom>
        </p:spPr>
        <p:txBody>
          <a:bodyPr wrap="none">
            <a:spAutoFit/>
          </a:bodyPr>
          <a:lstStyle/>
          <a:p>
            <a:r>
              <a:rPr lang="en-US" sz="2400" dirty="0"/>
              <a:t>n = 0x1000</a:t>
            </a:r>
          </a:p>
        </p:txBody>
      </p:sp>
      <p:sp>
        <p:nvSpPr>
          <p:cNvPr id="18" name="Rectangle 17"/>
          <p:cNvSpPr/>
          <p:nvPr/>
        </p:nvSpPr>
        <p:spPr>
          <a:xfrm>
            <a:off x="7924918" y="5769260"/>
            <a:ext cx="1211690" cy="461665"/>
          </a:xfrm>
          <a:prstGeom prst="rect">
            <a:avLst/>
          </a:prstGeom>
        </p:spPr>
        <p:txBody>
          <a:bodyPr wrap="none">
            <a:spAutoFit/>
          </a:bodyPr>
          <a:lstStyle/>
          <a:p>
            <a:r>
              <a:rPr lang="en-US" sz="2400" b="1" dirty="0"/>
              <a:t>0x1000</a:t>
            </a:r>
          </a:p>
        </p:txBody>
      </p:sp>
      <p:cxnSp>
        <p:nvCxnSpPr>
          <p:cNvPr id="5" name="Curved Connector 4"/>
          <p:cNvCxnSpPr>
            <a:stCxn id="23" idx="3"/>
            <a:endCxn id="18" idx="0"/>
          </p:cNvCxnSpPr>
          <p:nvPr/>
        </p:nvCxnSpPr>
        <p:spPr bwMode="auto">
          <a:xfrm>
            <a:off x="7932289" y="5027985"/>
            <a:ext cx="598474" cy="741275"/>
          </a:xfrm>
          <a:prstGeom prst="curvedConnector2">
            <a:avLst/>
          </a:prstGeom>
          <a:noFill/>
          <a:ln w="38100" cap="flat" cmpd="sng" algn="ctr">
            <a:solidFill>
              <a:schemeClr val="accent1"/>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4" name="Espace réservé du contenu 2"/>
          <p:cNvSpPr txBox="1">
            <a:spLocks/>
          </p:cNvSpPr>
          <p:nvPr/>
        </p:nvSpPr>
        <p:spPr bwMode="auto">
          <a:xfrm>
            <a:off x="457200" y="914400"/>
            <a:ext cx="4978896"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 </a:t>
            </a:r>
          </a:p>
          <a:p>
            <a:pPr marL="0" indent="0">
              <a:buFont typeface="Monotype Sorts" charset="0"/>
              <a:buNone/>
              <a:defRPr/>
            </a:pPr>
            <a:r>
              <a:rPr lang="en-US" sz="2000" b="1" dirty="0">
                <a:solidFill>
                  <a:srgbClr val="FF0000"/>
                </a:solidFill>
                <a:latin typeface="Courier"/>
                <a:cs typeface="Courier"/>
              </a:rPr>
              <a:t>	int</a:t>
            </a:r>
            <a:r>
              <a:rPr lang="en-US" sz="2000" b="1" dirty="0">
                <a:latin typeface="Courier"/>
                <a:cs typeface="Courier"/>
              </a:rPr>
              <a:t> a=10;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Font typeface="Monotype Sorts" charset="0"/>
              <a:buNone/>
              <a:defRPr/>
            </a:pPr>
            <a:r>
              <a:rPr lang="en-US" sz="2000" b="1" dirty="0">
                <a:latin typeface="Courier"/>
                <a:cs typeface="Courier"/>
              </a:rPr>
              <a:t>	a = a + 10;</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5" name="Table 24"/>
          <p:cNvGraphicFramePr>
            <a:graphicFrameLocks noGrp="1"/>
          </p:cNvGraphicFramePr>
          <p:nvPr>
            <p:extLst>
              <p:ext uri="{D42A27DB-BD31-4B8C-83A1-F6EECF244321}">
                <p14:modId xmlns:p14="http://schemas.microsoft.com/office/powerpoint/2010/main" val="2095801318"/>
              </p:ext>
            </p:extLst>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27" name="TextBox 26"/>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28" name="Group 27"/>
          <p:cNvGrpSpPr/>
          <p:nvPr/>
        </p:nvGrpSpPr>
        <p:grpSpPr>
          <a:xfrm>
            <a:off x="251773" y="4833156"/>
            <a:ext cx="971855" cy="756072"/>
            <a:chOff x="5472353" y="2600908"/>
            <a:chExt cx="971855" cy="756072"/>
          </a:xfrm>
        </p:grpSpPr>
        <p:cxnSp>
          <p:nvCxnSpPr>
            <p:cNvPr id="29" name="Straight Arrow Connector 28"/>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31" name="Group 30"/>
          <p:cNvGrpSpPr/>
          <p:nvPr/>
        </p:nvGrpSpPr>
        <p:grpSpPr>
          <a:xfrm>
            <a:off x="395536" y="5733256"/>
            <a:ext cx="832788" cy="828104"/>
            <a:chOff x="5116756" y="3104964"/>
            <a:chExt cx="832788" cy="828104"/>
          </a:xfrm>
        </p:grpSpPr>
        <p:cxnSp>
          <p:nvCxnSpPr>
            <p:cNvPr id="32" name="Straight Arrow Connector 3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Box 32"/>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4" name="Rectangle 33"/>
          <p:cNvSpPr/>
          <p:nvPr/>
        </p:nvSpPr>
        <p:spPr>
          <a:xfrm>
            <a:off x="1382564" y="5193196"/>
            <a:ext cx="1716335" cy="461665"/>
          </a:xfrm>
          <a:prstGeom prst="rect">
            <a:avLst/>
          </a:prstGeom>
        </p:spPr>
        <p:txBody>
          <a:bodyPr wrap="none">
            <a:spAutoFit/>
          </a:bodyPr>
          <a:lstStyle/>
          <a:p>
            <a:r>
              <a:rPr lang="en-US" sz="2400" dirty="0"/>
              <a:t>n = 0x1000</a:t>
            </a:r>
          </a:p>
        </p:txBody>
      </p:sp>
      <p:sp>
        <p:nvSpPr>
          <p:cNvPr id="35" name="Rectangle 34"/>
          <p:cNvSpPr/>
          <p:nvPr/>
        </p:nvSpPr>
        <p:spPr>
          <a:xfrm>
            <a:off x="1727684" y="6165304"/>
            <a:ext cx="1048935" cy="461665"/>
          </a:xfrm>
          <a:prstGeom prst="rect">
            <a:avLst/>
          </a:prstGeom>
        </p:spPr>
        <p:txBody>
          <a:bodyPr wrap="none">
            <a:spAutoFit/>
          </a:bodyPr>
          <a:lstStyle/>
          <a:p>
            <a:r>
              <a:rPr lang="en-US" sz="2400" dirty="0"/>
              <a:t>a = 21</a:t>
            </a:r>
          </a:p>
        </p:txBody>
      </p:sp>
      <p:cxnSp>
        <p:nvCxnSpPr>
          <p:cNvPr id="36" name="Straight Connector 35"/>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Straight Connector 36"/>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1265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1"/>
      <p:bldP spid="23" grpId="0"/>
      <p:bldP spid="18"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r>
              <a:rPr lang="fr-FR" sz="2800" dirty="0">
                <a:latin typeface="Arial" charset="0"/>
                <a:cs typeface="ＭＳ Ｐゴシック" charset="0"/>
              </a:rPr>
              <a:t>: Pointer</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5569768" y="800708"/>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endParaRPr lang="en-US" sz="2000" b="1" dirty="0">
              <a:latin typeface="Courier"/>
              <a:cs typeface="Courier"/>
            </a:endParaRP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064777" y="440110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600141" y="3969060"/>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7" name="Group 6"/>
          <p:cNvGrpSpPr/>
          <p:nvPr/>
        </p:nvGrpSpPr>
        <p:grpSpPr>
          <a:xfrm>
            <a:off x="4876898" y="4473116"/>
            <a:ext cx="971855" cy="756072"/>
            <a:chOff x="5472353" y="2600908"/>
            <a:chExt cx="971855" cy="756072"/>
          </a:xfrm>
        </p:grpSpPr>
        <p:cxnSp>
          <p:nvCxnSpPr>
            <p:cNvPr id="11" name="Straight Arrow Connector 10"/>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TextBox 1"/>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169</a:t>
            </a:fld>
            <a:endParaRPr lang="fr-FR" sz="1400">
              <a:solidFill>
                <a:srgbClr val="000208"/>
              </a:solidFill>
              <a:latin typeface="Times New Roman" charset="0"/>
            </a:endParaRPr>
          </a:p>
        </p:txBody>
      </p:sp>
      <p:grpSp>
        <p:nvGrpSpPr>
          <p:cNvPr id="8" name="Group 7"/>
          <p:cNvGrpSpPr/>
          <p:nvPr/>
        </p:nvGrpSpPr>
        <p:grpSpPr>
          <a:xfrm>
            <a:off x="5020661" y="537321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154226" y="5769260"/>
            <a:ext cx="1374094" cy="461665"/>
          </a:xfrm>
          <a:prstGeom prst="rect">
            <a:avLst/>
          </a:prstGeom>
        </p:spPr>
        <p:txBody>
          <a:bodyPr wrap="none">
            <a:spAutoFit/>
          </a:bodyPr>
          <a:lstStyle/>
          <a:p>
            <a:r>
              <a:rPr lang="en-US" sz="2400" dirty="0"/>
              <a:t>a = 0x14</a:t>
            </a:r>
          </a:p>
        </p:txBody>
      </p:sp>
      <p:sp>
        <p:nvSpPr>
          <p:cNvPr id="23" name="Rectangle 22"/>
          <p:cNvSpPr/>
          <p:nvPr/>
        </p:nvSpPr>
        <p:spPr>
          <a:xfrm>
            <a:off x="6215954" y="4797152"/>
            <a:ext cx="1716335" cy="461665"/>
          </a:xfrm>
          <a:prstGeom prst="rect">
            <a:avLst/>
          </a:prstGeom>
        </p:spPr>
        <p:txBody>
          <a:bodyPr wrap="none">
            <a:spAutoFit/>
          </a:bodyPr>
          <a:lstStyle/>
          <a:p>
            <a:r>
              <a:rPr lang="en-US" sz="2400" dirty="0"/>
              <a:t>n = 0x1000</a:t>
            </a:r>
          </a:p>
        </p:txBody>
      </p:sp>
      <p:sp>
        <p:nvSpPr>
          <p:cNvPr id="18" name="Rectangle 17"/>
          <p:cNvSpPr/>
          <p:nvPr/>
        </p:nvSpPr>
        <p:spPr>
          <a:xfrm>
            <a:off x="7924918" y="5769260"/>
            <a:ext cx="1211690" cy="461665"/>
          </a:xfrm>
          <a:prstGeom prst="rect">
            <a:avLst/>
          </a:prstGeom>
        </p:spPr>
        <p:txBody>
          <a:bodyPr wrap="none">
            <a:spAutoFit/>
          </a:bodyPr>
          <a:lstStyle/>
          <a:p>
            <a:r>
              <a:rPr lang="en-US" sz="2400" b="1" dirty="0"/>
              <a:t>0x1000</a:t>
            </a:r>
          </a:p>
        </p:txBody>
      </p:sp>
      <p:cxnSp>
        <p:nvCxnSpPr>
          <p:cNvPr id="5" name="Curved Connector 4"/>
          <p:cNvCxnSpPr>
            <a:stCxn id="23" idx="3"/>
            <a:endCxn id="18" idx="0"/>
          </p:cNvCxnSpPr>
          <p:nvPr/>
        </p:nvCxnSpPr>
        <p:spPr bwMode="auto">
          <a:xfrm>
            <a:off x="7932289" y="5027985"/>
            <a:ext cx="598474" cy="741275"/>
          </a:xfrm>
          <a:prstGeom prst="curvedConnector2">
            <a:avLst/>
          </a:prstGeom>
          <a:noFill/>
          <a:ln w="38100" cap="flat" cmpd="sng" algn="ctr">
            <a:solidFill>
              <a:schemeClr val="accent1"/>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4" name="Espace réservé du contenu 2"/>
          <p:cNvSpPr txBox="1">
            <a:spLocks/>
          </p:cNvSpPr>
          <p:nvPr/>
        </p:nvSpPr>
        <p:spPr bwMode="auto">
          <a:xfrm>
            <a:off x="457200" y="914400"/>
            <a:ext cx="4978896"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 </a:t>
            </a:r>
          </a:p>
          <a:p>
            <a:pPr marL="0" indent="0">
              <a:buFont typeface="Monotype Sorts" charset="0"/>
              <a:buNone/>
              <a:defRPr/>
            </a:pPr>
            <a:r>
              <a:rPr lang="en-US" sz="2000" b="1" dirty="0">
                <a:solidFill>
                  <a:srgbClr val="FF0000"/>
                </a:solidFill>
                <a:latin typeface="Courier"/>
                <a:cs typeface="Courier"/>
              </a:rPr>
              <a:t>	int</a:t>
            </a:r>
            <a:r>
              <a:rPr lang="en-US" sz="2000" b="1" dirty="0">
                <a:latin typeface="Courier"/>
                <a:cs typeface="Courier"/>
              </a:rPr>
              <a:t> a=10;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Font typeface="Monotype Sorts" charset="0"/>
              <a:buNone/>
              <a:defRPr/>
            </a:pPr>
            <a:r>
              <a:rPr lang="en-US" sz="2000" b="1" dirty="0">
                <a:latin typeface="Courier"/>
                <a:cs typeface="Courier"/>
              </a:rPr>
              <a:t>	a = a + 10;</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5" name="Table 24"/>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27" name="TextBox 26"/>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28" name="Group 27"/>
          <p:cNvGrpSpPr/>
          <p:nvPr/>
        </p:nvGrpSpPr>
        <p:grpSpPr>
          <a:xfrm>
            <a:off x="251773" y="4833156"/>
            <a:ext cx="971855" cy="756072"/>
            <a:chOff x="5472353" y="2600908"/>
            <a:chExt cx="971855" cy="756072"/>
          </a:xfrm>
        </p:grpSpPr>
        <p:cxnSp>
          <p:nvCxnSpPr>
            <p:cNvPr id="29" name="Straight Arrow Connector 28"/>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31" name="Group 30"/>
          <p:cNvGrpSpPr/>
          <p:nvPr/>
        </p:nvGrpSpPr>
        <p:grpSpPr>
          <a:xfrm>
            <a:off x="395536" y="5733256"/>
            <a:ext cx="832788" cy="828104"/>
            <a:chOff x="5116756" y="3104964"/>
            <a:chExt cx="832788" cy="828104"/>
          </a:xfrm>
        </p:grpSpPr>
        <p:cxnSp>
          <p:nvCxnSpPr>
            <p:cNvPr id="32" name="Straight Arrow Connector 3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Box 32"/>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4" name="Rectangle 33"/>
          <p:cNvSpPr/>
          <p:nvPr/>
        </p:nvSpPr>
        <p:spPr>
          <a:xfrm>
            <a:off x="1382564" y="5193196"/>
            <a:ext cx="1716335" cy="461665"/>
          </a:xfrm>
          <a:prstGeom prst="rect">
            <a:avLst/>
          </a:prstGeom>
        </p:spPr>
        <p:txBody>
          <a:bodyPr wrap="none">
            <a:spAutoFit/>
          </a:bodyPr>
          <a:lstStyle/>
          <a:p>
            <a:r>
              <a:rPr lang="en-US" sz="2400" dirty="0"/>
              <a:t>n = 0x1000</a:t>
            </a:r>
          </a:p>
        </p:txBody>
      </p:sp>
      <p:sp>
        <p:nvSpPr>
          <p:cNvPr id="35" name="Rectangle 34"/>
          <p:cNvSpPr/>
          <p:nvPr/>
        </p:nvSpPr>
        <p:spPr>
          <a:xfrm>
            <a:off x="1727684" y="6165304"/>
            <a:ext cx="1048935" cy="461665"/>
          </a:xfrm>
          <a:prstGeom prst="rect">
            <a:avLst/>
          </a:prstGeom>
        </p:spPr>
        <p:txBody>
          <a:bodyPr wrap="none">
            <a:spAutoFit/>
          </a:bodyPr>
          <a:lstStyle/>
          <a:p>
            <a:r>
              <a:rPr lang="en-US" sz="2400" dirty="0"/>
              <a:t>a = 21</a:t>
            </a:r>
          </a:p>
        </p:txBody>
      </p:sp>
      <p:cxnSp>
        <p:nvCxnSpPr>
          <p:cNvPr id="36" name="Straight Connector 35"/>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Straight Connector 36"/>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9444909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r>
              <a:rPr lang="fr-FR" sz="2800" dirty="0">
                <a:latin typeface="Arial" charset="0"/>
                <a:cs typeface="ＭＳ Ｐゴシック" charset="0"/>
              </a:rPr>
              <a:t>: Pointer</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5569768" y="800708"/>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 = a + 0x10;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064777" y="440110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600141" y="3969060"/>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170</a:t>
            </a:fld>
            <a:endParaRPr lang="fr-FR" sz="1400">
              <a:solidFill>
                <a:srgbClr val="000208"/>
              </a:solidFill>
              <a:latin typeface="Times New Roman" charset="0"/>
            </a:endParaRPr>
          </a:p>
        </p:txBody>
      </p:sp>
      <p:grpSp>
        <p:nvGrpSpPr>
          <p:cNvPr id="8" name="Group 7"/>
          <p:cNvGrpSpPr/>
          <p:nvPr/>
        </p:nvGrpSpPr>
        <p:grpSpPr>
          <a:xfrm>
            <a:off x="5020661" y="537321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154226" y="5769260"/>
            <a:ext cx="1374094" cy="461665"/>
          </a:xfrm>
          <a:prstGeom prst="rect">
            <a:avLst/>
          </a:prstGeom>
        </p:spPr>
        <p:txBody>
          <a:bodyPr wrap="none">
            <a:spAutoFit/>
          </a:bodyPr>
          <a:lstStyle/>
          <a:p>
            <a:r>
              <a:rPr lang="en-US" sz="2400" dirty="0"/>
              <a:t>a = 0x14</a:t>
            </a:r>
          </a:p>
        </p:txBody>
      </p:sp>
      <p:sp>
        <p:nvSpPr>
          <p:cNvPr id="18" name="Rectangle 17"/>
          <p:cNvSpPr/>
          <p:nvPr/>
        </p:nvSpPr>
        <p:spPr>
          <a:xfrm>
            <a:off x="7924918" y="5769260"/>
            <a:ext cx="1211690" cy="461665"/>
          </a:xfrm>
          <a:prstGeom prst="rect">
            <a:avLst/>
          </a:prstGeom>
        </p:spPr>
        <p:txBody>
          <a:bodyPr wrap="none">
            <a:spAutoFit/>
          </a:bodyPr>
          <a:lstStyle/>
          <a:p>
            <a:r>
              <a:rPr lang="en-US" sz="2400" b="1" dirty="0"/>
              <a:t>0x1000</a:t>
            </a:r>
          </a:p>
        </p:txBody>
      </p: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4" name="Espace réservé du contenu 2"/>
          <p:cNvSpPr txBox="1">
            <a:spLocks/>
          </p:cNvSpPr>
          <p:nvPr/>
        </p:nvSpPr>
        <p:spPr bwMode="auto">
          <a:xfrm>
            <a:off x="457200" y="914400"/>
            <a:ext cx="4978896"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 </a:t>
            </a:r>
          </a:p>
          <a:p>
            <a:pPr marL="0" indent="0">
              <a:buFont typeface="Monotype Sorts" charset="0"/>
              <a:buNone/>
              <a:defRPr/>
            </a:pPr>
            <a:r>
              <a:rPr lang="en-US" sz="2000" b="1" dirty="0">
                <a:solidFill>
                  <a:srgbClr val="FF0000"/>
                </a:solidFill>
                <a:latin typeface="Courier"/>
                <a:cs typeface="Courier"/>
              </a:rPr>
              <a:t>	int</a:t>
            </a:r>
            <a:r>
              <a:rPr lang="en-US" sz="2000" b="1" dirty="0">
                <a:latin typeface="Courier"/>
                <a:cs typeface="Courier"/>
              </a:rPr>
              <a:t> a=10;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Font typeface="Monotype Sorts" charset="0"/>
              <a:buNone/>
              <a:defRPr/>
            </a:pPr>
            <a:r>
              <a:rPr lang="en-US" sz="2000" b="1" dirty="0">
                <a:latin typeface="Courier"/>
                <a:cs typeface="Courier"/>
              </a:rPr>
              <a:t>	a = a + 10;</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5" name="Table 24"/>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27" name="TextBox 26"/>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28" name="Group 27"/>
          <p:cNvGrpSpPr/>
          <p:nvPr/>
        </p:nvGrpSpPr>
        <p:grpSpPr>
          <a:xfrm>
            <a:off x="251773" y="4833156"/>
            <a:ext cx="971855" cy="756072"/>
            <a:chOff x="5472353" y="2600908"/>
            <a:chExt cx="971855" cy="756072"/>
          </a:xfrm>
        </p:grpSpPr>
        <p:cxnSp>
          <p:nvCxnSpPr>
            <p:cNvPr id="29" name="Straight Arrow Connector 28"/>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31" name="Group 30"/>
          <p:cNvGrpSpPr/>
          <p:nvPr/>
        </p:nvGrpSpPr>
        <p:grpSpPr>
          <a:xfrm>
            <a:off x="395536" y="5733256"/>
            <a:ext cx="832788" cy="828104"/>
            <a:chOff x="5116756" y="3104964"/>
            <a:chExt cx="832788" cy="828104"/>
          </a:xfrm>
        </p:grpSpPr>
        <p:cxnSp>
          <p:nvCxnSpPr>
            <p:cNvPr id="32" name="Straight Arrow Connector 3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Box 32"/>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4" name="Rectangle 33"/>
          <p:cNvSpPr/>
          <p:nvPr/>
        </p:nvSpPr>
        <p:spPr>
          <a:xfrm>
            <a:off x="1382564" y="5193196"/>
            <a:ext cx="1716335" cy="461665"/>
          </a:xfrm>
          <a:prstGeom prst="rect">
            <a:avLst/>
          </a:prstGeom>
        </p:spPr>
        <p:txBody>
          <a:bodyPr wrap="none">
            <a:spAutoFit/>
          </a:bodyPr>
          <a:lstStyle/>
          <a:p>
            <a:r>
              <a:rPr lang="en-US" sz="2400" dirty="0"/>
              <a:t>n = 0x1000</a:t>
            </a:r>
          </a:p>
        </p:txBody>
      </p:sp>
      <p:sp>
        <p:nvSpPr>
          <p:cNvPr id="35" name="Rectangle 34"/>
          <p:cNvSpPr/>
          <p:nvPr/>
        </p:nvSpPr>
        <p:spPr>
          <a:xfrm>
            <a:off x="1727684" y="6165304"/>
            <a:ext cx="1048935" cy="461665"/>
          </a:xfrm>
          <a:prstGeom prst="rect">
            <a:avLst/>
          </a:prstGeom>
        </p:spPr>
        <p:txBody>
          <a:bodyPr wrap="none">
            <a:spAutoFit/>
          </a:bodyPr>
          <a:lstStyle/>
          <a:p>
            <a:r>
              <a:rPr lang="en-US" sz="2400" dirty="0"/>
              <a:t>a = 21</a:t>
            </a:r>
          </a:p>
        </p:txBody>
      </p:sp>
      <p:cxnSp>
        <p:nvCxnSpPr>
          <p:cNvPr id="36" name="Straight Connector 35"/>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Straight Connector 36"/>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3028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Pass</a:t>
            </a:r>
            <a:r>
              <a:rPr lang="fr-FR" sz="2800" dirty="0">
                <a:latin typeface="Arial" charset="0"/>
                <a:cs typeface="ＭＳ Ｐゴシック" charset="0"/>
              </a:rPr>
              <a:t> by </a:t>
            </a:r>
            <a:r>
              <a:rPr lang="fr-FR" sz="2800" dirty="0" err="1">
                <a:latin typeface="Arial" charset="0"/>
                <a:cs typeface="ＭＳ Ｐゴシック" charset="0"/>
              </a:rPr>
              <a:t>reference</a:t>
            </a:r>
            <a:r>
              <a:rPr lang="fr-FR" sz="2800" dirty="0">
                <a:latin typeface="Arial" charset="0"/>
                <a:cs typeface="ＭＳ Ｐゴシック" charset="0"/>
              </a:rPr>
              <a:t>: Pointer</a:t>
            </a:r>
            <a:endParaRPr lang="fr-FR" sz="2800" dirty="0">
              <a:latin typeface="Arial" charset="0"/>
              <a:ea typeface="ＭＳ Ｐゴシック" charset="0"/>
              <a:cs typeface="ＭＳ Ｐゴシック" charset="0"/>
            </a:endParaRPr>
          </a:p>
        </p:txBody>
      </p:sp>
      <p:sp>
        <p:nvSpPr>
          <p:cNvPr id="3" name="Espace réservé du contenu 2"/>
          <p:cNvSpPr>
            <a:spLocks noGrp="1"/>
          </p:cNvSpPr>
          <p:nvPr>
            <p:ph idx="1"/>
          </p:nvPr>
        </p:nvSpPr>
        <p:spPr>
          <a:xfrm>
            <a:off x="5569768" y="800708"/>
            <a:ext cx="4978896" cy="3054660"/>
          </a:xfrm>
        </p:spPr>
        <p:txBody>
          <a:bodyPr/>
          <a:lstStyle/>
          <a:p>
            <a:pPr marL="0" inden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solidFill>
                  <a:srgbClr val="FF0000"/>
                </a:solidFill>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None/>
              <a:defRPr/>
            </a:pPr>
            <a:r>
              <a:rPr lang="en-US" sz="2000" b="1" dirty="0">
                <a:latin typeface="Courier"/>
                <a:cs typeface="Courier"/>
              </a:rPr>
              <a:t>}</a:t>
            </a:r>
          </a:p>
          <a:p>
            <a:pPr marL="0" indent="0">
              <a:buNone/>
              <a:defRPr/>
            </a:pPr>
            <a:r>
              <a:rPr lang="en-US" sz="2000" b="1" dirty="0">
                <a:latin typeface="Courier"/>
                <a:cs typeface="Courier"/>
              </a:rPr>
              <a:t>void main{	</a:t>
            </a:r>
          </a:p>
          <a:p>
            <a:pPr marL="0" indent="0">
              <a:buNone/>
              <a:defRPr/>
            </a:pPr>
            <a:r>
              <a:rPr lang="en-US" sz="2000" b="1" dirty="0">
                <a:latin typeface="Courier"/>
                <a:cs typeface="Courier"/>
              </a:rPr>
              <a:t>	…</a:t>
            </a:r>
          </a:p>
          <a:p>
            <a:pPr marL="0" indent="0">
              <a:buNone/>
              <a:defRPr/>
            </a:pPr>
            <a:r>
              <a:rPr lang="en-US" sz="2000" b="1" dirty="0">
                <a:solidFill>
                  <a:srgbClr val="FF0000"/>
                </a:solidFill>
                <a:latin typeface="Courier"/>
                <a:cs typeface="Courier"/>
              </a:rPr>
              <a:t>	int *</a:t>
            </a:r>
            <a:r>
              <a:rPr lang="en-US" sz="2000" b="1" dirty="0">
                <a:latin typeface="Courier"/>
                <a:cs typeface="Courier"/>
              </a:rPr>
              <a:t>a=0x10;</a:t>
            </a:r>
          </a:p>
          <a:p>
            <a:pPr marL="0" inden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None/>
              <a:defRPr/>
            </a:pPr>
            <a:r>
              <a:rPr lang="en-US" sz="2000" b="1" dirty="0">
                <a:latin typeface="Courier"/>
                <a:cs typeface="Courier"/>
              </a:rPr>
              <a:t>	a = a + 0x10;</a:t>
            </a:r>
          </a:p>
          <a:p>
            <a:pPr marL="0" indent="0">
              <a:buNone/>
              <a:defRPr/>
            </a:pPr>
            <a:r>
              <a:rPr lang="en-US" sz="2000" dirty="0">
                <a:latin typeface="Courier"/>
                <a:cs typeface="Courier"/>
              </a:rPr>
              <a:t>}</a:t>
            </a:r>
          </a:p>
        </p:txBody>
      </p:sp>
      <p:graphicFrame>
        <p:nvGraphicFramePr>
          <p:cNvPr id="6" name="Table 5"/>
          <p:cNvGraphicFramePr>
            <a:graphicFrameLocks noGrp="1"/>
          </p:cNvGraphicFramePr>
          <p:nvPr/>
        </p:nvGraphicFramePr>
        <p:xfrm>
          <a:off x="6064777" y="440110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600141" y="3969060"/>
            <a:ext cx="954233" cy="400110"/>
          </a:xfrm>
          <a:prstGeom prst="rect">
            <a:avLst/>
          </a:prstGeom>
          <a:noFill/>
        </p:spPr>
        <p:txBody>
          <a:bodyPr wrap="none" rtlCol="0">
            <a:spAutoFit/>
          </a:bodyPr>
          <a:lstStyle/>
          <a:p>
            <a:r>
              <a:rPr lang="en-US" sz="2000" b="1" dirty="0">
                <a:latin typeface="Courier"/>
                <a:cs typeface="Courier"/>
              </a:rPr>
              <a:t>stack</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171</a:t>
            </a:fld>
            <a:endParaRPr lang="fr-FR" sz="1400">
              <a:solidFill>
                <a:srgbClr val="000208"/>
              </a:solidFill>
              <a:latin typeface="Times New Roman" charset="0"/>
            </a:endParaRPr>
          </a:p>
        </p:txBody>
      </p:sp>
      <p:grpSp>
        <p:nvGrpSpPr>
          <p:cNvPr id="8" name="Group 7"/>
          <p:cNvGrpSpPr/>
          <p:nvPr/>
        </p:nvGrpSpPr>
        <p:grpSpPr>
          <a:xfrm>
            <a:off x="5020661" y="5373216"/>
            <a:ext cx="832788" cy="828104"/>
            <a:chOff x="5116756" y="3104964"/>
            <a:chExt cx="832788" cy="828104"/>
          </a:xfrm>
        </p:grpSpPr>
        <p:cxnSp>
          <p:nvCxnSpPr>
            <p:cNvPr id="12" name="Straight Arrow Connector 1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TextBox 13"/>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21" name="Rectangle 20"/>
          <p:cNvSpPr/>
          <p:nvPr/>
        </p:nvSpPr>
        <p:spPr>
          <a:xfrm>
            <a:off x="6154226" y="5769260"/>
            <a:ext cx="1374094" cy="461665"/>
          </a:xfrm>
          <a:prstGeom prst="rect">
            <a:avLst/>
          </a:prstGeom>
        </p:spPr>
        <p:txBody>
          <a:bodyPr wrap="none">
            <a:spAutoFit/>
          </a:bodyPr>
          <a:lstStyle/>
          <a:p>
            <a:r>
              <a:rPr lang="en-US" sz="2400" dirty="0"/>
              <a:t>a = 0x24</a:t>
            </a:r>
          </a:p>
        </p:txBody>
      </p:sp>
      <p:sp>
        <p:nvSpPr>
          <p:cNvPr id="18" name="Rectangle 17"/>
          <p:cNvSpPr/>
          <p:nvPr/>
        </p:nvSpPr>
        <p:spPr>
          <a:xfrm>
            <a:off x="7924918" y="5769260"/>
            <a:ext cx="1211690" cy="461665"/>
          </a:xfrm>
          <a:prstGeom prst="rect">
            <a:avLst/>
          </a:prstGeom>
        </p:spPr>
        <p:txBody>
          <a:bodyPr wrap="none">
            <a:spAutoFit/>
          </a:bodyPr>
          <a:lstStyle/>
          <a:p>
            <a:r>
              <a:rPr lang="en-US" sz="2400" b="1" dirty="0"/>
              <a:t>0x1000</a:t>
            </a:r>
          </a:p>
        </p:txBody>
      </p:sp>
      <p:sp>
        <p:nvSpPr>
          <p:cNvPr id="2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4" name="Espace réservé du contenu 2"/>
          <p:cNvSpPr txBox="1">
            <a:spLocks/>
          </p:cNvSpPr>
          <p:nvPr/>
        </p:nvSpPr>
        <p:spPr bwMode="auto">
          <a:xfrm>
            <a:off x="457200" y="914400"/>
            <a:ext cx="4978896" cy="3054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Font typeface="Monotype Sorts" charset="0"/>
              <a:buNone/>
              <a:defRPr/>
            </a:pPr>
            <a:r>
              <a:rPr lang="en-US" sz="2000" b="1" dirty="0">
                <a:latin typeface="Courier"/>
                <a:cs typeface="Courier"/>
              </a:rPr>
              <a:t>void </a:t>
            </a:r>
            <a:r>
              <a:rPr lang="en-US" sz="2000" b="1" dirty="0" err="1">
                <a:latin typeface="Courier"/>
                <a:cs typeface="Courier"/>
              </a:rPr>
              <a:t>proc</a:t>
            </a:r>
            <a:r>
              <a:rPr lang="en-US" sz="2000" b="1" dirty="0">
                <a:latin typeface="Courier"/>
                <a:cs typeface="Courier"/>
              </a:rPr>
              <a:t>(</a:t>
            </a:r>
            <a:r>
              <a:rPr lang="en-US" sz="2000" b="1" dirty="0" err="1">
                <a:solidFill>
                  <a:srgbClr val="FF0000"/>
                </a:solidFill>
                <a:latin typeface="Courier"/>
                <a:cs typeface="Courier"/>
              </a:rPr>
              <a:t>int</a:t>
            </a:r>
            <a:r>
              <a:rPr lang="en-US" sz="2000" b="1" dirty="0">
                <a:latin typeface="Courier"/>
                <a:cs typeface="Courier"/>
              </a:rPr>
              <a:t> </a:t>
            </a:r>
            <a:r>
              <a:rPr lang="en-US" sz="2000" b="1" dirty="0">
                <a:solidFill>
                  <a:srgbClr val="3366FF"/>
                </a:solidFill>
                <a:latin typeface="Courier"/>
                <a:cs typeface="Courier"/>
              </a:rPr>
              <a:t>*</a:t>
            </a:r>
            <a:r>
              <a:rPr lang="en-US" sz="2000" b="1" dirty="0">
                <a:latin typeface="Courier"/>
                <a:cs typeface="Courier"/>
              </a:rPr>
              <a:t>n){</a:t>
            </a:r>
          </a:p>
          <a:p>
            <a:pPr marL="0" indent="0">
              <a:buFont typeface="Monotype Sorts" charset="0"/>
              <a:buNone/>
              <a:defRPr/>
            </a:pPr>
            <a:r>
              <a:rPr lang="en-US" sz="2000" b="1" dirty="0">
                <a:solidFill>
                  <a:schemeClr val="tx1"/>
                </a:solidFill>
                <a:latin typeface="Courier"/>
                <a:cs typeface="Courier"/>
              </a:rPr>
              <a:t>	(</a:t>
            </a:r>
            <a:r>
              <a:rPr lang="en-US" sz="2000" b="1" dirty="0">
                <a:solidFill>
                  <a:srgbClr val="3366FF"/>
                </a:solidFill>
                <a:latin typeface="Courier"/>
                <a:cs typeface="Courier"/>
              </a:rPr>
              <a:t>*</a:t>
            </a:r>
            <a:r>
              <a:rPr lang="en-US" sz="2000" b="1" dirty="0">
                <a:solidFill>
                  <a:schemeClr val="tx1"/>
                </a:solidFill>
                <a:latin typeface="Courier"/>
                <a:cs typeface="Courier"/>
              </a:rPr>
              <a:t>n)++;</a:t>
            </a:r>
          </a:p>
          <a:p>
            <a:pPr marL="0" indent="0">
              <a:buFont typeface="Monotype Sorts" charset="0"/>
              <a:buNone/>
              <a:defRPr/>
            </a:pPr>
            <a:r>
              <a:rPr lang="en-US" sz="2000" b="1" dirty="0">
                <a:latin typeface="Courier"/>
                <a:cs typeface="Courier"/>
              </a:rPr>
              <a:t>}</a:t>
            </a:r>
          </a:p>
          <a:p>
            <a:pPr marL="0" indent="0">
              <a:buFont typeface="Monotype Sorts" charset="0"/>
              <a:buNone/>
              <a:defRPr/>
            </a:pPr>
            <a:r>
              <a:rPr lang="en-US" sz="2000" b="1" dirty="0">
                <a:latin typeface="Courier"/>
                <a:cs typeface="Courier"/>
              </a:rPr>
              <a:t>void main{	</a:t>
            </a:r>
          </a:p>
          <a:p>
            <a:pPr marL="0" indent="0">
              <a:buFont typeface="Monotype Sorts" charset="0"/>
              <a:buNone/>
              <a:defRPr/>
            </a:pPr>
            <a:r>
              <a:rPr lang="en-US" sz="2000" b="1" dirty="0">
                <a:latin typeface="Courier"/>
                <a:cs typeface="Courier"/>
              </a:rPr>
              <a:t>	… </a:t>
            </a:r>
          </a:p>
          <a:p>
            <a:pPr marL="0" indent="0">
              <a:buFont typeface="Monotype Sorts" charset="0"/>
              <a:buNone/>
              <a:defRPr/>
            </a:pPr>
            <a:r>
              <a:rPr lang="en-US" sz="2000" b="1" dirty="0">
                <a:solidFill>
                  <a:srgbClr val="FF0000"/>
                </a:solidFill>
                <a:latin typeface="Courier"/>
                <a:cs typeface="Courier"/>
              </a:rPr>
              <a:t>	int</a:t>
            </a:r>
            <a:r>
              <a:rPr lang="en-US" sz="2000" b="1" dirty="0">
                <a:latin typeface="Courier"/>
                <a:cs typeface="Courier"/>
              </a:rPr>
              <a:t> a=10;</a:t>
            </a:r>
          </a:p>
          <a:p>
            <a:pPr marL="0" indent="0">
              <a:buFont typeface="Monotype Sorts" charset="0"/>
              <a:buNone/>
              <a:defRPr/>
            </a:pPr>
            <a:r>
              <a:rPr lang="en-US" sz="2000" b="1" dirty="0">
                <a:latin typeface="Courier"/>
                <a:cs typeface="Courier"/>
              </a:rPr>
              <a:t>	</a:t>
            </a:r>
            <a:r>
              <a:rPr lang="en-US" sz="2000" b="1" dirty="0" err="1">
                <a:latin typeface="Courier"/>
                <a:cs typeface="Courier"/>
              </a:rPr>
              <a:t>proc</a:t>
            </a:r>
            <a:r>
              <a:rPr lang="en-US" sz="2000" b="1" dirty="0">
                <a:latin typeface="Courier"/>
                <a:cs typeface="Courier"/>
              </a:rPr>
              <a:t>(</a:t>
            </a:r>
            <a:r>
              <a:rPr lang="en-US" sz="2000" b="1" dirty="0">
                <a:solidFill>
                  <a:srgbClr val="3366FF"/>
                </a:solidFill>
                <a:latin typeface="Courier"/>
                <a:cs typeface="Courier"/>
              </a:rPr>
              <a:t>&amp;</a:t>
            </a:r>
            <a:r>
              <a:rPr lang="en-US" sz="2000" b="1" dirty="0">
                <a:latin typeface="Courier"/>
                <a:cs typeface="Courier"/>
              </a:rPr>
              <a:t>a);</a:t>
            </a:r>
          </a:p>
          <a:p>
            <a:pPr marL="0" indent="0">
              <a:buFont typeface="Monotype Sorts" charset="0"/>
              <a:buNone/>
              <a:defRPr/>
            </a:pPr>
            <a:r>
              <a:rPr lang="en-US" sz="2000" b="1" dirty="0">
                <a:latin typeface="Courier"/>
                <a:cs typeface="Courier"/>
              </a:rPr>
              <a:t>	a = a + 10;</a:t>
            </a:r>
          </a:p>
          <a:p>
            <a:pPr marL="0" indent="0">
              <a:buFont typeface="Monotype Sorts" charset="0"/>
              <a:buNone/>
              <a:defRPr/>
            </a:pPr>
            <a:r>
              <a:rPr lang="en-US" sz="2000" b="1" dirty="0">
                <a:latin typeface="Courier"/>
                <a:cs typeface="Courier"/>
              </a:rPr>
              <a:t>	</a:t>
            </a:r>
          </a:p>
          <a:p>
            <a:pPr marL="0" indent="0">
              <a:buFont typeface="Monotype Sorts" charset="0"/>
              <a:buNone/>
              <a:defRPr/>
            </a:pPr>
            <a:r>
              <a:rPr lang="en-US" sz="2000" dirty="0">
                <a:latin typeface="Courier"/>
                <a:cs typeface="Courier"/>
              </a:rPr>
              <a:t>}</a:t>
            </a:r>
          </a:p>
        </p:txBody>
      </p:sp>
      <p:graphicFrame>
        <p:nvGraphicFramePr>
          <p:cNvPr id="25" name="Table 24"/>
          <p:cNvGraphicFramePr>
            <a:graphicFrameLocks noGrp="1"/>
          </p:cNvGraphicFramePr>
          <p:nvPr/>
        </p:nvGraphicFramePr>
        <p:xfrm>
          <a:off x="1439652" y="4761148"/>
          <a:ext cx="1872208" cy="1872208"/>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468052">
                <a:tc>
                  <a:txBody>
                    <a:bodyPr/>
                    <a:lstStyle/>
                    <a:p>
                      <a:endParaRPr lang="en-US" dirty="0"/>
                    </a:p>
                  </a:txBody>
                  <a:tcPr>
                    <a:solidFill>
                      <a:schemeClr val="bg1">
                        <a:lumMod val="85000"/>
                      </a:schemeClr>
                    </a:solidFill>
                  </a:tcPr>
                </a:tc>
                <a:extLst>
                  <a:ext uri="{0D108BD9-81ED-4DB2-BD59-A6C34878D82A}">
                    <a16:rowId xmlns:a16="http://schemas.microsoft.com/office/drawing/2014/main" val="10001"/>
                  </a:ext>
                </a:extLst>
              </a:tr>
              <a:tr h="468052">
                <a:tc>
                  <a:txBody>
                    <a:bodyPr/>
                    <a:lstStyle/>
                    <a:p>
                      <a:r>
                        <a:rPr lang="en-US" dirty="0"/>
                        <a:t> …</a:t>
                      </a:r>
                    </a:p>
                  </a:txBody>
                  <a:tcPr>
                    <a:solidFill>
                      <a:srgbClr val="FFFFFF"/>
                    </a:solidFill>
                  </a:tcPr>
                </a:tc>
                <a:extLst>
                  <a:ext uri="{0D108BD9-81ED-4DB2-BD59-A6C34878D82A}">
                    <a16:rowId xmlns:a16="http://schemas.microsoft.com/office/drawing/2014/main" val="10002"/>
                  </a:ext>
                </a:extLst>
              </a:tr>
              <a:tr h="468052">
                <a:tc>
                  <a:txBody>
                    <a:bodyPr/>
                    <a:lstStyle/>
                    <a:p>
                      <a:endParaRPr lang="en-US" dirty="0"/>
                    </a:p>
                  </a:txBody>
                  <a:tcPr>
                    <a:solidFill>
                      <a:srgbClr val="FFFFFF"/>
                    </a:solidFill>
                  </a:tcPr>
                </a:tc>
                <a:extLst>
                  <a:ext uri="{0D108BD9-81ED-4DB2-BD59-A6C34878D82A}">
                    <a16:rowId xmlns:a16="http://schemas.microsoft.com/office/drawing/2014/main" val="10003"/>
                  </a:ext>
                </a:extLst>
              </a:tr>
            </a:tbl>
          </a:graphicData>
        </a:graphic>
      </p:graphicFrame>
      <p:sp>
        <p:nvSpPr>
          <p:cNvPr id="27" name="TextBox 26"/>
          <p:cNvSpPr txBox="1"/>
          <p:nvPr/>
        </p:nvSpPr>
        <p:spPr>
          <a:xfrm>
            <a:off x="1903008" y="4365104"/>
            <a:ext cx="954233" cy="400110"/>
          </a:xfrm>
          <a:prstGeom prst="rect">
            <a:avLst/>
          </a:prstGeom>
          <a:noFill/>
        </p:spPr>
        <p:txBody>
          <a:bodyPr wrap="none" rtlCol="0">
            <a:spAutoFit/>
          </a:bodyPr>
          <a:lstStyle/>
          <a:p>
            <a:r>
              <a:rPr lang="en-US" sz="2000" b="1" dirty="0">
                <a:latin typeface="Courier"/>
                <a:cs typeface="Courier"/>
              </a:rPr>
              <a:t>stack</a:t>
            </a:r>
          </a:p>
        </p:txBody>
      </p:sp>
      <p:grpSp>
        <p:nvGrpSpPr>
          <p:cNvPr id="28" name="Group 27"/>
          <p:cNvGrpSpPr/>
          <p:nvPr/>
        </p:nvGrpSpPr>
        <p:grpSpPr>
          <a:xfrm>
            <a:off x="251773" y="4833156"/>
            <a:ext cx="971855" cy="756072"/>
            <a:chOff x="5472353" y="2600908"/>
            <a:chExt cx="971855" cy="756072"/>
          </a:xfrm>
        </p:grpSpPr>
        <p:cxnSp>
          <p:nvCxnSpPr>
            <p:cNvPr id="29" name="Straight Arrow Connector 28"/>
            <p:cNvCxnSpPr/>
            <p:nvPr/>
          </p:nvCxnSpPr>
          <p:spPr bwMode="auto">
            <a:xfrm>
              <a:off x="6439512" y="2600908"/>
              <a:ext cx="4696" cy="756072"/>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TextBox 29"/>
            <p:cNvSpPr txBox="1"/>
            <p:nvPr/>
          </p:nvSpPr>
          <p:spPr>
            <a:xfrm>
              <a:off x="5472353" y="2776862"/>
              <a:ext cx="800319" cy="400110"/>
            </a:xfrm>
            <a:prstGeom prst="rect">
              <a:avLst/>
            </a:prstGeom>
            <a:noFill/>
          </p:spPr>
          <p:txBody>
            <a:bodyPr wrap="none" rtlCol="0">
              <a:spAutoFit/>
            </a:bodyPr>
            <a:lstStyle/>
            <a:p>
              <a:r>
                <a:rPr lang="en-US" sz="2000" b="1" dirty="0" err="1">
                  <a:latin typeface="Courier"/>
                  <a:cs typeface="Courier"/>
                </a:rPr>
                <a:t>proc</a:t>
              </a:r>
              <a:endParaRPr lang="en-US" sz="2000" b="1" dirty="0">
                <a:latin typeface="Courier"/>
                <a:cs typeface="Courier"/>
              </a:endParaRPr>
            </a:p>
          </p:txBody>
        </p:sp>
      </p:grpSp>
      <p:grpSp>
        <p:nvGrpSpPr>
          <p:cNvPr id="31" name="Group 30"/>
          <p:cNvGrpSpPr/>
          <p:nvPr/>
        </p:nvGrpSpPr>
        <p:grpSpPr>
          <a:xfrm>
            <a:off x="395536" y="5733256"/>
            <a:ext cx="832788" cy="828104"/>
            <a:chOff x="5116756" y="3104964"/>
            <a:chExt cx="832788" cy="828104"/>
          </a:xfrm>
        </p:grpSpPr>
        <p:cxnSp>
          <p:nvCxnSpPr>
            <p:cNvPr id="32" name="Straight Arrow Connector 31"/>
            <p:cNvCxnSpPr/>
            <p:nvPr/>
          </p:nvCxnSpPr>
          <p:spPr bwMode="auto">
            <a:xfrm flipH="1">
              <a:off x="5944848" y="3104964"/>
              <a:ext cx="4696" cy="828104"/>
            </a:xfrm>
            <a:prstGeom prst="straightConnector1">
              <a:avLst/>
            </a:prstGeom>
            <a:noFill/>
            <a:ln w="38100" cap="flat" cmpd="sng" algn="ctr">
              <a:solidFill>
                <a:srgbClr val="000208"/>
              </a:solidFill>
              <a:prstDash val="solid"/>
              <a:round/>
              <a:headEnd type="arrow"/>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Box 32"/>
            <p:cNvSpPr txBox="1"/>
            <p:nvPr/>
          </p:nvSpPr>
          <p:spPr>
            <a:xfrm>
              <a:off x="5116756" y="3356992"/>
              <a:ext cx="800319" cy="400110"/>
            </a:xfrm>
            <a:prstGeom prst="rect">
              <a:avLst/>
            </a:prstGeom>
            <a:noFill/>
          </p:spPr>
          <p:txBody>
            <a:bodyPr wrap="none" rtlCol="0">
              <a:spAutoFit/>
            </a:bodyPr>
            <a:lstStyle/>
            <a:p>
              <a:r>
                <a:rPr lang="en-US" sz="2000" b="1" dirty="0">
                  <a:latin typeface="Courier"/>
                  <a:cs typeface="Courier"/>
                </a:rPr>
                <a:t>main</a:t>
              </a:r>
            </a:p>
          </p:txBody>
        </p:sp>
      </p:grpSp>
      <p:sp>
        <p:nvSpPr>
          <p:cNvPr id="34" name="Rectangle 33"/>
          <p:cNvSpPr/>
          <p:nvPr/>
        </p:nvSpPr>
        <p:spPr>
          <a:xfrm>
            <a:off x="1382564" y="5193196"/>
            <a:ext cx="1716335" cy="461665"/>
          </a:xfrm>
          <a:prstGeom prst="rect">
            <a:avLst/>
          </a:prstGeom>
        </p:spPr>
        <p:txBody>
          <a:bodyPr wrap="none">
            <a:spAutoFit/>
          </a:bodyPr>
          <a:lstStyle/>
          <a:p>
            <a:r>
              <a:rPr lang="en-US" sz="2400" dirty="0"/>
              <a:t>n = 0x1000</a:t>
            </a:r>
          </a:p>
        </p:txBody>
      </p:sp>
      <p:sp>
        <p:nvSpPr>
          <p:cNvPr id="35" name="Rectangle 34"/>
          <p:cNvSpPr/>
          <p:nvPr/>
        </p:nvSpPr>
        <p:spPr>
          <a:xfrm>
            <a:off x="1727684" y="6165304"/>
            <a:ext cx="1048935" cy="461665"/>
          </a:xfrm>
          <a:prstGeom prst="rect">
            <a:avLst/>
          </a:prstGeom>
        </p:spPr>
        <p:txBody>
          <a:bodyPr wrap="none">
            <a:spAutoFit/>
          </a:bodyPr>
          <a:lstStyle/>
          <a:p>
            <a:r>
              <a:rPr lang="en-US" sz="2400" dirty="0"/>
              <a:t>a = 21</a:t>
            </a:r>
          </a:p>
        </p:txBody>
      </p:sp>
      <p:cxnSp>
        <p:nvCxnSpPr>
          <p:cNvPr id="36" name="Straight Connector 35"/>
          <p:cNvCxnSpPr/>
          <p:nvPr/>
        </p:nvCxnSpPr>
        <p:spPr bwMode="auto">
          <a:xfrm>
            <a:off x="755576" y="4653136"/>
            <a:ext cx="2916324" cy="864096"/>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Straight Connector 36"/>
          <p:cNvCxnSpPr/>
          <p:nvPr/>
        </p:nvCxnSpPr>
        <p:spPr bwMode="auto">
          <a:xfrm flipV="1">
            <a:off x="647564" y="4617132"/>
            <a:ext cx="2988332" cy="972108"/>
          </a:xfrm>
          <a:prstGeom prst="line">
            <a:avLst/>
          </a:prstGeom>
          <a:noFill/>
          <a:ln w="635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8565517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ea typeface="ＭＳ Ｐゴシック" charset="0"/>
                <a:cs typeface="ＭＳ Ｐゴシック" charset="0"/>
              </a:rPr>
              <a:t>Let’s</a:t>
            </a:r>
            <a:r>
              <a:rPr lang="fr-FR" sz="2800" dirty="0">
                <a:latin typeface="Arial" charset="0"/>
                <a:ea typeface="ＭＳ Ｐゴシック" charset="0"/>
                <a:cs typeface="ＭＳ Ｐゴシック" charset="0"/>
              </a:rPr>
              <a:t>…</a:t>
            </a: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172</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Q5- Q9</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458108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rPr>
              <a:t>When an </a:t>
            </a:r>
            <a:r>
              <a:rPr lang="en-US" b="1" dirty="0">
                <a:solidFill>
                  <a:srgbClr val="FF0000"/>
                </a:solidFill>
                <a:latin typeface="Arial" charset="0"/>
                <a:cs typeface="ＭＳ Ｐゴシック" charset="0"/>
              </a:rPr>
              <a:t>array</a:t>
            </a:r>
            <a:r>
              <a:rPr lang="en-US" dirty="0">
                <a:latin typeface="Arial" charset="0"/>
                <a:cs typeface="ＭＳ Ｐゴシック" charset="0"/>
              </a:rPr>
              <a:t> is a function parameter, the </a:t>
            </a:r>
            <a:r>
              <a:rPr lang="en-US" dirty="0">
                <a:solidFill>
                  <a:srgbClr val="FF0000"/>
                </a:solidFill>
                <a:latin typeface="Arial" charset="0"/>
                <a:cs typeface="ＭＳ Ｐゴシック" charset="0"/>
              </a:rPr>
              <a:t>compiler</a:t>
            </a:r>
            <a:r>
              <a:rPr lang="en-US" dirty="0">
                <a:latin typeface="Arial" charset="0"/>
                <a:cs typeface="ＭＳ Ｐゴシック" charset="0"/>
              </a:rPr>
              <a:t> </a:t>
            </a:r>
            <a:r>
              <a:rPr lang="en-US" dirty="0">
                <a:solidFill>
                  <a:srgbClr val="FF0000"/>
                </a:solidFill>
                <a:latin typeface="Arial" charset="0"/>
                <a:cs typeface="ＭＳ Ｐゴシック" charset="0"/>
              </a:rPr>
              <a:t>translates</a:t>
            </a:r>
            <a:r>
              <a:rPr lang="en-US" dirty="0">
                <a:latin typeface="Arial" charset="0"/>
                <a:cs typeface="ＭＳ Ｐゴシック" charset="0"/>
              </a:rPr>
              <a:t> it as a </a:t>
            </a:r>
            <a:r>
              <a:rPr lang="en-US" b="1" dirty="0">
                <a:solidFill>
                  <a:srgbClr val="FF0000"/>
                </a:solidFill>
                <a:latin typeface="Arial" charset="0"/>
                <a:cs typeface="ＭＳ Ｐゴシック" charset="0"/>
              </a:rPr>
              <a:t>pointer</a:t>
            </a:r>
          </a:p>
          <a:p>
            <a:pPr marL="0" indent="0">
              <a:buNone/>
            </a:pPr>
            <a:r>
              <a:rPr lang="en-US" sz="2000" b="1" dirty="0">
                <a:latin typeface="Courier"/>
                <a:cs typeface="Courier"/>
              </a:rPr>
              <a:t>void foo( </a:t>
            </a: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 { … } </a:t>
            </a:r>
            <a:r>
              <a:rPr lang="en-US" sz="2000" b="1" dirty="0">
                <a:latin typeface="Courier"/>
                <a:cs typeface="Courier"/>
                <a:sym typeface="Wingdings"/>
              </a:rPr>
              <a:t></a:t>
            </a:r>
            <a:r>
              <a:rPr lang="en-US" sz="1000" b="1" dirty="0">
                <a:latin typeface="Courier"/>
                <a:cs typeface="Courier"/>
                <a:sym typeface="Wingdings"/>
              </a:rPr>
              <a:t> </a:t>
            </a:r>
            <a:r>
              <a:rPr lang="en-US" sz="2000" b="1" dirty="0">
                <a:latin typeface="Courier"/>
                <a:cs typeface="Courier"/>
              </a:rPr>
              <a:t>void foo( </a:t>
            </a: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 { … }</a:t>
            </a:r>
          </a:p>
          <a:p>
            <a:endParaRPr lang="en-US" sz="1000" dirty="0"/>
          </a:p>
        </p:txBody>
      </p:sp>
      <p:sp>
        <p:nvSpPr>
          <p:cNvPr id="6"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Passing arguments: </a:t>
            </a:r>
            <a:r>
              <a:rPr lang="fr-FR" sz="2800" dirty="0" err="1">
                <a:latin typeface="Arial" charset="0"/>
                <a:cs typeface="ＭＳ Ｐゴシック" charset="0"/>
              </a:rPr>
              <a:t>Array</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173</a:t>
            </a:fld>
            <a:endParaRPr lang="fr-FR" sz="1400">
              <a:solidFill>
                <a:srgbClr val="000208"/>
              </a:solidFill>
              <a:latin typeface="Times New Roman" charset="0"/>
            </a:endParaRPr>
          </a:p>
        </p:txBody>
      </p:sp>
      <p:sp>
        <p:nvSpPr>
          <p:cNvPr id="8" name="Espace réservé du contenu 2"/>
          <p:cNvSpPr txBox="1">
            <a:spLocks/>
          </p:cNvSpPr>
          <p:nvPr/>
        </p:nvSpPr>
        <p:spPr bwMode="auto">
          <a:xfrm>
            <a:off x="457200" y="2384884"/>
            <a:ext cx="8261350" cy="37873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So, inside the function we cannot know the size of the array! All we have is a pointer …</a:t>
            </a:r>
          </a:p>
          <a:p>
            <a:pPr lvl="1"/>
            <a:r>
              <a:rPr lang="en-US" dirty="0"/>
              <a:t>If you try to compute the array's size using </a:t>
            </a:r>
            <a:r>
              <a:rPr lang="en-US" b="1" dirty="0" err="1">
                <a:latin typeface="Courier"/>
                <a:cs typeface="Courier"/>
              </a:rPr>
              <a:t>sizeof</a:t>
            </a:r>
            <a:r>
              <a:rPr lang="en-US" b="1" dirty="0">
                <a:latin typeface="Courier"/>
                <a:cs typeface="Courier"/>
              </a:rPr>
              <a:t>(</a:t>
            </a:r>
            <a:r>
              <a:rPr lang="en-US" b="1" dirty="0" err="1">
                <a:latin typeface="Courier"/>
                <a:cs typeface="Courier"/>
              </a:rPr>
              <a:t>arr</a:t>
            </a:r>
            <a:r>
              <a:rPr lang="en-US" b="1" dirty="0"/>
              <a:t>)</a:t>
            </a:r>
            <a:r>
              <a:rPr lang="en-US" dirty="0"/>
              <a:t>, you just get the size of a pointer, </a:t>
            </a:r>
          </a:p>
          <a:p>
            <a:pPr lvl="2"/>
            <a:r>
              <a:rPr lang="en-US" dirty="0"/>
              <a:t>e.g. 4 in a code compiled for a machine with 32 bits as addresses</a:t>
            </a:r>
          </a:p>
          <a:p>
            <a:pPr lvl="2"/>
            <a:endParaRPr lang="en-US" dirty="0"/>
          </a:p>
          <a:p>
            <a:r>
              <a:rPr lang="en-US" dirty="0"/>
              <a:t>It's important to pass the array size as a parameter. </a:t>
            </a:r>
          </a:p>
          <a:p>
            <a:pPr marL="0" indent="0">
              <a:buFont typeface="Monotype Sorts" charset="0"/>
              <a:buNone/>
            </a:pPr>
            <a:r>
              <a:rPr lang="en-US" sz="2000" b="1" dirty="0">
                <a:latin typeface="Courier"/>
                <a:cs typeface="Courier"/>
              </a:rPr>
              <a:t>void foo( </a:t>
            </a:r>
            <a:r>
              <a:rPr lang="en-US" sz="2000" b="1" dirty="0" err="1">
                <a:latin typeface="Courier"/>
                <a:cs typeface="Courier"/>
              </a:rPr>
              <a:t>int</a:t>
            </a:r>
            <a:r>
              <a:rPr lang="en-US" sz="2000" b="1" dirty="0">
                <a:latin typeface="Courier"/>
                <a:cs typeface="Courier"/>
              </a:rPr>
              <a:t> </a:t>
            </a:r>
            <a:r>
              <a:rPr lang="en-US" sz="2000" b="1" dirty="0" err="1">
                <a:latin typeface="Courier"/>
                <a:cs typeface="Courier"/>
              </a:rPr>
              <a:t>arr</a:t>
            </a:r>
            <a:r>
              <a:rPr lang="en-US" sz="2000" b="1" dirty="0">
                <a:latin typeface="Courier"/>
                <a:cs typeface="Courier"/>
              </a:rPr>
              <a:t>[], </a:t>
            </a:r>
            <a:r>
              <a:rPr lang="en-US" sz="2000" b="1" dirty="0" err="1">
                <a:latin typeface="Courier"/>
                <a:cs typeface="Courier"/>
              </a:rPr>
              <a:t>int</a:t>
            </a:r>
            <a:r>
              <a:rPr lang="en-US" sz="2000" b="1" dirty="0">
                <a:latin typeface="Courier"/>
                <a:cs typeface="Courier"/>
              </a:rPr>
              <a:t> size ) { … }</a:t>
            </a:r>
          </a:p>
          <a:p>
            <a:pPr marL="0" indent="0">
              <a:buFont typeface="Monotype Sorts" charset="0"/>
              <a:buNone/>
            </a:pPr>
            <a:endParaRPr lang="en-US" dirty="0"/>
          </a:p>
          <a:p>
            <a:endParaRPr lang="en-US" b="1" dirty="0">
              <a:latin typeface="Courier"/>
              <a:cs typeface="Courier"/>
            </a:endParaRP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1046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u contenu 2"/>
          <p:cNvSpPr>
            <a:spLocks noGrp="1"/>
          </p:cNvSpPr>
          <p:nvPr>
            <p:ph idx="1"/>
          </p:nvPr>
        </p:nvSpPr>
        <p:spPr/>
        <p:txBody>
          <a:bodyPr/>
          <a:lstStyle/>
          <a:p>
            <a:r>
              <a:rPr lang="en-US" dirty="0">
                <a:latin typeface="Arial" charset="0"/>
                <a:cs typeface="ＭＳ Ｐゴシック" charset="0"/>
              </a:rPr>
              <a:t>The parameter equals to the </a:t>
            </a:r>
            <a:r>
              <a:rPr lang="en-US" dirty="0">
                <a:latin typeface="Arial" charset="0"/>
              </a:rPr>
              <a:t>address of the 1</a:t>
            </a:r>
            <a:r>
              <a:rPr lang="en-US" baseline="30000" dirty="0">
                <a:latin typeface="Arial" charset="0"/>
              </a:rPr>
              <a:t>er</a:t>
            </a:r>
            <a:r>
              <a:rPr lang="en-US" dirty="0">
                <a:latin typeface="Arial" charset="0"/>
              </a:rPr>
              <a:t> element (</a:t>
            </a:r>
            <a:r>
              <a:rPr lang="en-US" b="1" dirty="0" err="1">
                <a:latin typeface="Courier"/>
                <a:cs typeface="Courier"/>
              </a:rPr>
              <a:t>arr</a:t>
            </a:r>
            <a:r>
              <a:rPr lang="en-US" b="1" dirty="0">
                <a:latin typeface="Courier"/>
                <a:cs typeface="Courier"/>
              </a:rPr>
              <a:t>=&amp;</a:t>
            </a:r>
            <a:r>
              <a:rPr lang="en-US" b="1" dirty="0" err="1">
                <a:latin typeface="Courier"/>
                <a:cs typeface="Courier"/>
              </a:rPr>
              <a:t>arr</a:t>
            </a:r>
            <a:r>
              <a:rPr lang="en-US" b="1" dirty="0">
                <a:latin typeface="Courier"/>
                <a:cs typeface="Courier"/>
              </a:rPr>
              <a:t>[0]</a:t>
            </a:r>
            <a:r>
              <a:rPr lang="en-US" dirty="0">
                <a:latin typeface="Arial" charset="0"/>
              </a:rPr>
              <a:t>)</a:t>
            </a:r>
          </a:p>
          <a:p>
            <a:endParaRPr lang="en-US" sz="800" dirty="0">
              <a:latin typeface="Arial" charset="0"/>
            </a:endParaRPr>
          </a:p>
          <a:p>
            <a:r>
              <a:rPr lang="en-US" dirty="0">
                <a:latin typeface="Arial" charset="0"/>
              </a:rPr>
              <a:t>Since the parameter is the address of the array, we can modify the array elements </a:t>
            </a:r>
          </a:p>
          <a:p>
            <a:endParaRPr lang="en-US" sz="800" dirty="0">
              <a:latin typeface="Arial" charset="0"/>
            </a:endParaRPr>
          </a:p>
          <a:p>
            <a:r>
              <a:rPr lang="en-US" dirty="0">
                <a:latin typeface="Arial" charset="0"/>
              </a:rPr>
              <a:t>The result is visible outside of the function</a:t>
            </a:r>
          </a:p>
          <a:p>
            <a:endParaRPr lang="en-US" dirty="0">
              <a:latin typeface="Arial" charset="0"/>
            </a:endParaRPr>
          </a:p>
          <a:p>
            <a:r>
              <a:rPr lang="en-US" dirty="0">
                <a:latin typeface="Arial" charset="0"/>
                <a:cs typeface="ＭＳ Ｐゴシック" charset="0"/>
              </a:rPr>
              <a:t>Example</a:t>
            </a:r>
          </a:p>
          <a:p>
            <a:pPr lvl="1"/>
            <a:r>
              <a:rPr lang="en-US" dirty="0">
                <a:latin typeface="Arial" charset="0"/>
              </a:rPr>
              <a:t>Function to initialize the n values of an 1D array </a:t>
            </a:r>
            <a:r>
              <a:rPr lang="en-US" b="1" dirty="0" err="1">
                <a:latin typeface="Arial" charset="0"/>
              </a:rPr>
              <a:t>arr</a:t>
            </a:r>
            <a:br>
              <a:rPr lang="en-US" b="1" dirty="0">
                <a:latin typeface="Arial" charset="0"/>
              </a:rPr>
            </a:br>
            <a:r>
              <a:rPr lang="en-US" b="1" dirty="0">
                <a:latin typeface="Courier"/>
                <a:cs typeface="Courier"/>
              </a:rPr>
              <a:t>void </a:t>
            </a:r>
            <a:r>
              <a:rPr lang="en-US" b="1" dirty="0" err="1">
                <a:latin typeface="Courier"/>
                <a:cs typeface="Courier"/>
              </a:rPr>
              <a:t>init_vector</a:t>
            </a:r>
            <a:r>
              <a:rPr lang="en-US" b="1" dirty="0">
                <a:latin typeface="Courier"/>
                <a:cs typeface="Courier"/>
              </a:rPr>
              <a:t> (</a:t>
            </a:r>
            <a:r>
              <a:rPr lang="en-US" b="1" dirty="0" err="1">
                <a:latin typeface="Courier"/>
                <a:cs typeface="Courier"/>
              </a:rPr>
              <a:t>int</a:t>
            </a:r>
            <a:r>
              <a:rPr lang="en-US" b="1" dirty="0">
                <a:latin typeface="Courier"/>
                <a:cs typeface="Courier"/>
              </a:rPr>
              <a:t> </a:t>
            </a:r>
            <a:r>
              <a:rPr lang="en-US" b="1" dirty="0" err="1">
                <a:latin typeface="Courier"/>
                <a:cs typeface="Courier"/>
              </a:rPr>
              <a:t>arr</a:t>
            </a:r>
            <a:r>
              <a:rPr lang="en-US" b="1" dirty="0">
                <a:latin typeface="Courier"/>
                <a:cs typeface="Courier"/>
              </a:rPr>
              <a:t> [], </a:t>
            </a:r>
            <a:r>
              <a:rPr lang="en-US" b="1" dirty="0" err="1">
                <a:latin typeface="Courier"/>
                <a:cs typeface="Courier"/>
              </a:rPr>
              <a:t>int</a:t>
            </a:r>
            <a:r>
              <a:rPr lang="en-US" b="1" dirty="0">
                <a:latin typeface="Courier"/>
                <a:cs typeface="Courier"/>
              </a:rPr>
              <a:t> n) </a:t>
            </a:r>
            <a:br>
              <a:rPr lang="en-US" b="1" dirty="0">
                <a:latin typeface="Courier"/>
                <a:cs typeface="Courier"/>
              </a:rPr>
            </a:br>
            <a:r>
              <a:rPr lang="en-US" b="1" dirty="0">
                <a:latin typeface="Courier"/>
                <a:cs typeface="Courier"/>
              </a:rPr>
              <a:t>{</a:t>
            </a:r>
            <a:br>
              <a:rPr lang="en-US" b="1" dirty="0">
                <a:latin typeface="Courier"/>
                <a:cs typeface="Courier"/>
              </a:rPr>
            </a:br>
            <a:r>
              <a:rPr lang="en-US" b="1" dirty="0">
                <a:latin typeface="Courier"/>
                <a:cs typeface="Courier"/>
              </a:rPr>
              <a:t>		</a:t>
            </a:r>
            <a:r>
              <a:rPr lang="en-US" b="1" dirty="0" err="1">
                <a:latin typeface="Courier"/>
                <a:cs typeface="Courier"/>
              </a:rPr>
              <a:t>int</a:t>
            </a:r>
            <a:r>
              <a:rPr lang="en-US" b="1" dirty="0">
                <a:latin typeface="Courier"/>
                <a:cs typeface="Courier"/>
              </a:rPr>
              <a:t> </a:t>
            </a:r>
            <a:r>
              <a:rPr lang="en-US" b="1" dirty="0" err="1">
                <a:latin typeface="Courier"/>
                <a:cs typeface="Courier"/>
              </a:rPr>
              <a:t>i</a:t>
            </a:r>
            <a:r>
              <a:rPr lang="en-US" b="1" dirty="0">
                <a:latin typeface="Courier"/>
                <a:cs typeface="Courier"/>
              </a:rPr>
              <a:t>;</a:t>
            </a:r>
            <a:br>
              <a:rPr lang="en-US" b="1" dirty="0">
                <a:latin typeface="Courier"/>
                <a:cs typeface="Courier"/>
              </a:rPr>
            </a:br>
            <a:r>
              <a:rPr lang="en-US" b="1" dirty="0">
                <a:latin typeface="Courier"/>
                <a:cs typeface="Courier"/>
              </a:rPr>
              <a:t>		for (</a:t>
            </a:r>
            <a:r>
              <a:rPr lang="en-US" b="1" dirty="0" err="1">
                <a:latin typeface="Courier"/>
                <a:cs typeface="Courier"/>
              </a:rPr>
              <a:t>i</a:t>
            </a:r>
            <a:r>
              <a:rPr lang="en-US" b="1" dirty="0">
                <a:latin typeface="Courier"/>
                <a:cs typeface="Courier"/>
              </a:rPr>
              <a:t>=0;i&lt;</a:t>
            </a:r>
            <a:r>
              <a:rPr lang="en-US" b="1" dirty="0" err="1">
                <a:latin typeface="Courier"/>
                <a:cs typeface="Courier"/>
              </a:rPr>
              <a:t>n;i</a:t>
            </a:r>
            <a:r>
              <a:rPr lang="en-US" b="1" dirty="0">
                <a:latin typeface="Courier"/>
                <a:cs typeface="Courier"/>
              </a:rPr>
              <a:t>++) { </a:t>
            </a:r>
            <a:r>
              <a:rPr lang="en-US" b="1" dirty="0" err="1">
                <a:latin typeface="Courier"/>
                <a:cs typeface="Courier"/>
              </a:rPr>
              <a:t>arr</a:t>
            </a:r>
            <a:r>
              <a:rPr lang="en-US" b="1" dirty="0">
                <a:latin typeface="Courier"/>
                <a:cs typeface="Courier"/>
              </a:rPr>
              <a:t>[</a:t>
            </a:r>
            <a:r>
              <a:rPr lang="en-US" b="1" dirty="0" err="1">
                <a:latin typeface="Courier"/>
                <a:cs typeface="Courier"/>
              </a:rPr>
              <a:t>i</a:t>
            </a:r>
            <a:r>
              <a:rPr lang="en-US" b="1" dirty="0">
                <a:latin typeface="Courier"/>
                <a:cs typeface="Courier"/>
              </a:rPr>
              <a:t>]=0; }</a:t>
            </a:r>
            <a:br>
              <a:rPr lang="en-US" b="1" dirty="0">
                <a:latin typeface="Courier"/>
                <a:cs typeface="Courier"/>
              </a:rPr>
            </a:br>
            <a:r>
              <a:rPr lang="en-US" b="1" dirty="0">
                <a:latin typeface="Courier"/>
                <a:cs typeface="Courier"/>
              </a:rPr>
              <a:t>}</a:t>
            </a:r>
          </a:p>
        </p:txBody>
      </p:sp>
      <p:sp>
        <p:nvSpPr>
          <p:cNvPr id="6"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Passing </a:t>
            </a:r>
            <a:r>
              <a:rPr lang="fr-FR" sz="2800" dirty="0">
                <a:latin typeface="Arial" charset="0"/>
                <a:cs typeface="ＭＳ Ｐゴシック" charset="0"/>
              </a:rPr>
              <a:t>arguments</a:t>
            </a:r>
            <a:r>
              <a:rPr lang="fr-FR" sz="2800" dirty="0">
                <a:latin typeface="Arial" charset="0"/>
                <a:ea typeface="ＭＳ Ｐゴシック" charset="0"/>
                <a:cs typeface="ＭＳ Ｐゴシック" charset="0"/>
              </a:rPr>
              <a:t>: </a:t>
            </a:r>
            <a:r>
              <a:rPr lang="fr-FR" sz="2800" dirty="0" err="1">
                <a:latin typeface="Arial" charset="0"/>
                <a:cs typeface="ＭＳ Ｐゴシック" charset="0"/>
              </a:rPr>
              <a:t>A</a:t>
            </a:r>
            <a:r>
              <a:rPr lang="fr-FR" sz="2800" dirty="0" err="1">
                <a:latin typeface="Arial" charset="0"/>
                <a:ea typeface="ＭＳ Ｐゴシック" charset="0"/>
                <a:cs typeface="ＭＳ Ｐゴシック" charset="0"/>
              </a:rPr>
              <a:t>rray</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174</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5783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u contenu 2"/>
          <p:cNvSpPr>
            <a:spLocks noGrp="1"/>
          </p:cNvSpPr>
          <p:nvPr>
            <p:ph idx="1"/>
          </p:nvPr>
        </p:nvSpPr>
        <p:spPr>
          <a:xfrm>
            <a:off x="457200" y="914400"/>
            <a:ext cx="8686800" cy="5257800"/>
          </a:xfrm>
        </p:spPr>
        <p:txBody>
          <a:bodyPr/>
          <a:lstStyle/>
          <a:p>
            <a:r>
              <a:rPr lang="en-US" sz="2800" dirty="0"/>
              <a:t>Array of arrays: </a:t>
            </a:r>
          </a:p>
          <a:p>
            <a:pPr lvl="1"/>
            <a:r>
              <a:rPr lang="en-US" sz="2400" b="1" dirty="0" err="1">
                <a:latin typeface="Courier"/>
                <a:cs typeface="Courier"/>
              </a:rPr>
              <a:t>int</a:t>
            </a:r>
            <a:r>
              <a:rPr lang="en-US" sz="2400" b="1" dirty="0">
                <a:latin typeface="Courier"/>
                <a:cs typeface="Courier"/>
              </a:rPr>
              <a:t> </a:t>
            </a:r>
            <a:r>
              <a:rPr lang="en-US" sz="2400" b="1" dirty="0" err="1">
                <a:latin typeface="Courier"/>
                <a:cs typeface="Courier"/>
              </a:rPr>
              <a:t>arr</a:t>
            </a:r>
            <a:r>
              <a:rPr lang="en-US" sz="2400" b="1" dirty="0">
                <a:latin typeface="Courier"/>
                <a:cs typeface="Courier"/>
              </a:rPr>
              <a:t>[][COLS]</a:t>
            </a:r>
          </a:p>
          <a:p>
            <a:r>
              <a:rPr lang="en-US" sz="2800" dirty="0"/>
              <a:t>Pointer to an array</a:t>
            </a:r>
            <a:r>
              <a:rPr lang="en-US" sz="2800" dirty="0">
                <a:cs typeface="Courier"/>
              </a:rPr>
              <a:t>:</a:t>
            </a:r>
            <a:r>
              <a:rPr lang="en-US" sz="2800" b="1" dirty="0">
                <a:latin typeface="Courier"/>
                <a:cs typeface="Courier"/>
              </a:rPr>
              <a:t> </a:t>
            </a:r>
          </a:p>
          <a:p>
            <a:pPr lvl="1"/>
            <a:r>
              <a:rPr lang="en-US" sz="2400" b="1" dirty="0" err="1">
                <a:latin typeface="Courier"/>
                <a:cs typeface="Courier"/>
              </a:rPr>
              <a:t>int</a:t>
            </a:r>
            <a:r>
              <a:rPr lang="en-US" sz="2400" b="1" dirty="0">
                <a:latin typeface="Courier"/>
                <a:cs typeface="Courier"/>
              </a:rPr>
              <a:t> (*</a:t>
            </a:r>
            <a:r>
              <a:rPr lang="en-US" sz="2400" b="1" dirty="0" err="1">
                <a:latin typeface="Courier"/>
                <a:cs typeface="Courier"/>
              </a:rPr>
              <a:t>arr</a:t>
            </a:r>
            <a:r>
              <a:rPr lang="en-US" sz="2400" b="1" dirty="0">
                <a:latin typeface="Courier"/>
                <a:cs typeface="Courier"/>
              </a:rPr>
              <a:t>) [COLS]</a:t>
            </a:r>
          </a:p>
          <a:p>
            <a:pPr lvl="1"/>
            <a:endParaRPr lang="en-US" sz="2400" b="1" dirty="0">
              <a:latin typeface="Courier"/>
              <a:cs typeface="Courier"/>
            </a:endParaRPr>
          </a:p>
          <a:p>
            <a:r>
              <a:rPr lang="en-US" sz="2800" b="1" dirty="0">
                <a:solidFill>
                  <a:srgbClr val="FF0000"/>
                </a:solidFill>
              </a:rPr>
              <a:t>BUT NOT double pointer ! </a:t>
            </a:r>
          </a:p>
          <a:p>
            <a:pPr lvl="1"/>
            <a:r>
              <a:rPr lang="en-US" sz="2400" b="1" dirty="0" err="1">
                <a:latin typeface="Courier"/>
                <a:cs typeface="Courier"/>
              </a:rPr>
              <a:t>int</a:t>
            </a:r>
            <a:r>
              <a:rPr lang="en-US" sz="2400" b="1" dirty="0">
                <a:latin typeface="Courier"/>
                <a:cs typeface="Courier"/>
              </a:rPr>
              <a:t> **</a:t>
            </a:r>
            <a:r>
              <a:rPr lang="en-US" sz="2400" b="1" dirty="0" err="1">
                <a:latin typeface="Courier"/>
                <a:cs typeface="Courier"/>
              </a:rPr>
              <a:t>arr</a:t>
            </a:r>
            <a:endParaRPr lang="en-US" sz="2400" b="1" dirty="0">
              <a:latin typeface="Courier"/>
              <a:cs typeface="Courier"/>
            </a:endParaRPr>
          </a:p>
          <a:p>
            <a:pPr lvl="1"/>
            <a:r>
              <a:rPr lang="en-US" sz="2400" dirty="0"/>
              <a:t>compiler error because it cannot compute the size!</a:t>
            </a:r>
          </a:p>
          <a:p>
            <a:pPr lvl="1"/>
            <a:r>
              <a:rPr lang="en-US" sz="2400" dirty="0"/>
              <a:t>compiler may NOT prevent you, BUT you may not have  the expected results in some situations!</a:t>
            </a:r>
          </a:p>
          <a:p>
            <a:pPr lvl="2"/>
            <a:endParaRPr lang="en-US" sz="2400" dirty="0"/>
          </a:p>
          <a:p>
            <a:pPr lvl="1"/>
            <a:endParaRPr lang="en-US" sz="2400" dirty="0"/>
          </a:p>
          <a:p>
            <a:pPr lvl="2" indent="0">
              <a:buNone/>
            </a:pPr>
            <a:endParaRPr lang="en-US" sz="2400" b="1" dirty="0">
              <a:latin typeface="Courier"/>
              <a:cs typeface="Courier"/>
            </a:endParaRPr>
          </a:p>
          <a:p>
            <a:pPr lvl="2"/>
            <a:endParaRPr lang="en-US" sz="2400" b="1" dirty="0">
              <a:latin typeface="Courier"/>
              <a:cs typeface="Courier"/>
            </a:endParaRPr>
          </a:p>
        </p:txBody>
      </p:sp>
      <p:sp>
        <p:nvSpPr>
          <p:cNvPr id="6"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Passing </a:t>
            </a:r>
            <a:r>
              <a:rPr lang="fr-FR" sz="2800" dirty="0">
                <a:latin typeface="Arial" charset="0"/>
                <a:cs typeface="ＭＳ Ｐゴシック" charset="0"/>
              </a:rPr>
              <a:t>arguments</a:t>
            </a:r>
            <a:r>
              <a:rPr lang="fr-FR" sz="2800" dirty="0">
                <a:latin typeface="Arial" charset="0"/>
                <a:ea typeface="ＭＳ Ｐゴシック" charset="0"/>
                <a:cs typeface="ＭＳ Ｐゴシック" charset="0"/>
              </a:rPr>
              <a:t>: 2D </a:t>
            </a:r>
            <a:r>
              <a:rPr lang="fr-FR" sz="2800" dirty="0" err="1">
                <a:latin typeface="Arial" charset="0"/>
                <a:ea typeface="ＭＳ Ｐゴシック" charset="0"/>
                <a:cs typeface="ＭＳ Ｐゴシック" charset="0"/>
              </a:rPr>
              <a:t>Arrays</a:t>
            </a:r>
            <a:endParaRPr lang="fr-FR" sz="2800" dirty="0">
              <a:latin typeface="Arial" charset="0"/>
              <a:ea typeface="ＭＳ Ｐゴシック"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175</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7803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a:latin typeface="Arial" charset="0"/>
                <a:cs typeface="ＭＳ Ｐゴシック" charset="0"/>
              </a:rPr>
              <a:t>Passing arguments: </a:t>
            </a:r>
            <a:r>
              <a:rPr lang="fr-FR" sz="2800" dirty="0" err="1">
                <a:latin typeface="Arial" charset="0"/>
                <a:cs typeface="ＭＳ Ｐゴシック" charset="0"/>
              </a:rPr>
              <a:t>Arrays</a:t>
            </a:r>
            <a:endParaRPr lang="fr-FR" sz="2800" dirty="0">
              <a:latin typeface="Arial" charset="0"/>
              <a:ea typeface="ＭＳ Ｐゴシック" charset="0"/>
              <a:cs typeface="ＭＳ Ｐゴシック" charset="0"/>
            </a:endParaRP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176</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buNone/>
            </a:pPr>
            <a:r>
              <a:rPr lang="fr-FR" sz="4000" b="1">
                <a:solidFill>
                  <a:srgbClr val="800000"/>
                </a:solidFill>
                <a:cs typeface="ＭＳ Ｐゴシック" charset="0"/>
              </a:rPr>
              <a:t>Q10-Q13</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56204752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re 1"/>
          <p:cNvSpPr>
            <a:spLocks noGrp="1"/>
          </p:cNvSpPr>
          <p:nvPr>
            <p:ph type="title"/>
          </p:nvPr>
        </p:nvSpPr>
        <p:spPr>
          <a:xfrm>
            <a:off x="304800" y="152400"/>
            <a:ext cx="8227640" cy="533400"/>
          </a:xfrm>
        </p:spPr>
        <p:txBody>
          <a:bodyPr/>
          <a:lstStyle/>
          <a:p>
            <a:r>
              <a:rPr lang="en-GB" sz="2800" dirty="0">
                <a:latin typeface="Arial" charset="0"/>
                <a:cs typeface="ＭＳ Ｐゴシック" charset="0"/>
              </a:rPr>
              <a:t>The main function</a:t>
            </a:r>
          </a:p>
        </p:txBody>
      </p:sp>
      <p:sp>
        <p:nvSpPr>
          <p:cNvPr id="121858" name="Espace réservé du contenu 2"/>
          <p:cNvSpPr>
            <a:spLocks noGrp="1"/>
          </p:cNvSpPr>
          <p:nvPr>
            <p:ph idx="1"/>
          </p:nvPr>
        </p:nvSpPr>
        <p:spPr>
          <a:xfrm>
            <a:off x="323528" y="836712"/>
            <a:ext cx="8820472" cy="4537075"/>
          </a:xfrm>
        </p:spPr>
        <p:txBody>
          <a:bodyPr/>
          <a:lstStyle/>
          <a:p>
            <a:r>
              <a:rPr lang="en-GB" dirty="0">
                <a:latin typeface="Arial" charset="0"/>
                <a:cs typeface="ＭＳ Ｐゴシック" charset="0"/>
              </a:rPr>
              <a:t>An executable can be called with a list of arguments</a:t>
            </a:r>
          </a:p>
          <a:p>
            <a:pPr marL="0" indent="0">
              <a:buNone/>
            </a:pPr>
            <a:r>
              <a:rPr lang="en-GB" sz="2000" b="1" dirty="0">
                <a:latin typeface="Courier"/>
                <a:cs typeface="Courier"/>
              </a:rPr>
              <a:t>./</a:t>
            </a:r>
            <a:r>
              <a:rPr lang="en-GB" sz="2000" b="1" dirty="0" err="1">
                <a:latin typeface="Courier"/>
                <a:cs typeface="Courier"/>
              </a:rPr>
              <a:t>prog</a:t>
            </a:r>
            <a:r>
              <a:rPr lang="en-GB" sz="2000" b="1" dirty="0">
                <a:latin typeface="Courier"/>
                <a:cs typeface="Courier"/>
              </a:rPr>
              <a:t> arg1 arg2 … </a:t>
            </a:r>
            <a:r>
              <a:rPr lang="en-GB" sz="2000" b="1" dirty="0" err="1">
                <a:latin typeface="Courier"/>
                <a:cs typeface="Courier"/>
              </a:rPr>
              <a:t>argn</a:t>
            </a:r>
            <a:endParaRPr lang="en-GB" sz="2000" b="1" dirty="0">
              <a:latin typeface="Courier"/>
              <a:cs typeface="Courier"/>
            </a:endParaRPr>
          </a:p>
          <a:p>
            <a:pPr lvl="1"/>
            <a:endParaRPr lang="en-GB" sz="1000" dirty="0">
              <a:latin typeface="Arial" charset="0"/>
            </a:endParaRPr>
          </a:p>
          <a:p>
            <a:r>
              <a:rPr lang="en-GB" dirty="0">
                <a:latin typeface="Arial" charset="0"/>
                <a:cs typeface="ＭＳ Ｐゴシック" charset="0"/>
              </a:rPr>
              <a:t>These arguments are the parameters of the function </a:t>
            </a:r>
            <a:r>
              <a:rPr lang="en-GB" b="1" dirty="0">
                <a:latin typeface="Courier"/>
                <a:cs typeface="Courier"/>
              </a:rPr>
              <a:t>main</a:t>
            </a:r>
            <a:r>
              <a:rPr lang="en-GB" dirty="0">
                <a:latin typeface="Courier"/>
                <a:cs typeface="Courier"/>
              </a:rPr>
              <a:t> </a:t>
            </a:r>
          </a:p>
          <a:p>
            <a:endParaRPr lang="en-GB" sz="1000" dirty="0">
              <a:latin typeface="Courier"/>
              <a:cs typeface="Courier"/>
            </a:endParaRPr>
          </a:p>
          <a:p>
            <a:r>
              <a:rPr lang="en-GB" dirty="0">
                <a:latin typeface="Arial" charset="0"/>
              </a:rPr>
              <a:t>The prototype of main function:</a:t>
            </a:r>
          </a:p>
          <a:p>
            <a:pPr marL="0" indent="0">
              <a:buNone/>
            </a:pPr>
            <a:r>
              <a:rPr lang="en-GB" b="1" dirty="0" err="1">
                <a:latin typeface="Courier"/>
                <a:cs typeface="Courier"/>
              </a:rPr>
              <a:t>int</a:t>
            </a:r>
            <a:r>
              <a:rPr lang="en-GB" b="1" dirty="0">
                <a:latin typeface="Courier"/>
                <a:cs typeface="Courier"/>
              </a:rPr>
              <a:t> main(</a:t>
            </a:r>
            <a:r>
              <a:rPr lang="en-GB" b="1" dirty="0" err="1">
                <a:latin typeface="Courier"/>
                <a:cs typeface="Courier"/>
              </a:rPr>
              <a:t>int</a:t>
            </a:r>
            <a:r>
              <a:rPr lang="en-GB" b="1" dirty="0">
                <a:latin typeface="Courier"/>
                <a:cs typeface="Courier"/>
              </a:rPr>
              <a:t> </a:t>
            </a:r>
            <a:r>
              <a:rPr lang="en-GB" b="1" dirty="0" err="1">
                <a:latin typeface="Courier"/>
                <a:cs typeface="Courier"/>
              </a:rPr>
              <a:t>argc</a:t>
            </a:r>
            <a:r>
              <a:rPr lang="en-GB" b="1" dirty="0">
                <a:latin typeface="Courier"/>
                <a:cs typeface="Courier"/>
              </a:rPr>
              <a:t>, char* </a:t>
            </a:r>
            <a:r>
              <a:rPr lang="en-GB" b="1" dirty="0" err="1">
                <a:latin typeface="Courier"/>
                <a:cs typeface="Courier"/>
              </a:rPr>
              <a:t>argv</a:t>
            </a:r>
            <a:r>
              <a:rPr lang="en-GB" b="1" dirty="0">
                <a:latin typeface="Courier"/>
                <a:cs typeface="Courier"/>
              </a:rPr>
              <a:t>[])</a:t>
            </a:r>
          </a:p>
          <a:p>
            <a:pPr lvl="1"/>
            <a:r>
              <a:rPr lang="en-GB" b="1" dirty="0" err="1">
                <a:latin typeface="Courier New"/>
                <a:cs typeface="Courier New"/>
              </a:rPr>
              <a:t>argc</a:t>
            </a:r>
            <a:r>
              <a:rPr lang="en-GB" dirty="0">
                <a:latin typeface="Arial" charset="0"/>
              </a:rPr>
              <a:t>: size of </a:t>
            </a:r>
            <a:r>
              <a:rPr lang="en-GB" b="1" dirty="0" err="1">
                <a:latin typeface="Courier New"/>
                <a:cs typeface="Courier New"/>
              </a:rPr>
              <a:t>argv</a:t>
            </a:r>
            <a:r>
              <a:rPr lang="en-GB" dirty="0">
                <a:latin typeface="Arial" charset="0"/>
              </a:rPr>
              <a:t> (number of passed arguments + 1)</a:t>
            </a:r>
          </a:p>
          <a:p>
            <a:pPr lvl="1"/>
            <a:r>
              <a:rPr lang="en-GB" b="1" dirty="0" err="1">
                <a:latin typeface="Courier New"/>
                <a:cs typeface="Courier New"/>
              </a:rPr>
              <a:t>argv</a:t>
            </a:r>
            <a:r>
              <a:rPr lang="en-GB" dirty="0">
                <a:latin typeface="Arial" charset="0"/>
              </a:rPr>
              <a:t>: is a table of strings</a:t>
            </a:r>
          </a:p>
          <a:p>
            <a:pPr lvl="2"/>
            <a:r>
              <a:rPr lang="en-GB" b="1" dirty="0" err="1">
                <a:latin typeface="Courier New"/>
                <a:cs typeface="Courier New"/>
              </a:rPr>
              <a:t>argv</a:t>
            </a:r>
            <a:r>
              <a:rPr lang="en-GB" b="1" dirty="0">
                <a:latin typeface="Courier New"/>
                <a:cs typeface="Courier New"/>
              </a:rPr>
              <a:t>[0] </a:t>
            </a:r>
            <a:r>
              <a:rPr lang="en-GB" dirty="0">
                <a:latin typeface="Arial" charset="0"/>
              </a:rPr>
              <a:t>is a </a:t>
            </a:r>
            <a:r>
              <a:rPr lang="en-GB" b="1" dirty="0">
                <a:latin typeface="Courier"/>
                <a:cs typeface="Courier"/>
              </a:rPr>
              <a:t>char*</a:t>
            </a:r>
            <a:r>
              <a:rPr lang="en-GB" dirty="0">
                <a:latin typeface="Arial" charset="0"/>
              </a:rPr>
              <a:t> pointing to the name of the program</a:t>
            </a:r>
          </a:p>
          <a:p>
            <a:pPr lvl="2"/>
            <a:r>
              <a:rPr lang="en-GB" b="1" dirty="0" err="1">
                <a:latin typeface="Courier New"/>
                <a:cs typeface="Courier New"/>
              </a:rPr>
              <a:t>argv</a:t>
            </a:r>
            <a:r>
              <a:rPr lang="en-GB" b="1" dirty="0">
                <a:latin typeface="Courier New"/>
                <a:cs typeface="Courier New"/>
              </a:rPr>
              <a:t>[1] </a:t>
            </a:r>
            <a:r>
              <a:rPr lang="en-GB" dirty="0">
                <a:latin typeface="Arial" charset="0"/>
              </a:rPr>
              <a:t>is a </a:t>
            </a:r>
            <a:r>
              <a:rPr lang="en-GB" b="1" dirty="0">
                <a:latin typeface="Courier"/>
                <a:cs typeface="Courier"/>
              </a:rPr>
              <a:t>char* </a:t>
            </a:r>
            <a:r>
              <a:rPr lang="en-GB" dirty="0">
                <a:latin typeface="Arial" charset="0"/>
              </a:rPr>
              <a:t>pointing to the 1st argument</a:t>
            </a:r>
          </a:p>
          <a:p>
            <a:pPr lvl="2"/>
            <a:r>
              <a:rPr lang="en-GB" b="1" dirty="0" err="1">
                <a:latin typeface="Courier New"/>
                <a:cs typeface="Courier New"/>
              </a:rPr>
              <a:t>argv</a:t>
            </a:r>
            <a:r>
              <a:rPr lang="en-GB" b="1" dirty="0">
                <a:latin typeface="Courier New"/>
                <a:cs typeface="Courier New"/>
              </a:rPr>
              <a:t>[arc-1] </a:t>
            </a:r>
            <a:r>
              <a:rPr lang="en-GB" dirty="0">
                <a:latin typeface="Arial" charset="0"/>
              </a:rPr>
              <a:t>is a </a:t>
            </a:r>
            <a:r>
              <a:rPr lang="en-GB" b="1" dirty="0">
                <a:latin typeface="Courier"/>
                <a:cs typeface="Courier"/>
              </a:rPr>
              <a:t>char* </a:t>
            </a:r>
            <a:r>
              <a:rPr lang="en-GB" dirty="0">
                <a:latin typeface="Arial" charset="0"/>
              </a:rPr>
              <a:t>pointing to the last argument</a:t>
            </a:r>
          </a:p>
          <a:p>
            <a:r>
              <a:rPr lang="en-GB" dirty="0">
                <a:latin typeface="Arial" charset="0"/>
                <a:cs typeface="ＭＳ Ｐゴシック" charset="0"/>
              </a:rPr>
              <a:t>Remark</a:t>
            </a:r>
          </a:p>
          <a:p>
            <a:pPr lvl="1"/>
            <a:r>
              <a:rPr lang="en-GB" dirty="0">
                <a:latin typeface="Arial" charset="0"/>
              </a:rPr>
              <a:t>If we want to use an argument as </a:t>
            </a:r>
            <a:r>
              <a:rPr lang="en-GB" b="1" dirty="0" err="1">
                <a:latin typeface="Courier"/>
                <a:cs typeface="Courier"/>
              </a:rPr>
              <a:t>int</a:t>
            </a:r>
            <a:r>
              <a:rPr lang="en-GB" dirty="0">
                <a:latin typeface="Arial" charset="0"/>
              </a:rPr>
              <a:t>, we have to convert it!</a:t>
            </a:r>
          </a:p>
          <a:p>
            <a:pPr marL="542925" lvl="1" indent="0">
              <a:buNone/>
            </a:pPr>
            <a:r>
              <a:rPr lang="en-GB" b="1" dirty="0" err="1">
                <a:latin typeface="Courier"/>
                <a:cs typeface="Courier"/>
              </a:rPr>
              <a:t>int</a:t>
            </a:r>
            <a:r>
              <a:rPr lang="en-GB" b="1" dirty="0">
                <a:latin typeface="Courier"/>
                <a:cs typeface="Courier"/>
              </a:rPr>
              <a:t> </a:t>
            </a:r>
            <a:r>
              <a:rPr lang="en-GB" b="1" dirty="0" err="1">
                <a:latin typeface="Courier"/>
                <a:cs typeface="Courier"/>
              </a:rPr>
              <a:t>atoi</a:t>
            </a:r>
            <a:r>
              <a:rPr lang="en-GB" b="1" dirty="0">
                <a:latin typeface="Courier"/>
                <a:cs typeface="Courier"/>
              </a:rPr>
              <a:t>(char* </a:t>
            </a:r>
            <a:r>
              <a:rPr lang="en-GB" b="1" dirty="0" err="1">
                <a:latin typeface="Courier"/>
                <a:cs typeface="Courier"/>
              </a:rPr>
              <a:t>ch</a:t>
            </a:r>
            <a:r>
              <a:rPr lang="en-GB" b="1" dirty="0">
                <a:latin typeface="Arial" charset="0"/>
              </a:rPr>
              <a:t>) </a:t>
            </a:r>
            <a:r>
              <a:rPr lang="en-GB" dirty="0">
                <a:latin typeface="Arial" charset="0"/>
              </a:rPr>
              <a:t>of </a:t>
            </a:r>
            <a:r>
              <a:rPr lang="en-GB" b="1" dirty="0" err="1">
                <a:latin typeface="Courier"/>
                <a:cs typeface="Courier"/>
              </a:rPr>
              <a:t>stdlib.h</a:t>
            </a:r>
            <a:r>
              <a:rPr lang="en-GB" b="1" dirty="0">
                <a:latin typeface="Courier"/>
                <a:cs typeface="Courier"/>
              </a:rPr>
              <a:t> </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9060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5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5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185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185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185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1858">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1858">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185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858">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1858">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185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re 1"/>
          <p:cNvSpPr>
            <a:spLocks noGrp="1"/>
          </p:cNvSpPr>
          <p:nvPr>
            <p:ph type="title"/>
          </p:nvPr>
        </p:nvSpPr>
        <p:spPr/>
        <p:txBody>
          <a:bodyPr/>
          <a:lstStyle/>
          <a:p>
            <a:r>
              <a:rPr lang="fr-FR" sz="2800" dirty="0" err="1">
                <a:latin typeface="Arial" charset="0"/>
                <a:ea typeface="ＭＳ Ｐゴシック" charset="0"/>
                <a:cs typeface="ＭＳ Ｐゴシック" charset="0"/>
              </a:rPr>
              <a:t>Example</a:t>
            </a:r>
            <a:endParaRPr lang="fr-FR" sz="2800" dirty="0">
              <a:latin typeface="Arial" charset="0"/>
              <a:ea typeface="ＭＳ Ｐゴシック" charset="0"/>
              <a:cs typeface="ＭＳ Ｐゴシック" charset="0"/>
            </a:endParaRPr>
          </a:p>
        </p:txBody>
      </p:sp>
      <p:sp>
        <p:nvSpPr>
          <p:cNvPr id="122882" name="Espace réservé du contenu 2"/>
          <p:cNvSpPr>
            <a:spLocks noGrp="1"/>
          </p:cNvSpPr>
          <p:nvPr>
            <p:ph idx="1"/>
          </p:nvPr>
        </p:nvSpPr>
        <p:spPr>
          <a:xfrm>
            <a:off x="457200" y="3566120"/>
            <a:ext cx="8261350" cy="2671192"/>
          </a:xfrm>
        </p:spPr>
        <p:txBody>
          <a:bodyPr/>
          <a:lstStyle/>
          <a:p>
            <a:r>
              <a:rPr lang="en-GB" dirty="0">
                <a:latin typeface="Arial" charset="0"/>
                <a:cs typeface="ＭＳ Ｐゴシック" charset="0"/>
              </a:rPr>
              <a:t>What does prints execution of the command: </a:t>
            </a:r>
            <a:r>
              <a:rPr lang="en-GB" b="1" dirty="0">
                <a:latin typeface="Courier"/>
                <a:cs typeface="Courier"/>
              </a:rPr>
              <a:t>./</a:t>
            </a:r>
            <a:r>
              <a:rPr lang="en-GB" b="1" dirty="0" err="1">
                <a:latin typeface="Courier"/>
                <a:cs typeface="Courier"/>
              </a:rPr>
              <a:t>prog</a:t>
            </a:r>
            <a:r>
              <a:rPr lang="en-GB" b="1" dirty="0">
                <a:latin typeface="Courier"/>
                <a:cs typeface="Courier"/>
              </a:rPr>
              <a:t> foo 12 bar </a:t>
            </a:r>
            <a:r>
              <a:rPr lang="en-GB" dirty="0">
                <a:latin typeface="Arial" charset="0"/>
                <a:cs typeface="ＭＳ Ｐゴシック" charset="0"/>
              </a:rPr>
              <a:t>? </a:t>
            </a:r>
            <a:br>
              <a:rPr lang="en-GB" dirty="0">
                <a:latin typeface="Arial" charset="0"/>
                <a:cs typeface="ＭＳ Ｐゴシック" charset="0"/>
              </a:rPr>
            </a:br>
            <a:endParaRPr lang="en-GB" dirty="0">
              <a:latin typeface="Arial" charset="0"/>
              <a:cs typeface="ＭＳ Ｐゴシック" charset="0"/>
            </a:endParaRPr>
          </a:p>
        </p:txBody>
      </p:sp>
      <p:pic>
        <p:nvPicPr>
          <p:cNvPr id="122884" name="Image 4" descr="Capture d’écran 2014-08-27 à 16.05.19.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9652" y="800708"/>
            <a:ext cx="6700677" cy="2556284"/>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178</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8856964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179</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a:xfrm>
            <a:off x="1079612" y="2024844"/>
            <a:ext cx="7018548" cy="1470025"/>
          </a:xfrm>
        </p:spPr>
        <p:txBody>
          <a:bodyPr/>
          <a:lstStyle/>
          <a:p>
            <a:r>
              <a:rPr lang="en-GB" dirty="0">
                <a:latin typeface="Arial" charset="0"/>
              </a:rPr>
              <a:t>CM7: Dynamic memory allocation</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5292724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memory4.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247964" y="949792"/>
            <a:ext cx="4968552" cy="5027179"/>
          </a:xfrm>
          <a:prstGeom prst="rect">
            <a:avLst/>
          </a:prstGeom>
        </p:spPr>
      </p:pic>
      <p:sp>
        <p:nvSpPr>
          <p:cNvPr id="2" name="Title 1"/>
          <p:cNvSpPr>
            <a:spLocks noGrp="1"/>
          </p:cNvSpPr>
          <p:nvPr>
            <p:ph type="title"/>
          </p:nvPr>
        </p:nvSpPr>
        <p:spPr/>
        <p:txBody>
          <a:bodyPr/>
          <a:lstStyle/>
          <a:p>
            <a:r>
              <a:rPr lang="en-US" sz="2800" dirty="0"/>
              <a:t>Variable allocation in memory</a:t>
            </a:r>
          </a:p>
        </p:txBody>
      </p:sp>
      <p:sp>
        <p:nvSpPr>
          <p:cNvPr id="3" name="Content Placeholder 2"/>
          <p:cNvSpPr>
            <a:spLocks noGrp="1"/>
          </p:cNvSpPr>
          <p:nvPr>
            <p:ph idx="1"/>
          </p:nvPr>
        </p:nvSpPr>
        <p:spPr>
          <a:xfrm>
            <a:off x="71500" y="764704"/>
            <a:ext cx="4644516" cy="2694620"/>
          </a:xfrm>
        </p:spPr>
        <p:txBody>
          <a:bodyPr/>
          <a:lstStyle/>
          <a:p>
            <a:r>
              <a:rPr lang="en-US" b="1" dirty="0"/>
              <a:t>Static</a:t>
            </a:r>
            <a:r>
              <a:rPr lang="en-US" dirty="0"/>
              <a:t>: </a:t>
            </a:r>
          </a:p>
          <a:p>
            <a:pPr lvl="1"/>
            <a:r>
              <a:rPr lang="en-US" dirty="0"/>
              <a:t>global and static variable storage</a:t>
            </a:r>
          </a:p>
          <a:p>
            <a:pPr lvl="1"/>
            <a:r>
              <a:rPr lang="en-US" dirty="0"/>
              <a:t>permanent for the entire run of the program.</a:t>
            </a:r>
          </a:p>
          <a:p>
            <a:pPr lvl="1"/>
            <a:r>
              <a:rPr lang="en-US" dirty="0"/>
              <a:t>Allocation at compile/link time</a:t>
            </a:r>
          </a:p>
          <a:p>
            <a:r>
              <a:rPr lang="en-US" b="1" dirty="0"/>
              <a:t>Stack</a:t>
            </a:r>
            <a:r>
              <a:rPr lang="en-US" dirty="0"/>
              <a:t>: </a:t>
            </a:r>
          </a:p>
          <a:p>
            <a:pPr lvl="1"/>
            <a:r>
              <a:rPr lang="en-US" dirty="0"/>
              <a:t>local variable storage </a:t>
            </a:r>
          </a:p>
          <a:p>
            <a:pPr lvl="1"/>
            <a:r>
              <a:rPr lang="en-US" dirty="0"/>
              <a:t>automatic, continuous memory</a:t>
            </a:r>
          </a:p>
          <a:p>
            <a:pPr lvl="1"/>
            <a:r>
              <a:rPr lang="en-US" dirty="0"/>
              <a:t>Allocation during execution</a:t>
            </a:r>
          </a:p>
          <a:p>
            <a:r>
              <a:rPr lang="en-US" b="1" dirty="0"/>
              <a:t>Heap</a:t>
            </a:r>
            <a:r>
              <a:rPr lang="en-US" dirty="0"/>
              <a:t>: </a:t>
            </a:r>
          </a:p>
          <a:p>
            <a:pPr lvl="1"/>
            <a:r>
              <a:rPr lang="en-US" dirty="0"/>
              <a:t>dynamic storage </a:t>
            </a:r>
          </a:p>
          <a:p>
            <a:pPr lvl="1"/>
            <a:r>
              <a:rPr lang="en-US" dirty="0"/>
              <a:t>large pool of memory, not allocated in contiguous order</a:t>
            </a:r>
          </a:p>
          <a:p>
            <a:pPr lvl="1"/>
            <a:r>
              <a:rPr lang="en-US" dirty="0"/>
              <a:t>Allocation during execution</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180</a:t>
            </a:fld>
            <a:endParaRPr lang="fr-F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157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fr-FR" sz="2800" dirty="0" err="1">
                <a:latin typeface="Arial" charset="0"/>
                <a:cs typeface="ＭＳ Ｐゴシック" charset="0"/>
              </a:rPr>
              <a:t>Static</a:t>
            </a:r>
            <a:r>
              <a:rPr lang="fr-FR" sz="2800" dirty="0">
                <a:latin typeface="Arial" charset="0"/>
                <a:cs typeface="ＭＳ Ｐゴシック" charset="0"/>
              </a:rPr>
              <a:t> &amp; </a:t>
            </a:r>
            <a:r>
              <a:rPr lang="fr-FR" sz="2800" dirty="0" err="1">
                <a:latin typeface="Arial" charset="0"/>
                <a:cs typeface="ＭＳ Ｐゴシック" charset="0"/>
              </a:rPr>
              <a:t>Automatic</a:t>
            </a:r>
            <a:r>
              <a:rPr lang="fr-FR" sz="2800" dirty="0">
                <a:latin typeface="Arial" charset="0"/>
                <a:cs typeface="ＭＳ Ｐゴシック" charset="0"/>
              </a:rPr>
              <a:t> </a:t>
            </a:r>
            <a:r>
              <a:rPr lang="fr-FR" sz="2800" dirty="0" err="1">
                <a:latin typeface="Arial" charset="0"/>
                <a:ea typeface="ＭＳ Ｐゴシック" charset="0"/>
                <a:cs typeface="ＭＳ Ｐゴシック" charset="0"/>
              </a:rPr>
              <a:t>memory</a:t>
            </a:r>
            <a:r>
              <a:rPr lang="fr-FR" sz="2800" dirty="0">
                <a:latin typeface="Arial" charset="0"/>
                <a:ea typeface="ＭＳ Ｐゴシック" charset="0"/>
                <a:cs typeface="ＭＳ Ｐゴシック" charset="0"/>
              </a:rPr>
              <a:t> allocation</a:t>
            </a:r>
          </a:p>
        </p:txBody>
      </p:sp>
      <p:sp>
        <p:nvSpPr>
          <p:cNvPr id="126978"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rPr>
              <a:t>Static: </a:t>
            </a:r>
          </a:p>
          <a:p>
            <a:pPr lvl="1"/>
            <a:r>
              <a:rPr lang="en-US" dirty="0">
                <a:latin typeface="Arial" charset="0"/>
                <a:cs typeface="ＭＳ Ｐゴシック" charset="0"/>
              </a:rPr>
              <a:t>allocated when the program starts</a:t>
            </a:r>
          </a:p>
          <a:p>
            <a:pPr lvl="1"/>
            <a:r>
              <a:rPr lang="en-US" dirty="0">
                <a:latin typeface="Arial" charset="0"/>
                <a:cs typeface="ＭＳ Ｐゴシック" charset="0"/>
              </a:rPr>
              <a:t>Variable lifetime is the entire program</a:t>
            </a:r>
          </a:p>
          <a:p>
            <a:endParaRPr lang="en-US" dirty="0">
              <a:latin typeface="Arial" charset="0"/>
              <a:cs typeface="ＭＳ Ｐゴシック" charset="0"/>
            </a:endParaRPr>
          </a:p>
          <a:p>
            <a:r>
              <a:rPr lang="en-US" dirty="0">
                <a:latin typeface="Arial" charset="0"/>
                <a:cs typeface="ＭＳ Ｐゴシック" charset="0"/>
              </a:rPr>
              <a:t>Automatic: </a:t>
            </a:r>
          </a:p>
          <a:p>
            <a:pPr lvl="1"/>
            <a:r>
              <a:rPr lang="en-US" dirty="0">
                <a:latin typeface="Arial" charset="0"/>
                <a:cs typeface="ＭＳ Ｐゴシック" charset="0"/>
              </a:rPr>
              <a:t>allocated during execution (function calls)</a:t>
            </a:r>
          </a:p>
          <a:p>
            <a:pPr lvl="1"/>
            <a:r>
              <a:rPr lang="en-US" dirty="0">
                <a:latin typeface="Arial" charset="0"/>
                <a:cs typeface="ＭＳ Ｐゴシック" charset="0"/>
              </a:rPr>
              <a:t>managed by the OS and the compiler</a:t>
            </a:r>
          </a:p>
          <a:p>
            <a:pPr lvl="1"/>
            <a:r>
              <a:rPr lang="en-US" dirty="0">
                <a:latin typeface="Arial" charset="0"/>
                <a:cs typeface="ＭＳ Ｐゴシック" charset="0"/>
              </a:rPr>
              <a:t>Variable lifetime is the block where they are defined</a:t>
            </a:r>
          </a:p>
          <a:p>
            <a:pPr lvl="1"/>
            <a:r>
              <a:rPr lang="en-US" dirty="0">
                <a:latin typeface="Arial" charset="0"/>
                <a:cs typeface="ＭＳ Ｐゴシック" charset="0"/>
              </a:rPr>
              <a:t>The variable size is fixed</a:t>
            </a:r>
          </a:p>
          <a:p>
            <a:pPr lvl="1"/>
            <a:r>
              <a:rPr lang="en-US" dirty="0">
                <a:latin typeface="Arial" charset="0"/>
                <a:cs typeface="ＭＳ Ｐゴシック" charset="0"/>
              </a:rPr>
              <a:t>Usually stored on the stack</a:t>
            </a:r>
          </a:p>
          <a:p>
            <a:pPr lvl="2" indent="0">
              <a:buNone/>
            </a:pPr>
            <a:endParaRPr lang="en-US"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181</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5664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97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697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6978">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697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697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en-US" sz="2800" dirty="0">
                <a:latin typeface="Arial" charset="0"/>
                <a:cs typeface="ＭＳ Ｐゴシック" charset="0"/>
              </a:rPr>
              <a:t>Limitations &amp; inefficiencies</a:t>
            </a:r>
            <a:endParaRPr lang="en-US" sz="500" dirty="0">
              <a:latin typeface="Arial" charset="0"/>
              <a:cs typeface="ＭＳ Ｐゴシック" charset="0"/>
            </a:endParaRPr>
          </a:p>
        </p:txBody>
      </p:sp>
      <p:sp>
        <p:nvSpPr>
          <p:cNvPr id="126978"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rPr>
              <a:t>Not always possible to know the exact number of array elements. May depend:</a:t>
            </a:r>
            <a:endParaRPr lang="en-US" sz="2000" dirty="0">
              <a:latin typeface="Arial" charset="0"/>
              <a:cs typeface="ＭＳ Ｐゴシック" charset="0"/>
            </a:endParaRPr>
          </a:p>
          <a:p>
            <a:pPr lvl="1"/>
            <a:r>
              <a:rPr lang="en-US" dirty="0">
                <a:latin typeface="Arial" charset="0"/>
                <a:cs typeface="ＭＳ Ｐゴシック" charset="0"/>
              </a:rPr>
              <a:t>Parameters of program execution</a:t>
            </a:r>
          </a:p>
          <a:p>
            <a:pPr lvl="1"/>
            <a:r>
              <a:rPr lang="en-US" dirty="0">
                <a:latin typeface="Arial" charset="0"/>
                <a:cs typeface="ＭＳ Ｐゴシック" charset="0"/>
              </a:rPr>
              <a:t>Information provided by the user during execution</a:t>
            </a:r>
          </a:p>
          <a:p>
            <a:endParaRPr lang="en-US" dirty="0">
              <a:latin typeface="Arial" charset="0"/>
              <a:cs typeface="ＭＳ Ｐゴシック" charset="0"/>
            </a:endParaRPr>
          </a:p>
          <a:p>
            <a:r>
              <a:rPr lang="en-US" dirty="0">
                <a:latin typeface="Arial" charset="0"/>
                <a:cs typeface="ＭＳ Ｐゴシック" charset="0"/>
              </a:rPr>
              <a:t>Limited control over the lifetime of the variables</a:t>
            </a:r>
          </a:p>
          <a:p>
            <a:endParaRPr lang="en-US" dirty="0">
              <a:latin typeface="Arial" charset="0"/>
              <a:cs typeface="ＭＳ Ｐゴシック" charset="0"/>
            </a:endParaRPr>
          </a:p>
          <a:p>
            <a:r>
              <a:rPr lang="en-US" dirty="0">
                <a:latin typeface="Arial" charset="0"/>
                <a:cs typeface="ＭＳ Ｐゴシック" charset="0"/>
              </a:rPr>
              <a:t>Worst case: Stack overflow</a:t>
            </a:r>
          </a:p>
          <a:p>
            <a:pPr lvl="1"/>
            <a:r>
              <a:rPr lang="en-US" dirty="0">
                <a:latin typeface="Arial" charset="0"/>
                <a:cs typeface="ＭＳ Ｐゴシック" charset="0"/>
              </a:rPr>
              <a:t>Example: Recursive functions</a:t>
            </a:r>
          </a:p>
          <a:p>
            <a:pPr lvl="2"/>
            <a:endParaRPr lang="en-US"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865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7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69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fr-FR" sz="2800" dirty="0" err="1">
                <a:latin typeface="Arial" charset="0"/>
                <a:ea typeface="ＭＳ Ｐゴシック" charset="0"/>
                <a:cs typeface="ＭＳ Ｐゴシック" charset="0"/>
              </a:rPr>
              <a:t>Dynamic</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memory</a:t>
            </a:r>
            <a:r>
              <a:rPr lang="fr-FR" sz="2800" dirty="0">
                <a:latin typeface="Arial" charset="0"/>
                <a:ea typeface="ＭＳ Ｐゴシック" charset="0"/>
                <a:cs typeface="ＭＳ Ｐゴシック" charset="0"/>
              </a:rPr>
              <a:t> allocation</a:t>
            </a:r>
          </a:p>
        </p:txBody>
      </p:sp>
      <p:sp>
        <p:nvSpPr>
          <p:cNvPr id="126978" name="Espace réservé du contenu 2"/>
          <p:cNvSpPr>
            <a:spLocks noGrp="1"/>
          </p:cNvSpPr>
          <p:nvPr>
            <p:ph idx="1"/>
          </p:nvPr>
        </p:nvSpPr>
        <p:spPr/>
        <p:txBody>
          <a:bodyPr/>
          <a:lstStyle/>
          <a:p>
            <a:r>
              <a:rPr lang="en-US" dirty="0">
                <a:latin typeface="Arial" charset="0"/>
                <a:cs typeface="ＭＳ Ｐゴシック" charset="0"/>
              </a:rPr>
              <a:t>The memory to store the program variables is allocated during the execution of the program</a:t>
            </a:r>
          </a:p>
          <a:p>
            <a:endParaRPr lang="en-US" dirty="0">
              <a:latin typeface="Arial" charset="0"/>
              <a:cs typeface="ＭＳ Ｐゴシック" charset="0"/>
            </a:endParaRPr>
          </a:p>
          <a:p>
            <a:r>
              <a:rPr lang="en-US" dirty="0">
                <a:latin typeface="Arial" charset="0"/>
                <a:cs typeface="ＭＳ Ｐゴシック" charset="0"/>
              </a:rPr>
              <a:t>Stored in the heap (large free pool of memory)</a:t>
            </a:r>
          </a:p>
          <a:p>
            <a:endParaRPr lang="en-US" dirty="0">
              <a:latin typeface="Arial" charset="0"/>
              <a:cs typeface="ＭＳ Ｐゴシック" charset="0"/>
            </a:endParaRPr>
          </a:p>
          <a:p>
            <a:r>
              <a:rPr lang="en-US" dirty="0">
                <a:latin typeface="Arial" charset="0"/>
                <a:cs typeface="ＭＳ Ｐゴシック" charset="0"/>
              </a:rPr>
              <a:t>The programmer controls:</a:t>
            </a:r>
          </a:p>
          <a:p>
            <a:pPr lvl="1"/>
            <a:r>
              <a:rPr lang="en-US" dirty="0">
                <a:latin typeface="Arial" charset="0"/>
                <a:cs typeface="ＭＳ Ｐゴシック" charset="0"/>
              </a:rPr>
              <a:t>the exact size (instantiated during execution)</a:t>
            </a:r>
          </a:p>
          <a:p>
            <a:pPr lvl="1"/>
            <a:r>
              <a:rPr lang="en-US" dirty="0">
                <a:latin typeface="Arial" charset="0"/>
                <a:cs typeface="ＭＳ Ｐゴシック" charset="0"/>
              </a:rPr>
              <a:t>Lifetime of memory locations</a:t>
            </a:r>
          </a:p>
          <a:p>
            <a:pPr lvl="1"/>
            <a:endParaRPr lang="en-US" dirty="0">
              <a:latin typeface="Arial" charset="0"/>
              <a:cs typeface="ＭＳ Ｐゴシック" charset="0"/>
            </a:endParaRPr>
          </a:p>
          <a:p>
            <a:pPr marL="0" indent="0">
              <a:buNone/>
            </a:pPr>
            <a:r>
              <a:rPr lang="en-US" b="1" dirty="0">
                <a:solidFill>
                  <a:srgbClr val="FF0000"/>
                </a:solidFill>
                <a:latin typeface="Arial" charset="0"/>
                <a:cs typeface="ＭＳ Ｐゴシック" charset="0"/>
              </a:rPr>
              <a:t>	Worst-case: Memory leaks! </a:t>
            </a:r>
          </a:p>
          <a:p>
            <a:pPr marL="0" indent="0">
              <a:buNone/>
            </a:pPr>
            <a:r>
              <a:rPr lang="en-US" b="1" dirty="0">
                <a:solidFill>
                  <a:srgbClr val="FF0000"/>
                </a:solidFill>
                <a:latin typeface="Arial" charset="0"/>
                <a:cs typeface="ＭＳ Ｐゴシック" charset="0"/>
              </a:rPr>
              <a:t>	Problems: Dangling pointers!</a:t>
            </a:r>
          </a:p>
          <a:p>
            <a:pPr marL="0" indent="0">
              <a:buNone/>
            </a:pPr>
            <a:r>
              <a:rPr lang="en-US" b="1" dirty="0">
                <a:solidFill>
                  <a:srgbClr val="FF0000"/>
                </a:solidFill>
                <a:latin typeface="Arial" charset="0"/>
                <a:cs typeface="ＭＳ Ｐゴシック" charset="0"/>
              </a:rPr>
              <a:t>			…</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183</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0685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7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697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697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97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6978">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697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184</a:t>
            </a:fld>
            <a:endParaRPr lang="fr-FR" sz="1400">
              <a:solidFill>
                <a:srgbClr val="000208"/>
              </a:solidFill>
              <a:latin typeface="Times New Roman" charset="0"/>
            </a:endParaRPr>
          </a:p>
        </p:txBody>
      </p:sp>
      <p:sp>
        <p:nvSpPr>
          <p:cNvPr id="130049" name="Titre 1"/>
          <p:cNvSpPr>
            <a:spLocks noGrp="1"/>
          </p:cNvSpPr>
          <p:nvPr>
            <p:ph type="title"/>
          </p:nvPr>
        </p:nvSpPr>
        <p:spPr/>
        <p:txBody>
          <a:bodyPr/>
          <a:lstStyle/>
          <a:p>
            <a:r>
              <a:rPr lang="fr-FR" sz="2800" dirty="0">
                <a:latin typeface="Arial" charset="0"/>
                <a:ea typeface="ＭＳ Ｐゴシック" charset="0"/>
                <a:cs typeface="ＭＳ Ｐゴシック" charset="0"/>
              </a:rPr>
              <a:t>Memory </a:t>
            </a:r>
            <a:r>
              <a:rPr lang="fr-FR" sz="2800" dirty="0" err="1">
                <a:latin typeface="Arial" charset="0"/>
                <a:ea typeface="ＭＳ Ｐゴシック" charset="0"/>
                <a:cs typeface="ＭＳ Ｐゴシック" charset="0"/>
              </a:rPr>
              <a:t>Leak</a:t>
            </a:r>
            <a:endParaRPr lang="fr-FR" sz="2800" dirty="0">
              <a:latin typeface="Arial" charset="0"/>
              <a:ea typeface="ＭＳ Ｐゴシック" charset="0"/>
              <a:cs typeface="ＭＳ Ｐゴシック" charset="0"/>
            </a:endParaRPr>
          </a:p>
        </p:txBody>
      </p:sp>
      <p:sp>
        <p:nvSpPr>
          <p:cNvPr id="7" name="Espace réservé du contenu 2"/>
          <p:cNvSpPr>
            <a:spLocks noGrp="1"/>
          </p:cNvSpPr>
          <p:nvPr>
            <p:ph idx="1"/>
          </p:nvPr>
        </p:nvSpPr>
        <p:spPr>
          <a:xfrm>
            <a:off x="457200" y="914400"/>
            <a:ext cx="8686800" cy="1002432"/>
          </a:xfrm>
        </p:spPr>
        <p:txBody>
          <a:bodyPr/>
          <a:lstStyle/>
          <a:p>
            <a:r>
              <a:rPr lang="en-US" dirty="0">
                <a:latin typeface="Arial" charset="0"/>
                <a:cs typeface="ＭＳ Ｐゴシック" charset="0"/>
                <a:sym typeface="Wingdings"/>
              </a:rPr>
              <a:t>Allocated blocks in the heap that are now unused and unreferenced !</a:t>
            </a:r>
          </a:p>
          <a:p>
            <a:pPr marL="542925" lvl="1" indent="0">
              <a:buNone/>
            </a:pPr>
            <a:endParaRPr lang="en-US" sz="2000" dirty="0">
              <a:latin typeface="Arial" charset="0"/>
              <a:cs typeface="ＭＳ Ｐゴシック" charset="0"/>
              <a:sym typeface="Wingdings"/>
            </a:endParaRPr>
          </a:p>
        </p:txBody>
      </p:sp>
      <p:sp>
        <p:nvSpPr>
          <p:cNvPr id="1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2" name="Table 11">
            <a:extLst>
              <a:ext uri="{FF2B5EF4-FFF2-40B4-BE49-F238E27FC236}">
                <a16:creationId xmlns:a16="http://schemas.microsoft.com/office/drawing/2014/main" id="{0D47BCAC-CB13-C24A-BE09-FF4478497BF9}"/>
              </a:ext>
            </a:extLst>
          </p:cNvPr>
          <p:cNvGraphicFramePr>
            <a:graphicFrameLocks noGrp="1"/>
          </p:cNvGraphicFramePr>
          <p:nvPr>
            <p:extLst>
              <p:ext uri="{D42A27DB-BD31-4B8C-83A1-F6EECF244321}">
                <p14:modId xmlns:p14="http://schemas.microsoft.com/office/powerpoint/2010/main" val="3959796415"/>
              </p:ext>
            </p:extLst>
          </p:nvPr>
        </p:nvGraphicFramePr>
        <p:xfrm>
          <a:off x="6600451" y="1946654"/>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13" name="Group 12">
            <a:extLst>
              <a:ext uri="{FF2B5EF4-FFF2-40B4-BE49-F238E27FC236}">
                <a16:creationId xmlns:a16="http://schemas.microsoft.com/office/drawing/2014/main" id="{18FF052A-D353-7A46-B6E7-662629B3DD0E}"/>
              </a:ext>
            </a:extLst>
          </p:cNvPr>
          <p:cNvGrpSpPr/>
          <p:nvPr/>
        </p:nvGrpSpPr>
        <p:grpSpPr>
          <a:xfrm>
            <a:off x="5424050" y="1564495"/>
            <a:ext cx="3300141" cy="3729010"/>
            <a:chOff x="5532094" y="2024844"/>
            <a:chExt cx="3300141" cy="3729010"/>
          </a:xfrm>
        </p:grpSpPr>
        <p:sp>
          <p:nvSpPr>
            <p:cNvPr id="14" name="TextBox 13">
              <a:extLst>
                <a:ext uri="{FF2B5EF4-FFF2-40B4-BE49-F238E27FC236}">
                  <a16:creationId xmlns:a16="http://schemas.microsoft.com/office/drawing/2014/main" id="{92809E20-6357-F543-87DF-3F64EB2DC2F7}"/>
                </a:ext>
              </a:extLst>
            </p:cNvPr>
            <p:cNvSpPr txBox="1"/>
            <p:nvPr/>
          </p:nvSpPr>
          <p:spPr>
            <a:xfrm>
              <a:off x="7291057" y="2024844"/>
              <a:ext cx="811841" cy="400110"/>
            </a:xfrm>
            <a:prstGeom prst="rect">
              <a:avLst/>
            </a:prstGeom>
            <a:noFill/>
          </p:spPr>
          <p:txBody>
            <a:bodyPr wrap="none" rtlCol="0">
              <a:spAutoFit/>
            </a:bodyPr>
            <a:lstStyle/>
            <a:p>
              <a:r>
                <a:rPr lang="en-US" sz="2000" b="1" dirty="0"/>
                <a:t>Heap</a:t>
              </a:r>
            </a:p>
          </p:txBody>
        </p:sp>
        <p:sp>
          <p:nvSpPr>
            <p:cNvPr id="15" name="TextBox 14">
              <a:extLst>
                <a:ext uri="{FF2B5EF4-FFF2-40B4-BE49-F238E27FC236}">
                  <a16:creationId xmlns:a16="http://schemas.microsoft.com/office/drawing/2014/main" id="{3CCE0830-6D25-784B-9863-12F5D54D48C3}"/>
                </a:ext>
              </a:extLst>
            </p:cNvPr>
            <p:cNvSpPr txBox="1"/>
            <p:nvPr/>
          </p:nvSpPr>
          <p:spPr>
            <a:xfrm>
              <a:off x="5556538" y="2363296"/>
              <a:ext cx="1040519" cy="400110"/>
            </a:xfrm>
            <a:prstGeom prst="rect">
              <a:avLst/>
            </a:prstGeom>
            <a:noFill/>
          </p:spPr>
          <p:txBody>
            <a:bodyPr wrap="none" rtlCol="0">
              <a:spAutoFit/>
            </a:bodyPr>
            <a:lstStyle/>
            <a:p>
              <a:r>
                <a:rPr lang="en-US" sz="2000" b="1" dirty="0"/>
                <a:t>0x1000</a:t>
              </a:r>
            </a:p>
          </p:txBody>
        </p:sp>
        <p:sp>
          <p:nvSpPr>
            <p:cNvPr id="17" name="TextBox 16">
              <a:extLst>
                <a:ext uri="{FF2B5EF4-FFF2-40B4-BE49-F238E27FC236}">
                  <a16:creationId xmlns:a16="http://schemas.microsoft.com/office/drawing/2014/main" id="{24B53E21-0ACD-1D45-AAD3-97A955541A8D}"/>
                </a:ext>
              </a:extLst>
            </p:cNvPr>
            <p:cNvSpPr txBox="1"/>
            <p:nvPr/>
          </p:nvSpPr>
          <p:spPr>
            <a:xfrm>
              <a:off x="5554572" y="2791278"/>
              <a:ext cx="1043876" cy="400110"/>
            </a:xfrm>
            <a:prstGeom prst="rect">
              <a:avLst/>
            </a:prstGeom>
            <a:noFill/>
          </p:spPr>
          <p:txBody>
            <a:bodyPr wrap="none" rtlCol="0">
              <a:spAutoFit/>
            </a:bodyPr>
            <a:lstStyle/>
            <a:p>
              <a:r>
                <a:rPr lang="en-US" sz="2000" b="1" dirty="0"/>
                <a:t>0x1004</a:t>
              </a:r>
            </a:p>
          </p:txBody>
        </p:sp>
        <p:sp>
          <p:nvSpPr>
            <p:cNvPr id="24" name="Rectangle 23">
              <a:extLst>
                <a:ext uri="{FF2B5EF4-FFF2-40B4-BE49-F238E27FC236}">
                  <a16:creationId xmlns:a16="http://schemas.microsoft.com/office/drawing/2014/main" id="{516309CC-0993-3843-B21D-5673D1274C26}"/>
                </a:ext>
              </a:extLst>
            </p:cNvPr>
            <p:cNvSpPr/>
            <p:nvPr/>
          </p:nvSpPr>
          <p:spPr>
            <a:xfrm>
              <a:off x="7489027" y="4237620"/>
              <a:ext cx="492444" cy="400110"/>
            </a:xfrm>
            <a:prstGeom prst="rect">
              <a:avLst/>
            </a:prstGeom>
          </p:spPr>
          <p:txBody>
            <a:bodyPr wrap="none">
              <a:spAutoFit/>
            </a:bodyPr>
            <a:lstStyle/>
            <a:p>
              <a:r>
                <a:rPr lang="en-GB" sz="2000" b="1" dirty="0">
                  <a:solidFill>
                    <a:srgbClr val="FF0000"/>
                  </a:solidFill>
                  <a:latin typeface="Courier"/>
                  <a:cs typeface="Courier"/>
                </a:rPr>
                <a:t>10</a:t>
              </a:r>
              <a:endParaRPr lang="en-US" sz="2000" dirty="0">
                <a:solidFill>
                  <a:srgbClr val="FF0000"/>
                </a:solidFill>
              </a:endParaRPr>
            </a:p>
          </p:txBody>
        </p:sp>
        <p:sp>
          <p:nvSpPr>
            <p:cNvPr id="25" name="Rectangle 24">
              <a:extLst>
                <a:ext uri="{FF2B5EF4-FFF2-40B4-BE49-F238E27FC236}">
                  <a16:creationId xmlns:a16="http://schemas.microsoft.com/office/drawing/2014/main" id="{59F933AE-F921-9246-ADCB-18E6017F0F80}"/>
                </a:ext>
              </a:extLst>
            </p:cNvPr>
            <p:cNvSpPr/>
            <p:nvPr/>
          </p:nvSpPr>
          <p:spPr>
            <a:xfrm>
              <a:off x="7489027" y="4633664"/>
              <a:ext cx="492444" cy="400110"/>
            </a:xfrm>
            <a:prstGeom prst="rect">
              <a:avLst/>
            </a:prstGeom>
          </p:spPr>
          <p:txBody>
            <a:bodyPr wrap="none">
              <a:spAutoFit/>
            </a:bodyPr>
            <a:lstStyle/>
            <a:p>
              <a:r>
                <a:rPr lang="en-GB" sz="2000" b="1" dirty="0">
                  <a:solidFill>
                    <a:srgbClr val="FF0000"/>
                  </a:solidFill>
                  <a:latin typeface="Courier"/>
                  <a:cs typeface="Courier"/>
                </a:rPr>
                <a:t>20</a:t>
              </a:r>
              <a:endParaRPr lang="en-US" sz="2000" dirty="0">
                <a:solidFill>
                  <a:srgbClr val="FF0000"/>
                </a:solidFill>
              </a:endParaRPr>
            </a:p>
          </p:txBody>
        </p:sp>
        <p:sp>
          <p:nvSpPr>
            <p:cNvPr id="26" name="Rectangle 25">
              <a:extLst>
                <a:ext uri="{FF2B5EF4-FFF2-40B4-BE49-F238E27FC236}">
                  <a16:creationId xmlns:a16="http://schemas.microsoft.com/office/drawing/2014/main" id="{2F758EA9-6354-FE4B-8096-CAC2D1DE85C2}"/>
                </a:ext>
              </a:extLst>
            </p:cNvPr>
            <p:cNvSpPr/>
            <p:nvPr/>
          </p:nvSpPr>
          <p:spPr>
            <a:xfrm>
              <a:off x="7489027" y="4957700"/>
              <a:ext cx="492444" cy="400110"/>
            </a:xfrm>
            <a:prstGeom prst="rect">
              <a:avLst/>
            </a:prstGeom>
          </p:spPr>
          <p:txBody>
            <a:bodyPr wrap="none">
              <a:spAutoFit/>
            </a:bodyPr>
            <a:lstStyle/>
            <a:p>
              <a:r>
                <a:rPr lang="en-GB" sz="2000" b="1" dirty="0">
                  <a:solidFill>
                    <a:srgbClr val="FF0000"/>
                  </a:solidFill>
                  <a:latin typeface="Courier"/>
                  <a:cs typeface="Courier"/>
                </a:rPr>
                <a:t>30</a:t>
              </a:r>
              <a:endParaRPr lang="en-US" sz="2000" dirty="0">
                <a:solidFill>
                  <a:srgbClr val="FF0000"/>
                </a:solidFill>
              </a:endParaRPr>
            </a:p>
          </p:txBody>
        </p:sp>
        <p:sp>
          <p:nvSpPr>
            <p:cNvPr id="27" name="Rectangle 26">
              <a:extLst>
                <a:ext uri="{FF2B5EF4-FFF2-40B4-BE49-F238E27FC236}">
                  <a16:creationId xmlns:a16="http://schemas.microsoft.com/office/drawing/2014/main" id="{CA37D7C4-2EE9-524F-8387-87C13030C2CB}"/>
                </a:ext>
              </a:extLst>
            </p:cNvPr>
            <p:cNvSpPr/>
            <p:nvPr/>
          </p:nvSpPr>
          <p:spPr>
            <a:xfrm>
              <a:off x="7489027" y="5353744"/>
              <a:ext cx="492444" cy="400110"/>
            </a:xfrm>
            <a:prstGeom prst="rect">
              <a:avLst/>
            </a:prstGeom>
          </p:spPr>
          <p:txBody>
            <a:bodyPr wrap="none">
              <a:spAutoFit/>
            </a:bodyPr>
            <a:lstStyle/>
            <a:p>
              <a:r>
                <a:rPr lang="en-GB" sz="2000" b="1" dirty="0">
                  <a:solidFill>
                    <a:srgbClr val="FF0000"/>
                  </a:solidFill>
                  <a:latin typeface="Courier"/>
                  <a:cs typeface="Courier"/>
                </a:rPr>
                <a:t>40</a:t>
              </a:r>
              <a:endParaRPr lang="en-US" sz="2000" dirty="0">
                <a:solidFill>
                  <a:srgbClr val="FF0000"/>
                </a:solidFill>
              </a:endParaRPr>
            </a:p>
          </p:txBody>
        </p:sp>
        <p:sp>
          <p:nvSpPr>
            <p:cNvPr id="28" name="TextBox 27">
              <a:extLst>
                <a:ext uri="{FF2B5EF4-FFF2-40B4-BE49-F238E27FC236}">
                  <a16:creationId xmlns:a16="http://schemas.microsoft.com/office/drawing/2014/main" id="{A6EFD4BE-37B6-8449-943F-2C956F6F84F0}"/>
                </a:ext>
              </a:extLst>
            </p:cNvPr>
            <p:cNvSpPr txBox="1"/>
            <p:nvPr/>
          </p:nvSpPr>
          <p:spPr>
            <a:xfrm>
              <a:off x="5556250" y="3176972"/>
              <a:ext cx="1040519" cy="400110"/>
            </a:xfrm>
            <a:prstGeom prst="rect">
              <a:avLst/>
            </a:prstGeom>
            <a:noFill/>
          </p:spPr>
          <p:txBody>
            <a:bodyPr wrap="none" rtlCol="0">
              <a:spAutoFit/>
            </a:bodyPr>
            <a:lstStyle/>
            <a:p>
              <a:r>
                <a:rPr lang="en-US" sz="2000" b="1" dirty="0"/>
                <a:t>0x1008</a:t>
              </a:r>
            </a:p>
          </p:txBody>
        </p:sp>
        <p:sp>
          <p:nvSpPr>
            <p:cNvPr id="29" name="TextBox 28">
              <a:extLst>
                <a:ext uri="{FF2B5EF4-FFF2-40B4-BE49-F238E27FC236}">
                  <a16:creationId xmlns:a16="http://schemas.microsoft.com/office/drawing/2014/main" id="{846CEF7E-3289-9E4B-9F7D-8752D3314B2E}"/>
                </a:ext>
              </a:extLst>
            </p:cNvPr>
            <p:cNvSpPr txBox="1"/>
            <p:nvPr/>
          </p:nvSpPr>
          <p:spPr>
            <a:xfrm>
              <a:off x="5543191" y="3548915"/>
              <a:ext cx="1083099" cy="400110"/>
            </a:xfrm>
            <a:prstGeom prst="rect">
              <a:avLst/>
            </a:prstGeom>
            <a:noFill/>
          </p:spPr>
          <p:txBody>
            <a:bodyPr wrap="none" rtlCol="0">
              <a:spAutoFit/>
            </a:bodyPr>
            <a:lstStyle/>
            <a:p>
              <a:r>
                <a:rPr lang="en-US" sz="2000" b="1" dirty="0"/>
                <a:t>0x100C</a:t>
              </a:r>
            </a:p>
          </p:txBody>
        </p:sp>
        <p:sp>
          <p:nvSpPr>
            <p:cNvPr id="30" name="TextBox 29">
              <a:extLst>
                <a:ext uri="{FF2B5EF4-FFF2-40B4-BE49-F238E27FC236}">
                  <a16:creationId xmlns:a16="http://schemas.microsoft.com/office/drawing/2014/main" id="{568F9EFD-9205-EB48-B15A-5B0E153D25F0}"/>
                </a:ext>
              </a:extLst>
            </p:cNvPr>
            <p:cNvSpPr txBox="1"/>
            <p:nvPr/>
          </p:nvSpPr>
          <p:spPr>
            <a:xfrm>
              <a:off x="5564481" y="4581128"/>
              <a:ext cx="1040519" cy="400110"/>
            </a:xfrm>
            <a:prstGeom prst="rect">
              <a:avLst/>
            </a:prstGeom>
            <a:noFill/>
          </p:spPr>
          <p:txBody>
            <a:bodyPr wrap="none" rtlCol="0">
              <a:spAutoFit/>
            </a:bodyPr>
            <a:lstStyle/>
            <a:p>
              <a:r>
                <a:rPr lang="en-US" sz="2000" b="1" dirty="0"/>
                <a:t>0x1018</a:t>
              </a:r>
            </a:p>
          </p:txBody>
        </p:sp>
        <p:sp>
          <p:nvSpPr>
            <p:cNvPr id="33" name="Rectangle 32">
              <a:extLst>
                <a:ext uri="{FF2B5EF4-FFF2-40B4-BE49-F238E27FC236}">
                  <a16:creationId xmlns:a16="http://schemas.microsoft.com/office/drawing/2014/main" id="{326F53DC-6483-1D48-BC07-E2F2C5664951}"/>
                </a:ext>
              </a:extLst>
            </p:cNvPr>
            <p:cNvSpPr/>
            <p:nvPr/>
          </p:nvSpPr>
          <p:spPr bwMode="auto">
            <a:xfrm>
              <a:off x="5532094" y="4209184"/>
              <a:ext cx="3300141" cy="1512168"/>
            </a:xfrm>
            <a:prstGeom prst="rect">
              <a:avLst/>
            </a:prstGeom>
            <a:noFill/>
            <a:ln w="57150" cap="flat" cmpd="sng" algn="ctr">
              <a:solidFill>
                <a:srgbClr val="80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4" name="TextBox 33">
              <a:extLst>
                <a:ext uri="{FF2B5EF4-FFF2-40B4-BE49-F238E27FC236}">
                  <a16:creationId xmlns:a16="http://schemas.microsoft.com/office/drawing/2014/main" id="{9AE0B486-FCDA-F043-8E6E-A0E9D3C8394B}"/>
                </a:ext>
              </a:extLst>
            </p:cNvPr>
            <p:cNvSpPr txBox="1"/>
            <p:nvPr/>
          </p:nvSpPr>
          <p:spPr>
            <a:xfrm>
              <a:off x="5562803" y="4185084"/>
              <a:ext cx="1043876" cy="400110"/>
            </a:xfrm>
            <a:prstGeom prst="rect">
              <a:avLst/>
            </a:prstGeom>
            <a:noFill/>
          </p:spPr>
          <p:txBody>
            <a:bodyPr wrap="none" rtlCol="0">
              <a:spAutoFit/>
            </a:bodyPr>
            <a:lstStyle/>
            <a:p>
              <a:r>
                <a:rPr lang="en-US" sz="2000" b="1" dirty="0"/>
                <a:t>0x1014</a:t>
              </a:r>
            </a:p>
          </p:txBody>
        </p:sp>
      </p:grpSp>
      <p:cxnSp>
        <p:nvCxnSpPr>
          <p:cNvPr id="35" name="Straight Arrow Connector 34">
            <a:extLst>
              <a:ext uri="{FF2B5EF4-FFF2-40B4-BE49-F238E27FC236}">
                <a16:creationId xmlns:a16="http://schemas.microsoft.com/office/drawing/2014/main" id="{9A0C936A-A156-3D4E-B035-C35AF07FE644}"/>
              </a:ext>
            </a:extLst>
          </p:cNvPr>
          <p:cNvCxnSpPr>
            <a:cxnSpLocks/>
          </p:cNvCxnSpPr>
          <p:nvPr/>
        </p:nvCxnSpPr>
        <p:spPr bwMode="auto">
          <a:xfrm flipV="1">
            <a:off x="3580833" y="3870835"/>
            <a:ext cx="1772174" cy="1"/>
          </a:xfrm>
          <a:prstGeom prst="straightConnector1">
            <a:avLst/>
          </a:prstGeom>
          <a:noFill/>
          <a:ln w="38100" cap="flat" cmpd="sng" algn="ctr">
            <a:solidFill>
              <a:srgbClr val="000208"/>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8" name="Group 37">
            <a:extLst>
              <a:ext uri="{FF2B5EF4-FFF2-40B4-BE49-F238E27FC236}">
                <a16:creationId xmlns:a16="http://schemas.microsoft.com/office/drawing/2014/main" id="{010282B3-94E3-3A43-8E5F-A676E2C862C6}"/>
              </a:ext>
            </a:extLst>
          </p:cNvPr>
          <p:cNvGrpSpPr/>
          <p:nvPr/>
        </p:nvGrpSpPr>
        <p:grpSpPr>
          <a:xfrm>
            <a:off x="3787609" y="3324890"/>
            <a:ext cx="1012991" cy="1091889"/>
            <a:chOff x="3787609" y="3324890"/>
            <a:chExt cx="1012991" cy="1091889"/>
          </a:xfrm>
        </p:grpSpPr>
        <p:cxnSp>
          <p:nvCxnSpPr>
            <p:cNvPr id="4" name="Straight Connector 3">
              <a:extLst>
                <a:ext uri="{FF2B5EF4-FFF2-40B4-BE49-F238E27FC236}">
                  <a16:creationId xmlns:a16="http://schemas.microsoft.com/office/drawing/2014/main" id="{C089F347-5ED5-A042-9404-1669B43DC1B4}"/>
                </a:ext>
              </a:extLst>
            </p:cNvPr>
            <p:cNvCxnSpPr/>
            <p:nvPr/>
          </p:nvCxnSpPr>
          <p:spPr bwMode="auto">
            <a:xfrm>
              <a:off x="3899781" y="3324890"/>
              <a:ext cx="804664" cy="1091889"/>
            </a:xfrm>
            <a:prstGeom prst="line">
              <a:avLst/>
            </a:prstGeom>
            <a:noFill/>
            <a:ln w="762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5A90399B-EEC4-2E46-BAE9-FAE7EA68991B}"/>
                </a:ext>
              </a:extLst>
            </p:cNvPr>
            <p:cNvCxnSpPr>
              <a:cxnSpLocks/>
            </p:cNvCxnSpPr>
            <p:nvPr/>
          </p:nvCxnSpPr>
          <p:spPr bwMode="auto">
            <a:xfrm flipH="1">
              <a:off x="3787609" y="3429000"/>
              <a:ext cx="1012991" cy="944370"/>
            </a:xfrm>
            <a:prstGeom prst="line">
              <a:avLst/>
            </a:prstGeom>
            <a:noFill/>
            <a:ln w="762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39" name="Oval 38">
            <a:extLst>
              <a:ext uri="{FF2B5EF4-FFF2-40B4-BE49-F238E27FC236}">
                <a16:creationId xmlns:a16="http://schemas.microsoft.com/office/drawing/2014/main" id="{E7B47B27-5DB3-0C44-A050-6F1D7CE87E88}"/>
              </a:ext>
            </a:extLst>
          </p:cNvPr>
          <p:cNvSpPr/>
          <p:nvPr/>
        </p:nvSpPr>
        <p:spPr bwMode="auto">
          <a:xfrm>
            <a:off x="6336196" y="3516548"/>
            <a:ext cx="2628292" cy="1928676"/>
          </a:xfrm>
          <a:prstGeom prst="ellipse">
            <a:avLst/>
          </a:prstGeom>
          <a:noFill/>
          <a:ln w="762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GB" sz="2000" b="0" i="0" u="none" strike="noStrike" cap="none" normalizeH="0" baseline="0" dirty="0">
              <a:ln>
                <a:noFill/>
              </a:ln>
              <a:solidFill>
                <a:srgbClr val="010507"/>
              </a:solidFill>
              <a:effectLst/>
              <a:latin typeface="Arial" charset="0"/>
            </a:endParaRPr>
          </a:p>
        </p:txBody>
      </p:sp>
    </p:spTree>
    <p:extLst>
      <p:ext uri="{BB962C8B-B14F-4D97-AF65-F5344CB8AC3E}">
        <p14:creationId xmlns:p14="http://schemas.microsoft.com/office/powerpoint/2010/main" val="329966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185</a:t>
            </a:fld>
            <a:endParaRPr lang="fr-FR" sz="1400">
              <a:solidFill>
                <a:srgbClr val="000208"/>
              </a:solidFill>
              <a:latin typeface="Times New Roman" charset="0"/>
            </a:endParaRPr>
          </a:p>
        </p:txBody>
      </p:sp>
      <p:sp>
        <p:nvSpPr>
          <p:cNvPr id="130049" name="Titre 1"/>
          <p:cNvSpPr>
            <a:spLocks noGrp="1"/>
          </p:cNvSpPr>
          <p:nvPr>
            <p:ph type="title"/>
          </p:nvPr>
        </p:nvSpPr>
        <p:spPr/>
        <p:txBody>
          <a:bodyPr/>
          <a:lstStyle/>
          <a:p>
            <a:r>
              <a:rPr lang="fr-FR" sz="2800" dirty="0">
                <a:latin typeface="Arial" charset="0"/>
                <a:ea typeface="ＭＳ Ｐゴシック" charset="0"/>
                <a:cs typeface="ＭＳ Ｐゴシック" charset="0"/>
              </a:rPr>
              <a:t>Memory </a:t>
            </a:r>
            <a:r>
              <a:rPr lang="fr-FR" sz="2800" dirty="0" err="1">
                <a:latin typeface="Arial" charset="0"/>
                <a:ea typeface="ＭＳ Ｐゴシック" charset="0"/>
                <a:cs typeface="ＭＳ Ｐゴシック" charset="0"/>
              </a:rPr>
              <a:t>Leak</a:t>
            </a:r>
            <a:endParaRPr lang="fr-FR" sz="2800" dirty="0">
              <a:latin typeface="Arial" charset="0"/>
              <a:ea typeface="ＭＳ Ｐゴシック" charset="0"/>
              <a:cs typeface="ＭＳ Ｐゴシック" charset="0"/>
            </a:endParaRPr>
          </a:p>
        </p:txBody>
      </p:sp>
      <p:sp>
        <p:nvSpPr>
          <p:cNvPr id="7"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sym typeface="Wingdings"/>
              </a:rPr>
              <a:t>Improper use of dynamic memory  causes the memory consumption to be increased with the time</a:t>
            </a:r>
          </a:p>
          <a:p>
            <a:endParaRPr lang="en-US" dirty="0">
              <a:latin typeface="Arial" charset="0"/>
              <a:cs typeface="ＭＳ Ｐゴシック" charset="0"/>
            </a:endParaRPr>
          </a:p>
          <a:p>
            <a:r>
              <a:rPr lang="en-US" dirty="0">
                <a:latin typeface="Arial" charset="0"/>
                <a:cs typeface="ＭＳ Ｐゴシック" charset="0"/>
              </a:rPr>
              <a:t>In JAVA, garbage collector takes care of the not removed reserved parts in the heap !</a:t>
            </a:r>
          </a:p>
          <a:p>
            <a:endParaRPr lang="en-US" dirty="0">
              <a:latin typeface="Arial" charset="0"/>
              <a:cs typeface="ＭＳ Ｐゴシック" charset="0"/>
            </a:endParaRPr>
          </a:p>
          <a:p>
            <a:r>
              <a:rPr lang="en-US" dirty="0">
                <a:latin typeface="Arial" charset="0"/>
                <a:cs typeface="ＭＳ Ｐゴシック" charset="0"/>
              </a:rPr>
              <a:t>In C, the </a:t>
            </a:r>
            <a:r>
              <a:rPr lang="en-US" b="1" dirty="0">
                <a:solidFill>
                  <a:srgbClr val="FF0000"/>
                </a:solidFill>
                <a:latin typeface="Arial" charset="0"/>
                <a:cs typeface="ＭＳ Ｐゴシック" charset="0"/>
              </a:rPr>
              <a:t>programmer is responsible</a:t>
            </a:r>
            <a:r>
              <a:rPr lang="en-US" b="1" dirty="0">
                <a:latin typeface="Arial" charset="0"/>
                <a:cs typeface="ＭＳ Ｐゴシック" charset="0"/>
              </a:rPr>
              <a:t> </a:t>
            </a:r>
            <a:r>
              <a:rPr lang="en-US" dirty="0">
                <a:latin typeface="Arial" charset="0"/>
                <a:cs typeface="ＭＳ Ｐゴシック" charset="0"/>
              </a:rPr>
              <a:t>for that! </a:t>
            </a:r>
          </a:p>
          <a:p>
            <a:endParaRPr lang="en-US" b="1" dirty="0">
              <a:latin typeface="Arial" charset="0"/>
              <a:cs typeface="ＭＳ Ｐゴシック" charset="0"/>
              <a:sym typeface="Wingdings"/>
            </a:endParaRPr>
          </a:p>
          <a:p>
            <a:pPr marL="542925" lvl="1" indent="0">
              <a:buNone/>
            </a:pPr>
            <a:endParaRPr lang="en-US" sz="2000" dirty="0">
              <a:latin typeface="Arial" charset="0"/>
              <a:cs typeface="ＭＳ Ｐゴシック" charset="0"/>
              <a:sym typeface="Wingdings"/>
            </a:endParaRPr>
          </a:p>
        </p:txBody>
      </p:sp>
      <p:grpSp>
        <p:nvGrpSpPr>
          <p:cNvPr id="8" name="Group 7"/>
          <p:cNvGrpSpPr/>
          <p:nvPr/>
        </p:nvGrpSpPr>
        <p:grpSpPr>
          <a:xfrm>
            <a:off x="935596" y="4689140"/>
            <a:ext cx="6948772" cy="1404156"/>
            <a:chOff x="3396344" y="2636912"/>
            <a:chExt cx="6948772" cy="1404156"/>
          </a:xfrm>
        </p:grpSpPr>
        <p:sp>
          <p:nvSpPr>
            <p:cNvPr id="9" name="Rectangle 8"/>
            <p:cNvSpPr/>
            <p:nvPr/>
          </p:nvSpPr>
          <p:spPr bwMode="auto">
            <a:xfrm>
              <a:off x="3396344" y="2636912"/>
              <a:ext cx="6948772" cy="1404156"/>
            </a:xfrm>
            <a:prstGeom prst="rect">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0" name="TextBox 9"/>
            <p:cNvSpPr txBox="1"/>
            <p:nvPr/>
          </p:nvSpPr>
          <p:spPr>
            <a:xfrm>
              <a:off x="3684376" y="2852936"/>
              <a:ext cx="6408712" cy="954107"/>
            </a:xfrm>
            <a:prstGeom prst="rect">
              <a:avLst/>
            </a:prstGeom>
            <a:noFill/>
          </p:spPr>
          <p:txBody>
            <a:bodyPr wrap="square" rtlCol="0">
              <a:spAutoFit/>
            </a:bodyPr>
            <a:lstStyle/>
            <a:p>
              <a:r>
                <a:rPr lang="en-US" sz="2400" b="1" dirty="0">
                  <a:solidFill>
                    <a:srgbClr val="FF0000"/>
                  </a:solidFill>
                </a:rPr>
                <a:t>For </a:t>
              </a:r>
              <a:r>
                <a:rPr lang="en-US" sz="3200" b="1" dirty="0">
                  <a:solidFill>
                    <a:srgbClr val="FF0000"/>
                  </a:solidFill>
                </a:rPr>
                <a:t>EACH</a:t>
              </a:r>
              <a:r>
                <a:rPr lang="en-US" sz="2400" b="1" dirty="0">
                  <a:solidFill>
                    <a:srgbClr val="FF0000"/>
                  </a:solidFill>
                </a:rPr>
                <a:t> allocation </a:t>
              </a:r>
              <a:r>
                <a:rPr lang="en-US" sz="2400" b="1" dirty="0">
                  <a:solidFill>
                    <a:srgbClr val="FF0000"/>
                  </a:solidFill>
                  <a:sym typeface="Wingdings"/>
                </a:rPr>
                <a:t> We NEED a DEALLOCATION</a:t>
              </a:r>
              <a:endParaRPr lang="en-US" sz="2400" b="1" dirty="0">
                <a:solidFill>
                  <a:srgbClr val="FF0000"/>
                </a:solidFill>
              </a:endParaRPr>
            </a:p>
          </p:txBody>
        </p:sp>
      </p:grpSp>
      <p:sp>
        <p:nvSpPr>
          <p:cNvPr id="1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2929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186</a:t>
            </a:fld>
            <a:endParaRPr lang="fr-FR" sz="1400">
              <a:solidFill>
                <a:srgbClr val="000208"/>
              </a:solidFill>
              <a:latin typeface="Times New Roman" charset="0"/>
            </a:endParaRPr>
          </a:p>
        </p:txBody>
      </p:sp>
      <p:sp>
        <p:nvSpPr>
          <p:cNvPr id="130049" name="Titre 1"/>
          <p:cNvSpPr>
            <a:spLocks noGrp="1"/>
          </p:cNvSpPr>
          <p:nvPr>
            <p:ph type="title"/>
          </p:nvPr>
        </p:nvSpPr>
        <p:spPr/>
        <p:txBody>
          <a:bodyPr/>
          <a:lstStyle/>
          <a:p>
            <a:r>
              <a:rPr lang="fr-FR" sz="2800" dirty="0" err="1">
                <a:latin typeface="Arial" charset="0"/>
                <a:ea typeface="ＭＳ Ｐゴシック" charset="0"/>
                <a:cs typeface="ＭＳ Ｐゴシック" charset="0"/>
              </a:rPr>
              <a:t>Dangling</a:t>
            </a:r>
            <a:r>
              <a:rPr lang="fr-FR" sz="2800" dirty="0">
                <a:latin typeface="Arial" charset="0"/>
                <a:ea typeface="ＭＳ Ｐゴシック" charset="0"/>
                <a:cs typeface="ＭＳ Ｐゴシック" charset="0"/>
              </a:rPr>
              <a:t> pointer</a:t>
            </a:r>
          </a:p>
        </p:txBody>
      </p:sp>
      <p:sp>
        <p:nvSpPr>
          <p:cNvPr id="7" name="Espace réservé du contenu 2"/>
          <p:cNvSpPr>
            <a:spLocks noGrp="1"/>
          </p:cNvSpPr>
          <p:nvPr>
            <p:ph idx="1"/>
          </p:nvPr>
        </p:nvSpPr>
        <p:spPr>
          <a:xfrm>
            <a:off x="457200" y="914400"/>
            <a:ext cx="8686800" cy="5257800"/>
          </a:xfrm>
        </p:spPr>
        <p:txBody>
          <a:bodyPr/>
          <a:lstStyle/>
          <a:p>
            <a:r>
              <a:rPr lang="en-US" dirty="0"/>
              <a:t>An object is deleted or de-allocated</a:t>
            </a:r>
          </a:p>
          <a:p>
            <a:endParaRPr lang="en-US" dirty="0"/>
          </a:p>
          <a:p>
            <a:r>
              <a:rPr lang="en-US" dirty="0"/>
              <a:t>If the value of the pointer is not modified</a:t>
            </a:r>
          </a:p>
          <a:p>
            <a:pPr lvl="1"/>
            <a:r>
              <a:rPr lang="en-US" dirty="0"/>
              <a:t>the pointer still points to the memory location of the deleted/de-allocated memory. </a:t>
            </a:r>
          </a:p>
          <a:p>
            <a:endParaRPr lang="en-US" b="1" dirty="0">
              <a:latin typeface="Arial" charset="0"/>
              <a:cs typeface="ＭＳ Ｐゴシック" charset="0"/>
              <a:sym typeface="Wingdings"/>
            </a:endParaRPr>
          </a:p>
          <a:p>
            <a:pPr marL="542925" lvl="1" indent="0">
              <a:buNone/>
            </a:pPr>
            <a:endParaRPr lang="en-US" sz="2000" dirty="0">
              <a:latin typeface="Arial" charset="0"/>
              <a:cs typeface="ＭＳ Ｐゴシック" charset="0"/>
              <a:sym typeface="Wingdings"/>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6" name="Table 5">
            <a:extLst>
              <a:ext uri="{FF2B5EF4-FFF2-40B4-BE49-F238E27FC236}">
                <a16:creationId xmlns:a16="http://schemas.microsoft.com/office/drawing/2014/main" id="{03625702-CA6D-7443-81BE-AE64E347B65C}"/>
              </a:ext>
            </a:extLst>
          </p:cNvPr>
          <p:cNvGraphicFramePr>
            <a:graphicFrameLocks noGrp="1"/>
          </p:cNvGraphicFramePr>
          <p:nvPr>
            <p:extLst>
              <p:ext uri="{D42A27DB-BD31-4B8C-83A1-F6EECF244321}">
                <p14:modId xmlns:p14="http://schemas.microsoft.com/office/powerpoint/2010/main" val="4157995295"/>
              </p:ext>
            </p:extLst>
          </p:nvPr>
        </p:nvGraphicFramePr>
        <p:xfrm>
          <a:off x="6623148" y="3398975"/>
          <a:ext cx="2124236" cy="296672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sp>
        <p:nvSpPr>
          <p:cNvPr id="10" name="TextBox 9">
            <a:extLst>
              <a:ext uri="{FF2B5EF4-FFF2-40B4-BE49-F238E27FC236}">
                <a16:creationId xmlns:a16="http://schemas.microsoft.com/office/drawing/2014/main" id="{1787F2B1-3604-B943-AD57-917D5D18907A}"/>
              </a:ext>
            </a:extLst>
          </p:cNvPr>
          <p:cNvSpPr txBox="1"/>
          <p:nvPr/>
        </p:nvSpPr>
        <p:spPr>
          <a:xfrm>
            <a:off x="6887251" y="2888511"/>
            <a:ext cx="1568058" cy="400110"/>
          </a:xfrm>
          <a:prstGeom prst="rect">
            <a:avLst/>
          </a:prstGeom>
          <a:noFill/>
        </p:spPr>
        <p:txBody>
          <a:bodyPr wrap="none" rtlCol="0">
            <a:spAutoFit/>
          </a:bodyPr>
          <a:lstStyle/>
          <a:p>
            <a:r>
              <a:rPr lang="en-US" sz="2000" b="1" dirty="0"/>
              <a:t>Heap/Stack</a:t>
            </a:r>
          </a:p>
        </p:txBody>
      </p:sp>
      <p:sp>
        <p:nvSpPr>
          <p:cNvPr id="18" name="TextBox 17">
            <a:extLst>
              <a:ext uri="{FF2B5EF4-FFF2-40B4-BE49-F238E27FC236}">
                <a16:creationId xmlns:a16="http://schemas.microsoft.com/office/drawing/2014/main" id="{C8E5CCD6-AF95-2941-ABA8-2DFE44E4FD89}"/>
              </a:ext>
            </a:extLst>
          </p:cNvPr>
          <p:cNvSpPr txBox="1"/>
          <p:nvPr/>
        </p:nvSpPr>
        <p:spPr>
          <a:xfrm>
            <a:off x="5435147" y="3352926"/>
            <a:ext cx="1083099" cy="400110"/>
          </a:xfrm>
          <a:prstGeom prst="rect">
            <a:avLst/>
          </a:prstGeom>
          <a:noFill/>
        </p:spPr>
        <p:txBody>
          <a:bodyPr wrap="none" rtlCol="0">
            <a:spAutoFit/>
          </a:bodyPr>
          <a:lstStyle/>
          <a:p>
            <a:r>
              <a:rPr lang="en-US" sz="2000" b="1" dirty="0"/>
              <a:t>0x100C</a:t>
            </a:r>
          </a:p>
        </p:txBody>
      </p:sp>
      <p:sp>
        <p:nvSpPr>
          <p:cNvPr id="19" name="TextBox 18">
            <a:extLst>
              <a:ext uri="{FF2B5EF4-FFF2-40B4-BE49-F238E27FC236}">
                <a16:creationId xmlns:a16="http://schemas.microsoft.com/office/drawing/2014/main" id="{411BA2FE-1999-B64B-AB8A-365C42958BD7}"/>
              </a:ext>
            </a:extLst>
          </p:cNvPr>
          <p:cNvSpPr txBox="1"/>
          <p:nvPr/>
        </p:nvSpPr>
        <p:spPr>
          <a:xfrm>
            <a:off x="5456437" y="4120779"/>
            <a:ext cx="1040519" cy="400110"/>
          </a:xfrm>
          <a:prstGeom prst="rect">
            <a:avLst/>
          </a:prstGeom>
          <a:noFill/>
        </p:spPr>
        <p:txBody>
          <a:bodyPr wrap="none" rtlCol="0">
            <a:spAutoFit/>
          </a:bodyPr>
          <a:lstStyle/>
          <a:p>
            <a:r>
              <a:rPr lang="en-US" sz="2000" b="1" dirty="0"/>
              <a:t>0x1018</a:t>
            </a:r>
          </a:p>
        </p:txBody>
      </p:sp>
      <p:grpSp>
        <p:nvGrpSpPr>
          <p:cNvPr id="27" name="Group 26">
            <a:extLst>
              <a:ext uri="{FF2B5EF4-FFF2-40B4-BE49-F238E27FC236}">
                <a16:creationId xmlns:a16="http://schemas.microsoft.com/office/drawing/2014/main" id="{F90185D2-21B9-1546-9563-7B2BEB10163B}"/>
              </a:ext>
            </a:extLst>
          </p:cNvPr>
          <p:cNvGrpSpPr/>
          <p:nvPr/>
        </p:nvGrpSpPr>
        <p:grpSpPr>
          <a:xfrm>
            <a:off x="5424050" y="3748835"/>
            <a:ext cx="3300141" cy="1544670"/>
            <a:chOff x="5424050" y="3748835"/>
            <a:chExt cx="3300141" cy="1544670"/>
          </a:xfrm>
        </p:grpSpPr>
        <p:sp>
          <p:nvSpPr>
            <p:cNvPr id="13" name="Rectangle 12">
              <a:extLst>
                <a:ext uri="{FF2B5EF4-FFF2-40B4-BE49-F238E27FC236}">
                  <a16:creationId xmlns:a16="http://schemas.microsoft.com/office/drawing/2014/main" id="{E1AAB48A-BCED-234D-AB3D-C612612CFF9E}"/>
                </a:ext>
              </a:extLst>
            </p:cNvPr>
            <p:cNvSpPr/>
            <p:nvPr/>
          </p:nvSpPr>
          <p:spPr>
            <a:xfrm>
              <a:off x="7380983" y="3777271"/>
              <a:ext cx="492444" cy="400110"/>
            </a:xfrm>
            <a:prstGeom prst="rect">
              <a:avLst/>
            </a:prstGeom>
          </p:spPr>
          <p:txBody>
            <a:bodyPr wrap="none">
              <a:spAutoFit/>
            </a:bodyPr>
            <a:lstStyle/>
            <a:p>
              <a:r>
                <a:rPr lang="en-GB" sz="2000" b="1" dirty="0">
                  <a:solidFill>
                    <a:srgbClr val="FF0000"/>
                  </a:solidFill>
                  <a:latin typeface="Courier"/>
                  <a:cs typeface="Courier"/>
                </a:rPr>
                <a:t>10</a:t>
              </a:r>
              <a:endParaRPr lang="en-US" sz="2000" dirty="0">
                <a:solidFill>
                  <a:srgbClr val="FF0000"/>
                </a:solidFill>
              </a:endParaRPr>
            </a:p>
          </p:txBody>
        </p:sp>
        <p:sp>
          <p:nvSpPr>
            <p:cNvPr id="14" name="Rectangle 13">
              <a:extLst>
                <a:ext uri="{FF2B5EF4-FFF2-40B4-BE49-F238E27FC236}">
                  <a16:creationId xmlns:a16="http://schemas.microsoft.com/office/drawing/2014/main" id="{2EFECE42-8A6F-1248-9686-7C0900D2667B}"/>
                </a:ext>
              </a:extLst>
            </p:cNvPr>
            <p:cNvSpPr/>
            <p:nvPr/>
          </p:nvSpPr>
          <p:spPr>
            <a:xfrm>
              <a:off x="7380983" y="4173315"/>
              <a:ext cx="492444" cy="400110"/>
            </a:xfrm>
            <a:prstGeom prst="rect">
              <a:avLst/>
            </a:prstGeom>
          </p:spPr>
          <p:txBody>
            <a:bodyPr wrap="none">
              <a:spAutoFit/>
            </a:bodyPr>
            <a:lstStyle/>
            <a:p>
              <a:r>
                <a:rPr lang="en-GB" sz="2000" b="1" dirty="0">
                  <a:solidFill>
                    <a:srgbClr val="FF0000"/>
                  </a:solidFill>
                  <a:latin typeface="Courier"/>
                  <a:cs typeface="Courier"/>
                </a:rPr>
                <a:t>20</a:t>
              </a:r>
              <a:endParaRPr lang="en-US" sz="2000" dirty="0">
                <a:solidFill>
                  <a:srgbClr val="FF0000"/>
                </a:solidFill>
              </a:endParaRPr>
            </a:p>
          </p:txBody>
        </p:sp>
        <p:sp>
          <p:nvSpPr>
            <p:cNvPr id="15" name="Rectangle 14">
              <a:extLst>
                <a:ext uri="{FF2B5EF4-FFF2-40B4-BE49-F238E27FC236}">
                  <a16:creationId xmlns:a16="http://schemas.microsoft.com/office/drawing/2014/main" id="{E1B28803-57A3-3346-900C-3A45C197184B}"/>
                </a:ext>
              </a:extLst>
            </p:cNvPr>
            <p:cNvSpPr/>
            <p:nvPr/>
          </p:nvSpPr>
          <p:spPr>
            <a:xfrm>
              <a:off x="7380983" y="4497351"/>
              <a:ext cx="492444" cy="400110"/>
            </a:xfrm>
            <a:prstGeom prst="rect">
              <a:avLst/>
            </a:prstGeom>
          </p:spPr>
          <p:txBody>
            <a:bodyPr wrap="none">
              <a:spAutoFit/>
            </a:bodyPr>
            <a:lstStyle/>
            <a:p>
              <a:r>
                <a:rPr lang="en-GB" sz="2000" b="1" dirty="0">
                  <a:solidFill>
                    <a:srgbClr val="FF0000"/>
                  </a:solidFill>
                  <a:latin typeface="Courier"/>
                  <a:cs typeface="Courier"/>
                </a:rPr>
                <a:t>30</a:t>
              </a:r>
              <a:endParaRPr lang="en-US" sz="2000" dirty="0">
                <a:solidFill>
                  <a:srgbClr val="FF0000"/>
                </a:solidFill>
              </a:endParaRPr>
            </a:p>
          </p:txBody>
        </p:sp>
        <p:sp>
          <p:nvSpPr>
            <p:cNvPr id="16" name="Rectangle 15">
              <a:extLst>
                <a:ext uri="{FF2B5EF4-FFF2-40B4-BE49-F238E27FC236}">
                  <a16:creationId xmlns:a16="http://schemas.microsoft.com/office/drawing/2014/main" id="{BEE7C1F4-2170-A94D-B177-1135462E063B}"/>
                </a:ext>
              </a:extLst>
            </p:cNvPr>
            <p:cNvSpPr/>
            <p:nvPr/>
          </p:nvSpPr>
          <p:spPr>
            <a:xfrm>
              <a:off x="7380983" y="4893395"/>
              <a:ext cx="492444" cy="400110"/>
            </a:xfrm>
            <a:prstGeom prst="rect">
              <a:avLst/>
            </a:prstGeom>
          </p:spPr>
          <p:txBody>
            <a:bodyPr wrap="none">
              <a:spAutoFit/>
            </a:bodyPr>
            <a:lstStyle/>
            <a:p>
              <a:r>
                <a:rPr lang="en-GB" sz="2000" b="1" dirty="0">
                  <a:solidFill>
                    <a:srgbClr val="FF0000"/>
                  </a:solidFill>
                  <a:latin typeface="Courier"/>
                  <a:cs typeface="Courier"/>
                </a:rPr>
                <a:t>40</a:t>
              </a:r>
              <a:endParaRPr lang="en-US" sz="2000" dirty="0">
                <a:solidFill>
                  <a:srgbClr val="FF0000"/>
                </a:solidFill>
              </a:endParaRPr>
            </a:p>
          </p:txBody>
        </p:sp>
        <p:sp>
          <p:nvSpPr>
            <p:cNvPr id="20" name="Rectangle 19">
              <a:extLst>
                <a:ext uri="{FF2B5EF4-FFF2-40B4-BE49-F238E27FC236}">
                  <a16:creationId xmlns:a16="http://schemas.microsoft.com/office/drawing/2014/main" id="{58EB4680-5C31-3B4C-9DA2-ABA02F61C2D6}"/>
                </a:ext>
              </a:extLst>
            </p:cNvPr>
            <p:cNvSpPr/>
            <p:nvPr/>
          </p:nvSpPr>
          <p:spPr bwMode="auto">
            <a:xfrm>
              <a:off x="5424050" y="3748835"/>
              <a:ext cx="3300141" cy="1512168"/>
            </a:xfrm>
            <a:prstGeom prst="rect">
              <a:avLst/>
            </a:prstGeom>
            <a:noFill/>
            <a:ln w="57150" cap="flat" cmpd="sng" algn="ctr">
              <a:solidFill>
                <a:srgbClr val="80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21" name="TextBox 20">
            <a:extLst>
              <a:ext uri="{FF2B5EF4-FFF2-40B4-BE49-F238E27FC236}">
                <a16:creationId xmlns:a16="http://schemas.microsoft.com/office/drawing/2014/main" id="{1008AC29-7D0D-574F-8E92-00DDAD3F3F2F}"/>
              </a:ext>
            </a:extLst>
          </p:cNvPr>
          <p:cNvSpPr txBox="1"/>
          <p:nvPr/>
        </p:nvSpPr>
        <p:spPr>
          <a:xfrm>
            <a:off x="5454759" y="3724735"/>
            <a:ext cx="1043876" cy="400110"/>
          </a:xfrm>
          <a:prstGeom prst="rect">
            <a:avLst/>
          </a:prstGeom>
          <a:noFill/>
        </p:spPr>
        <p:txBody>
          <a:bodyPr wrap="none" rtlCol="0">
            <a:spAutoFit/>
          </a:bodyPr>
          <a:lstStyle/>
          <a:p>
            <a:r>
              <a:rPr lang="en-US" sz="2000" b="1" dirty="0"/>
              <a:t>0x1014</a:t>
            </a:r>
          </a:p>
        </p:txBody>
      </p:sp>
      <p:cxnSp>
        <p:nvCxnSpPr>
          <p:cNvPr id="22" name="Straight Arrow Connector 21">
            <a:extLst>
              <a:ext uri="{FF2B5EF4-FFF2-40B4-BE49-F238E27FC236}">
                <a16:creationId xmlns:a16="http://schemas.microsoft.com/office/drawing/2014/main" id="{FFBB512E-25F1-004F-B46F-AA3328432EE3}"/>
              </a:ext>
            </a:extLst>
          </p:cNvPr>
          <p:cNvCxnSpPr>
            <a:cxnSpLocks/>
          </p:cNvCxnSpPr>
          <p:nvPr/>
        </p:nvCxnSpPr>
        <p:spPr bwMode="auto">
          <a:xfrm flipV="1">
            <a:off x="3580833" y="3870835"/>
            <a:ext cx="1772174" cy="1"/>
          </a:xfrm>
          <a:prstGeom prst="straightConnector1">
            <a:avLst/>
          </a:prstGeom>
          <a:noFill/>
          <a:ln w="38100" cap="flat" cmpd="sng" algn="ctr">
            <a:solidFill>
              <a:srgbClr val="000208"/>
            </a:solidFill>
            <a:prstDash val="solid"/>
            <a:round/>
            <a:headEnd type="none" w="med" len="me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23" name="Group 22">
            <a:extLst>
              <a:ext uri="{FF2B5EF4-FFF2-40B4-BE49-F238E27FC236}">
                <a16:creationId xmlns:a16="http://schemas.microsoft.com/office/drawing/2014/main" id="{E90BAF05-A063-814B-B971-745A561A452A}"/>
              </a:ext>
            </a:extLst>
          </p:cNvPr>
          <p:cNvGrpSpPr/>
          <p:nvPr/>
        </p:nvGrpSpPr>
        <p:grpSpPr>
          <a:xfrm>
            <a:off x="6619790" y="3791422"/>
            <a:ext cx="2067010" cy="1469581"/>
            <a:chOff x="3343190" y="3191522"/>
            <a:chExt cx="2067010" cy="1469581"/>
          </a:xfrm>
        </p:grpSpPr>
        <p:cxnSp>
          <p:nvCxnSpPr>
            <p:cNvPr id="24" name="Straight Connector 23">
              <a:extLst>
                <a:ext uri="{FF2B5EF4-FFF2-40B4-BE49-F238E27FC236}">
                  <a16:creationId xmlns:a16="http://schemas.microsoft.com/office/drawing/2014/main" id="{6FFE307F-488A-D748-B14A-DC2ABAD66488}"/>
                </a:ext>
              </a:extLst>
            </p:cNvPr>
            <p:cNvCxnSpPr>
              <a:cxnSpLocks/>
            </p:cNvCxnSpPr>
            <p:nvPr/>
          </p:nvCxnSpPr>
          <p:spPr bwMode="auto">
            <a:xfrm>
              <a:off x="3344869" y="3191522"/>
              <a:ext cx="2065331" cy="1469581"/>
            </a:xfrm>
            <a:prstGeom prst="line">
              <a:avLst/>
            </a:prstGeom>
            <a:noFill/>
            <a:ln w="762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14A0BFD8-F7A2-8E4E-B938-4298D4644425}"/>
                </a:ext>
              </a:extLst>
            </p:cNvPr>
            <p:cNvCxnSpPr>
              <a:cxnSpLocks/>
            </p:cNvCxnSpPr>
            <p:nvPr/>
          </p:nvCxnSpPr>
          <p:spPr bwMode="auto">
            <a:xfrm flipH="1">
              <a:off x="3343190" y="3202044"/>
              <a:ext cx="2027520" cy="1459059"/>
            </a:xfrm>
            <a:prstGeom prst="line">
              <a:avLst/>
            </a:prstGeom>
            <a:noFill/>
            <a:ln w="762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9" name="Oval 28">
            <a:extLst>
              <a:ext uri="{FF2B5EF4-FFF2-40B4-BE49-F238E27FC236}">
                <a16:creationId xmlns:a16="http://schemas.microsoft.com/office/drawing/2014/main" id="{465887FB-187F-894C-BE17-BCFB41E80383}"/>
              </a:ext>
            </a:extLst>
          </p:cNvPr>
          <p:cNvSpPr/>
          <p:nvPr/>
        </p:nvSpPr>
        <p:spPr bwMode="auto">
          <a:xfrm>
            <a:off x="3126796" y="3374389"/>
            <a:ext cx="3569440" cy="1026719"/>
          </a:xfrm>
          <a:prstGeom prst="ellipse">
            <a:avLst/>
          </a:prstGeom>
          <a:noFill/>
          <a:ln w="762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GB" sz="2000" b="0" i="0" u="none" strike="noStrike" cap="none" normalizeH="0" baseline="0" dirty="0">
              <a:ln>
                <a:noFill/>
              </a:ln>
              <a:solidFill>
                <a:srgbClr val="010507"/>
              </a:solidFill>
              <a:effectLst/>
              <a:latin typeface="Arial" charset="0"/>
            </a:endParaRPr>
          </a:p>
        </p:txBody>
      </p:sp>
    </p:spTree>
    <p:extLst>
      <p:ext uri="{BB962C8B-B14F-4D97-AF65-F5344CB8AC3E}">
        <p14:creationId xmlns:p14="http://schemas.microsoft.com/office/powerpoint/2010/main" val="160718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fr-FR" sz="2800" dirty="0" err="1">
                <a:latin typeface="Arial" charset="0"/>
                <a:ea typeface="ＭＳ Ｐゴシック" charset="0"/>
                <a:cs typeface="ＭＳ Ｐゴシック" charset="0"/>
              </a:rPr>
              <a:t>Dynamic</a:t>
            </a:r>
            <a:r>
              <a:rPr lang="fr-FR" sz="2800" dirty="0">
                <a:latin typeface="Arial" charset="0"/>
                <a:ea typeface="ＭＳ Ｐゴシック" charset="0"/>
                <a:cs typeface="ＭＳ Ｐゴシック" charset="0"/>
              </a:rPr>
              <a:t> </a:t>
            </a:r>
            <a:r>
              <a:rPr lang="fr-FR" sz="2800" dirty="0" err="1">
                <a:latin typeface="Arial" charset="0"/>
                <a:ea typeface="ＭＳ Ｐゴシック" charset="0"/>
                <a:cs typeface="ＭＳ Ｐゴシック" charset="0"/>
              </a:rPr>
              <a:t>memory</a:t>
            </a:r>
            <a:r>
              <a:rPr lang="fr-FR" sz="2800" dirty="0">
                <a:latin typeface="Arial" charset="0"/>
                <a:cs typeface="ＭＳ Ｐゴシック" charset="0"/>
              </a:rPr>
              <a:t>: </a:t>
            </a:r>
            <a:r>
              <a:rPr lang="fr-FR" sz="2800" dirty="0" err="1">
                <a:latin typeface="Arial" charset="0"/>
                <a:cs typeface="ＭＳ Ｐゴシック" charset="0"/>
              </a:rPr>
              <a:t>Functions</a:t>
            </a:r>
            <a:endParaRPr lang="fr-FR" sz="2800" dirty="0">
              <a:latin typeface="Arial" charset="0"/>
              <a:ea typeface="ＭＳ Ｐゴシック" charset="0"/>
              <a:cs typeface="ＭＳ Ｐゴシック" charset="0"/>
            </a:endParaRPr>
          </a:p>
        </p:txBody>
      </p:sp>
      <p:sp>
        <p:nvSpPr>
          <p:cNvPr id="126978" name="Espace réservé du contenu 2"/>
          <p:cNvSpPr>
            <a:spLocks noGrp="1"/>
          </p:cNvSpPr>
          <p:nvPr>
            <p:ph idx="1"/>
          </p:nvPr>
        </p:nvSpPr>
        <p:spPr/>
        <p:txBody>
          <a:bodyPr/>
          <a:lstStyle/>
          <a:p>
            <a:r>
              <a:rPr lang="en-US" dirty="0">
                <a:cs typeface="Courier"/>
              </a:rPr>
              <a:t>Directive:</a:t>
            </a:r>
          </a:p>
          <a:p>
            <a:pPr lvl="1"/>
            <a:r>
              <a:rPr lang="en-US" b="1" dirty="0">
                <a:latin typeface="Courier"/>
                <a:cs typeface="Courier"/>
              </a:rPr>
              <a:t>#include &lt;</a:t>
            </a:r>
            <a:r>
              <a:rPr lang="en-US" b="1" dirty="0" err="1">
                <a:latin typeface="Courier"/>
                <a:cs typeface="Courier"/>
              </a:rPr>
              <a:t>stdlib.h</a:t>
            </a:r>
            <a:r>
              <a:rPr lang="en-US" b="1" dirty="0">
                <a:latin typeface="Courier"/>
                <a:cs typeface="Courier"/>
              </a:rPr>
              <a:t>&gt;</a:t>
            </a:r>
          </a:p>
          <a:p>
            <a:pPr lvl="1"/>
            <a:endParaRPr lang="en-US" dirty="0">
              <a:cs typeface="Courier"/>
            </a:endParaRPr>
          </a:p>
          <a:p>
            <a:r>
              <a:rPr lang="en-US" dirty="0">
                <a:cs typeface="Courier"/>
              </a:rPr>
              <a:t>Allocation</a:t>
            </a:r>
          </a:p>
          <a:p>
            <a:pPr lvl="1"/>
            <a:r>
              <a:rPr lang="en-US" b="1" dirty="0" err="1">
                <a:latin typeface="Courier"/>
                <a:cs typeface="Courier"/>
              </a:rPr>
              <a:t>malloc</a:t>
            </a:r>
            <a:r>
              <a:rPr lang="en-US" b="1" dirty="0">
                <a:latin typeface="Courier"/>
                <a:cs typeface="Courier"/>
              </a:rPr>
              <a:t>()</a:t>
            </a:r>
          </a:p>
          <a:p>
            <a:pPr lvl="1"/>
            <a:r>
              <a:rPr lang="en-US" b="1" dirty="0" err="1">
                <a:latin typeface="Courier"/>
                <a:cs typeface="Courier"/>
              </a:rPr>
              <a:t>calloc</a:t>
            </a:r>
            <a:r>
              <a:rPr lang="en-US" b="1" dirty="0">
                <a:latin typeface="Courier"/>
                <a:cs typeface="Courier"/>
              </a:rPr>
              <a:t>()</a:t>
            </a:r>
          </a:p>
          <a:p>
            <a:pPr lvl="1"/>
            <a:r>
              <a:rPr lang="en-US" b="1" dirty="0" err="1">
                <a:latin typeface="Courier"/>
                <a:cs typeface="Courier"/>
              </a:rPr>
              <a:t>realloc</a:t>
            </a:r>
            <a:r>
              <a:rPr lang="en-US" b="1" dirty="0">
                <a:latin typeface="Courier"/>
                <a:cs typeface="Courier"/>
              </a:rPr>
              <a:t>()</a:t>
            </a:r>
          </a:p>
          <a:p>
            <a:endParaRPr lang="en-US" b="1" dirty="0">
              <a:latin typeface="Courier"/>
              <a:cs typeface="Courier"/>
            </a:endParaRPr>
          </a:p>
          <a:p>
            <a:r>
              <a:rPr lang="en-US" dirty="0" err="1">
                <a:cs typeface="Courier"/>
              </a:rPr>
              <a:t>Deallocation</a:t>
            </a:r>
            <a:r>
              <a:rPr lang="en-US" dirty="0">
                <a:cs typeface="Courier"/>
              </a:rPr>
              <a:t>:</a:t>
            </a:r>
          </a:p>
          <a:p>
            <a:pPr lvl="1"/>
            <a:r>
              <a:rPr lang="en-US" b="1" dirty="0">
                <a:latin typeface="Courier"/>
                <a:cs typeface="Courier"/>
              </a:rPr>
              <a:t>free()</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8309497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fr-FR" sz="2800" dirty="0" err="1">
                <a:latin typeface="Arial" charset="0"/>
                <a:ea typeface="ＭＳ Ｐゴシック" charset="0"/>
                <a:cs typeface="ＭＳ Ｐゴシック" charset="0"/>
              </a:rPr>
              <a:t>Dynamic</a:t>
            </a:r>
            <a:r>
              <a:rPr lang="fr-FR" sz="2800" dirty="0">
                <a:latin typeface="Arial" charset="0"/>
                <a:ea typeface="ＭＳ Ｐゴシック" charset="0"/>
                <a:cs typeface="ＭＳ Ｐゴシック" charset="0"/>
              </a:rPr>
              <a:t> allocation: </a:t>
            </a:r>
            <a:r>
              <a:rPr lang="fr-FR" sz="2800" dirty="0" err="1">
                <a:latin typeface="Arial" charset="0"/>
                <a:ea typeface="ＭＳ Ｐゴシック" charset="0"/>
                <a:cs typeface="ＭＳ Ｐゴシック" charset="0"/>
              </a:rPr>
              <a:t>malloc</a:t>
            </a:r>
            <a:r>
              <a:rPr lang="fr-FR" sz="2800" dirty="0">
                <a:latin typeface="Arial" charset="0"/>
                <a:ea typeface="ＭＳ Ｐゴシック" charset="0"/>
                <a:cs typeface="ＭＳ Ｐゴシック" charset="0"/>
              </a:rPr>
              <a:t>()</a:t>
            </a:r>
          </a:p>
        </p:txBody>
      </p:sp>
      <p:sp>
        <p:nvSpPr>
          <p:cNvPr id="126978" name="Espace réservé du contenu 2"/>
          <p:cNvSpPr>
            <a:spLocks noGrp="1"/>
          </p:cNvSpPr>
          <p:nvPr>
            <p:ph idx="1"/>
          </p:nvPr>
        </p:nvSpPr>
        <p:spPr/>
        <p:txBody>
          <a:bodyPr/>
          <a:lstStyle/>
          <a:p>
            <a:r>
              <a:rPr lang="en-US" dirty="0">
                <a:latin typeface="Arial" charset="0"/>
                <a:cs typeface="ＭＳ Ｐゴシック" charset="0"/>
              </a:rPr>
              <a:t>Syntax:</a:t>
            </a:r>
            <a:endParaRPr lang="en-US" b="1" dirty="0">
              <a:latin typeface="Courier"/>
              <a:cs typeface="Courier"/>
            </a:endParaRPr>
          </a:p>
          <a:p>
            <a:pPr marL="0" indent="0">
              <a:buNone/>
            </a:pPr>
            <a:r>
              <a:rPr lang="en-US" sz="2000" b="1" dirty="0">
                <a:latin typeface="Courier"/>
                <a:cs typeface="Courier"/>
              </a:rPr>
              <a:t>void *</a:t>
            </a:r>
            <a:r>
              <a:rPr lang="en-US" sz="2000" b="1" dirty="0" err="1">
                <a:latin typeface="Courier"/>
                <a:cs typeface="Courier"/>
              </a:rPr>
              <a:t>malloc</a:t>
            </a:r>
            <a:r>
              <a:rPr lang="en-US" sz="2000" b="1" dirty="0">
                <a:latin typeface="Courier"/>
                <a:cs typeface="Courier"/>
              </a:rPr>
              <a:t>(</a:t>
            </a:r>
            <a:r>
              <a:rPr lang="en-US" sz="2000" b="1" dirty="0" err="1">
                <a:latin typeface="Courier"/>
                <a:cs typeface="Courier"/>
              </a:rPr>
              <a:t>size_t</a:t>
            </a:r>
            <a:r>
              <a:rPr lang="en-US" sz="2000" b="1" dirty="0">
                <a:latin typeface="Courier"/>
                <a:cs typeface="Courier"/>
              </a:rPr>
              <a:t> size);</a:t>
            </a:r>
          </a:p>
          <a:p>
            <a:pPr marL="457200" lvl="1" indent="0">
              <a:buFont typeface="Wingdings" charset="0"/>
              <a:buNone/>
            </a:pPr>
            <a:endParaRPr lang="en-US" sz="1000" b="1" dirty="0">
              <a:latin typeface="Courier"/>
              <a:cs typeface="Courier"/>
            </a:endParaRPr>
          </a:p>
          <a:p>
            <a:r>
              <a:rPr lang="en-US" dirty="0">
                <a:latin typeface="Arial" charset="0"/>
                <a:cs typeface="ＭＳ Ｐゴシック" charset="0"/>
              </a:rPr>
              <a:t>Function</a:t>
            </a:r>
          </a:p>
          <a:p>
            <a:pPr lvl="1"/>
            <a:r>
              <a:rPr lang="en-US" dirty="0">
                <a:latin typeface="Arial" charset="0"/>
              </a:rPr>
              <a:t>Reserves a block with a size equal to </a:t>
            </a:r>
            <a:r>
              <a:rPr lang="en-US" b="1" dirty="0">
                <a:latin typeface="Courier"/>
                <a:cs typeface="Courier"/>
              </a:rPr>
              <a:t>size</a:t>
            </a:r>
            <a:r>
              <a:rPr lang="en-US" dirty="0">
                <a:latin typeface="Arial" charset="0"/>
              </a:rPr>
              <a:t> bytes in the heap</a:t>
            </a:r>
          </a:p>
          <a:p>
            <a:pPr lvl="2"/>
            <a:r>
              <a:rPr lang="en-US" b="1" dirty="0" err="1">
                <a:latin typeface="Courier"/>
                <a:cs typeface="Courier"/>
              </a:rPr>
              <a:t>size_t</a:t>
            </a:r>
            <a:r>
              <a:rPr lang="en-US" dirty="0">
                <a:latin typeface="Arial" charset="0"/>
              </a:rPr>
              <a:t> is </a:t>
            </a:r>
            <a:r>
              <a:rPr lang="en-US" dirty="0"/>
              <a:t>unsigned integer type of at least 16 bit</a:t>
            </a:r>
          </a:p>
          <a:p>
            <a:pPr lvl="1"/>
            <a:r>
              <a:rPr lang="en-US" dirty="0">
                <a:latin typeface="Arial" charset="0"/>
              </a:rPr>
              <a:t>The </a:t>
            </a:r>
            <a:r>
              <a:rPr lang="en-US" b="1" dirty="0">
                <a:solidFill>
                  <a:srgbClr val="FF0000"/>
                </a:solidFill>
                <a:latin typeface="Arial" charset="0"/>
              </a:rPr>
              <a:t>content</a:t>
            </a:r>
            <a:r>
              <a:rPr lang="en-US" dirty="0">
                <a:solidFill>
                  <a:srgbClr val="FF0000"/>
                </a:solidFill>
                <a:latin typeface="Arial" charset="0"/>
              </a:rPr>
              <a:t> </a:t>
            </a:r>
            <a:r>
              <a:rPr lang="en-US" dirty="0">
                <a:latin typeface="Arial" charset="0"/>
              </a:rPr>
              <a:t>of the memory block it is </a:t>
            </a:r>
            <a:r>
              <a:rPr lang="en-US" b="1" dirty="0">
                <a:solidFill>
                  <a:srgbClr val="FF0000"/>
                </a:solidFill>
                <a:latin typeface="Arial" charset="0"/>
              </a:rPr>
              <a:t>NOT initialized</a:t>
            </a:r>
            <a:endParaRPr lang="en-US" sz="1000" dirty="0">
              <a:latin typeface="Arial" charset="0"/>
            </a:endParaRPr>
          </a:p>
          <a:p>
            <a:pPr lvl="1"/>
            <a:r>
              <a:rPr lang="en-US" dirty="0">
                <a:latin typeface="Arial" charset="0"/>
                <a:cs typeface="ＭＳ Ｐゴシック" charset="0"/>
              </a:rPr>
              <a:t>To calculate the required memory size to store an object we should use the function </a:t>
            </a:r>
            <a:r>
              <a:rPr lang="en-US" b="1" dirty="0" err="1">
                <a:latin typeface="Courier"/>
                <a:cs typeface="Courier"/>
              </a:rPr>
              <a:t>sizeof</a:t>
            </a:r>
            <a:r>
              <a:rPr lang="en-US" b="1" dirty="0">
                <a:latin typeface="Courier"/>
                <a:cs typeface="Courier"/>
              </a:rPr>
              <a:t>(type)</a:t>
            </a:r>
          </a:p>
          <a:p>
            <a:pPr lvl="2"/>
            <a:r>
              <a:rPr lang="en-US" dirty="0">
                <a:latin typeface="Arial" charset="0"/>
              </a:rPr>
              <a:t>The actual size of data object is compiler and target machine depended</a:t>
            </a:r>
            <a:endParaRPr lang="en-US" sz="1000" dirty="0">
              <a:latin typeface="Arial" charset="0"/>
            </a:endParaRPr>
          </a:p>
          <a:p>
            <a:r>
              <a:rPr lang="en-US" dirty="0">
                <a:latin typeface="Arial" charset="0"/>
                <a:cs typeface="ＭＳ Ｐゴシック" charset="0"/>
              </a:rPr>
              <a:t>Return value: </a:t>
            </a:r>
          </a:p>
          <a:p>
            <a:pPr lvl="1"/>
            <a:r>
              <a:rPr lang="en-US" dirty="0">
                <a:latin typeface="Arial" charset="0"/>
              </a:rPr>
              <a:t>pointer of </a:t>
            </a:r>
            <a:r>
              <a:rPr lang="en-US" b="1" dirty="0">
                <a:latin typeface="Courier"/>
                <a:cs typeface="Courier"/>
              </a:rPr>
              <a:t>void</a:t>
            </a:r>
            <a:r>
              <a:rPr lang="en-US" dirty="0">
                <a:latin typeface="Arial" charset="0"/>
              </a:rPr>
              <a:t> type with the address of the first reserved byte (</a:t>
            </a:r>
            <a:r>
              <a:rPr lang="en-US" b="1" dirty="0">
                <a:latin typeface="Courier"/>
                <a:cs typeface="Courier"/>
              </a:rPr>
              <a:t>void*)</a:t>
            </a:r>
            <a:r>
              <a:rPr lang="en-US" dirty="0">
                <a:latin typeface="Courier"/>
                <a:cs typeface="Courier"/>
              </a:rPr>
              <a:t> </a:t>
            </a:r>
          </a:p>
          <a:p>
            <a:pPr lvl="1"/>
            <a:r>
              <a:rPr lang="en-US" dirty="0">
                <a:latin typeface="Arial" charset="0"/>
                <a:cs typeface="ＭＳ Ｐゴシック" charset="0"/>
              </a:rPr>
              <a:t>We have to explicitly cast the pointer to the type of data we want to store( </a:t>
            </a:r>
            <a:r>
              <a:rPr lang="en-US" b="1" dirty="0" err="1">
                <a:latin typeface="Courier"/>
                <a:cs typeface="Courier"/>
              </a:rPr>
              <a:t>int</a:t>
            </a:r>
            <a:r>
              <a:rPr lang="en-US" b="1" dirty="0">
                <a:latin typeface="Courier"/>
                <a:cs typeface="Courier"/>
              </a:rPr>
              <a:t>*,</a:t>
            </a:r>
            <a:r>
              <a:rPr lang="en-US" dirty="0">
                <a:latin typeface="Arial" charset="0"/>
                <a:cs typeface="ＭＳ Ｐゴシック" charset="0"/>
              </a:rPr>
              <a:t> </a:t>
            </a:r>
            <a:r>
              <a:rPr lang="en-US" b="1" dirty="0">
                <a:latin typeface="Courier"/>
                <a:cs typeface="Courier"/>
              </a:rPr>
              <a:t>char*, …)</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188</a:t>
            </a:fld>
            <a:endParaRPr lang="fr-FR" sz="1400">
              <a:solidFill>
                <a:srgbClr val="000208"/>
              </a:solidFill>
              <a:latin typeface="Times New Roman" charset="0"/>
            </a:endParaRPr>
          </a:p>
        </p:txBody>
      </p:sp>
      <p:sp>
        <p:nvSpPr>
          <p:cNvPr id="2" name="Espace réservé du pied de page 1">
            <a:extLst>
              <a:ext uri="{FF2B5EF4-FFF2-40B4-BE49-F238E27FC236}">
                <a16:creationId xmlns:a16="http://schemas.microsoft.com/office/drawing/2014/main" id="{41CB20DA-8BEA-2F13-A38C-5CB75A8CC4B8}"/>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374202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978">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6978">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6978">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697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re 1"/>
          <p:cNvSpPr>
            <a:spLocks noGrp="1"/>
          </p:cNvSpPr>
          <p:nvPr>
            <p:ph type="title"/>
          </p:nvPr>
        </p:nvSpPr>
        <p:spPr/>
        <p:txBody>
          <a:bodyPr/>
          <a:lstStyle/>
          <a:p>
            <a:r>
              <a:rPr lang="fr-FR" sz="2800" dirty="0" err="1">
                <a:latin typeface="Arial" charset="0"/>
                <a:ea typeface="ＭＳ Ｐゴシック" charset="0"/>
                <a:cs typeface="ＭＳ Ｐゴシック" charset="0"/>
              </a:rPr>
              <a:t>Dynamic</a:t>
            </a:r>
            <a:r>
              <a:rPr lang="fr-FR" sz="2800" dirty="0">
                <a:latin typeface="Arial" charset="0"/>
                <a:ea typeface="ＭＳ Ｐゴシック" charset="0"/>
                <a:cs typeface="ＭＳ Ｐゴシック" charset="0"/>
              </a:rPr>
              <a:t> de-allocation: free(…)</a:t>
            </a:r>
          </a:p>
        </p:txBody>
      </p:sp>
      <p:sp>
        <p:nvSpPr>
          <p:cNvPr id="126978" name="Espace réservé du contenu 2"/>
          <p:cNvSpPr>
            <a:spLocks noGrp="1"/>
          </p:cNvSpPr>
          <p:nvPr>
            <p:ph idx="1"/>
          </p:nvPr>
        </p:nvSpPr>
        <p:spPr>
          <a:xfrm>
            <a:off x="457200" y="914400"/>
            <a:ext cx="8686800" cy="5257800"/>
          </a:xfrm>
        </p:spPr>
        <p:txBody>
          <a:bodyPr/>
          <a:lstStyle/>
          <a:p>
            <a:r>
              <a:rPr lang="en-US" dirty="0">
                <a:latin typeface="Arial" charset="0"/>
                <a:cs typeface="ＭＳ Ｐゴシック" charset="0"/>
              </a:rPr>
              <a:t>Syntax:</a:t>
            </a:r>
          </a:p>
          <a:p>
            <a:pPr marL="0" indent="0">
              <a:buNone/>
            </a:pPr>
            <a:r>
              <a:rPr lang="en-US" sz="2000" b="1" dirty="0">
                <a:latin typeface="Courier"/>
                <a:cs typeface="Courier"/>
              </a:rPr>
              <a:t>void free(void *pointer);</a:t>
            </a:r>
          </a:p>
          <a:p>
            <a:endParaRPr lang="en-US" sz="2000" b="1" dirty="0">
              <a:latin typeface="Courier"/>
              <a:cs typeface="Courier"/>
            </a:endParaRPr>
          </a:p>
          <a:p>
            <a:r>
              <a:rPr lang="en-US" dirty="0">
                <a:latin typeface="Arial" charset="0"/>
                <a:cs typeface="ＭＳ Ｐゴシック" charset="0"/>
              </a:rPr>
              <a:t>Function</a:t>
            </a:r>
          </a:p>
          <a:p>
            <a:pPr lvl="1"/>
            <a:r>
              <a:rPr lang="en-US" dirty="0">
                <a:latin typeface="Arial" charset="0"/>
              </a:rPr>
              <a:t>free() frees the memory block pointed out by the </a:t>
            </a:r>
            <a:r>
              <a:rPr lang="en-US" b="1" dirty="0">
                <a:latin typeface="Courier"/>
                <a:cs typeface="Courier"/>
              </a:rPr>
              <a:t>pointer,</a:t>
            </a:r>
            <a:r>
              <a:rPr lang="en-US" dirty="0">
                <a:latin typeface="Arial" charset="0"/>
                <a:cs typeface="Courier"/>
              </a:rPr>
              <a:t> which has been reserved </a:t>
            </a:r>
            <a:r>
              <a:rPr lang="en-US" dirty="0">
                <a:latin typeface="Arial" charset="0"/>
              </a:rPr>
              <a:t>by a call, such as </a:t>
            </a:r>
            <a:r>
              <a:rPr lang="en-US" b="1" dirty="0" err="1">
                <a:latin typeface="Courier"/>
                <a:cs typeface="Courier"/>
              </a:rPr>
              <a:t>malloc</a:t>
            </a:r>
            <a:r>
              <a:rPr lang="en-US" b="1" dirty="0">
                <a:latin typeface="Courier"/>
                <a:cs typeface="Courier"/>
              </a:rPr>
              <a:t>()</a:t>
            </a:r>
            <a:r>
              <a:rPr lang="en-US" dirty="0">
                <a:latin typeface="Arial" charset="0"/>
              </a:rPr>
              <a:t>, </a:t>
            </a:r>
            <a:r>
              <a:rPr lang="en-US" b="1" dirty="0" err="1">
                <a:latin typeface="Courier"/>
                <a:cs typeface="Courier"/>
              </a:rPr>
              <a:t>calloc</a:t>
            </a:r>
            <a:r>
              <a:rPr lang="en-US" b="1" dirty="0">
                <a:latin typeface="Courier"/>
                <a:cs typeface="Courier"/>
              </a:rPr>
              <a:t>() </a:t>
            </a:r>
            <a:r>
              <a:rPr lang="en-US" dirty="0" err="1">
                <a:latin typeface="Arial" charset="0"/>
              </a:rPr>
              <a:t>ou</a:t>
            </a:r>
            <a:r>
              <a:rPr lang="en-US" dirty="0">
                <a:latin typeface="Arial" charset="0"/>
              </a:rPr>
              <a:t> </a:t>
            </a:r>
            <a:r>
              <a:rPr lang="en-US" b="1" dirty="0" err="1">
                <a:latin typeface="Courier"/>
                <a:cs typeface="Courier"/>
              </a:rPr>
              <a:t>realloc</a:t>
            </a:r>
            <a:r>
              <a:rPr lang="en-US" b="1" dirty="0">
                <a:latin typeface="Courier"/>
                <a:cs typeface="Courier"/>
              </a:rPr>
              <a:t>()</a:t>
            </a:r>
          </a:p>
          <a:p>
            <a:pPr lvl="1"/>
            <a:r>
              <a:rPr lang="en-US" dirty="0">
                <a:latin typeface="Arial" charset="0"/>
              </a:rPr>
              <a:t>If the </a:t>
            </a:r>
            <a:r>
              <a:rPr lang="en-US" b="1" dirty="0">
                <a:latin typeface="Courier"/>
                <a:cs typeface="Courier"/>
              </a:rPr>
              <a:t>pointer</a:t>
            </a:r>
            <a:r>
              <a:rPr lang="en-US" dirty="0">
                <a:latin typeface="Arial" charset="0"/>
              </a:rPr>
              <a:t> has not been obtained by one of these functions, or it has been already freed by free(), the behavior is UNDEFINED</a:t>
            </a:r>
          </a:p>
          <a:p>
            <a:pPr lvl="1"/>
            <a:r>
              <a:rPr lang="en-US" dirty="0">
                <a:latin typeface="Arial" charset="0"/>
              </a:rPr>
              <a:t>If the pointer </a:t>
            </a:r>
            <a:r>
              <a:rPr lang="en-US" b="1" dirty="0" err="1">
                <a:latin typeface="Courier"/>
                <a:cs typeface="Courier"/>
              </a:rPr>
              <a:t>ptr</a:t>
            </a:r>
            <a:r>
              <a:rPr lang="en-US" dirty="0">
                <a:latin typeface="Arial" charset="0"/>
              </a:rPr>
              <a:t> is </a:t>
            </a:r>
            <a:r>
              <a:rPr lang="en-US" b="1" dirty="0">
                <a:latin typeface="Arial" charset="0"/>
              </a:rPr>
              <a:t>NULL</a:t>
            </a:r>
            <a:r>
              <a:rPr lang="en-US" dirty="0">
                <a:latin typeface="Arial" charset="0"/>
              </a:rPr>
              <a:t>, nothing happens</a:t>
            </a:r>
          </a:p>
          <a:p>
            <a:pPr lvl="1"/>
            <a:endParaRPr lang="en-US" sz="800" dirty="0">
              <a:latin typeface="Arial" charset="0"/>
            </a:endParaRPr>
          </a:p>
          <a:p>
            <a:r>
              <a:rPr lang="en-US" dirty="0">
                <a:latin typeface="Arial" charset="0"/>
              </a:rPr>
              <a:t>No return value</a:t>
            </a:r>
          </a:p>
          <a:p>
            <a:endParaRPr lang="en-US" sz="900" dirty="0">
              <a:latin typeface="Arial" charset="0"/>
            </a:endParaRPr>
          </a:p>
          <a:p>
            <a:r>
              <a:rPr lang="en-US" dirty="0">
                <a:latin typeface="Arial" charset="0"/>
                <a:cs typeface="ＭＳ Ｐゴシック" charset="0"/>
              </a:rPr>
              <a:t>The C </a:t>
            </a:r>
            <a:r>
              <a:rPr lang="en-US" b="1" dirty="0">
                <a:solidFill>
                  <a:srgbClr val="FF0000"/>
                </a:solidFill>
                <a:latin typeface="Arial" charset="0"/>
                <a:cs typeface="ＭＳ Ｐゴシック" charset="0"/>
              </a:rPr>
              <a:t>programmer</a:t>
            </a:r>
            <a:r>
              <a:rPr lang="en-US" b="1" dirty="0">
                <a:latin typeface="Arial" charset="0"/>
                <a:cs typeface="ＭＳ Ｐゴシック" charset="0"/>
              </a:rPr>
              <a:t> is </a:t>
            </a:r>
            <a:r>
              <a:rPr lang="en-US" b="1" dirty="0">
                <a:solidFill>
                  <a:srgbClr val="FF0000"/>
                </a:solidFill>
                <a:latin typeface="Arial" charset="0"/>
                <a:cs typeface="ＭＳ Ｐゴシック" charset="0"/>
              </a:rPr>
              <a:t>responsible</a:t>
            </a:r>
            <a:r>
              <a:rPr lang="en-US" b="1" dirty="0">
                <a:latin typeface="Arial" charset="0"/>
                <a:cs typeface="ＭＳ Ｐゴシック" charset="0"/>
              </a:rPr>
              <a:t> for setting </a:t>
            </a:r>
            <a:r>
              <a:rPr lang="en-US" b="1" dirty="0">
                <a:solidFill>
                  <a:srgbClr val="FF0000"/>
                </a:solidFill>
                <a:latin typeface="Arial" charset="0"/>
                <a:cs typeface="ＭＳ Ｐゴシック" charset="0"/>
              </a:rPr>
              <a:t>free</a:t>
            </a:r>
            <a:r>
              <a:rPr lang="en-US" dirty="0">
                <a:solidFill>
                  <a:srgbClr val="FF0000"/>
                </a:solidFill>
                <a:latin typeface="Arial" charset="0"/>
                <a:cs typeface="ＭＳ Ｐゴシック" charset="0"/>
              </a:rPr>
              <a:t> </a:t>
            </a:r>
            <a:r>
              <a:rPr lang="en-US" dirty="0">
                <a:latin typeface="Arial" charset="0"/>
                <a:cs typeface="ＭＳ Ｐゴシック" charset="0"/>
              </a:rPr>
              <a:t>the memory, when it is no more needed </a:t>
            </a:r>
          </a:p>
          <a:p>
            <a:pPr lvl="1"/>
            <a:endParaRPr lang="en-US"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189</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9896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978">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6978">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697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190</a:t>
            </a:fld>
            <a:endParaRPr lang="fr-FR" sz="1400">
              <a:solidFill>
                <a:srgbClr val="000208"/>
              </a:solidFill>
              <a:latin typeface="Times New Roman" charset="0"/>
            </a:endParaRPr>
          </a:p>
        </p:txBody>
      </p:sp>
      <p:sp>
        <p:nvSpPr>
          <p:cNvPr id="130049" name="Titre 1"/>
          <p:cNvSpPr>
            <a:spLocks noGrp="1"/>
          </p:cNvSpPr>
          <p:nvPr>
            <p:ph type="title"/>
          </p:nvPr>
        </p:nvSpPr>
        <p:spPr/>
        <p:txBody>
          <a:bodyPr/>
          <a:lstStyle/>
          <a:p>
            <a:r>
              <a:rPr lang="fr-FR" sz="2800" dirty="0" err="1">
                <a:latin typeface="Arial" charset="0"/>
                <a:ea typeface="ＭＳ Ｐゴシック" charset="0"/>
                <a:cs typeface="ＭＳ Ｐゴシック" charset="0"/>
              </a:rPr>
              <a:t>Dynamic</a:t>
            </a:r>
            <a:r>
              <a:rPr lang="fr-FR" sz="2800" dirty="0">
                <a:latin typeface="Arial" charset="0"/>
                <a:ea typeface="ＭＳ Ｐゴシック" charset="0"/>
                <a:cs typeface="ＭＳ Ｐゴシック" charset="0"/>
              </a:rPr>
              <a:t> allocation: </a:t>
            </a:r>
            <a:r>
              <a:rPr lang="fr-FR" sz="2800" dirty="0" err="1">
                <a:latin typeface="Arial" charset="0"/>
                <a:ea typeface="ＭＳ Ｐゴシック" charset="0"/>
                <a:cs typeface="ＭＳ Ｐゴシック" charset="0"/>
              </a:rPr>
              <a:t>Example</a:t>
            </a:r>
            <a:endParaRPr lang="fr-FR" sz="2800" dirty="0">
              <a:latin typeface="Arial" charset="0"/>
              <a:ea typeface="ＭＳ Ｐゴシック" charset="0"/>
              <a:cs typeface="ＭＳ Ｐゴシック" charset="0"/>
            </a:endParaRPr>
          </a:p>
        </p:txBody>
      </p:sp>
      <p:pic>
        <p:nvPicPr>
          <p:cNvPr id="130051" name="Image 5" descr="Capture d’écran 2014-08-27 à 17.01.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3628" y="1232756"/>
            <a:ext cx="6804756" cy="4841845"/>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4767077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Dynamic</a:t>
            </a:r>
            <a:r>
              <a:rPr lang="fr-FR" sz="2800" dirty="0">
                <a:latin typeface="Arial" charset="0"/>
                <a:cs typeface="ＭＳ Ｐゴシック" charset="0"/>
              </a:rPr>
              <a:t> Memory Allocation</a:t>
            </a:r>
            <a:endParaRPr lang="fr-FR" sz="2800" dirty="0">
              <a:latin typeface="Arial" charset="0"/>
              <a:ea typeface="ＭＳ Ｐゴシック" charset="0"/>
              <a:cs typeface="ＭＳ Ｐゴシック" charset="0"/>
            </a:endParaRP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191</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Q1 – Q5</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8928564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u contenu 2"/>
          <p:cNvSpPr>
            <a:spLocks noGrp="1"/>
          </p:cNvSpPr>
          <p:nvPr>
            <p:ph idx="1"/>
          </p:nvPr>
        </p:nvSpPr>
        <p:spPr>
          <a:xfrm>
            <a:off x="143508" y="800708"/>
            <a:ext cx="9505056" cy="714400"/>
          </a:xfrm>
        </p:spPr>
        <p:txBody>
          <a:bodyPr/>
          <a:lstStyle/>
          <a:p>
            <a:pPr marL="0" indent="0">
              <a:buNone/>
            </a:pPr>
            <a:r>
              <a:rPr lang="en-US" b="1" dirty="0">
                <a:latin typeface="Courier New"/>
                <a:cs typeface="Courier New"/>
              </a:rPr>
              <a:t>type *</a:t>
            </a:r>
            <a:r>
              <a:rPr lang="en-US" b="1" dirty="0" err="1">
                <a:latin typeface="Courier New"/>
                <a:cs typeface="Courier New"/>
              </a:rPr>
              <a:t>arr</a:t>
            </a:r>
            <a:r>
              <a:rPr lang="en-US" b="1" dirty="0">
                <a:latin typeface="Courier New"/>
                <a:cs typeface="Courier New"/>
              </a:rPr>
              <a:t> = (type *)</a:t>
            </a:r>
            <a:r>
              <a:rPr lang="en-US" b="1" dirty="0" err="1">
                <a:latin typeface="Courier New"/>
                <a:cs typeface="Courier New"/>
              </a:rPr>
              <a:t>malloc</a:t>
            </a:r>
            <a:r>
              <a:rPr lang="en-US" b="1" dirty="0">
                <a:latin typeface="Courier New"/>
                <a:cs typeface="Courier New"/>
              </a:rPr>
              <a:t>(size * </a:t>
            </a:r>
            <a:r>
              <a:rPr lang="en-US" b="1" dirty="0" err="1">
                <a:latin typeface="Courier New"/>
                <a:cs typeface="Courier New"/>
              </a:rPr>
              <a:t>sizeof</a:t>
            </a:r>
            <a:r>
              <a:rPr lang="en-US" b="1" dirty="0">
                <a:latin typeface="Courier New"/>
                <a:cs typeface="Courier New"/>
              </a:rPr>
              <a:t>(type));</a:t>
            </a:r>
          </a:p>
        </p:txBody>
      </p:sp>
      <p:sp>
        <p:nvSpPr>
          <p:cNvPr id="6"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1D </a:t>
            </a:r>
            <a:r>
              <a:rPr lang="fr-FR" sz="2800" dirty="0" err="1">
                <a:latin typeface="Arial" charset="0"/>
                <a:ea typeface="ＭＳ Ｐゴシック" charset="0"/>
                <a:cs typeface="ＭＳ Ｐゴシック" charset="0"/>
              </a:rPr>
              <a:t>Array</a:t>
            </a:r>
            <a:r>
              <a:rPr lang="fr-FR" sz="2800" dirty="0">
                <a:latin typeface="Arial" charset="0"/>
                <a:ea typeface="ＭＳ Ｐゴシック" charset="0"/>
                <a:cs typeface="ＭＳ Ｐゴシック" charset="0"/>
              </a:rPr>
              <a:t> </a:t>
            </a:r>
            <a:r>
              <a:rPr lang="en-US" sz="2800" dirty="0"/>
              <a:t>with </a:t>
            </a:r>
            <a:r>
              <a:rPr lang="en-US" sz="2800" dirty="0">
                <a:latin typeface="Courier"/>
                <a:cs typeface="Courier"/>
              </a:rPr>
              <a:t>size</a:t>
            </a:r>
            <a:r>
              <a:rPr lang="en-US" sz="2800" dirty="0">
                <a:cs typeface="Courier"/>
              </a:rPr>
              <a:t> elements</a:t>
            </a:r>
            <a:endParaRPr lang="fr-FR" sz="2800" dirty="0">
              <a:latin typeface="Arial" charset="0"/>
              <a:ea typeface="ＭＳ Ｐゴシック" charset="0"/>
              <a:cs typeface="ＭＳ Ｐゴシック"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011872597"/>
              </p:ext>
            </p:extLst>
          </p:nvPr>
        </p:nvGraphicFramePr>
        <p:xfrm>
          <a:off x="6708463" y="2399300"/>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2" name="Group 1"/>
          <p:cNvGrpSpPr/>
          <p:nvPr/>
        </p:nvGrpSpPr>
        <p:grpSpPr>
          <a:xfrm>
            <a:off x="5543191" y="2024844"/>
            <a:ext cx="3313285" cy="4828602"/>
            <a:chOff x="5543191" y="2024844"/>
            <a:chExt cx="3313285" cy="4828602"/>
          </a:xfrm>
        </p:grpSpPr>
        <p:sp>
          <p:nvSpPr>
            <p:cNvPr id="12" name="TextBox 11"/>
            <p:cNvSpPr txBox="1"/>
            <p:nvPr/>
          </p:nvSpPr>
          <p:spPr>
            <a:xfrm>
              <a:off x="7291057" y="2024844"/>
              <a:ext cx="811841" cy="400110"/>
            </a:xfrm>
            <a:prstGeom prst="rect">
              <a:avLst/>
            </a:prstGeom>
            <a:noFill/>
          </p:spPr>
          <p:txBody>
            <a:bodyPr wrap="none" rtlCol="0">
              <a:spAutoFit/>
            </a:bodyPr>
            <a:lstStyle/>
            <a:p>
              <a:r>
                <a:rPr lang="en-US" sz="2000" b="1" dirty="0"/>
                <a:t>Heap</a:t>
              </a:r>
            </a:p>
          </p:txBody>
        </p:sp>
        <p:sp>
          <p:nvSpPr>
            <p:cNvPr id="13" name="TextBox 12"/>
            <p:cNvSpPr txBox="1"/>
            <p:nvPr/>
          </p:nvSpPr>
          <p:spPr>
            <a:xfrm>
              <a:off x="5556538" y="2363296"/>
              <a:ext cx="1040519" cy="400110"/>
            </a:xfrm>
            <a:prstGeom prst="rect">
              <a:avLst/>
            </a:prstGeom>
            <a:noFill/>
          </p:spPr>
          <p:txBody>
            <a:bodyPr wrap="none" rtlCol="0">
              <a:spAutoFit/>
            </a:bodyPr>
            <a:lstStyle/>
            <a:p>
              <a:r>
                <a:rPr lang="en-US" sz="2000" b="1" dirty="0"/>
                <a:t>0x1000</a:t>
              </a:r>
            </a:p>
          </p:txBody>
        </p:sp>
        <p:sp>
          <p:nvSpPr>
            <p:cNvPr id="15" name="Rectangle 14"/>
            <p:cNvSpPr/>
            <p:nvPr/>
          </p:nvSpPr>
          <p:spPr>
            <a:xfrm>
              <a:off x="7412046" y="232729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6" name="TextBox 15"/>
            <p:cNvSpPr txBox="1"/>
            <p:nvPr/>
          </p:nvSpPr>
          <p:spPr>
            <a:xfrm>
              <a:off x="5554572" y="2791278"/>
              <a:ext cx="1043876" cy="400110"/>
            </a:xfrm>
            <a:prstGeom prst="rect">
              <a:avLst/>
            </a:prstGeom>
            <a:noFill/>
          </p:spPr>
          <p:txBody>
            <a:bodyPr wrap="none" rtlCol="0">
              <a:spAutoFit/>
            </a:bodyPr>
            <a:lstStyle/>
            <a:p>
              <a:r>
                <a:rPr lang="en-US" sz="2000" b="1" dirty="0"/>
                <a:t>0x1004</a:t>
              </a:r>
            </a:p>
          </p:txBody>
        </p:sp>
        <p:sp>
          <p:nvSpPr>
            <p:cNvPr id="18" name="Rectangle 17"/>
            <p:cNvSpPr/>
            <p:nvPr/>
          </p:nvSpPr>
          <p:spPr>
            <a:xfrm>
              <a:off x="7412046" y="275527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9" name="TextBox 18"/>
            <p:cNvSpPr txBox="1"/>
            <p:nvPr/>
          </p:nvSpPr>
          <p:spPr>
            <a:xfrm>
              <a:off x="5556250" y="5743606"/>
              <a:ext cx="1040519" cy="400110"/>
            </a:xfrm>
            <a:prstGeom prst="rect">
              <a:avLst/>
            </a:prstGeom>
            <a:noFill/>
          </p:spPr>
          <p:txBody>
            <a:bodyPr wrap="none" rtlCol="0">
              <a:spAutoFit/>
            </a:bodyPr>
            <a:lstStyle/>
            <a:p>
              <a:r>
                <a:rPr lang="en-US" sz="2000" b="1" dirty="0"/>
                <a:t>0x1028</a:t>
              </a:r>
            </a:p>
          </p:txBody>
        </p:sp>
        <p:sp>
          <p:nvSpPr>
            <p:cNvPr id="21" name="Rectangle 20"/>
            <p:cNvSpPr/>
            <p:nvPr/>
          </p:nvSpPr>
          <p:spPr>
            <a:xfrm>
              <a:off x="7412046" y="567566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2" name="Rectangle 21"/>
            <p:cNvSpPr/>
            <p:nvPr/>
          </p:nvSpPr>
          <p:spPr>
            <a:xfrm>
              <a:off x="7412046" y="311531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3" name="Rectangle 22"/>
            <p:cNvSpPr/>
            <p:nvPr/>
          </p:nvSpPr>
          <p:spPr>
            <a:xfrm>
              <a:off x="7412046" y="34753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4" name="Rectangle 23"/>
            <p:cNvSpPr/>
            <p:nvPr/>
          </p:nvSpPr>
          <p:spPr>
            <a:xfrm>
              <a:off x="7412046" y="376338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5" name="Rectangle 24"/>
            <p:cNvSpPr/>
            <p:nvPr/>
          </p:nvSpPr>
          <p:spPr>
            <a:xfrm>
              <a:off x="7412046" y="412342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6" name="Rectangle 25"/>
            <p:cNvSpPr/>
            <p:nvPr/>
          </p:nvSpPr>
          <p:spPr>
            <a:xfrm>
              <a:off x="7412046" y="448346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7" name="Rectangle 26"/>
            <p:cNvSpPr/>
            <p:nvPr/>
          </p:nvSpPr>
          <p:spPr>
            <a:xfrm>
              <a:off x="7412046" y="487951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8" name="Rectangle 27"/>
            <p:cNvSpPr/>
            <p:nvPr/>
          </p:nvSpPr>
          <p:spPr>
            <a:xfrm>
              <a:off x="7412046" y="52755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9" name="TextBox 28"/>
            <p:cNvSpPr txBox="1"/>
            <p:nvPr/>
          </p:nvSpPr>
          <p:spPr>
            <a:xfrm>
              <a:off x="5556250" y="3176972"/>
              <a:ext cx="1040519" cy="400110"/>
            </a:xfrm>
            <a:prstGeom prst="rect">
              <a:avLst/>
            </a:prstGeom>
            <a:noFill/>
          </p:spPr>
          <p:txBody>
            <a:bodyPr wrap="none" rtlCol="0">
              <a:spAutoFit/>
            </a:bodyPr>
            <a:lstStyle/>
            <a:p>
              <a:r>
                <a:rPr lang="en-US" sz="2000" b="1" dirty="0"/>
                <a:t>0x1008</a:t>
              </a:r>
            </a:p>
          </p:txBody>
        </p:sp>
        <p:sp>
          <p:nvSpPr>
            <p:cNvPr id="31" name="TextBox 30"/>
            <p:cNvSpPr txBox="1"/>
            <p:nvPr/>
          </p:nvSpPr>
          <p:spPr>
            <a:xfrm>
              <a:off x="5543191" y="3548915"/>
              <a:ext cx="1083099" cy="400110"/>
            </a:xfrm>
            <a:prstGeom prst="rect">
              <a:avLst/>
            </a:prstGeom>
            <a:noFill/>
          </p:spPr>
          <p:txBody>
            <a:bodyPr wrap="none" rtlCol="0">
              <a:spAutoFit/>
            </a:bodyPr>
            <a:lstStyle/>
            <a:p>
              <a:r>
                <a:rPr lang="en-US" sz="2000" b="1" dirty="0"/>
                <a:t>0x100C</a:t>
              </a:r>
            </a:p>
          </p:txBody>
        </p:sp>
        <p:sp>
          <p:nvSpPr>
            <p:cNvPr id="33" name="TextBox 32"/>
            <p:cNvSpPr txBox="1"/>
            <p:nvPr/>
          </p:nvSpPr>
          <p:spPr>
            <a:xfrm>
              <a:off x="5564481" y="4581128"/>
              <a:ext cx="1040519" cy="400110"/>
            </a:xfrm>
            <a:prstGeom prst="rect">
              <a:avLst/>
            </a:prstGeom>
            <a:noFill/>
          </p:spPr>
          <p:txBody>
            <a:bodyPr wrap="none" rtlCol="0">
              <a:spAutoFit/>
            </a:bodyPr>
            <a:lstStyle/>
            <a:p>
              <a:r>
                <a:rPr lang="en-US" sz="2000" b="1" dirty="0"/>
                <a:t>0x1018</a:t>
              </a:r>
            </a:p>
          </p:txBody>
        </p:sp>
        <p:sp>
          <p:nvSpPr>
            <p:cNvPr id="34" name="Rectangle 33"/>
            <p:cNvSpPr/>
            <p:nvPr/>
          </p:nvSpPr>
          <p:spPr>
            <a:xfrm>
              <a:off x="7382642" y="608923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5" name="Rectangle 34"/>
            <p:cNvSpPr/>
            <p:nvPr/>
          </p:nvSpPr>
          <p:spPr>
            <a:xfrm>
              <a:off x="7423595" y="645333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6" name="Rectangle 35"/>
            <p:cNvSpPr/>
            <p:nvPr/>
          </p:nvSpPr>
          <p:spPr bwMode="auto">
            <a:xfrm>
              <a:off x="5556335" y="4221088"/>
              <a:ext cx="3300141" cy="1512168"/>
            </a:xfrm>
            <a:prstGeom prst="rect">
              <a:avLst/>
            </a:prstGeom>
            <a:noFill/>
            <a:ln w="57150" cap="flat" cmpd="sng" algn="ctr">
              <a:solidFill>
                <a:srgbClr val="80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8" name="TextBox 37"/>
            <p:cNvSpPr txBox="1"/>
            <p:nvPr/>
          </p:nvSpPr>
          <p:spPr>
            <a:xfrm>
              <a:off x="5562803" y="4185084"/>
              <a:ext cx="1043876" cy="400110"/>
            </a:xfrm>
            <a:prstGeom prst="rect">
              <a:avLst/>
            </a:prstGeom>
            <a:noFill/>
          </p:spPr>
          <p:txBody>
            <a:bodyPr wrap="none" rtlCol="0">
              <a:spAutoFit/>
            </a:bodyPr>
            <a:lstStyle/>
            <a:p>
              <a:r>
                <a:rPr lang="en-US" sz="2000" b="1" dirty="0"/>
                <a:t>0x1014</a:t>
              </a:r>
            </a:p>
          </p:txBody>
        </p:sp>
      </p:grpSp>
      <p:sp>
        <p:nvSpPr>
          <p:cNvPr id="3" name="Rectangle 2"/>
          <p:cNvSpPr/>
          <p:nvPr/>
        </p:nvSpPr>
        <p:spPr>
          <a:xfrm>
            <a:off x="179512" y="1448780"/>
            <a:ext cx="7203114" cy="461665"/>
          </a:xfrm>
          <a:prstGeom prst="rect">
            <a:avLst/>
          </a:prstGeom>
        </p:spPr>
        <p:txBody>
          <a:bodyPr wrap="none">
            <a:spAutoFit/>
          </a:bodyPr>
          <a:lstStyle/>
          <a:p>
            <a:pPr marL="0" indent="0">
              <a:buNone/>
            </a:pPr>
            <a:r>
              <a:rPr lang="en-US" sz="2400" b="1" dirty="0" err="1">
                <a:latin typeface="Courier New"/>
                <a:cs typeface="Courier New"/>
              </a:rPr>
              <a:t>int</a:t>
            </a:r>
            <a:r>
              <a:rPr lang="en-US" sz="2400" b="1" dirty="0">
                <a:latin typeface="Courier New"/>
                <a:cs typeface="Courier New"/>
              </a:rPr>
              <a:t> *</a:t>
            </a:r>
            <a:r>
              <a:rPr lang="en-US" sz="2400" b="1" dirty="0" err="1">
                <a:latin typeface="Courier New"/>
                <a:cs typeface="Courier New"/>
              </a:rPr>
              <a:t>arr</a:t>
            </a:r>
            <a:r>
              <a:rPr lang="en-US" sz="2400" b="1" dirty="0">
                <a:latin typeface="Courier New"/>
                <a:cs typeface="Courier New"/>
              </a:rPr>
              <a:t>=(</a:t>
            </a:r>
            <a:r>
              <a:rPr lang="en-US" sz="2400" b="1" dirty="0" err="1">
                <a:latin typeface="Courier New"/>
                <a:cs typeface="Courier New"/>
              </a:rPr>
              <a:t>int</a:t>
            </a:r>
            <a:r>
              <a:rPr lang="en-US" sz="2400" b="1" dirty="0">
                <a:latin typeface="Courier New"/>
                <a:cs typeface="Courier New"/>
              </a:rPr>
              <a:t> *)</a:t>
            </a:r>
            <a:r>
              <a:rPr lang="en-US" sz="2400" b="1" dirty="0" err="1">
                <a:latin typeface="Courier New"/>
                <a:cs typeface="Courier New"/>
              </a:rPr>
              <a:t>malloc</a:t>
            </a:r>
            <a:r>
              <a:rPr lang="en-US" sz="2400" b="1" dirty="0">
                <a:latin typeface="Courier New"/>
                <a:cs typeface="Courier New"/>
              </a:rPr>
              <a:t>(4*</a:t>
            </a:r>
            <a:r>
              <a:rPr lang="en-US" sz="2400" b="1" dirty="0" err="1">
                <a:latin typeface="Courier New"/>
                <a:cs typeface="Courier New"/>
              </a:rPr>
              <a:t>sizeof</a:t>
            </a:r>
            <a:r>
              <a:rPr lang="en-US" sz="2400" b="1" dirty="0">
                <a:latin typeface="Courier New"/>
                <a:cs typeface="Courier New"/>
              </a:rPr>
              <a:t>(</a:t>
            </a:r>
            <a:r>
              <a:rPr lang="en-US" sz="2400" b="1" dirty="0" err="1">
                <a:latin typeface="Courier New"/>
                <a:cs typeface="Courier New"/>
              </a:rPr>
              <a:t>int</a:t>
            </a:r>
            <a:r>
              <a:rPr lang="en-US" sz="2400" b="1" dirty="0">
                <a:latin typeface="Courier New"/>
                <a:cs typeface="Courier New"/>
              </a:rPr>
              <a:t>));</a:t>
            </a:r>
          </a:p>
        </p:txBody>
      </p: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4" name="Espace réservé du numéro de diapositive 3">
            <a:extLst>
              <a:ext uri="{FF2B5EF4-FFF2-40B4-BE49-F238E27FC236}">
                <a16:creationId xmlns:a16="http://schemas.microsoft.com/office/drawing/2014/main" id="{5E46F988-70EA-C1F8-C342-50125B0DF9D0}"/>
              </a:ext>
            </a:extLst>
          </p:cNvPr>
          <p:cNvSpPr>
            <a:spLocks noGrp="1"/>
          </p:cNvSpPr>
          <p:nvPr>
            <p:ph type="sldNum" sz="quarter" idx="11"/>
          </p:nvPr>
        </p:nvSpPr>
        <p:spPr/>
        <p:txBody>
          <a:bodyPr/>
          <a:lstStyle/>
          <a:p>
            <a:pPr lvl="2"/>
            <a:fld id="{28BEB0BA-EEE4-5F45-9179-3BC54B76BCCF}" type="slidenum">
              <a:rPr lang="fr-FR" smtClean="0"/>
              <a:pPr lvl="2"/>
              <a:t>192</a:t>
            </a:fld>
            <a:endParaRPr lang="fr-FR"/>
          </a:p>
        </p:txBody>
      </p:sp>
    </p:spTree>
    <p:extLst>
      <p:ext uri="{BB962C8B-B14F-4D97-AF65-F5344CB8AC3E}">
        <p14:creationId xmlns:p14="http://schemas.microsoft.com/office/powerpoint/2010/main" val="417366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1D </a:t>
            </a:r>
            <a:r>
              <a:rPr lang="fr-FR" sz="2800" dirty="0" err="1">
                <a:latin typeface="Arial" charset="0"/>
                <a:cs typeface="ＭＳ Ｐゴシック" charset="0"/>
              </a:rPr>
              <a:t>Array</a:t>
            </a:r>
            <a:r>
              <a:rPr lang="fr-FR" sz="2800" dirty="0">
                <a:latin typeface="Arial" charset="0"/>
                <a:cs typeface="ＭＳ Ｐゴシック" charset="0"/>
              </a:rPr>
              <a:t> </a:t>
            </a:r>
            <a:r>
              <a:rPr lang="en-US" sz="2800" dirty="0"/>
              <a:t>with </a:t>
            </a:r>
            <a:r>
              <a:rPr lang="en-US" sz="2800" dirty="0">
                <a:latin typeface="Courier"/>
                <a:cs typeface="Courier"/>
              </a:rPr>
              <a:t>size</a:t>
            </a:r>
            <a:r>
              <a:rPr lang="en-US" sz="2800" dirty="0">
                <a:cs typeface="Courier"/>
              </a:rPr>
              <a:t> characters </a:t>
            </a:r>
            <a:r>
              <a:rPr lang="en-US" sz="2800" dirty="0">
                <a:cs typeface="Courier"/>
                <a:sym typeface="Wingdings"/>
              </a:rPr>
              <a:t> string</a:t>
            </a:r>
            <a:endParaRPr lang="fr-FR" sz="2800" dirty="0">
              <a:latin typeface="Arial" charset="0"/>
              <a:ea typeface="ＭＳ Ｐゴシック" charset="0"/>
              <a:cs typeface="ＭＳ Ｐゴシック"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323112776"/>
              </p:ext>
            </p:extLst>
          </p:nvPr>
        </p:nvGraphicFramePr>
        <p:xfrm>
          <a:off x="6708463" y="2399300"/>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2" name="Group 1"/>
          <p:cNvGrpSpPr/>
          <p:nvPr/>
        </p:nvGrpSpPr>
        <p:grpSpPr>
          <a:xfrm>
            <a:off x="5543191" y="2024844"/>
            <a:ext cx="3313285" cy="4828602"/>
            <a:chOff x="5543191" y="2024844"/>
            <a:chExt cx="3313285" cy="4828602"/>
          </a:xfrm>
        </p:grpSpPr>
        <p:sp>
          <p:nvSpPr>
            <p:cNvPr id="12" name="TextBox 11"/>
            <p:cNvSpPr txBox="1"/>
            <p:nvPr/>
          </p:nvSpPr>
          <p:spPr>
            <a:xfrm>
              <a:off x="7291057" y="2024844"/>
              <a:ext cx="811841" cy="400110"/>
            </a:xfrm>
            <a:prstGeom prst="rect">
              <a:avLst/>
            </a:prstGeom>
            <a:noFill/>
          </p:spPr>
          <p:txBody>
            <a:bodyPr wrap="none" rtlCol="0">
              <a:spAutoFit/>
            </a:bodyPr>
            <a:lstStyle/>
            <a:p>
              <a:r>
                <a:rPr lang="en-US" sz="2000" b="1" dirty="0"/>
                <a:t>Heap</a:t>
              </a:r>
            </a:p>
          </p:txBody>
        </p:sp>
        <p:sp>
          <p:nvSpPr>
            <p:cNvPr id="13" name="TextBox 12"/>
            <p:cNvSpPr txBox="1"/>
            <p:nvPr/>
          </p:nvSpPr>
          <p:spPr>
            <a:xfrm>
              <a:off x="5556538" y="2363296"/>
              <a:ext cx="1040519" cy="400110"/>
            </a:xfrm>
            <a:prstGeom prst="rect">
              <a:avLst/>
            </a:prstGeom>
            <a:noFill/>
          </p:spPr>
          <p:txBody>
            <a:bodyPr wrap="none" rtlCol="0">
              <a:spAutoFit/>
            </a:bodyPr>
            <a:lstStyle/>
            <a:p>
              <a:r>
                <a:rPr lang="en-US" sz="2000" b="1" dirty="0"/>
                <a:t>0x1000</a:t>
              </a:r>
            </a:p>
          </p:txBody>
        </p:sp>
        <p:sp>
          <p:nvSpPr>
            <p:cNvPr id="15" name="Rectangle 14"/>
            <p:cNvSpPr/>
            <p:nvPr/>
          </p:nvSpPr>
          <p:spPr>
            <a:xfrm>
              <a:off x="7412046" y="232729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6" name="TextBox 15"/>
            <p:cNvSpPr txBox="1"/>
            <p:nvPr/>
          </p:nvSpPr>
          <p:spPr>
            <a:xfrm>
              <a:off x="5554572" y="2791278"/>
              <a:ext cx="1043876" cy="400110"/>
            </a:xfrm>
            <a:prstGeom prst="rect">
              <a:avLst/>
            </a:prstGeom>
            <a:noFill/>
          </p:spPr>
          <p:txBody>
            <a:bodyPr wrap="none" rtlCol="0">
              <a:spAutoFit/>
            </a:bodyPr>
            <a:lstStyle/>
            <a:p>
              <a:r>
                <a:rPr lang="en-US" sz="2000" b="1" dirty="0"/>
                <a:t>0x1004</a:t>
              </a:r>
            </a:p>
          </p:txBody>
        </p:sp>
        <p:sp>
          <p:nvSpPr>
            <p:cNvPr id="18" name="Rectangle 17"/>
            <p:cNvSpPr/>
            <p:nvPr/>
          </p:nvSpPr>
          <p:spPr>
            <a:xfrm>
              <a:off x="7412046" y="275527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9" name="TextBox 18"/>
            <p:cNvSpPr txBox="1"/>
            <p:nvPr/>
          </p:nvSpPr>
          <p:spPr>
            <a:xfrm>
              <a:off x="5556250" y="5743606"/>
              <a:ext cx="1040519" cy="400110"/>
            </a:xfrm>
            <a:prstGeom prst="rect">
              <a:avLst/>
            </a:prstGeom>
            <a:noFill/>
          </p:spPr>
          <p:txBody>
            <a:bodyPr wrap="none" rtlCol="0">
              <a:spAutoFit/>
            </a:bodyPr>
            <a:lstStyle/>
            <a:p>
              <a:r>
                <a:rPr lang="en-US" sz="2000" b="1" dirty="0"/>
                <a:t>0x1028</a:t>
              </a:r>
            </a:p>
          </p:txBody>
        </p:sp>
        <p:sp>
          <p:nvSpPr>
            <p:cNvPr id="21" name="Rectangle 20"/>
            <p:cNvSpPr/>
            <p:nvPr/>
          </p:nvSpPr>
          <p:spPr>
            <a:xfrm>
              <a:off x="7412046" y="567566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2" name="Rectangle 21"/>
            <p:cNvSpPr/>
            <p:nvPr/>
          </p:nvSpPr>
          <p:spPr>
            <a:xfrm>
              <a:off x="7412046" y="311531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3" name="Rectangle 22"/>
            <p:cNvSpPr/>
            <p:nvPr/>
          </p:nvSpPr>
          <p:spPr>
            <a:xfrm>
              <a:off x="7412046" y="34753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4" name="Rectangle 23"/>
            <p:cNvSpPr/>
            <p:nvPr/>
          </p:nvSpPr>
          <p:spPr>
            <a:xfrm>
              <a:off x="7412046" y="376338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5" name="Rectangle 24"/>
            <p:cNvSpPr/>
            <p:nvPr/>
          </p:nvSpPr>
          <p:spPr>
            <a:xfrm>
              <a:off x="7412046" y="412342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6" name="Rectangle 25"/>
            <p:cNvSpPr/>
            <p:nvPr/>
          </p:nvSpPr>
          <p:spPr>
            <a:xfrm>
              <a:off x="7412046" y="448346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7" name="Rectangle 26"/>
            <p:cNvSpPr/>
            <p:nvPr/>
          </p:nvSpPr>
          <p:spPr>
            <a:xfrm>
              <a:off x="7412046" y="487951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8" name="Rectangle 27"/>
            <p:cNvSpPr/>
            <p:nvPr/>
          </p:nvSpPr>
          <p:spPr>
            <a:xfrm>
              <a:off x="7412046" y="52755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9" name="TextBox 28"/>
            <p:cNvSpPr txBox="1"/>
            <p:nvPr/>
          </p:nvSpPr>
          <p:spPr>
            <a:xfrm>
              <a:off x="5556250" y="3176972"/>
              <a:ext cx="1040519" cy="400110"/>
            </a:xfrm>
            <a:prstGeom prst="rect">
              <a:avLst/>
            </a:prstGeom>
            <a:noFill/>
          </p:spPr>
          <p:txBody>
            <a:bodyPr wrap="none" rtlCol="0">
              <a:spAutoFit/>
            </a:bodyPr>
            <a:lstStyle/>
            <a:p>
              <a:r>
                <a:rPr lang="en-US" sz="2000" b="1" dirty="0"/>
                <a:t>0x1008</a:t>
              </a:r>
            </a:p>
          </p:txBody>
        </p:sp>
        <p:sp>
          <p:nvSpPr>
            <p:cNvPr id="31" name="TextBox 30"/>
            <p:cNvSpPr txBox="1"/>
            <p:nvPr/>
          </p:nvSpPr>
          <p:spPr>
            <a:xfrm>
              <a:off x="5543191" y="3548915"/>
              <a:ext cx="1083099" cy="400110"/>
            </a:xfrm>
            <a:prstGeom prst="rect">
              <a:avLst/>
            </a:prstGeom>
            <a:noFill/>
          </p:spPr>
          <p:txBody>
            <a:bodyPr wrap="none" rtlCol="0">
              <a:spAutoFit/>
            </a:bodyPr>
            <a:lstStyle/>
            <a:p>
              <a:r>
                <a:rPr lang="en-US" sz="2000" b="1" dirty="0"/>
                <a:t>0x100C</a:t>
              </a:r>
            </a:p>
          </p:txBody>
        </p:sp>
        <p:sp>
          <p:nvSpPr>
            <p:cNvPr id="33" name="TextBox 32"/>
            <p:cNvSpPr txBox="1"/>
            <p:nvPr/>
          </p:nvSpPr>
          <p:spPr>
            <a:xfrm>
              <a:off x="5564481" y="4581128"/>
              <a:ext cx="1040519" cy="400110"/>
            </a:xfrm>
            <a:prstGeom prst="rect">
              <a:avLst/>
            </a:prstGeom>
            <a:noFill/>
          </p:spPr>
          <p:txBody>
            <a:bodyPr wrap="none" rtlCol="0">
              <a:spAutoFit/>
            </a:bodyPr>
            <a:lstStyle/>
            <a:p>
              <a:r>
                <a:rPr lang="en-US" sz="2000" b="1" dirty="0"/>
                <a:t>0x1018</a:t>
              </a:r>
            </a:p>
          </p:txBody>
        </p:sp>
        <p:sp>
          <p:nvSpPr>
            <p:cNvPr id="34" name="Rectangle 33"/>
            <p:cNvSpPr/>
            <p:nvPr/>
          </p:nvSpPr>
          <p:spPr>
            <a:xfrm>
              <a:off x="7382642" y="608923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5" name="Rectangle 34"/>
            <p:cNvSpPr/>
            <p:nvPr/>
          </p:nvSpPr>
          <p:spPr>
            <a:xfrm>
              <a:off x="7423595" y="645333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6" name="Rectangle 35"/>
            <p:cNvSpPr/>
            <p:nvPr/>
          </p:nvSpPr>
          <p:spPr bwMode="auto">
            <a:xfrm>
              <a:off x="5556335" y="4617132"/>
              <a:ext cx="3300141" cy="396044"/>
            </a:xfrm>
            <a:prstGeom prst="rect">
              <a:avLst/>
            </a:prstGeom>
            <a:noFill/>
            <a:ln w="57150" cap="flat" cmpd="sng" algn="ctr">
              <a:solidFill>
                <a:srgbClr val="80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lnSpcReduction="1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8" name="TextBox 37"/>
            <p:cNvSpPr txBox="1"/>
            <p:nvPr/>
          </p:nvSpPr>
          <p:spPr>
            <a:xfrm>
              <a:off x="5562803" y="4185084"/>
              <a:ext cx="1043876" cy="400110"/>
            </a:xfrm>
            <a:prstGeom prst="rect">
              <a:avLst/>
            </a:prstGeom>
            <a:noFill/>
          </p:spPr>
          <p:txBody>
            <a:bodyPr wrap="none" rtlCol="0">
              <a:spAutoFit/>
            </a:bodyPr>
            <a:lstStyle/>
            <a:p>
              <a:r>
                <a:rPr lang="en-US" sz="2000" b="1" dirty="0"/>
                <a:t>0x1014</a:t>
              </a:r>
            </a:p>
          </p:txBody>
        </p:sp>
      </p:grpSp>
      <p:sp>
        <p:nvSpPr>
          <p:cNvPr id="3" name="Rectangle 2"/>
          <p:cNvSpPr/>
          <p:nvPr/>
        </p:nvSpPr>
        <p:spPr>
          <a:xfrm>
            <a:off x="359532" y="1124744"/>
            <a:ext cx="7757202" cy="461665"/>
          </a:xfrm>
          <a:prstGeom prst="rect">
            <a:avLst/>
          </a:prstGeom>
        </p:spPr>
        <p:txBody>
          <a:bodyPr wrap="none">
            <a:spAutoFit/>
          </a:bodyPr>
          <a:lstStyle/>
          <a:p>
            <a:pPr marL="0" indent="0">
              <a:buNone/>
            </a:pPr>
            <a:r>
              <a:rPr lang="en-US" sz="2400" b="1" dirty="0">
                <a:latin typeface="Courier New"/>
                <a:cs typeface="Courier New"/>
              </a:rPr>
              <a:t>char *</a:t>
            </a:r>
            <a:r>
              <a:rPr lang="en-US" sz="2400" b="1" dirty="0" err="1">
                <a:latin typeface="Courier New"/>
                <a:cs typeface="Courier New"/>
              </a:rPr>
              <a:t>arr</a:t>
            </a:r>
            <a:r>
              <a:rPr lang="en-US" sz="2400" b="1" dirty="0">
                <a:latin typeface="Courier New"/>
                <a:cs typeface="Courier New"/>
              </a:rPr>
              <a:t>=(char *)</a:t>
            </a:r>
            <a:r>
              <a:rPr lang="en-US" sz="2400" b="1" dirty="0" err="1">
                <a:latin typeface="Courier New"/>
                <a:cs typeface="Courier New"/>
              </a:rPr>
              <a:t>malloc</a:t>
            </a:r>
            <a:r>
              <a:rPr lang="en-US" sz="2400" b="1" dirty="0">
                <a:latin typeface="Courier New"/>
                <a:cs typeface="Courier New"/>
              </a:rPr>
              <a:t>(4*</a:t>
            </a:r>
            <a:r>
              <a:rPr lang="en-US" sz="2400" b="1" dirty="0" err="1">
                <a:latin typeface="Courier New"/>
                <a:cs typeface="Courier New"/>
              </a:rPr>
              <a:t>sizeof</a:t>
            </a:r>
            <a:r>
              <a:rPr lang="en-US" sz="2400" b="1" dirty="0">
                <a:latin typeface="Courier New"/>
                <a:cs typeface="Courier New"/>
              </a:rPr>
              <a:t>(char));</a:t>
            </a:r>
          </a:p>
        </p:txBody>
      </p: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4" name="Espace réservé du numéro de diapositive 3">
            <a:extLst>
              <a:ext uri="{FF2B5EF4-FFF2-40B4-BE49-F238E27FC236}">
                <a16:creationId xmlns:a16="http://schemas.microsoft.com/office/drawing/2014/main" id="{28D42E97-A75A-8BA9-3669-96BAA2095A68}"/>
              </a:ext>
            </a:extLst>
          </p:cNvPr>
          <p:cNvSpPr>
            <a:spLocks noGrp="1"/>
          </p:cNvSpPr>
          <p:nvPr>
            <p:ph type="sldNum" sz="quarter" idx="11"/>
          </p:nvPr>
        </p:nvSpPr>
        <p:spPr/>
        <p:txBody>
          <a:bodyPr/>
          <a:lstStyle/>
          <a:p>
            <a:pPr lvl="2"/>
            <a:fld id="{28BEB0BA-EEE4-5F45-9179-3BC54B76BCCF}" type="slidenum">
              <a:rPr lang="fr-FR" smtClean="0"/>
              <a:pPr lvl="2"/>
              <a:t>193</a:t>
            </a:fld>
            <a:endParaRPr lang="fr-FR"/>
          </a:p>
        </p:txBody>
      </p:sp>
    </p:spTree>
    <p:extLst>
      <p:ext uri="{BB962C8B-B14F-4D97-AF65-F5344CB8AC3E}">
        <p14:creationId xmlns:p14="http://schemas.microsoft.com/office/powerpoint/2010/main" val="422965238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String </a:t>
            </a:r>
            <a:r>
              <a:rPr lang="fr-FR" sz="2800" dirty="0" err="1">
                <a:latin typeface="Arial" charset="0"/>
                <a:cs typeface="ＭＳ Ｐゴシック" charset="0"/>
              </a:rPr>
              <a:t>declaration</a:t>
            </a:r>
            <a:r>
              <a:rPr lang="fr-FR" sz="2800" dirty="0">
                <a:latin typeface="Arial" charset="0"/>
                <a:cs typeface="ＭＳ Ｐゴシック" charset="0"/>
              </a:rPr>
              <a:t>: </a:t>
            </a:r>
            <a:r>
              <a:rPr lang="fr-FR" sz="2800" dirty="0" err="1">
                <a:latin typeface="Arial" charset="0"/>
                <a:cs typeface="ＭＳ Ｐゴシック" charset="0"/>
              </a:rPr>
              <a:t>Remarks</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72385" y="872716"/>
            <a:ext cx="8856476" cy="4537075"/>
          </a:xfrm>
        </p:spPr>
        <p:txBody>
          <a:bodyPr/>
          <a:lstStyle/>
          <a:p>
            <a:r>
              <a:rPr lang="en-GB" dirty="0">
                <a:latin typeface="Arial" charset="0"/>
                <a:cs typeface="ＭＳ Ｐゴシック" charset="0"/>
              </a:rPr>
              <a:t>Dynamic declaration</a:t>
            </a:r>
          </a:p>
          <a:p>
            <a:pPr marL="0" lvl="1" indent="0">
              <a:buSzTx/>
              <a:buNone/>
            </a:pPr>
            <a:r>
              <a:rPr lang="en-GB" b="1" dirty="0">
                <a:latin typeface="Courier"/>
                <a:cs typeface="Courier"/>
              </a:rPr>
              <a:t>char* s=</a:t>
            </a:r>
            <a:r>
              <a:rPr lang="en-GB" b="1" dirty="0">
                <a:latin typeface="Courier New"/>
                <a:ea typeface="Courier New"/>
              </a:rPr>
              <a:t>(char*)</a:t>
            </a:r>
            <a:r>
              <a:rPr lang="en-GB" b="1" dirty="0" err="1">
                <a:latin typeface="Courier New"/>
                <a:ea typeface="Courier New"/>
              </a:rPr>
              <a:t>malloc</a:t>
            </a:r>
            <a:r>
              <a:rPr lang="en-GB" b="1" dirty="0">
                <a:latin typeface="Courier New"/>
                <a:ea typeface="Courier New"/>
              </a:rPr>
              <a:t>(</a:t>
            </a:r>
            <a:r>
              <a:rPr lang="en-GB" b="1" dirty="0" err="1">
                <a:latin typeface="Courier New"/>
                <a:ea typeface="Courier New"/>
              </a:rPr>
              <a:t>sizeof</a:t>
            </a:r>
            <a:r>
              <a:rPr lang="en-GB" b="1" dirty="0">
                <a:latin typeface="Courier New"/>
                <a:ea typeface="Courier New"/>
              </a:rPr>
              <a:t>(char) * SIZE);</a:t>
            </a:r>
            <a:endParaRPr lang="en-GB" b="1" dirty="0">
              <a:latin typeface="Courier"/>
              <a:cs typeface="Courier"/>
            </a:endParaRPr>
          </a:p>
          <a:p>
            <a:pPr marL="0" lvl="1" indent="0">
              <a:buSzTx/>
              <a:buNone/>
            </a:pPr>
            <a:r>
              <a:rPr lang="en-GB" b="1" dirty="0">
                <a:latin typeface="Courier"/>
                <a:cs typeface="Courier"/>
              </a:rPr>
              <a:t>s = “hello”;</a:t>
            </a:r>
            <a:endParaRPr lang="en-GB" dirty="0">
              <a:latin typeface="Arial" charset="0"/>
              <a:cs typeface="ＭＳ Ｐゴシック" charset="0"/>
            </a:endParaRPr>
          </a:p>
          <a:p>
            <a:pPr lvl="1"/>
            <a:r>
              <a:rPr lang="en-GB" dirty="0">
                <a:latin typeface="Arial" charset="0"/>
                <a:cs typeface="ＭＳ Ｐゴシック" charset="0"/>
              </a:rPr>
              <a:t>We can assign a </a:t>
            </a:r>
            <a:r>
              <a:rPr lang="en-GB" b="1" dirty="0">
                <a:latin typeface="Courier"/>
                <a:cs typeface="Courier"/>
              </a:rPr>
              <a:t>char</a:t>
            </a:r>
            <a:r>
              <a:rPr lang="en-GB" b="1" dirty="0">
                <a:latin typeface="Arial" charset="0"/>
                <a:cs typeface="ＭＳ Ｐゴシック" charset="0"/>
              </a:rPr>
              <a:t> pointer</a:t>
            </a:r>
            <a:r>
              <a:rPr lang="en-GB" dirty="0">
                <a:latin typeface="Arial" charset="0"/>
                <a:cs typeface="ＭＳ Ｐゴシック" charset="0"/>
              </a:rPr>
              <a:t> to another </a:t>
            </a:r>
            <a:r>
              <a:rPr lang="en-GB" b="1" dirty="0">
                <a:latin typeface="Courier"/>
                <a:cs typeface="Courier"/>
              </a:rPr>
              <a:t>char</a:t>
            </a:r>
            <a:r>
              <a:rPr lang="en-GB" dirty="0">
                <a:latin typeface="Arial" charset="0"/>
                <a:cs typeface="ＭＳ Ｐゴシック" charset="0"/>
              </a:rPr>
              <a:t> pointer</a:t>
            </a:r>
          </a:p>
          <a:p>
            <a:pPr marL="542925" lvl="1" indent="0">
              <a:buNone/>
            </a:pPr>
            <a:r>
              <a:rPr lang="en-GB" b="1" dirty="0">
                <a:latin typeface="Courier"/>
                <a:cs typeface="Courier"/>
              </a:rPr>
              <a:t>char *p; p=s;</a:t>
            </a:r>
            <a:endParaRPr lang="en-GB" dirty="0">
              <a:latin typeface="Arial" charset="0"/>
              <a:cs typeface="ＭＳ Ｐゴシック" charset="0"/>
            </a:endParaRPr>
          </a:p>
          <a:p>
            <a:pPr lvl="1"/>
            <a:r>
              <a:rPr lang="en-GB" dirty="0">
                <a:latin typeface="Arial" charset="0"/>
                <a:cs typeface="ＭＳ Ｐゴシック" charset="0"/>
              </a:rPr>
              <a:t>We can assign another set of characters</a:t>
            </a:r>
          </a:p>
          <a:p>
            <a:pPr marL="542925" lvl="1" indent="0">
              <a:buNone/>
            </a:pPr>
            <a:r>
              <a:rPr lang="en-GB" b="1" dirty="0">
                <a:latin typeface="Courier"/>
                <a:cs typeface="Courier"/>
              </a:rPr>
              <a:t>s=“bye”;</a:t>
            </a:r>
            <a:endParaRPr lang="en-GB" dirty="0">
              <a:latin typeface="Arial" charset="0"/>
              <a:cs typeface="ＭＳ Ｐゴシック" charset="0"/>
            </a:endParaRPr>
          </a:p>
          <a:p>
            <a:pPr lvl="1"/>
            <a:endParaRPr lang="en-GB"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194</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02243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16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u contenu 2"/>
          <p:cNvSpPr>
            <a:spLocks noGrp="1"/>
          </p:cNvSpPr>
          <p:nvPr>
            <p:ph idx="1"/>
          </p:nvPr>
        </p:nvSpPr>
        <p:spPr>
          <a:xfrm>
            <a:off x="0" y="914400"/>
            <a:ext cx="9648564" cy="858416"/>
          </a:xfrm>
        </p:spPr>
        <p:txBody>
          <a:bodyPr/>
          <a:lstStyle/>
          <a:p>
            <a:pPr marL="0" indent="0">
              <a:buNone/>
            </a:pPr>
            <a:r>
              <a:rPr lang="en-US" sz="2200" b="1" dirty="0">
                <a:latin typeface="Courier New"/>
                <a:cs typeface="Courier New"/>
              </a:rPr>
              <a:t>type *</a:t>
            </a:r>
            <a:r>
              <a:rPr lang="en-US" sz="2200" b="1" dirty="0" err="1">
                <a:latin typeface="Courier New"/>
                <a:cs typeface="Courier New"/>
              </a:rPr>
              <a:t>arr</a:t>
            </a:r>
            <a:r>
              <a:rPr lang="en-US" sz="2200" b="1" dirty="0">
                <a:latin typeface="Courier New"/>
                <a:cs typeface="Courier New"/>
              </a:rPr>
              <a:t>= (type *)</a:t>
            </a:r>
            <a:r>
              <a:rPr lang="en-US" sz="2200" b="1" dirty="0" err="1">
                <a:latin typeface="Courier New"/>
                <a:cs typeface="Courier New"/>
              </a:rPr>
              <a:t>malloc</a:t>
            </a:r>
            <a:r>
              <a:rPr lang="en-US" sz="2200" b="1" dirty="0">
                <a:latin typeface="Courier New"/>
                <a:cs typeface="Courier New"/>
              </a:rPr>
              <a:t>(rows * cols * </a:t>
            </a:r>
            <a:r>
              <a:rPr lang="en-US" sz="2200" b="1" dirty="0" err="1">
                <a:latin typeface="Courier New"/>
                <a:cs typeface="Courier New"/>
              </a:rPr>
              <a:t>sizeof</a:t>
            </a:r>
            <a:r>
              <a:rPr lang="en-US" sz="2200" b="1" dirty="0">
                <a:latin typeface="Courier New"/>
                <a:cs typeface="Courier New"/>
              </a:rPr>
              <a:t>(type));</a:t>
            </a:r>
          </a:p>
        </p:txBody>
      </p:sp>
      <p:sp>
        <p:nvSpPr>
          <p:cNvPr id="6" name="Titre 1"/>
          <p:cNvSpPr>
            <a:spLocks noGrp="1"/>
          </p:cNvSpPr>
          <p:nvPr>
            <p:ph type="title"/>
          </p:nvPr>
        </p:nvSpPr>
        <p:spPr>
          <a:xfrm>
            <a:off x="304800" y="152400"/>
            <a:ext cx="8551676" cy="533400"/>
          </a:xfrm>
        </p:spPr>
        <p:txBody>
          <a:bodyPr/>
          <a:lstStyle/>
          <a:p>
            <a:r>
              <a:rPr lang="fr-FR" sz="2800" dirty="0">
                <a:latin typeface="Arial" charset="0"/>
                <a:ea typeface="ＭＳ Ｐゴシック" charset="0"/>
                <a:cs typeface="ＭＳ Ｐゴシック" charset="0"/>
              </a:rPr>
              <a:t>2D </a:t>
            </a:r>
            <a:r>
              <a:rPr lang="fr-FR" sz="2800" dirty="0" err="1">
                <a:latin typeface="Arial" charset="0"/>
                <a:cs typeface="ＭＳ Ｐゴシック" charset="0"/>
              </a:rPr>
              <a:t>A</a:t>
            </a:r>
            <a:r>
              <a:rPr lang="fr-FR" sz="2800" dirty="0" err="1">
                <a:latin typeface="Arial" charset="0"/>
                <a:ea typeface="ＭＳ Ｐゴシック" charset="0"/>
                <a:cs typeface="ＭＳ Ｐゴシック" charset="0"/>
              </a:rPr>
              <a:t>rray</a:t>
            </a:r>
            <a:r>
              <a:rPr lang="fr-FR" sz="2800" dirty="0">
                <a:latin typeface="Arial" charset="0"/>
                <a:cs typeface="ＭＳ Ｐゴシック" charset="0"/>
              </a:rPr>
              <a:t>: Single pointer</a:t>
            </a:r>
            <a:endParaRPr lang="fr-FR" sz="2800" dirty="0">
              <a:latin typeface="Arial" charset="0"/>
              <a:ea typeface="ＭＳ Ｐゴシック" charset="0"/>
              <a:cs typeface="ＭＳ Ｐゴシック"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033563956"/>
              </p:ext>
            </p:extLst>
          </p:nvPr>
        </p:nvGraphicFramePr>
        <p:xfrm>
          <a:off x="6708463" y="2399300"/>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2" name="Group 1"/>
          <p:cNvGrpSpPr/>
          <p:nvPr/>
        </p:nvGrpSpPr>
        <p:grpSpPr>
          <a:xfrm>
            <a:off x="5543191" y="2024844"/>
            <a:ext cx="3313285" cy="4833156"/>
            <a:chOff x="5543191" y="2024844"/>
            <a:chExt cx="3313285" cy="4833156"/>
          </a:xfrm>
        </p:grpSpPr>
        <p:sp>
          <p:nvSpPr>
            <p:cNvPr id="12" name="TextBox 11"/>
            <p:cNvSpPr txBox="1"/>
            <p:nvPr/>
          </p:nvSpPr>
          <p:spPr>
            <a:xfrm>
              <a:off x="7291057" y="2024844"/>
              <a:ext cx="811841" cy="400110"/>
            </a:xfrm>
            <a:prstGeom prst="rect">
              <a:avLst/>
            </a:prstGeom>
            <a:noFill/>
          </p:spPr>
          <p:txBody>
            <a:bodyPr wrap="none" rtlCol="0">
              <a:spAutoFit/>
            </a:bodyPr>
            <a:lstStyle/>
            <a:p>
              <a:r>
                <a:rPr lang="en-US" sz="2000" b="1" dirty="0"/>
                <a:t>Heap</a:t>
              </a:r>
            </a:p>
          </p:txBody>
        </p:sp>
        <p:sp>
          <p:nvSpPr>
            <p:cNvPr id="13" name="TextBox 12"/>
            <p:cNvSpPr txBox="1"/>
            <p:nvPr/>
          </p:nvSpPr>
          <p:spPr>
            <a:xfrm>
              <a:off x="5556538" y="2363296"/>
              <a:ext cx="1040519" cy="400110"/>
            </a:xfrm>
            <a:prstGeom prst="rect">
              <a:avLst/>
            </a:prstGeom>
            <a:noFill/>
          </p:spPr>
          <p:txBody>
            <a:bodyPr wrap="none" rtlCol="0">
              <a:spAutoFit/>
            </a:bodyPr>
            <a:lstStyle/>
            <a:p>
              <a:r>
                <a:rPr lang="en-US" sz="2000" b="1" dirty="0"/>
                <a:t>0x1000</a:t>
              </a:r>
            </a:p>
          </p:txBody>
        </p:sp>
        <p:sp>
          <p:nvSpPr>
            <p:cNvPr id="15" name="Rectangle 14"/>
            <p:cNvSpPr/>
            <p:nvPr/>
          </p:nvSpPr>
          <p:spPr>
            <a:xfrm>
              <a:off x="7412046" y="232729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6" name="TextBox 15"/>
            <p:cNvSpPr txBox="1"/>
            <p:nvPr/>
          </p:nvSpPr>
          <p:spPr>
            <a:xfrm>
              <a:off x="5554572" y="2791278"/>
              <a:ext cx="1043876" cy="400110"/>
            </a:xfrm>
            <a:prstGeom prst="rect">
              <a:avLst/>
            </a:prstGeom>
            <a:noFill/>
          </p:spPr>
          <p:txBody>
            <a:bodyPr wrap="none" rtlCol="0">
              <a:spAutoFit/>
            </a:bodyPr>
            <a:lstStyle/>
            <a:p>
              <a:r>
                <a:rPr lang="en-US" sz="2000" b="1" dirty="0"/>
                <a:t>0x1004</a:t>
              </a:r>
            </a:p>
          </p:txBody>
        </p:sp>
        <p:sp>
          <p:nvSpPr>
            <p:cNvPr id="18" name="Rectangle 17"/>
            <p:cNvSpPr/>
            <p:nvPr/>
          </p:nvSpPr>
          <p:spPr>
            <a:xfrm>
              <a:off x="7412046" y="275527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9" name="TextBox 18"/>
            <p:cNvSpPr txBox="1"/>
            <p:nvPr/>
          </p:nvSpPr>
          <p:spPr>
            <a:xfrm>
              <a:off x="5556250" y="5743606"/>
              <a:ext cx="1040519" cy="400110"/>
            </a:xfrm>
            <a:prstGeom prst="rect">
              <a:avLst/>
            </a:prstGeom>
            <a:noFill/>
          </p:spPr>
          <p:txBody>
            <a:bodyPr wrap="none" rtlCol="0">
              <a:spAutoFit/>
            </a:bodyPr>
            <a:lstStyle/>
            <a:p>
              <a:r>
                <a:rPr lang="en-US" sz="2000" b="1" dirty="0"/>
                <a:t>0x1028</a:t>
              </a:r>
            </a:p>
          </p:txBody>
        </p:sp>
        <p:sp>
          <p:nvSpPr>
            <p:cNvPr id="21" name="Rectangle 20"/>
            <p:cNvSpPr/>
            <p:nvPr/>
          </p:nvSpPr>
          <p:spPr>
            <a:xfrm>
              <a:off x="7412046" y="567566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2" name="Rectangle 21"/>
            <p:cNvSpPr/>
            <p:nvPr/>
          </p:nvSpPr>
          <p:spPr>
            <a:xfrm>
              <a:off x="7412046" y="311531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3" name="Rectangle 22"/>
            <p:cNvSpPr/>
            <p:nvPr/>
          </p:nvSpPr>
          <p:spPr>
            <a:xfrm>
              <a:off x="7412046" y="34753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4" name="Rectangle 23"/>
            <p:cNvSpPr/>
            <p:nvPr/>
          </p:nvSpPr>
          <p:spPr>
            <a:xfrm>
              <a:off x="7412046" y="376338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5" name="Rectangle 24"/>
            <p:cNvSpPr/>
            <p:nvPr/>
          </p:nvSpPr>
          <p:spPr>
            <a:xfrm>
              <a:off x="7412046" y="412342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6" name="Rectangle 25"/>
            <p:cNvSpPr/>
            <p:nvPr/>
          </p:nvSpPr>
          <p:spPr>
            <a:xfrm>
              <a:off x="7412046" y="448346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7" name="Rectangle 26"/>
            <p:cNvSpPr/>
            <p:nvPr/>
          </p:nvSpPr>
          <p:spPr>
            <a:xfrm>
              <a:off x="7412046" y="487951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8" name="Rectangle 27"/>
            <p:cNvSpPr/>
            <p:nvPr/>
          </p:nvSpPr>
          <p:spPr>
            <a:xfrm>
              <a:off x="7412046" y="5275554"/>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9" name="TextBox 28"/>
            <p:cNvSpPr txBox="1"/>
            <p:nvPr/>
          </p:nvSpPr>
          <p:spPr>
            <a:xfrm>
              <a:off x="5556250" y="3176972"/>
              <a:ext cx="1040519" cy="400110"/>
            </a:xfrm>
            <a:prstGeom prst="rect">
              <a:avLst/>
            </a:prstGeom>
            <a:noFill/>
          </p:spPr>
          <p:txBody>
            <a:bodyPr wrap="none" rtlCol="0">
              <a:spAutoFit/>
            </a:bodyPr>
            <a:lstStyle/>
            <a:p>
              <a:r>
                <a:rPr lang="en-US" sz="2000" b="1" dirty="0"/>
                <a:t>0x1008</a:t>
              </a:r>
            </a:p>
          </p:txBody>
        </p:sp>
        <p:sp>
          <p:nvSpPr>
            <p:cNvPr id="31" name="TextBox 30"/>
            <p:cNvSpPr txBox="1"/>
            <p:nvPr/>
          </p:nvSpPr>
          <p:spPr>
            <a:xfrm>
              <a:off x="5543191" y="3548915"/>
              <a:ext cx="1083099" cy="400110"/>
            </a:xfrm>
            <a:prstGeom prst="rect">
              <a:avLst/>
            </a:prstGeom>
            <a:noFill/>
          </p:spPr>
          <p:txBody>
            <a:bodyPr wrap="none" rtlCol="0">
              <a:spAutoFit/>
            </a:bodyPr>
            <a:lstStyle/>
            <a:p>
              <a:r>
                <a:rPr lang="en-US" sz="2000" b="1" dirty="0"/>
                <a:t>0x100C</a:t>
              </a:r>
            </a:p>
          </p:txBody>
        </p:sp>
        <p:sp>
          <p:nvSpPr>
            <p:cNvPr id="33" name="TextBox 32"/>
            <p:cNvSpPr txBox="1"/>
            <p:nvPr/>
          </p:nvSpPr>
          <p:spPr>
            <a:xfrm>
              <a:off x="5564481" y="4581128"/>
              <a:ext cx="1040519" cy="400110"/>
            </a:xfrm>
            <a:prstGeom prst="rect">
              <a:avLst/>
            </a:prstGeom>
            <a:noFill/>
          </p:spPr>
          <p:txBody>
            <a:bodyPr wrap="none" rtlCol="0">
              <a:spAutoFit/>
            </a:bodyPr>
            <a:lstStyle/>
            <a:p>
              <a:r>
                <a:rPr lang="en-US" sz="2000" b="1" dirty="0"/>
                <a:t>0x1018</a:t>
              </a:r>
            </a:p>
          </p:txBody>
        </p:sp>
        <p:sp>
          <p:nvSpPr>
            <p:cNvPr id="34" name="Rectangle 33"/>
            <p:cNvSpPr/>
            <p:nvPr/>
          </p:nvSpPr>
          <p:spPr>
            <a:xfrm>
              <a:off x="7382642" y="608923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5" name="Rectangle 34"/>
            <p:cNvSpPr/>
            <p:nvPr/>
          </p:nvSpPr>
          <p:spPr>
            <a:xfrm>
              <a:off x="7423595" y="645333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6" name="Rectangle 35"/>
            <p:cNvSpPr/>
            <p:nvPr/>
          </p:nvSpPr>
          <p:spPr bwMode="auto">
            <a:xfrm>
              <a:off x="5556335" y="2348880"/>
              <a:ext cx="3300141" cy="4509120"/>
            </a:xfrm>
            <a:prstGeom prst="rect">
              <a:avLst/>
            </a:prstGeom>
            <a:noFill/>
            <a:ln w="57150" cap="flat" cmpd="sng" algn="ctr">
              <a:solidFill>
                <a:srgbClr val="80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38" name="TextBox 37"/>
            <p:cNvSpPr txBox="1"/>
            <p:nvPr/>
          </p:nvSpPr>
          <p:spPr>
            <a:xfrm>
              <a:off x="5562803" y="4185084"/>
              <a:ext cx="1043876" cy="400110"/>
            </a:xfrm>
            <a:prstGeom prst="rect">
              <a:avLst/>
            </a:prstGeom>
            <a:noFill/>
          </p:spPr>
          <p:txBody>
            <a:bodyPr wrap="none" rtlCol="0">
              <a:spAutoFit/>
            </a:bodyPr>
            <a:lstStyle/>
            <a:p>
              <a:r>
                <a:rPr lang="en-US" sz="2000" b="1" dirty="0"/>
                <a:t>0x1014</a:t>
              </a:r>
            </a:p>
          </p:txBody>
        </p:sp>
      </p:grpSp>
      <p:sp>
        <p:nvSpPr>
          <p:cNvPr id="3" name="Rectangle 2"/>
          <p:cNvSpPr/>
          <p:nvPr/>
        </p:nvSpPr>
        <p:spPr>
          <a:xfrm>
            <a:off x="143508" y="1736812"/>
            <a:ext cx="6956852" cy="430887"/>
          </a:xfrm>
          <a:prstGeom prst="rect">
            <a:avLst/>
          </a:prstGeom>
        </p:spPr>
        <p:txBody>
          <a:bodyPr wrap="none">
            <a:spAutoFit/>
          </a:bodyPr>
          <a:lstStyle/>
          <a:p>
            <a:pPr marL="0" indent="0">
              <a:buNone/>
            </a:pPr>
            <a:r>
              <a:rPr lang="en-US" sz="2200" b="1" dirty="0" err="1">
                <a:latin typeface="Courier New"/>
                <a:cs typeface="Courier New"/>
              </a:rPr>
              <a:t>int</a:t>
            </a:r>
            <a:r>
              <a:rPr lang="en-US" sz="2200" b="1" dirty="0">
                <a:latin typeface="Courier New"/>
                <a:cs typeface="Courier New"/>
              </a:rPr>
              <a:t> *</a:t>
            </a:r>
            <a:r>
              <a:rPr lang="en-US" sz="2200" b="1" dirty="0" err="1">
                <a:latin typeface="Courier New"/>
                <a:cs typeface="Courier New"/>
              </a:rPr>
              <a:t>arr</a:t>
            </a:r>
            <a:r>
              <a:rPr lang="en-US" sz="2200" b="1" dirty="0">
                <a:latin typeface="Courier New"/>
                <a:cs typeface="Courier New"/>
              </a:rPr>
              <a:t>=(</a:t>
            </a:r>
            <a:r>
              <a:rPr lang="en-US" sz="2200" b="1" dirty="0" err="1">
                <a:latin typeface="Courier New"/>
                <a:cs typeface="Courier New"/>
              </a:rPr>
              <a:t>int</a:t>
            </a:r>
            <a:r>
              <a:rPr lang="en-US" sz="2200" b="1" dirty="0">
                <a:latin typeface="Courier New"/>
                <a:cs typeface="Courier New"/>
              </a:rPr>
              <a:t> *)</a:t>
            </a:r>
            <a:r>
              <a:rPr lang="en-US" sz="2200" b="1" dirty="0" err="1">
                <a:latin typeface="Courier New"/>
                <a:cs typeface="Courier New"/>
              </a:rPr>
              <a:t>malloc</a:t>
            </a:r>
            <a:r>
              <a:rPr lang="en-US" sz="2200" b="1" dirty="0">
                <a:latin typeface="Courier New"/>
                <a:cs typeface="Courier New"/>
              </a:rPr>
              <a:t>(4*3*</a:t>
            </a:r>
            <a:r>
              <a:rPr lang="en-US" sz="2200" b="1" dirty="0" err="1">
                <a:latin typeface="Courier New"/>
                <a:cs typeface="Courier New"/>
              </a:rPr>
              <a:t>sizeof</a:t>
            </a:r>
            <a:r>
              <a:rPr lang="en-US" sz="2200" b="1" dirty="0">
                <a:latin typeface="Courier New"/>
                <a:cs typeface="Courier New"/>
              </a:rPr>
              <a:t>(</a:t>
            </a:r>
            <a:r>
              <a:rPr lang="en-US" sz="2200" b="1" dirty="0" err="1">
                <a:latin typeface="Courier New"/>
                <a:cs typeface="Courier New"/>
              </a:rPr>
              <a:t>int</a:t>
            </a:r>
            <a:r>
              <a:rPr lang="en-US" sz="2200" b="1" dirty="0">
                <a:latin typeface="Courier New"/>
                <a:cs typeface="Courier New"/>
              </a:rPr>
              <a:t>));</a:t>
            </a:r>
          </a:p>
        </p:txBody>
      </p: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4" name="Espace réservé du numéro de diapositive 3">
            <a:extLst>
              <a:ext uri="{FF2B5EF4-FFF2-40B4-BE49-F238E27FC236}">
                <a16:creationId xmlns:a16="http://schemas.microsoft.com/office/drawing/2014/main" id="{8CEC4C3A-84B7-D2E7-F5E8-91571B8E573D}"/>
              </a:ext>
            </a:extLst>
          </p:cNvPr>
          <p:cNvSpPr>
            <a:spLocks noGrp="1"/>
          </p:cNvSpPr>
          <p:nvPr>
            <p:ph type="sldNum" sz="quarter" idx="11"/>
          </p:nvPr>
        </p:nvSpPr>
        <p:spPr/>
        <p:txBody>
          <a:bodyPr/>
          <a:lstStyle/>
          <a:p>
            <a:pPr lvl="2"/>
            <a:fld id="{28BEB0BA-EEE4-5F45-9179-3BC54B76BCCF}" type="slidenum">
              <a:rPr lang="fr-FR" smtClean="0"/>
              <a:pPr lvl="2"/>
              <a:t>195</a:t>
            </a:fld>
            <a:endParaRPr lang="fr-FR"/>
          </a:p>
        </p:txBody>
      </p:sp>
    </p:spTree>
    <p:extLst>
      <p:ext uri="{BB962C8B-B14F-4D97-AF65-F5344CB8AC3E}">
        <p14:creationId xmlns:p14="http://schemas.microsoft.com/office/powerpoint/2010/main" val="692959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title"/>
          </p:nvPr>
        </p:nvSpPr>
        <p:spPr>
          <a:xfrm>
            <a:off x="304800" y="152400"/>
            <a:ext cx="8659688" cy="533400"/>
          </a:xfrm>
        </p:spPr>
        <p:txBody>
          <a:bodyPr/>
          <a:lstStyle/>
          <a:p>
            <a:r>
              <a:rPr lang="fr-FR" sz="2800" dirty="0">
                <a:latin typeface="Arial" charset="0"/>
                <a:cs typeface="ＭＳ Ｐゴシック" charset="0"/>
              </a:rPr>
              <a:t>2D </a:t>
            </a:r>
            <a:r>
              <a:rPr lang="fr-FR" sz="2800" dirty="0" err="1">
                <a:latin typeface="Arial" charset="0"/>
                <a:cs typeface="ＭＳ Ｐゴシック" charset="0"/>
              </a:rPr>
              <a:t>Array</a:t>
            </a:r>
            <a:r>
              <a:rPr lang="fr-FR" sz="2800" dirty="0">
                <a:latin typeface="Arial" charset="0"/>
                <a:cs typeface="ＭＳ Ｐゴシック" charset="0"/>
              </a:rPr>
              <a:t>: </a:t>
            </a:r>
            <a:r>
              <a:rPr lang="fr-FR" sz="2800" dirty="0" err="1">
                <a:latin typeface="Arial" charset="0"/>
                <a:ea typeface="ＭＳ Ｐゴシック" charset="0"/>
                <a:cs typeface="ＭＳ Ｐゴシック" charset="0"/>
              </a:rPr>
              <a:t>Array</a:t>
            </a:r>
            <a:r>
              <a:rPr lang="fr-FR" sz="2800" dirty="0">
                <a:latin typeface="Arial" charset="0"/>
                <a:ea typeface="ＭＳ Ｐゴシック" charset="0"/>
                <a:cs typeface="ＭＳ Ｐゴシック" charset="0"/>
              </a:rPr>
              <a:t> of pointers</a:t>
            </a:r>
          </a:p>
        </p:txBody>
      </p:sp>
      <p:graphicFrame>
        <p:nvGraphicFramePr>
          <p:cNvPr id="11" name="Table 10"/>
          <p:cNvGraphicFramePr>
            <a:graphicFrameLocks noGrp="1"/>
          </p:cNvGraphicFramePr>
          <p:nvPr>
            <p:extLst>
              <p:ext uri="{D42A27DB-BD31-4B8C-83A1-F6EECF244321}">
                <p14:modId xmlns:p14="http://schemas.microsoft.com/office/powerpoint/2010/main" val="2813553073"/>
              </p:ext>
            </p:extLst>
          </p:nvPr>
        </p:nvGraphicFramePr>
        <p:xfrm>
          <a:off x="6924487" y="2354676"/>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60" name="Group 59"/>
          <p:cNvGrpSpPr/>
          <p:nvPr/>
        </p:nvGrpSpPr>
        <p:grpSpPr>
          <a:xfrm>
            <a:off x="5770596" y="2318672"/>
            <a:ext cx="1050428" cy="3780420"/>
            <a:chOff x="5770596" y="2318672"/>
            <a:chExt cx="1050428" cy="3780420"/>
          </a:xfrm>
        </p:grpSpPr>
        <p:sp>
          <p:nvSpPr>
            <p:cNvPr id="13" name="TextBox 12"/>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16" name="TextBox 15"/>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19" name="TextBox 18"/>
            <p:cNvSpPr txBox="1"/>
            <p:nvPr/>
          </p:nvSpPr>
          <p:spPr>
            <a:xfrm>
              <a:off x="5772274" y="5698982"/>
              <a:ext cx="1040519" cy="400110"/>
            </a:xfrm>
            <a:prstGeom prst="rect">
              <a:avLst/>
            </a:prstGeom>
            <a:noFill/>
          </p:spPr>
          <p:txBody>
            <a:bodyPr wrap="none" rtlCol="0">
              <a:spAutoFit/>
            </a:bodyPr>
            <a:lstStyle/>
            <a:p>
              <a:r>
                <a:rPr lang="en-US" sz="2000" b="1" dirty="0"/>
                <a:t>0x1028</a:t>
              </a:r>
            </a:p>
          </p:txBody>
        </p:sp>
        <p:sp>
          <p:nvSpPr>
            <p:cNvPr id="29" name="TextBox 28"/>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grpSp>
        <p:nvGrpSpPr>
          <p:cNvPr id="59" name="Group 58"/>
          <p:cNvGrpSpPr/>
          <p:nvPr/>
        </p:nvGrpSpPr>
        <p:grpSpPr>
          <a:xfrm>
            <a:off x="7507081" y="1880828"/>
            <a:ext cx="811841" cy="4927994"/>
            <a:chOff x="7507081" y="1880828"/>
            <a:chExt cx="811841" cy="4927994"/>
          </a:xfrm>
        </p:grpSpPr>
        <p:sp>
          <p:nvSpPr>
            <p:cNvPr id="12" name="TextBox 11"/>
            <p:cNvSpPr txBox="1"/>
            <p:nvPr/>
          </p:nvSpPr>
          <p:spPr>
            <a:xfrm>
              <a:off x="7507081" y="1880828"/>
              <a:ext cx="811841" cy="400110"/>
            </a:xfrm>
            <a:prstGeom prst="rect">
              <a:avLst/>
            </a:prstGeom>
            <a:noFill/>
          </p:spPr>
          <p:txBody>
            <a:bodyPr wrap="none" rtlCol="0">
              <a:spAutoFit/>
            </a:bodyPr>
            <a:lstStyle/>
            <a:p>
              <a:r>
                <a:rPr lang="en-US" sz="2000" b="1" dirty="0"/>
                <a:t>Heap</a:t>
              </a:r>
            </a:p>
          </p:txBody>
        </p:sp>
        <p:sp>
          <p:nvSpPr>
            <p:cNvPr id="15" name="Rectangle 14"/>
            <p:cNvSpPr/>
            <p:nvPr/>
          </p:nvSpPr>
          <p:spPr>
            <a:xfrm>
              <a:off x="7628070" y="2282668"/>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8" name="Rectangle 17"/>
            <p:cNvSpPr/>
            <p:nvPr/>
          </p:nvSpPr>
          <p:spPr>
            <a:xfrm>
              <a:off x="7628070" y="271065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1" name="Rectangle 20"/>
            <p:cNvSpPr/>
            <p:nvPr/>
          </p:nvSpPr>
          <p:spPr>
            <a:xfrm>
              <a:off x="7628070" y="563104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2" name="Rectangle 21"/>
            <p:cNvSpPr/>
            <p:nvPr/>
          </p:nvSpPr>
          <p:spPr>
            <a:xfrm>
              <a:off x="7628070" y="307069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3" name="Rectangle 22"/>
            <p:cNvSpPr/>
            <p:nvPr/>
          </p:nvSpPr>
          <p:spPr>
            <a:xfrm>
              <a:off x="7781983" y="3430730"/>
              <a:ext cx="338579" cy="400110"/>
            </a:xfrm>
            <a:prstGeom prst="rect">
              <a:avLst/>
            </a:prstGeom>
          </p:spPr>
          <p:txBody>
            <a:bodyPr wrap="none">
              <a:spAutoFit/>
            </a:bodyPr>
            <a:lstStyle/>
            <a:p>
              <a:r>
                <a:rPr lang="en-GB" sz="2000" b="1" dirty="0">
                  <a:solidFill>
                    <a:srgbClr val="FF0000"/>
                  </a:solidFill>
                  <a:latin typeface="Courier"/>
                  <a:cs typeface="Courier"/>
                </a:rPr>
                <a:t>…</a:t>
              </a:r>
              <a:endParaRPr lang="en-US" sz="2000" dirty="0">
                <a:solidFill>
                  <a:srgbClr val="FF0000"/>
                </a:solidFill>
              </a:endParaRPr>
            </a:p>
          </p:txBody>
        </p:sp>
        <p:sp>
          <p:nvSpPr>
            <p:cNvPr id="24" name="Rectangle 23"/>
            <p:cNvSpPr/>
            <p:nvPr/>
          </p:nvSpPr>
          <p:spPr>
            <a:xfrm>
              <a:off x="7628070" y="371876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5" name="Rectangle 24"/>
            <p:cNvSpPr/>
            <p:nvPr/>
          </p:nvSpPr>
          <p:spPr>
            <a:xfrm>
              <a:off x="7628070" y="407880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6" name="Rectangle 25"/>
            <p:cNvSpPr/>
            <p:nvPr/>
          </p:nvSpPr>
          <p:spPr>
            <a:xfrm>
              <a:off x="7628070" y="443884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7" name="Rectangle 26"/>
            <p:cNvSpPr/>
            <p:nvPr/>
          </p:nvSpPr>
          <p:spPr>
            <a:xfrm>
              <a:off x="7781983" y="4834886"/>
              <a:ext cx="338579" cy="400110"/>
            </a:xfrm>
            <a:prstGeom prst="rect">
              <a:avLst/>
            </a:prstGeom>
          </p:spPr>
          <p:txBody>
            <a:bodyPr wrap="none">
              <a:spAutoFit/>
            </a:bodyPr>
            <a:lstStyle/>
            <a:p>
              <a:r>
                <a:rPr lang="en-GB" sz="2000" b="1" dirty="0">
                  <a:solidFill>
                    <a:srgbClr val="FF0000"/>
                  </a:solidFill>
                  <a:latin typeface="Courier"/>
                  <a:cs typeface="Courier"/>
                </a:rPr>
                <a:t>…</a:t>
              </a:r>
              <a:endParaRPr lang="en-US" sz="2000" dirty="0">
                <a:solidFill>
                  <a:srgbClr val="FF0000"/>
                </a:solidFill>
              </a:endParaRPr>
            </a:p>
          </p:txBody>
        </p:sp>
        <p:sp>
          <p:nvSpPr>
            <p:cNvPr id="28" name="Rectangle 27"/>
            <p:cNvSpPr/>
            <p:nvPr/>
          </p:nvSpPr>
          <p:spPr>
            <a:xfrm>
              <a:off x="7781983" y="5230930"/>
              <a:ext cx="338579" cy="400110"/>
            </a:xfrm>
            <a:prstGeom prst="rect">
              <a:avLst/>
            </a:prstGeom>
          </p:spPr>
          <p:txBody>
            <a:bodyPr wrap="none">
              <a:spAutoFit/>
            </a:bodyPr>
            <a:lstStyle/>
            <a:p>
              <a:r>
                <a:rPr lang="en-GB" sz="2000" b="1" dirty="0">
                  <a:solidFill>
                    <a:srgbClr val="FF0000"/>
                  </a:solidFill>
                  <a:latin typeface="Courier"/>
                  <a:cs typeface="Courier"/>
                </a:rPr>
                <a:t>…</a:t>
              </a:r>
              <a:endParaRPr lang="en-US" sz="2000" dirty="0">
                <a:solidFill>
                  <a:srgbClr val="FF0000"/>
                </a:solidFill>
              </a:endParaRPr>
            </a:p>
          </p:txBody>
        </p:sp>
        <p:sp>
          <p:nvSpPr>
            <p:cNvPr id="34" name="Rectangle 33"/>
            <p:cNvSpPr/>
            <p:nvPr/>
          </p:nvSpPr>
          <p:spPr>
            <a:xfrm>
              <a:off x="7598666" y="604460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5" name="Rectangle 34"/>
            <p:cNvSpPr/>
            <p:nvPr/>
          </p:nvSpPr>
          <p:spPr>
            <a:xfrm>
              <a:off x="7639619" y="640871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grpSp>
      <p:sp>
        <p:nvSpPr>
          <p:cNvPr id="36" name="Rectangle 35"/>
          <p:cNvSpPr/>
          <p:nvPr/>
        </p:nvSpPr>
        <p:spPr bwMode="auto">
          <a:xfrm>
            <a:off x="5772359" y="2304256"/>
            <a:ext cx="3300141" cy="1196752"/>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aphicFrame>
        <p:nvGraphicFramePr>
          <p:cNvPr id="30" name="Table 29"/>
          <p:cNvGraphicFramePr>
            <a:graphicFrameLocks noGrp="1"/>
          </p:cNvGraphicFramePr>
          <p:nvPr>
            <p:extLst>
              <p:ext uri="{D42A27DB-BD31-4B8C-83A1-F6EECF244321}">
                <p14:modId xmlns:p14="http://schemas.microsoft.com/office/powerpoint/2010/main" val="1251209986"/>
              </p:ext>
            </p:extLst>
          </p:nvPr>
        </p:nvGraphicFramePr>
        <p:xfrm>
          <a:off x="2195736" y="3825044"/>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43" name="Group 42"/>
          <p:cNvGrpSpPr/>
          <p:nvPr/>
        </p:nvGrpSpPr>
        <p:grpSpPr>
          <a:xfrm>
            <a:off x="719572" y="3717032"/>
            <a:ext cx="3204356" cy="1764196"/>
            <a:chOff x="396045" y="1916832"/>
            <a:chExt cx="3204356" cy="1764196"/>
          </a:xfrm>
        </p:grpSpPr>
        <p:sp>
          <p:nvSpPr>
            <p:cNvPr id="44" name="TextBox 43"/>
            <p:cNvSpPr txBox="1"/>
            <p:nvPr/>
          </p:nvSpPr>
          <p:spPr>
            <a:xfrm>
              <a:off x="396045" y="1952836"/>
              <a:ext cx="646406" cy="400110"/>
            </a:xfrm>
            <a:prstGeom prst="rect">
              <a:avLst/>
            </a:prstGeom>
            <a:noFill/>
          </p:spPr>
          <p:txBody>
            <a:bodyPr wrap="none" rtlCol="0">
              <a:spAutoFit/>
            </a:bodyPr>
            <a:lstStyle/>
            <a:p>
              <a:r>
                <a:rPr lang="en-US" sz="2000" b="1" dirty="0" err="1">
                  <a:latin typeface="Courier"/>
                  <a:cs typeface="Courier"/>
                </a:rPr>
                <a:t>arr</a:t>
              </a:r>
              <a:endParaRPr lang="en-US" sz="2000" b="1" dirty="0">
                <a:latin typeface="Courier"/>
                <a:cs typeface="Courier"/>
              </a:endParaRPr>
            </a:p>
          </p:txBody>
        </p:sp>
        <p:cxnSp>
          <p:nvCxnSpPr>
            <p:cNvPr id="45" name="Straight Arrow Connector 44"/>
            <p:cNvCxnSpPr>
              <a:stCxn id="44" idx="3"/>
            </p:cNvCxnSpPr>
            <p:nvPr/>
          </p:nvCxnSpPr>
          <p:spPr bwMode="auto">
            <a:xfrm>
              <a:off x="1042451" y="2152891"/>
              <a:ext cx="541726" cy="15969"/>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Rectangle 45"/>
            <p:cNvSpPr/>
            <p:nvPr/>
          </p:nvSpPr>
          <p:spPr bwMode="auto">
            <a:xfrm>
              <a:off x="1692188" y="1916832"/>
              <a:ext cx="1908213" cy="1764196"/>
            </a:xfrm>
            <a:prstGeom prst="rect">
              <a:avLst/>
            </a:prstGeom>
            <a:noFill/>
            <a:ln w="5715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grpSp>
        <p:nvGrpSpPr>
          <p:cNvPr id="61" name="Group 60"/>
          <p:cNvGrpSpPr/>
          <p:nvPr/>
        </p:nvGrpSpPr>
        <p:grpSpPr>
          <a:xfrm>
            <a:off x="2483767" y="3320988"/>
            <a:ext cx="1108147" cy="1948282"/>
            <a:chOff x="2483767" y="3320988"/>
            <a:chExt cx="1108147" cy="1948282"/>
          </a:xfrm>
        </p:grpSpPr>
        <p:sp>
          <p:nvSpPr>
            <p:cNvPr id="37" name="TextBox 36"/>
            <p:cNvSpPr txBox="1"/>
            <p:nvPr/>
          </p:nvSpPr>
          <p:spPr>
            <a:xfrm>
              <a:off x="2483768" y="4185087"/>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[1]</a:t>
              </a:r>
            </a:p>
          </p:txBody>
        </p:sp>
        <p:sp>
          <p:nvSpPr>
            <p:cNvPr id="41" name="TextBox 40"/>
            <p:cNvSpPr txBox="1"/>
            <p:nvPr/>
          </p:nvSpPr>
          <p:spPr>
            <a:xfrm>
              <a:off x="2483767" y="3789042"/>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a:t>
              </a:r>
            </a:p>
          </p:txBody>
        </p:sp>
        <p:sp>
          <p:nvSpPr>
            <p:cNvPr id="47" name="TextBox 46"/>
            <p:cNvSpPr txBox="1"/>
            <p:nvPr/>
          </p:nvSpPr>
          <p:spPr>
            <a:xfrm>
              <a:off x="2483768" y="4541058"/>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[2]</a:t>
              </a:r>
            </a:p>
          </p:txBody>
        </p:sp>
        <p:sp>
          <p:nvSpPr>
            <p:cNvPr id="49" name="TextBox 48"/>
            <p:cNvSpPr txBox="1"/>
            <p:nvPr/>
          </p:nvSpPr>
          <p:spPr>
            <a:xfrm>
              <a:off x="2483768" y="4869160"/>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[3]</a:t>
              </a:r>
            </a:p>
          </p:txBody>
        </p:sp>
        <p:sp>
          <p:nvSpPr>
            <p:cNvPr id="51" name="TextBox 50"/>
            <p:cNvSpPr txBox="1"/>
            <p:nvPr/>
          </p:nvSpPr>
          <p:spPr>
            <a:xfrm>
              <a:off x="2491156" y="3320988"/>
              <a:ext cx="869073" cy="400110"/>
            </a:xfrm>
            <a:prstGeom prst="rect">
              <a:avLst/>
            </a:prstGeom>
            <a:noFill/>
          </p:spPr>
          <p:txBody>
            <a:bodyPr wrap="none" rtlCol="0">
              <a:spAutoFit/>
            </a:bodyPr>
            <a:lstStyle/>
            <a:p>
              <a:r>
                <a:rPr lang="en-US" sz="2000" b="1" dirty="0"/>
                <a:t>Stack</a:t>
              </a:r>
            </a:p>
          </p:txBody>
        </p:sp>
      </p:grpSp>
      <p:cxnSp>
        <p:nvCxnSpPr>
          <p:cNvPr id="52" name="Straight Arrow Connector 51"/>
          <p:cNvCxnSpPr/>
          <p:nvPr/>
        </p:nvCxnSpPr>
        <p:spPr bwMode="auto">
          <a:xfrm flipV="1">
            <a:off x="3591914" y="2600909"/>
            <a:ext cx="2096210" cy="1388189"/>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 name="Straight Arrow Connector 52"/>
          <p:cNvCxnSpPr/>
          <p:nvPr/>
        </p:nvCxnSpPr>
        <p:spPr bwMode="auto">
          <a:xfrm flipV="1">
            <a:off x="3599892" y="3753036"/>
            <a:ext cx="2016224" cy="612069"/>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5" name="Straight Arrow Connector 54"/>
          <p:cNvCxnSpPr/>
          <p:nvPr/>
        </p:nvCxnSpPr>
        <p:spPr bwMode="auto">
          <a:xfrm>
            <a:off x="3591914" y="4725144"/>
            <a:ext cx="2168218" cy="90010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6" name="Rectangle 55"/>
          <p:cNvSpPr/>
          <p:nvPr/>
        </p:nvSpPr>
        <p:spPr bwMode="auto">
          <a:xfrm>
            <a:off x="5760132" y="3861048"/>
            <a:ext cx="3300141" cy="1116124"/>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57" name="Rectangle 56"/>
          <p:cNvSpPr/>
          <p:nvPr/>
        </p:nvSpPr>
        <p:spPr bwMode="auto">
          <a:xfrm>
            <a:off x="5760132" y="5652628"/>
            <a:ext cx="3300141" cy="1196752"/>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cxnSp>
        <p:nvCxnSpPr>
          <p:cNvPr id="58" name="Straight Arrow Connector 57"/>
          <p:cNvCxnSpPr>
            <a:stCxn id="49" idx="3"/>
          </p:cNvCxnSpPr>
          <p:nvPr/>
        </p:nvCxnSpPr>
        <p:spPr bwMode="auto">
          <a:xfrm>
            <a:off x="3591914" y="5069215"/>
            <a:ext cx="2096210" cy="1788785"/>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4" name="Rectangle 63"/>
          <p:cNvSpPr/>
          <p:nvPr/>
        </p:nvSpPr>
        <p:spPr>
          <a:xfrm>
            <a:off x="-508" y="656692"/>
            <a:ext cx="8740245" cy="1649682"/>
          </a:xfrm>
          <a:prstGeom prst="rect">
            <a:avLst/>
          </a:prstGeom>
        </p:spPr>
        <p:txBody>
          <a:bodyPr wrap="square">
            <a:spAutoFit/>
          </a:bodyPr>
          <a:lstStyle/>
          <a:p>
            <a:pPr marL="0" indent="0" algn="l">
              <a:buNone/>
            </a:pPr>
            <a:r>
              <a:rPr lang="en-US" sz="2200" b="1" dirty="0">
                <a:latin typeface="Courier"/>
                <a:cs typeface="Courier"/>
              </a:rPr>
              <a:t>type *</a:t>
            </a:r>
            <a:r>
              <a:rPr lang="en-US" sz="2200" b="1" dirty="0" err="1">
                <a:latin typeface="Courier"/>
                <a:cs typeface="Courier"/>
              </a:rPr>
              <a:t>arr</a:t>
            </a:r>
            <a:r>
              <a:rPr lang="en-US" sz="2200" b="1" dirty="0">
                <a:latin typeface="Courier"/>
                <a:cs typeface="Courier"/>
              </a:rPr>
              <a:t>[ROWS]; </a:t>
            </a:r>
          </a:p>
          <a:p>
            <a:pPr marL="0" indent="0" algn="l">
              <a:buNone/>
            </a:pPr>
            <a:r>
              <a:rPr lang="en-US" sz="2200" b="1" dirty="0">
                <a:latin typeface="Courier"/>
                <a:cs typeface="Courier"/>
              </a:rPr>
              <a:t>for (</a:t>
            </a:r>
            <a:r>
              <a:rPr lang="en-US" sz="2200" b="1" dirty="0" err="1">
                <a:latin typeface="Courier"/>
                <a:cs typeface="Courier"/>
              </a:rPr>
              <a:t>i</a:t>
            </a:r>
            <a:r>
              <a:rPr lang="en-US" sz="2200" b="1" dirty="0">
                <a:latin typeface="Courier"/>
                <a:cs typeface="Courier"/>
              </a:rPr>
              <a:t> = 0 ; </a:t>
            </a:r>
            <a:r>
              <a:rPr lang="en-US" sz="2200" b="1" dirty="0" err="1">
                <a:latin typeface="Courier"/>
                <a:cs typeface="Courier"/>
              </a:rPr>
              <a:t>i</a:t>
            </a:r>
            <a:r>
              <a:rPr lang="en-US" sz="2200" b="1" dirty="0">
                <a:latin typeface="Courier"/>
                <a:cs typeface="Courier"/>
              </a:rPr>
              <a:t> &lt; ROWS; </a:t>
            </a:r>
            <a:r>
              <a:rPr lang="en-US" sz="2200" b="1" dirty="0" err="1">
                <a:latin typeface="Courier"/>
                <a:cs typeface="Courier"/>
              </a:rPr>
              <a:t>i</a:t>
            </a:r>
            <a:r>
              <a:rPr lang="en-US" sz="2200" b="1" dirty="0">
                <a:latin typeface="Courier"/>
                <a:cs typeface="Courier"/>
              </a:rPr>
              <a:t>++) {</a:t>
            </a:r>
          </a:p>
          <a:p>
            <a:pPr marL="0" indent="0" algn="l">
              <a:buNone/>
            </a:pPr>
            <a:r>
              <a:rPr lang="en-US" sz="2200" b="1" dirty="0">
                <a:latin typeface="Courier"/>
                <a:cs typeface="Courier"/>
              </a:rPr>
              <a:t>  </a:t>
            </a:r>
            <a:r>
              <a:rPr lang="en-US" sz="2200" b="1" dirty="0" err="1">
                <a:latin typeface="Courier"/>
                <a:cs typeface="Courier"/>
              </a:rPr>
              <a:t>arr</a:t>
            </a:r>
            <a:r>
              <a:rPr lang="en-US" sz="2200" b="1" dirty="0">
                <a:latin typeface="Courier"/>
                <a:cs typeface="Courier"/>
              </a:rPr>
              <a:t>[</a:t>
            </a:r>
            <a:r>
              <a:rPr lang="en-US" sz="2200" b="1" dirty="0" err="1">
                <a:latin typeface="Courier"/>
                <a:cs typeface="Courier"/>
              </a:rPr>
              <a:t>i</a:t>
            </a:r>
            <a:r>
              <a:rPr lang="en-US" sz="2200" b="1" dirty="0">
                <a:latin typeface="Courier"/>
                <a:cs typeface="Courier"/>
              </a:rPr>
              <a:t>]=(type *)</a:t>
            </a:r>
            <a:r>
              <a:rPr lang="en-US" sz="2200" b="1" dirty="0" err="1">
                <a:latin typeface="Courier"/>
                <a:cs typeface="Courier"/>
              </a:rPr>
              <a:t>malloc</a:t>
            </a:r>
            <a:r>
              <a:rPr lang="en-US" sz="2200" b="1" dirty="0">
                <a:latin typeface="Courier"/>
                <a:cs typeface="Courier"/>
              </a:rPr>
              <a:t>(cols*</a:t>
            </a:r>
            <a:r>
              <a:rPr lang="en-US" sz="2200" b="1" dirty="0" err="1">
                <a:latin typeface="Courier"/>
                <a:cs typeface="Courier"/>
              </a:rPr>
              <a:t>sizeof</a:t>
            </a:r>
            <a:r>
              <a:rPr lang="en-US" sz="2200" b="1" dirty="0">
                <a:latin typeface="Courier"/>
                <a:cs typeface="Courier"/>
              </a:rPr>
              <a:t>(type));</a:t>
            </a:r>
          </a:p>
          <a:p>
            <a:pPr marL="0" indent="0" algn="l">
              <a:buNone/>
            </a:pPr>
            <a:r>
              <a:rPr lang="en-US" sz="2200" b="1" dirty="0">
                <a:latin typeface="Courier"/>
                <a:cs typeface="Courier"/>
              </a:rPr>
              <a:t>}</a:t>
            </a:r>
          </a:p>
        </p:txBody>
      </p:sp>
      <p:sp>
        <p:nvSpPr>
          <p:cNvPr id="4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Espace réservé du numéro de diapositive 1">
            <a:extLst>
              <a:ext uri="{FF2B5EF4-FFF2-40B4-BE49-F238E27FC236}">
                <a16:creationId xmlns:a16="http://schemas.microsoft.com/office/drawing/2014/main" id="{1A2B2BF3-FEBC-82F9-EF16-BF9149D0D870}"/>
              </a:ext>
            </a:extLst>
          </p:cNvPr>
          <p:cNvSpPr>
            <a:spLocks noGrp="1"/>
          </p:cNvSpPr>
          <p:nvPr>
            <p:ph type="sldNum" sz="quarter" idx="11"/>
          </p:nvPr>
        </p:nvSpPr>
        <p:spPr/>
        <p:txBody>
          <a:bodyPr/>
          <a:lstStyle/>
          <a:p>
            <a:pPr lvl="2"/>
            <a:fld id="{28BEB0BA-EEE4-5F45-9179-3BC54B76BCCF}" type="slidenum">
              <a:rPr lang="fr-FR" smtClean="0"/>
              <a:pPr lvl="2"/>
              <a:t>196</a:t>
            </a:fld>
            <a:endParaRPr lang="fr-FR"/>
          </a:p>
        </p:txBody>
      </p:sp>
    </p:spTree>
    <p:extLst>
      <p:ext uri="{BB962C8B-B14F-4D97-AF65-F5344CB8AC3E}">
        <p14:creationId xmlns:p14="http://schemas.microsoft.com/office/powerpoint/2010/main" val="240651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56" grpId="0" animBg="1"/>
      <p:bldP spid="57"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2D </a:t>
            </a:r>
            <a:r>
              <a:rPr lang="fr-FR" sz="2800" dirty="0" err="1">
                <a:latin typeface="Arial" charset="0"/>
                <a:cs typeface="ＭＳ Ｐゴシック" charset="0"/>
              </a:rPr>
              <a:t>Array</a:t>
            </a:r>
            <a:r>
              <a:rPr lang="fr-FR" sz="2800" dirty="0">
                <a:latin typeface="Arial" charset="0"/>
                <a:cs typeface="ＭＳ Ｐゴシック" charset="0"/>
              </a:rPr>
              <a:t>: Pointer to pointer</a:t>
            </a:r>
            <a:endParaRPr lang="fr-FR" sz="2800" dirty="0">
              <a:latin typeface="Arial" charset="0"/>
              <a:ea typeface="ＭＳ Ｐゴシック" charset="0"/>
              <a:cs typeface="ＭＳ Ｐゴシック"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652743573"/>
              </p:ext>
            </p:extLst>
          </p:nvPr>
        </p:nvGraphicFramePr>
        <p:xfrm>
          <a:off x="6924487" y="2354676"/>
          <a:ext cx="2124236" cy="445008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r h="370840">
                <a:tc>
                  <a:txBody>
                    <a:bodyPr/>
                    <a:lstStyle/>
                    <a:p>
                      <a:endParaRPr lang="en-US" dirty="0"/>
                    </a:p>
                  </a:txBody>
                  <a:tcPr>
                    <a:solidFill>
                      <a:srgbClr val="FFFFFF"/>
                    </a:solidFill>
                  </a:tcPr>
                </a:tc>
                <a:extLst>
                  <a:ext uri="{0D108BD9-81ED-4DB2-BD59-A6C34878D82A}">
                    <a16:rowId xmlns:a16="http://schemas.microsoft.com/office/drawing/2014/main" val="10005"/>
                  </a:ext>
                </a:extLst>
              </a:tr>
              <a:tr h="370840">
                <a:tc>
                  <a:txBody>
                    <a:bodyPr/>
                    <a:lstStyle/>
                    <a:p>
                      <a:endParaRPr lang="en-US" dirty="0"/>
                    </a:p>
                  </a:txBody>
                  <a:tcPr>
                    <a:solidFill>
                      <a:srgbClr val="FFFFFF"/>
                    </a:solidFill>
                  </a:tcPr>
                </a:tc>
                <a:extLst>
                  <a:ext uri="{0D108BD9-81ED-4DB2-BD59-A6C34878D82A}">
                    <a16:rowId xmlns:a16="http://schemas.microsoft.com/office/drawing/2014/main" val="10006"/>
                  </a:ext>
                </a:extLst>
              </a:tr>
              <a:tr h="370840">
                <a:tc>
                  <a:txBody>
                    <a:bodyPr/>
                    <a:lstStyle/>
                    <a:p>
                      <a:endParaRPr lang="en-US" dirty="0"/>
                    </a:p>
                  </a:txBody>
                  <a:tcPr>
                    <a:solidFill>
                      <a:srgbClr val="FFFFFF"/>
                    </a:solidFill>
                  </a:tcPr>
                </a:tc>
                <a:extLst>
                  <a:ext uri="{0D108BD9-81ED-4DB2-BD59-A6C34878D82A}">
                    <a16:rowId xmlns:a16="http://schemas.microsoft.com/office/drawing/2014/main" val="10007"/>
                  </a:ext>
                </a:extLst>
              </a:tr>
              <a:tr h="370840">
                <a:tc>
                  <a:txBody>
                    <a:bodyPr/>
                    <a:lstStyle/>
                    <a:p>
                      <a:endParaRPr lang="en-US" dirty="0"/>
                    </a:p>
                  </a:txBody>
                  <a:tcPr>
                    <a:solidFill>
                      <a:srgbClr val="FFFFFF"/>
                    </a:solidFill>
                  </a:tcPr>
                </a:tc>
                <a:extLst>
                  <a:ext uri="{0D108BD9-81ED-4DB2-BD59-A6C34878D82A}">
                    <a16:rowId xmlns:a16="http://schemas.microsoft.com/office/drawing/2014/main" val="10008"/>
                  </a:ext>
                </a:extLst>
              </a:tr>
              <a:tr h="370840">
                <a:tc>
                  <a:txBody>
                    <a:bodyPr/>
                    <a:lstStyle/>
                    <a:p>
                      <a:endParaRPr lang="en-US" dirty="0"/>
                    </a:p>
                  </a:txBody>
                  <a:tcPr>
                    <a:solidFill>
                      <a:srgbClr val="FFFFFF"/>
                    </a:solidFill>
                  </a:tcPr>
                </a:tc>
                <a:extLst>
                  <a:ext uri="{0D108BD9-81ED-4DB2-BD59-A6C34878D82A}">
                    <a16:rowId xmlns:a16="http://schemas.microsoft.com/office/drawing/2014/main" val="10009"/>
                  </a:ext>
                </a:extLst>
              </a:tr>
              <a:tr h="370840">
                <a:tc>
                  <a:txBody>
                    <a:bodyPr/>
                    <a:lstStyle/>
                    <a:p>
                      <a:endParaRPr lang="en-US" dirty="0"/>
                    </a:p>
                  </a:txBody>
                  <a:tcPr>
                    <a:solidFill>
                      <a:srgbClr val="FFFFFF"/>
                    </a:solidFill>
                  </a:tcPr>
                </a:tc>
                <a:extLst>
                  <a:ext uri="{0D108BD9-81ED-4DB2-BD59-A6C34878D82A}">
                    <a16:rowId xmlns:a16="http://schemas.microsoft.com/office/drawing/2014/main" val="10010"/>
                  </a:ext>
                </a:extLst>
              </a:tr>
              <a:tr h="370840">
                <a:tc>
                  <a:txBody>
                    <a:bodyPr/>
                    <a:lstStyle/>
                    <a:p>
                      <a:endParaRPr lang="en-US" dirty="0"/>
                    </a:p>
                  </a:txBody>
                  <a:tcPr>
                    <a:solidFill>
                      <a:srgbClr val="FFFFFF"/>
                    </a:solidFill>
                  </a:tcPr>
                </a:tc>
                <a:extLst>
                  <a:ext uri="{0D108BD9-81ED-4DB2-BD59-A6C34878D82A}">
                    <a16:rowId xmlns:a16="http://schemas.microsoft.com/office/drawing/2014/main" val="10011"/>
                  </a:ext>
                </a:extLst>
              </a:tr>
            </a:tbl>
          </a:graphicData>
        </a:graphic>
      </p:graphicFrame>
      <p:grpSp>
        <p:nvGrpSpPr>
          <p:cNvPr id="60" name="Group 59"/>
          <p:cNvGrpSpPr/>
          <p:nvPr/>
        </p:nvGrpSpPr>
        <p:grpSpPr>
          <a:xfrm>
            <a:off x="5770596" y="2318672"/>
            <a:ext cx="1050428" cy="3780420"/>
            <a:chOff x="5770596" y="2318672"/>
            <a:chExt cx="1050428" cy="3780420"/>
          </a:xfrm>
        </p:grpSpPr>
        <p:sp>
          <p:nvSpPr>
            <p:cNvPr id="13" name="TextBox 12"/>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16" name="TextBox 15"/>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19" name="TextBox 18"/>
            <p:cNvSpPr txBox="1"/>
            <p:nvPr/>
          </p:nvSpPr>
          <p:spPr>
            <a:xfrm>
              <a:off x="5772274" y="5698982"/>
              <a:ext cx="1040519" cy="400110"/>
            </a:xfrm>
            <a:prstGeom prst="rect">
              <a:avLst/>
            </a:prstGeom>
            <a:noFill/>
          </p:spPr>
          <p:txBody>
            <a:bodyPr wrap="none" rtlCol="0">
              <a:spAutoFit/>
            </a:bodyPr>
            <a:lstStyle/>
            <a:p>
              <a:r>
                <a:rPr lang="en-US" sz="2000" b="1" dirty="0"/>
                <a:t>0x1028</a:t>
              </a:r>
            </a:p>
          </p:txBody>
        </p:sp>
        <p:sp>
          <p:nvSpPr>
            <p:cNvPr id="29" name="TextBox 28"/>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12" name="TextBox 11"/>
          <p:cNvSpPr txBox="1"/>
          <p:nvPr/>
        </p:nvSpPr>
        <p:spPr>
          <a:xfrm>
            <a:off x="7507081" y="1880828"/>
            <a:ext cx="811841" cy="400110"/>
          </a:xfrm>
          <a:prstGeom prst="rect">
            <a:avLst/>
          </a:prstGeom>
          <a:noFill/>
        </p:spPr>
        <p:txBody>
          <a:bodyPr wrap="none" rtlCol="0">
            <a:spAutoFit/>
          </a:bodyPr>
          <a:lstStyle/>
          <a:p>
            <a:r>
              <a:rPr lang="en-US" sz="2000" b="1" dirty="0"/>
              <a:t>Heap</a:t>
            </a:r>
          </a:p>
        </p:txBody>
      </p:sp>
      <p:sp>
        <p:nvSpPr>
          <p:cNvPr id="15" name="Rectangle 14"/>
          <p:cNvSpPr/>
          <p:nvPr/>
        </p:nvSpPr>
        <p:spPr>
          <a:xfrm>
            <a:off x="7628070" y="2282668"/>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18" name="Rectangle 17"/>
          <p:cNvSpPr/>
          <p:nvPr/>
        </p:nvSpPr>
        <p:spPr>
          <a:xfrm>
            <a:off x="7628070" y="271065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1" name="Rectangle 20"/>
          <p:cNvSpPr/>
          <p:nvPr/>
        </p:nvSpPr>
        <p:spPr>
          <a:xfrm>
            <a:off x="7628070" y="563104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2" name="Rectangle 21"/>
          <p:cNvSpPr/>
          <p:nvPr/>
        </p:nvSpPr>
        <p:spPr>
          <a:xfrm>
            <a:off x="7628070" y="3070690"/>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3" name="Rectangle 22"/>
          <p:cNvSpPr/>
          <p:nvPr/>
        </p:nvSpPr>
        <p:spPr>
          <a:xfrm>
            <a:off x="7781983" y="3430730"/>
            <a:ext cx="338579" cy="400110"/>
          </a:xfrm>
          <a:prstGeom prst="rect">
            <a:avLst/>
          </a:prstGeom>
        </p:spPr>
        <p:txBody>
          <a:bodyPr wrap="none">
            <a:spAutoFit/>
          </a:bodyPr>
          <a:lstStyle/>
          <a:p>
            <a:r>
              <a:rPr lang="en-GB" sz="2000" b="1" dirty="0">
                <a:solidFill>
                  <a:srgbClr val="FF0000"/>
                </a:solidFill>
                <a:latin typeface="Courier"/>
                <a:cs typeface="Courier"/>
              </a:rPr>
              <a:t>…</a:t>
            </a:r>
            <a:endParaRPr lang="en-US" sz="2000" dirty="0">
              <a:solidFill>
                <a:srgbClr val="FF0000"/>
              </a:solidFill>
            </a:endParaRPr>
          </a:p>
        </p:txBody>
      </p:sp>
      <p:sp>
        <p:nvSpPr>
          <p:cNvPr id="24" name="Rectangle 23"/>
          <p:cNvSpPr/>
          <p:nvPr/>
        </p:nvSpPr>
        <p:spPr>
          <a:xfrm>
            <a:off x="7628070" y="371876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5" name="Rectangle 24"/>
          <p:cNvSpPr/>
          <p:nvPr/>
        </p:nvSpPr>
        <p:spPr>
          <a:xfrm>
            <a:off x="7628070" y="407880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6" name="Rectangle 25"/>
          <p:cNvSpPr/>
          <p:nvPr/>
        </p:nvSpPr>
        <p:spPr>
          <a:xfrm>
            <a:off x="7628070" y="443884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7" name="Rectangle 26"/>
          <p:cNvSpPr/>
          <p:nvPr/>
        </p:nvSpPr>
        <p:spPr>
          <a:xfrm>
            <a:off x="7628070" y="483488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28" name="Rectangle 27"/>
          <p:cNvSpPr/>
          <p:nvPr/>
        </p:nvSpPr>
        <p:spPr>
          <a:xfrm>
            <a:off x="7781983" y="5230930"/>
            <a:ext cx="338579" cy="400110"/>
          </a:xfrm>
          <a:prstGeom prst="rect">
            <a:avLst/>
          </a:prstGeom>
        </p:spPr>
        <p:txBody>
          <a:bodyPr wrap="none">
            <a:spAutoFit/>
          </a:bodyPr>
          <a:lstStyle/>
          <a:p>
            <a:r>
              <a:rPr lang="en-GB" sz="2000" b="1" dirty="0">
                <a:solidFill>
                  <a:srgbClr val="FF0000"/>
                </a:solidFill>
                <a:latin typeface="Courier"/>
                <a:cs typeface="Courier"/>
              </a:rPr>
              <a:t>…</a:t>
            </a:r>
            <a:endParaRPr lang="en-US" sz="2000" dirty="0">
              <a:solidFill>
                <a:srgbClr val="FF0000"/>
              </a:solidFill>
            </a:endParaRPr>
          </a:p>
        </p:txBody>
      </p:sp>
      <p:sp>
        <p:nvSpPr>
          <p:cNvPr id="34" name="Rectangle 33"/>
          <p:cNvSpPr/>
          <p:nvPr/>
        </p:nvSpPr>
        <p:spPr>
          <a:xfrm>
            <a:off x="7598666" y="6044606"/>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5" name="Rectangle 34"/>
          <p:cNvSpPr/>
          <p:nvPr/>
        </p:nvSpPr>
        <p:spPr>
          <a:xfrm>
            <a:off x="7639619" y="6408712"/>
            <a:ext cx="646406" cy="400110"/>
          </a:xfrm>
          <a:prstGeom prst="rect">
            <a:avLst/>
          </a:prstGeom>
        </p:spPr>
        <p:txBody>
          <a:bodyPr wrap="none">
            <a:spAutoFit/>
          </a:bodyPr>
          <a:lstStyle/>
          <a:p>
            <a:r>
              <a:rPr lang="en-GB" sz="2000" b="1" dirty="0">
                <a:solidFill>
                  <a:srgbClr val="FF0000"/>
                </a:solidFill>
                <a:latin typeface="Courier"/>
                <a:cs typeface="Courier"/>
              </a:rPr>
              <a:t>xxx</a:t>
            </a:r>
            <a:endParaRPr lang="en-US" sz="2000" dirty="0">
              <a:solidFill>
                <a:srgbClr val="FF0000"/>
              </a:solidFill>
            </a:endParaRPr>
          </a:p>
        </p:txBody>
      </p:sp>
      <p:sp>
        <p:nvSpPr>
          <p:cNvPr id="36" name="Rectangle 35"/>
          <p:cNvSpPr/>
          <p:nvPr/>
        </p:nvSpPr>
        <p:spPr bwMode="auto">
          <a:xfrm>
            <a:off x="5772359" y="2304256"/>
            <a:ext cx="3300141" cy="1196752"/>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43" name="Group 42"/>
          <p:cNvGrpSpPr/>
          <p:nvPr/>
        </p:nvGrpSpPr>
        <p:grpSpPr>
          <a:xfrm>
            <a:off x="3361044" y="3861048"/>
            <a:ext cx="5567441" cy="1476164"/>
            <a:chOff x="-1967039" y="2204864"/>
            <a:chExt cx="5567441" cy="1476164"/>
          </a:xfrm>
        </p:grpSpPr>
        <p:cxnSp>
          <p:nvCxnSpPr>
            <p:cNvPr id="45" name="Straight Arrow Connector 44"/>
            <p:cNvCxnSpPr>
              <a:stCxn id="66" idx="3"/>
            </p:cNvCxnSpPr>
            <p:nvPr/>
          </p:nvCxnSpPr>
          <p:spPr bwMode="auto">
            <a:xfrm flipV="1">
              <a:off x="-1967039" y="2397728"/>
              <a:ext cx="2219068" cy="33123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6" name="Rectangle 45"/>
            <p:cNvSpPr/>
            <p:nvPr/>
          </p:nvSpPr>
          <p:spPr bwMode="auto">
            <a:xfrm>
              <a:off x="396046" y="2204864"/>
              <a:ext cx="3204356" cy="1476164"/>
            </a:xfrm>
            <a:prstGeom prst="rect">
              <a:avLst/>
            </a:prstGeom>
            <a:noFill/>
            <a:ln w="57150" cap="flat" cmpd="sng" algn="ctr">
              <a:solidFill>
                <a:srgbClr val="A70524"/>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sp>
        <p:nvSpPr>
          <p:cNvPr id="37" name="TextBox 36"/>
          <p:cNvSpPr txBox="1"/>
          <p:nvPr/>
        </p:nvSpPr>
        <p:spPr>
          <a:xfrm>
            <a:off x="7424296" y="4185084"/>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[1]</a:t>
            </a:r>
          </a:p>
        </p:txBody>
      </p:sp>
      <p:sp>
        <p:nvSpPr>
          <p:cNvPr id="41" name="TextBox 40"/>
          <p:cNvSpPr txBox="1"/>
          <p:nvPr/>
        </p:nvSpPr>
        <p:spPr>
          <a:xfrm>
            <a:off x="7380314" y="3825044"/>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[0]</a:t>
            </a:r>
          </a:p>
        </p:txBody>
      </p:sp>
      <p:sp>
        <p:nvSpPr>
          <p:cNvPr id="47" name="TextBox 46"/>
          <p:cNvSpPr txBox="1"/>
          <p:nvPr/>
        </p:nvSpPr>
        <p:spPr>
          <a:xfrm>
            <a:off x="7416316" y="4509120"/>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[2]</a:t>
            </a:r>
          </a:p>
        </p:txBody>
      </p:sp>
      <p:sp>
        <p:nvSpPr>
          <p:cNvPr id="49" name="TextBox 48"/>
          <p:cNvSpPr txBox="1"/>
          <p:nvPr/>
        </p:nvSpPr>
        <p:spPr>
          <a:xfrm>
            <a:off x="7416316" y="4837222"/>
            <a:ext cx="1108146" cy="400110"/>
          </a:xfrm>
          <a:prstGeom prst="rect">
            <a:avLst/>
          </a:prstGeom>
          <a:noFill/>
        </p:spPr>
        <p:txBody>
          <a:bodyPr wrap="none" rtlCol="0">
            <a:spAutoFit/>
          </a:bodyPr>
          <a:lstStyle/>
          <a:p>
            <a:r>
              <a:rPr lang="en-US" sz="2000" b="1" dirty="0" err="1">
                <a:latin typeface="Courier"/>
                <a:cs typeface="Courier"/>
              </a:rPr>
              <a:t>arr</a:t>
            </a:r>
            <a:r>
              <a:rPr lang="en-US" sz="2000" b="1" dirty="0">
                <a:latin typeface="Courier"/>
                <a:cs typeface="Courier"/>
              </a:rPr>
              <a:t>[3]</a:t>
            </a:r>
          </a:p>
        </p:txBody>
      </p:sp>
      <p:sp>
        <p:nvSpPr>
          <p:cNvPr id="57" name="Rectangle 56"/>
          <p:cNvSpPr/>
          <p:nvPr/>
        </p:nvSpPr>
        <p:spPr bwMode="auto">
          <a:xfrm>
            <a:off x="5760132" y="5652628"/>
            <a:ext cx="3300141" cy="1196752"/>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48" name="Rectangle 47"/>
          <p:cNvSpPr/>
          <p:nvPr/>
        </p:nvSpPr>
        <p:spPr>
          <a:xfrm>
            <a:off x="-508" y="656692"/>
            <a:ext cx="8740245" cy="2055947"/>
          </a:xfrm>
          <a:prstGeom prst="rect">
            <a:avLst/>
          </a:prstGeom>
        </p:spPr>
        <p:txBody>
          <a:bodyPr wrap="square">
            <a:spAutoFit/>
          </a:bodyPr>
          <a:lstStyle/>
          <a:p>
            <a:pPr marL="0" indent="0" algn="l">
              <a:buNone/>
            </a:pPr>
            <a:r>
              <a:rPr lang="en-US" sz="2200" b="1" dirty="0">
                <a:latin typeface="Courier"/>
                <a:cs typeface="Courier"/>
              </a:rPr>
              <a:t>type ** </a:t>
            </a:r>
            <a:r>
              <a:rPr lang="en-US" sz="2200" b="1" dirty="0" err="1">
                <a:latin typeface="Courier"/>
                <a:cs typeface="Courier"/>
              </a:rPr>
              <a:t>arr</a:t>
            </a:r>
            <a:r>
              <a:rPr lang="en-US" sz="2200" b="1" dirty="0">
                <a:latin typeface="Courier"/>
                <a:cs typeface="Courier"/>
              </a:rPr>
              <a:t>; </a:t>
            </a:r>
          </a:p>
          <a:p>
            <a:pPr marL="0" indent="0" algn="l">
              <a:buNone/>
            </a:pPr>
            <a:r>
              <a:rPr lang="en-US" sz="2200" b="1" dirty="0" err="1">
                <a:latin typeface="Courier"/>
                <a:cs typeface="Courier"/>
              </a:rPr>
              <a:t>arr</a:t>
            </a:r>
            <a:r>
              <a:rPr lang="en-US" sz="2200" b="1" dirty="0">
                <a:latin typeface="Courier"/>
                <a:cs typeface="Courier"/>
              </a:rPr>
              <a:t>=(type **)</a:t>
            </a:r>
            <a:r>
              <a:rPr lang="en-US" sz="2200" b="1" dirty="0" err="1">
                <a:latin typeface="Courier"/>
                <a:cs typeface="Courier"/>
              </a:rPr>
              <a:t>malloc</a:t>
            </a:r>
            <a:r>
              <a:rPr lang="en-US" sz="2200" b="1" dirty="0">
                <a:latin typeface="Courier"/>
                <a:cs typeface="Courier"/>
              </a:rPr>
              <a:t>(rows*</a:t>
            </a:r>
            <a:r>
              <a:rPr lang="en-US" sz="2200" b="1" dirty="0" err="1">
                <a:latin typeface="Courier"/>
                <a:cs typeface="Courier"/>
              </a:rPr>
              <a:t>sizeof</a:t>
            </a:r>
            <a:r>
              <a:rPr lang="en-US" sz="2200" b="1" dirty="0">
                <a:latin typeface="Courier"/>
                <a:cs typeface="Courier"/>
              </a:rPr>
              <a:t>(type*));</a:t>
            </a:r>
          </a:p>
          <a:p>
            <a:pPr marL="0" indent="0" algn="l">
              <a:buNone/>
            </a:pPr>
            <a:r>
              <a:rPr lang="en-US" sz="2200" b="1" dirty="0">
                <a:latin typeface="Courier"/>
                <a:cs typeface="Courier"/>
              </a:rPr>
              <a:t>for (</a:t>
            </a:r>
            <a:r>
              <a:rPr lang="en-US" sz="2200" b="1" dirty="0" err="1">
                <a:latin typeface="Courier"/>
                <a:cs typeface="Courier"/>
              </a:rPr>
              <a:t>i</a:t>
            </a:r>
            <a:r>
              <a:rPr lang="en-US" sz="2200" b="1" dirty="0">
                <a:latin typeface="Courier"/>
                <a:cs typeface="Courier"/>
              </a:rPr>
              <a:t> = 0 ; </a:t>
            </a:r>
            <a:r>
              <a:rPr lang="en-US" sz="2200" b="1" dirty="0" err="1">
                <a:latin typeface="Courier"/>
                <a:cs typeface="Courier"/>
              </a:rPr>
              <a:t>i</a:t>
            </a:r>
            <a:r>
              <a:rPr lang="en-US" sz="2200" b="1" dirty="0">
                <a:latin typeface="Courier"/>
                <a:cs typeface="Courier"/>
              </a:rPr>
              <a:t> &lt; rows ; </a:t>
            </a:r>
            <a:r>
              <a:rPr lang="en-US" sz="2200" b="1" dirty="0" err="1">
                <a:latin typeface="Courier"/>
                <a:cs typeface="Courier"/>
              </a:rPr>
              <a:t>i</a:t>
            </a:r>
            <a:r>
              <a:rPr lang="en-US" sz="2200" b="1" dirty="0">
                <a:latin typeface="Courier"/>
                <a:cs typeface="Courier"/>
              </a:rPr>
              <a:t>++) {</a:t>
            </a:r>
          </a:p>
          <a:p>
            <a:pPr marL="0" indent="0" algn="l">
              <a:buNone/>
            </a:pPr>
            <a:r>
              <a:rPr lang="en-US" sz="2200" b="1" dirty="0">
                <a:latin typeface="Courier"/>
                <a:cs typeface="Courier"/>
              </a:rPr>
              <a:t>  </a:t>
            </a:r>
            <a:r>
              <a:rPr lang="en-US" sz="2200" b="1" dirty="0" err="1">
                <a:latin typeface="Courier"/>
                <a:cs typeface="Courier"/>
              </a:rPr>
              <a:t>arr</a:t>
            </a:r>
            <a:r>
              <a:rPr lang="en-US" sz="2200" b="1" dirty="0">
                <a:latin typeface="Courier"/>
                <a:cs typeface="Courier"/>
              </a:rPr>
              <a:t>[</a:t>
            </a:r>
            <a:r>
              <a:rPr lang="en-US" sz="2200" b="1" dirty="0" err="1">
                <a:latin typeface="Courier"/>
                <a:cs typeface="Courier"/>
              </a:rPr>
              <a:t>i</a:t>
            </a:r>
            <a:r>
              <a:rPr lang="en-US" sz="2200" b="1" dirty="0">
                <a:latin typeface="Courier"/>
                <a:cs typeface="Courier"/>
              </a:rPr>
              <a:t>]=(type *)</a:t>
            </a:r>
            <a:r>
              <a:rPr lang="en-US" sz="2200" b="1" dirty="0" err="1">
                <a:latin typeface="Courier"/>
                <a:cs typeface="Courier"/>
              </a:rPr>
              <a:t>malloc</a:t>
            </a:r>
            <a:r>
              <a:rPr lang="en-US" sz="2200" b="1" dirty="0">
                <a:latin typeface="Courier"/>
                <a:cs typeface="Courier"/>
              </a:rPr>
              <a:t>(cols*</a:t>
            </a:r>
            <a:r>
              <a:rPr lang="en-US" sz="2200" b="1" dirty="0" err="1">
                <a:latin typeface="Courier"/>
                <a:cs typeface="Courier"/>
              </a:rPr>
              <a:t>sizeof</a:t>
            </a:r>
            <a:r>
              <a:rPr lang="en-US" sz="2200" b="1" dirty="0">
                <a:latin typeface="Courier"/>
                <a:cs typeface="Courier"/>
              </a:rPr>
              <a:t>(type));</a:t>
            </a:r>
          </a:p>
          <a:p>
            <a:pPr marL="0" indent="0" algn="l">
              <a:buNone/>
            </a:pPr>
            <a:r>
              <a:rPr lang="en-US" sz="2200" b="1" dirty="0">
                <a:latin typeface="Courier"/>
                <a:cs typeface="Courier"/>
              </a:rPr>
              <a:t>}</a:t>
            </a:r>
          </a:p>
        </p:txBody>
      </p:sp>
      <p:graphicFrame>
        <p:nvGraphicFramePr>
          <p:cNvPr id="50" name="Table 49"/>
          <p:cNvGraphicFramePr>
            <a:graphicFrameLocks noGrp="1"/>
          </p:cNvGraphicFramePr>
          <p:nvPr>
            <p:extLst>
              <p:ext uri="{D42A27DB-BD31-4B8C-83A1-F6EECF244321}">
                <p14:modId xmlns:p14="http://schemas.microsoft.com/office/powerpoint/2010/main" val="713740084"/>
              </p:ext>
            </p:extLst>
          </p:nvPr>
        </p:nvGraphicFramePr>
        <p:xfrm>
          <a:off x="2195736" y="3825044"/>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65" name="Group 64"/>
          <p:cNvGrpSpPr/>
          <p:nvPr/>
        </p:nvGrpSpPr>
        <p:grpSpPr>
          <a:xfrm>
            <a:off x="2491156" y="3320988"/>
            <a:ext cx="869888" cy="1264209"/>
            <a:chOff x="2491156" y="3320988"/>
            <a:chExt cx="869888" cy="1264209"/>
          </a:xfrm>
        </p:grpSpPr>
        <p:sp>
          <p:nvSpPr>
            <p:cNvPr id="66" name="TextBox 65"/>
            <p:cNvSpPr txBox="1"/>
            <p:nvPr/>
          </p:nvSpPr>
          <p:spPr>
            <a:xfrm>
              <a:off x="2714638" y="4185087"/>
              <a:ext cx="646406" cy="400110"/>
            </a:xfrm>
            <a:prstGeom prst="rect">
              <a:avLst/>
            </a:prstGeom>
            <a:noFill/>
          </p:spPr>
          <p:txBody>
            <a:bodyPr wrap="none" rtlCol="0">
              <a:spAutoFit/>
            </a:bodyPr>
            <a:lstStyle/>
            <a:p>
              <a:r>
                <a:rPr lang="en-US" sz="2000" b="1" dirty="0" err="1">
                  <a:latin typeface="Courier"/>
                  <a:cs typeface="Courier"/>
                </a:rPr>
                <a:t>arr</a:t>
              </a:r>
              <a:endParaRPr lang="en-US" sz="2000" b="1" dirty="0">
                <a:latin typeface="Courier"/>
                <a:cs typeface="Courier"/>
              </a:endParaRPr>
            </a:p>
          </p:txBody>
        </p:sp>
        <p:sp>
          <p:nvSpPr>
            <p:cNvPr id="70" name="TextBox 69"/>
            <p:cNvSpPr txBox="1"/>
            <p:nvPr/>
          </p:nvSpPr>
          <p:spPr>
            <a:xfrm>
              <a:off x="2491156" y="3320988"/>
              <a:ext cx="869073" cy="400110"/>
            </a:xfrm>
            <a:prstGeom prst="rect">
              <a:avLst/>
            </a:prstGeom>
            <a:noFill/>
          </p:spPr>
          <p:txBody>
            <a:bodyPr wrap="none" rtlCol="0">
              <a:spAutoFit/>
            </a:bodyPr>
            <a:lstStyle/>
            <a:p>
              <a:r>
                <a:rPr lang="en-US" sz="2000" b="1" dirty="0"/>
                <a:t>Stack</a:t>
              </a:r>
            </a:p>
          </p:txBody>
        </p:sp>
      </p:grpSp>
      <p:sp>
        <p:nvSpPr>
          <p:cNvPr id="3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Espace réservé du numéro de diapositive 1">
            <a:extLst>
              <a:ext uri="{FF2B5EF4-FFF2-40B4-BE49-F238E27FC236}">
                <a16:creationId xmlns:a16="http://schemas.microsoft.com/office/drawing/2014/main" id="{F16CCB35-ABAF-D4AA-DFBC-1585B09AD695}"/>
              </a:ext>
            </a:extLst>
          </p:cNvPr>
          <p:cNvSpPr>
            <a:spLocks noGrp="1"/>
          </p:cNvSpPr>
          <p:nvPr>
            <p:ph type="sldNum" sz="quarter" idx="11"/>
          </p:nvPr>
        </p:nvSpPr>
        <p:spPr/>
        <p:txBody>
          <a:bodyPr/>
          <a:lstStyle/>
          <a:p>
            <a:pPr lvl="2"/>
            <a:fld id="{28BEB0BA-EEE4-5F45-9179-3BC54B76BCCF}" type="slidenum">
              <a:rPr lang="fr-FR" smtClean="0"/>
              <a:pPr lvl="2"/>
              <a:t>197</a:t>
            </a:fld>
            <a:endParaRPr lang="fr-FR"/>
          </a:p>
        </p:txBody>
      </p:sp>
    </p:spTree>
    <p:extLst>
      <p:ext uri="{BB962C8B-B14F-4D97-AF65-F5344CB8AC3E}">
        <p14:creationId xmlns:p14="http://schemas.microsoft.com/office/powerpoint/2010/main" val="167872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6" grpId="0" animBg="1"/>
      <p:bldP spid="37" grpId="0"/>
      <p:bldP spid="41" grpId="0"/>
      <p:bldP spid="47" grpId="0"/>
      <p:bldP spid="49" grpId="0"/>
      <p:bldP spid="57"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Dynamic</a:t>
            </a:r>
            <a:r>
              <a:rPr lang="fr-FR" sz="2800" dirty="0">
                <a:latin typeface="Arial" charset="0"/>
                <a:cs typeface="ＭＳ Ｐゴシック" charset="0"/>
              </a:rPr>
              <a:t> Memory Allocation</a:t>
            </a:r>
            <a:endParaRPr lang="fr-FR" sz="2800" dirty="0">
              <a:latin typeface="Arial" charset="0"/>
              <a:ea typeface="ＭＳ Ｐゴシック" charset="0"/>
              <a:cs typeface="ＭＳ Ｐゴシック" charset="0"/>
            </a:endParaRP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198</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Q6 – Q8</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6706924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199</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a:xfrm>
            <a:off x="683568" y="2240868"/>
            <a:ext cx="7772400" cy="1470025"/>
          </a:xfrm>
        </p:spPr>
        <p:txBody>
          <a:bodyPr/>
          <a:lstStyle/>
          <a:p>
            <a:r>
              <a:rPr lang="en-GB" dirty="0">
                <a:latin typeface="Arial" charset="0"/>
              </a:rPr>
              <a:t>User-defined data types:</a:t>
            </a:r>
            <a:br>
              <a:rPr lang="en-GB" dirty="0">
                <a:latin typeface="Arial" charset="0"/>
              </a:rPr>
            </a:br>
            <a:r>
              <a:rPr lang="en-GB" dirty="0" err="1">
                <a:latin typeface="Arial" charset="0"/>
              </a:rPr>
              <a:t>Enum</a:t>
            </a:r>
            <a:r>
              <a:rPr lang="en-GB" dirty="0">
                <a:latin typeface="Arial" charset="0"/>
              </a:rPr>
              <a:t>, </a:t>
            </a:r>
            <a:r>
              <a:rPr lang="en-GB" dirty="0" err="1">
                <a:latin typeface="Arial" charset="0"/>
              </a:rPr>
              <a:t>typedef</a:t>
            </a:r>
            <a:r>
              <a:rPr lang="en-GB" dirty="0">
                <a:latin typeface="Arial" charset="0"/>
              </a:rPr>
              <a:t>, </a:t>
            </a:r>
            <a:r>
              <a:rPr lang="en-GB" dirty="0" err="1">
                <a:latin typeface="Arial" charset="0"/>
              </a:rPr>
              <a:t>struct</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7929564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re 1"/>
          <p:cNvSpPr>
            <a:spLocks noGrp="1"/>
          </p:cNvSpPr>
          <p:nvPr>
            <p:ph type="title"/>
          </p:nvPr>
        </p:nvSpPr>
        <p:spPr/>
        <p:txBody>
          <a:bodyPr/>
          <a:lstStyle/>
          <a:p>
            <a:r>
              <a:rPr lang="en-GB" sz="2800" dirty="0">
                <a:latin typeface="Arial" charset="0"/>
                <a:ea typeface="ＭＳ Ｐゴシック" charset="0"/>
                <a:cs typeface="ＭＳ Ｐゴシック" charset="0"/>
              </a:rPr>
              <a:t>Enumerated type declaration &amp; definition</a:t>
            </a:r>
          </a:p>
        </p:txBody>
      </p:sp>
      <p:sp>
        <p:nvSpPr>
          <p:cNvPr id="3" name="Espace réservé du contenu 2"/>
          <p:cNvSpPr>
            <a:spLocks noGrp="1"/>
          </p:cNvSpPr>
          <p:nvPr>
            <p:ph idx="1"/>
          </p:nvPr>
        </p:nvSpPr>
        <p:spPr>
          <a:xfrm>
            <a:off x="179512" y="914400"/>
            <a:ext cx="9011344" cy="5257800"/>
          </a:xfrm>
        </p:spPr>
        <p:txBody>
          <a:bodyPr/>
          <a:lstStyle/>
          <a:p>
            <a:r>
              <a:rPr lang="en-US" dirty="0">
                <a:latin typeface="Arial" charset="0"/>
                <a:cs typeface="ＭＳ Ｐゴシック" charset="0"/>
              </a:rPr>
              <a:t>Syntax:</a:t>
            </a:r>
            <a:endParaRPr lang="en-US" dirty="0">
              <a:latin typeface="Arial" charset="0"/>
            </a:endParaRPr>
          </a:p>
          <a:p>
            <a:pPr marL="542925" lvl="1" indent="0">
              <a:buNone/>
            </a:pPr>
            <a:r>
              <a:rPr lang="en-US" b="1" dirty="0" err="1">
                <a:latin typeface="Courier"/>
                <a:cs typeface="Courier"/>
              </a:rPr>
              <a:t>enum</a:t>
            </a:r>
            <a:r>
              <a:rPr lang="en-US" b="1" dirty="0">
                <a:latin typeface="Courier"/>
                <a:cs typeface="Courier"/>
              </a:rPr>
              <a:t> identifier {element1,…}</a:t>
            </a:r>
          </a:p>
          <a:p>
            <a:pPr>
              <a:defRPr/>
            </a:pPr>
            <a:endParaRPr lang="en-US" sz="800" dirty="0">
              <a:cs typeface="Courier"/>
            </a:endParaRPr>
          </a:p>
          <a:p>
            <a:pPr>
              <a:defRPr/>
            </a:pPr>
            <a:r>
              <a:rPr lang="en-US" dirty="0">
                <a:cs typeface="Courier"/>
              </a:rPr>
              <a:t>Function:</a:t>
            </a:r>
          </a:p>
          <a:p>
            <a:pPr lvl="1">
              <a:defRPr/>
            </a:pPr>
            <a:r>
              <a:rPr lang="en-US" dirty="0">
                <a:cs typeface="Courier"/>
              </a:rPr>
              <a:t>The enumeration creates a </a:t>
            </a:r>
            <a:r>
              <a:rPr lang="en-US" b="1" dirty="0">
                <a:cs typeface="Courier"/>
              </a:rPr>
              <a:t>data type</a:t>
            </a:r>
            <a:r>
              <a:rPr lang="en-US" dirty="0">
                <a:cs typeface="Courier"/>
              </a:rPr>
              <a:t> that groups a set of elements that behave as </a:t>
            </a:r>
            <a:r>
              <a:rPr lang="en-US" b="1" dirty="0">
                <a:cs typeface="Courier"/>
              </a:rPr>
              <a:t>integral constants</a:t>
            </a:r>
          </a:p>
          <a:p>
            <a:pPr lvl="1">
              <a:defRPr/>
            </a:pPr>
            <a:r>
              <a:rPr lang="en-US" dirty="0">
                <a:cs typeface="Courier"/>
              </a:rPr>
              <a:t>Declares a new enumeration type with the name </a:t>
            </a:r>
            <a:r>
              <a:rPr lang="en-US" b="1" dirty="0" err="1">
                <a:solidFill>
                  <a:schemeClr val="tx1"/>
                </a:solidFill>
                <a:latin typeface="Courier"/>
                <a:cs typeface="Courier"/>
              </a:rPr>
              <a:t>enum</a:t>
            </a:r>
            <a:r>
              <a:rPr lang="en-US" b="1" dirty="0">
                <a:solidFill>
                  <a:schemeClr val="tx1"/>
                </a:solidFill>
                <a:latin typeface="Courier"/>
                <a:cs typeface="Courier"/>
              </a:rPr>
              <a:t> </a:t>
            </a:r>
            <a:r>
              <a:rPr lang="en-US" b="1" dirty="0">
                <a:latin typeface="Courier"/>
                <a:cs typeface="Courier"/>
              </a:rPr>
              <a:t>identifier</a:t>
            </a:r>
            <a:r>
              <a:rPr lang="en-US" dirty="0">
                <a:cs typeface="Courier"/>
              </a:rPr>
              <a:t> </a:t>
            </a:r>
          </a:p>
          <a:p>
            <a:pPr lvl="1">
              <a:defRPr/>
            </a:pPr>
            <a:endParaRPr lang="en-US" sz="800" dirty="0">
              <a:cs typeface="Courier"/>
            </a:endParaRPr>
          </a:p>
          <a:p>
            <a:pPr>
              <a:defRPr/>
            </a:pPr>
            <a:r>
              <a:rPr lang="en-US" dirty="0">
                <a:solidFill>
                  <a:schemeClr val="tx1"/>
                </a:solidFill>
                <a:cs typeface="Courier"/>
              </a:rPr>
              <a:t>A variable is defined as </a:t>
            </a:r>
            <a:r>
              <a:rPr lang="en-US" b="1" dirty="0" err="1">
                <a:solidFill>
                  <a:schemeClr val="tx1"/>
                </a:solidFill>
                <a:latin typeface="Courier"/>
                <a:cs typeface="Courier"/>
              </a:rPr>
              <a:t>enum</a:t>
            </a:r>
            <a:r>
              <a:rPr lang="en-US" b="1" dirty="0">
                <a:solidFill>
                  <a:schemeClr val="tx1"/>
                </a:solidFill>
                <a:latin typeface="Courier"/>
                <a:cs typeface="Courier"/>
              </a:rPr>
              <a:t> identifier</a:t>
            </a:r>
            <a:r>
              <a:rPr lang="en-US" dirty="0">
                <a:solidFill>
                  <a:schemeClr val="tx1"/>
                </a:solidFill>
                <a:cs typeface="Courier"/>
              </a:rPr>
              <a:t>, it can be assigned one of the elements</a:t>
            </a:r>
          </a:p>
          <a:p>
            <a:pPr>
              <a:defRPr/>
            </a:pPr>
            <a:r>
              <a:rPr lang="en-US" dirty="0">
                <a:cs typeface="Courier"/>
              </a:rPr>
              <a:t>Example:</a:t>
            </a:r>
          </a:p>
          <a:p>
            <a:pPr lvl="1">
              <a:defRPr/>
            </a:pPr>
            <a:r>
              <a:rPr lang="en-US" b="1" dirty="0" err="1">
                <a:latin typeface="Courier"/>
                <a:cs typeface="Courier"/>
              </a:rPr>
              <a:t>enum</a:t>
            </a:r>
            <a:r>
              <a:rPr lang="en-US" b="1" dirty="0">
                <a:latin typeface="Courier"/>
                <a:cs typeface="Courier"/>
              </a:rPr>
              <a:t> day{</a:t>
            </a:r>
            <a:r>
              <a:rPr lang="en-US" b="1" dirty="0" err="1">
                <a:latin typeface="Courier"/>
                <a:cs typeface="Courier"/>
              </a:rPr>
              <a:t>mon</a:t>
            </a:r>
            <a:r>
              <a:rPr lang="en-US" b="1" dirty="0">
                <a:latin typeface="Courier"/>
                <a:cs typeface="Courier"/>
              </a:rPr>
              <a:t>, </a:t>
            </a:r>
            <a:r>
              <a:rPr lang="en-US" b="1" dirty="0" err="1">
                <a:latin typeface="Courier"/>
                <a:cs typeface="Courier"/>
              </a:rPr>
              <a:t>tue</a:t>
            </a:r>
            <a:r>
              <a:rPr lang="en-US" b="1" dirty="0">
                <a:latin typeface="Courier"/>
                <a:cs typeface="Courier"/>
              </a:rPr>
              <a:t>, wen, </a:t>
            </a:r>
            <a:r>
              <a:rPr lang="en-US" b="1" dirty="0" err="1">
                <a:latin typeface="Courier"/>
                <a:cs typeface="Courier"/>
              </a:rPr>
              <a:t>thu</a:t>
            </a:r>
            <a:r>
              <a:rPr lang="en-US" b="1" dirty="0">
                <a:latin typeface="Courier"/>
                <a:cs typeface="Courier"/>
              </a:rPr>
              <a:t>, </a:t>
            </a:r>
            <a:r>
              <a:rPr lang="en-US" b="1" dirty="0" err="1">
                <a:latin typeface="Courier"/>
                <a:cs typeface="Courier"/>
              </a:rPr>
              <a:t>fri</a:t>
            </a:r>
            <a:r>
              <a:rPr lang="en-US" b="1" dirty="0">
                <a:latin typeface="Courier"/>
                <a:cs typeface="Courier"/>
              </a:rPr>
              <a:t>, sat, sun} ;</a:t>
            </a:r>
          </a:p>
          <a:p>
            <a:pPr lvl="2">
              <a:defRPr/>
            </a:pPr>
            <a:r>
              <a:rPr lang="en-US" dirty="0"/>
              <a:t> </a:t>
            </a:r>
            <a:r>
              <a:rPr lang="en-US" b="1" dirty="0" err="1">
                <a:latin typeface="Courier"/>
                <a:cs typeface="Courier"/>
              </a:rPr>
              <a:t>mon</a:t>
            </a:r>
            <a:r>
              <a:rPr lang="en-US" dirty="0"/>
              <a:t> is coded by 0, </a:t>
            </a:r>
            <a:r>
              <a:rPr lang="en-US" b="1" dirty="0" err="1">
                <a:latin typeface="Courier"/>
                <a:cs typeface="Courier"/>
              </a:rPr>
              <a:t>tue</a:t>
            </a:r>
            <a:r>
              <a:rPr lang="en-US" dirty="0"/>
              <a:t> by 1, …, </a:t>
            </a:r>
            <a:r>
              <a:rPr lang="en-US" b="1" dirty="0">
                <a:latin typeface="Courier"/>
                <a:cs typeface="Courier"/>
              </a:rPr>
              <a:t>sun</a:t>
            </a:r>
            <a:r>
              <a:rPr lang="en-US" dirty="0"/>
              <a:t> par 6</a:t>
            </a:r>
            <a:endParaRPr lang="en-US" b="1" dirty="0"/>
          </a:p>
          <a:p>
            <a:pPr lvl="2">
              <a:defRPr/>
            </a:pPr>
            <a:r>
              <a:rPr lang="en-US" dirty="0">
                <a:solidFill>
                  <a:schemeClr val="tx1"/>
                </a:solidFill>
              </a:rPr>
              <a:t>This is a new type called </a:t>
            </a:r>
            <a:r>
              <a:rPr lang="en-US" b="1" dirty="0" err="1">
                <a:solidFill>
                  <a:schemeClr val="tx1"/>
                </a:solidFill>
                <a:latin typeface="Courier"/>
                <a:cs typeface="Courier"/>
              </a:rPr>
              <a:t>enum</a:t>
            </a:r>
            <a:r>
              <a:rPr lang="en-US" b="1" dirty="0">
                <a:solidFill>
                  <a:schemeClr val="tx1"/>
                </a:solidFill>
                <a:latin typeface="Courier"/>
                <a:cs typeface="Courier"/>
              </a:rPr>
              <a:t> day</a:t>
            </a:r>
          </a:p>
          <a:p>
            <a:pPr lvl="2">
              <a:defRPr/>
            </a:pPr>
            <a:r>
              <a:rPr lang="en-US" sz="2000" b="1" dirty="0" err="1">
                <a:solidFill>
                  <a:schemeClr val="tx1"/>
                </a:solidFill>
                <a:latin typeface="Courier"/>
                <a:cs typeface="Courier"/>
              </a:rPr>
              <a:t>enum</a:t>
            </a:r>
            <a:r>
              <a:rPr lang="en-US" sz="2000" b="1" dirty="0">
                <a:solidFill>
                  <a:schemeClr val="tx1"/>
                </a:solidFill>
                <a:latin typeface="Courier"/>
                <a:cs typeface="Courier"/>
              </a:rPr>
              <a:t> day today;</a:t>
            </a:r>
          </a:p>
          <a:p>
            <a:pPr lvl="2">
              <a:defRPr/>
            </a:pPr>
            <a:r>
              <a:rPr lang="en-US" sz="2000" b="1" dirty="0">
                <a:solidFill>
                  <a:schemeClr val="tx1"/>
                </a:solidFill>
                <a:latin typeface="Courier"/>
                <a:cs typeface="Courier"/>
              </a:rPr>
              <a:t>today=wen;</a:t>
            </a:r>
            <a:endParaRPr lang="en-US" sz="2000" b="1" dirty="0">
              <a:latin typeface="Courier"/>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200</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7083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201</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143508" y="914400"/>
            <a:ext cx="9000492" cy="5257800"/>
          </a:xfrm>
        </p:spPr>
        <p:txBody>
          <a:bodyPr/>
          <a:lstStyle/>
          <a:p>
            <a:r>
              <a:rPr lang="en-GB" dirty="0">
                <a:latin typeface="Arial" charset="0"/>
                <a:cs typeface="ＭＳ Ｐゴシック" charset="0"/>
              </a:rPr>
              <a:t>Syntax</a:t>
            </a:r>
          </a:p>
          <a:p>
            <a:pPr marL="542925" lvl="1" indent="0">
              <a:buNone/>
            </a:pPr>
            <a:r>
              <a:rPr lang="en-GB" b="1" dirty="0" err="1">
                <a:latin typeface="Courier"/>
                <a:cs typeface="Courier"/>
              </a:rPr>
              <a:t>struct</a:t>
            </a:r>
            <a:r>
              <a:rPr lang="en-GB" b="1" dirty="0">
                <a:latin typeface="Courier"/>
                <a:cs typeface="Courier"/>
              </a:rPr>
              <a:t> identifier { </a:t>
            </a:r>
          </a:p>
          <a:p>
            <a:pPr marL="542925" lvl="1" indent="0">
              <a:buNone/>
            </a:pPr>
            <a:r>
              <a:rPr lang="en-GB" b="1" dirty="0">
                <a:latin typeface="Courier"/>
                <a:cs typeface="Courier"/>
              </a:rPr>
              <a:t>	member definition; </a:t>
            </a:r>
          </a:p>
          <a:p>
            <a:pPr marL="542925" lvl="1" indent="0">
              <a:buNone/>
            </a:pPr>
            <a:r>
              <a:rPr lang="en-GB" b="1" dirty="0">
                <a:latin typeface="Courier"/>
                <a:cs typeface="Courier"/>
              </a:rPr>
              <a:t>	... </a:t>
            </a:r>
          </a:p>
          <a:p>
            <a:pPr marL="542925" lvl="1" indent="0">
              <a:buNone/>
            </a:pPr>
            <a:r>
              <a:rPr lang="en-GB" b="1" dirty="0">
                <a:latin typeface="Courier"/>
                <a:cs typeface="Courier"/>
              </a:rPr>
              <a:t>};</a:t>
            </a:r>
            <a:endParaRPr lang="en-GB" sz="1400" b="1" dirty="0">
              <a:latin typeface="Courier"/>
              <a:cs typeface="Courier"/>
            </a:endParaRPr>
          </a:p>
          <a:p>
            <a:r>
              <a:rPr lang="en-GB" dirty="0"/>
              <a:t>Function:</a:t>
            </a:r>
          </a:p>
          <a:p>
            <a:pPr lvl="1"/>
            <a:r>
              <a:rPr lang="en-GB" dirty="0"/>
              <a:t>A structure creates a </a:t>
            </a:r>
            <a:r>
              <a:rPr lang="en-GB" b="1" dirty="0"/>
              <a:t>data type</a:t>
            </a:r>
            <a:r>
              <a:rPr lang="en-GB" dirty="0"/>
              <a:t> that groups items of possibly different types into a single type. </a:t>
            </a:r>
          </a:p>
          <a:p>
            <a:pPr lvl="1"/>
            <a:r>
              <a:rPr lang="en-GB" dirty="0">
                <a:latin typeface="Arial" charset="0"/>
                <a:cs typeface="ＭＳ Ｐゴシック" charset="0"/>
              </a:rPr>
              <a:t>Declares a new structure type named </a:t>
            </a:r>
            <a:r>
              <a:rPr lang="en-GB" b="1" dirty="0" err="1">
                <a:latin typeface="Courier"/>
                <a:cs typeface="Courier"/>
              </a:rPr>
              <a:t>struct</a:t>
            </a:r>
            <a:r>
              <a:rPr lang="en-GB" b="1" dirty="0">
                <a:latin typeface="Courier"/>
                <a:cs typeface="Courier"/>
              </a:rPr>
              <a:t> identifier</a:t>
            </a:r>
            <a:endParaRPr lang="en-GB" dirty="0">
              <a:latin typeface="Arial" charset="0"/>
              <a:cs typeface="ＭＳ Ｐゴシック" charset="0"/>
            </a:endParaRPr>
          </a:p>
          <a:p>
            <a:pPr lvl="1"/>
            <a:r>
              <a:rPr lang="en-GB" dirty="0">
                <a:latin typeface="Arial" charset="0"/>
                <a:cs typeface="ＭＳ Ｐゴシック" charset="0"/>
              </a:rPr>
              <a:t>The members of the structure can be integral, float, arrays, pointers.</a:t>
            </a:r>
          </a:p>
          <a:p>
            <a:pPr>
              <a:defRPr/>
            </a:pPr>
            <a:r>
              <a:rPr lang="en-US" dirty="0">
                <a:cs typeface="Courier"/>
              </a:rPr>
              <a:t>Example:</a:t>
            </a:r>
          </a:p>
          <a:p>
            <a:pPr marL="542925" lvl="1" indent="0">
              <a:buNone/>
              <a:defRPr/>
            </a:pPr>
            <a:r>
              <a:rPr lang="en-US" b="1" dirty="0" err="1">
                <a:latin typeface="Courier"/>
                <a:cs typeface="Courier"/>
              </a:rPr>
              <a:t>struct</a:t>
            </a:r>
            <a:r>
              <a:rPr lang="en-US" b="1" dirty="0">
                <a:latin typeface="Courier"/>
                <a:cs typeface="Courier"/>
              </a:rPr>
              <a:t> address{</a:t>
            </a:r>
          </a:p>
          <a:p>
            <a:pPr marL="0" indent="0">
              <a:buNone/>
            </a:pPr>
            <a:r>
              <a:rPr lang="en-US" sz="2000" b="1" dirty="0">
                <a:latin typeface="Courier"/>
                <a:cs typeface="Courier"/>
              </a:rPr>
              <a:t>   	char street[100]; </a:t>
            </a:r>
          </a:p>
          <a:p>
            <a:pPr marL="0" indent="0">
              <a:buNone/>
            </a:pPr>
            <a:r>
              <a:rPr lang="en-US" sz="2000" b="1" dirty="0">
                <a:latin typeface="Courier"/>
                <a:cs typeface="Courier"/>
              </a:rPr>
              <a:t>   	</a:t>
            </a:r>
            <a:r>
              <a:rPr lang="en-US" sz="2000" b="1" dirty="0" err="1">
                <a:latin typeface="Courier"/>
                <a:cs typeface="Courier"/>
              </a:rPr>
              <a:t>int</a:t>
            </a:r>
            <a:r>
              <a:rPr lang="en-US" sz="2000" b="1" dirty="0">
                <a:latin typeface="Courier"/>
                <a:cs typeface="Courier"/>
              </a:rPr>
              <a:t> number;</a:t>
            </a:r>
          </a:p>
          <a:p>
            <a:pPr marL="0" indent="0">
              <a:buNone/>
            </a:pPr>
            <a:r>
              <a:rPr lang="en-US" sz="2000" b="1" dirty="0">
                <a:latin typeface="Courier"/>
                <a:cs typeface="Courier"/>
              </a:rPr>
              <a:t>   }; </a:t>
            </a: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type </a:t>
            </a:r>
            <a:r>
              <a:rPr lang="fr-FR" sz="2800" dirty="0" err="1">
                <a:solidFill>
                  <a:srgbClr val="800000"/>
                </a:solidFill>
                <a:latin typeface="Arial" charset="0"/>
                <a:cs typeface="ＭＳ Ｐゴシック" charset="0"/>
              </a:rPr>
              <a:t>declaration</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pSp>
        <p:nvGrpSpPr>
          <p:cNvPr id="7" name="Group 6"/>
          <p:cNvGrpSpPr/>
          <p:nvPr/>
        </p:nvGrpSpPr>
        <p:grpSpPr>
          <a:xfrm>
            <a:off x="4608004" y="1160748"/>
            <a:ext cx="4176464" cy="1800200"/>
            <a:chOff x="3360340" y="2636912"/>
            <a:chExt cx="4176464" cy="1800200"/>
          </a:xfrm>
        </p:grpSpPr>
        <p:sp>
          <p:nvSpPr>
            <p:cNvPr id="9" name="Rectangle 8"/>
            <p:cNvSpPr/>
            <p:nvPr/>
          </p:nvSpPr>
          <p:spPr bwMode="auto">
            <a:xfrm>
              <a:off x="3396344" y="2636912"/>
              <a:ext cx="4140460" cy="1800200"/>
            </a:xfrm>
            <a:prstGeom prst="rect">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0" name="TextBox 9"/>
            <p:cNvSpPr txBox="1"/>
            <p:nvPr/>
          </p:nvSpPr>
          <p:spPr>
            <a:xfrm>
              <a:off x="3360340" y="2744924"/>
              <a:ext cx="4140460" cy="1643527"/>
            </a:xfrm>
            <a:prstGeom prst="rect">
              <a:avLst/>
            </a:prstGeom>
            <a:noFill/>
          </p:spPr>
          <p:txBody>
            <a:bodyPr wrap="square" rtlCol="0">
              <a:spAutoFit/>
            </a:bodyPr>
            <a:lstStyle/>
            <a:p>
              <a:r>
                <a:rPr lang="en-US" sz="2400" b="1" dirty="0">
                  <a:solidFill>
                    <a:srgbClr val="FF0000"/>
                  </a:solidFill>
                </a:rPr>
                <a:t>NO space is reserved!</a:t>
              </a:r>
            </a:p>
            <a:p>
              <a:r>
                <a:rPr lang="en-US" sz="2400" b="1" dirty="0">
                  <a:solidFill>
                    <a:srgbClr val="FF0000"/>
                  </a:solidFill>
                </a:rPr>
                <a:t>It only creates a new type that describes the members of the group !</a:t>
              </a:r>
            </a:p>
          </p:txBody>
        </p:sp>
      </p:grpSp>
    </p:spTree>
    <p:extLst>
      <p:ext uri="{BB962C8B-B14F-4D97-AF65-F5344CB8AC3E}">
        <p14:creationId xmlns:p14="http://schemas.microsoft.com/office/powerpoint/2010/main" val="46239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2">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802">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802">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802">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202</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508" y="914400"/>
            <a:ext cx="9325036" cy="5257800"/>
          </a:xfrm>
        </p:spPr>
        <p:txBody>
          <a:bodyPr/>
          <a:lstStyle/>
          <a:p>
            <a:r>
              <a:rPr lang="en-GB" dirty="0">
                <a:cs typeface="Courier"/>
              </a:rPr>
              <a:t>The structure type </a:t>
            </a:r>
            <a:r>
              <a:rPr lang="en-GB" dirty="0">
                <a:solidFill>
                  <a:srgbClr val="FF0000"/>
                </a:solidFill>
                <a:cs typeface="Courier"/>
              </a:rPr>
              <a:t>declaration</a:t>
            </a:r>
            <a:r>
              <a:rPr lang="en-GB" dirty="0">
                <a:cs typeface="Courier"/>
              </a:rPr>
              <a:t> </a:t>
            </a:r>
            <a:r>
              <a:rPr lang="en-GB" dirty="0">
                <a:solidFill>
                  <a:srgbClr val="FF0000"/>
                </a:solidFill>
                <a:cs typeface="Courier"/>
              </a:rPr>
              <a:t>CANNOT</a:t>
            </a:r>
            <a:r>
              <a:rPr lang="en-GB" dirty="0">
                <a:cs typeface="Courier"/>
              </a:rPr>
              <a:t> be </a:t>
            </a:r>
            <a:r>
              <a:rPr lang="en-GB" dirty="0">
                <a:solidFill>
                  <a:srgbClr val="FF0000"/>
                </a:solidFill>
                <a:cs typeface="Courier"/>
              </a:rPr>
              <a:t>initialized</a:t>
            </a:r>
            <a:r>
              <a:rPr lang="en-GB" dirty="0">
                <a:cs typeface="Courier"/>
              </a:rPr>
              <a:t>!</a:t>
            </a:r>
          </a:p>
          <a:p>
            <a:endParaRPr lang="en-GB" dirty="0">
              <a:cs typeface="Courier"/>
            </a:endParaRPr>
          </a:p>
          <a:p>
            <a:r>
              <a:rPr lang="en-GB" dirty="0">
                <a:cs typeface="Courier"/>
              </a:rPr>
              <a:t>This is a new data type declaration, not a structure variable definition! </a:t>
            </a:r>
          </a:p>
          <a:p>
            <a:endParaRPr lang="en-GB" dirty="0">
              <a:cs typeface="Courier"/>
            </a:endParaRPr>
          </a:p>
          <a:p>
            <a:r>
              <a:rPr lang="en-GB" dirty="0">
                <a:cs typeface="Courier"/>
              </a:rPr>
              <a:t>Only when the structure variable is defined !</a:t>
            </a:r>
          </a:p>
          <a:p>
            <a:pPr lvl="1"/>
            <a:r>
              <a:rPr lang="en-GB" dirty="0">
                <a:cs typeface="Courier"/>
              </a:rPr>
              <a:t>The corresponding memory is reserved</a:t>
            </a:r>
          </a:p>
          <a:p>
            <a:pPr lvl="1"/>
            <a:r>
              <a:rPr lang="en-GB" dirty="0">
                <a:cs typeface="Courier"/>
              </a:rPr>
              <a:t>Now we can initialize the members of the structure</a:t>
            </a: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type </a:t>
            </a:r>
            <a:r>
              <a:rPr lang="fr-FR" sz="2800" dirty="0" err="1">
                <a:solidFill>
                  <a:srgbClr val="800000"/>
                </a:solidFill>
                <a:latin typeface="Arial" charset="0"/>
                <a:cs typeface="ＭＳ Ｐゴシック" charset="0"/>
              </a:rPr>
              <a:t>declaration</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2525796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203</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508" y="914400"/>
            <a:ext cx="9325036" cy="5257800"/>
          </a:xfrm>
        </p:spPr>
        <p:txBody>
          <a:bodyPr/>
          <a:lstStyle/>
          <a:p>
            <a:r>
              <a:rPr lang="en-GB" dirty="0">
                <a:cs typeface="Courier"/>
              </a:rPr>
              <a:t>Separately from the structure declaration:</a:t>
            </a:r>
          </a:p>
          <a:p>
            <a:pPr marL="0" indent="0">
              <a:buNone/>
            </a:pPr>
            <a:r>
              <a:rPr lang="en-GB" sz="2000" b="1" dirty="0" err="1">
                <a:latin typeface="Courier"/>
                <a:cs typeface="Courier"/>
              </a:rPr>
              <a:t>struct</a:t>
            </a:r>
            <a:r>
              <a:rPr lang="en-GB" sz="2000" b="1" dirty="0">
                <a:latin typeface="Courier"/>
                <a:cs typeface="Courier"/>
              </a:rPr>
              <a:t> address </a:t>
            </a:r>
            <a:r>
              <a:rPr lang="en-GB" sz="2000" b="1" dirty="0" err="1">
                <a:latin typeface="Courier"/>
                <a:cs typeface="Courier"/>
              </a:rPr>
              <a:t>MyAddress</a:t>
            </a:r>
            <a:r>
              <a:rPr lang="en-GB" sz="2000" b="1" dirty="0">
                <a:latin typeface="Courier"/>
                <a:cs typeface="Courier"/>
              </a:rPr>
              <a:t> = {“Paul Bert”, 12};</a:t>
            </a:r>
          </a:p>
          <a:p>
            <a:pPr marL="0" indent="0">
              <a:buNone/>
            </a:pPr>
            <a:endParaRPr lang="en-GB" b="1" dirty="0">
              <a:latin typeface="Courier"/>
              <a:cs typeface="Courier"/>
            </a:endParaRPr>
          </a:p>
          <a:p>
            <a:r>
              <a:rPr lang="en-US" dirty="0">
                <a:cs typeface="Courier"/>
              </a:rPr>
              <a:t>During structure declaration:</a:t>
            </a:r>
          </a:p>
          <a:p>
            <a:pPr marL="0" indent="0">
              <a:buNone/>
            </a:pPr>
            <a:r>
              <a:rPr lang="en-US" sz="2000" b="1" dirty="0" err="1">
                <a:latin typeface="Courier"/>
                <a:cs typeface="Courier"/>
              </a:rPr>
              <a:t>struct</a:t>
            </a:r>
            <a:r>
              <a:rPr lang="en-US" sz="2000" b="1" dirty="0">
                <a:latin typeface="Courier"/>
                <a:cs typeface="Courier"/>
              </a:rPr>
              <a:t> address{</a:t>
            </a:r>
          </a:p>
          <a:p>
            <a:pPr marL="0" indent="0">
              <a:buNone/>
            </a:pPr>
            <a:r>
              <a:rPr lang="en-US" sz="2000" b="1" dirty="0">
                <a:latin typeface="Courier"/>
                <a:cs typeface="Courier"/>
              </a:rPr>
              <a:t>   	char street[100]; </a:t>
            </a:r>
          </a:p>
          <a:p>
            <a:pPr marL="0" indent="0">
              <a:buNone/>
            </a:pPr>
            <a:r>
              <a:rPr lang="en-US" sz="2000" b="1" dirty="0">
                <a:latin typeface="Courier"/>
                <a:cs typeface="Courier"/>
              </a:rPr>
              <a:t>   	</a:t>
            </a:r>
            <a:r>
              <a:rPr lang="en-US" sz="2000" b="1" dirty="0" err="1">
                <a:latin typeface="Courier"/>
                <a:cs typeface="Courier"/>
              </a:rPr>
              <a:t>int</a:t>
            </a:r>
            <a:r>
              <a:rPr lang="en-US" sz="2000" b="1" dirty="0">
                <a:latin typeface="Courier"/>
                <a:cs typeface="Courier"/>
              </a:rPr>
              <a:t> number;</a:t>
            </a:r>
          </a:p>
          <a:p>
            <a:pPr marL="0" indent="0">
              <a:buNone/>
            </a:pPr>
            <a:r>
              <a:rPr lang="en-US" sz="2000" b="1" dirty="0">
                <a:latin typeface="Courier"/>
                <a:cs typeface="Courier"/>
              </a:rPr>
              <a:t>   } </a:t>
            </a:r>
            <a:r>
              <a:rPr lang="en-US" sz="2000" b="1" dirty="0" err="1">
                <a:latin typeface="Courier"/>
                <a:cs typeface="Courier"/>
              </a:rPr>
              <a:t>MyAddress</a:t>
            </a:r>
            <a:r>
              <a:rPr lang="en-US" sz="2000" b="1" dirty="0">
                <a:latin typeface="Courier"/>
                <a:cs typeface="Courier"/>
              </a:rPr>
              <a:t> = </a:t>
            </a:r>
            <a:r>
              <a:rPr lang="en-GB" sz="2000" b="1" dirty="0">
                <a:latin typeface="Courier"/>
                <a:cs typeface="Courier"/>
              </a:rPr>
              <a:t>{“Paul Bert”, 12}</a:t>
            </a:r>
            <a:r>
              <a:rPr lang="en-US" sz="2000" b="1" dirty="0">
                <a:latin typeface="Courier"/>
                <a:cs typeface="Courier"/>
              </a:rPr>
              <a:t>;</a:t>
            </a:r>
          </a:p>
          <a:p>
            <a:endParaRPr lang="en-GB" sz="1400" b="1" dirty="0">
              <a:latin typeface="Courier"/>
              <a:cs typeface="Courier"/>
            </a:endParaRP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variable </a:t>
            </a:r>
            <a:r>
              <a:rPr lang="fr-FR" sz="2800" dirty="0" err="1">
                <a:solidFill>
                  <a:srgbClr val="800000"/>
                </a:solidFill>
                <a:latin typeface="Arial" charset="0"/>
                <a:cs typeface="ＭＳ Ｐゴシック" charset="0"/>
              </a:rPr>
              <a:t>definition</a:t>
            </a:r>
            <a:r>
              <a:rPr lang="fr-FR" sz="2800" dirty="0">
                <a:solidFill>
                  <a:srgbClr val="800000"/>
                </a:solidFill>
                <a:latin typeface="Arial" charset="0"/>
                <a:cs typeface="ＭＳ Ｐゴシック" charset="0"/>
              </a:rPr>
              <a:t> &amp; initialisation</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pSp>
        <p:nvGrpSpPr>
          <p:cNvPr id="7" name="Group 6"/>
          <p:cNvGrpSpPr/>
          <p:nvPr/>
        </p:nvGrpSpPr>
        <p:grpSpPr>
          <a:xfrm>
            <a:off x="2519772" y="4365104"/>
            <a:ext cx="4176464" cy="1800200"/>
            <a:chOff x="3360340" y="2636912"/>
            <a:chExt cx="4176464" cy="1800200"/>
          </a:xfrm>
        </p:grpSpPr>
        <p:sp>
          <p:nvSpPr>
            <p:cNvPr id="9" name="Rectangle 8"/>
            <p:cNvSpPr/>
            <p:nvPr/>
          </p:nvSpPr>
          <p:spPr bwMode="auto">
            <a:xfrm>
              <a:off x="3396344" y="2636912"/>
              <a:ext cx="4140460" cy="1800200"/>
            </a:xfrm>
            <a:prstGeom prst="rect">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0" name="TextBox 9"/>
            <p:cNvSpPr txBox="1"/>
            <p:nvPr/>
          </p:nvSpPr>
          <p:spPr>
            <a:xfrm>
              <a:off x="3360340" y="2744924"/>
              <a:ext cx="4140460" cy="1643527"/>
            </a:xfrm>
            <a:prstGeom prst="rect">
              <a:avLst/>
            </a:prstGeom>
            <a:noFill/>
          </p:spPr>
          <p:txBody>
            <a:bodyPr wrap="square" rtlCol="0">
              <a:spAutoFit/>
            </a:bodyPr>
            <a:lstStyle/>
            <a:p>
              <a:r>
                <a:rPr lang="en-US" sz="2400" b="1" dirty="0">
                  <a:solidFill>
                    <a:srgbClr val="FF0000"/>
                  </a:solidFill>
                </a:rPr>
                <a:t>Space is reserved!</a:t>
              </a:r>
            </a:p>
            <a:p>
              <a:r>
                <a:rPr lang="en-US" sz="2400" b="1" dirty="0">
                  <a:solidFill>
                    <a:srgbClr val="FF0000"/>
                  </a:solidFill>
                </a:rPr>
                <a:t>Equal to the one required to store the structure members aligned </a:t>
              </a:r>
            </a:p>
          </p:txBody>
        </p:sp>
      </p:grpSp>
    </p:spTree>
    <p:extLst>
      <p:ext uri="{BB962C8B-B14F-4D97-AF65-F5344CB8AC3E}">
        <p14:creationId xmlns:p14="http://schemas.microsoft.com/office/powerpoint/2010/main" val="342044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204</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508" y="914400"/>
            <a:ext cx="9144508" cy="5257800"/>
          </a:xfrm>
        </p:spPr>
        <p:txBody>
          <a:bodyPr/>
          <a:lstStyle/>
          <a:p>
            <a:pPr marL="363538" lvl="1" indent="-363538">
              <a:buSzTx/>
              <a:buBlip>
                <a:blip r:embed="rId2"/>
              </a:buBlip>
            </a:pPr>
            <a:r>
              <a:rPr lang="en-US" sz="2400" dirty="0"/>
              <a:t>Architecture of a computer processor is made in such a way so it can read 1 word from memory at a time</a:t>
            </a:r>
          </a:p>
          <a:p>
            <a:pPr lvl="1"/>
            <a:r>
              <a:rPr lang="en-US" dirty="0"/>
              <a:t> e.g. 4 byte in 32 bit processor</a:t>
            </a:r>
          </a:p>
          <a:p>
            <a:pPr lvl="1"/>
            <a:endParaRPr lang="en-US" dirty="0"/>
          </a:p>
          <a:p>
            <a:r>
              <a:rPr lang="en-US" dirty="0"/>
              <a:t>To use this processor advantage, the data are aligned in memory in words</a:t>
            </a:r>
          </a:p>
          <a:p>
            <a:pPr lvl="1"/>
            <a:r>
              <a:rPr lang="en-US" dirty="0"/>
              <a:t>e.g. multiples of 4 bytes in 32-bit processor</a:t>
            </a:r>
          </a:p>
          <a:p>
            <a:pPr lvl="1"/>
            <a:endParaRPr lang="en-US" dirty="0"/>
          </a:p>
          <a:p>
            <a:r>
              <a:rPr lang="en-US" dirty="0"/>
              <a:t>One or more memory addresses may </a:t>
            </a:r>
            <a:r>
              <a:rPr lang="en-US" dirty="0">
                <a:solidFill>
                  <a:srgbClr val="FF0000"/>
                </a:solidFill>
              </a:rPr>
              <a:t>LEFT EMPTY </a:t>
            </a:r>
            <a:r>
              <a:rPr lang="en-US" dirty="0"/>
              <a:t>to achieve this alignment !</a:t>
            </a: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a:t>
            </a:r>
            <a:r>
              <a:rPr lang="fr-FR" sz="2800" dirty="0" err="1">
                <a:solidFill>
                  <a:srgbClr val="800000"/>
                </a:solidFill>
                <a:latin typeface="Arial" charset="0"/>
                <a:cs typeface="ＭＳ Ｐゴシック" charset="0"/>
              </a:rPr>
              <a:t>padding</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0741146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205</a:t>
            </a:fld>
            <a:endParaRPr lang="fr-FR" sz="1400">
              <a:solidFill>
                <a:srgbClr val="000208"/>
              </a:solidFill>
              <a:latin typeface="Times New Roman" charset="0"/>
            </a:endParaRP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a:t>
            </a:r>
            <a:r>
              <a:rPr lang="fr-FR" sz="2800" dirty="0" err="1">
                <a:solidFill>
                  <a:srgbClr val="800000"/>
                </a:solidFill>
                <a:latin typeface="Arial" charset="0"/>
                <a:cs typeface="ＭＳ Ｐゴシック" charset="0"/>
              </a:rPr>
              <a:t>padding</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Rectangle 1"/>
          <p:cNvSpPr/>
          <p:nvPr/>
        </p:nvSpPr>
        <p:spPr>
          <a:xfrm>
            <a:off x="287524" y="800708"/>
            <a:ext cx="3996444" cy="2985433"/>
          </a:xfrm>
          <a:prstGeom prst="rect">
            <a:avLst/>
          </a:prstGeom>
        </p:spPr>
        <p:txBody>
          <a:bodyPr wrap="square">
            <a:spAutoFit/>
          </a:bodyPr>
          <a:lstStyle/>
          <a:p>
            <a:pPr algn="l"/>
            <a:r>
              <a:rPr lang="en-US" sz="2000" b="1" dirty="0" err="1">
                <a:latin typeface="Courier"/>
                <a:cs typeface="Courier"/>
              </a:rPr>
              <a:t>struct</a:t>
            </a:r>
            <a:r>
              <a:rPr lang="en-US" sz="2000" b="1" dirty="0">
                <a:latin typeface="Courier"/>
                <a:cs typeface="Courier"/>
              </a:rPr>
              <a:t> structure1 </a:t>
            </a:r>
          </a:p>
          <a:p>
            <a:pPr algn="l"/>
            <a:r>
              <a:rPr lang="en-US" sz="2000" b="1" dirty="0">
                <a:latin typeface="Courier"/>
                <a:cs typeface="Courier"/>
              </a:rPr>
              <a:t>{</a:t>
            </a:r>
          </a:p>
          <a:p>
            <a:pPr algn="l"/>
            <a:r>
              <a:rPr lang="en-US" sz="2000" b="1" dirty="0">
                <a:latin typeface="Courier"/>
                <a:cs typeface="Courier"/>
              </a:rPr>
              <a:t>       </a:t>
            </a:r>
            <a:r>
              <a:rPr lang="en-US" sz="2000" b="1" dirty="0" err="1">
                <a:latin typeface="Courier"/>
                <a:cs typeface="Courier"/>
              </a:rPr>
              <a:t>int</a:t>
            </a:r>
            <a:r>
              <a:rPr lang="en-US" sz="2000" b="1" dirty="0">
                <a:latin typeface="Courier"/>
                <a:cs typeface="Courier"/>
              </a:rPr>
              <a:t> id1;</a:t>
            </a:r>
          </a:p>
          <a:p>
            <a:pPr algn="l"/>
            <a:r>
              <a:rPr lang="en-US" sz="2000" b="1" dirty="0">
                <a:latin typeface="Courier"/>
                <a:cs typeface="Courier"/>
              </a:rPr>
              <a:t>       </a:t>
            </a:r>
            <a:r>
              <a:rPr lang="en-US" sz="2000" b="1" dirty="0" err="1">
                <a:latin typeface="Courier"/>
                <a:cs typeface="Courier"/>
              </a:rPr>
              <a:t>int</a:t>
            </a:r>
            <a:r>
              <a:rPr lang="en-US" sz="2000" b="1" dirty="0">
                <a:latin typeface="Courier"/>
                <a:cs typeface="Courier"/>
              </a:rPr>
              <a:t> id2;</a:t>
            </a:r>
          </a:p>
          <a:p>
            <a:pPr algn="l"/>
            <a:r>
              <a:rPr lang="en-US" sz="2000" b="1" dirty="0">
                <a:latin typeface="Courier"/>
                <a:cs typeface="Courier"/>
              </a:rPr>
              <a:t>       char c1;</a:t>
            </a:r>
          </a:p>
          <a:p>
            <a:pPr algn="l"/>
            <a:r>
              <a:rPr lang="en-US" sz="2000" b="1" dirty="0">
                <a:latin typeface="Courier"/>
                <a:cs typeface="Courier"/>
              </a:rPr>
              <a:t>       char c2;</a:t>
            </a:r>
          </a:p>
          <a:p>
            <a:pPr algn="l"/>
            <a:r>
              <a:rPr lang="en-US" sz="2000" b="1" dirty="0">
                <a:latin typeface="Courier"/>
                <a:cs typeface="Courier"/>
              </a:rPr>
              <a:t>       float ratio;</a:t>
            </a:r>
          </a:p>
          <a:p>
            <a:pPr algn="l"/>
            <a:r>
              <a:rPr lang="en-US" sz="2000" b="1" dirty="0">
                <a:latin typeface="Courier"/>
                <a:cs typeface="Courier"/>
              </a:rPr>
              <a:t>};</a:t>
            </a:r>
          </a:p>
        </p:txBody>
      </p:sp>
      <p:sp>
        <p:nvSpPr>
          <p:cNvPr id="7" name="Rectangle 6"/>
          <p:cNvSpPr/>
          <p:nvPr/>
        </p:nvSpPr>
        <p:spPr>
          <a:xfrm>
            <a:off x="4896036" y="836712"/>
            <a:ext cx="3996444" cy="2985433"/>
          </a:xfrm>
          <a:prstGeom prst="rect">
            <a:avLst/>
          </a:prstGeom>
        </p:spPr>
        <p:txBody>
          <a:bodyPr wrap="square">
            <a:spAutoFit/>
          </a:bodyPr>
          <a:lstStyle/>
          <a:p>
            <a:pPr algn="l"/>
            <a:r>
              <a:rPr lang="en-US" sz="2000" b="1" dirty="0" err="1">
                <a:latin typeface="Courier"/>
                <a:cs typeface="Courier"/>
              </a:rPr>
              <a:t>struct</a:t>
            </a:r>
            <a:r>
              <a:rPr lang="en-US" sz="2000" b="1" dirty="0">
                <a:latin typeface="Courier"/>
                <a:cs typeface="Courier"/>
              </a:rPr>
              <a:t> structure1 </a:t>
            </a:r>
          </a:p>
          <a:p>
            <a:pPr algn="l"/>
            <a:r>
              <a:rPr lang="en-US" sz="2000" b="1" dirty="0">
                <a:latin typeface="Courier"/>
                <a:cs typeface="Courier"/>
              </a:rPr>
              <a:t>{</a:t>
            </a:r>
          </a:p>
          <a:p>
            <a:pPr algn="l"/>
            <a:r>
              <a:rPr lang="en-US" sz="2000" b="1" dirty="0">
                <a:latin typeface="Courier"/>
                <a:cs typeface="Courier"/>
              </a:rPr>
              <a:t>       </a:t>
            </a:r>
            <a:r>
              <a:rPr lang="en-US" sz="2000" b="1" dirty="0" err="1">
                <a:latin typeface="Courier"/>
                <a:cs typeface="Courier"/>
              </a:rPr>
              <a:t>int</a:t>
            </a:r>
            <a:r>
              <a:rPr lang="en-US" sz="2000" b="1" dirty="0">
                <a:latin typeface="Courier"/>
                <a:cs typeface="Courier"/>
              </a:rPr>
              <a:t> id1;</a:t>
            </a:r>
          </a:p>
          <a:p>
            <a:pPr algn="l"/>
            <a:r>
              <a:rPr lang="en-US" sz="2000" b="1" dirty="0">
                <a:latin typeface="Courier"/>
                <a:cs typeface="Courier"/>
              </a:rPr>
              <a:t>       char c1;</a:t>
            </a:r>
          </a:p>
          <a:p>
            <a:pPr algn="l"/>
            <a:r>
              <a:rPr lang="en-US" sz="2000" b="1" dirty="0">
                <a:latin typeface="Courier"/>
                <a:cs typeface="Courier"/>
              </a:rPr>
              <a:t>	 </a:t>
            </a:r>
            <a:r>
              <a:rPr lang="en-US" sz="2000" b="1" dirty="0" err="1">
                <a:latin typeface="Courier"/>
                <a:cs typeface="Courier"/>
              </a:rPr>
              <a:t>int</a:t>
            </a:r>
            <a:r>
              <a:rPr lang="en-US" sz="2000" b="1" dirty="0">
                <a:latin typeface="Courier"/>
                <a:cs typeface="Courier"/>
              </a:rPr>
              <a:t> id2;</a:t>
            </a:r>
          </a:p>
          <a:p>
            <a:pPr algn="l"/>
            <a:r>
              <a:rPr lang="en-US" sz="2000" b="1" dirty="0">
                <a:latin typeface="Courier"/>
                <a:cs typeface="Courier"/>
              </a:rPr>
              <a:t>       char c2;</a:t>
            </a:r>
          </a:p>
          <a:p>
            <a:pPr algn="l"/>
            <a:r>
              <a:rPr lang="en-US" sz="2000" b="1" dirty="0">
                <a:latin typeface="Courier"/>
                <a:cs typeface="Courier"/>
              </a:rPr>
              <a:t>       float ratio;</a:t>
            </a:r>
          </a:p>
          <a:p>
            <a:pPr algn="l"/>
            <a:r>
              <a:rPr lang="en-US" sz="2000" b="1" dirty="0">
                <a:latin typeface="Courier"/>
                <a:cs typeface="Courier"/>
              </a:rPr>
              <a:t>};</a:t>
            </a:r>
          </a:p>
        </p:txBody>
      </p:sp>
      <p:graphicFrame>
        <p:nvGraphicFramePr>
          <p:cNvPr id="9" name="Table 8"/>
          <p:cNvGraphicFramePr>
            <a:graphicFrameLocks noGrp="1"/>
          </p:cNvGraphicFramePr>
          <p:nvPr>
            <p:extLst>
              <p:ext uri="{D42A27DB-BD31-4B8C-83A1-F6EECF244321}">
                <p14:modId xmlns:p14="http://schemas.microsoft.com/office/powerpoint/2010/main" val="252819235"/>
              </p:ext>
            </p:extLst>
          </p:nvPr>
        </p:nvGraphicFramePr>
        <p:xfrm>
          <a:off x="1331640" y="3933056"/>
          <a:ext cx="1872208" cy="2340260"/>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noFill/>
                  </a:tcPr>
                </a:tc>
                <a:extLst>
                  <a:ext uri="{0D108BD9-81ED-4DB2-BD59-A6C34878D82A}">
                    <a16:rowId xmlns:a16="http://schemas.microsoft.com/office/drawing/2014/main" val="10000"/>
                  </a:ext>
                </a:extLst>
              </a:tr>
              <a:tr h="468052">
                <a:tc>
                  <a:txBody>
                    <a:bodyPr/>
                    <a:lstStyle/>
                    <a:p>
                      <a:endParaRPr lang="en-US" dirty="0"/>
                    </a:p>
                  </a:txBody>
                  <a:tcPr>
                    <a:noFill/>
                  </a:tcPr>
                </a:tc>
                <a:extLst>
                  <a:ext uri="{0D108BD9-81ED-4DB2-BD59-A6C34878D82A}">
                    <a16:rowId xmlns:a16="http://schemas.microsoft.com/office/drawing/2014/main" val="10001"/>
                  </a:ext>
                </a:extLst>
              </a:tr>
              <a:tr h="468052">
                <a:tc>
                  <a:txBody>
                    <a:bodyPr/>
                    <a:lstStyle/>
                    <a:p>
                      <a:endParaRPr lang="en-US" dirty="0"/>
                    </a:p>
                  </a:txBody>
                  <a:tcPr>
                    <a:noFill/>
                  </a:tcPr>
                </a:tc>
                <a:extLst>
                  <a:ext uri="{0D108BD9-81ED-4DB2-BD59-A6C34878D82A}">
                    <a16:rowId xmlns:a16="http://schemas.microsoft.com/office/drawing/2014/main" val="10002"/>
                  </a:ext>
                </a:extLst>
              </a:tr>
              <a:tr h="468052">
                <a:tc>
                  <a:txBody>
                    <a:bodyPr/>
                    <a:lstStyle/>
                    <a:p>
                      <a:endParaRPr lang="en-US" dirty="0"/>
                    </a:p>
                  </a:txBody>
                  <a:tcPr>
                    <a:noFill/>
                  </a:tcPr>
                </a:tc>
                <a:extLst>
                  <a:ext uri="{0D108BD9-81ED-4DB2-BD59-A6C34878D82A}">
                    <a16:rowId xmlns:a16="http://schemas.microsoft.com/office/drawing/2014/main" val="10003"/>
                  </a:ext>
                </a:extLst>
              </a:tr>
              <a:tr h="468052">
                <a:tc>
                  <a:txBody>
                    <a:bodyPr/>
                    <a:lstStyle/>
                    <a:p>
                      <a:endParaRPr lang="en-US" dirty="0"/>
                    </a:p>
                  </a:txBody>
                  <a:tcPr>
                    <a:noFill/>
                  </a:tcPr>
                </a:tc>
                <a:extLst>
                  <a:ext uri="{0D108BD9-81ED-4DB2-BD59-A6C34878D82A}">
                    <a16:rowId xmlns:a16="http://schemas.microsoft.com/office/drawing/2014/main" val="10004"/>
                  </a:ext>
                </a:extLst>
              </a:tr>
            </a:tbl>
          </a:graphicData>
        </a:graphic>
      </p:graphicFrame>
      <p:sp>
        <p:nvSpPr>
          <p:cNvPr id="10" name="TextBox 9"/>
          <p:cNvSpPr txBox="1"/>
          <p:nvPr/>
        </p:nvSpPr>
        <p:spPr>
          <a:xfrm>
            <a:off x="215516" y="3933056"/>
            <a:ext cx="1040519" cy="400110"/>
          </a:xfrm>
          <a:prstGeom prst="rect">
            <a:avLst/>
          </a:prstGeom>
          <a:noFill/>
        </p:spPr>
        <p:txBody>
          <a:bodyPr wrap="none" rtlCol="0">
            <a:spAutoFit/>
          </a:bodyPr>
          <a:lstStyle/>
          <a:p>
            <a:r>
              <a:rPr lang="en-US" sz="2000" b="1" dirty="0"/>
              <a:t>0x1000</a:t>
            </a:r>
          </a:p>
        </p:txBody>
      </p:sp>
      <p:sp>
        <p:nvSpPr>
          <p:cNvPr id="11" name="TextBox 10"/>
          <p:cNvSpPr txBox="1"/>
          <p:nvPr/>
        </p:nvSpPr>
        <p:spPr>
          <a:xfrm>
            <a:off x="213838" y="4361038"/>
            <a:ext cx="1043876" cy="400110"/>
          </a:xfrm>
          <a:prstGeom prst="rect">
            <a:avLst/>
          </a:prstGeom>
          <a:noFill/>
        </p:spPr>
        <p:txBody>
          <a:bodyPr wrap="none" rtlCol="0">
            <a:spAutoFit/>
          </a:bodyPr>
          <a:lstStyle/>
          <a:p>
            <a:r>
              <a:rPr lang="en-US" sz="2000" b="1" dirty="0"/>
              <a:t>0x1004</a:t>
            </a:r>
          </a:p>
        </p:txBody>
      </p:sp>
      <p:sp>
        <p:nvSpPr>
          <p:cNvPr id="12" name="TextBox 11"/>
          <p:cNvSpPr txBox="1"/>
          <p:nvPr/>
        </p:nvSpPr>
        <p:spPr>
          <a:xfrm>
            <a:off x="217434" y="4797152"/>
            <a:ext cx="1040519" cy="400110"/>
          </a:xfrm>
          <a:prstGeom prst="rect">
            <a:avLst/>
          </a:prstGeom>
          <a:noFill/>
        </p:spPr>
        <p:txBody>
          <a:bodyPr wrap="none" rtlCol="0">
            <a:spAutoFit/>
          </a:bodyPr>
          <a:lstStyle/>
          <a:p>
            <a:r>
              <a:rPr lang="en-US" sz="2000" b="1" dirty="0"/>
              <a:t>0x1008</a:t>
            </a:r>
          </a:p>
        </p:txBody>
      </p:sp>
      <p:sp>
        <p:nvSpPr>
          <p:cNvPr id="13" name="TextBox 12"/>
          <p:cNvSpPr txBox="1"/>
          <p:nvPr/>
        </p:nvSpPr>
        <p:spPr>
          <a:xfrm>
            <a:off x="194226" y="5301208"/>
            <a:ext cx="1083099" cy="400110"/>
          </a:xfrm>
          <a:prstGeom prst="rect">
            <a:avLst/>
          </a:prstGeom>
          <a:noFill/>
        </p:spPr>
        <p:txBody>
          <a:bodyPr wrap="none" rtlCol="0">
            <a:spAutoFit/>
          </a:bodyPr>
          <a:lstStyle/>
          <a:p>
            <a:r>
              <a:rPr lang="en-US" sz="2000" b="1" dirty="0"/>
              <a:t>0x100C</a:t>
            </a:r>
          </a:p>
        </p:txBody>
      </p:sp>
      <p:sp>
        <p:nvSpPr>
          <p:cNvPr id="14" name="TextBox 13"/>
          <p:cNvSpPr txBox="1"/>
          <p:nvPr/>
        </p:nvSpPr>
        <p:spPr>
          <a:xfrm>
            <a:off x="236806" y="5805264"/>
            <a:ext cx="1040519" cy="400110"/>
          </a:xfrm>
          <a:prstGeom prst="rect">
            <a:avLst/>
          </a:prstGeom>
          <a:noFill/>
        </p:spPr>
        <p:txBody>
          <a:bodyPr wrap="none" rtlCol="0">
            <a:spAutoFit/>
          </a:bodyPr>
          <a:lstStyle/>
          <a:p>
            <a:r>
              <a:rPr lang="en-US" sz="2000" b="1" dirty="0"/>
              <a:t>0x1010</a:t>
            </a:r>
          </a:p>
        </p:txBody>
      </p:sp>
      <p:sp>
        <p:nvSpPr>
          <p:cNvPr id="3" name="Rectangle 2"/>
          <p:cNvSpPr/>
          <p:nvPr/>
        </p:nvSpPr>
        <p:spPr>
          <a:xfrm>
            <a:off x="1367644" y="3969060"/>
            <a:ext cx="1800200" cy="400110"/>
          </a:xfrm>
          <a:prstGeom prst="rect">
            <a:avLst/>
          </a:prstGeom>
          <a:solidFill>
            <a:schemeClr val="accent5"/>
          </a:solidFill>
        </p:spPr>
        <p:txBody>
          <a:bodyPr wrap="square">
            <a:spAutoFit/>
          </a:bodyPr>
          <a:lstStyle/>
          <a:p>
            <a:r>
              <a:rPr lang="en-US" sz="2000" b="1" dirty="0">
                <a:latin typeface="Courier"/>
                <a:cs typeface="Courier"/>
              </a:rPr>
              <a:t>id1</a:t>
            </a:r>
          </a:p>
        </p:txBody>
      </p:sp>
      <p:sp>
        <p:nvSpPr>
          <p:cNvPr id="15" name="Rectangle 14"/>
          <p:cNvSpPr/>
          <p:nvPr/>
        </p:nvSpPr>
        <p:spPr>
          <a:xfrm>
            <a:off x="1367644" y="4401108"/>
            <a:ext cx="1800200" cy="400110"/>
          </a:xfrm>
          <a:prstGeom prst="rect">
            <a:avLst/>
          </a:prstGeom>
          <a:solidFill>
            <a:srgbClr val="ADB8FF"/>
          </a:solidFill>
        </p:spPr>
        <p:txBody>
          <a:bodyPr wrap="square">
            <a:spAutoFit/>
          </a:bodyPr>
          <a:lstStyle/>
          <a:p>
            <a:r>
              <a:rPr lang="en-US" sz="2000" b="1" dirty="0">
                <a:latin typeface="Courier"/>
                <a:cs typeface="Courier"/>
              </a:rPr>
              <a:t>id2</a:t>
            </a:r>
          </a:p>
        </p:txBody>
      </p:sp>
      <p:sp>
        <p:nvSpPr>
          <p:cNvPr id="17" name="Rectangle 16"/>
          <p:cNvSpPr/>
          <p:nvPr/>
        </p:nvSpPr>
        <p:spPr>
          <a:xfrm>
            <a:off x="1390030" y="4905164"/>
            <a:ext cx="447721" cy="400110"/>
          </a:xfrm>
          <a:prstGeom prst="rect">
            <a:avLst/>
          </a:prstGeom>
          <a:solidFill>
            <a:srgbClr val="CCFFCC"/>
          </a:solidFill>
        </p:spPr>
        <p:txBody>
          <a:bodyPr wrap="none">
            <a:spAutoFit/>
          </a:bodyPr>
          <a:lstStyle/>
          <a:p>
            <a:pPr algn="l"/>
            <a:r>
              <a:rPr lang="en-US" sz="2000" b="1" dirty="0">
                <a:latin typeface="Courier"/>
                <a:cs typeface="Courier"/>
              </a:rPr>
              <a:t>c1</a:t>
            </a:r>
          </a:p>
        </p:txBody>
      </p:sp>
      <p:sp>
        <p:nvSpPr>
          <p:cNvPr id="18" name="Rectangle 17"/>
          <p:cNvSpPr/>
          <p:nvPr/>
        </p:nvSpPr>
        <p:spPr>
          <a:xfrm>
            <a:off x="1894086" y="4905164"/>
            <a:ext cx="447721" cy="400110"/>
          </a:xfrm>
          <a:prstGeom prst="rect">
            <a:avLst/>
          </a:prstGeom>
          <a:solidFill>
            <a:srgbClr val="CCFFCC"/>
          </a:solidFill>
        </p:spPr>
        <p:txBody>
          <a:bodyPr wrap="none">
            <a:spAutoFit/>
          </a:bodyPr>
          <a:lstStyle/>
          <a:p>
            <a:pPr algn="l"/>
            <a:r>
              <a:rPr lang="en-US" sz="2000" b="1" dirty="0">
                <a:latin typeface="Courier"/>
                <a:cs typeface="Courier"/>
              </a:rPr>
              <a:t>c2</a:t>
            </a:r>
          </a:p>
        </p:txBody>
      </p:sp>
      <p:sp>
        <p:nvSpPr>
          <p:cNvPr id="19" name="Rectangle 18"/>
          <p:cNvSpPr/>
          <p:nvPr/>
        </p:nvSpPr>
        <p:spPr>
          <a:xfrm>
            <a:off x="1403648" y="5373216"/>
            <a:ext cx="1728192" cy="400110"/>
          </a:xfrm>
          <a:prstGeom prst="rect">
            <a:avLst/>
          </a:prstGeom>
          <a:solidFill>
            <a:srgbClr val="FFCC66"/>
          </a:solidFill>
        </p:spPr>
        <p:txBody>
          <a:bodyPr wrap="square">
            <a:spAutoFit/>
          </a:bodyPr>
          <a:lstStyle/>
          <a:p>
            <a:r>
              <a:rPr lang="en-US" sz="2000" b="1" dirty="0">
                <a:latin typeface="Courier"/>
                <a:cs typeface="Courier"/>
              </a:rPr>
              <a:t>ratio</a:t>
            </a:r>
          </a:p>
        </p:txBody>
      </p:sp>
      <p:graphicFrame>
        <p:nvGraphicFramePr>
          <p:cNvPr id="20" name="Table 19"/>
          <p:cNvGraphicFramePr>
            <a:graphicFrameLocks noGrp="1"/>
          </p:cNvGraphicFramePr>
          <p:nvPr>
            <p:extLst>
              <p:ext uri="{D42A27DB-BD31-4B8C-83A1-F6EECF244321}">
                <p14:modId xmlns:p14="http://schemas.microsoft.com/office/powerpoint/2010/main" val="2641999459"/>
              </p:ext>
            </p:extLst>
          </p:nvPr>
        </p:nvGraphicFramePr>
        <p:xfrm>
          <a:off x="6285478" y="3933056"/>
          <a:ext cx="1872208" cy="2340260"/>
        </p:xfrm>
        <a:graphic>
          <a:graphicData uri="http://schemas.openxmlformats.org/drawingml/2006/table">
            <a:tbl>
              <a:tblPr firstRow="1" bandRow="1">
                <a:tableStyleId>{17292A2E-F333-43FB-9621-5CBBE7FDCDCB}</a:tableStyleId>
              </a:tblPr>
              <a:tblGrid>
                <a:gridCol w="1872208">
                  <a:extLst>
                    <a:ext uri="{9D8B030D-6E8A-4147-A177-3AD203B41FA5}">
                      <a16:colId xmlns:a16="http://schemas.microsoft.com/office/drawing/2014/main" val="20000"/>
                    </a:ext>
                  </a:extLst>
                </a:gridCol>
              </a:tblGrid>
              <a:tr h="468052">
                <a:tc>
                  <a:txBody>
                    <a:bodyPr/>
                    <a:lstStyle/>
                    <a:p>
                      <a:endParaRPr lang="en-US" dirty="0"/>
                    </a:p>
                  </a:txBody>
                  <a:tcPr>
                    <a:noFill/>
                  </a:tcPr>
                </a:tc>
                <a:extLst>
                  <a:ext uri="{0D108BD9-81ED-4DB2-BD59-A6C34878D82A}">
                    <a16:rowId xmlns:a16="http://schemas.microsoft.com/office/drawing/2014/main" val="10000"/>
                  </a:ext>
                </a:extLst>
              </a:tr>
              <a:tr h="468052">
                <a:tc>
                  <a:txBody>
                    <a:bodyPr/>
                    <a:lstStyle/>
                    <a:p>
                      <a:endParaRPr lang="en-US" dirty="0"/>
                    </a:p>
                  </a:txBody>
                  <a:tcPr>
                    <a:noFill/>
                  </a:tcPr>
                </a:tc>
                <a:extLst>
                  <a:ext uri="{0D108BD9-81ED-4DB2-BD59-A6C34878D82A}">
                    <a16:rowId xmlns:a16="http://schemas.microsoft.com/office/drawing/2014/main" val="10001"/>
                  </a:ext>
                </a:extLst>
              </a:tr>
              <a:tr h="468052">
                <a:tc>
                  <a:txBody>
                    <a:bodyPr/>
                    <a:lstStyle/>
                    <a:p>
                      <a:endParaRPr lang="en-US" dirty="0"/>
                    </a:p>
                  </a:txBody>
                  <a:tcPr>
                    <a:noFill/>
                  </a:tcPr>
                </a:tc>
                <a:extLst>
                  <a:ext uri="{0D108BD9-81ED-4DB2-BD59-A6C34878D82A}">
                    <a16:rowId xmlns:a16="http://schemas.microsoft.com/office/drawing/2014/main" val="10002"/>
                  </a:ext>
                </a:extLst>
              </a:tr>
              <a:tr h="468052">
                <a:tc>
                  <a:txBody>
                    <a:bodyPr/>
                    <a:lstStyle/>
                    <a:p>
                      <a:endParaRPr lang="en-US" dirty="0"/>
                    </a:p>
                  </a:txBody>
                  <a:tcPr>
                    <a:noFill/>
                  </a:tcPr>
                </a:tc>
                <a:extLst>
                  <a:ext uri="{0D108BD9-81ED-4DB2-BD59-A6C34878D82A}">
                    <a16:rowId xmlns:a16="http://schemas.microsoft.com/office/drawing/2014/main" val="10003"/>
                  </a:ext>
                </a:extLst>
              </a:tr>
              <a:tr h="468052">
                <a:tc>
                  <a:txBody>
                    <a:bodyPr/>
                    <a:lstStyle/>
                    <a:p>
                      <a:endParaRPr lang="en-US" dirty="0"/>
                    </a:p>
                  </a:txBody>
                  <a:tcPr>
                    <a:no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5169354" y="3933056"/>
            <a:ext cx="1040519" cy="400110"/>
          </a:xfrm>
          <a:prstGeom prst="rect">
            <a:avLst/>
          </a:prstGeom>
          <a:noFill/>
        </p:spPr>
        <p:txBody>
          <a:bodyPr wrap="none" rtlCol="0">
            <a:spAutoFit/>
          </a:bodyPr>
          <a:lstStyle/>
          <a:p>
            <a:r>
              <a:rPr lang="en-US" sz="2000" b="1" dirty="0"/>
              <a:t>0x1000</a:t>
            </a:r>
          </a:p>
        </p:txBody>
      </p:sp>
      <p:sp>
        <p:nvSpPr>
          <p:cNvPr id="22" name="TextBox 21"/>
          <p:cNvSpPr txBox="1"/>
          <p:nvPr/>
        </p:nvSpPr>
        <p:spPr>
          <a:xfrm>
            <a:off x="5167676" y="4361038"/>
            <a:ext cx="1043876" cy="400110"/>
          </a:xfrm>
          <a:prstGeom prst="rect">
            <a:avLst/>
          </a:prstGeom>
          <a:noFill/>
        </p:spPr>
        <p:txBody>
          <a:bodyPr wrap="none" rtlCol="0">
            <a:spAutoFit/>
          </a:bodyPr>
          <a:lstStyle/>
          <a:p>
            <a:r>
              <a:rPr lang="en-US" sz="2000" b="1" dirty="0"/>
              <a:t>0x1004</a:t>
            </a:r>
          </a:p>
        </p:txBody>
      </p:sp>
      <p:sp>
        <p:nvSpPr>
          <p:cNvPr id="23" name="TextBox 22"/>
          <p:cNvSpPr txBox="1"/>
          <p:nvPr/>
        </p:nvSpPr>
        <p:spPr>
          <a:xfrm>
            <a:off x="5171272" y="4797152"/>
            <a:ext cx="1040519" cy="400110"/>
          </a:xfrm>
          <a:prstGeom prst="rect">
            <a:avLst/>
          </a:prstGeom>
          <a:noFill/>
        </p:spPr>
        <p:txBody>
          <a:bodyPr wrap="none" rtlCol="0">
            <a:spAutoFit/>
          </a:bodyPr>
          <a:lstStyle/>
          <a:p>
            <a:r>
              <a:rPr lang="en-US" sz="2000" b="1" dirty="0"/>
              <a:t>0x1008</a:t>
            </a:r>
          </a:p>
        </p:txBody>
      </p:sp>
      <p:sp>
        <p:nvSpPr>
          <p:cNvPr id="24" name="TextBox 23"/>
          <p:cNvSpPr txBox="1"/>
          <p:nvPr/>
        </p:nvSpPr>
        <p:spPr>
          <a:xfrm>
            <a:off x="5148064" y="5301208"/>
            <a:ext cx="1083099" cy="400110"/>
          </a:xfrm>
          <a:prstGeom prst="rect">
            <a:avLst/>
          </a:prstGeom>
          <a:noFill/>
        </p:spPr>
        <p:txBody>
          <a:bodyPr wrap="none" rtlCol="0">
            <a:spAutoFit/>
          </a:bodyPr>
          <a:lstStyle/>
          <a:p>
            <a:r>
              <a:rPr lang="en-US" sz="2000" b="1" dirty="0"/>
              <a:t>0x100C</a:t>
            </a:r>
          </a:p>
        </p:txBody>
      </p:sp>
      <p:sp>
        <p:nvSpPr>
          <p:cNvPr id="25" name="TextBox 24"/>
          <p:cNvSpPr txBox="1"/>
          <p:nvPr/>
        </p:nvSpPr>
        <p:spPr>
          <a:xfrm>
            <a:off x="5190644" y="5805264"/>
            <a:ext cx="1040519" cy="400110"/>
          </a:xfrm>
          <a:prstGeom prst="rect">
            <a:avLst/>
          </a:prstGeom>
          <a:noFill/>
        </p:spPr>
        <p:txBody>
          <a:bodyPr wrap="none" rtlCol="0">
            <a:spAutoFit/>
          </a:bodyPr>
          <a:lstStyle/>
          <a:p>
            <a:r>
              <a:rPr lang="en-US" sz="2000" b="1" dirty="0"/>
              <a:t>0x1010</a:t>
            </a:r>
          </a:p>
        </p:txBody>
      </p:sp>
      <p:sp>
        <p:nvSpPr>
          <p:cNvPr id="31" name="Rectangle 30"/>
          <p:cNvSpPr/>
          <p:nvPr/>
        </p:nvSpPr>
        <p:spPr>
          <a:xfrm>
            <a:off x="3167844" y="4365104"/>
            <a:ext cx="1011590" cy="400110"/>
          </a:xfrm>
          <a:prstGeom prst="rect">
            <a:avLst/>
          </a:prstGeom>
        </p:spPr>
        <p:txBody>
          <a:bodyPr wrap="none">
            <a:spAutoFit/>
          </a:bodyPr>
          <a:lstStyle/>
          <a:p>
            <a:pPr algn="l"/>
            <a:r>
              <a:rPr lang="en-US" sz="2000" dirty="0">
                <a:cs typeface="Courier"/>
              </a:rPr>
              <a:t>4 bytes</a:t>
            </a:r>
          </a:p>
        </p:txBody>
      </p:sp>
      <p:sp>
        <p:nvSpPr>
          <p:cNvPr id="32" name="Rectangle 31"/>
          <p:cNvSpPr/>
          <p:nvPr/>
        </p:nvSpPr>
        <p:spPr>
          <a:xfrm>
            <a:off x="3167844" y="3933056"/>
            <a:ext cx="1011590" cy="400110"/>
          </a:xfrm>
          <a:prstGeom prst="rect">
            <a:avLst/>
          </a:prstGeom>
        </p:spPr>
        <p:txBody>
          <a:bodyPr wrap="none">
            <a:spAutoFit/>
          </a:bodyPr>
          <a:lstStyle/>
          <a:p>
            <a:pPr algn="l"/>
            <a:r>
              <a:rPr lang="en-US" sz="2000" dirty="0">
                <a:cs typeface="Courier"/>
              </a:rPr>
              <a:t>4 bytes</a:t>
            </a:r>
          </a:p>
        </p:txBody>
      </p:sp>
      <p:sp>
        <p:nvSpPr>
          <p:cNvPr id="33" name="Rectangle 32"/>
          <p:cNvSpPr/>
          <p:nvPr/>
        </p:nvSpPr>
        <p:spPr>
          <a:xfrm>
            <a:off x="3167844" y="4869160"/>
            <a:ext cx="883350" cy="400110"/>
          </a:xfrm>
          <a:prstGeom prst="rect">
            <a:avLst/>
          </a:prstGeom>
        </p:spPr>
        <p:txBody>
          <a:bodyPr wrap="none">
            <a:spAutoFit/>
          </a:bodyPr>
          <a:lstStyle/>
          <a:p>
            <a:pPr algn="l"/>
            <a:r>
              <a:rPr lang="en-US" sz="2000" dirty="0">
                <a:cs typeface="Courier"/>
              </a:rPr>
              <a:t>1 byte</a:t>
            </a:r>
          </a:p>
        </p:txBody>
      </p:sp>
      <p:sp>
        <p:nvSpPr>
          <p:cNvPr id="34" name="Rectangle 33"/>
          <p:cNvSpPr/>
          <p:nvPr/>
        </p:nvSpPr>
        <p:spPr>
          <a:xfrm>
            <a:off x="3995936" y="4869160"/>
            <a:ext cx="883350" cy="400110"/>
          </a:xfrm>
          <a:prstGeom prst="rect">
            <a:avLst/>
          </a:prstGeom>
        </p:spPr>
        <p:txBody>
          <a:bodyPr wrap="none">
            <a:spAutoFit/>
          </a:bodyPr>
          <a:lstStyle/>
          <a:p>
            <a:pPr algn="l"/>
            <a:r>
              <a:rPr lang="en-US" sz="2000" dirty="0">
                <a:cs typeface="Courier"/>
              </a:rPr>
              <a:t>1 byte</a:t>
            </a:r>
          </a:p>
        </p:txBody>
      </p:sp>
      <p:sp>
        <p:nvSpPr>
          <p:cNvPr id="35" name="Rectangle 34"/>
          <p:cNvSpPr/>
          <p:nvPr/>
        </p:nvSpPr>
        <p:spPr>
          <a:xfrm>
            <a:off x="3167844" y="5337212"/>
            <a:ext cx="1011590" cy="400110"/>
          </a:xfrm>
          <a:prstGeom prst="rect">
            <a:avLst/>
          </a:prstGeom>
        </p:spPr>
        <p:txBody>
          <a:bodyPr wrap="none">
            <a:spAutoFit/>
          </a:bodyPr>
          <a:lstStyle/>
          <a:p>
            <a:pPr algn="l"/>
            <a:r>
              <a:rPr lang="en-US" sz="2000" dirty="0">
                <a:cs typeface="Courier"/>
              </a:rPr>
              <a:t>4 bytes</a:t>
            </a:r>
          </a:p>
        </p:txBody>
      </p:sp>
      <p:sp>
        <p:nvSpPr>
          <p:cNvPr id="36" name="Rectangle 35"/>
          <p:cNvSpPr/>
          <p:nvPr/>
        </p:nvSpPr>
        <p:spPr>
          <a:xfrm>
            <a:off x="2411760" y="4905164"/>
            <a:ext cx="756084" cy="400110"/>
          </a:xfrm>
          <a:prstGeom prst="rect">
            <a:avLst/>
          </a:prstGeom>
          <a:solidFill>
            <a:srgbClr val="FFCC66"/>
          </a:solidFill>
        </p:spPr>
        <p:txBody>
          <a:bodyPr wrap="square">
            <a:spAutoFit/>
          </a:bodyPr>
          <a:lstStyle/>
          <a:p>
            <a:r>
              <a:rPr lang="en-US" sz="2000" b="1" dirty="0">
                <a:latin typeface="Courier"/>
                <a:cs typeface="Courier"/>
              </a:rPr>
              <a:t>rat</a:t>
            </a:r>
          </a:p>
        </p:txBody>
      </p:sp>
      <p:sp>
        <p:nvSpPr>
          <p:cNvPr id="37" name="Rectangle 36"/>
          <p:cNvSpPr/>
          <p:nvPr/>
        </p:nvSpPr>
        <p:spPr>
          <a:xfrm>
            <a:off x="1367644" y="5369150"/>
            <a:ext cx="756084" cy="400110"/>
          </a:xfrm>
          <a:prstGeom prst="rect">
            <a:avLst/>
          </a:prstGeom>
          <a:solidFill>
            <a:srgbClr val="FFCC66"/>
          </a:solidFill>
        </p:spPr>
        <p:txBody>
          <a:bodyPr wrap="square">
            <a:spAutoFit/>
          </a:bodyPr>
          <a:lstStyle/>
          <a:p>
            <a:r>
              <a:rPr lang="en-US" sz="2000" b="1" dirty="0" err="1">
                <a:latin typeface="Courier"/>
                <a:cs typeface="Courier"/>
              </a:rPr>
              <a:t>io</a:t>
            </a:r>
            <a:endParaRPr lang="en-US" sz="2000" b="1" dirty="0">
              <a:latin typeface="Courier"/>
              <a:cs typeface="Courier"/>
            </a:endParaRPr>
          </a:p>
        </p:txBody>
      </p:sp>
      <p:grpSp>
        <p:nvGrpSpPr>
          <p:cNvPr id="43" name="Group 42"/>
          <p:cNvGrpSpPr/>
          <p:nvPr/>
        </p:nvGrpSpPr>
        <p:grpSpPr>
          <a:xfrm>
            <a:off x="2375756" y="4905164"/>
            <a:ext cx="828092" cy="396044"/>
            <a:chOff x="2375756" y="4905164"/>
            <a:chExt cx="828092" cy="396044"/>
          </a:xfrm>
        </p:grpSpPr>
        <p:cxnSp>
          <p:nvCxnSpPr>
            <p:cNvPr id="5" name="Straight Connector 4"/>
            <p:cNvCxnSpPr/>
            <p:nvPr/>
          </p:nvCxnSpPr>
          <p:spPr bwMode="auto">
            <a:xfrm>
              <a:off x="2375756" y="4905164"/>
              <a:ext cx="828092" cy="396044"/>
            </a:xfrm>
            <a:prstGeom prst="line">
              <a:avLst/>
            </a:prstGeom>
            <a:noFill/>
            <a:ln w="381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2" name="Straight Connector 41"/>
            <p:cNvCxnSpPr/>
            <p:nvPr/>
          </p:nvCxnSpPr>
          <p:spPr bwMode="auto">
            <a:xfrm flipV="1">
              <a:off x="2375756" y="4905164"/>
              <a:ext cx="828092" cy="396044"/>
            </a:xfrm>
            <a:prstGeom prst="line">
              <a:avLst/>
            </a:prstGeom>
            <a:noFill/>
            <a:ln w="381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6" name="Rectangle 45"/>
          <p:cNvSpPr/>
          <p:nvPr/>
        </p:nvSpPr>
        <p:spPr>
          <a:xfrm>
            <a:off x="6300192" y="3964994"/>
            <a:ext cx="1800200" cy="400110"/>
          </a:xfrm>
          <a:prstGeom prst="rect">
            <a:avLst/>
          </a:prstGeom>
          <a:solidFill>
            <a:schemeClr val="accent5"/>
          </a:solidFill>
        </p:spPr>
        <p:txBody>
          <a:bodyPr wrap="square">
            <a:spAutoFit/>
          </a:bodyPr>
          <a:lstStyle/>
          <a:p>
            <a:r>
              <a:rPr lang="en-US" sz="2000" b="1" dirty="0">
                <a:latin typeface="Courier"/>
                <a:cs typeface="Courier"/>
              </a:rPr>
              <a:t>id1</a:t>
            </a:r>
          </a:p>
        </p:txBody>
      </p:sp>
      <p:sp>
        <p:nvSpPr>
          <p:cNvPr id="47" name="Rectangle 46"/>
          <p:cNvSpPr/>
          <p:nvPr/>
        </p:nvSpPr>
        <p:spPr>
          <a:xfrm>
            <a:off x="6300192" y="4869160"/>
            <a:ext cx="1800200" cy="400110"/>
          </a:xfrm>
          <a:prstGeom prst="rect">
            <a:avLst/>
          </a:prstGeom>
          <a:solidFill>
            <a:srgbClr val="ADB8FF"/>
          </a:solidFill>
        </p:spPr>
        <p:txBody>
          <a:bodyPr wrap="square">
            <a:spAutoFit/>
          </a:bodyPr>
          <a:lstStyle/>
          <a:p>
            <a:r>
              <a:rPr lang="en-US" sz="2000" b="1" dirty="0">
                <a:latin typeface="Courier"/>
                <a:cs typeface="Courier"/>
              </a:rPr>
              <a:t>id2</a:t>
            </a:r>
          </a:p>
        </p:txBody>
      </p:sp>
      <p:sp>
        <p:nvSpPr>
          <p:cNvPr id="48" name="Rectangle 47"/>
          <p:cNvSpPr/>
          <p:nvPr/>
        </p:nvSpPr>
        <p:spPr>
          <a:xfrm>
            <a:off x="6300192" y="4401108"/>
            <a:ext cx="447721" cy="400110"/>
          </a:xfrm>
          <a:prstGeom prst="rect">
            <a:avLst/>
          </a:prstGeom>
          <a:solidFill>
            <a:srgbClr val="CCFFCC"/>
          </a:solidFill>
        </p:spPr>
        <p:txBody>
          <a:bodyPr wrap="none">
            <a:spAutoFit/>
          </a:bodyPr>
          <a:lstStyle/>
          <a:p>
            <a:pPr algn="l"/>
            <a:r>
              <a:rPr lang="en-US" sz="2000" b="1" dirty="0">
                <a:latin typeface="Courier"/>
                <a:cs typeface="Courier"/>
              </a:rPr>
              <a:t>c1</a:t>
            </a:r>
          </a:p>
        </p:txBody>
      </p:sp>
      <p:sp>
        <p:nvSpPr>
          <p:cNvPr id="49" name="Rectangle 48"/>
          <p:cNvSpPr/>
          <p:nvPr/>
        </p:nvSpPr>
        <p:spPr>
          <a:xfrm>
            <a:off x="6300192" y="5337212"/>
            <a:ext cx="447721" cy="400110"/>
          </a:xfrm>
          <a:prstGeom prst="rect">
            <a:avLst/>
          </a:prstGeom>
          <a:solidFill>
            <a:srgbClr val="CCFFCC"/>
          </a:solidFill>
        </p:spPr>
        <p:txBody>
          <a:bodyPr wrap="none">
            <a:spAutoFit/>
          </a:bodyPr>
          <a:lstStyle/>
          <a:p>
            <a:pPr algn="l"/>
            <a:r>
              <a:rPr lang="en-US" sz="2000" b="1" dirty="0">
                <a:latin typeface="Courier"/>
                <a:cs typeface="Courier"/>
              </a:rPr>
              <a:t>c2</a:t>
            </a:r>
          </a:p>
        </p:txBody>
      </p:sp>
      <p:sp>
        <p:nvSpPr>
          <p:cNvPr id="50" name="Rectangle 49"/>
          <p:cNvSpPr/>
          <p:nvPr/>
        </p:nvSpPr>
        <p:spPr>
          <a:xfrm>
            <a:off x="6336196" y="5805264"/>
            <a:ext cx="1728192" cy="400110"/>
          </a:xfrm>
          <a:prstGeom prst="rect">
            <a:avLst/>
          </a:prstGeom>
          <a:solidFill>
            <a:srgbClr val="FFCC66"/>
          </a:solidFill>
        </p:spPr>
        <p:txBody>
          <a:bodyPr wrap="square">
            <a:spAutoFit/>
          </a:bodyPr>
          <a:lstStyle/>
          <a:p>
            <a:r>
              <a:rPr lang="en-US" sz="2000" b="1" dirty="0">
                <a:latin typeface="Courier"/>
                <a:cs typeface="Courier"/>
              </a:rPr>
              <a:t>ratio</a:t>
            </a:r>
          </a:p>
        </p:txBody>
      </p:sp>
    </p:spTree>
    <p:extLst>
      <p:ext uri="{BB962C8B-B14F-4D97-AF65-F5344CB8AC3E}">
        <p14:creationId xmlns:p14="http://schemas.microsoft.com/office/powerpoint/2010/main" val="320527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3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3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animBg="1"/>
      <p:bldP spid="15" grpId="0" animBg="1"/>
      <p:bldP spid="17" grpId="0" animBg="1"/>
      <p:bldP spid="18" grpId="0" animBg="1"/>
      <p:bldP spid="19" grpId="0" animBg="1"/>
      <p:bldP spid="31" grpId="0"/>
      <p:bldP spid="32" grpId="0"/>
      <p:bldP spid="33" grpId="0"/>
      <p:bldP spid="34" grpId="0"/>
      <p:bldP spid="35" grpId="0"/>
      <p:bldP spid="36" grpId="0" animBg="1"/>
      <p:bldP spid="36" grpId="1" animBg="1"/>
      <p:bldP spid="37" grpId="0" animBg="1"/>
      <p:bldP spid="37" grpId="1" animBg="1"/>
      <p:bldP spid="46" grpId="0" animBg="1"/>
      <p:bldP spid="47" grpId="0" animBg="1"/>
      <p:bldP spid="48" grpId="0" animBg="1"/>
      <p:bldP spid="49" grpId="0" animBg="1"/>
      <p:bldP spid="50"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206</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9532" y="2456892"/>
            <a:ext cx="8261350" cy="5257800"/>
          </a:xfrm>
        </p:spPr>
        <p:txBody>
          <a:bodyPr/>
          <a:lstStyle/>
          <a:p>
            <a:r>
              <a:rPr lang="en-GB" dirty="0">
                <a:latin typeface="Arial" charset="0"/>
                <a:cs typeface="ＭＳ Ｐゴシック" charset="0"/>
              </a:rPr>
              <a:t>Through a </a:t>
            </a:r>
            <a:r>
              <a:rPr lang="en-GB" dirty="0">
                <a:solidFill>
                  <a:srgbClr val="FF0000"/>
                </a:solidFill>
                <a:latin typeface="Arial" charset="0"/>
                <a:cs typeface="ＭＳ Ｐゴシック" charset="0"/>
              </a:rPr>
              <a:t>structure variable</a:t>
            </a:r>
            <a:r>
              <a:rPr lang="en-GB" dirty="0">
                <a:latin typeface="Arial" charset="0"/>
                <a:cs typeface="ＭＳ Ｐゴシック" charset="0"/>
              </a:rPr>
              <a:t>: </a:t>
            </a:r>
            <a:r>
              <a:rPr lang="en-GB" b="1" dirty="0">
                <a:solidFill>
                  <a:srgbClr val="FF0000"/>
                </a:solidFill>
                <a:latin typeface="Arial" charset="0"/>
                <a:cs typeface="ＭＳ Ｐゴシック" charset="0"/>
              </a:rPr>
              <a:t>.</a:t>
            </a:r>
          </a:p>
          <a:p>
            <a:pPr marL="542925" lvl="1" indent="0">
              <a:buNone/>
            </a:pPr>
            <a:r>
              <a:rPr lang="en-GB" b="1" dirty="0" err="1">
                <a:latin typeface="Courier"/>
                <a:cs typeface="Courier"/>
              </a:rPr>
              <a:t>struct</a:t>
            </a:r>
            <a:r>
              <a:rPr lang="en-GB" b="1" dirty="0">
                <a:latin typeface="Courier"/>
                <a:cs typeface="Courier"/>
              </a:rPr>
              <a:t> address </a:t>
            </a:r>
            <a:r>
              <a:rPr lang="en-GB" b="1" dirty="0" err="1">
                <a:latin typeface="Courier"/>
                <a:cs typeface="Courier"/>
              </a:rPr>
              <a:t>MyAddress</a:t>
            </a:r>
            <a:r>
              <a:rPr lang="en-GB" b="1" dirty="0">
                <a:latin typeface="Courier"/>
                <a:cs typeface="Courier"/>
              </a:rPr>
              <a:t>;</a:t>
            </a:r>
          </a:p>
          <a:p>
            <a:pPr marL="542925" lvl="1" indent="0">
              <a:buNone/>
            </a:pPr>
            <a:r>
              <a:rPr lang="en-GB" b="1" dirty="0" err="1">
                <a:latin typeface="Courier"/>
                <a:cs typeface="Courier"/>
              </a:rPr>
              <a:t>strcpy</a:t>
            </a:r>
            <a:r>
              <a:rPr lang="en-GB" b="1" dirty="0">
                <a:latin typeface="Courier"/>
                <a:cs typeface="Courier"/>
              </a:rPr>
              <a:t>(</a:t>
            </a:r>
            <a:r>
              <a:rPr lang="en-GB" b="1" dirty="0" err="1">
                <a:latin typeface="Courier"/>
                <a:cs typeface="Courier"/>
              </a:rPr>
              <a:t>MyAddress.street</a:t>
            </a:r>
            <a:r>
              <a:rPr lang="en-GB" b="1" dirty="0">
                <a:latin typeface="Courier"/>
                <a:cs typeface="Courier"/>
              </a:rPr>
              <a:t>, “Paul Bert”);</a:t>
            </a:r>
          </a:p>
          <a:p>
            <a:pPr marL="542925" lvl="1" indent="0">
              <a:buNone/>
            </a:pPr>
            <a:r>
              <a:rPr lang="en-GB" b="1" dirty="0" err="1">
                <a:latin typeface="Courier"/>
                <a:cs typeface="Courier"/>
              </a:rPr>
              <a:t>MyAddress.number</a:t>
            </a:r>
            <a:r>
              <a:rPr lang="en-GB" b="1" dirty="0">
                <a:latin typeface="Courier"/>
                <a:cs typeface="Courier"/>
              </a:rPr>
              <a:t>=12;</a:t>
            </a:r>
          </a:p>
          <a:p>
            <a:pPr marL="542925" lvl="1" indent="0">
              <a:buNone/>
            </a:pPr>
            <a:endParaRPr lang="en-GB" sz="1400" b="1" dirty="0">
              <a:latin typeface="Courier"/>
              <a:cs typeface="Courier"/>
            </a:endParaRPr>
          </a:p>
          <a:p>
            <a:r>
              <a:rPr lang="en-GB" dirty="0">
                <a:latin typeface="Arial" charset="0"/>
                <a:cs typeface="ＭＳ Ｐゴシック" charset="0"/>
              </a:rPr>
              <a:t>Through a </a:t>
            </a:r>
            <a:r>
              <a:rPr lang="en-GB" dirty="0">
                <a:solidFill>
                  <a:srgbClr val="FF0000"/>
                </a:solidFill>
                <a:latin typeface="Arial" charset="0"/>
                <a:cs typeface="ＭＳ Ｐゴシック" charset="0"/>
              </a:rPr>
              <a:t>pointer</a:t>
            </a:r>
            <a:r>
              <a:rPr lang="en-GB" dirty="0">
                <a:latin typeface="Arial" charset="0"/>
                <a:cs typeface="ＭＳ Ｐゴシック" charset="0"/>
              </a:rPr>
              <a:t> to the structure variable: </a:t>
            </a:r>
            <a:r>
              <a:rPr lang="en-GB" dirty="0">
                <a:solidFill>
                  <a:srgbClr val="FF0000"/>
                </a:solidFill>
                <a:latin typeface="Arial" charset="0"/>
                <a:cs typeface="ＭＳ Ｐゴシック" charset="0"/>
                <a:sym typeface="Wingdings"/>
              </a:rPr>
              <a:t> </a:t>
            </a:r>
            <a:endParaRPr lang="en-GB" dirty="0">
              <a:solidFill>
                <a:srgbClr val="FF0000"/>
              </a:solidFill>
              <a:latin typeface="Arial" charset="0"/>
              <a:cs typeface="ＭＳ Ｐゴシック" charset="0"/>
            </a:endParaRPr>
          </a:p>
          <a:p>
            <a:pPr marL="542925" lvl="1" indent="0">
              <a:buNone/>
            </a:pPr>
            <a:r>
              <a:rPr lang="en-GB" b="1" dirty="0" err="1">
                <a:latin typeface="Courier"/>
                <a:cs typeface="Courier"/>
              </a:rPr>
              <a:t>struct</a:t>
            </a:r>
            <a:r>
              <a:rPr lang="en-GB" b="1" dirty="0">
                <a:latin typeface="Courier"/>
                <a:cs typeface="Courier"/>
              </a:rPr>
              <a:t> address </a:t>
            </a:r>
            <a:r>
              <a:rPr lang="en-GB" b="1" dirty="0" err="1">
                <a:latin typeface="Courier"/>
                <a:cs typeface="Courier"/>
              </a:rPr>
              <a:t>MyAddress</a:t>
            </a:r>
            <a:r>
              <a:rPr lang="en-GB" b="1" dirty="0">
                <a:latin typeface="Courier"/>
                <a:cs typeface="Courier"/>
              </a:rPr>
              <a:t>;</a:t>
            </a:r>
          </a:p>
          <a:p>
            <a:pPr marL="542925" lvl="1" indent="0">
              <a:buNone/>
            </a:pPr>
            <a:r>
              <a:rPr lang="en-GB" b="1" dirty="0" err="1">
                <a:latin typeface="Courier"/>
                <a:cs typeface="Courier"/>
              </a:rPr>
              <a:t>struct</a:t>
            </a:r>
            <a:r>
              <a:rPr lang="en-GB" b="1" dirty="0">
                <a:latin typeface="Courier"/>
                <a:cs typeface="Courier"/>
              </a:rPr>
              <a:t> address *</a:t>
            </a:r>
            <a:r>
              <a:rPr lang="en-GB" b="1" dirty="0" err="1">
                <a:latin typeface="Courier"/>
                <a:cs typeface="Courier"/>
              </a:rPr>
              <a:t>MyAddressPtr</a:t>
            </a:r>
            <a:r>
              <a:rPr lang="en-GB" b="1" dirty="0">
                <a:latin typeface="Courier"/>
                <a:cs typeface="Courier"/>
              </a:rPr>
              <a:t> = &amp;</a:t>
            </a:r>
            <a:r>
              <a:rPr lang="en-GB" b="1" dirty="0" err="1">
                <a:latin typeface="Courier"/>
                <a:cs typeface="Courier"/>
              </a:rPr>
              <a:t>MyAddress</a:t>
            </a:r>
            <a:r>
              <a:rPr lang="en-GB" b="1" dirty="0">
                <a:latin typeface="Courier"/>
                <a:cs typeface="Courier"/>
              </a:rPr>
              <a:t>;</a:t>
            </a:r>
          </a:p>
          <a:p>
            <a:pPr marL="542925" lvl="1" indent="0">
              <a:buNone/>
            </a:pPr>
            <a:r>
              <a:rPr lang="en-GB" b="1" dirty="0" err="1">
                <a:latin typeface="Courier"/>
                <a:cs typeface="Courier"/>
              </a:rPr>
              <a:t>strcpy</a:t>
            </a:r>
            <a:r>
              <a:rPr lang="en-GB" b="1" dirty="0">
                <a:latin typeface="Courier"/>
                <a:cs typeface="Courier"/>
              </a:rPr>
              <a:t>(</a:t>
            </a:r>
            <a:r>
              <a:rPr lang="en-GB" b="1" dirty="0" err="1">
                <a:latin typeface="Courier"/>
                <a:cs typeface="Courier"/>
              </a:rPr>
              <a:t>MyAddressPtr</a:t>
            </a:r>
            <a:r>
              <a:rPr lang="en-GB" b="1" dirty="0" err="1">
                <a:latin typeface="Courier"/>
                <a:cs typeface="Courier"/>
                <a:sym typeface="Wingdings"/>
              </a:rPr>
              <a:t></a:t>
            </a:r>
            <a:r>
              <a:rPr lang="en-GB" b="1" dirty="0" err="1">
                <a:latin typeface="Courier"/>
                <a:cs typeface="Courier"/>
              </a:rPr>
              <a:t>street</a:t>
            </a:r>
            <a:r>
              <a:rPr lang="en-GB" b="1" dirty="0">
                <a:latin typeface="Courier"/>
                <a:cs typeface="Courier"/>
              </a:rPr>
              <a:t>, “Paul Bert”);</a:t>
            </a:r>
          </a:p>
          <a:p>
            <a:pPr marL="542925" lvl="1" indent="0">
              <a:buNone/>
            </a:pPr>
            <a:r>
              <a:rPr lang="en-GB" b="1" dirty="0" err="1">
                <a:latin typeface="Courier"/>
                <a:cs typeface="Courier"/>
              </a:rPr>
              <a:t>MyAddressPtr</a:t>
            </a:r>
            <a:r>
              <a:rPr lang="en-GB" b="1" dirty="0" err="1">
                <a:latin typeface="Courier"/>
                <a:cs typeface="Courier"/>
                <a:sym typeface="Wingdings"/>
              </a:rPr>
              <a:t></a:t>
            </a:r>
            <a:r>
              <a:rPr lang="en-GB" b="1" dirty="0" err="1">
                <a:latin typeface="Courier"/>
                <a:cs typeface="Courier"/>
              </a:rPr>
              <a:t>number</a:t>
            </a:r>
            <a:r>
              <a:rPr lang="en-GB" b="1" dirty="0">
                <a:latin typeface="Courier"/>
                <a:cs typeface="Courier"/>
              </a:rPr>
              <a:t>=12;</a:t>
            </a:r>
          </a:p>
          <a:p>
            <a:endParaRPr lang="en-GB" dirty="0">
              <a:latin typeface="Arial" charset="0"/>
              <a:cs typeface="ＭＳ Ｐゴシック" charset="0"/>
            </a:endParaRP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variable: Access </a:t>
            </a:r>
            <a:r>
              <a:rPr lang="fr-FR" sz="2800" dirty="0" err="1">
                <a:solidFill>
                  <a:srgbClr val="800000"/>
                </a:solidFill>
                <a:latin typeface="Arial" charset="0"/>
                <a:cs typeface="ＭＳ Ｐゴシック" charset="0"/>
              </a:rPr>
              <a:t>members</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Rectangle 1"/>
          <p:cNvSpPr/>
          <p:nvPr/>
        </p:nvSpPr>
        <p:spPr>
          <a:xfrm>
            <a:off x="467544" y="764704"/>
            <a:ext cx="4572000" cy="1508105"/>
          </a:xfrm>
          <a:prstGeom prst="rect">
            <a:avLst/>
          </a:prstGeom>
        </p:spPr>
        <p:txBody>
          <a:bodyPr>
            <a:spAutoFit/>
          </a:bodyPr>
          <a:lstStyle/>
          <a:p>
            <a:pPr marL="542925" lvl="1" indent="0" algn="l">
              <a:buNone/>
              <a:defRPr/>
            </a:pPr>
            <a:r>
              <a:rPr lang="en-US" sz="2000" b="1" dirty="0" err="1">
                <a:latin typeface="Courier"/>
                <a:cs typeface="Courier"/>
              </a:rPr>
              <a:t>struct</a:t>
            </a:r>
            <a:r>
              <a:rPr lang="en-US" sz="2000" b="1" dirty="0">
                <a:latin typeface="Courier"/>
                <a:cs typeface="Courier"/>
              </a:rPr>
              <a:t> address{</a:t>
            </a:r>
          </a:p>
          <a:p>
            <a:pPr marL="0" indent="0" algn="l">
              <a:buNone/>
            </a:pPr>
            <a:r>
              <a:rPr lang="en-US" sz="2000" b="1" dirty="0">
                <a:latin typeface="Courier"/>
                <a:cs typeface="Courier"/>
              </a:rPr>
              <a:t>   	char street[100]; </a:t>
            </a:r>
          </a:p>
          <a:p>
            <a:pPr marL="0" indent="0" algn="l">
              <a:buNone/>
            </a:pPr>
            <a:r>
              <a:rPr lang="en-US" sz="2000" b="1" dirty="0">
                <a:latin typeface="Courier"/>
                <a:cs typeface="Courier"/>
              </a:rPr>
              <a:t>   	</a:t>
            </a:r>
            <a:r>
              <a:rPr lang="en-US" sz="2000" b="1" dirty="0" err="1">
                <a:latin typeface="Courier"/>
                <a:cs typeface="Courier"/>
              </a:rPr>
              <a:t>int</a:t>
            </a:r>
            <a:r>
              <a:rPr lang="en-US" sz="2000" b="1" dirty="0">
                <a:latin typeface="Courier"/>
                <a:cs typeface="Courier"/>
              </a:rPr>
              <a:t> number;</a:t>
            </a:r>
          </a:p>
          <a:p>
            <a:pPr marL="0" indent="0" algn="l">
              <a:buNone/>
            </a:pPr>
            <a:r>
              <a:rPr lang="en-US" sz="2000" b="1" dirty="0">
                <a:latin typeface="Courier"/>
                <a:cs typeface="Courier"/>
              </a:rPr>
              <a:t>   }; </a:t>
            </a:r>
          </a:p>
        </p:txBody>
      </p:sp>
    </p:spTree>
    <p:extLst>
      <p:ext uri="{BB962C8B-B14F-4D97-AF65-F5344CB8AC3E}">
        <p14:creationId xmlns:p14="http://schemas.microsoft.com/office/powerpoint/2010/main" val="52363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0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80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80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re 1"/>
          <p:cNvSpPr>
            <a:spLocks noGrp="1"/>
          </p:cNvSpPr>
          <p:nvPr>
            <p:ph type="title"/>
          </p:nvPr>
        </p:nvSpPr>
        <p:spPr/>
        <p:txBody>
          <a:bodyPr/>
          <a:lstStyle/>
          <a:p>
            <a:r>
              <a:rPr lang="fr-FR" sz="2800" dirty="0" err="1">
                <a:latin typeface="Arial" charset="0"/>
                <a:ea typeface="ＭＳ Ｐゴシック" charset="0"/>
                <a:cs typeface="ＭＳ Ｐゴシック" charset="0"/>
              </a:rPr>
              <a:t>Definition</a:t>
            </a:r>
            <a:r>
              <a:rPr lang="fr-FR" sz="2800" dirty="0">
                <a:latin typeface="Arial" charset="0"/>
                <a:ea typeface="ＭＳ Ｐゴシック" charset="0"/>
                <a:cs typeface="ＭＳ Ｐゴシック" charset="0"/>
              </a:rPr>
              <a:t> of a new type</a:t>
            </a:r>
          </a:p>
        </p:txBody>
      </p:sp>
      <p:sp>
        <p:nvSpPr>
          <p:cNvPr id="74754" name="Espace réservé du contenu 2"/>
          <p:cNvSpPr>
            <a:spLocks noGrp="1"/>
          </p:cNvSpPr>
          <p:nvPr>
            <p:ph idx="1"/>
          </p:nvPr>
        </p:nvSpPr>
        <p:spPr/>
        <p:txBody>
          <a:bodyPr/>
          <a:lstStyle/>
          <a:p>
            <a:r>
              <a:rPr lang="en-GB" dirty="0">
                <a:latin typeface="Arial" charset="0"/>
                <a:cs typeface="ＭＳ Ｐゴシック" charset="0"/>
              </a:rPr>
              <a:t>Syntax</a:t>
            </a:r>
          </a:p>
          <a:p>
            <a:pPr marL="542925" lvl="1" indent="0">
              <a:buNone/>
            </a:pPr>
            <a:r>
              <a:rPr lang="en-GB" b="1" dirty="0" err="1">
                <a:latin typeface="Courier"/>
                <a:cs typeface="Courier"/>
              </a:rPr>
              <a:t>typedef</a:t>
            </a:r>
            <a:r>
              <a:rPr lang="en-GB" b="1" dirty="0">
                <a:latin typeface="Courier"/>
                <a:cs typeface="Courier"/>
              </a:rPr>
              <a:t> type IDENTIFIER;</a:t>
            </a:r>
          </a:p>
          <a:p>
            <a:pPr lvl="1"/>
            <a:endParaRPr lang="en-GB" dirty="0">
              <a:latin typeface="Arial" charset="0"/>
            </a:endParaRPr>
          </a:p>
          <a:p>
            <a:r>
              <a:rPr lang="en-GB" dirty="0">
                <a:latin typeface="Arial" charset="0"/>
                <a:cs typeface="ＭＳ Ｐゴシック" charset="0"/>
              </a:rPr>
              <a:t>Examples</a:t>
            </a:r>
          </a:p>
          <a:p>
            <a:pPr lvl="1"/>
            <a:r>
              <a:rPr lang="en-GB" b="1" dirty="0">
                <a:latin typeface="Courier"/>
                <a:cs typeface="Courier"/>
              </a:rPr>
              <a:t> </a:t>
            </a:r>
            <a:r>
              <a:rPr lang="en-GB" b="1" dirty="0" err="1">
                <a:latin typeface="Courier"/>
                <a:cs typeface="Courier"/>
              </a:rPr>
              <a:t>typedef</a:t>
            </a:r>
            <a:r>
              <a:rPr lang="en-GB" b="1" dirty="0">
                <a:latin typeface="Courier"/>
                <a:cs typeface="Courier"/>
              </a:rPr>
              <a:t> </a:t>
            </a:r>
            <a:r>
              <a:rPr lang="en-GB" b="1" dirty="0" err="1">
                <a:latin typeface="Courier"/>
                <a:cs typeface="Courier"/>
              </a:rPr>
              <a:t>int</a:t>
            </a:r>
            <a:r>
              <a:rPr lang="en-GB" b="1" dirty="0">
                <a:latin typeface="Courier"/>
                <a:cs typeface="Courier"/>
              </a:rPr>
              <a:t> LENGHT;</a:t>
            </a:r>
          </a:p>
          <a:p>
            <a:pPr lvl="1"/>
            <a:r>
              <a:rPr lang="en-GB" b="1" dirty="0">
                <a:latin typeface="Courier"/>
                <a:cs typeface="Courier"/>
              </a:rPr>
              <a:t> </a:t>
            </a:r>
            <a:r>
              <a:rPr lang="en-GB" b="1" dirty="0" err="1">
                <a:latin typeface="Courier"/>
                <a:cs typeface="Courier"/>
              </a:rPr>
              <a:t>typedef</a:t>
            </a:r>
            <a:r>
              <a:rPr lang="en-GB" b="1" dirty="0">
                <a:latin typeface="Courier"/>
                <a:cs typeface="Courier"/>
              </a:rPr>
              <a:t> </a:t>
            </a:r>
            <a:r>
              <a:rPr lang="en-GB" b="1" dirty="0" err="1">
                <a:latin typeface="Courier"/>
                <a:cs typeface="Courier"/>
              </a:rPr>
              <a:t>enum</a:t>
            </a:r>
            <a:r>
              <a:rPr lang="en-GB" b="1" dirty="0">
                <a:latin typeface="Courier"/>
                <a:cs typeface="Courier"/>
              </a:rPr>
              <a:t> {false, true} BOOLEAN ;</a:t>
            </a:r>
          </a:p>
          <a:p>
            <a:pPr lvl="1"/>
            <a:r>
              <a:rPr lang="en-GB" b="1" dirty="0">
                <a:latin typeface="Courier"/>
                <a:cs typeface="Courier"/>
              </a:rPr>
              <a:t> </a:t>
            </a:r>
            <a:r>
              <a:rPr lang="en-GB" b="1" dirty="0" err="1">
                <a:latin typeface="Courier"/>
                <a:cs typeface="Courier"/>
              </a:rPr>
              <a:t>typedef</a:t>
            </a:r>
            <a:r>
              <a:rPr lang="en-GB" b="1" dirty="0">
                <a:latin typeface="Courier"/>
                <a:cs typeface="Courier"/>
              </a:rPr>
              <a:t> </a:t>
            </a:r>
            <a:r>
              <a:rPr lang="en-GB" b="1" dirty="0" err="1">
                <a:latin typeface="Courier"/>
                <a:cs typeface="Courier"/>
              </a:rPr>
              <a:t>struct</a:t>
            </a:r>
            <a:r>
              <a:rPr lang="en-GB" b="1" dirty="0">
                <a:latin typeface="Courier"/>
                <a:cs typeface="Courier"/>
              </a:rPr>
              <a:t> date date;</a:t>
            </a:r>
          </a:p>
          <a:p>
            <a:pPr lvl="2"/>
            <a:r>
              <a:rPr lang="en-GB" dirty="0">
                <a:latin typeface="Arial" charset="0"/>
                <a:cs typeface="ＭＳ Ｐゴシック" charset="0"/>
              </a:rPr>
              <a:t>U</a:t>
            </a:r>
            <a:r>
              <a:rPr lang="en-GB" dirty="0">
                <a:cs typeface="Courier"/>
              </a:rPr>
              <a:t>se of </a:t>
            </a:r>
            <a:r>
              <a:rPr lang="en-GB" b="1" dirty="0" err="1">
                <a:latin typeface="Courier"/>
                <a:cs typeface="Courier"/>
              </a:rPr>
              <a:t>typedef</a:t>
            </a:r>
            <a:r>
              <a:rPr lang="en-GB" b="1" dirty="0">
                <a:latin typeface="Courier"/>
                <a:cs typeface="Courier"/>
              </a:rPr>
              <a:t> </a:t>
            </a:r>
            <a:r>
              <a:rPr lang="en-GB" dirty="0">
                <a:cs typeface="Courier"/>
              </a:rPr>
              <a:t>to avoid repetition of keyword </a:t>
            </a:r>
            <a:r>
              <a:rPr lang="en-GB" b="1" dirty="0" err="1">
                <a:latin typeface="Courier"/>
                <a:cs typeface="Courier"/>
              </a:rPr>
              <a:t>struct</a:t>
            </a:r>
            <a:endParaRPr lang="en-GB" b="1" dirty="0">
              <a:latin typeface="Arial" charset="0"/>
              <a:cs typeface="ＭＳ Ｐゴシック" charset="0"/>
            </a:endParaRPr>
          </a:p>
          <a:p>
            <a:pPr lvl="1"/>
            <a:endParaRPr lang="en-GB" b="1" dirty="0">
              <a:latin typeface="Courier"/>
              <a:cs typeface="Courier"/>
            </a:endParaRPr>
          </a:p>
          <a:p>
            <a:pPr lvl="1"/>
            <a:endParaRPr lang="en-GB" dirty="0">
              <a:latin typeface="Arial" charset="0"/>
            </a:endParaRPr>
          </a:p>
          <a:p>
            <a:r>
              <a:rPr lang="en-GB" dirty="0">
                <a:latin typeface="Arial" charset="0"/>
                <a:cs typeface="ＭＳ Ｐゴシック" charset="0"/>
              </a:rPr>
              <a:t>Remark</a:t>
            </a:r>
          </a:p>
          <a:p>
            <a:pPr lvl="1"/>
            <a:r>
              <a:rPr lang="en-GB" dirty="0">
                <a:latin typeface="Arial" charset="0"/>
              </a:rPr>
              <a:t>There is no identifier for the </a:t>
            </a:r>
            <a:r>
              <a:rPr lang="en-GB" b="1" dirty="0" err="1">
                <a:latin typeface="Courier"/>
                <a:cs typeface="Courier"/>
              </a:rPr>
              <a:t>enum</a:t>
            </a:r>
            <a:r>
              <a:rPr lang="en-GB" dirty="0">
                <a:latin typeface="Arial" charset="0"/>
              </a:rPr>
              <a:t> in the definition of the type </a:t>
            </a:r>
            <a:r>
              <a:rPr lang="en-GB" b="1" dirty="0">
                <a:latin typeface="Courier"/>
                <a:cs typeface="Courier"/>
              </a:rPr>
              <a:t>BOOLEEN</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207</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0237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75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75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75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475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208</a:t>
            </a:fld>
            <a:endParaRPr lang="fr-FR" sz="1400">
              <a:solidFill>
                <a:srgbClr val="000208"/>
              </a:solidFill>
              <a:latin typeface="Times New Roman" charset="0"/>
            </a:endParaRPr>
          </a:p>
        </p:txBody>
      </p:sp>
      <p:sp>
        <p:nvSpPr>
          <p:cNvPr id="76801" name="Titre 1"/>
          <p:cNvSpPr>
            <a:spLocks noGrp="1"/>
          </p:cNvSpPr>
          <p:nvPr>
            <p:ph type="title"/>
          </p:nvPr>
        </p:nvSpPr>
        <p:spPr/>
        <p:txBody>
          <a:bodyPr/>
          <a:lstStyle/>
          <a:p>
            <a:r>
              <a:rPr lang="fr-FR" sz="2800" dirty="0">
                <a:solidFill>
                  <a:srgbClr val="800000"/>
                </a:solidFill>
                <a:latin typeface="Arial" charset="0"/>
                <a:cs typeface="ＭＳ Ｐゴシック" charset="0"/>
              </a:rPr>
              <a:t>Structure type: </a:t>
            </a:r>
            <a:r>
              <a:rPr lang="fr-FR" sz="2800" dirty="0" err="1">
                <a:solidFill>
                  <a:srgbClr val="800000"/>
                </a:solidFill>
                <a:latin typeface="Arial" charset="0"/>
                <a:cs typeface="ＭＳ Ｐゴシック" charset="0"/>
              </a:rPr>
              <a:t>Examples</a:t>
            </a:r>
            <a:endParaRPr lang="fr-FR" sz="2800" dirty="0">
              <a:solidFill>
                <a:srgbClr val="800000"/>
              </a:solidFill>
              <a:latin typeface="Arial" charset="0"/>
              <a:cs typeface="ＭＳ Ｐゴシック" charset="0"/>
            </a:endParaRPr>
          </a:p>
        </p:txBody>
      </p:sp>
      <p:pic>
        <p:nvPicPr>
          <p:cNvPr id="76805" name="Image 5" descr="Capture d’écran 2014-08-26 à 11.00.56.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1620" y="3248980"/>
            <a:ext cx="6915350" cy="2052228"/>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pic>
        <p:nvPicPr>
          <p:cNvPr id="8" name="Image 4" descr="Capture d’écran 2014-08-26 à 11.00.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052736"/>
            <a:ext cx="6907167" cy="1908212"/>
          </a:xfrm>
          <a:prstGeom prst="rect">
            <a:avLst/>
          </a:prstGeom>
          <a:noFill/>
          <a:ln w="9525">
            <a:solidFill>
              <a:schemeClr val="tx2"/>
            </a:solidFill>
            <a:miter lim="800000"/>
            <a:headEnd/>
            <a:tailEnd/>
          </a:ln>
          <a:extLst>
            <a:ext uri="{909E8E84-426E-40dd-AFC4-6F175D3DCCD1}">
              <a14:hiddenFill xmlns:a14="http://schemas.microsoft.com/office/drawing/2010/main" xmlns="">
                <a:solidFill>
                  <a:srgbClr val="FFFFFF"/>
                </a:solidFill>
              </a14:hiddenFill>
            </a:ext>
          </a:extLst>
        </p:spPr>
      </p:pic>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6926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re 1"/>
          <p:cNvSpPr>
            <a:spLocks noGrp="1"/>
          </p:cNvSpPr>
          <p:nvPr>
            <p:ph type="title"/>
          </p:nvPr>
        </p:nvSpPr>
        <p:spPr/>
        <p:txBody>
          <a:bodyPr/>
          <a:lstStyle/>
          <a:p>
            <a:r>
              <a:rPr lang="fr-FR" sz="2800" dirty="0">
                <a:latin typeface="Arial" charset="0"/>
                <a:cs typeface="ＭＳ Ｐゴシック" charset="0"/>
              </a:rPr>
              <a:t>Access </a:t>
            </a:r>
            <a:r>
              <a:rPr lang="fr-FR" sz="2800" dirty="0" err="1">
                <a:latin typeface="Arial" charset="0"/>
                <a:cs typeface="ＭＳ Ｐゴシック" charset="0"/>
              </a:rPr>
              <a:t>struct</a:t>
            </a:r>
            <a:r>
              <a:rPr lang="fr-FR" sz="2800" dirty="0">
                <a:latin typeface="Arial" charset="0"/>
                <a:cs typeface="ＭＳ Ｐゴシック" charset="0"/>
              </a:rPr>
              <a:t> </a:t>
            </a:r>
            <a:r>
              <a:rPr lang="fr-FR" sz="2800" dirty="0" err="1">
                <a:latin typeface="Arial" charset="0"/>
                <a:cs typeface="ＭＳ Ｐゴシック" charset="0"/>
              </a:rPr>
              <a:t>members</a:t>
            </a:r>
            <a:endParaRPr lang="fr-FR" sz="2800" dirty="0">
              <a:latin typeface="Arial" charset="0"/>
              <a:cs typeface="ＭＳ Ｐゴシック" charset="0"/>
            </a:endParaRPr>
          </a:p>
        </p:txBody>
      </p:sp>
      <p:sp>
        <p:nvSpPr>
          <p:cNvPr id="77826" name="Espace réservé du contenu 2"/>
          <p:cNvSpPr>
            <a:spLocks noGrp="1"/>
          </p:cNvSpPr>
          <p:nvPr>
            <p:ph idx="1"/>
          </p:nvPr>
        </p:nvSpPr>
        <p:spPr>
          <a:xfrm>
            <a:off x="287524" y="908720"/>
            <a:ext cx="8676456" cy="4285692"/>
          </a:xfrm>
        </p:spPr>
        <p:txBody>
          <a:bodyPr/>
          <a:lstStyle/>
          <a:p>
            <a:r>
              <a:rPr lang="fr-FR" dirty="0">
                <a:latin typeface="Arial" charset="0"/>
                <a:cs typeface="ＭＳ Ｐゴシック" charset="0"/>
              </a:rPr>
              <a:t>V</a:t>
            </a:r>
            <a:r>
              <a:rPr lang="fr-FR" dirty="0">
                <a:latin typeface="Arial" charset="0"/>
                <a:ea typeface="ＭＳ Ｐゴシック" charset="0"/>
                <a:cs typeface="ＭＳ Ｐゴシック" charset="0"/>
              </a:rPr>
              <a:t>ariable structure </a:t>
            </a:r>
            <a:br>
              <a:rPr lang="fr-FR" dirty="0">
                <a:latin typeface="Arial" charset="0"/>
                <a:ea typeface="ＭＳ Ｐゴシック" charset="0"/>
                <a:cs typeface="ＭＳ Ｐゴシック" charset="0"/>
              </a:rPr>
            </a:br>
            <a:r>
              <a:rPr lang="fr-FR" sz="600" dirty="0">
                <a:latin typeface="Arial" charset="0"/>
                <a:ea typeface="ＭＳ Ｐゴシック" charset="0"/>
                <a:cs typeface="ＭＳ Ｐゴシック" charset="0"/>
              </a:rPr>
              <a:t> </a:t>
            </a:r>
            <a:br>
              <a:rPr lang="fr-FR" sz="600" dirty="0">
                <a:latin typeface="Arial" charset="0"/>
                <a:ea typeface="ＭＳ Ｐゴシック" charset="0"/>
                <a:cs typeface="ＭＳ Ｐゴシック" charset="0"/>
              </a:rPr>
            </a:br>
            <a:r>
              <a:rPr lang="fr-FR" sz="2000" b="1" dirty="0">
                <a:latin typeface="Courier"/>
                <a:cs typeface="Courier"/>
              </a:rPr>
              <a:t>UNE_DATE </a:t>
            </a:r>
            <a:r>
              <a:rPr lang="fr-FR" sz="2000" b="1" dirty="0" err="1">
                <a:latin typeface="Courier"/>
                <a:cs typeface="Courier"/>
              </a:rPr>
              <a:t>foo</a:t>
            </a:r>
            <a:r>
              <a:rPr lang="fr-FR" sz="2000" b="1" dirty="0">
                <a:latin typeface="Courier"/>
                <a:cs typeface="Courier"/>
              </a:rPr>
              <a:t> = { mer, {3 ,9 ,2014 } } ;</a:t>
            </a:r>
            <a:br>
              <a:rPr lang="fr-FR" sz="2000" b="1" dirty="0">
                <a:latin typeface="Courier"/>
                <a:cs typeface="Courier"/>
              </a:rPr>
            </a:br>
            <a:r>
              <a:rPr lang="fr-FR" sz="2000" b="1" dirty="0" err="1">
                <a:latin typeface="Courier"/>
                <a:cs typeface="Courier"/>
              </a:rPr>
              <a:t>foo.j</a:t>
            </a:r>
            <a:r>
              <a:rPr lang="fr-FR" sz="2000" b="1" dirty="0">
                <a:latin typeface="Courier"/>
                <a:cs typeface="Courier"/>
              </a:rPr>
              <a:t> = mer ;</a:t>
            </a:r>
            <a:br>
              <a:rPr lang="fr-FR" sz="2000" b="1" dirty="0">
                <a:latin typeface="Courier"/>
                <a:cs typeface="Courier"/>
              </a:rPr>
            </a:br>
            <a:r>
              <a:rPr lang="fr-FR" sz="2000" b="1" dirty="0" err="1">
                <a:latin typeface="Courier"/>
                <a:cs typeface="Courier"/>
              </a:rPr>
              <a:t>foo.d.a</a:t>
            </a:r>
            <a:r>
              <a:rPr lang="fr-FR" sz="2000" b="1" dirty="0">
                <a:latin typeface="Courier"/>
                <a:cs typeface="Courier"/>
              </a:rPr>
              <a:t> = 2014 ;</a:t>
            </a:r>
            <a:br>
              <a:rPr lang="fr-FR" sz="2000" b="1" dirty="0">
                <a:latin typeface="Courier"/>
                <a:cs typeface="Courier"/>
              </a:rPr>
            </a:br>
            <a:r>
              <a:rPr lang="fr-FR" sz="600" b="1" dirty="0">
                <a:latin typeface="Arial" charset="0"/>
                <a:ea typeface="ＭＳ Ｐゴシック" charset="0"/>
                <a:cs typeface="ＭＳ Ｐゴシック" charset="0"/>
              </a:rPr>
              <a:t> </a:t>
            </a:r>
            <a:endParaRPr lang="fr-FR" dirty="0">
              <a:latin typeface="Arial" charset="0"/>
              <a:cs typeface="ＭＳ Ｐゴシック" charset="0"/>
            </a:endParaRPr>
          </a:p>
          <a:p>
            <a:endParaRPr lang="fr-FR" sz="1100" dirty="0">
              <a:latin typeface="Arial" charset="0"/>
              <a:ea typeface="ＭＳ Ｐゴシック" charset="0"/>
              <a:cs typeface="ＭＳ Ｐゴシック" charset="0"/>
            </a:endParaRPr>
          </a:p>
          <a:p>
            <a:r>
              <a:rPr lang="fr-FR" dirty="0">
                <a:latin typeface="Arial" charset="0"/>
                <a:ea typeface="ＭＳ Ｐゴシック" charset="0"/>
                <a:cs typeface="ＭＳ Ｐゴシック" charset="0"/>
              </a:rPr>
              <a:t>Structure pointer </a:t>
            </a:r>
            <a:br>
              <a:rPr lang="fr-FR" dirty="0">
                <a:latin typeface="Arial" charset="0"/>
                <a:ea typeface="ＭＳ Ｐゴシック" charset="0"/>
                <a:cs typeface="ＭＳ Ｐゴシック" charset="0"/>
              </a:rPr>
            </a:br>
            <a:r>
              <a:rPr lang="fr-FR" sz="2200" b="1" dirty="0">
                <a:latin typeface="Courier"/>
                <a:ea typeface="ＭＳ Ｐゴシック" charset="0"/>
                <a:cs typeface="Courier"/>
              </a:rPr>
              <a:t>UNE_DATE* </a:t>
            </a:r>
            <a:r>
              <a:rPr lang="fr-FR" sz="2200" b="1" dirty="0" err="1">
                <a:latin typeface="Courier"/>
                <a:ea typeface="ＭＳ Ｐゴシック" charset="0"/>
                <a:cs typeface="Courier"/>
              </a:rPr>
              <a:t>queljour</a:t>
            </a:r>
            <a:r>
              <a:rPr lang="fr-FR" sz="2200" b="1" dirty="0">
                <a:latin typeface="Courier"/>
                <a:ea typeface="ＭＳ Ｐゴシック" charset="0"/>
                <a:cs typeface="Courier"/>
              </a:rPr>
              <a:t> = &amp;</a:t>
            </a:r>
            <a:r>
              <a:rPr lang="fr-FR" sz="2200" b="1" dirty="0" err="1">
                <a:latin typeface="Courier"/>
                <a:ea typeface="ＭＳ Ｐゴシック" charset="0"/>
                <a:cs typeface="Courier"/>
              </a:rPr>
              <a:t>foo</a:t>
            </a:r>
            <a:r>
              <a:rPr lang="fr-FR" sz="2200" b="1" dirty="0">
                <a:latin typeface="Courier"/>
                <a:ea typeface="ＭＳ Ｐゴシック" charset="0"/>
                <a:cs typeface="Courier"/>
              </a:rPr>
              <a:t>;</a:t>
            </a:r>
            <a:br>
              <a:rPr lang="fr-FR" sz="2200" b="1" dirty="0">
                <a:latin typeface="Courier"/>
                <a:ea typeface="ＭＳ Ｐゴシック" charset="0"/>
                <a:cs typeface="Courier"/>
              </a:rPr>
            </a:br>
            <a:r>
              <a:rPr lang="fr-FR" sz="2200" b="1" dirty="0" err="1">
                <a:latin typeface="Courier"/>
                <a:ea typeface="ＭＳ Ｐゴシック" charset="0"/>
                <a:cs typeface="Courier"/>
              </a:rPr>
              <a:t>queljour</a:t>
            </a:r>
            <a:r>
              <a:rPr lang="fr-FR" sz="2200" b="1" dirty="0">
                <a:latin typeface="Courier"/>
                <a:ea typeface="ＭＳ Ｐゴシック" charset="0"/>
                <a:cs typeface="Courier"/>
              </a:rPr>
              <a:t>-&gt;j = </a:t>
            </a:r>
            <a:r>
              <a:rPr lang="fr-FR" sz="2200" b="1" dirty="0" err="1">
                <a:latin typeface="Courier"/>
                <a:cs typeface="Courier"/>
              </a:rPr>
              <a:t>foo</a:t>
            </a:r>
            <a:r>
              <a:rPr lang="fr-FR" sz="2200" b="1" dirty="0" err="1">
                <a:latin typeface="Courier"/>
                <a:ea typeface="ＭＳ Ｐゴシック" charset="0"/>
                <a:cs typeface="Courier"/>
              </a:rPr>
              <a:t>.j</a:t>
            </a:r>
            <a:r>
              <a:rPr lang="fr-FR" sz="2200" b="1" dirty="0">
                <a:latin typeface="Courier"/>
                <a:ea typeface="ＭＳ Ｐゴシック" charset="0"/>
                <a:cs typeface="Courier"/>
              </a:rPr>
              <a:t>;</a:t>
            </a:r>
          </a:p>
          <a:p>
            <a:pPr marL="0" indent="0">
              <a:buNone/>
            </a:pPr>
            <a:r>
              <a:rPr lang="fr-FR" sz="2200" b="1" dirty="0">
                <a:latin typeface="Courier"/>
                <a:cs typeface="Courier"/>
              </a:rPr>
              <a:t>  </a:t>
            </a:r>
            <a:r>
              <a:rPr lang="fr-FR" sz="2200" b="1" dirty="0" err="1">
                <a:latin typeface="Courier"/>
                <a:cs typeface="Courier"/>
              </a:rPr>
              <a:t>queljour</a:t>
            </a:r>
            <a:r>
              <a:rPr lang="fr-FR" sz="2200" b="1" dirty="0">
                <a:latin typeface="Courier"/>
                <a:cs typeface="Courier"/>
              </a:rPr>
              <a:t>-&gt;</a:t>
            </a:r>
            <a:r>
              <a:rPr lang="fr-FR" sz="2200" b="1" dirty="0" err="1">
                <a:latin typeface="Courier"/>
                <a:cs typeface="Courier"/>
              </a:rPr>
              <a:t>d.a</a:t>
            </a:r>
            <a:r>
              <a:rPr lang="fr-FR" sz="2200" b="1" dirty="0">
                <a:latin typeface="Courier"/>
                <a:cs typeface="Courier"/>
              </a:rPr>
              <a:t> = 2014;</a:t>
            </a:r>
          </a:p>
          <a:p>
            <a:endParaRPr lang="fr-FR" sz="2200" b="1" dirty="0">
              <a:latin typeface="Courier"/>
              <a:ea typeface="ＭＳ Ｐゴシック" charset="0"/>
              <a:cs typeface="Courier"/>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209</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6508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a:latin typeface="Arial" charset="0"/>
                <a:cs typeface="ＭＳ Ｐゴシック" charset="0"/>
              </a:rPr>
              <a:t>Structures</a:t>
            </a:r>
            <a:endParaRPr lang="fr-FR" sz="2800" dirty="0">
              <a:latin typeface="Arial" charset="0"/>
              <a:ea typeface="ＭＳ Ｐゴシック" charset="0"/>
              <a:cs typeface="ＭＳ Ｐゴシック" charset="0"/>
            </a:endParaRP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210</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Q9 - Q12</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6706924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211</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a:xfrm>
            <a:off x="647564" y="2384884"/>
            <a:ext cx="7772400" cy="1470025"/>
          </a:xfrm>
        </p:spPr>
        <p:txBody>
          <a:bodyPr/>
          <a:lstStyle/>
          <a:p>
            <a:r>
              <a:rPr lang="en-GB" dirty="0">
                <a:latin typeface="Arial" charset="0"/>
              </a:rPr>
              <a:t>Data structures:</a:t>
            </a:r>
            <a:br>
              <a:rPr lang="en-GB" dirty="0">
                <a:latin typeface="Arial" charset="0"/>
              </a:rPr>
            </a:br>
            <a:r>
              <a:rPr lang="en-GB" dirty="0">
                <a:latin typeface="Arial" charset="0"/>
              </a:rPr>
              <a:t>Lists and Hash tables</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0626807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lstStyle/>
          <a:p>
            <a:r>
              <a:rPr lang="en-US" sz="2800" dirty="0"/>
              <a:t>Linked lists </a:t>
            </a:r>
            <a:r>
              <a:rPr lang="en-US" sz="2800" dirty="0" err="1"/>
              <a:t>Vs</a:t>
            </a:r>
            <a:r>
              <a:rPr lang="en-US" sz="2800" dirty="0"/>
              <a:t> arrays</a:t>
            </a:r>
          </a:p>
        </p:txBody>
      </p:sp>
      <p:sp>
        <p:nvSpPr>
          <p:cNvPr id="73731" name="Rectangle 1027" descr="Rectangle: Click to edit Master text styles&#10;Second level&#10;Third level&#10;Fourth level&#10;Fifth level"/>
          <p:cNvSpPr>
            <a:spLocks noGrp="1" noChangeArrowheads="1"/>
          </p:cNvSpPr>
          <p:nvPr>
            <p:ph type="body" idx="1"/>
          </p:nvPr>
        </p:nvSpPr>
        <p:spPr>
          <a:xfrm>
            <a:off x="431540" y="1088740"/>
            <a:ext cx="8424936" cy="2514600"/>
          </a:xfrm>
        </p:spPr>
        <p:txBody>
          <a:bodyPr/>
          <a:lstStyle/>
          <a:p>
            <a:pPr>
              <a:lnSpc>
                <a:spcPct val="90000"/>
              </a:lnSpc>
            </a:pPr>
            <a:r>
              <a:rPr lang="en-US" dirty="0"/>
              <a:t>Linear data structure (like arrays)</a:t>
            </a:r>
          </a:p>
          <a:p>
            <a:pPr>
              <a:lnSpc>
                <a:spcPct val="90000"/>
              </a:lnSpc>
            </a:pPr>
            <a:endParaRPr lang="en-US" dirty="0"/>
          </a:p>
          <a:p>
            <a:pPr>
              <a:lnSpc>
                <a:spcPct val="90000"/>
              </a:lnSpc>
            </a:pPr>
            <a:r>
              <a:rPr lang="en-US" dirty="0"/>
              <a:t>Linked list elements </a:t>
            </a:r>
            <a:r>
              <a:rPr lang="en-US" dirty="0">
                <a:solidFill>
                  <a:srgbClr val="FF0000"/>
                </a:solidFill>
              </a:rPr>
              <a:t>NOT </a:t>
            </a:r>
            <a:r>
              <a:rPr lang="en-US" dirty="0">
                <a:solidFill>
                  <a:schemeClr val="tx1"/>
                </a:solidFill>
              </a:rPr>
              <a:t>stored</a:t>
            </a:r>
            <a:r>
              <a:rPr lang="en-US" dirty="0">
                <a:solidFill>
                  <a:srgbClr val="FF0000"/>
                </a:solidFill>
              </a:rPr>
              <a:t> </a:t>
            </a:r>
            <a:r>
              <a:rPr lang="en-US" dirty="0"/>
              <a:t>in </a:t>
            </a:r>
            <a:r>
              <a:rPr lang="en-US" dirty="0">
                <a:solidFill>
                  <a:srgbClr val="FF0000"/>
                </a:solidFill>
              </a:rPr>
              <a:t>contiguous</a:t>
            </a:r>
            <a:r>
              <a:rPr lang="en-US" dirty="0"/>
              <a:t> location</a:t>
            </a:r>
          </a:p>
          <a:p>
            <a:pPr lvl="1">
              <a:lnSpc>
                <a:spcPct val="90000"/>
              </a:lnSpc>
            </a:pPr>
            <a:r>
              <a:rPr lang="en-US" dirty="0"/>
              <a:t>are linked using pointers</a:t>
            </a:r>
          </a:p>
        </p:txBody>
      </p:sp>
      <p:sp>
        <p:nvSpPr>
          <p:cNvPr id="73748" name="Rectangle 1044"/>
          <p:cNvSpPr>
            <a:spLocks noChangeArrowheads="1"/>
          </p:cNvSpPr>
          <p:nvPr/>
        </p:nvSpPr>
        <p:spPr bwMode="auto">
          <a:xfrm>
            <a:off x="982203" y="4149080"/>
            <a:ext cx="609600" cy="609600"/>
          </a:xfrm>
          <a:prstGeom prst="rect">
            <a:avLst/>
          </a:prstGeom>
          <a:solidFill>
            <a:schemeClr val="accent5"/>
          </a:solidFill>
          <a:ln w="28575">
            <a:solidFill>
              <a:schemeClr val="tx1"/>
            </a:solidFill>
            <a:miter lim="800000"/>
            <a:headEnd/>
            <a:tailEnd/>
          </a:ln>
          <a:effectLst/>
        </p:spPr>
        <p:txBody>
          <a:bodyPr wrap="none" anchor="ctr"/>
          <a:lstStyle/>
          <a:p>
            <a:endParaRPr lang="en-US"/>
          </a:p>
        </p:txBody>
      </p:sp>
      <p:sp>
        <p:nvSpPr>
          <p:cNvPr id="73752" name="Rectangle 1048"/>
          <p:cNvSpPr>
            <a:spLocks noChangeArrowheads="1"/>
          </p:cNvSpPr>
          <p:nvPr/>
        </p:nvSpPr>
        <p:spPr bwMode="auto">
          <a:xfrm>
            <a:off x="15918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4" name="Line 1050"/>
          <p:cNvSpPr>
            <a:spLocks noChangeShapeType="1"/>
          </p:cNvSpPr>
          <p:nvPr/>
        </p:nvSpPr>
        <p:spPr bwMode="auto">
          <a:xfrm flipV="1">
            <a:off x="18966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55" name="Rectangle 1051"/>
          <p:cNvSpPr>
            <a:spLocks noChangeArrowheads="1"/>
          </p:cNvSpPr>
          <p:nvPr/>
        </p:nvSpPr>
        <p:spPr bwMode="auto">
          <a:xfrm>
            <a:off x="2811003" y="4149080"/>
            <a:ext cx="609600" cy="609600"/>
          </a:xfrm>
          <a:prstGeom prst="rect">
            <a:avLst/>
          </a:prstGeom>
          <a:solidFill>
            <a:schemeClr val="accent5"/>
          </a:solidFill>
          <a:ln w="28575">
            <a:solidFill>
              <a:schemeClr val="tx1"/>
            </a:solidFill>
            <a:miter lim="800000"/>
            <a:headEnd/>
            <a:tailEnd/>
          </a:ln>
          <a:effectLst/>
        </p:spPr>
        <p:txBody>
          <a:bodyPr wrap="none" anchor="ctr"/>
          <a:lstStyle/>
          <a:p>
            <a:endParaRPr lang="en-US"/>
          </a:p>
        </p:txBody>
      </p:sp>
      <p:sp>
        <p:nvSpPr>
          <p:cNvPr id="73756" name="Rectangle 1052"/>
          <p:cNvSpPr>
            <a:spLocks noChangeArrowheads="1"/>
          </p:cNvSpPr>
          <p:nvPr/>
        </p:nvSpPr>
        <p:spPr bwMode="auto">
          <a:xfrm>
            <a:off x="34206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7" name="Line 1053"/>
          <p:cNvSpPr>
            <a:spLocks noChangeShapeType="1"/>
          </p:cNvSpPr>
          <p:nvPr/>
        </p:nvSpPr>
        <p:spPr bwMode="auto">
          <a:xfrm flipV="1">
            <a:off x="37254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58" name="Rectangle 1054"/>
          <p:cNvSpPr>
            <a:spLocks noChangeArrowheads="1"/>
          </p:cNvSpPr>
          <p:nvPr/>
        </p:nvSpPr>
        <p:spPr bwMode="auto">
          <a:xfrm>
            <a:off x="4639803" y="4149080"/>
            <a:ext cx="609600" cy="609600"/>
          </a:xfrm>
          <a:prstGeom prst="rect">
            <a:avLst/>
          </a:prstGeom>
          <a:solidFill>
            <a:schemeClr val="accent5"/>
          </a:solidFill>
          <a:ln w="28575">
            <a:solidFill>
              <a:schemeClr val="tx1"/>
            </a:solidFill>
            <a:miter lim="800000"/>
            <a:headEnd/>
            <a:tailEnd/>
          </a:ln>
          <a:effectLst/>
        </p:spPr>
        <p:txBody>
          <a:bodyPr wrap="none" anchor="ctr"/>
          <a:lstStyle/>
          <a:p>
            <a:endParaRPr lang="en-US"/>
          </a:p>
        </p:txBody>
      </p:sp>
      <p:sp>
        <p:nvSpPr>
          <p:cNvPr id="73759" name="Rectangle 1055"/>
          <p:cNvSpPr>
            <a:spLocks noChangeArrowheads="1"/>
          </p:cNvSpPr>
          <p:nvPr/>
        </p:nvSpPr>
        <p:spPr bwMode="auto">
          <a:xfrm>
            <a:off x="52494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60" name="Line 1056"/>
          <p:cNvSpPr>
            <a:spLocks noChangeShapeType="1"/>
          </p:cNvSpPr>
          <p:nvPr/>
        </p:nvSpPr>
        <p:spPr bwMode="auto">
          <a:xfrm flipV="1">
            <a:off x="55542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61" name="Rectangle 1057"/>
          <p:cNvSpPr>
            <a:spLocks noChangeArrowheads="1"/>
          </p:cNvSpPr>
          <p:nvPr/>
        </p:nvSpPr>
        <p:spPr bwMode="auto">
          <a:xfrm>
            <a:off x="6468603" y="4149080"/>
            <a:ext cx="609600" cy="609600"/>
          </a:xfrm>
          <a:prstGeom prst="rect">
            <a:avLst/>
          </a:prstGeom>
          <a:solidFill>
            <a:schemeClr val="accent5"/>
          </a:solidFill>
          <a:ln w="28575">
            <a:solidFill>
              <a:schemeClr val="tx1"/>
            </a:solidFill>
            <a:miter lim="800000"/>
            <a:headEnd/>
            <a:tailEnd/>
          </a:ln>
          <a:effectLst/>
        </p:spPr>
        <p:txBody>
          <a:bodyPr wrap="none" anchor="ctr"/>
          <a:lstStyle/>
          <a:p>
            <a:endParaRPr lang="en-US"/>
          </a:p>
        </p:txBody>
      </p:sp>
      <p:sp>
        <p:nvSpPr>
          <p:cNvPr id="73762" name="Rectangle 1058"/>
          <p:cNvSpPr>
            <a:spLocks noChangeArrowheads="1"/>
          </p:cNvSpPr>
          <p:nvPr/>
        </p:nvSpPr>
        <p:spPr bwMode="auto">
          <a:xfrm>
            <a:off x="70782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63" name="Line 1059"/>
          <p:cNvSpPr>
            <a:spLocks noChangeShapeType="1"/>
          </p:cNvSpPr>
          <p:nvPr/>
        </p:nvSpPr>
        <p:spPr bwMode="auto">
          <a:xfrm flipV="1">
            <a:off x="73830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71" name="Text Box 1067"/>
          <p:cNvSpPr txBox="1">
            <a:spLocks noChangeArrowheads="1"/>
          </p:cNvSpPr>
          <p:nvPr/>
        </p:nvSpPr>
        <p:spPr bwMode="auto">
          <a:xfrm>
            <a:off x="8270416" y="425544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3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212</a:t>
            </a:fld>
            <a:endParaRPr lang="fr-FR" sz="1400" dirty="0">
              <a:solidFill>
                <a:srgbClr val="000208"/>
              </a:solidFill>
              <a:latin typeface="Times New Roman" charset="0"/>
            </a:endParaRPr>
          </a:p>
        </p:txBody>
      </p:sp>
      <p:sp>
        <p:nvSpPr>
          <p:cNvPr id="43" name="Line 26"/>
          <p:cNvSpPr>
            <a:spLocks noChangeShapeType="1"/>
          </p:cNvSpPr>
          <p:nvPr/>
        </p:nvSpPr>
        <p:spPr bwMode="auto">
          <a:xfrm rot="5400000" flipV="1">
            <a:off x="666800" y="4168316"/>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44" name="Text Box 25"/>
          <p:cNvSpPr txBox="1">
            <a:spLocks noChangeArrowheads="1"/>
          </p:cNvSpPr>
          <p:nvPr/>
        </p:nvSpPr>
        <p:spPr bwMode="auto">
          <a:xfrm flipH="1">
            <a:off x="-34366" y="3933056"/>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42" name="Text Box 25"/>
          <p:cNvSpPr txBox="1">
            <a:spLocks noChangeArrowheads="1"/>
          </p:cNvSpPr>
          <p:nvPr/>
        </p:nvSpPr>
        <p:spPr bwMode="auto">
          <a:xfrm flipH="1">
            <a:off x="86358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5" name="Text Box 25"/>
          <p:cNvSpPr txBox="1">
            <a:spLocks noChangeArrowheads="1"/>
          </p:cNvSpPr>
          <p:nvPr/>
        </p:nvSpPr>
        <p:spPr bwMode="auto">
          <a:xfrm flipH="1">
            <a:off x="266378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6" name="Text Box 25"/>
          <p:cNvSpPr txBox="1">
            <a:spLocks noChangeArrowheads="1"/>
          </p:cNvSpPr>
          <p:nvPr/>
        </p:nvSpPr>
        <p:spPr bwMode="auto">
          <a:xfrm flipH="1">
            <a:off x="4572000"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7" name="Text Box 25"/>
          <p:cNvSpPr txBox="1">
            <a:spLocks noChangeArrowheads="1"/>
          </p:cNvSpPr>
          <p:nvPr/>
        </p:nvSpPr>
        <p:spPr bwMode="auto">
          <a:xfrm flipH="1">
            <a:off x="644420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8" name="Text Box 25"/>
          <p:cNvSpPr txBox="1">
            <a:spLocks noChangeArrowheads="1"/>
          </p:cNvSpPr>
          <p:nvPr/>
        </p:nvSpPr>
        <p:spPr bwMode="auto">
          <a:xfrm flipH="1">
            <a:off x="7812360" y="3933056"/>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3021337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lstStyle/>
          <a:p>
            <a:r>
              <a:rPr lang="en-US" sz="2800" dirty="0"/>
              <a:t>Why Linked list?</a:t>
            </a:r>
          </a:p>
        </p:txBody>
      </p:sp>
      <p:sp>
        <p:nvSpPr>
          <p:cNvPr id="73731" name="Rectangle 1027" descr="Rectangle: Click to edit Master text styles&#10;Second level&#10;Third level&#10;Fourth level&#10;Fifth level"/>
          <p:cNvSpPr>
            <a:spLocks noGrp="1" noChangeArrowheads="1"/>
          </p:cNvSpPr>
          <p:nvPr>
            <p:ph type="body" idx="1"/>
          </p:nvPr>
        </p:nvSpPr>
        <p:spPr>
          <a:xfrm>
            <a:off x="431540" y="1088740"/>
            <a:ext cx="8460940" cy="2514600"/>
          </a:xfrm>
        </p:spPr>
        <p:txBody>
          <a:bodyPr/>
          <a:lstStyle/>
          <a:p>
            <a:pPr>
              <a:lnSpc>
                <a:spcPct val="90000"/>
              </a:lnSpc>
            </a:pPr>
            <a:r>
              <a:rPr lang="en-US" dirty="0"/>
              <a:t>Array limitations:</a:t>
            </a:r>
          </a:p>
          <a:p>
            <a:pPr lvl="1">
              <a:lnSpc>
                <a:spcPct val="90000"/>
              </a:lnSpc>
            </a:pPr>
            <a:r>
              <a:rPr lang="en-US" dirty="0"/>
              <a:t>Fixed size: We must know the upper limit on the number of elements in advance</a:t>
            </a:r>
          </a:p>
          <a:p>
            <a:pPr lvl="1">
              <a:lnSpc>
                <a:spcPct val="90000"/>
              </a:lnSpc>
            </a:pPr>
            <a:r>
              <a:rPr lang="en-US" dirty="0"/>
              <a:t>Insert/Delete an element: Expensive</a:t>
            </a:r>
          </a:p>
          <a:p>
            <a:pPr lvl="2">
              <a:lnSpc>
                <a:spcPct val="90000"/>
              </a:lnSpc>
            </a:pPr>
            <a:r>
              <a:rPr lang="en-US" dirty="0"/>
              <a:t>Create room by shifting existing elements !</a:t>
            </a:r>
          </a:p>
          <a:p>
            <a:pPr lvl="2">
              <a:lnSpc>
                <a:spcPct val="90000"/>
              </a:lnSpc>
            </a:pPr>
            <a:r>
              <a:rPr lang="en-US" dirty="0"/>
              <a:t>Ex. : Add new element 101 in an array with sorted ids</a:t>
            </a:r>
          </a:p>
          <a:p>
            <a:pPr lvl="2" indent="0">
              <a:lnSpc>
                <a:spcPct val="90000"/>
              </a:lnSpc>
              <a:buNone/>
            </a:pPr>
            <a:r>
              <a:rPr lang="en-US" b="1" dirty="0">
                <a:latin typeface="Courier"/>
                <a:cs typeface="Courier"/>
              </a:rPr>
              <a:t>id[]=[100, 103, 105, 200]</a:t>
            </a:r>
          </a:p>
          <a:p>
            <a:pPr lvl="2">
              <a:lnSpc>
                <a:spcPct val="90000"/>
              </a:lnSpc>
            </a:pPr>
            <a:endParaRPr lang="en-US" dirty="0"/>
          </a:p>
          <a:p>
            <a:pPr>
              <a:lnSpc>
                <a:spcPct val="90000"/>
              </a:lnSpc>
            </a:pPr>
            <a:r>
              <a:rPr lang="en-US" dirty="0"/>
              <a:t>List Advantages:</a:t>
            </a:r>
          </a:p>
          <a:p>
            <a:pPr lvl="1">
              <a:lnSpc>
                <a:spcPct val="90000"/>
              </a:lnSpc>
            </a:pPr>
            <a:r>
              <a:rPr lang="en-US" dirty="0"/>
              <a:t>Dynamic size</a:t>
            </a:r>
          </a:p>
          <a:p>
            <a:pPr lvl="1">
              <a:lnSpc>
                <a:spcPct val="90000"/>
              </a:lnSpc>
            </a:pPr>
            <a:r>
              <a:rPr lang="en-US" dirty="0"/>
              <a:t>Ease of insertion/deletion</a:t>
            </a:r>
          </a:p>
          <a:p>
            <a:pPr>
              <a:lnSpc>
                <a:spcPct val="90000"/>
              </a:lnSpc>
            </a:pPr>
            <a:r>
              <a:rPr lang="en-US" dirty="0"/>
              <a:t>List Drawbacks:</a:t>
            </a:r>
          </a:p>
          <a:p>
            <a:pPr lvl="1">
              <a:lnSpc>
                <a:spcPct val="90000"/>
              </a:lnSpc>
            </a:pPr>
            <a:r>
              <a:rPr lang="en-US" dirty="0"/>
              <a:t>Random access is not allowed</a:t>
            </a:r>
          </a:p>
          <a:p>
            <a:pPr lvl="2">
              <a:lnSpc>
                <a:spcPct val="90000"/>
              </a:lnSpc>
            </a:pPr>
            <a:r>
              <a:rPr lang="en-US" dirty="0"/>
              <a:t>Access elements sequentially</a:t>
            </a:r>
          </a:p>
          <a:p>
            <a:pPr lvl="1">
              <a:lnSpc>
                <a:spcPct val="90000"/>
              </a:lnSpc>
            </a:pPr>
            <a:r>
              <a:rPr lang="en-US" dirty="0"/>
              <a:t>Extra memory space required for the pointer to each element</a:t>
            </a:r>
          </a:p>
        </p:txBody>
      </p:sp>
      <p:sp>
        <p:nvSpPr>
          <p:cNvPr id="3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213</a:t>
            </a:fld>
            <a:endParaRPr lang="fr-FR" sz="1400" dirty="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5012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73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373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73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731">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3731">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73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3731">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73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lstStyle/>
          <a:p>
            <a:r>
              <a:rPr lang="en-US" sz="2800" dirty="0"/>
              <a:t>Linked list</a:t>
            </a:r>
          </a:p>
        </p:txBody>
      </p:sp>
      <p:sp>
        <p:nvSpPr>
          <p:cNvPr id="73731" name="Rectangle 1027" descr="Rectangle: Click to edit Master text styles&#10;Second level&#10;Third level&#10;Fourth level&#10;Fifth level"/>
          <p:cNvSpPr>
            <a:spLocks noGrp="1" noChangeArrowheads="1"/>
          </p:cNvSpPr>
          <p:nvPr>
            <p:ph type="body" idx="1"/>
          </p:nvPr>
        </p:nvSpPr>
        <p:spPr>
          <a:xfrm>
            <a:off x="431540" y="1088740"/>
            <a:ext cx="5832648" cy="2514600"/>
          </a:xfrm>
        </p:spPr>
        <p:txBody>
          <a:bodyPr/>
          <a:lstStyle/>
          <a:p>
            <a:pPr>
              <a:lnSpc>
                <a:spcPct val="90000"/>
              </a:lnSpc>
            </a:pPr>
            <a:r>
              <a:rPr lang="en-US" dirty="0"/>
              <a:t>Each element has</a:t>
            </a:r>
          </a:p>
          <a:p>
            <a:pPr lvl="1">
              <a:lnSpc>
                <a:spcPct val="90000"/>
              </a:lnSpc>
            </a:pPr>
            <a:r>
              <a:rPr lang="en-US" b="1" dirty="0">
                <a:latin typeface="Courier"/>
                <a:cs typeface="Courier"/>
              </a:rPr>
              <a:t>data</a:t>
            </a:r>
          </a:p>
          <a:p>
            <a:pPr lvl="1">
              <a:lnSpc>
                <a:spcPct val="90000"/>
              </a:lnSpc>
            </a:pPr>
            <a:r>
              <a:rPr lang="en-US" b="1" dirty="0">
                <a:latin typeface="Courier"/>
                <a:cs typeface="Courier"/>
              </a:rPr>
              <a:t>next: </a:t>
            </a:r>
            <a:r>
              <a:rPr lang="en-US" dirty="0"/>
              <a:t>Link to the next element</a:t>
            </a:r>
          </a:p>
          <a:p>
            <a:pPr lvl="1">
              <a:lnSpc>
                <a:spcPct val="90000"/>
              </a:lnSpc>
            </a:pPr>
            <a:endParaRPr lang="en-US" dirty="0"/>
          </a:p>
          <a:p>
            <a:pPr>
              <a:lnSpc>
                <a:spcPct val="90000"/>
              </a:lnSpc>
            </a:pPr>
            <a:r>
              <a:rPr lang="en-US" dirty="0"/>
              <a:t>In C, such an element can be represented using structures</a:t>
            </a:r>
          </a:p>
        </p:txBody>
      </p:sp>
      <p:grpSp>
        <p:nvGrpSpPr>
          <p:cNvPr id="2" name="Group 1"/>
          <p:cNvGrpSpPr/>
          <p:nvPr/>
        </p:nvGrpSpPr>
        <p:grpSpPr>
          <a:xfrm>
            <a:off x="6264188" y="800708"/>
            <a:ext cx="2590800" cy="2529644"/>
            <a:chOff x="5181600" y="1432756"/>
            <a:chExt cx="2590800" cy="2529644"/>
          </a:xfrm>
        </p:grpSpPr>
        <p:sp>
          <p:nvSpPr>
            <p:cNvPr id="73733" name="Rectangle 1029"/>
            <p:cNvSpPr>
              <a:spLocks noChangeArrowheads="1"/>
            </p:cNvSpPr>
            <p:nvPr/>
          </p:nvSpPr>
          <p:spPr bwMode="auto">
            <a:xfrm>
              <a:off x="5486400" y="2133600"/>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39" name="Text Box 1035"/>
            <p:cNvSpPr txBox="1">
              <a:spLocks noChangeArrowheads="1"/>
            </p:cNvSpPr>
            <p:nvPr/>
          </p:nvSpPr>
          <p:spPr bwMode="auto">
            <a:xfrm>
              <a:off x="6871385" y="1981200"/>
              <a:ext cx="80031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latin typeface="Courier"/>
                  <a:cs typeface="Courier"/>
                </a:rPr>
                <a:t>next</a:t>
              </a:r>
            </a:p>
          </p:txBody>
        </p:sp>
        <p:sp>
          <p:nvSpPr>
            <p:cNvPr id="73740" name="Text Box 1036"/>
            <p:cNvSpPr txBox="1">
              <a:spLocks noChangeArrowheads="1"/>
            </p:cNvSpPr>
            <p:nvPr/>
          </p:nvSpPr>
          <p:spPr bwMode="auto">
            <a:xfrm>
              <a:off x="5395010" y="3438525"/>
              <a:ext cx="80031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olidFill>
                    <a:schemeClr val="tx2"/>
                  </a:solidFill>
                  <a:latin typeface="Courier"/>
                  <a:cs typeface="Courier"/>
                </a:rPr>
                <a:t>data</a:t>
              </a:r>
            </a:p>
          </p:txBody>
        </p:sp>
        <p:sp>
          <p:nvSpPr>
            <p:cNvPr id="73741" name="Text Box 1037"/>
            <p:cNvSpPr txBox="1">
              <a:spLocks noChangeArrowheads="1"/>
            </p:cNvSpPr>
            <p:nvPr/>
          </p:nvSpPr>
          <p:spPr bwMode="auto">
            <a:xfrm>
              <a:off x="5793668" y="1432756"/>
              <a:ext cx="126205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latin typeface="Courier"/>
                  <a:cs typeface="Courier"/>
                </a:rPr>
                <a:t>element</a:t>
              </a:r>
            </a:p>
          </p:txBody>
        </p:sp>
        <p:sp>
          <p:nvSpPr>
            <p:cNvPr id="73742" name="AutoShape 1038"/>
            <p:cNvSpPr>
              <a:spLocks noChangeArrowheads="1"/>
            </p:cNvSpPr>
            <p:nvPr/>
          </p:nvSpPr>
          <p:spPr bwMode="auto">
            <a:xfrm>
              <a:off x="5181600" y="1828800"/>
              <a:ext cx="2590800" cy="2133600"/>
            </a:xfrm>
            <a:prstGeom prst="roundRect">
              <a:avLst>
                <a:gd name="adj" fmla="val 16667"/>
              </a:avLst>
            </a:prstGeom>
            <a:noFill/>
            <a:ln w="9525">
              <a:solidFill>
                <a:schemeClr val="tx1"/>
              </a:solidFill>
              <a:prstDash val="lgDash"/>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45" name="Rectangle 1041"/>
            <p:cNvSpPr>
              <a:spLocks noChangeArrowheads="1"/>
            </p:cNvSpPr>
            <p:nvPr/>
          </p:nvSpPr>
          <p:spPr bwMode="auto">
            <a:xfrm>
              <a:off x="6096000" y="213360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46" name="Line 1042"/>
            <p:cNvSpPr>
              <a:spLocks noChangeShapeType="1"/>
            </p:cNvSpPr>
            <p:nvPr/>
          </p:nvSpPr>
          <p:spPr bwMode="auto">
            <a:xfrm>
              <a:off x="5791200" y="2438400"/>
              <a:ext cx="0" cy="914400"/>
            </a:xfrm>
            <a:prstGeom prst="line">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47" name="Line 1043"/>
            <p:cNvSpPr>
              <a:spLocks noChangeShapeType="1"/>
            </p:cNvSpPr>
            <p:nvPr/>
          </p:nvSpPr>
          <p:spPr bwMode="auto">
            <a:xfrm flipV="1">
              <a:off x="6400800" y="243840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
        <p:nvSpPr>
          <p:cNvPr id="3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214</a:t>
            </a:fld>
            <a:endParaRPr lang="fr-FR" sz="1400" dirty="0">
              <a:solidFill>
                <a:srgbClr val="000208"/>
              </a:solidFill>
              <a:latin typeface="Times New Roman" charset="0"/>
            </a:endParaRPr>
          </a:p>
        </p:txBody>
      </p:sp>
      <p:grpSp>
        <p:nvGrpSpPr>
          <p:cNvPr id="3" name="Group 2"/>
          <p:cNvGrpSpPr/>
          <p:nvPr/>
        </p:nvGrpSpPr>
        <p:grpSpPr>
          <a:xfrm>
            <a:off x="-34366" y="3609020"/>
            <a:ext cx="8888696" cy="2750505"/>
            <a:chOff x="-34366" y="3609020"/>
            <a:chExt cx="8888696" cy="2750505"/>
          </a:xfrm>
        </p:grpSpPr>
        <p:sp>
          <p:nvSpPr>
            <p:cNvPr id="73748" name="Rectangle 1044"/>
            <p:cNvSpPr>
              <a:spLocks noChangeArrowheads="1"/>
            </p:cNvSpPr>
            <p:nvPr/>
          </p:nvSpPr>
          <p:spPr bwMode="auto">
            <a:xfrm>
              <a:off x="982203" y="4149080"/>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2" name="Rectangle 1048"/>
            <p:cNvSpPr>
              <a:spLocks noChangeArrowheads="1"/>
            </p:cNvSpPr>
            <p:nvPr/>
          </p:nvSpPr>
          <p:spPr bwMode="auto">
            <a:xfrm>
              <a:off x="15918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3" name="Line 1049"/>
            <p:cNvSpPr>
              <a:spLocks noChangeShapeType="1"/>
            </p:cNvSpPr>
            <p:nvPr/>
          </p:nvSpPr>
          <p:spPr bwMode="auto">
            <a:xfrm>
              <a:off x="1287003" y="4453880"/>
              <a:ext cx="0" cy="914400"/>
            </a:xfrm>
            <a:prstGeom prst="line">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54" name="Line 1050"/>
            <p:cNvSpPr>
              <a:spLocks noChangeShapeType="1"/>
            </p:cNvSpPr>
            <p:nvPr/>
          </p:nvSpPr>
          <p:spPr bwMode="auto">
            <a:xfrm flipV="1">
              <a:off x="18966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55" name="Rectangle 1051"/>
            <p:cNvSpPr>
              <a:spLocks noChangeArrowheads="1"/>
            </p:cNvSpPr>
            <p:nvPr/>
          </p:nvSpPr>
          <p:spPr bwMode="auto">
            <a:xfrm>
              <a:off x="2811003" y="4149080"/>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6" name="Rectangle 1052"/>
            <p:cNvSpPr>
              <a:spLocks noChangeArrowheads="1"/>
            </p:cNvSpPr>
            <p:nvPr/>
          </p:nvSpPr>
          <p:spPr bwMode="auto">
            <a:xfrm>
              <a:off x="34206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7" name="Line 1053"/>
            <p:cNvSpPr>
              <a:spLocks noChangeShapeType="1"/>
            </p:cNvSpPr>
            <p:nvPr/>
          </p:nvSpPr>
          <p:spPr bwMode="auto">
            <a:xfrm flipV="1">
              <a:off x="37254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58" name="Rectangle 1054"/>
            <p:cNvSpPr>
              <a:spLocks noChangeArrowheads="1"/>
            </p:cNvSpPr>
            <p:nvPr/>
          </p:nvSpPr>
          <p:spPr bwMode="auto">
            <a:xfrm>
              <a:off x="4639803" y="4149080"/>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59" name="Rectangle 1055"/>
            <p:cNvSpPr>
              <a:spLocks noChangeArrowheads="1"/>
            </p:cNvSpPr>
            <p:nvPr/>
          </p:nvSpPr>
          <p:spPr bwMode="auto">
            <a:xfrm>
              <a:off x="52494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60" name="Line 1056"/>
            <p:cNvSpPr>
              <a:spLocks noChangeShapeType="1"/>
            </p:cNvSpPr>
            <p:nvPr/>
          </p:nvSpPr>
          <p:spPr bwMode="auto">
            <a:xfrm flipV="1">
              <a:off x="55542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61" name="Rectangle 1057"/>
            <p:cNvSpPr>
              <a:spLocks noChangeArrowheads="1"/>
            </p:cNvSpPr>
            <p:nvPr/>
          </p:nvSpPr>
          <p:spPr bwMode="auto">
            <a:xfrm>
              <a:off x="6468603" y="4149080"/>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62" name="Rectangle 1058"/>
            <p:cNvSpPr>
              <a:spLocks noChangeArrowheads="1"/>
            </p:cNvSpPr>
            <p:nvPr/>
          </p:nvSpPr>
          <p:spPr bwMode="auto">
            <a:xfrm>
              <a:off x="7078203" y="4149080"/>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3763" name="Line 1059"/>
            <p:cNvSpPr>
              <a:spLocks noChangeShapeType="1"/>
            </p:cNvSpPr>
            <p:nvPr/>
          </p:nvSpPr>
          <p:spPr bwMode="auto">
            <a:xfrm flipV="1">
              <a:off x="7383003" y="44538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66" name="Line 1062"/>
            <p:cNvSpPr>
              <a:spLocks noChangeShapeType="1"/>
            </p:cNvSpPr>
            <p:nvPr/>
          </p:nvSpPr>
          <p:spPr bwMode="auto">
            <a:xfrm>
              <a:off x="3115803" y="4453880"/>
              <a:ext cx="0" cy="914400"/>
            </a:xfrm>
            <a:prstGeom prst="line">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68" name="Line 1064"/>
            <p:cNvSpPr>
              <a:spLocks noChangeShapeType="1"/>
            </p:cNvSpPr>
            <p:nvPr/>
          </p:nvSpPr>
          <p:spPr bwMode="auto">
            <a:xfrm>
              <a:off x="4944603" y="4453880"/>
              <a:ext cx="0" cy="914400"/>
            </a:xfrm>
            <a:prstGeom prst="line">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70" name="Line 1066"/>
            <p:cNvSpPr>
              <a:spLocks noChangeShapeType="1"/>
            </p:cNvSpPr>
            <p:nvPr/>
          </p:nvSpPr>
          <p:spPr bwMode="auto">
            <a:xfrm>
              <a:off x="6773403" y="4453880"/>
              <a:ext cx="0" cy="914400"/>
            </a:xfrm>
            <a:prstGeom prst="line">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771" name="Text Box 1067"/>
            <p:cNvSpPr txBox="1">
              <a:spLocks noChangeArrowheads="1"/>
            </p:cNvSpPr>
            <p:nvPr/>
          </p:nvSpPr>
          <p:spPr bwMode="auto">
            <a:xfrm>
              <a:off x="8270416" y="425544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pic>
          <p:nvPicPr>
            <p:cNvPr id="37" name="Picture 4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48172" y="5413375"/>
              <a:ext cx="685800" cy="835025"/>
            </a:xfrm>
            <a:prstGeom prst="rect">
              <a:avLst/>
            </a:prstGeom>
            <a:solidFill>
              <a:schemeClr val="folHlink"/>
            </a:solidFill>
            <a:ln w="19050">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38" name="Picture 4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06080" y="5413375"/>
              <a:ext cx="685800" cy="803275"/>
            </a:xfrm>
            <a:prstGeom prst="rect">
              <a:avLst/>
            </a:prstGeom>
            <a:solidFill>
              <a:schemeClr val="folHlink"/>
            </a:solidFill>
            <a:ln w="19050">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39" name="Picture 48"/>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06480" y="5413375"/>
              <a:ext cx="685800" cy="612775"/>
            </a:xfrm>
            <a:prstGeom prst="rect">
              <a:avLst/>
            </a:prstGeom>
            <a:solidFill>
              <a:schemeClr val="folHlink"/>
            </a:solidFill>
            <a:ln w="19050">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40" name="Picture 49"/>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642284" y="5413375"/>
              <a:ext cx="685800" cy="663575"/>
            </a:xfrm>
            <a:prstGeom prst="rect">
              <a:avLst/>
            </a:prstGeom>
            <a:solidFill>
              <a:schemeClr val="folHlink"/>
            </a:solidFill>
            <a:ln w="19050">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41" name="AutoShape 52"/>
            <p:cNvSpPr>
              <a:spLocks noChangeArrowheads="1"/>
            </p:cNvSpPr>
            <p:nvPr/>
          </p:nvSpPr>
          <p:spPr bwMode="auto">
            <a:xfrm>
              <a:off x="719572" y="5140325"/>
              <a:ext cx="7164796" cy="1219200"/>
            </a:xfrm>
            <a:prstGeom prst="roundRect">
              <a:avLst>
                <a:gd name="adj" fmla="val 16667"/>
              </a:avLst>
            </a:prstGeom>
            <a:noFill/>
            <a:ln w="9525">
              <a:solidFill>
                <a:schemeClr val="tx2"/>
              </a:solidFill>
              <a:prstDash val="lgDash"/>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3" name="Line 26"/>
            <p:cNvSpPr>
              <a:spLocks noChangeShapeType="1"/>
            </p:cNvSpPr>
            <p:nvPr/>
          </p:nvSpPr>
          <p:spPr bwMode="auto">
            <a:xfrm rot="5400000" flipV="1">
              <a:off x="666800" y="4168316"/>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42" name="Text Box 25"/>
            <p:cNvSpPr txBox="1">
              <a:spLocks noChangeArrowheads="1"/>
            </p:cNvSpPr>
            <p:nvPr/>
          </p:nvSpPr>
          <p:spPr bwMode="auto">
            <a:xfrm flipH="1">
              <a:off x="-34366" y="3933056"/>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45" name="Text Box 25"/>
            <p:cNvSpPr txBox="1">
              <a:spLocks noChangeArrowheads="1"/>
            </p:cNvSpPr>
            <p:nvPr/>
          </p:nvSpPr>
          <p:spPr bwMode="auto">
            <a:xfrm flipH="1">
              <a:off x="86358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6" name="Text Box 25"/>
            <p:cNvSpPr txBox="1">
              <a:spLocks noChangeArrowheads="1"/>
            </p:cNvSpPr>
            <p:nvPr/>
          </p:nvSpPr>
          <p:spPr bwMode="auto">
            <a:xfrm flipH="1">
              <a:off x="266378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7" name="Text Box 25"/>
            <p:cNvSpPr txBox="1">
              <a:spLocks noChangeArrowheads="1"/>
            </p:cNvSpPr>
            <p:nvPr/>
          </p:nvSpPr>
          <p:spPr bwMode="auto">
            <a:xfrm flipH="1">
              <a:off x="4572000"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8" name="Text Box 25"/>
            <p:cNvSpPr txBox="1">
              <a:spLocks noChangeArrowheads="1"/>
            </p:cNvSpPr>
            <p:nvPr/>
          </p:nvSpPr>
          <p:spPr bwMode="auto">
            <a:xfrm flipH="1">
              <a:off x="6444208" y="3609020"/>
              <a:ext cx="144016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element</a:t>
              </a:r>
            </a:p>
          </p:txBody>
        </p:sp>
        <p:sp>
          <p:nvSpPr>
            <p:cNvPr id="49" name="Text Box 25"/>
            <p:cNvSpPr txBox="1">
              <a:spLocks noChangeArrowheads="1"/>
            </p:cNvSpPr>
            <p:nvPr/>
          </p:nvSpPr>
          <p:spPr bwMode="auto">
            <a:xfrm flipH="1">
              <a:off x="7812360" y="3933056"/>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grpSp>
      <p:sp>
        <p:nvSpPr>
          <p:cNvPr id="5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59565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215</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25660"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la_liste</a:t>
            </a:r>
            <a:r>
              <a:rPr lang="en-GB" sz="1800" b="1" dirty="0">
                <a:latin typeface="Courier"/>
                <a:cs typeface="Courier"/>
              </a:rPr>
              <a:t> = NULL;</a:t>
            </a:r>
          </a:p>
          <a:p>
            <a:pPr marL="93663" indent="0">
              <a:buNone/>
            </a:pPr>
            <a:r>
              <a:rPr lang="en-GB" sz="1800" b="1" dirty="0">
                <a:latin typeface="Courier"/>
                <a:cs typeface="Courier"/>
              </a:rPr>
              <a:t>  …</a:t>
            </a:r>
          </a:p>
          <a:p>
            <a:pPr marL="93663" indent="0">
              <a:buNone/>
            </a:pPr>
            <a:r>
              <a:rPr lang="en-GB" sz="1800" b="1" dirty="0">
                <a:latin typeface="Courier"/>
                <a:cs typeface="Courier"/>
              </a:rPr>
              <a:t>}</a:t>
            </a:r>
            <a:r>
              <a:rPr lang="en-GB" sz="2000" b="1" dirty="0">
                <a:latin typeface="Courier"/>
                <a:cs typeface="Courier"/>
              </a:rPr>
              <a:t>  </a:t>
            </a: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53" name="Table 52">
            <a:extLst>
              <a:ext uri="{FF2B5EF4-FFF2-40B4-BE49-F238E27FC236}">
                <a16:creationId xmlns:a16="http://schemas.microsoft.com/office/drawing/2014/main" id="{FB6FB9F3-6B58-CC4A-B4F9-6433F2FDCD07}"/>
              </a:ext>
            </a:extLst>
          </p:cNvPr>
          <p:cNvGraphicFramePr>
            <a:graphicFrameLocks noGrp="1"/>
          </p:cNvGraphicFramePr>
          <p:nvPr>
            <p:extLst>
              <p:ext uri="{D42A27DB-BD31-4B8C-83A1-F6EECF244321}">
                <p14:modId xmlns:p14="http://schemas.microsoft.com/office/powerpoint/2010/main" val="1661985162"/>
              </p:ext>
            </p:extLst>
          </p:nvPr>
        </p:nvGraphicFramePr>
        <p:xfrm>
          <a:off x="2623087" y="4005064"/>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54" name="Group 53">
            <a:extLst>
              <a:ext uri="{FF2B5EF4-FFF2-40B4-BE49-F238E27FC236}">
                <a16:creationId xmlns:a16="http://schemas.microsoft.com/office/drawing/2014/main" id="{D1D0B3EF-699C-E54B-8F55-9014174073D2}"/>
              </a:ext>
            </a:extLst>
          </p:cNvPr>
          <p:cNvGrpSpPr/>
          <p:nvPr/>
        </p:nvGrpSpPr>
        <p:grpSpPr>
          <a:xfrm>
            <a:off x="629561" y="3609020"/>
            <a:ext cx="3235740" cy="1584176"/>
            <a:chOff x="202210" y="3681028"/>
            <a:chExt cx="3235740" cy="1584176"/>
          </a:xfrm>
        </p:grpSpPr>
        <p:grpSp>
          <p:nvGrpSpPr>
            <p:cNvPr id="55" name="Group 54">
              <a:extLst>
                <a:ext uri="{FF2B5EF4-FFF2-40B4-BE49-F238E27FC236}">
                  <a16:creationId xmlns:a16="http://schemas.microsoft.com/office/drawing/2014/main" id="{86BA2E13-6525-B646-94A9-44AA2B716651}"/>
                </a:ext>
              </a:extLst>
            </p:cNvPr>
            <p:cNvGrpSpPr/>
            <p:nvPr/>
          </p:nvGrpSpPr>
          <p:grpSpPr>
            <a:xfrm>
              <a:off x="2491156" y="3681028"/>
              <a:ext cx="946794" cy="1584176"/>
              <a:chOff x="2491156" y="3681028"/>
              <a:chExt cx="946794" cy="1584176"/>
            </a:xfrm>
          </p:grpSpPr>
          <p:sp>
            <p:nvSpPr>
              <p:cNvPr id="59" name="TextBox 58">
                <a:extLst>
                  <a:ext uri="{FF2B5EF4-FFF2-40B4-BE49-F238E27FC236}">
                    <a16:creationId xmlns:a16="http://schemas.microsoft.com/office/drawing/2014/main" id="{B9016D2F-5B08-E04F-AFE4-DA7BBDBF78F1}"/>
                  </a:ext>
                </a:extLst>
              </p:cNvPr>
              <p:cNvSpPr txBox="1"/>
              <p:nvPr/>
            </p:nvSpPr>
            <p:spPr>
              <a:xfrm>
                <a:off x="2637731" y="4865094"/>
                <a:ext cx="800219" cy="400110"/>
              </a:xfrm>
              <a:prstGeom prst="rect">
                <a:avLst/>
              </a:prstGeom>
              <a:noFill/>
            </p:spPr>
            <p:txBody>
              <a:bodyPr wrap="none" rtlCol="0">
                <a:spAutoFit/>
              </a:bodyPr>
              <a:lstStyle/>
              <a:p>
                <a:r>
                  <a:rPr lang="en-US" sz="2000" b="1" dirty="0">
                    <a:latin typeface="Courier"/>
                    <a:cs typeface="Courier"/>
                  </a:rPr>
                  <a:t>NULL</a:t>
                </a:r>
              </a:p>
            </p:txBody>
          </p:sp>
          <p:sp>
            <p:nvSpPr>
              <p:cNvPr id="60" name="TextBox 59">
                <a:extLst>
                  <a:ext uri="{FF2B5EF4-FFF2-40B4-BE49-F238E27FC236}">
                    <a16:creationId xmlns:a16="http://schemas.microsoft.com/office/drawing/2014/main" id="{F5ECB2A3-A6CF-8349-BCE7-9378EBE18F93}"/>
                  </a:ext>
                </a:extLst>
              </p:cNvPr>
              <p:cNvSpPr txBox="1"/>
              <p:nvPr/>
            </p:nvSpPr>
            <p:spPr>
              <a:xfrm>
                <a:off x="2491156" y="3681028"/>
                <a:ext cx="869073" cy="400110"/>
              </a:xfrm>
              <a:prstGeom prst="rect">
                <a:avLst/>
              </a:prstGeom>
              <a:noFill/>
            </p:spPr>
            <p:txBody>
              <a:bodyPr wrap="none" rtlCol="0">
                <a:spAutoFit/>
              </a:bodyPr>
              <a:lstStyle/>
              <a:p>
                <a:r>
                  <a:rPr lang="en-US" sz="2000" b="1" dirty="0"/>
                  <a:t>Stack</a:t>
                </a:r>
              </a:p>
            </p:txBody>
          </p:sp>
        </p:grpSp>
        <p:grpSp>
          <p:nvGrpSpPr>
            <p:cNvPr id="56" name="Group 55">
              <a:extLst>
                <a:ext uri="{FF2B5EF4-FFF2-40B4-BE49-F238E27FC236}">
                  <a16:creationId xmlns:a16="http://schemas.microsoft.com/office/drawing/2014/main" id="{10AC2F23-DE37-7346-B428-4EA0A23786FA}"/>
                </a:ext>
              </a:extLst>
            </p:cNvPr>
            <p:cNvGrpSpPr/>
            <p:nvPr/>
          </p:nvGrpSpPr>
          <p:grpSpPr>
            <a:xfrm>
              <a:off x="202210" y="4850702"/>
              <a:ext cx="1980141" cy="400110"/>
              <a:chOff x="202210" y="4850702"/>
              <a:chExt cx="1980141" cy="400110"/>
            </a:xfrm>
          </p:grpSpPr>
          <p:sp>
            <p:nvSpPr>
              <p:cNvPr id="57" name="TextBox 56">
                <a:extLst>
                  <a:ext uri="{FF2B5EF4-FFF2-40B4-BE49-F238E27FC236}">
                    <a16:creationId xmlns:a16="http://schemas.microsoft.com/office/drawing/2014/main" id="{8DD4B370-1535-AF4B-87BC-058CAFDA2647}"/>
                  </a:ext>
                </a:extLst>
              </p:cNvPr>
              <p:cNvSpPr txBox="1"/>
              <p:nvPr/>
            </p:nvSpPr>
            <p:spPr>
              <a:xfrm>
                <a:off x="202210"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58" name="TextBox 57">
                <a:extLst>
                  <a:ext uri="{FF2B5EF4-FFF2-40B4-BE49-F238E27FC236}">
                    <a16:creationId xmlns:a16="http://schemas.microsoft.com/office/drawing/2014/main" id="{BAECE8EB-B886-2646-A57C-A9BCCB9B75CC}"/>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pSp>
        <p:nvGrpSpPr>
          <p:cNvPr id="52" name="Group 51">
            <a:extLst>
              <a:ext uri="{FF2B5EF4-FFF2-40B4-BE49-F238E27FC236}">
                <a16:creationId xmlns:a16="http://schemas.microsoft.com/office/drawing/2014/main" id="{2715FF11-B8DD-0549-83B7-67A3A8547D92}"/>
              </a:ext>
            </a:extLst>
          </p:cNvPr>
          <p:cNvGrpSpPr/>
          <p:nvPr/>
        </p:nvGrpSpPr>
        <p:grpSpPr>
          <a:xfrm>
            <a:off x="2820927" y="5714839"/>
            <a:ext cx="1463041" cy="738497"/>
            <a:chOff x="2820927" y="5517232"/>
            <a:chExt cx="1463041" cy="738497"/>
          </a:xfrm>
        </p:grpSpPr>
        <p:sp>
          <p:nvSpPr>
            <p:cNvPr id="70" name="Line 26">
              <a:extLst>
                <a:ext uri="{FF2B5EF4-FFF2-40B4-BE49-F238E27FC236}">
                  <a16:creationId xmlns:a16="http://schemas.microsoft.com/office/drawing/2014/main" id="{A397B786-08A6-C741-9B17-69F236387FAE}"/>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1" name="Text Box 25">
              <a:extLst>
                <a:ext uri="{FF2B5EF4-FFF2-40B4-BE49-F238E27FC236}">
                  <a16:creationId xmlns:a16="http://schemas.microsoft.com/office/drawing/2014/main" id="{07EE1F20-3C9E-ED46-AE1F-11F696A5E794}"/>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72" name="Text Box 1067">
              <a:extLst>
                <a:ext uri="{FF2B5EF4-FFF2-40B4-BE49-F238E27FC236}">
                  <a16:creationId xmlns:a16="http://schemas.microsoft.com/office/drawing/2014/main" id="{03029073-F058-1E46-9CB8-3A26B03F4114}"/>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73" name="Espace réservé du contenu 2">
            <a:extLst>
              <a:ext uri="{FF2B5EF4-FFF2-40B4-BE49-F238E27FC236}">
                <a16:creationId xmlns:a16="http://schemas.microsoft.com/office/drawing/2014/main" id="{7806BD8D-8AFC-E044-8BDC-CC0BDC09D533}"/>
              </a:ext>
            </a:extLst>
          </p:cNvPr>
          <p:cNvSpPr txBox="1">
            <a:spLocks/>
          </p:cNvSpPr>
          <p:nvPr/>
        </p:nvSpPr>
        <p:spPr bwMode="auto">
          <a:xfrm>
            <a:off x="5724128" y="892541"/>
            <a:ext cx="3348372" cy="1548780"/>
          </a:xfrm>
          <a:prstGeom prst="rect">
            <a:avLst/>
          </a:prstGeom>
          <a:noFill/>
          <a:ln>
            <a:solidFill>
              <a:schemeClr val="tx1"/>
            </a:solidFill>
            <a:prstDash val="sysDash"/>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0" indent="0">
              <a:buSzTx/>
              <a:buFont typeface="Monotype Sorts" charset="0"/>
              <a:buNone/>
            </a:pPr>
            <a:r>
              <a:rPr lang="en-GB" sz="1800" b="1" kern="0" dirty="0">
                <a:latin typeface="Courier"/>
                <a:cs typeface="Courier"/>
              </a:rPr>
              <a:t>struct </a:t>
            </a:r>
            <a:r>
              <a:rPr lang="en-GB" sz="1800" b="1" kern="0" dirty="0" err="1">
                <a:latin typeface="Courier"/>
                <a:cs typeface="Courier"/>
              </a:rPr>
              <a:t>list_elem_t</a:t>
            </a:r>
            <a:r>
              <a:rPr lang="en-GB" sz="1800" b="1" kern="0" dirty="0">
                <a:latin typeface="Courier"/>
                <a:cs typeface="Courier"/>
              </a:rPr>
              <a:t> { </a:t>
            </a:r>
          </a:p>
          <a:p>
            <a:pPr marL="542925" lvl="1" indent="0">
              <a:buFont typeface="ZapfDingbats" charset="0"/>
              <a:buNone/>
            </a:pPr>
            <a:r>
              <a:rPr lang="en-GB" sz="1800" b="1" kern="0" dirty="0">
                <a:latin typeface="Courier"/>
                <a:cs typeface="Courier"/>
              </a:rPr>
              <a:t>int value;</a:t>
            </a:r>
          </a:p>
          <a:p>
            <a:pPr marL="542925" lvl="1" indent="0">
              <a:buFont typeface="ZapfDingbats" charset="0"/>
              <a:buNone/>
            </a:pPr>
            <a:r>
              <a:rPr lang="en-GB" sz="1800" b="1" kern="0" dirty="0" err="1">
                <a:latin typeface="Courier"/>
                <a:cs typeface="Courier"/>
              </a:rPr>
              <a:t>list_elem_t</a:t>
            </a:r>
            <a:r>
              <a:rPr lang="en-GB" sz="1800" b="1" kern="0" dirty="0">
                <a:latin typeface="Courier"/>
                <a:cs typeface="Courier"/>
              </a:rPr>
              <a:t> *next; </a:t>
            </a:r>
          </a:p>
          <a:p>
            <a:pPr marL="93663" indent="0">
              <a:buSzTx/>
              <a:buFont typeface="Monotype Sorts" charset="0"/>
              <a:buNone/>
            </a:pPr>
            <a:r>
              <a:rPr lang="en-GB" sz="1800" b="1" kern="0" dirty="0">
                <a:latin typeface="Courier"/>
                <a:cs typeface="Courier"/>
              </a:rPr>
              <a:t>};</a:t>
            </a:r>
          </a:p>
          <a:p>
            <a:pPr marL="93663" indent="0">
              <a:buSzTx/>
              <a:buFont typeface="Monotype Sorts" charset="0"/>
              <a:buNone/>
            </a:pPr>
            <a:endParaRPr lang="en-GB" sz="1000" b="1" kern="0" dirty="0">
              <a:latin typeface="Courier"/>
              <a:cs typeface="Courier"/>
            </a:endParaRPr>
          </a:p>
        </p:txBody>
      </p:sp>
    </p:spTree>
    <p:extLst>
      <p:ext uri="{BB962C8B-B14F-4D97-AF65-F5344CB8AC3E}">
        <p14:creationId xmlns:p14="http://schemas.microsoft.com/office/powerpoint/2010/main" val="72481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80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80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216</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(1); </a:t>
            </a:r>
          </a:p>
          <a:p>
            <a:pPr marL="93663" indent="0">
              <a:buNone/>
            </a:pPr>
            <a:r>
              <a:rPr lang="en-GB" sz="1800" b="1" dirty="0">
                <a:latin typeface="Courier"/>
                <a:cs typeface="Courier"/>
              </a:rPr>
              <a:t> …</a:t>
            </a:r>
          </a:p>
          <a:p>
            <a:pPr marL="93663" indent="0">
              <a:buNone/>
            </a:pPr>
            <a:r>
              <a:rPr lang="en-GB" sz="1800" b="1" dirty="0">
                <a:latin typeface="Courier"/>
                <a:cs typeface="Courier"/>
              </a:rPr>
              <a:t>}</a:t>
            </a:r>
            <a:endParaRPr lang="en-GB" sz="1050" b="1" dirty="0">
              <a:latin typeface="Courier"/>
              <a:cs typeface="Courier"/>
            </a:endParaRPr>
          </a:p>
          <a:p>
            <a:pPr marL="93663" indent="0">
              <a:buNone/>
            </a:pP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create_element</a:t>
            </a:r>
            <a:r>
              <a:rPr lang="en-GB" sz="1800" b="1" dirty="0">
                <a:latin typeface="Courier"/>
                <a:cs typeface="Courier"/>
              </a:rPr>
              <a:t>(int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newelt</a:t>
            </a:r>
            <a:r>
              <a:rPr lang="en-GB" sz="1800" b="1" dirty="0">
                <a:latin typeface="Courier"/>
                <a:cs typeface="Courier"/>
              </a:rPr>
              <a:t> = malloc(</a:t>
            </a:r>
            <a:r>
              <a:rPr lang="en-GB" sz="1800" b="1" dirty="0" err="1">
                <a:latin typeface="Courier"/>
                <a:cs typeface="Courier"/>
              </a:rPr>
              <a:t>sizeof</a:t>
            </a:r>
            <a:r>
              <a:rPr lang="en-GB" sz="1800" b="1" dirty="0">
                <a:latin typeface="Courier"/>
                <a:cs typeface="Courier"/>
              </a:rPr>
              <a:t>(struct </a:t>
            </a:r>
            <a:r>
              <a:rPr lang="en-GB" sz="1800" b="1" dirty="0" err="1">
                <a:latin typeface="Courier"/>
                <a:cs typeface="Courier"/>
              </a:rPr>
              <a:t>list_elem_t</a:t>
            </a:r>
            <a:r>
              <a:rPr lang="en-GB" sz="1800" b="1" dirty="0">
                <a:latin typeface="Courier"/>
                <a:cs typeface="Courier"/>
              </a:rPr>
              <a:t> ));</a:t>
            </a:r>
          </a:p>
          <a:p>
            <a:pPr marL="93663" indent="0">
              <a:buNone/>
            </a:pPr>
            <a:r>
              <a:rPr lang="en-GB" sz="1800" b="1" dirty="0">
                <a:latin typeface="Courier"/>
                <a:cs typeface="Courier"/>
              </a:rPr>
              <a:t>  </a:t>
            </a:r>
            <a:r>
              <a:rPr lang="en-GB" sz="1800" b="1" dirty="0" err="1">
                <a:latin typeface="Courier"/>
                <a:cs typeface="Courier"/>
              </a:rPr>
              <a:t>newelt</a:t>
            </a:r>
            <a:r>
              <a:rPr lang="en-GB" sz="1800" b="1" dirty="0">
                <a:latin typeface="Courier"/>
                <a:cs typeface="Courier"/>
              </a:rPr>
              <a:t>-&gt;value=value;  </a:t>
            </a:r>
            <a:r>
              <a:rPr lang="en-GB" sz="1800" b="1" dirty="0" err="1">
                <a:latin typeface="Courier"/>
                <a:cs typeface="Courier"/>
              </a:rPr>
              <a:t>newelt</a:t>
            </a:r>
            <a:r>
              <a:rPr lang="en-GB" sz="1800" b="1" dirty="0">
                <a:latin typeface="Courier"/>
                <a:cs typeface="Courier"/>
              </a:rPr>
              <a:t>-&gt;next=NULL;</a:t>
            </a:r>
          </a:p>
          <a:p>
            <a:pPr marL="93663" indent="0">
              <a:buNone/>
            </a:pPr>
            <a:r>
              <a:rPr lang="en-GB" sz="1800" b="1" dirty="0">
                <a:latin typeface="Courier"/>
                <a:cs typeface="Courier"/>
              </a:rPr>
              <a:t>  </a:t>
            </a: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extLst>
              <p:ext uri="{D42A27DB-BD31-4B8C-83A1-F6EECF244321}">
                <p14:modId xmlns:p14="http://schemas.microsoft.com/office/powerpoint/2010/main" val="2745141908"/>
              </p:ext>
            </p:extLst>
          </p:nvPr>
        </p:nvGraphicFramePr>
        <p:xfrm>
          <a:off x="2623087" y="4000998"/>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604954"/>
            <a:ext cx="3253741" cy="1584176"/>
            <a:chOff x="184209" y="3681028"/>
            <a:chExt cx="3253741" cy="1584176"/>
          </a:xfrm>
        </p:grpSpPr>
        <p:grpSp>
          <p:nvGrpSpPr>
            <p:cNvPr id="19" name="Group 18">
              <a:extLst>
                <a:ext uri="{FF2B5EF4-FFF2-40B4-BE49-F238E27FC236}">
                  <a16:creationId xmlns:a16="http://schemas.microsoft.com/office/drawing/2014/main" id="{FC8D4065-01F6-A046-A09F-9CA96DB627E6}"/>
                </a:ext>
              </a:extLst>
            </p:cNvPr>
            <p:cNvGrpSpPr/>
            <p:nvPr/>
          </p:nvGrpSpPr>
          <p:grpSpPr>
            <a:xfrm>
              <a:off x="2491156" y="3681028"/>
              <a:ext cx="946794" cy="1584176"/>
              <a:chOff x="2491156" y="3681028"/>
              <a:chExt cx="946794" cy="1584176"/>
            </a:xfrm>
          </p:grpSpPr>
          <p:sp>
            <p:nvSpPr>
              <p:cNvPr id="23" name="TextBox 22">
                <a:extLst>
                  <a:ext uri="{FF2B5EF4-FFF2-40B4-BE49-F238E27FC236}">
                    <a16:creationId xmlns:a16="http://schemas.microsoft.com/office/drawing/2014/main" id="{27488452-474C-B141-B11D-46BC2C9F9AC6}"/>
                  </a:ext>
                </a:extLst>
              </p:cNvPr>
              <p:cNvSpPr txBox="1"/>
              <p:nvPr/>
            </p:nvSpPr>
            <p:spPr>
              <a:xfrm>
                <a:off x="2637731" y="4865094"/>
                <a:ext cx="800219" cy="400110"/>
              </a:xfrm>
              <a:prstGeom prst="rect">
                <a:avLst/>
              </a:prstGeom>
              <a:noFill/>
            </p:spPr>
            <p:txBody>
              <a:bodyPr wrap="none" rtlCol="0">
                <a:spAutoFit/>
              </a:bodyPr>
              <a:lstStyle/>
              <a:p>
                <a:r>
                  <a:rPr lang="en-US" sz="2000" b="1" dirty="0">
                    <a:latin typeface="Courier"/>
                    <a:cs typeface="Courier"/>
                  </a:rPr>
                  <a:t>NULL</a:t>
                </a:r>
              </a:p>
            </p:txBody>
          </p:sp>
          <p:sp>
            <p:nvSpPr>
              <p:cNvPr id="24" name="TextBox 23">
                <a:extLst>
                  <a:ext uri="{FF2B5EF4-FFF2-40B4-BE49-F238E27FC236}">
                    <a16:creationId xmlns:a16="http://schemas.microsoft.com/office/drawing/2014/main" id="{138628F4-04E1-C34C-A232-75BDACECB867}"/>
                  </a:ext>
                </a:extLst>
              </p:cNvPr>
              <p:cNvSpPr txBox="1"/>
              <p:nvPr/>
            </p:nvSpPr>
            <p:spPr>
              <a:xfrm>
                <a:off x="2491156" y="3681028"/>
                <a:ext cx="869073" cy="400110"/>
              </a:xfrm>
              <a:prstGeom prst="rect">
                <a:avLst/>
              </a:prstGeom>
              <a:noFill/>
            </p:spPr>
            <p:txBody>
              <a:bodyPr wrap="none" rtlCol="0">
                <a:spAutoFit/>
              </a:bodyPr>
              <a:lstStyle/>
              <a:p>
                <a:r>
                  <a:rPr lang="en-US" sz="2000" b="1" dirty="0"/>
                  <a:t>Stack</a:t>
                </a:r>
              </a:p>
            </p:txBody>
          </p:sp>
        </p:gr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extLst>
              <p:ext uri="{D42A27DB-BD31-4B8C-83A1-F6EECF244321}">
                <p14:modId xmlns:p14="http://schemas.microsoft.com/office/powerpoint/2010/main" val="1801338816"/>
              </p:ext>
            </p:extLst>
          </p:nvPr>
        </p:nvGraphicFramePr>
        <p:xfrm>
          <a:off x="6924487" y="397485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392443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50100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4" name="Group 3">
            <a:extLst>
              <a:ext uri="{FF2B5EF4-FFF2-40B4-BE49-F238E27FC236}">
                <a16:creationId xmlns:a16="http://schemas.microsoft.com/office/drawing/2014/main" id="{A6E56A64-79A9-5949-B73A-80DC7E9E7C76}"/>
              </a:ext>
            </a:extLst>
          </p:cNvPr>
          <p:cNvGrpSpPr/>
          <p:nvPr/>
        </p:nvGrpSpPr>
        <p:grpSpPr>
          <a:xfrm>
            <a:off x="503548" y="3992170"/>
            <a:ext cx="3077261" cy="404872"/>
            <a:chOff x="534855" y="4841874"/>
            <a:chExt cx="3077261" cy="404872"/>
          </a:xfrm>
        </p:grpSpPr>
        <p:sp>
          <p:nvSpPr>
            <p:cNvPr id="53" name="TextBox 52">
              <a:extLst>
                <a:ext uri="{FF2B5EF4-FFF2-40B4-BE49-F238E27FC236}">
                  <a16:creationId xmlns:a16="http://schemas.microsoft.com/office/drawing/2014/main" id="{C0EE4F73-4AF5-7D4B-93D8-72B2EA34C326}"/>
                </a:ext>
              </a:extLst>
            </p:cNvPr>
            <p:cNvSpPr txBox="1"/>
            <p:nvPr/>
          </p:nvSpPr>
          <p:spPr>
            <a:xfrm>
              <a:off x="534855" y="4846636"/>
              <a:ext cx="1107997" cy="400110"/>
            </a:xfrm>
            <a:prstGeom prst="rect">
              <a:avLst/>
            </a:prstGeom>
            <a:noFill/>
          </p:spPr>
          <p:txBody>
            <a:bodyPr wrap="none" rtlCol="0">
              <a:spAutoFit/>
            </a:bodyPr>
            <a:lstStyle/>
            <a:p>
              <a:r>
                <a:rPr lang="en-US" sz="2000" b="1" dirty="0">
                  <a:latin typeface="Courier"/>
                  <a:cs typeface="Courier"/>
                </a:rPr>
                <a:t>value:</a:t>
              </a:r>
            </a:p>
          </p:txBody>
        </p:sp>
        <p:sp>
          <p:nvSpPr>
            <p:cNvPr id="54" name="TextBox 53">
              <a:extLst>
                <a:ext uri="{FF2B5EF4-FFF2-40B4-BE49-F238E27FC236}">
                  <a16:creationId xmlns:a16="http://schemas.microsoft.com/office/drawing/2014/main" id="{AB74E649-469E-4C4E-A3BF-D022052D6DEA}"/>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55" name="TextBox 54">
              <a:extLst>
                <a:ext uri="{FF2B5EF4-FFF2-40B4-BE49-F238E27FC236}">
                  <a16:creationId xmlns:a16="http://schemas.microsoft.com/office/drawing/2014/main" id="{97E51043-FBC2-7B40-8B06-B69DA6F20F45}"/>
                </a:ext>
              </a:extLst>
            </p:cNvPr>
            <p:cNvSpPr txBox="1"/>
            <p:nvPr/>
          </p:nvSpPr>
          <p:spPr>
            <a:xfrm>
              <a:off x="3273562" y="4841874"/>
              <a:ext cx="338554" cy="400110"/>
            </a:xfrm>
            <a:prstGeom prst="rect">
              <a:avLst/>
            </a:prstGeom>
            <a:noFill/>
          </p:spPr>
          <p:txBody>
            <a:bodyPr wrap="none" rtlCol="0">
              <a:spAutoFit/>
            </a:bodyPr>
            <a:lstStyle/>
            <a:p>
              <a:r>
                <a:rPr lang="en-US" sz="2000" b="1" dirty="0">
                  <a:latin typeface="Courier"/>
                  <a:cs typeface="Courier"/>
                </a:rPr>
                <a:t>1</a:t>
              </a:r>
            </a:p>
          </p:txBody>
        </p:sp>
      </p:grpSp>
      <p:grpSp>
        <p:nvGrpSpPr>
          <p:cNvPr id="5" name="Group 4">
            <a:extLst>
              <a:ext uri="{FF2B5EF4-FFF2-40B4-BE49-F238E27FC236}">
                <a16:creationId xmlns:a16="http://schemas.microsoft.com/office/drawing/2014/main" id="{AF898083-4B3F-3F4D-BC0A-F65F4641110B}"/>
              </a:ext>
            </a:extLst>
          </p:cNvPr>
          <p:cNvGrpSpPr/>
          <p:nvPr/>
        </p:nvGrpSpPr>
        <p:grpSpPr>
          <a:xfrm>
            <a:off x="330763" y="4421784"/>
            <a:ext cx="2261017" cy="400110"/>
            <a:chOff x="330763" y="4893902"/>
            <a:chExt cx="2261017" cy="400110"/>
          </a:xfrm>
        </p:grpSpPr>
        <p:sp>
          <p:nvSpPr>
            <p:cNvPr id="56" name="TextBox 55">
              <a:extLst>
                <a:ext uri="{FF2B5EF4-FFF2-40B4-BE49-F238E27FC236}">
                  <a16:creationId xmlns:a16="http://schemas.microsoft.com/office/drawing/2014/main" id="{9E999866-BA40-0F45-986C-4F97CBE854AF}"/>
                </a:ext>
              </a:extLst>
            </p:cNvPr>
            <p:cNvSpPr txBox="1"/>
            <p:nvPr/>
          </p:nvSpPr>
          <p:spPr>
            <a:xfrm>
              <a:off x="330763" y="4893902"/>
              <a:ext cx="1261885" cy="400110"/>
            </a:xfrm>
            <a:prstGeom prst="rect">
              <a:avLst/>
            </a:prstGeom>
            <a:noFill/>
          </p:spPr>
          <p:txBody>
            <a:bodyPr wrap="none" rtlCol="0">
              <a:spAutoFit/>
            </a:bodyPr>
            <a:lstStyle/>
            <a:p>
              <a:r>
                <a:rPr lang="en-US" sz="2000" b="1" dirty="0" err="1">
                  <a:latin typeface="Courier"/>
                  <a:cs typeface="Courier"/>
                </a:rPr>
                <a:t>newelt</a:t>
              </a:r>
              <a:r>
                <a:rPr lang="en-US" sz="2000" b="1" dirty="0">
                  <a:latin typeface="Courier"/>
                  <a:cs typeface="Courier"/>
                </a:rPr>
                <a:t>:</a:t>
              </a:r>
            </a:p>
          </p:txBody>
        </p:sp>
        <p:sp>
          <p:nvSpPr>
            <p:cNvPr id="57" name="TextBox 56">
              <a:extLst>
                <a:ext uri="{FF2B5EF4-FFF2-40B4-BE49-F238E27FC236}">
                  <a16:creationId xmlns:a16="http://schemas.microsoft.com/office/drawing/2014/main" id="{BD844F54-1B03-3C41-BE66-2CAD32061C15}"/>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sp>
        <p:nvSpPr>
          <p:cNvPr id="58" name="TextBox 57">
            <a:extLst>
              <a:ext uri="{FF2B5EF4-FFF2-40B4-BE49-F238E27FC236}">
                <a16:creationId xmlns:a16="http://schemas.microsoft.com/office/drawing/2014/main" id="{A6A3C708-1A76-6F4C-BDAC-9BD736BD856D}"/>
              </a:ext>
            </a:extLst>
          </p:cNvPr>
          <p:cNvSpPr txBox="1"/>
          <p:nvPr/>
        </p:nvSpPr>
        <p:spPr>
          <a:xfrm>
            <a:off x="2796230" y="4417022"/>
            <a:ext cx="1107997" cy="400110"/>
          </a:xfrm>
          <a:prstGeom prst="rect">
            <a:avLst/>
          </a:prstGeom>
          <a:noFill/>
        </p:spPr>
        <p:txBody>
          <a:bodyPr wrap="none" rtlCol="0">
            <a:spAutoFit/>
          </a:bodyPr>
          <a:lstStyle/>
          <a:p>
            <a:r>
              <a:rPr lang="en-US" sz="2000" b="1" dirty="0">
                <a:latin typeface="Courier"/>
                <a:cs typeface="Courier"/>
              </a:rPr>
              <a:t>0x1000</a:t>
            </a:r>
          </a:p>
        </p:txBody>
      </p:sp>
      <p:sp>
        <p:nvSpPr>
          <p:cNvPr id="59" name="TextBox 58">
            <a:extLst>
              <a:ext uri="{FF2B5EF4-FFF2-40B4-BE49-F238E27FC236}">
                <a16:creationId xmlns:a16="http://schemas.microsoft.com/office/drawing/2014/main" id="{0A7C5BF0-DA81-CA4A-A15A-C2796E40B3C3}"/>
              </a:ext>
            </a:extLst>
          </p:cNvPr>
          <p:cNvSpPr txBox="1"/>
          <p:nvPr/>
        </p:nvSpPr>
        <p:spPr>
          <a:xfrm>
            <a:off x="148445" y="511712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60" name="TextBox 59">
            <a:extLst>
              <a:ext uri="{FF2B5EF4-FFF2-40B4-BE49-F238E27FC236}">
                <a16:creationId xmlns:a16="http://schemas.microsoft.com/office/drawing/2014/main" id="{062A63B1-A28B-5A42-A444-A8D60C8FAC61}"/>
              </a:ext>
            </a:extLst>
          </p:cNvPr>
          <p:cNvSpPr txBox="1"/>
          <p:nvPr/>
        </p:nvSpPr>
        <p:spPr>
          <a:xfrm>
            <a:off x="1501705" y="5117122"/>
            <a:ext cx="1107997" cy="400110"/>
          </a:xfrm>
          <a:prstGeom prst="rect">
            <a:avLst/>
          </a:prstGeom>
          <a:noFill/>
        </p:spPr>
        <p:txBody>
          <a:bodyPr wrap="none" rtlCol="0">
            <a:spAutoFit/>
          </a:bodyPr>
          <a:lstStyle/>
          <a:p>
            <a:r>
              <a:rPr lang="en-US" sz="2000" b="1" dirty="0" err="1">
                <a:latin typeface="Courier"/>
                <a:cs typeface="Courier"/>
              </a:rPr>
              <a:t>OxFFFC</a:t>
            </a:r>
            <a:endParaRPr lang="en-US" sz="2000" b="1" dirty="0">
              <a:latin typeface="Courier"/>
              <a:cs typeface="Courier"/>
            </a:endParaRPr>
          </a:p>
        </p:txBody>
      </p:sp>
      <p:grpSp>
        <p:nvGrpSpPr>
          <p:cNvPr id="62" name="Group 61">
            <a:extLst>
              <a:ext uri="{FF2B5EF4-FFF2-40B4-BE49-F238E27FC236}">
                <a16:creationId xmlns:a16="http://schemas.microsoft.com/office/drawing/2014/main" id="{03D667BD-69C3-7A46-B544-052BA8C34B74}"/>
              </a:ext>
            </a:extLst>
          </p:cNvPr>
          <p:cNvGrpSpPr/>
          <p:nvPr/>
        </p:nvGrpSpPr>
        <p:grpSpPr>
          <a:xfrm>
            <a:off x="7590123" y="396672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latin typeface="Courier"/>
                  <a:cs typeface="Courier"/>
                </a:rPr>
                <a:t>NULL</a:t>
              </a:r>
            </a:p>
          </p:txBody>
        </p:sp>
      </p:grpSp>
      <p:grpSp>
        <p:nvGrpSpPr>
          <p:cNvPr id="68" name="Group 67">
            <a:extLst>
              <a:ext uri="{FF2B5EF4-FFF2-40B4-BE49-F238E27FC236}">
                <a16:creationId xmlns:a16="http://schemas.microsoft.com/office/drawing/2014/main" id="{7F846116-BC62-8043-9726-E350CB3F20E8}"/>
              </a:ext>
            </a:extLst>
          </p:cNvPr>
          <p:cNvGrpSpPr/>
          <p:nvPr/>
        </p:nvGrpSpPr>
        <p:grpSpPr>
          <a:xfrm>
            <a:off x="6772838" y="6055737"/>
            <a:ext cx="2209439" cy="609600"/>
            <a:chOff x="6772838" y="6055737"/>
            <a:chExt cx="2209439" cy="609600"/>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cxnSp>
        <p:nvCxnSpPr>
          <p:cNvPr id="75" name="Straight Arrow Connector 74">
            <a:extLst>
              <a:ext uri="{FF2B5EF4-FFF2-40B4-BE49-F238E27FC236}">
                <a16:creationId xmlns:a16="http://schemas.microsoft.com/office/drawing/2014/main" id="{14F1BBC9-A9BE-FB4D-802B-04538E266C26}"/>
              </a:ext>
            </a:extLst>
          </p:cNvPr>
          <p:cNvCxnSpPr>
            <a:cxnSpLocks/>
          </p:cNvCxnSpPr>
          <p:nvPr/>
        </p:nvCxnSpPr>
        <p:spPr bwMode="auto">
          <a:xfrm flipV="1">
            <a:off x="4139952" y="4149080"/>
            <a:ext cx="1548172" cy="432048"/>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79" name="Group 78">
            <a:extLst>
              <a:ext uri="{FF2B5EF4-FFF2-40B4-BE49-F238E27FC236}">
                <a16:creationId xmlns:a16="http://schemas.microsoft.com/office/drawing/2014/main" id="{6C35844D-EB36-7440-A9D1-801B36CBEC2F}"/>
              </a:ext>
            </a:extLst>
          </p:cNvPr>
          <p:cNvGrpSpPr/>
          <p:nvPr/>
        </p:nvGrpSpPr>
        <p:grpSpPr>
          <a:xfrm>
            <a:off x="2820927" y="5714839"/>
            <a:ext cx="1463041" cy="738497"/>
            <a:chOff x="2820927" y="5517232"/>
            <a:chExt cx="1463041" cy="738497"/>
          </a:xfrm>
        </p:grpSpPr>
        <p:sp>
          <p:nvSpPr>
            <p:cNvPr id="80" name="Line 26">
              <a:extLst>
                <a:ext uri="{FF2B5EF4-FFF2-40B4-BE49-F238E27FC236}">
                  <a16:creationId xmlns:a16="http://schemas.microsoft.com/office/drawing/2014/main" id="{F3F71768-4064-604B-ABEE-51AFEA24B751}"/>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1" name="Text Box 25">
              <a:extLst>
                <a:ext uri="{FF2B5EF4-FFF2-40B4-BE49-F238E27FC236}">
                  <a16:creationId xmlns:a16="http://schemas.microsoft.com/office/drawing/2014/main" id="{9495E25B-8DA7-DD41-887A-CDF30F6EE071}"/>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2" name="Text Box 1067">
              <a:extLst>
                <a:ext uri="{FF2B5EF4-FFF2-40B4-BE49-F238E27FC236}">
                  <a16:creationId xmlns:a16="http://schemas.microsoft.com/office/drawing/2014/main" id="{FF6311DA-3A7D-7E40-973B-54C5D9A1EC86}"/>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76" name="Group 75">
            <a:extLst>
              <a:ext uri="{FF2B5EF4-FFF2-40B4-BE49-F238E27FC236}">
                <a16:creationId xmlns:a16="http://schemas.microsoft.com/office/drawing/2014/main" id="{8AF87F37-69D9-8A46-AFBE-D1DCF8513B15}"/>
              </a:ext>
            </a:extLst>
          </p:cNvPr>
          <p:cNvGrpSpPr/>
          <p:nvPr/>
        </p:nvGrpSpPr>
        <p:grpSpPr>
          <a:xfrm>
            <a:off x="5510250" y="5919663"/>
            <a:ext cx="1130746" cy="494310"/>
            <a:chOff x="5510250" y="5919663"/>
            <a:chExt cx="1130746" cy="494310"/>
          </a:xfrm>
        </p:grpSpPr>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510250" y="5919663"/>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Tree>
    <p:extLst>
      <p:ext uri="{BB962C8B-B14F-4D97-AF65-F5344CB8AC3E}">
        <p14:creationId xmlns:p14="http://schemas.microsoft.com/office/powerpoint/2010/main" val="352546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680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802">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5" grpId="0" animBg="1"/>
      <p:bldP spid="58"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217</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(1); </a:t>
            </a:r>
          </a:p>
          <a:p>
            <a:pPr marL="93663" indent="0">
              <a:buNone/>
            </a:pPr>
            <a:r>
              <a:rPr lang="en-GB" sz="1800" b="1" dirty="0">
                <a:latin typeface="Courier"/>
                <a:cs typeface="Courier"/>
              </a:rPr>
              <a:t> …</a:t>
            </a:r>
          </a:p>
          <a:p>
            <a:pPr marL="93663" indent="0">
              <a:buNone/>
            </a:pPr>
            <a:r>
              <a:rPr lang="en-GB" sz="1800" b="1" dirty="0">
                <a:latin typeface="Courier"/>
                <a:cs typeface="Courier"/>
              </a:rPr>
              <a:t>}</a:t>
            </a:r>
            <a:endParaRPr lang="en-GB" sz="1050" b="1" dirty="0">
              <a:latin typeface="Courier"/>
              <a:cs typeface="Courier"/>
            </a:endParaRPr>
          </a:p>
          <a:p>
            <a:pPr marL="93663" indent="0">
              <a:buNone/>
            </a:pP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create_element</a:t>
            </a:r>
            <a:r>
              <a:rPr lang="en-GB" sz="1800" b="1" dirty="0">
                <a:latin typeface="Courier"/>
                <a:cs typeface="Courier"/>
              </a:rPr>
              <a:t>(int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newelt</a:t>
            </a:r>
            <a:r>
              <a:rPr lang="en-GB" sz="1800" b="1" dirty="0">
                <a:latin typeface="Courier"/>
                <a:cs typeface="Courier"/>
              </a:rPr>
              <a:t> = malloc(</a:t>
            </a:r>
            <a:r>
              <a:rPr lang="en-GB" sz="1800" b="1" dirty="0" err="1">
                <a:latin typeface="Courier"/>
                <a:cs typeface="Courier"/>
              </a:rPr>
              <a:t>sizeof</a:t>
            </a:r>
            <a:r>
              <a:rPr lang="en-GB" sz="1800" b="1" dirty="0">
                <a:latin typeface="Courier"/>
                <a:cs typeface="Courier"/>
              </a:rPr>
              <a:t>(struct </a:t>
            </a:r>
            <a:r>
              <a:rPr lang="en-GB" sz="1800" b="1" dirty="0" err="1">
                <a:latin typeface="Courier"/>
                <a:cs typeface="Courier"/>
              </a:rPr>
              <a:t>list_elem_t</a:t>
            </a:r>
            <a:r>
              <a:rPr lang="en-GB" sz="1800" b="1" dirty="0">
                <a:latin typeface="Courier"/>
                <a:cs typeface="Courier"/>
              </a:rPr>
              <a:t> ));</a:t>
            </a:r>
          </a:p>
          <a:p>
            <a:pPr marL="93663" indent="0">
              <a:buNone/>
            </a:pPr>
            <a:r>
              <a:rPr lang="en-GB" sz="1800" b="1" dirty="0">
                <a:latin typeface="Courier"/>
                <a:cs typeface="Courier"/>
              </a:rPr>
              <a:t>  </a:t>
            </a:r>
            <a:r>
              <a:rPr lang="en-GB" sz="1800" b="1" dirty="0" err="1">
                <a:latin typeface="Courier"/>
                <a:cs typeface="Courier"/>
              </a:rPr>
              <a:t>newelt</a:t>
            </a:r>
            <a:r>
              <a:rPr lang="en-GB" sz="1800" b="1" dirty="0">
                <a:latin typeface="Courier"/>
                <a:cs typeface="Courier"/>
              </a:rPr>
              <a:t>-&gt;value=value;  </a:t>
            </a:r>
            <a:r>
              <a:rPr lang="en-GB" sz="1800" b="1" dirty="0" err="1">
                <a:latin typeface="Courier"/>
                <a:cs typeface="Courier"/>
              </a:rPr>
              <a:t>newelt</a:t>
            </a:r>
            <a:r>
              <a:rPr lang="en-GB" sz="1800" b="1" dirty="0">
                <a:latin typeface="Courier"/>
                <a:cs typeface="Courier"/>
              </a:rPr>
              <a:t>-&gt;next=NULL; </a:t>
            </a:r>
          </a:p>
          <a:p>
            <a:pPr marL="93663" indent="0">
              <a:buNone/>
            </a:pPr>
            <a:r>
              <a:rPr lang="en-GB" sz="1800" b="1" dirty="0">
                <a:latin typeface="Courier"/>
                <a:cs typeface="Courier"/>
              </a:rPr>
              <a:t>  return </a:t>
            </a:r>
            <a:r>
              <a:rPr lang="en-GB" sz="1800" b="1" dirty="0" err="1">
                <a:latin typeface="Courier"/>
                <a:cs typeface="Courier"/>
              </a:rPr>
              <a:t>newelt</a:t>
            </a:r>
            <a:r>
              <a:rPr lang="en-GB" sz="1800" b="1" dirty="0">
                <a:latin typeface="Courier"/>
                <a:cs typeface="Courier"/>
              </a:rPr>
              <a:t>;</a:t>
            </a:r>
          </a:p>
          <a:p>
            <a:pPr marL="93663" indent="0">
              <a:buNone/>
            </a:pPr>
            <a:r>
              <a:rPr lang="en-GB" sz="1800" b="1" dirty="0">
                <a:latin typeface="Courier"/>
                <a:cs typeface="Courier"/>
              </a:rPr>
              <a:t>}</a:t>
            </a:r>
          </a:p>
          <a:p>
            <a:pPr marL="93663" indent="0">
              <a:buNone/>
            </a:pPr>
            <a:r>
              <a:rPr lang="en-GB" sz="1800" b="1" dirty="0">
                <a:latin typeface="Courier"/>
                <a:cs typeface="Courier"/>
              </a:rPr>
              <a:t>  </a:t>
            </a: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623087" y="4000998"/>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604954"/>
            <a:ext cx="3253741" cy="1584176"/>
            <a:chOff x="184209" y="3681028"/>
            <a:chExt cx="3253741" cy="1584176"/>
          </a:xfrm>
        </p:grpSpPr>
        <p:grpSp>
          <p:nvGrpSpPr>
            <p:cNvPr id="19" name="Group 18">
              <a:extLst>
                <a:ext uri="{FF2B5EF4-FFF2-40B4-BE49-F238E27FC236}">
                  <a16:creationId xmlns:a16="http://schemas.microsoft.com/office/drawing/2014/main" id="{FC8D4065-01F6-A046-A09F-9CA96DB627E6}"/>
                </a:ext>
              </a:extLst>
            </p:cNvPr>
            <p:cNvGrpSpPr/>
            <p:nvPr/>
          </p:nvGrpSpPr>
          <p:grpSpPr>
            <a:xfrm>
              <a:off x="2491156" y="3681028"/>
              <a:ext cx="946794" cy="1584176"/>
              <a:chOff x="2491156" y="3681028"/>
              <a:chExt cx="946794" cy="1584176"/>
            </a:xfrm>
          </p:grpSpPr>
          <p:sp>
            <p:nvSpPr>
              <p:cNvPr id="23" name="TextBox 22">
                <a:extLst>
                  <a:ext uri="{FF2B5EF4-FFF2-40B4-BE49-F238E27FC236}">
                    <a16:creationId xmlns:a16="http://schemas.microsoft.com/office/drawing/2014/main" id="{27488452-474C-B141-B11D-46BC2C9F9AC6}"/>
                  </a:ext>
                </a:extLst>
              </p:cNvPr>
              <p:cNvSpPr txBox="1"/>
              <p:nvPr/>
            </p:nvSpPr>
            <p:spPr>
              <a:xfrm>
                <a:off x="2637731" y="4865094"/>
                <a:ext cx="800219" cy="400110"/>
              </a:xfrm>
              <a:prstGeom prst="rect">
                <a:avLst/>
              </a:prstGeom>
              <a:noFill/>
            </p:spPr>
            <p:txBody>
              <a:bodyPr wrap="none" rtlCol="0">
                <a:spAutoFit/>
              </a:bodyPr>
              <a:lstStyle/>
              <a:p>
                <a:r>
                  <a:rPr lang="en-US" sz="2000" b="1" dirty="0">
                    <a:latin typeface="Courier"/>
                    <a:cs typeface="Courier"/>
                  </a:rPr>
                  <a:t>NULL</a:t>
                </a:r>
              </a:p>
            </p:txBody>
          </p:sp>
          <p:sp>
            <p:nvSpPr>
              <p:cNvPr id="24" name="TextBox 23">
                <a:extLst>
                  <a:ext uri="{FF2B5EF4-FFF2-40B4-BE49-F238E27FC236}">
                    <a16:creationId xmlns:a16="http://schemas.microsoft.com/office/drawing/2014/main" id="{138628F4-04E1-C34C-A232-75BDACECB867}"/>
                  </a:ext>
                </a:extLst>
              </p:cNvPr>
              <p:cNvSpPr txBox="1"/>
              <p:nvPr/>
            </p:nvSpPr>
            <p:spPr>
              <a:xfrm>
                <a:off x="2491156" y="3681028"/>
                <a:ext cx="869073" cy="400110"/>
              </a:xfrm>
              <a:prstGeom prst="rect">
                <a:avLst/>
              </a:prstGeom>
              <a:noFill/>
            </p:spPr>
            <p:txBody>
              <a:bodyPr wrap="none" rtlCol="0">
                <a:spAutoFit/>
              </a:bodyPr>
              <a:lstStyle/>
              <a:p>
                <a:r>
                  <a:rPr lang="en-US" sz="2000" b="1" dirty="0"/>
                  <a:t>Stack</a:t>
                </a:r>
              </a:p>
            </p:txBody>
          </p:sp>
        </p:gr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397485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392443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50100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sp>
        <p:nvSpPr>
          <p:cNvPr id="58" name="TextBox 57">
            <a:extLst>
              <a:ext uri="{FF2B5EF4-FFF2-40B4-BE49-F238E27FC236}">
                <a16:creationId xmlns:a16="http://schemas.microsoft.com/office/drawing/2014/main" id="{A6A3C708-1A76-6F4C-BDAC-9BD736BD856D}"/>
              </a:ext>
            </a:extLst>
          </p:cNvPr>
          <p:cNvSpPr txBox="1"/>
          <p:nvPr/>
        </p:nvSpPr>
        <p:spPr>
          <a:xfrm>
            <a:off x="2796230" y="5121188"/>
            <a:ext cx="1107997" cy="400110"/>
          </a:xfrm>
          <a:prstGeom prst="rect">
            <a:avLst/>
          </a:prstGeom>
          <a:noFill/>
        </p:spPr>
        <p:txBody>
          <a:bodyPr wrap="none" rtlCol="0">
            <a:spAutoFit/>
          </a:bodyPr>
          <a:lstStyle/>
          <a:p>
            <a:r>
              <a:rPr lang="en-US" sz="2000" b="1" dirty="0">
                <a:latin typeface="Courier"/>
                <a:cs typeface="Courier"/>
              </a:rPr>
              <a:t>0x1000</a:t>
            </a:r>
          </a:p>
        </p:txBody>
      </p:sp>
      <p:sp>
        <p:nvSpPr>
          <p:cNvPr id="59" name="TextBox 58">
            <a:extLst>
              <a:ext uri="{FF2B5EF4-FFF2-40B4-BE49-F238E27FC236}">
                <a16:creationId xmlns:a16="http://schemas.microsoft.com/office/drawing/2014/main" id="{0A7C5BF0-DA81-CA4A-A15A-C2796E40B3C3}"/>
              </a:ext>
            </a:extLst>
          </p:cNvPr>
          <p:cNvSpPr txBox="1"/>
          <p:nvPr/>
        </p:nvSpPr>
        <p:spPr>
          <a:xfrm>
            <a:off x="148445" y="511712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60" name="TextBox 59">
            <a:extLst>
              <a:ext uri="{FF2B5EF4-FFF2-40B4-BE49-F238E27FC236}">
                <a16:creationId xmlns:a16="http://schemas.microsoft.com/office/drawing/2014/main" id="{062A63B1-A28B-5A42-A444-A8D60C8FAC61}"/>
              </a:ext>
            </a:extLst>
          </p:cNvPr>
          <p:cNvSpPr txBox="1"/>
          <p:nvPr/>
        </p:nvSpPr>
        <p:spPr>
          <a:xfrm>
            <a:off x="1501705" y="5117122"/>
            <a:ext cx="1107997" cy="400110"/>
          </a:xfrm>
          <a:prstGeom prst="rect">
            <a:avLst/>
          </a:prstGeom>
          <a:noFill/>
        </p:spPr>
        <p:txBody>
          <a:bodyPr wrap="none" rtlCol="0">
            <a:spAutoFit/>
          </a:bodyPr>
          <a:lstStyle/>
          <a:p>
            <a:r>
              <a:rPr lang="en-US" sz="2000" b="1" dirty="0" err="1">
                <a:latin typeface="Courier"/>
                <a:cs typeface="Courier"/>
              </a:rPr>
              <a:t>OxFFFC</a:t>
            </a:r>
            <a:endParaRPr lang="en-US" sz="2000" b="1" dirty="0">
              <a:latin typeface="Courier"/>
              <a:cs typeface="Courier"/>
            </a:endParaRPr>
          </a:p>
        </p:txBody>
      </p:sp>
      <p:grpSp>
        <p:nvGrpSpPr>
          <p:cNvPr id="62" name="Group 61">
            <a:extLst>
              <a:ext uri="{FF2B5EF4-FFF2-40B4-BE49-F238E27FC236}">
                <a16:creationId xmlns:a16="http://schemas.microsoft.com/office/drawing/2014/main" id="{03D667BD-69C3-7A46-B544-052BA8C34B74}"/>
              </a:ext>
            </a:extLst>
          </p:cNvPr>
          <p:cNvGrpSpPr/>
          <p:nvPr/>
        </p:nvGrpSpPr>
        <p:grpSpPr>
          <a:xfrm>
            <a:off x="7590123" y="396672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latin typeface="Courier"/>
                  <a:cs typeface="Courier"/>
                </a:rPr>
                <a:t>NULL</a:t>
              </a:r>
            </a:p>
          </p:txBody>
        </p:sp>
      </p:grpSp>
      <p:grpSp>
        <p:nvGrpSpPr>
          <p:cNvPr id="68" name="Group 67">
            <a:extLst>
              <a:ext uri="{FF2B5EF4-FFF2-40B4-BE49-F238E27FC236}">
                <a16:creationId xmlns:a16="http://schemas.microsoft.com/office/drawing/2014/main" id="{7F846116-BC62-8043-9726-E350CB3F20E8}"/>
              </a:ext>
            </a:extLst>
          </p:cNvPr>
          <p:cNvGrpSpPr/>
          <p:nvPr/>
        </p:nvGrpSpPr>
        <p:grpSpPr>
          <a:xfrm>
            <a:off x="6772838" y="6055737"/>
            <a:ext cx="2209439" cy="609600"/>
            <a:chOff x="6772838" y="6055737"/>
            <a:chExt cx="2209439" cy="609600"/>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cxnSp>
        <p:nvCxnSpPr>
          <p:cNvPr id="75" name="Straight Arrow Connector 74">
            <a:extLst>
              <a:ext uri="{FF2B5EF4-FFF2-40B4-BE49-F238E27FC236}">
                <a16:creationId xmlns:a16="http://schemas.microsoft.com/office/drawing/2014/main" id="{14F1BBC9-A9BE-FB4D-802B-04538E266C26}"/>
              </a:ext>
            </a:extLst>
          </p:cNvPr>
          <p:cNvCxnSpPr>
            <a:cxnSpLocks/>
          </p:cNvCxnSpPr>
          <p:nvPr/>
        </p:nvCxnSpPr>
        <p:spPr bwMode="auto">
          <a:xfrm flipV="1">
            <a:off x="4139952" y="4149080"/>
            <a:ext cx="1548172" cy="118813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79" name="Group 78">
            <a:extLst>
              <a:ext uri="{FF2B5EF4-FFF2-40B4-BE49-F238E27FC236}">
                <a16:creationId xmlns:a16="http://schemas.microsoft.com/office/drawing/2014/main" id="{6C35844D-EB36-7440-A9D1-801B36CBEC2F}"/>
              </a:ext>
            </a:extLst>
          </p:cNvPr>
          <p:cNvGrpSpPr/>
          <p:nvPr/>
        </p:nvGrpSpPr>
        <p:grpSpPr>
          <a:xfrm>
            <a:off x="2820927" y="5714839"/>
            <a:ext cx="1463041" cy="738497"/>
            <a:chOff x="2820927" y="5517232"/>
            <a:chExt cx="1463041" cy="738497"/>
          </a:xfrm>
        </p:grpSpPr>
        <p:sp>
          <p:nvSpPr>
            <p:cNvPr id="80" name="Line 26">
              <a:extLst>
                <a:ext uri="{FF2B5EF4-FFF2-40B4-BE49-F238E27FC236}">
                  <a16:creationId xmlns:a16="http://schemas.microsoft.com/office/drawing/2014/main" id="{F3F71768-4064-604B-ABEE-51AFEA24B751}"/>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1" name="Text Box 25">
              <a:extLst>
                <a:ext uri="{FF2B5EF4-FFF2-40B4-BE49-F238E27FC236}">
                  <a16:creationId xmlns:a16="http://schemas.microsoft.com/office/drawing/2014/main" id="{9495E25B-8DA7-DD41-887A-CDF30F6EE071}"/>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2" name="Text Box 1067">
              <a:extLst>
                <a:ext uri="{FF2B5EF4-FFF2-40B4-BE49-F238E27FC236}">
                  <a16:creationId xmlns:a16="http://schemas.microsoft.com/office/drawing/2014/main" id="{FF6311DA-3A7D-7E40-973B-54C5D9A1EC86}"/>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76" name="Group 75">
            <a:extLst>
              <a:ext uri="{FF2B5EF4-FFF2-40B4-BE49-F238E27FC236}">
                <a16:creationId xmlns:a16="http://schemas.microsoft.com/office/drawing/2014/main" id="{8AF87F37-69D9-8A46-AFBE-D1DCF8513B15}"/>
              </a:ext>
            </a:extLst>
          </p:cNvPr>
          <p:cNvGrpSpPr/>
          <p:nvPr/>
        </p:nvGrpSpPr>
        <p:grpSpPr>
          <a:xfrm>
            <a:off x="5119607" y="5919663"/>
            <a:ext cx="1521389" cy="494310"/>
            <a:chOff x="5119607" y="5919663"/>
            <a:chExt cx="1521389" cy="494310"/>
          </a:xfrm>
        </p:grpSpPr>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119607" y="5919663"/>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Tree>
    <p:extLst>
      <p:ext uri="{BB962C8B-B14F-4D97-AF65-F5344CB8AC3E}">
        <p14:creationId xmlns:p14="http://schemas.microsoft.com/office/powerpoint/2010/main" val="82983908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218</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(1); </a:t>
            </a:r>
          </a:p>
          <a:p>
            <a:pPr marL="93663" indent="0">
              <a:buNone/>
            </a:pPr>
            <a:r>
              <a:rPr lang="en-GB" sz="1800" b="1" dirty="0">
                <a:latin typeface="Courier"/>
                <a:cs typeface="Courier"/>
              </a:rPr>
              <a:t>  head = </a:t>
            </a:r>
            <a:r>
              <a:rPr lang="en-GB" sz="1800" b="1" dirty="0" err="1">
                <a:latin typeface="Courier"/>
                <a:cs typeface="Courier"/>
              </a:rPr>
              <a:t>new_elt</a:t>
            </a:r>
            <a:r>
              <a:rPr lang="en-GB" sz="1800" b="1" dirty="0">
                <a:latin typeface="Courier"/>
                <a:cs typeface="Courier"/>
              </a:rPr>
              <a:t>;</a:t>
            </a:r>
          </a:p>
          <a:p>
            <a:pPr marL="93663" indent="0">
              <a:buNone/>
            </a:pPr>
            <a:r>
              <a:rPr lang="en-GB" sz="1800" b="1" dirty="0">
                <a:latin typeface="Courier"/>
                <a:cs typeface="Courier"/>
              </a:rPr>
              <a:t>}  </a:t>
            </a: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623087" y="4000998"/>
          <a:ext cx="1516865" cy="148336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604954"/>
            <a:ext cx="3176020" cy="1569784"/>
            <a:chOff x="184209" y="3681028"/>
            <a:chExt cx="3176020" cy="1569784"/>
          </a:xfrm>
        </p:grpSpPr>
        <p:sp>
          <p:nvSpPr>
            <p:cNvPr id="24" name="TextBox 23">
              <a:extLst>
                <a:ext uri="{FF2B5EF4-FFF2-40B4-BE49-F238E27FC236}">
                  <a16:creationId xmlns:a16="http://schemas.microsoft.com/office/drawing/2014/main" id="{138628F4-04E1-C34C-A232-75BDACECB867}"/>
                </a:ext>
              </a:extLst>
            </p:cNvPr>
            <p:cNvSpPr txBox="1"/>
            <p:nvPr/>
          </p:nvSpPr>
          <p:spPr>
            <a:xfrm>
              <a:off x="2491156" y="3681028"/>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397485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392443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50100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sp>
        <p:nvSpPr>
          <p:cNvPr id="58" name="TextBox 57">
            <a:extLst>
              <a:ext uri="{FF2B5EF4-FFF2-40B4-BE49-F238E27FC236}">
                <a16:creationId xmlns:a16="http://schemas.microsoft.com/office/drawing/2014/main" id="{A6A3C708-1A76-6F4C-BDAC-9BD736BD856D}"/>
              </a:ext>
            </a:extLst>
          </p:cNvPr>
          <p:cNvSpPr txBox="1"/>
          <p:nvPr/>
        </p:nvSpPr>
        <p:spPr>
          <a:xfrm>
            <a:off x="2796230" y="5121188"/>
            <a:ext cx="1107997" cy="400110"/>
          </a:xfrm>
          <a:prstGeom prst="rect">
            <a:avLst/>
          </a:prstGeom>
          <a:noFill/>
        </p:spPr>
        <p:txBody>
          <a:bodyPr wrap="none" rtlCol="0">
            <a:spAutoFit/>
          </a:bodyPr>
          <a:lstStyle/>
          <a:p>
            <a:r>
              <a:rPr lang="en-US" sz="2000" b="1" dirty="0">
                <a:latin typeface="Courier"/>
                <a:cs typeface="Courier"/>
              </a:rPr>
              <a:t>0x1000</a:t>
            </a:r>
          </a:p>
        </p:txBody>
      </p:sp>
      <p:sp>
        <p:nvSpPr>
          <p:cNvPr id="59" name="TextBox 58">
            <a:extLst>
              <a:ext uri="{FF2B5EF4-FFF2-40B4-BE49-F238E27FC236}">
                <a16:creationId xmlns:a16="http://schemas.microsoft.com/office/drawing/2014/main" id="{0A7C5BF0-DA81-CA4A-A15A-C2796E40B3C3}"/>
              </a:ext>
            </a:extLst>
          </p:cNvPr>
          <p:cNvSpPr txBox="1"/>
          <p:nvPr/>
        </p:nvSpPr>
        <p:spPr>
          <a:xfrm>
            <a:off x="148445" y="511712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60" name="TextBox 59">
            <a:extLst>
              <a:ext uri="{FF2B5EF4-FFF2-40B4-BE49-F238E27FC236}">
                <a16:creationId xmlns:a16="http://schemas.microsoft.com/office/drawing/2014/main" id="{062A63B1-A28B-5A42-A444-A8D60C8FAC61}"/>
              </a:ext>
            </a:extLst>
          </p:cNvPr>
          <p:cNvSpPr txBox="1"/>
          <p:nvPr/>
        </p:nvSpPr>
        <p:spPr>
          <a:xfrm>
            <a:off x="1501705" y="5117122"/>
            <a:ext cx="1107997" cy="400110"/>
          </a:xfrm>
          <a:prstGeom prst="rect">
            <a:avLst/>
          </a:prstGeom>
          <a:noFill/>
        </p:spPr>
        <p:txBody>
          <a:bodyPr wrap="none" rtlCol="0">
            <a:spAutoFit/>
          </a:bodyPr>
          <a:lstStyle/>
          <a:p>
            <a:r>
              <a:rPr lang="en-US" sz="2000" b="1" dirty="0" err="1">
                <a:latin typeface="Courier"/>
                <a:cs typeface="Courier"/>
              </a:rPr>
              <a:t>OxFFFC</a:t>
            </a:r>
            <a:endParaRPr lang="en-US" sz="2000" b="1" dirty="0">
              <a:latin typeface="Courier"/>
              <a:cs typeface="Courier"/>
            </a:endParaRPr>
          </a:p>
        </p:txBody>
      </p:sp>
      <p:grpSp>
        <p:nvGrpSpPr>
          <p:cNvPr id="62" name="Group 61">
            <a:extLst>
              <a:ext uri="{FF2B5EF4-FFF2-40B4-BE49-F238E27FC236}">
                <a16:creationId xmlns:a16="http://schemas.microsoft.com/office/drawing/2014/main" id="{03D667BD-69C3-7A46-B544-052BA8C34B74}"/>
              </a:ext>
            </a:extLst>
          </p:cNvPr>
          <p:cNvGrpSpPr/>
          <p:nvPr/>
        </p:nvGrpSpPr>
        <p:grpSpPr>
          <a:xfrm>
            <a:off x="7590123" y="396672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latin typeface="Courier"/>
                  <a:cs typeface="Courier"/>
                </a:rPr>
                <a:t>NULL</a:t>
              </a:r>
            </a:p>
          </p:txBody>
        </p:sp>
      </p:grpSp>
      <p:grpSp>
        <p:nvGrpSpPr>
          <p:cNvPr id="68" name="Group 67">
            <a:extLst>
              <a:ext uri="{FF2B5EF4-FFF2-40B4-BE49-F238E27FC236}">
                <a16:creationId xmlns:a16="http://schemas.microsoft.com/office/drawing/2014/main" id="{7F846116-BC62-8043-9726-E350CB3F20E8}"/>
              </a:ext>
            </a:extLst>
          </p:cNvPr>
          <p:cNvGrpSpPr/>
          <p:nvPr/>
        </p:nvGrpSpPr>
        <p:grpSpPr>
          <a:xfrm>
            <a:off x="6772838" y="6055737"/>
            <a:ext cx="2209439" cy="609600"/>
            <a:chOff x="6772838" y="6055737"/>
            <a:chExt cx="2209439" cy="609600"/>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cxnSp>
        <p:nvCxnSpPr>
          <p:cNvPr id="75" name="Straight Arrow Connector 74">
            <a:extLst>
              <a:ext uri="{FF2B5EF4-FFF2-40B4-BE49-F238E27FC236}">
                <a16:creationId xmlns:a16="http://schemas.microsoft.com/office/drawing/2014/main" id="{14F1BBC9-A9BE-FB4D-802B-04538E266C26}"/>
              </a:ext>
            </a:extLst>
          </p:cNvPr>
          <p:cNvCxnSpPr>
            <a:cxnSpLocks/>
          </p:cNvCxnSpPr>
          <p:nvPr/>
        </p:nvCxnSpPr>
        <p:spPr bwMode="auto">
          <a:xfrm flipV="1">
            <a:off x="4139952" y="4149080"/>
            <a:ext cx="1548172" cy="1188132"/>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79" name="Group 78">
            <a:extLst>
              <a:ext uri="{FF2B5EF4-FFF2-40B4-BE49-F238E27FC236}">
                <a16:creationId xmlns:a16="http://schemas.microsoft.com/office/drawing/2014/main" id="{6C35844D-EB36-7440-A9D1-801B36CBEC2F}"/>
              </a:ext>
            </a:extLst>
          </p:cNvPr>
          <p:cNvGrpSpPr/>
          <p:nvPr/>
        </p:nvGrpSpPr>
        <p:grpSpPr>
          <a:xfrm>
            <a:off x="2820927" y="5714839"/>
            <a:ext cx="3820068" cy="557804"/>
            <a:chOff x="2820927" y="5517232"/>
            <a:chExt cx="3820068" cy="557804"/>
          </a:xfrm>
        </p:grpSpPr>
        <p:sp>
          <p:nvSpPr>
            <p:cNvPr id="80" name="Line 26">
              <a:extLst>
                <a:ext uri="{FF2B5EF4-FFF2-40B4-BE49-F238E27FC236}">
                  <a16:creationId xmlns:a16="http://schemas.microsoft.com/office/drawing/2014/main" id="{F3F71768-4064-604B-ABEE-51AFEA24B751}"/>
                </a:ext>
              </a:extLst>
            </p:cNvPr>
            <p:cNvSpPr>
              <a:spLocks noChangeShapeType="1"/>
            </p:cNvSpPr>
            <p:nvPr/>
          </p:nvSpPr>
          <p:spPr bwMode="auto">
            <a:xfrm rot="5400000" flipV="1">
              <a:off x="4920271" y="4354312"/>
              <a:ext cx="17745" cy="342370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1" name="Text Box 25">
              <a:extLst>
                <a:ext uri="{FF2B5EF4-FFF2-40B4-BE49-F238E27FC236}">
                  <a16:creationId xmlns:a16="http://schemas.microsoft.com/office/drawing/2014/main" id="{9495E25B-8DA7-DD41-887A-CDF30F6EE071}"/>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grpSp>
        <p:nvGrpSpPr>
          <p:cNvPr id="76" name="Group 75">
            <a:extLst>
              <a:ext uri="{FF2B5EF4-FFF2-40B4-BE49-F238E27FC236}">
                <a16:creationId xmlns:a16="http://schemas.microsoft.com/office/drawing/2014/main" id="{8AF87F37-69D9-8A46-AFBE-D1DCF8513B15}"/>
              </a:ext>
            </a:extLst>
          </p:cNvPr>
          <p:cNvGrpSpPr/>
          <p:nvPr/>
        </p:nvGrpSpPr>
        <p:grpSpPr>
          <a:xfrm>
            <a:off x="5315089" y="6320001"/>
            <a:ext cx="1432613" cy="461665"/>
            <a:chOff x="5315089" y="6320001"/>
            <a:chExt cx="1432613" cy="461665"/>
          </a:xfrm>
        </p:grpSpPr>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
        <p:nvSpPr>
          <p:cNvPr id="44" name="TextBox 43">
            <a:extLst>
              <a:ext uri="{FF2B5EF4-FFF2-40B4-BE49-F238E27FC236}">
                <a16:creationId xmlns:a16="http://schemas.microsoft.com/office/drawing/2014/main" id="{14954DCD-FE3F-F84A-AC59-E085A9B23D1C}"/>
              </a:ext>
            </a:extLst>
          </p:cNvPr>
          <p:cNvSpPr txBox="1"/>
          <p:nvPr/>
        </p:nvSpPr>
        <p:spPr>
          <a:xfrm>
            <a:off x="2782845" y="4727994"/>
            <a:ext cx="1107997" cy="400110"/>
          </a:xfrm>
          <a:prstGeom prst="rect">
            <a:avLst/>
          </a:prstGeom>
          <a:noFill/>
        </p:spPr>
        <p:txBody>
          <a:bodyPr wrap="none" rtlCol="0">
            <a:spAutoFit/>
          </a:bodyPr>
          <a:lstStyle/>
          <a:p>
            <a:r>
              <a:rPr lang="en-US" sz="2000" b="1" dirty="0">
                <a:solidFill>
                  <a:srgbClr val="FF0000"/>
                </a:solidFill>
                <a:latin typeface="Courier"/>
                <a:cs typeface="Courier"/>
              </a:rPr>
              <a:t>0x1000</a:t>
            </a:r>
          </a:p>
        </p:txBody>
      </p:sp>
      <p:cxnSp>
        <p:nvCxnSpPr>
          <p:cNvPr id="46" name="Straight Arrow Connector 45">
            <a:extLst>
              <a:ext uri="{FF2B5EF4-FFF2-40B4-BE49-F238E27FC236}">
                <a16:creationId xmlns:a16="http://schemas.microsoft.com/office/drawing/2014/main" id="{9BFDA6A4-7B6F-0D44-A5BF-AB1DBE9C3E4B}"/>
              </a:ext>
            </a:extLst>
          </p:cNvPr>
          <p:cNvCxnSpPr>
            <a:cxnSpLocks/>
          </p:cNvCxnSpPr>
          <p:nvPr/>
        </p:nvCxnSpPr>
        <p:spPr bwMode="auto">
          <a:xfrm flipV="1">
            <a:off x="4176234" y="4138907"/>
            <a:ext cx="1347015" cy="720819"/>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4458724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219</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(&amp;head,1);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 l,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r>
              <a:rPr lang="en-GB" sz="1800" b="1" dirty="0" err="1">
                <a:latin typeface="Courier"/>
                <a:cs typeface="Courier"/>
              </a:rPr>
              <a:t>new_elt</a:t>
            </a:r>
            <a:r>
              <a:rPr lang="en-GB" sz="1800" b="1" dirty="0">
                <a:latin typeface="Courier"/>
                <a:cs typeface="Courier"/>
              </a:rPr>
              <a:t>-&gt;next = *l;</a:t>
            </a:r>
          </a:p>
          <a:p>
            <a:pPr marL="93663" indent="0">
              <a:buNone/>
            </a:pP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extLst>
              <p:ext uri="{D42A27DB-BD31-4B8C-83A1-F6EECF244321}">
                <p14:modId xmlns:p14="http://schemas.microsoft.com/office/powerpoint/2010/main" val="823161068"/>
              </p:ext>
            </p:extLst>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extLst>
              <p:ext uri="{D42A27DB-BD31-4B8C-83A1-F6EECF244321}">
                <p14:modId xmlns:p14="http://schemas.microsoft.com/office/powerpoint/2010/main" val="1412921295"/>
              </p:ext>
            </p:extLst>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
        <p:nvSpPr>
          <p:cNvPr id="44" name="TextBox 43">
            <a:extLst>
              <a:ext uri="{FF2B5EF4-FFF2-40B4-BE49-F238E27FC236}">
                <a16:creationId xmlns:a16="http://schemas.microsoft.com/office/drawing/2014/main" id="{14954DCD-FE3F-F84A-AC59-E085A9B23D1C}"/>
              </a:ext>
            </a:extLst>
          </p:cNvPr>
          <p:cNvSpPr txBox="1"/>
          <p:nvPr/>
        </p:nvSpPr>
        <p:spPr>
          <a:xfrm>
            <a:off x="2936734" y="4908014"/>
            <a:ext cx="800219" cy="400110"/>
          </a:xfrm>
          <a:prstGeom prst="rect">
            <a:avLst/>
          </a:prstGeom>
          <a:noFill/>
        </p:spPr>
        <p:txBody>
          <a:bodyPr wrap="none" rtlCol="0">
            <a:spAutoFit/>
          </a:bodyPr>
          <a:lstStyle/>
          <a:p>
            <a:r>
              <a:rPr lang="en-US" sz="2000" b="1" dirty="0">
                <a:latin typeface="Courier"/>
                <a:cs typeface="Courier"/>
              </a:rPr>
              <a:t>NULL</a:t>
            </a:r>
          </a:p>
        </p:txBody>
      </p:sp>
      <p:cxnSp>
        <p:nvCxnSpPr>
          <p:cNvPr id="46" name="Straight Arrow Connector 45">
            <a:extLst>
              <a:ext uri="{FF2B5EF4-FFF2-40B4-BE49-F238E27FC236}">
                <a16:creationId xmlns:a16="http://schemas.microsoft.com/office/drawing/2014/main" id="{9BFDA6A4-7B6F-0D44-A5BF-AB1DBE9C3E4B}"/>
              </a:ext>
            </a:extLst>
          </p:cNvPr>
          <p:cNvCxnSpPr>
            <a:cxnSpLocks/>
            <a:stCxn id="17" idx="3"/>
            <a:endCxn id="27" idx="1"/>
          </p:cNvCxnSpPr>
          <p:nvPr/>
        </p:nvCxnSpPr>
        <p:spPr bwMode="auto">
          <a:xfrm flipV="1">
            <a:off x="4092624" y="4318927"/>
            <a:ext cx="1679938" cy="397213"/>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3" name="Group 42">
            <a:extLst>
              <a:ext uri="{FF2B5EF4-FFF2-40B4-BE49-F238E27FC236}">
                <a16:creationId xmlns:a16="http://schemas.microsoft.com/office/drawing/2014/main" id="{24E9DC2D-7D3B-6B4B-A218-53D3C481E442}"/>
              </a:ext>
            </a:extLst>
          </p:cNvPr>
          <p:cNvGrpSpPr/>
          <p:nvPr/>
        </p:nvGrpSpPr>
        <p:grpSpPr>
          <a:xfrm>
            <a:off x="431540" y="4172190"/>
            <a:ext cx="3149269" cy="404872"/>
            <a:chOff x="462847" y="4841874"/>
            <a:chExt cx="3149269" cy="404872"/>
          </a:xfrm>
        </p:grpSpPr>
        <p:sp>
          <p:nvSpPr>
            <p:cNvPr id="47" name="TextBox 46">
              <a:extLst>
                <a:ext uri="{FF2B5EF4-FFF2-40B4-BE49-F238E27FC236}">
                  <a16:creationId xmlns:a16="http://schemas.microsoft.com/office/drawing/2014/main" id="{545FC56C-B59E-BF47-8D40-5369D308DBFF}"/>
                </a:ext>
              </a:extLst>
            </p:cNvPr>
            <p:cNvSpPr txBox="1"/>
            <p:nvPr/>
          </p:nvSpPr>
          <p:spPr>
            <a:xfrm>
              <a:off x="462847" y="4846636"/>
              <a:ext cx="1107997" cy="400110"/>
            </a:xfrm>
            <a:prstGeom prst="rect">
              <a:avLst/>
            </a:prstGeom>
            <a:noFill/>
          </p:spPr>
          <p:txBody>
            <a:bodyPr wrap="none" rtlCol="0">
              <a:spAutoFit/>
            </a:bodyPr>
            <a:lstStyle/>
            <a:p>
              <a:r>
                <a:rPr lang="en-US" sz="2000" b="1" dirty="0">
                  <a:latin typeface="Courier"/>
                  <a:cs typeface="Courier"/>
                </a:rPr>
                <a:t>value:</a:t>
              </a:r>
            </a:p>
          </p:txBody>
        </p:sp>
        <p:sp>
          <p:nvSpPr>
            <p:cNvPr id="48" name="TextBox 47">
              <a:extLst>
                <a:ext uri="{FF2B5EF4-FFF2-40B4-BE49-F238E27FC236}">
                  <a16:creationId xmlns:a16="http://schemas.microsoft.com/office/drawing/2014/main" id="{4D9CEB84-E59D-C647-85F4-045770AB4F24}"/>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49" name="TextBox 48">
              <a:extLst>
                <a:ext uri="{FF2B5EF4-FFF2-40B4-BE49-F238E27FC236}">
                  <a16:creationId xmlns:a16="http://schemas.microsoft.com/office/drawing/2014/main" id="{AF1A4F9A-CF00-7C4F-AFE9-360DD3BCDF4D}"/>
                </a:ext>
              </a:extLst>
            </p:cNvPr>
            <p:cNvSpPr txBox="1"/>
            <p:nvPr/>
          </p:nvSpPr>
          <p:spPr>
            <a:xfrm>
              <a:off x="3273562" y="4841874"/>
              <a:ext cx="338554" cy="400110"/>
            </a:xfrm>
            <a:prstGeom prst="rect">
              <a:avLst/>
            </a:prstGeom>
            <a:noFill/>
          </p:spPr>
          <p:txBody>
            <a:bodyPr wrap="none" rtlCol="0">
              <a:spAutoFit/>
            </a:bodyPr>
            <a:lstStyle/>
            <a:p>
              <a:r>
                <a:rPr lang="en-US" sz="2000" b="1" dirty="0">
                  <a:latin typeface="Courier"/>
                  <a:cs typeface="Courier"/>
                </a:rPr>
                <a:t>1</a:t>
              </a:r>
            </a:p>
          </p:txBody>
        </p:sp>
      </p:grpSp>
      <p:grpSp>
        <p:nvGrpSpPr>
          <p:cNvPr id="50" name="Group 49">
            <a:extLst>
              <a:ext uri="{FF2B5EF4-FFF2-40B4-BE49-F238E27FC236}">
                <a16:creationId xmlns:a16="http://schemas.microsoft.com/office/drawing/2014/main" id="{C9AE7853-F46C-874A-A17E-8BAB478914C7}"/>
              </a:ext>
            </a:extLst>
          </p:cNvPr>
          <p:cNvGrpSpPr/>
          <p:nvPr/>
        </p:nvGrpSpPr>
        <p:grpSpPr>
          <a:xfrm>
            <a:off x="143508" y="4601804"/>
            <a:ext cx="2448272" cy="400110"/>
            <a:chOff x="143508" y="4893902"/>
            <a:chExt cx="2448272" cy="400110"/>
          </a:xfrm>
        </p:grpSpPr>
        <p:sp>
          <p:nvSpPr>
            <p:cNvPr id="52" name="TextBox 51">
              <a:extLst>
                <a:ext uri="{FF2B5EF4-FFF2-40B4-BE49-F238E27FC236}">
                  <a16:creationId xmlns:a16="http://schemas.microsoft.com/office/drawing/2014/main" id="{600447CB-0D8D-DB4C-A743-96AEA2296ADB}"/>
                </a:ext>
              </a:extLst>
            </p:cNvPr>
            <p:cNvSpPr txBox="1"/>
            <p:nvPr/>
          </p:nvSpPr>
          <p:spPr>
            <a:xfrm>
              <a:off x="143508" y="489390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53" name="TextBox 52">
              <a:extLst>
                <a:ext uri="{FF2B5EF4-FFF2-40B4-BE49-F238E27FC236}">
                  <a16:creationId xmlns:a16="http://schemas.microsoft.com/office/drawing/2014/main" id="{30D4D9B4-5A10-5E4A-854B-F731D757DFDF}"/>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grpSp>
        <p:nvGrpSpPr>
          <p:cNvPr id="77" name="Group 76">
            <a:extLst>
              <a:ext uri="{FF2B5EF4-FFF2-40B4-BE49-F238E27FC236}">
                <a16:creationId xmlns:a16="http://schemas.microsoft.com/office/drawing/2014/main" id="{C07E7712-5BCD-B540-9CD6-6348B24FC6A3}"/>
              </a:ext>
            </a:extLst>
          </p:cNvPr>
          <p:cNvGrpSpPr/>
          <p:nvPr/>
        </p:nvGrpSpPr>
        <p:grpSpPr>
          <a:xfrm>
            <a:off x="1055220" y="3789952"/>
            <a:ext cx="2824577" cy="404872"/>
            <a:chOff x="1099774" y="4841874"/>
            <a:chExt cx="2824577" cy="404872"/>
          </a:xfrm>
        </p:grpSpPr>
        <p:sp>
          <p:nvSpPr>
            <p:cNvPr id="78" name="TextBox 77">
              <a:extLst>
                <a:ext uri="{FF2B5EF4-FFF2-40B4-BE49-F238E27FC236}">
                  <a16:creationId xmlns:a16="http://schemas.microsoft.com/office/drawing/2014/main" id="{9E4DD42B-45A7-1840-B5AB-EABE4350C174}"/>
                </a:ext>
              </a:extLst>
            </p:cNvPr>
            <p:cNvSpPr txBox="1"/>
            <p:nvPr/>
          </p:nvSpPr>
          <p:spPr>
            <a:xfrm>
              <a:off x="1099774" y="4846636"/>
              <a:ext cx="492444" cy="400110"/>
            </a:xfrm>
            <a:prstGeom prst="rect">
              <a:avLst/>
            </a:prstGeom>
            <a:noFill/>
          </p:spPr>
          <p:txBody>
            <a:bodyPr wrap="none" rtlCol="0">
              <a:spAutoFit/>
            </a:bodyPr>
            <a:lstStyle/>
            <a:p>
              <a:r>
                <a:rPr lang="en-US" sz="2000" b="1" dirty="0">
                  <a:latin typeface="Courier"/>
                  <a:cs typeface="Courier"/>
                </a:rPr>
                <a:t>l:</a:t>
              </a:r>
            </a:p>
          </p:txBody>
        </p:sp>
        <p:sp>
          <p:nvSpPr>
            <p:cNvPr id="82" name="TextBox 81">
              <a:extLst>
                <a:ext uri="{FF2B5EF4-FFF2-40B4-BE49-F238E27FC236}">
                  <a16:creationId xmlns:a16="http://schemas.microsoft.com/office/drawing/2014/main" id="{598490A7-D888-084B-9114-BFAA148CEEBF}"/>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85" name="TextBox 84">
              <a:extLst>
                <a:ext uri="{FF2B5EF4-FFF2-40B4-BE49-F238E27FC236}">
                  <a16:creationId xmlns:a16="http://schemas.microsoft.com/office/drawing/2014/main" id="{7A1A01F6-B538-C146-92D3-4AE8EE491EBA}"/>
                </a:ext>
              </a:extLst>
            </p:cNvPr>
            <p:cNvSpPr txBox="1"/>
            <p:nvPr/>
          </p:nvSpPr>
          <p:spPr>
            <a:xfrm>
              <a:off x="2816354" y="4841874"/>
              <a:ext cx="1107997" cy="400110"/>
            </a:xfrm>
            <a:prstGeom prst="rect">
              <a:avLst/>
            </a:prstGeom>
            <a:noFill/>
          </p:spPr>
          <p:txBody>
            <a:bodyPr wrap="none" rtlCol="0">
              <a:spAutoFit/>
            </a:bodyPr>
            <a:lstStyle/>
            <a:p>
              <a:r>
                <a:rPr lang="en-US" sz="2000" b="1" dirty="0">
                  <a:latin typeface="Courier"/>
                  <a:cs typeface="Courier"/>
                </a:rPr>
                <a:t>0xFFF8</a:t>
              </a:r>
            </a:p>
          </p:txBody>
        </p:sp>
      </p:grpSp>
      <p:grpSp>
        <p:nvGrpSpPr>
          <p:cNvPr id="86" name="Group 85">
            <a:extLst>
              <a:ext uri="{FF2B5EF4-FFF2-40B4-BE49-F238E27FC236}">
                <a16:creationId xmlns:a16="http://schemas.microsoft.com/office/drawing/2014/main" id="{5590239D-055A-5C48-B20B-6DBEA9B072FF}"/>
              </a:ext>
            </a:extLst>
          </p:cNvPr>
          <p:cNvGrpSpPr/>
          <p:nvPr/>
        </p:nvGrpSpPr>
        <p:grpSpPr>
          <a:xfrm>
            <a:off x="2820927" y="5714839"/>
            <a:ext cx="1463041" cy="738497"/>
            <a:chOff x="2820927" y="5517232"/>
            <a:chExt cx="1463041" cy="738497"/>
          </a:xfrm>
        </p:grpSpPr>
        <p:sp>
          <p:nvSpPr>
            <p:cNvPr id="87" name="Line 26">
              <a:extLst>
                <a:ext uri="{FF2B5EF4-FFF2-40B4-BE49-F238E27FC236}">
                  <a16:creationId xmlns:a16="http://schemas.microsoft.com/office/drawing/2014/main" id="{A2E115B6-B13E-9749-B44C-EA47EBE39DC4}"/>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8" name="Text Box 25">
              <a:extLst>
                <a:ext uri="{FF2B5EF4-FFF2-40B4-BE49-F238E27FC236}">
                  <a16:creationId xmlns:a16="http://schemas.microsoft.com/office/drawing/2014/main" id="{A3DA7CB2-A2BE-A84F-831D-5D6496047BF5}"/>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9" name="Text Box 1067">
              <a:extLst>
                <a:ext uri="{FF2B5EF4-FFF2-40B4-BE49-F238E27FC236}">
                  <a16:creationId xmlns:a16="http://schemas.microsoft.com/office/drawing/2014/main" id="{D6C98F17-DB6D-664C-BC84-6449F08E3631}"/>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90" name="TextBox 89">
            <a:extLst>
              <a:ext uri="{FF2B5EF4-FFF2-40B4-BE49-F238E27FC236}">
                <a16:creationId xmlns:a16="http://schemas.microsoft.com/office/drawing/2014/main" id="{90E6F05F-0DF0-3240-980A-439A484451FD}"/>
              </a:ext>
            </a:extLst>
          </p:cNvPr>
          <p:cNvSpPr txBox="1"/>
          <p:nvPr/>
        </p:nvSpPr>
        <p:spPr>
          <a:xfrm>
            <a:off x="2766118" y="4507871"/>
            <a:ext cx="1107997" cy="400110"/>
          </a:xfrm>
          <a:prstGeom prst="rect">
            <a:avLst/>
          </a:prstGeom>
          <a:noFill/>
        </p:spPr>
        <p:txBody>
          <a:bodyPr wrap="none" rtlCol="0">
            <a:spAutoFit/>
          </a:bodyPr>
          <a:lstStyle/>
          <a:p>
            <a:r>
              <a:rPr lang="en-US" sz="2000" b="1" dirty="0">
                <a:latin typeface="Courier"/>
                <a:cs typeface="Courier"/>
              </a:rPr>
              <a:t>0x1000</a:t>
            </a:r>
          </a:p>
        </p:txBody>
      </p:sp>
      <p:cxnSp>
        <p:nvCxnSpPr>
          <p:cNvPr id="91" name="Curved Connector 90">
            <a:extLst>
              <a:ext uri="{FF2B5EF4-FFF2-40B4-BE49-F238E27FC236}">
                <a16:creationId xmlns:a16="http://schemas.microsoft.com/office/drawing/2014/main" id="{9F033381-5FA4-9043-86F8-01C5E5D322C8}"/>
              </a:ext>
            </a:extLst>
          </p:cNvPr>
          <p:cNvCxnSpPr>
            <a:cxnSpLocks/>
            <a:stCxn id="85" idx="3"/>
            <a:endCxn id="44" idx="3"/>
          </p:cNvCxnSpPr>
          <p:nvPr/>
        </p:nvCxnSpPr>
        <p:spPr bwMode="auto">
          <a:xfrm flipH="1">
            <a:off x="3736953" y="3990007"/>
            <a:ext cx="142844" cy="1118062"/>
          </a:xfrm>
          <a:prstGeom prst="curvedConnector3">
            <a:avLst>
              <a:gd name="adj1" fmla="val -473294"/>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Oval 10">
            <a:extLst>
              <a:ext uri="{FF2B5EF4-FFF2-40B4-BE49-F238E27FC236}">
                <a16:creationId xmlns:a16="http://schemas.microsoft.com/office/drawing/2014/main" id="{F9E19E57-B32E-0F48-B221-5937CFA0A873}"/>
              </a:ext>
            </a:extLst>
          </p:cNvPr>
          <p:cNvSpPr/>
          <p:nvPr/>
        </p:nvSpPr>
        <p:spPr bwMode="auto">
          <a:xfrm>
            <a:off x="2844756" y="4833156"/>
            <a:ext cx="982137" cy="44210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FR" sz="2000" b="0" i="0" u="none" strike="noStrike" cap="none" normalizeH="0" baseline="0" dirty="0">
              <a:ln>
                <a:noFill/>
              </a:ln>
              <a:solidFill>
                <a:srgbClr val="010507"/>
              </a:solidFill>
              <a:effectLst/>
              <a:latin typeface="Arial" charset="0"/>
            </a:endParaRPr>
          </a:p>
        </p:txBody>
      </p:sp>
    </p:spTree>
    <p:extLst>
      <p:ext uri="{BB962C8B-B14F-4D97-AF65-F5344CB8AC3E}">
        <p14:creationId xmlns:p14="http://schemas.microsoft.com/office/powerpoint/2010/main" val="382568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80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0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680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90" grpId="0"/>
      <p:bldP spid="11" grpId="0" animBg="1"/>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220</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(&amp;head,1);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 l,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r>
              <a:rPr lang="en-GB" sz="1800" b="1" dirty="0" err="1">
                <a:latin typeface="Courier"/>
                <a:cs typeface="Courier"/>
              </a:rPr>
              <a:t>new_elt</a:t>
            </a:r>
            <a:r>
              <a:rPr lang="en-GB" sz="1800" b="1" dirty="0">
                <a:latin typeface="Courier"/>
                <a:cs typeface="Courier"/>
              </a:rPr>
              <a:t>-&gt;next = *l;</a:t>
            </a:r>
          </a:p>
          <a:p>
            <a:pPr marL="93663" indent="0">
              <a:buNone/>
            </a:pPr>
            <a:r>
              <a:rPr lang="en-GB" sz="1800" b="1" dirty="0">
                <a:latin typeface="Courier"/>
                <a:cs typeface="Courier"/>
              </a:rPr>
              <a:t>  *l = </a:t>
            </a:r>
            <a:r>
              <a:rPr lang="en-GB" sz="1800" b="1" dirty="0" err="1">
                <a:latin typeface="Courier"/>
                <a:cs typeface="Courier"/>
              </a:rPr>
              <a:t>new_elt</a:t>
            </a:r>
            <a:r>
              <a:rPr lang="en-GB" sz="1800" b="1" dirty="0">
                <a:latin typeface="Courier"/>
                <a:cs typeface="Courier"/>
              </a:rPr>
              <a:t>;</a:t>
            </a:r>
          </a:p>
          <a:p>
            <a:pPr marL="93663" indent="0">
              <a:buNone/>
            </a:pPr>
            <a:r>
              <a:rPr lang="en-GB" sz="1800" b="1" dirty="0">
                <a:latin typeface="Courier"/>
                <a:cs typeface="Courier"/>
              </a:rPr>
              <a:t>  </a:t>
            </a: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solidFill>
                    <a:srgbClr val="FF0000"/>
                  </a:solidFill>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
        <p:nvSpPr>
          <p:cNvPr id="44" name="TextBox 43">
            <a:extLst>
              <a:ext uri="{FF2B5EF4-FFF2-40B4-BE49-F238E27FC236}">
                <a16:creationId xmlns:a16="http://schemas.microsoft.com/office/drawing/2014/main" id="{14954DCD-FE3F-F84A-AC59-E085A9B23D1C}"/>
              </a:ext>
            </a:extLst>
          </p:cNvPr>
          <p:cNvSpPr txBox="1"/>
          <p:nvPr/>
        </p:nvSpPr>
        <p:spPr>
          <a:xfrm>
            <a:off x="2936734" y="4908014"/>
            <a:ext cx="800219" cy="400110"/>
          </a:xfrm>
          <a:prstGeom prst="rect">
            <a:avLst/>
          </a:prstGeom>
          <a:noFill/>
        </p:spPr>
        <p:txBody>
          <a:bodyPr wrap="none" rtlCol="0">
            <a:spAutoFit/>
          </a:bodyPr>
          <a:lstStyle/>
          <a:p>
            <a:r>
              <a:rPr lang="en-US" sz="2000" b="1" dirty="0">
                <a:latin typeface="Courier"/>
                <a:cs typeface="Courier"/>
              </a:rPr>
              <a:t>NULL</a:t>
            </a:r>
          </a:p>
        </p:txBody>
      </p:sp>
      <p:cxnSp>
        <p:nvCxnSpPr>
          <p:cNvPr id="46" name="Straight Arrow Connector 45">
            <a:extLst>
              <a:ext uri="{FF2B5EF4-FFF2-40B4-BE49-F238E27FC236}">
                <a16:creationId xmlns:a16="http://schemas.microsoft.com/office/drawing/2014/main" id="{9BFDA6A4-7B6F-0D44-A5BF-AB1DBE9C3E4B}"/>
              </a:ext>
            </a:extLst>
          </p:cNvPr>
          <p:cNvCxnSpPr>
            <a:cxnSpLocks/>
            <a:stCxn id="17" idx="3"/>
            <a:endCxn id="27" idx="1"/>
          </p:cNvCxnSpPr>
          <p:nvPr/>
        </p:nvCxnSpPr>
        <p:spPr bwMode="auto">
          <a:xfrm flipV="1">
            <a:off x="4092624" y="4318927"/>
            <a:ext cx="1679938" cy="397213"/>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3" name="Group 42">
            <a:extLst>
              <a:ext uri="{FF2B5EF4-FFF2-40B4-BE49-F238E27FC236}">
                <a16:creationId xmlns:a16="http://schemas.microsoft.com/office/drawing/2014/main" id="{24E9DC2D-7D3B-6B4B-A218-53D3C481E442}"/>
              </a:ext>
            </a:extLst>
          </p:cNvPr>
          <p:cNvGrpSpPr/>
          <p:nvPr/>
        </p:nvGrpSpPr>
        <p:grpSpPr>
          <a:xfrm>
            <a:off x="431540" y="4172190"/>
            <a:ext cx="3149269" cy="404872"/>
            <a:chOff x="462847" y="4841874"/>
            <a:chExt cx="3149269" cy="404872"/>
          </a:xfrm>
        </p:grpSpPr>
        <p:sp>
          <p:nvSpPr>
            <p:cNvPr id="47" name="TextBox 46">
              <a:extLst>
                <a:ext uri="{FF2B5EF4-FFF2-40B4-BE49-F238E27FC236}">
                  <a16:creationId xmlns:a16="http://schemas.microsoft.com/office/drawing/2014/main" id="{545FC56C-B59E-BF47-8D40-5369D308DBFF}"/>
                </a:ext>
              </a:extLst>
            </p:cNvPr>
            <p:cNvSpPr txBox="1"/>
            <p:nvPr/>
          </p:nvSpPr>
          <p:spPr>
            <a:xfrm>
              <a:off x="462847" y="4846636"/>
              <a:ext cx="1107997" cy="400110"/>
            </a:xfrm>
            <a:prstGeom prst="rect">
              <a:avLst/>
            </a:prstGeom>
            <a:noFill/>
          </p:spPr>
          <p:txBody>
            <a:bodyPr wrap="none" rtlCol="0">
              <a:spAutoFit/>
            </a:bodyPr>
            <a:lstStyle/>
            <a:p>
              <a:r>
                <a:rPr lang="en-US" sz="2000" b="1" dirty="0">
                  <a:latin typeface="Courier"/>
                  <a:cs typeface="Courier"/>
                </a:rPr>
                <a:t>value:</a:t>
              </a:r>
            </a:p>
          </p:txBody>
        </p:sp>
        <p:sp>
          <p:nvSpPr>
            <p:cNvPr id="48" name="TextBox 47">
              <a:extLst>
                <a:ext uri="{FF2B5EF4-FFF2-40B4-BE49-F238E27FC236}">
                  <a16:creationId xmlns:a16="http://schemas.microsoft.com/office/drawing/2014/main" id="{4D9CEB84-E59D-C647-85F4-045770AB4F24}"/>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49" name="TextBox 48">
              <a:extLst>
                <a:ext uri="{FF2B5EF4-FFF2-40B4-BE49-F238E27FC236}">
                  <a16:creationId xmlns:a16="http://schemas.microsoft.com/office/drawing/2014/main" id="{AF1A4F9A-CF00-7C4F-AFE9-360DD3BCDF4D}"/>
                </a:ext>
              </a:extLst>
            </p:cNvPr>
            <p:cNvSpPr txBox="1"/>
            <p:nvPr/>
          </p:nvSpPr>
          <p:spPr>
            <a:xfrm>
              <a:off x="3273562" y="4841874"/>
              <a:ext cx="338554" cy="400110"/>
            </a:xfrm>
            <a:prstGeom prst="rect">
              <a:avLst/>
            </a:prstGeom>
            <a:noFill/>
          </p:spPr>
          <p:txBody>
            <a:bodyPr wrap="none" rtlCol="0">
              <a:spAutoFit/>
            </a:bodyPr>
            <a:lstStyle/>
            <a:p>
              <a:r>
                <a:rPr lang="en-US" sz="2000" b="1" dirty="0">
                  <a:latin typeface="Courier"/>
                  <a:cs typeface="Courier"/>
                </a:rPr>
                <a:t>1</a:t>
              </a:r>
            </a:p>
          </p:txBody>
        </p:sp>
      </p:grpSp>
      <p:grpSp>
        <p:nvGrpSpPr>
          <p:cNvPr id="50" name="Group 49">
            <a:extLst>
              <a:ext uri="{FF2B5EF4-FFF2-40B4-BE49-F238E27FC236}">
                <a16:creationId xmlns:a16="http://schemas.microsoft.com/office/drawing/2014/main" id="{C9AE7853-F46C-874A-A17E-8BAB478914C7}"/>
              </a:ext>
            </a:extLst>
          </p:cNvPr>
          <p:cNvGrpSpPr/>
          <p:nvPr/>
        </p:nvGrpSpPr>
        <p:grpSpPr>
          <a:xfrm>
            <a:off x="143508" y="4601804"/>
            <a:ext cx="2448272" cy="400110"/>
            <a:chOff x="143508" y="4893902"/>
            <a:chExt cx="2448272" cy="400110"/>
          </a:xfrm>
        </p:grpSpPr>
        <p:sp>
          <p:nvSpPr>
            <p:cNvPr id="52" name="TextBox 51">
              <a:extLst>
                <a:ext uri="{FF2B5EF4-FFF2-40B4-BE49-F238E27FC236}">
                  <a16:creationId xmlns:a16="http://schemas.microsoft.com/office/drawing/2014/main" id="{600447CB-0D8D-DB4C-A743-96AEA2296ADB}"/>
                </a:ext>
              </a:extLst>
            </p:cNvPr>
            <p:cNvSpPr txBox="1"/>
            <p:nvPr/>
          </p:nvSpPr>
          <p:spPr>
            <a:xfrm>
              <a:off x="143508" y="489390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53" name="TextBox 52">
              <a:extLst>
                <a:ext uri="{FF2B5EF4-FFF2-40B4-BE49-F238E27FC236}">
                  <a16:creationId xmlns:a16="http://schemas.microsoft.com/office/drawing/2014/main" id="{30D4D9B4-5A10-5E4A-854B-F731D757DFDF}"/>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grpSp>
        <p:nvGrpSpPr>
          <p:cNvPr id="77" name="Group 76">
            <a:extLst>
              <a:ext uri="{FF2B5EF4-FFF2-40B4-BE49-F238E27FC236}">
                <a16:creationId xmlns:a16="http://schemas.microsoft.com/office/drawing/2014/main" id="{C07E7712-5BCD-B540-9CD6-6348B24FC6A3}"/>
              </a:ext>
            </a:extLst>
          </p:cNvPr>
          <p:cNvGrpSpPr/>
          <p:nvPr/>
        </p:nvGrpSpPr>
        <p:grpSpPr>
          <a:xfrm>
            <a:off x="1055220" y="3789952"/>
            <a:ext cx="2824577" cy="404872"/>
            <a:chOff x="1099774" y="4841874"/>
            <a:chExt cx="2824577" cy="404872"/>
          </a:xfrm>
        </p:grpSpPr>
        <p:sp>
          <p:nvSpPr>
            <p:cNvPr id="78" name="TextBox 77">
              <a:extLst>
                <a:ext uri="{FF2B5EF4-FFF2-40B4-BE49-F238E27FC236}">
                  <a16:creationId xmlns:a16="http://schemas.microsoft.com/office/drawing/2014/main" id="{9E4DD42B-45A7-1840-B5AB-EABE4350C174}"/>
                </a:ext>
              </a:extLst>
            </p:cNvPr>
            <p:cNvSpPr txBox="1"/>
            <p:nvPr/>
          </p:nvSpPr>
          <p:spPr>
            <a:xfrm>
              <a:off x="1099774" y="4846636"/>
              <a:ext cx="492444" cy="400110"/>
            </a:xfrm>
            <a:prstGeom prst="rect">
              <a:avLst/>
            </a:prstGeom>
            <a:noFill/>
          </p:spPr>
          <p:txBody>
            <a:bodyPr wrap="none" rtlCol="0">
              <a:spAutoFit/>
            </a:bodyPr>
            <a:lstStyle/>
            <a:p>
              <a:r>
                <a:rPr lang="en-US" sz="2000" b="1" dirty="0">
                  <a:latin typeface="Courier"/>
                  <a:cs typeface="Courier"/>
                </a:rPr>
                <a:t>l:</a:t>
              </a:r>
            </a:p>
          </p:txBody>
        </p:sp>
        <p:sp>
          <p:nvSpPr>
            <p:cNvPr id="82" name="TextBox 81">
              <a:extLst>
                <a:ext uri="{FF2B5EF4-FFF2-40B4-BE49-F238E27FC236}">
                  <a16:creationId xmlns:a16="http://schemas.microsoft.com/office/drawing/2014/main" id="{598490A7-D888-084B-9114-BFAA148CEEBF}"/>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85" name="TextBox 84">
              <a:extLst>
                <a:ext uri="{FF2B5EF4-FFF2-40B4-BE49-F238E27FC236}">
                  <a16:creationId xmlns:a16="http://schemas.microsoft.com/office/drawing/2014/main" id="{7A1A01F6-B538-C146-92D3-4AE8EE491EBA}"/>
                </a:ext>
              </a:extLst>
            </p:cNvPr>
            <p:cNvSpPr txBox="1"/>
            <p:nvPr/>
          </p:nvSpPr>
          <p:spPr>
            <a:xfrm>
              <a:off x="2816354" y="4841874"/>
              <a:ext cx="1107997" cy="400110"/>
            </a:xfrm>
            <a:prstGeom prst="rect">
              <a:avLst/>
            </a:prstGeom>
            <a:noFill/>
          </p:spPr>
          <p:txBody>
            <a:bodyPr wrap="none" rtlCol="0">
              <a:spAutoFit/>
            </a:bodyPr>
            <a:lstStyle/>
            <a:p>
              <a:r>
                <a:rPr lang="en-US" sz="2000" b="1" dirty="0">
                  <a:latin typeface="Courier"/>
                  <a:cs typeface="Courier"/>
                </a:rPr>
                <a:t>0xFFF8</a:t>
              </a:r>
            </a:p>
          </p:txBody>
        </p:sp>
      </p:grpSp>
      <p:grpSp>
        <p:nvGrpSpPr>
          <p:cNvPr id="86" name="Group 85">
            <a:extLst>
              <a:ext uri="{FF2B5EF4-FFF2-40B4-BE49-F238E27FC236}">
                <a16:creationId xmlns:a16="http://schemas.microsoft.com/office/drawing/2014/main" id="{5590239D-055A-5C48-B20B-6DBEA9B072FF}"/>
              </a:ext>
            </a:extLst>
          </p:cNvPr>
          <p:cNvGrpSpPr/>
          <p:nvPr/>
        </p:nvGrpSpPr>
        <p:grpSpPr>
          <a:xfrm>
            <a:off x="2820927" y="5714839"/>
            <a:ext cx="1463041" cy="738497"/>
            <a:chOff x="2820927" y="5517232"/>
            <a:chExt cx="1463041" cy="738497"/>
          </a:xfrm>
        </p:grpSpPr>
        <p:sp>
          <p:nvSpPr>
            <p:cNvPr id="87" name="Line 26">
              <a:extLst>
                <a:ext uri="{FF2B5EF4-FFF2-40B4-BE49-F238E27FC236}">
                  <a16:creationId xmlns:a16="http://schemas.microsoft.com/office/drawing/2014/main" id="{A2E115B6-B13E-9749-B44C-EA47EBE39DC4}"/>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8" name="Text Box 25">
              <a:extLst>
                <a:ext uri="{FF2B5EF4-FFF2-40B4-BE49-F238E27FC236}">
                  <a16:creationId xmlns:a16="http://schemas.microsoft.com/office/drawing/2014/main" id="{A3DA7CB2-A2BE-A84F-831D-5D6496047BF5}"/>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9" name="Text Box 1067">
              <a:extLst>
                <a:ext uri="{FF2B5EF4-FFF2-40B4-BE49-F238E27FC236}">
                  <a16:creationId xmlns:a16="http://schemas.microsoft.com/office/drawing/2014/main" id="{D6C98F17-DB6D-664C-BC84-6449F08E3631}"/>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90" name="TextBox 89">
            <a:extLst>
              <a:ext uri="{FF2B5EF4-FFF2-40B4-BE49-F238E27FC236}">
                <a16:creationId xmlns:a16="http://schemas.microsoft.com/office/drawing/2014/main" id="{90E6F05F-0DF0-3240-980A-439A484451FD}"/>
              </a:ext>
            </a:extLst>
          </p:cNvPr>
          <p:cNvSpPr txBox="1"/>
          <p:nvPr/>
        </p:nvSpPr>
        <p:spPr>
          <a:xfrm>
            <a:off x="2766118" y="4507871"/>
            <a:ext cx="1107997" cy="400110"/>
          </a:xfrm>
          <a:prstGeom prst="rect">
            <a:avLst/>
          </a:prstGeom>
          <a:noFill/>
        </p:spPr>
        <p:txBody>
          <a:bodyPr wrap="none" rtlCol="0">
            <a:spAutoFit/>
          </a:bodyPr>
          <a:lstStyle/>
          <a:p>
            <a:r>
              <a:rPr lang="en-US" sz="2000" b="1" dirty="0">
                <a:latin typeface="Courier"/>
                <a:cs typeface="Courier"/>
              </a:rPr>
              <a:t>0x1000</a:t>
            </a:r>
          </a:p>
        </p:txBody>
      </p:sp>
      <p:cxnSp>
        <p:nvCxnSpPr>
          <p:cNvPr id="54" name="Curved Connector 53">
            <a:extLst>
              <a:ext uri="{FF2B5EF4-FFF2-40B4-BE49-F238E27FC236}">
                <a16:creationId xmlns:a16="http://schemas.microsoft.com/office/drawing/2014/main" id="{BA746901-71E3-4345-9948-1E14A197CF5F}"/>
              </a:ext>
            </a:extLst>
          </p:cNvPr>
          <p:cNvCxnSpPr>
            <a:cxnSpLocks/>
          </p:cNvCxnSpPr>
          <p:nvPr/>
        </p:nvCxnSpPr>
        <p:spPr bwMode="auto">
          <a:xfrm flipH="1">
            <a:off x="3736953" y="3990007"/>
            <a:ext cx="142844" cy="1118062"/>
          </a:xfrm>
          <a:prstGeom prst="curvedConnector3">
            <a:avLst>
              <a:gd name="adj1" fmla="val -473294"/>
            </a:avLst>
          </a:prstGeom>
          <a:noFill/>
          <a:ln w="38100" cap="flat" cmpd="sng" algn="ctr">
            <a:solidFill>
              <a:srgbClr val="FF0000"/>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5" name="Oval 54">
            <a:extLst>
              <a:ext uri="{FF2B5EF4-FFF2-40B4-BE49-F238E27FC236}">
                <a16:creationId xmlns:a16="http://schemas.microsoft.com/office/drawing/2014/main" id="{26BEFAC9-DB47-A64C-88F2-947043DF21B1}"/>
              </a:ext>
            </a:extLst>
          </p:cNvPr>
          <p:cNvSpPr/>
          <p:nvPr/>
        </p:nvSpPr>
        <p:spPr bwMode="auto">
          <a:xfrm>
            <a:off x="2844756" y="4833156"/>
            <a:ext cx="982137" cy="442104"/>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850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FR" sz="2000" b="0" i="0" u="none" strike="noStrike" cap="none" normalizeH="0" baseline="0" dirty="0">
              <a:ln>
                <a:noFill/>
              </a:ln>
              <a:solidFill>
                <a:srgbClr val="010507"/>
              </a:solidFill>
              <a:effectLst/>
              <a:latin typeface="Arial" charset="0"/>
            </a:endParaRPr>
          </a:p>
        </p:txBody>
      </p:sp>
    </p:spTree>
    <p:extLst>
      <p:ext uri="{BB962C8B-B14F-4D97-AF65-F5344CB8AC3E}">
        <p14:creationId xmlns:p14="http://schemas.microsoft.com/office/powerpoint/2010/main" val="70413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2">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221</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(&amp;head,1);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 l,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r>
              <a:rPr lang="en-GB" sz="1800" b="1" dirty="0" err="1">
                <a:latin typeface="Courier"/>
                <a:cs typeface="Courier"/>
              </a:rPr>
              <a:t>new_elt</a:t>
            </a:r>
            <a:r>
              <a:rPr lang="en-GB" sz="1800" b="1" dirty="0">
                <a:latin typeface="Courier"/>
                <a:cs typeface="Courier"/>
              </a:rPr>
              <a:t>-&gt;next = *l;</a:t>
            </a:r>
          </a:p>
          <a:p>
            <a:pPr marL="93663" indent="0">
              <a:buNone/>
            </a:pPr>
            <a:r>
              <a:rPr lang="en-GB" sz="1800" b="1" dirty="0">
                <a:latin typeface="Courier"/>
                <a:cs typeface="Courier"/>
              </a:rPr>
              <a:t>  *l = </a:t>
            </a:r>
            <a:r>
              <a:rPr lang="en-GB" sz="1800" b="1" dirty="0" err="1">
                <a:latin typeface="Courier"/>
                <a:cs typeface="Courier"/>
              </a:rPr>
              <a:t>new_elt</a:t>
            </a:r>
            <a:r>
              <a:rPr lang="en-GB" sz="1800" b="1" dirty="0">
                <a:latin typeface="Courier"/>
                <a:cs typeface="Courier"/>
              </a:rPr>
              <a:t>;</a:t>
            </a:r>
          </a:p>
          <a:p>
            <a:pPr marL="93663" indent="0">
              <a:buNone/>
            </a:pPr>
            <a:r>
              <a:rPr lang="en-GB" sz="1800" b="1" dirty="0">
                <a:latin typeface="Courier"/>
                <a:cs typeface="Courier"/>
              </a:rPr>
              <a:t>  return 0;</a:t>
            </a:r>
          </a:p>
          <a:p>
            <a:pPr marL="93663" indent="0">
              <a:buNone/>
            </a:pPr>
            <a:r>
              <a:rPr lang="en-GB" sz="1800" b="1" dirty="0">
                <a:latin typeface="Courier"/>
                <a:cs typeface="Courier"/>
              </a:rPr>
              <a:t>}</a:t>
            </a:r>
          </a:p>
          <a:p>
            <a:pPr marL="93663" indent="0">
              <a:buNone/>
            </a:pP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Linked</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list</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Example</a:t>
            </a:r>
            <a:endParaRPr lang="fr-FR" sz="2800" dirty="0">
              <a:solidFill>
                <a:srgbClr val="800000"/>
              </a:solidFill>
              <a:latin typeface="Arial" charset="0"/>
              <a:cs typeface="ＭＳ Ｐゴシック"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extLst>
              <p:ext uri="{D42A27DB-BD31-4B8C-83A1-F6EECF244321}">
                <p14:modId xmlns:p14="http://schemas.microsoft.com/office/powerpoint/2010/main" val="1134417556"/>
              </p:ext>
            </p:extLst>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solidFill>
                    <a:srgbClr val="FF0000"/>
                  </a:solidFill>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sp>
        <p:nvSpPr>
          <p:cNvPr id="44" name="TextBox 43">
            <a:extLst>
              <a:ext uri="{FF2B5EF4-FFF2-40B4-BE49-F238E27FC236}">
                <a16:creationId xmlns:a16="http://schemas.microsoft.com/office/drawing/2014/main" id="{14954DCD-FE3F-F84A-AC59-E085A9B23D1C}"/>
              </a:ext>
            </a:extLst>
          </p:cNvPr>
          <p:cNvSpPr txBox="1"/>
          <p:nvPr/>
        </p:nvSpPr>
        <p:spPr>
          <a:xfrm>
            <a:off x="2782845" y="4908014"/>
            <a:ext cx="1107997" cy="400110"/>
          </a:xfrm>
          <a:prstGeom prst="rect">
            <a:avLst/>
          </a:prstGeom>
          <a:noFill/>
        </p:spPr>
        <p:txBody>
          <a:bodyPr wrap="none" rtlCol="0">
            <a:spAutoFit/>
          </a:bodyPr>
          <a:lstStyle/>
          <a:p>
            <a:r>
              <a:rPr lang="en-US" sz="2000" b="1" dirty="0">
                <a:solidFill>
                  <a:srgbClr val="FF0000"/>
                </a:solidFill>
                <a:latin typeface="Courier"/>
                <a:cs typeface="Courier"/>
              </a:rPr>
              <a:t>0x1000</a:t>
            </a:r>
          </a:p>
        </p:txBody>
      </p:sp>
      <p:cxnSp>
        <p:nvCxnSpPr>
          <p:cNvPr id="56" name="Straight Arrow Connector 55">
            <a:extLst>
              <a:ext uri="{FF2B5EF4-FFF2-40B4-BE49-F238E27FC236}">
                <a16:creationId xmlns:a16="http://schemas.microsoft.com/office/drawing/2014/main" id="{7DE0D54B-59A6-954D-A2AD-1471B6AC97F1}"/>
              </a:ext>
            </a:extLst>
          </p:cNvPr>
          <p:cNvCxnSpPr>
            <a:cxnSpLocks/>
            <a:endCxn id="45" idx="1"/>
          </p:cNvCxnSpPr>
          <p:nvPr/>
        </p:nvCxnSpPr>
        <p:spPr bwMode="auto">
          <a:xfrm flipV="1">
            <a:off x="4092624" y="4499151"/>
            <a:ext cx="1679735" cy="622038"/>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57" name="Group 56">
            <a:extLst>
              <a:ext uri="{FF2B5EF4-FFF2-40B4-BE49-F238E27FC236}">
                <a16:creationId xmlns:a16="http://schemas.microsoft.com/office/drawing/2014/main" id="{95155685-3AED-664E-9E3D-034CABBB04AD}"/>
              </a:ext>
            </a:extLst>
          </p:cNvPr>
          <p:cNvGrpSpPr/>
          <p:nvPr/>
        </p:nvGrpSpPr>
        <p:grpSpPr>
          <a:xfrm>
            <a:off x="2820927" y="5714839"/>
            <a:ext cx="3820068" cy="557804"/>
            <a:chOff x="2820927" y="5517232"/>
            <a:chExt cx="3820068" cy="557804"/>
          </a:xfrm>
        </p:grpSpPr>
        <p:sp>
          <p:nvSpPr>
            <p:cNvPr id="58" name="Line 26">
              <a:extLst>
                <a:ext uri="{FF2B5EF4-FFF2-40B4-BE49-F238E27FC236}">
                  <a16:creationId xmlns:a16="http://schemas.microsoft.com/office/drawing/2014/main" id="{6E4C78DC-80E2-F74B-9AF0-8BE71DAFBCE0}"/>
                </a:ext>
              </a:extLst>
            </p:cNvPr>
            <p:cNvSpPr>
              <a:spLocks noChangeShapeType="1"/>
            </p:cNvSpPr>
            <p:nvPr/>
          </p:nvSpPr>
          <p:spPr bwMode="auto">
            <a:xfrm rot="5400000" flipV="1">
              <a:off x="4920271" y="4354312"/>
              <a:ext cx="17745" cy="342370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9" name="Text Box 25">
              <a:extLst>
                <a:ext uri="{FF2B5EF4-FFF2-40B4-BE49-F238E27FC236}">
                  <a16:creationId xmlns:a16="http://schemas.microsoft.com/office/drawing/2014/main" id="{F1585AB3-1814-1746-BF5F-50586868912C}"/>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0" name="Rectangle 59">
            <a:extLst>
              <a:ext uri="{FF2B5EF4-FFF2-40B4-BE49-F238E27FC236}">
                <a16:creationId xmlns:a16="http://schemas.microsoft.com/office/drawing/2014/main" id="{1FD9A9EE-4D8A-A441-BCD5-4A9415DE6E7B}"/>
              </a:ext>
            </a:extLst>
          </p:cNvPr>
          <p:cNvSpPr/>
          <p:nvPr/>
        </p:nvSpPr>
        <p:spPr>
          <a:xfrm>
            <a:off x="5516267" y="975059"/>
            <a:ext cx="3466009" cy="461665"/>
          </a:xfrm>
          <a:prstGeom prst="rect">
            <a:avLst/>
          </a:prstGeom>
          <a:ln>
            <a:solidFill>
              <a:srgbClr val="FF0000"/>
            </a:solidFill>
          </a:ln>
        </p:spPr>
        <p:txBody>
          <a:bodyPr wrap="square">
            <a:spAutoFit/>
          </a:bodyPr>
          <a:lstStyle/>
          <a:p>
            <a:r>
              <a:rPr lang="en-US" sz="2400" b="1" dirty="0">
                <a:solidFill>
                  <a:srgbClr val="FF0000"/>
                </a:solidFill>
              </a:rPr>
              <a:t>Pass by REFERENCE</a:t>
            </a:r>
          </a:p>
        </p:txBody>
      </p:sp>
    </p:spTree>
    <p:extLst>
      <p:ext uri="{BB962C8B-B14F-4D97-AF65-F5344CB8AC3E}">
        <p14:creationId xmlns:p14="http://schemas.microsoft.com/office/powerpoint/2010/main" val="124094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222</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solidFill>
                  <a:srgbClr val="FF0000"/>
                </a:solidFill>
                <a:latin typeface="Courier"/>
                <a:cs typeface="Courier"/>
              </a:rPr>
              <a:t>list_elem_t</a:t>
            </a:r>
            <a:r>
              <a:rPr lang="en-GB" sz="1800" b="1" dirty="0">
                <a:solidFill>
                  <a:srgbClr val="FF0000"/>
                </a:solidFill>
                <a:latin typeface="Courier"/>
                <a:cs typeface="Courier"/>
              </a:rPr>
              <a:t> * l</a:t>
            </a:r>
            <a:r>
              <a:rPr lang="en-GB" sz="1800" b="1" dirty="0">
                <a:latin typeface="Courier"/>
                <a:cs typeface="Courier"/>
              </a:rPr>
              <a:t>,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Why</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pass</a:t>
            </a:r>
            <a:r>
              <a:rPr lang="fr-FR" sz="2800" dirty="0">
                <a:solidFill>
                  <a:srgbClr val="800000"/>
                </a:solidFill>
                <a:latin typeface="Arial" charset="0"/>
                <a:cs typeface="ＭＳ Ｐゴシック" charset="0"/>
              </a:rPr>
              <a:t> by </a:t>
            </a:r>
            <a:r>
              <a:rPr lang="fr-FR" sz="2800" dirty="0" err="1">
                <a:solidFill>
                  <a:srgbClr val="800000"/>
                </a:solidFill>
                <a:latin typeface="Arial" charset="0"/>
                <a:cs typeface="ＭＳ Ｐゴシック" charset="0"/>
              </a:rPr>
              <a:t>reference</a:t>
            </a:r>
            <a:r>
              <a:rPr lang="fr-FR" sz="2800" dirty="0">
                <a:solidFill>
                  <a:srgbClr val="800000"/>
                </a:solidFill>
                <a:latin typeface="Arial" charset="0"/>
                <a:cs typeface="ＭＳ Ｐゴシック" charset="0"/>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solidFill>
                    <a:schemeClr val="tx1"/>
                  </a:solidFill>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cxnSp>
        <p:nvCxnSpPr>
          <p:cNvPr id="46" name="Straight Arrow Connector 45">
            <a:extLst>
              <a:ext uri="{FF2B5EF4-FFF2-40B4-BE49-F238E27FC236}">
                <a16:creationId xmlns:a16="http://schemas.microsoft.com/office/drawing/2014/main" id="{9BFDA6A4-7B6F-0D44-A5BF-AB1DBE9C3E4B}"/>
              </a:ext>
            </a:extLst>
          </p:cNvPr>
          <p:cNvCxnSpPr>
            <a:cxnSpLocks/>
            <a:stCxn id="17" idx="3"/>
            <a:endCxn id="27" idx="1"/>
          </p:cNvCxnSpPr>
          <p:nvPr/>
        </p:nvCxnSpPr>
        <p:spPr bwMode="auto">
          <a:xfrm flipV="1">
            <a:off x="4092624" y="4318927"/>
            <a:ext cx="1679938" cy="397213"/>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3" name="Group 42">
            <a:extLst>
              <a:ext uri="{FF2B5EF4-FFF2-40B4-BE49-F238E27FC236}">
                <a16:creationId xmlns:a16="http://schemas.microsoft.com/office/drawing/2014/main" id="{24E9DC2D-7D3B-6B4B-A218-53D3C481E442}"/>
              </a:ext>
            </a:extLst>
          </p:cNvPr>
          <p:cNvGrpSpPr/>
          <p:nvPr/>
        </p:nvGrpSpPr>
        <p:grpSpPr>
          <a:xfrm>
            <a:off x="431540" y="4172190"/>
            <a:ext cx="3149269" cy="404872"/>
            <a:chOff x="462847" y="4841874"/>
            <a:chExt cx="3149269" cy="404872"/>
          </a:xfrm>
        </p:grpSpPr>
        <p:sp>
          <p:nvSpPr>
            <p:cNvPr id="47" name="TextBox 46">
              <a:extLst>
                <a:ext uri="{FF2B5EF4-FFF2-40B4-BE49-F238E27FC236}">
                  <a16:creationId xmlns:a16="http://schemas.microsoft.com/office/drawing/2014/main" id="{545FC56C-B59E-BF47-8D40-5369D308DBFF}"/>
                </a:ext>
              </a:extLst>
            </p:cNvPr>
            <p:cNvSpPr txBox="1"/>
            <p:nvPr/>
          </p:nvSpPr>
          <p:spPr>
            <a:xfrm>
              <a:off x="462847" y="4846636"/>
              <a:ext cx="1107997" cy="400110"/>
            </a:xfrm>
            <a:prstGeom prst="rect">
              <a:avLst/>
            </a:prstGeom>
            <a:noFill/>
          </p:spPr>
          <p:txBody>
            <a:bodyPr wrap="none" rtlCol="0">
              <a:spAutoFit/>
            </a:bodyPr>
            <a:lstStyle/>
            <a:p>
              <a:r>
                <a:rPr lang="en-US" sz="2000" b="1" dirty="0">
                  <a:latin typeface="Courier"/>
                  <a:cs typeface="Courier"/>
                </a:rPr>
                <a:t>value:</a:t>
              </a:r>
            </a:p>
          </p:txBody>
        </p:sp>
        <p:sp>
          <p:nvSpPr>
            <p:cNvPr id="48" name="TextBox 47">
              <a:extLst>
                <a:ext uri="{FF2B5EF4-FFF2-40B4-BE49-F238E27FC236}">
                  <a16:creationId xmlns:a16="http://schemas.microsoft.com/office/drawing/2014/main" id="{4D9CEB84-E59D-C647-85F4-045770AB4F24}"/>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49" name="TextBox 48">
              <a:extLst>
                <a:ext uri="{FF2B5EF4-FFF2-40B4-BE49-F238E27FC236}">
                  <a16:creationId xmlns:a16="http://schemas.microsoft.com/office/drawing/2014/main" id="{AF1A4F9A-CF00-7C4F-AFE9-360DD3BCDF4D}"/>
                </a:ext>
              </a:extLst>
            </p:cNvPr>
            <p:cNvSpPr txBox="1"/>
            <p:nvPr/>
          </p:nvSpPr>
          <p:spPr>
            <a:xfrm>
              <a:off x="3273562" y="4841874"/>
              <a:ext cx="338554" cy="400110"/>
            </a:xfrm>
            <a:prstGeom prst="rect">
              <a:avLst/>
            </a:prstGeom>
            <a:noFill/>
          </p:spPr>
          <p:txBody>
            <a:bodyPr wrap="none" rtlCol="0">
              <a:spAutoFit/>
            </a:bodyPr>
            <a:lstStyle/>
            <a:p>
              <a:r>
                <a:rPr lang="en-US" sz="2000" b="1" dirty="0">
                  <a:latin typeface="Courier"/>
                  <a:cs typeface="Courier"/>
                </a:rPr>
                <a:t>1</a:t>
              </a:r>
            </a:p>
          </p:txBody>
        </p:sp>
      </p:grpSp>
      <p:grpSp>
        <p:nvGrpSpPr>
          <p:cNvPr id="50" name="Group 49">
            <a:extLst>
              <a:ext uri="{FF2B5EF4-FFF2-40B4-BE49-F238E27FC236}">
                <a16:creationId xmlns:a16="http://schemas.microsoft.com/office/drawing/2014/main" id="{C9AE7853-F46C-874A-A17E-8BAB478914C7}"/>
              </a:ext>
            </a:extLst>
          </p:cNvPr>
          <p:cNvGrpSpPr/>
          <p:nvPr/>
        </p:nvGrpSpPr>
        <p:grpSpPr>
          <a:xfrm>
            <a:off x="143508" y="4601804"/>
            <a:ext cx="2448272" cy="400110"/>
            <a:chOff x="143508" y="4893902"/>
            <a:chExt cx="2448272" cy="400110"/>
          </a:xfrm>
        </p:grpSpPr>
        <p:sp>
          <p:nvSpPr>
            <p:cNvPr id="52" name="TextBox 51">
              <a:extLst>
                <a:ext uri="{FF2B5EF4-FFF2-40B4-BE49-F238E27FC236}">
                  <a16:creationId xmlns:a16="http://schemas.microsoft.com/office/drawing/2014/main" id="{600447CB-0D8D-DB4C-A743-96AEA2296ADB}"/>
                </a:ext>
              </a:extLst>
            </p:cNvPr>
            <p:cNvSpPr txBox="1"/>
            <p:nvPr/>
          </p:nvSpPr>
          <p:spPr>
            <a:xfrm>
              <a:off x="143508" y="489390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53" name="TextBox 52">
              <a:extLst>
                <a:ext uri="{FF2B5EF4-FFF2-40B4-BE49-F238E27FC236}">
                  <a16:creationId xmlns:a16="http://schemas.microsoft.com/office/drawing/2014/main" id="{30D4D9B4-5A10-5E4A-854B-F731D757DFDF}"/>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grpSp>
        <p:nvGrpSpPr>
          <p:cNvPr id="77" name="Group 76">
            <a:extLst>
              <a:ext uri="{FF2B5EF4-FFF2-40B4-BE49-F238E27FC236}">
                <a16:creationId xmlns:a16="http://schemas.microsoft.com/office/drawing/2014/main" id="{C07E7712-5BCD-B540-9CD6-6348B24FC6A3}"/>
              </a:ext>
            </a:extLst>
          </p:cNvPr>
          <p:cNvGrpSpPr/>
          <p:nvPr/>
        </p:nvGrpSpPr>
        <p:grpSpPr>
          <a:xfrm>
            <a:off x="1055220" y="3789952"/>
            <a:ext cx="2670688" cy="404872"/>
            <a:chOff x="1099774" y="4841874"/>
            <a:chExt cx="2670688" cy="404872"/>
          </a:xfrm>
        </p:grpSpPr>
        <p:sp>
          <p:nvSpPr>
            <p:cNvPr id="78" name="TextBox 77">
              <a:extLst>
                <a:ext uri="{FF2B5EF4-FFF2-40B4-BE49-F238E27FC236}">
                  <a16:creationId xmlns:a16="http://schemas.microsoft.com/office/drawing/2014/main" id="{9E4DD42B-45A7-1840-B5AB-EABE4350C174}"/>
                </a:ext>
              </a:extLst>
            </p:cNvPr>
            <p:cNvSpPr txBox="1"/>
            <p:nvPr/>
          </p:nvSpPr>
          <p:spPr>
            <a:xfrm>
              <a:off x="1099774" y="4846636"/>
              <a:ext cx="492444" cy="400110"/>
            </a:xfrm>
            <a:prstGeom prst="rect">
              <a:avLst/>
            </a:prstGeom>
            <a:noFill/>
          </p:spPr>
          <p:txBody>
            <a:bodyPr wrap="none" rtlCol="0">
              <a:spAutoFit/>
            </a:bodyPr>
            <a:lstStyle/>
            <a:p>
              <a:r>
                <a:rPr lang="en-US" sz="2000" b="1" dirty="0">
                  <a:latin typeface="Courier"/>
                  <a:cs typeface="Courier"/>
                </a:rPr>
                <a:t>l:</a:t>
              </a:r>
            </a:p>
          </p:txBody>
        </p:sp>
        <p:sp>
          <p:nvSpPr>
            <p:cNvPr id="82" name="TextBox 81">
              <a:extLst>
                <a:ext uri="{FF2B5EF4-FFF2-40B4-BE49-F238E27FC236}">
                  <a16:creationId xmlns:a16="http://schemas.microsoft.com/office/drawing/2014/main" id="{598490A7-D888-084B-9114-BFAA148CEEBF}"/>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85" name="TextBox 84">
              <a:extLst>
                <a:ext uri="{FF2B5EF4-FFF2-40B4-BE49-F238E27FC236}">
                  <a16:creationId xmlns:a16="http://schemas.microsoft.com/office/drawing/2014/main" id="{7A1A01F6-B538-C146-92D3-4AE8EE491EBA}"/>
                </a:ext>
              </a:extLst>
            </p:cNvPr>
            <p:cNvSpPr txBox="1"/>
            <p:nvPr/>
          </p:nvSpPr>
          <p:spPr>
            <a:xfrm>
              <a:off x="2970243" y="4841874"/>
              <a:ext cx="800219" cy="400110"/>
            </a:xfrm>
            <a:prstGeom prst="rect">
              <a:avLst/>
            </a:prstGeom>
            <a:noFill/>
          </p:spPr>
          <p:txBody>
            <a:bodyPr wrap="none" rtlCol="0">
              <a:spAutoFit/>
            </a:bodyPr>
            <a:lstStyle/>
            <a:p>
              <a:r>
                <a:rPr lang="en-US" sz="2000" b="1" dirty="0">
                  <a:latin typeface="Courier"/>
                  <a:cs typeface="Courier"/>
                </a:rPr>
                <a:t>NULL</a:t>
              </a:r>
            </a:p>
          </p:txBody>
        </p:sp>
      </p:grpSp>
      <p:grpSp>
        <p:nvGrpSpPr>
          <p:cNvPr id="86" name="Group 85">
            <a:extLst>
              <a:ext uri="{FF2B5EF4-FFF2-40B4-BE49-F238E27FC236}">
                <a16:creationId xmlns:a16="http://schemas.microsoft.com/office/drawing/2014/main" id="{5590239D-055A-5C48-B20B-6DBEA9B072FF}"/>
              </a:ext>
            </a:extLst>
          </p:cNvPr>
          <p:cNvGrpSpPr/>
          <p:nvPr/>
        </p:nvGrpSpPr>
        <p:grpSpPr>
          <a:xfrm>
            <a:off x="2820927" y="5714839"/>
            <a:ext cx="1463041" cy="738497"/>
            <a:chOff x="2820927" y="5517232"/>
            <a:chExt cx="1463041" cy="738497"/>
          </a:xfrm>
        </p:grpSpPr>
        <p:sp>
          <p:nvSpPr>
            <p:cNvPr id="87" name="Line 26">
              <a:extLst>
                <a:ext uri="{FF2B5EF4-FFF2-40B4-BE49-F238E27FC236}">
                  <a16:creationId xmlns:a16="http://schemas.microsoft.com/office/drawing/2014/main" id="{A2E115B6-B13E-9749-B44C-EA47EBE39DC4}"/>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8" name="Text Box 25">
              <a:extLst>
                <a:ext uri="{FF2B5EF4-FFF2-40B4-BE49-F238E27FC236}">
                  <a16:creationId xmlns:a16="http://schemas.microsoft.com/office/drawing/2014/main" id="{A3DA7CB2-A2BE-A84F-831D-5D6496047BF5}"/>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9" name="Text Box 1067">
              <a:extLst>
                <a:ext uri="{FF2B5EF4-FFF2-40B4-BE49-F238E27FC236}">
                  <a16:creationId xmlns:a16="http://schemas.microsoft.com/office/drawing/2014/main" id="{D6C98F17-DB6D-664C-BC84-6449F08E3631}"/>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90" name="TextBox 89">
            <a:extLst>
              <a:ext uri="{FF2B5EF4-FFF2-40B4-BE49-F238E27FC236}">
                <a16:creationId xmlns:a16="http://schemas.microsoft.com/office/drawing/2014/main" id="{90E6F05F-0DF0-3240-980A-439A484451FD}"/>
              </a:ext>
            </a:extLst>
          </p:cNvPr>
          <p:cNvSpPr txBox="1"/>
          <p:nvPr/>
        </p:nvSpPr>
        <p:spPr>
          <a:xfrm>
            <a:off x="2766118" y="4507871"/>
            <a:ext cx="1107997" cy="400110"/>
          </a:xfrm>
          <a:prstGeom prst="rect">
            <a:avLst/>
          </a:prstGeom>
          <a:noFill/>
        </p:spPr>
        <p:txBody>
          <a:bodyPr wrap="none" rtlCol="0">
            <a:spAutoFit/>
          </a:bodyPr>
          <a:lstStyle/>
          <a:p>
            <a:r>
              <a:rPr lang="en-US" sz="2000" b="1" dirty="0">
                <a:latin typeface="Courier"/>
                <a:cs typeface="Courier"/>
              </a:rPr>
              <a:t>0x1000</a:t>
            </a:r>
          </a:p>
        </p:txBody>
      </p:sp>
      <p:sp>
        <p:nvSpPr>
          <p:cNvPr id="54" name="Rectangle 53">
            <a:extLst>
              <a:ext uri="{FF2B5EF4-FFF2-40B4-BE49-F238E27FC236}">
                <a16:creationId xmlns:a16="http://schemas.microsoft.com/office/drawing/2014/main" id="{BFA343AA-7EDE-3D4C-BA4C-DD12413AE2F5}"/>
              </a:ext>
            </a:extLst>
          </p:cNvPr>
          <p:cNvSpPr/>
          <p:nvPr/>
        </p:nvSpPr>
        <p:spPr>
          <a:xfrm>
            <a:off x="5516267" y="975059"/>
            <a:ext cx="3466009" cy="461665"/>
          </a:xfrm>
          <a:prstGeom prst="rect">
            <a:avLst/>
          </a:prstGeom>
          <a:ln>
            <a:solidFill>
              <a:srgbClr val="FF0000"/>
            </a:solidFill>
          </a:ln>
        </p:spPr>
        <p:txBody>
          <a:bodyPr wrap="square">
            <a:spAutoFit/>
          </a:bodyPr>
          <a:lstStyle/>
          <a:p>
            <a:r>
              <a:rPr lang="en-US" sz="2400" b="1" dirty="0">
                <a:solidFill>
                  <a:srgbClr val="FF0000"/>
                </a:solidFill>
              </a:rPr>
              <a:t>Pass by VALUE</a:t>
            </a:r>
          </a:p>
        </p:txBody>
      </p:sp>
      <p:sp>
        <p:nvSpPr>
          <p:cNvPr id="55" name="TextBox 54">
            <a:extLst>
              <a:ext uri="{FF2B5EF4-FFF2-40B4-BE49-F238E27FC236}">
                <a16:creationId xmlns:a16="http://schemas.microsoft.com/office/drawing/2014/main" id="{3B7E84C9-65FB-D64B-AF5C-612483BC3548}"/>
              </a:ext>
            </a:extLst>
          </p:cNvPr>
          <p:cNvSpPr txBox="1"/>
          <p:nvPr/>
        </p:nvSpPr>
        <p:spPr>
          <a:xfrm>
            <a:off x="2926394" y="4885807"/>
            <a:ext cx="800219" cy="400110"/>
          </a:xfrm>
          <a:prstGeom prst="rect">
            <a:avLst/>
          </a:prstGeom>
          <a:noFill/>
        </p:spPr>
        <p:txBody>
          <a:bodyPr wrap="none" rtlCol="0">
            <a:spAutoFit/>
          </a:bodyPr>
          <a:lstStyle/>
          <a:p>
            <a:r>
              <a:rPr lang="en-US" sz="2000" b="1" dirty="0">
                <a:latin typeface="Courier"/>
                <a:cs typeface="Courier"/>
              </a:rPr>
              <a:t>NULL</a:t>
            </a:r>
          </a:p>
        </p:txBody>
      </p:sp>
    </p:spTree>
    <p:extLst>
      <p:ext uri="{BB962C8B-B14F-4D97-AF65-F5344CB8AC3E}">
        <p14:creationId xmlns:p14="http://schemas.microsoft.com/office/powerpoint/2010/main" val="15724030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223</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solidFill>
                  <a:srgbClr val="FF0000"/>
                </a:solidFill>
                <a:latin typeface="Courier"/>
                <a:cs typeface="Courier"/>
              </a:rPr>
              <a:t>list_elem_t</a:t>
            </a:r>
            <a:r>
              <a:rPr lang="en-GB" sz="1800" b="1" dirty="0">
                <a:solidFill>
                  <a:srgbClr val="FF0000"/>
                </a:solidFill>
                <a:latin typeface="Courier"/>
                <a:cs typeface="Courier"/>
              </a:rPr>
              <a:t> * l</a:t>
            </a:r>
            <a:r>
              <a:rPr lang="en-GB" sz="1800" b="1" dirty="0">
                <a:latin typeface="Courier"/>
                <a:cs typeface="Courier"/>
              </a:rPr>
              <a:t>,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r>
              <a:rPr lang="en-GB" sz="1800" b="1" dirty="0" err="1">
                <a:latin typeface="Courier"/>
                <a:cs typeface="Courier"/>
              </a:rPr>
              <a:t>new_elt</a:t>
            </a:r>
            <a:r>
              <a:rPr lang="en-GB" sz="1800" b="1" dirty="0">
                <a:latin typeface="Courier"/>
                <a:cs typeface="Courier"/>
              </a:rPr>
              <a:t>-&gt;next = </a:t>
            </a:r>
            <a:r>
              <a:rPr lang="en-GB" sz="1800" b="1" dirty="0">
                <a:solidFill>
                  <a:srgbClr val="FF0000"/>
                </a:solidFill>
                <a:latin typeface="Courier"/>
                <a:cs typeface="Courier"/>
              </a:rPr>
              <a:t>l</a:t>
            </a:r>
            <a:r>
              <a:rPr lang="en-GB" sz="1800" b="1" dirty="0">
                <a:latin typeface="Courier"/>
                <a:cs typeface="Courier"/>
              </a:rPr>
              <a:t>;</a:t>
            </a:r>
          </a:p>
          <a:p>
            <a:pPr marL="93663" indent="0">
              <a:buNone/>
            </a:pPr>
            <a:r>
              <a:rPr lang="en-GB" sz="1800" b="1" dirty="0">
                <a:latin typeface="Courier"/>
                <a:cs typeface="Courier"/>
              </a:rPr>
              <a:t>  </a:t>
            </a:r>
            <a:r>
              <a:rPr lang="en-GB" sz="1800" b="1" dirty="0">
                <a:solidFill>
                  <a:srgbClr val="FF0000"/>
                </a:solidFill>
                <a:latin typeface="Courier"/>
                <a:cs typeface="Courier"/>
              </a:rPr>
              <a:t>l</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a:t>
            </a:r>
          </a:p>
          <a:p>
            <a:pPr marL="93663" indent="0">
              <a:buNone/>
            </a:pP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Why</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pass</a:t>
            </a:r>
            <a:r>
              <a:rPr lang="fr-FR" sz="2800" dirty="0">
                <a:solidFill>
                  <a:srgbClr val="800000"/>
                </a:solidFill>
                <a:latin typeface="Arial" charset="0"/>
                <a:cs typeface="ＭＳ Ｐゴシック" charset="0"/>
              </a:rPr>
              <a:t> by </a:t>
            </a:r>
            <a:r>
              <a:rPr lang="fr-FR" sz="2800" dirty="0" err="1">
                <a:solidFill>
                  <a:srgbClr val="800000"/>
                </a:solidFill>
                <a:latin typeface="Arial" charset="0"/>
                <a:cs typeface="ＭＳ Ｐゴシック" charset="0"/>
              </a:rPr>
              <a:t>reference</a:t>
            </a:r>
            <a:r>
              <a:rPr lang="fr-FR" sz="2800" dirty="0">
                <a:solidFill>
                  <a:srgbClr val="800000"/>
                </a:solidFill>
                <a:latin typeface="Arial" charset="0"/>
                <a:cs typeface="ＭＳ Ｐゴシック" charset="0"/>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solidFill>
                    <a:srgbClr val="FF0000"/>
                  </a:solidFill>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cxnSp>
        <p:nvCxnSpPr>
          <p:cNvPr id="46" name="Straight Arrow Connector 45">
            <a:extLst>
              <a:ext uri="{FF2B5EF4-FFF2-40B4-BE49-F238E27FC236}">
                <a16:creationId xmlns:a16="http://schemas.microsoft.com/office/drawing/2014/main" id="{9BFDA6A4-7B6F-0D44-A5BF-AB1DBE9C3E4B}"/>
              </a:ext>
            </a:extLst>
          </p:cNvPr>
          <p:cNvCxnSpPr>
            <a:cxnSpLocks/>
            <a:stCxn id="17" idx="3"/>
            <a:endCxn id="27" idx="1"/>
          </p:cNvCxnSpPr>
          <p:nvPr/>
        </p:nvCxnSpPr>
        <p:spPr bwMode="auto">
          <a:xfrm flipV="1">
            <a:off x="4092624" y="4318927"/>
            <a:ext cx="1679938" cy="397213"/>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3" name="Group 42">
            <a:extLst>
              <a:ext uri="{FF2B5EF4-FFF2-40B4-BE49-F238E27FC236}">
                <a16:creationId xmlns:a16="http://schemas.microsoft.com/office/drawing/2014/main" id="{24E9DC2D-7D3B-6B4B-A218-53D3C481E442}"/>
              </a:ext>
            </a:extLst>
          </p:cNvPr>
          <p:cNvGrpSpPr/>
          <p:nvPr/>
        </p:nvGrpSpPr>
        <p:grpSpPr>
          <a:xfrm>
            <a:off x="431540" y="4172190"/>
            <a:ext cx="3149269" cy="404872"/>
            <a:chOff x="462847" y="4841874"/>
            <a:chExt cx="3149269" cy="404872"/>
          </a:xfrm>
        </p:grpSpPr>
        <p:sp>
          <p:nvSpPr>
            <p:cNvPr id="47" name="TextBox 46">
              <a:extLst>
                <a:ext uri="{FF2B5EF4-FFF2-40B4-BE49-F238E27FC236}">
                  <a16:creationId xmlns:a16="http://schemas.microsoft.com/office/drawing/2014/main" id="{545FC56C-B59E-BF47-8D40-5369D308DBFF}"/>
                </a:ext>
              </a:extLst>
            </p:cNvPr>
            <p:cNvSpPr txBox="1"/>
            <p:nvPr/>
          </p:nvSpPr>
          <p:spPr>
            <a:xfrm>
              <a:off x="462847" y="4846636"/>
              <a:ext cx="1107997" cy="400110"/>
            </a:xfrm>
            <a:prstGeom prst="rect">
              <a:avLst/>
            </a:prstGeom>
            <a:noFill/>
          </p:spPr>
          <p:txBody>
            <a:bodyPr wrap="none" rtlCol="0">
              <a:spAutoFit/>
            </a:bodyPr>
            <a:lstStyle/>
            <a:p>
              <a:r>
                <a:rPr lang="en-US" sz="2000" b="1" dirty="0">
                  <a:latin typeface="Courier"/>
                  <a:cs typeface="Courier"/>
                </a:rPr>
                <a:t>value:</a:t>
              </a:r>
            </a:p>
          </p:txBody>
        </p:sp>
        <p:sp>
          <p:nvSpPr>
            <p:cNvPr id="48" name="TextBox 47">
              <a:extLst>
                <a:ext uri="{FF2B5EF4-FFF2-40B4-BE49-F238E27FC236}">
                  <a16:creationId xmlns:a16="http://schemas.microsoft.com/office/drawing/2014/main" id="{4D9CEB84-E59D-C647-85F4-045770AB4F24}"/>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49" name="TextBox 48">
              <a:extLst>
                <a:ext uri="{FF2B5EF4-FFF2-40B4-BE49-F238E27FC236}">
                  <a16:creationId xmlns:a16="http://schemas.microsoft.com/office/drawing/2014/main" id="{AF1A4F9A-CF00-7C4F-AFE9-360DD3BCDF4D}"/>
                </a:ext>
              </a:extLst>
            </p:cNvPr>
            <p:cNvSpPr txBox="1"/>
            <p:nvPr/>
          </p:nvSpPr>
          <p:spPr>
            <a:xfrm>
              <a:off x="3273562" y="4841874"/>
              <a:ext cx="338554" cy="400110"/>
            </a:xfrm>
            <a:prstGeom prst="rect">
              <a:avLst/>
            </a:prstGeom>
            <a:noFill/>
          </p:spPr>
          <p:txBody>
            <a:bodyPr wrap="none" rtlCol="0">
              <a:spAutoFit/>
            </a:bodyPr>
            <a:lstStyle/>
            <a:p>
              <a:r>
                <a:rPr lang="en-US" sz="2000" b="1" dirty="0">
                  <a:latin typeface="Courier"/>
                  <a:cs typeface="Courier"/>
                </a:rPr>
                <a:t>1</a:t>
              </a:r>
            </a:p>
          </p:txBody>
        </p:sp>
      </p:grpSp>
      <p:grpSp>
        <p:nvGrpSpPr>
          <p:cNvPr id="50" name="Group 49">
            <a:extLst>
              <a:ext uri="{FF2B5EF4-FFF2-40B4-BE49-F238E27FC236}">
                <a16:creationId xmlns:a16="http://schemas.microsoft.com/office/drawing/2014/main" id="{C9AE7853-F46C-874A-A17E-8BAB478914C7}"/>
              </a:ext>
            </a:extLst>
          </p:cNvPr>
          <p:cNvGrpSpPr/>
          <p:nvPr/>
        </p:nvGrpSpPr>
        <p:grpSpPr>
          <a:xfrm>
            <a:off x="143508" y="4601804"/>
            <a:ext cx="2448272" cy="400110"/>
            <a:chOff x="143508" y="4893902"/>
            <a:chExt cx="2448272" cy="400110"/>
          </a:xfrm>
        </p:grpSpPr>
        <p:sp>
          <p:nvSpPr>
            <p:cNvPr id="52" name="TextBox 51">
              <a:extLst>
                <a:ext uri="{FF2B5EF4-FFF2-40B4-BE49-F238E27FC236}">
                  <a16:creationId xmlns:a16="http://schemas.microsoft.com/office/drawing/2014/main" id="{600447CB-0D8D-DB4C-A743-96AEA2296ADB}"/>
                </a:ext>
              </a:extLst>
            </p:cNvPr>
            <p:cNvSpPr txBox="1"/>
            <p:nvPr/>
          </p:nvSpPr>
          <p:spPr>
            <a:xfrm>
              <a:off x="143508" y="489390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53" name="TextBox 52">
              <a:extLst>
                <a:ext uri="{FF2B5EF4-FFF2-40B4-BE49-F238E27FC236}">
                  <a16:creationId xmlns:a16="http://schemas.microsoft.com/office/drawing/2014/main" id="{30D4D9B4-5A10-5E4A-854B-F731D757DFDF}"/>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grpSp>
        <p:nvGrpSpPr>
          <p:cNvPr id="77" name="Group 76">
            <a:extLst>
              <a:ext uri="{FF2B5EF4-FFF2-40B4-BE49-F238E27FC236}">
                <a16:creationId xmlns:a16="http://schemas.microsoft.com/office/drawing/2014/main" id="{C07E7712-5BCD-B540-9CD6-6348B24FC6A3}"/>
              </a:ext>
            </a:extLst>
          </p:cNvPr>
          <p:cNvGrpSpPr/>
          <p:nvPr/>
        </p:nvGrpSpPr>
        <p:grpSpPr>
          <a:xfrm>
            <a:off x="1055220" y="3789952"/>
            <a:ext cx="2824576" cy="404872"/>
            <a:chOff x="1099774" y="4841874"/>
            <a:chExt cx="2824576" cy="404872"/>
          </a:xfrm>
        </p:grpSpPr>
        <p:sp>
          <p:nvSpPr>
            <p:cNvPr id="78" name="TextBox 77">
              <a:extLst>
                <a:ext uri="{FF2B5EF4-FFF2-40B4-BE49-F238E27FC236}">
                  <a16:creationId xmlns:a16="http://schemas.microsoft.com/office/drawing/2014/main" id="{9E4DD42B-45A7-1840-B5AB-EABE4350C174}"/>
                </a:ext>
              </a:extLst>
            </p:cNvPr>
            <p:cNvSpPr txBox="1"/>
            <p:nvPr/>
          </p:nvSpPr>
          <p:spPr>
            <a:xfrm>
              <a:off x="1099774" y="4846636"/>
              <a:ext cx="492444" cy="400110"/>
            </a:xfrm>
            <a:prstGeom prst="rect">
              <a:avLst/>
            </a:prstGeom>
            <a:noFill/>
          </p:spPr>
          <p:txBody>
            <a:bodyPr wrap="none" rtlCol="0">
              <a:spAutoFit/>
            </a:bodyPr>
            <a:lstStyle/>
            <a:p>
              <a:r>
                <a:rPr lang="en-US" sz="2000" b="1" dirty="0">
                  <a:latin typeface="Courier"/>
                  <a:cs typeface="Courier"/>
                </a:rPr>
                <a:t>l:</a:t>
              </a:r>
            </a:p>
          </p:txBody>
        </p:sp>
        <p:sp>
          <p:nvSpPr>
            <p:cNvPr id="82" name="TextBox 81">
              <a:extLst>
                <a:ext uri="{FF2B5EF4-FFF2-40B4-BE49-F238E27FC236}">
                  <a16:creationId xmlns:a16="http://schemas.microsoft.com/office/drawing/2014/main" id="{598490A7-D888-084B-9114-BFAA148CEEBF}"/>
                </a:ext>
              </a:extLst>
            </p:cNvPr>
            <p:cNvSpPr txBox="1"/>
            <p:nvPr/>
          </p:nvSpPr>
          <p:spPr>
            <a:xfrm>
              <a:off x="1513411" y="4846636"/>
              <a:ext cx="1107997" cy="400110"/>
            </a:xfrm>
            <a:prstGeom prst="rect">
              <a:avLst/>
            </a:prstGeom>
            <a:noFill/>
          </p:spPr>
          <p:txBody>
            <a:bodyPr wrap="none" rtlCol="0">
              <a:spAutoFit/>
            </a:bodyPr>
            <a:lstStyle/>
            <a:p>
              <a:r>
                <a:rPr lang="en-US" sz="2000" b="1" dirty="0">
                  <a:latin typeface="Courier"/>
                  <a:cs typeface="Courier"/>
                </a:rPr>
                <a:t>OxFFF4</a:t>
              </a:r>
            </a:p>
          </p:txBody>
        </p:sp>
        <p:sp>
          <p:nvSpPr>
            <p:cNvPr id="85" name="TextBox 84">
              <a:extLst>
                <a:ext uri="{FF2B5EF4-FFF2-40B4-BE49-F238E27FC236}">
                  <a16:creationId xmlns:a16="http://schemas.microsoft.com/office/drawing/2014/main" id="{7A1A01F6-B538-C146-92D3-4AE8EE491EBA}"/>
                </a:ext>
              </a:extLst>
            </p:cNvPr>
            <p:cNvSpPr txBox="1"/>
            <p:nvPr/>
          </p:nvSpPr>
          <p:spPr>
            <a:xfrm>
              <a:off x="2816354" y="4841874"/>
              <a:ext cx="1107996" cy="400110"/>
            </a:xfrm>
            <a:prstGeom prst="rect">
              <a:avLst/>
            </a:prstGeom>
            <a:noFill/>
          </p:spPr>
          <p:txBody>
            <a:bodyPr wrap="none" rtlCol="0">
              <a:spAutoFit/>
            </a:bodyPr>
            <a:lstStyle/>
            <a:p>
              <a:r>
                <a:rPr lang="en-US" sz="2000" b="1" dirty="0">
                  <a:solidFill>
                    <a:srgbClr val="FF0000"/>
                  </a:solidFill>
                  <a:latin typeface="Courier"/>
                  <a:cs typeface="Courier"/>
                </a:rPr>
                <a:t>0x1000</a:t>
              </a:r>
            </a:p>
          </p:txBody>
        </p:sp>
      </p:grpSp>
      <p:grpSp>
        <p:nvGrpSpPr>
          <p:cNvPr id="86" name="Group 85">
            <a:extLst>
              <a:ext uri="{FF2B5EF4-FFF2-40B4-BE49-F238E27FC236}">
                <a16:creationId xmlns:a16="http://schemas.microsoft.com/office/drawing/2014/main" id="{5590239D-055A-5C48-B20B-6DBEA9B072FF}"/>
              </a:ext>
            </a:extLst>
          </p:cNvPr>
          <p:cNvGrpSpPr/>
          <p:nvPr/>
        </p:nvGrpSpPr>
        <p:grpSpPr>
          <a:xfrm>
            <a:off x="2820927" y="5714839"/>
            <a:ext cx="1463041" cy="738497"/>
            <a:chOff x="2820927" y="5517232"/>
            <a:chExt cx="1463041" cy="738497"/>
          </a:xfrm>
        </p:grpSpPr>
        <p:sp>
          <p:nvSpPr>
            <p:cNvPr id="87" name="Line 26">
              <a:extLst>
                <a:ext uri="{FF2B5EF4-FFF2-40B4-BE49-F238E27FC236}">
                  <a16:creationId xmlns:a16="http://schemas.microsoft.com/office/drawing/2014/main" id="{A2E115B6-B13E-9749-B44C-EA47EBE39DC4}"/>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8" name="Text Box 25">
              <a:extLst>
                <a:ext uri="{FF2B5EF4-FFF2-40B4-BE49-F238E27FC236}">
                  <a16:creationId xmlns:a16="http://schemas.microsoft.com/office/drawing/2014/main" id="{A3DA7CB2-A2BE-A84F-831D-5D6496047BF5}"/>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9" name="Text Box 1067">
              <a:extLst>
                <a:ext uri="{FF2B5EF4-FFF2-40B4-BE49-F238E27FC236}">
                  <a16:creationId xmlns:a16="http://schemas.microsoft.com/office/drawing/2014/main" id="{D6C98F17-DB6D-664C-BC84-6449F08E3631}"/>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90" name="TextBox 89">
            <a:extLst>
              <a:ext uri="{FF2B5EF4-FFF2-40B4-BE49-F238E27FC236}">
                <a16:creationId xmlns:a16="http://schemas.microsoft.com/office/drawing/2014/main" id="{90E6F05F-0DF0-3240-980A-439A484451FD}"/>
              </a:ext>
            </a:extLst>
          </p:cNvPr>
          <p:cNvSpPr txBox="1"/>
          <p:nvPr/>
        </p:nvSpPr>
        <p:spPr>
          <a:xfrm>
            <a:off x="2766118" y="4507871"/>
            <a:ext cx="1107997" cy="400110"/>
          </a:xfrm>
          <a:prstGeom prst="rect">
            <a:avLst/>
          </a:prstGeom>
          <a:noFill/>
        </p:spPr>
        <p:txBody>
          <a:bodyPr wrap="none" rtlCol="0">
            <a:spAutoFit/>
          </a:bodyPr>
          <a:lstStyle/>
          <a:p>
            <a:r>
              <a:rPr lang="en-US" sz="2000" b="1" dirty="0">
                <a:latin typeface="Courier"/>
                <a:cs typeface="Courier"/>
              </a:rPr>
              <a:t>0x1000</a:t>
            </a:r>
          </a:p>
        </p:txBody>
      </p:sp>
      <p:sp>
        <p:nvSpPr>
          <p:cNvPr id="54" name="Rectangle 53">
            <a:extLst>
              <a:ext uri="{FF2B5EF4-FFF2-40B4-BE49-F238E27FC236}">
                <a16:creationId xmlns:a16="http://schemas.microsoft.com/office/drawing/2014/main" id="{BFA343AA-7EDE-3D4C-BA4C-DD12413AE2F5}"/>
              </a:ext>
            </a:extLst>
          </p:cNvPr>
          <p:cNvSpPr/>
          <p:nvPr/>
        </p:nvSpPr>
        <p:spPr>
          <a:xfrm>
            <a:off x="5516267" y="975059"/>
            <a:ext cx="3466009" cy="461665"/>
          </a:xfrm>
          <a:prstGeom prst="rect">
            <a:avLst/>
          </a:prstGeom>
          <a:ln>
            <a:solidFill>
              <a:srgbClr val="FF0000"/>
            </a:solidFill>
          </a:ln>
        </p:spPr>
        <p:txBody>
          <a:bodyPr wrap="square">
            <a:spAutoFit/>
          </a:bodyPr>
          <a:lstStyle/>
          <a:p>
            <a:r>
              <a:rPr lang="en-US" sz="2400" b="1" dirty="0">
                <a:solidFill>
                  <a:srgbClr val="FF0000"/>
                </a:solidFill>
              </a:rPr>
              <a:t>Pass by VALUE</a:t>
            </a:r>
          </a:p>
        </p:txBody>
      </p:sp>
      <p:sp>
        <p:nvSpPr>
          <p:cNvPr id="55" name="TextBox 54">
            <a:extLst>
              <a:ext uri="{FF2B5EF4-FFF2-40B4-BE49-F238E27FC236}">
                <a16:creationId xmlns:a16="http://schemas.microsoft.com/office/drawing/2014/main" id="{3B7E84C9-65FB-D64B-AF5C-612483BC3548}"/>
              </a:ext>
            </a:extLst>
          </p:cNvPr>
          <p:cNvSpPr txBox="1"/>
          <p:nvPr/>
        </p:nvSpPr>
        <p:spPr>
          <a:xfrm>
            <a:off x="2926394" y="4885807"/>
            <a:ext cx="800219" cy="400110"/>
          </a:xfrm>
          <a:prstGeom prst="rect">
            <a:avLst/>
          </a:prstGeom>
          <a:noFill/>
        </p:spPr>
        <p:txBody>
          <a:bodyPr wrap="none" rtlCol="0">
            <a:spAutoFit/>
          </a:bodyPr>
          <a:lstStyle/>
          <a:p>
            <a:r>
              <a:rPr lang="en-US" sz="2000" b="1" dirty="0">
                <a:latin typeface="Courier"/>
                <a:cs typeface="Courier"/>
              </a:rPr>
              <a:t>NULL</a:t>
            </a:r>
          </a:p>
        </p:txBody>
      </p:sp>
      <p:cxnSp>
        <p:nvCxnSpPr>
          <p:cNvPr id="56" name="Straight Arrow Connector 55">
            <a:extLst>
              <a:ext uri="{FF2B5EF4-FFF2-40B4-BE49-F238E27FC236}">
                <a16:creationId xmlns:a16="http://schemas.microsoft.com/office/drawing/2014/main" id="{6A2BDA10-D6F5-3D4C-851A-44AB695D938F}"/>
              </a:ext>
            </a:extLst>
          </p:cNvPr>
          <p:cNvCxnSpPr>
            <a:cxnSpLocks/>
            <a:endCxn id="27" idx="1"/>
          </p:cNvCxnSpPr>
          <p:nvPr/>
        </p:nvCxnSpPr>
        <p:spPr bwMode="auto">
          <a:xfrm>
            <a:off x="4092624" y="3969060"/>
            <a:ext cx="1679938" cy="349867"/>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8449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224</a:t>
            </a:fld>
            <a:endParaRPr lang="fr-FR" sz="1400">
              <a:solidFill>
                <a:srgbClr val="000208"/>
              </a:solidFill>
              <a:latin typeface="Times New Roman" charset="0"/>
            </a:endParaRPr>
          </a:p>
        </p:txBody>
      </p:sp>
      <p:sp>
        <p:nvSpPr>
          <p:cNvPr id="76802" name="Espace réservé du contenu 2"/>
          <p:cNvSpPr>
            <a:spLocks noGrp="1"/>
          </p:cNvSpPr>
          <p:nvPr>
            <p:ph idx="1"/>
          </p:nvPr>
        </p:nvSpPr>
        <p:spPr>
          <a:xfrm>
            <a:off x="35496" y="656692"/>
            <a:ext cx="8686800" cy="5257800"/>
          </a:xfrm>
        </p:spPr>
        <p:txBody>
          <a:bodyPr/>
          <a:lstStyle/>
          <a:p>
            <a:pPr marL="93663" indent="0">
              <a:buNone/>
            </a:pPr>
            <a:r>
              <a:rPr lang="en-GB" sz="1800" b="1" dirty="0">
                <a:latin typeface="Courier"/>
                <a:cs typeface="Courier"/>
              </a:rPr>
              <a:t>int main(){</a:t>
            </a:r>
          </a:p>
          <a:p>
            <a:pPr marL="93663" indent="0">
              <a:buNone/>
            </a:pPr>
            <a:r>
              <a:rPr lang="en-GB" sz="1800" b="1" dirty="0">
                <a:latin typeface="Courier"/>
                <a:cs typeface="Courier"/>
              </a:rPr>
              <a:t>  struct </a:t>
            </a:r>
            <a:r>
              <a:rPr lang="en-GB" sz="1800" b="1" dirty="0" err="1">
                <a:latin typeface="Courier"/>
                <a:cs typeface="Courier"/>
              </a:rPr>
              <a:t>list_elem_t</a:t>
            </a:r>
            <a:r>
              <a:rPr lang="en-GB" sz="1800" b="1" dirty="0">
                <a:latin typeface="Courier"/>
                <a:cs typeface="Courier"/>
              </a:rPr>
              <a:t> *head = NULL;</a:t>
            </a:r>
          </a:p>
          <a:p>
            <a:pPr marL="93663" indent="0">
              <a:buNone/>
            </a:pPr>
            <a:r>
              <a:rPr lang="en-GB" sz="1800" b="1" dirty="0">
                <a:latin typeface="Courier"/>
                <a:cs typeface="Courier"/>
              </a:rPr>
              <a:t>  </a:t>
            </a:r>
            <a:r>
              <a:rPr lang="en-GB" sz="1800" b="1" dirty="0" err="1">
                <a:solidFill>
                  <a:srgbClr val="FF0000"/>
                </a:solidFill>
                <a:latin typeface="Courier"/>
                <a:cs typeface="Courier"/>
              </a:rPr>
              <a:t>insert_head</a:t>
            </a:r>
            <a:r>
              <a:rPr lang="en-GB" sz="1800" b="1" dirty="0">
                <a:solidFill>
                  <a:srgbClr val="FF0000"/>
                </a:solidFill>
                <a:latin typeface="Courier"/>
                <a:cs typeface="Courier"/>
              </a:rPr>
              <a:t>(head,1);</a:t>
            </a:r>
            <a:endParaRPr lang="en-GB" sz="1800" b="1" dirty="0">
              <a:latin typeface="Courier"/>
              <a:cs typeface="Courier"/>
            </a:endParaRPr>
          </a:p>
          <a:p>
            <a:pPr marL="93663" indent="0">
              <a:buNone/>
            </a:pPr>
            <a:r>
              <a:rPr lang="en-GB" sz="1800" b="1" dirty="0">
                <a:latin typeface="Courier"/>
                <a:cs typeface="Courier"/>
              </a:rPr>
              <a:t>} </a:t>
            </a:r>
          </a:p>
          <a:p>
            <a:pPr marL="93663" indent="0">
              <a:buNone/>
            </a:pPr>
            <a:r>
              <a:rPr lang="en-GB" sz="1800" b="1" dirty="0">
                <a:latin typeface="Courier"/>
                <a:cs typeface="Courier"/>
              </a:rPr>
              <a:t>int </a:t>
            </a:r>
            <a:r>
              <a:rPr lang="en-GB" sz="1800" b="1" dirty="0" err="1">
                <a:latin typeface="Courier"/>
                <a:cs typeface="Courier"/>
              </a:rPr>
              <a:t>insert_head</a:t>
            </a:r>
            <a:r>
              <a:rPr lang="en-GB" sz="1800" b="1" dirty="0">
                <a:latin typeface="Courier"/>
                <a:cs typeface="Courier"/>
              </a:rPr>
              <a:t> (</a:t>
            </a:r>
            <a:r>
              <a:rPr lang="en-GB" sz="1800" b="1" dirty="0" err="1">
                <a:solidFill>
                  <a:srgbClr val="FF0000"/>
                </a:solidFill>
                <a:latin typeface="Courier"/>
                <a:cs typeface="Courier"/>
              </a:rPr>
              <a:t>list_elem_t</a:t>
            </a:r>
            <a:r>
              <a:rPr lang="en-GB" sz="1800" b="1" dirty="0">
                <a:solidFill>
                  <a:srgbClr val="FF0000"/>
                </a:solidFill>
                <a:latin typeface="Courier"/>
                <a:cs typeface="Courier"/>
              </a:rPr>
              <a:t> * l</a:t>
            </a:r>
            <a:r>
              <a:rPr lang="en-GB" sz="1800" b="1" dirty="0">
                <a:latin typeface="Courier"/>
                <a:cs typeface="Courier"/>
              </a:rPr>
              <a:t>, int value){</a:t>
            </a:r>
          </a:p>
          <a:p>
            <a:pPr marL="93663" indent="0">
              <a:buNone/>
            </a:pPr>
            <a:r>
              <a:rPr lang="en-GB" sz="1800" b="1" dirty="0">
                <a:latin typeface="Courier"/>
                <a:cs typeface="Courier"/>
              </a:rPr>
              <a:t>  </a:t>
            </a:r>
            <a:r>
              <a:rPr lang="en-GB" sz="1800" b="1" dirty="0" err="1">
                <a:latin typeface="Courier"/>
                <a:cs typeface="Courier"/>
              </a:rPr>
              <a:t>list_elem_t</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 = </a:t>
            </a:r>
            <a:r>
              <a:rPr lang="en-GB" sz="1800" b="1" dirty="0" err="1">
                <a:latin typeface="Courier"/>
                <a:cs typeface="Courier"/>
              </a:rPr>
              <a:t>create_element</a:t>
            </a:r>
            <a:r>
              <a:rPr lang="en-GB" sz="1800" b="1" dirty="0">
                <a:latin typeface="Courier"/>
                <a:cs typeface="Courier"/>
              </a:rPr>
              <a:t> (value);</a:t>
            </a:r>
          </a:p>
          <a:p>
            <a:pPr marL="93663" indent="0">
              <a:buNone/>
            </a:pPr>
            <a:r>
              <a:rPr lang="en-GB" sz="1800" b="1" dirty="0">
                <a:latin typeface="Courier"/>
                <a:cs typeface="Courier"/>
              </a:rPr>
              <a:t>  </a:t>
            </a:r>
            <a:r>
              <a:rPr lang="en-GB" sz="1800" b="1" dirty="0" err="1">
                <a:latin typeface="Courier"/>
                <a:cs typeface="Courier"/>
              </a:rPr>
              <a:t>new_elt</a:t>
            </a:r>
            <a:r>
              <a:rPr lang="en-GB" sz="1800" b="1" dirty="0">
                <a:latin typeface="Courier"/>
                <a:cs typeface="Courier"/>
              </a:rPr>
              <a:t>-&gt;next = </a:t>
            </a:r>
            <a:r>
              <a:rPr lang="en-GB" sz="1800" b="1" dirty="0">
                <a:solidFill>
                  <a:srgbClr val="FF0000"/>
                </a:solidFill>
                <a:latin typeface="Courier"/>
                <a:cs typeface="Courier"/>
              </a:rPr>
              <a:t>l</a:t>
            </a:r>
            <a:r>
              <a:rPr lang="en-GB" sz="1800" b="1" dirty="0">
                <a:latin typeface="Courier"/>
                <a:cs typeface="Courier"/>
              </a:rPr>
              <a:t>;</a:t>
            </a:r>
          </a:p>
          <a:p>
            <a:pPr marL="93663" indent="0">
              <a:buNone/>
            </a:pPr>
            <a:r>
              <a:rPr lang="en-GB" sz="1800" b="1" dirty="0">
                <a:latin typeface="Courier"/>
                <a:cs typeface="Courier"/>
              </a:rPr>
              <a:t>  </a:t>
            </a:r>
            <a:r>
              <a:rPr lang="en-GB" sz="1800" b="1" dirty="0">
                <a:solidFill>
                  <a:srgbClr val="FF0000"/>
                </a:solidFill>
                <a:latin typeface="Courier"/>
                <a:cs typeface="Courier"/>
              </a:rPr>
              <a:t>l</a:t>
            </a:r>
            <a:r>
              <a:rPr lang="en-GB" sz="1800" b="1" dirty="0">
                <a:latin typeface="Courier"/>
                <a:cs typeface="Courier"/>
              </a:rPr>
              <a:t> = </a:t>
            </a:r>
            <a:r>
              <a:rPr lang="en-GB" sz="1800" b="1" dirty="0" err="1">
                <a:latin typeface="Courier"/>
                <a:cs typeface="Courier"/>
              </a:rPr>
              <a:t>new_elt</a:t>
            </a:r>
            <a:r>
              <a:rPr lang="en-GB" sz="1800" b="1" dirty="0">
                <a:latin typeface="Courier"/>
                <a:cs typeface="Courier"/>
              </a:rPr>
              <a:t>;</a:t>
            </a:r>
          </a:p>
          <a:p>
            <a:pPr marL="93663" indent="0">
              <a:buNone/>
            </a:pPr>
            <a:r>
              <a:rPr lang="en-GB" sz="1800" b="1" dirty="0">
                <a:latin typeface="Courier"/>
                <a:cs typeface="Courier"/>
              </a:rPr>
              <a:t>  return 0;</a:t>
            </a:r>
          </a:p>
          <a:p>
            <a:pPr marL="93663" indent="0">
              <a:buNone/>
            </a:pPr>
            <a:r>
              <a:rPr lang="en-GB" sz="1800" b="1" dirty="0">
                <a:latin typeface="Courier"/>
                <a:cs typeface="Courier"/>
              </a:rPr>
              <a:t>}</a:t>
            </a:r>
          </a:p>
          <a:p>
            <a:pPr marL="93663" indent="0">
              <a:buNone/>
            </a:pPr>
            <a:endParaRPr lang="en-GB" sz="1800" b="1" dirty="0">
              <a:latin typeface="Courier"/>
              <a:cs typeface="Courier"/>
            </a:endParaRPr>
          </a:p>
          <a:p>
            <a:pPr marL="93663" indent="0">
              <a:buNone/>
            </a:pPr>
            <a:endParaRPr lang="en-GB" sz="2000" b="1" dirty="0">
              <a:latin typeface="Courier"/>
              <a:cs typeface="Courier"/>
            </a:endParaRPr>
          </a:p>
        </p:txBody>
      </p:sp>
      <p:sp>
        <p:nvSpPr>
          <p:cNvPr id="76801" name="Titre 1"/>
          <p:cNvSpPr>
            <a:spLocks noGrp="1"/>
          </p:cNvSpPr>
          <p:nvPr>
            <p:ph type="title"/>
          </p:nvPr>
        </p:nvSpPr>
        <p:spPr/>
        <p:txBody>
          <a:bodyPr/>
          <a:lstStyle/>
          <a:p>
            <a:r>
              <a:rPr lang="fr-FR" sz="2800" dirty="0" err="1">
                <a:solidFill>
                  <a:srgbClr val="800000"/>
                </a:solidFill>
                <a:latin typeface="Arial" charset="0"/>
                <a:cs typeface="ＭＳ Ｐゴシック" charset="0"/>
              </a:rPr>
              <a:t>Why</a:t>
            </a:r>
            <a:r>
              <a:rPr lang="fr-FR" sz="2800" dirty="0">
                <a:solidFill>
                  <a:srgbClr val="800000"/>
                </a:solidFill>
                <a:latin typeface="Arial" charset="0"/>
                <a:cs typeface="ＭＳ Ｐゴシック" charset="0"/>
              </a:rPr>
              <a:t> </a:t>
            </a:r>
            <a:r>
              <a:rPr lang="fr-FR" sz="2800" dirty="0" err="1">
                <a:solidFill>
                  <a:srgbClr val="800000"/>
                </a:solidFill>
                <a:latin typeface="Arial" charset="0"/>
                <a:cs typeface="ＭＳ Ｐゴシック" charset="0"/>
              </a:rPr>
              <a:t>pass</a:t>
            </a:r>
            <a:r>
              <a:rPr lang="fr-FR" sz="2800" dirty="0">
                <a:solidFill>
                  <a:srgbClr val="800000"/>
                </a:solidFill>
                <a:latin typeface="Arial" charset="0"/>
                <a:cs typeface="ＭＳ Ｐゴシック" charset="0"/>
              </a:rPr>
              <a:t> by </a:t>
            </a:r>
            <a:r>
              <a:rPr lang="fr-FR" sz="2800" dirty="0" err="1">
                <a:solidFill>
                  <a:srgbClr val="800000"/>
                </a:solidFill>
                <a:latin typeface="Arial" charset="0"/>
                <a:cs typeface="ＭＳ Ｐゴシック" charset="0"/>
              </a:rPr>
              <a:t>reference</a:t>
            </a:r>
            <a:r>
              <a:rPr lang="fr-FR" sz="2800" dirty="0">
                <a:solidFill>
                  <a:srgbClr val="800000"/>
                </a:solidFill>
                <a:latin typeface="Arial" charset="0"/>
                <a:cs typeface="ＭＳ Ｐゴシック" charset="0"/>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graphicFrame>
        <p:nvGraphicFramePr>
          <p:cNvPr id="17" name="Table 16">
            <a:extLst>
              <a:ext uri="{FF2B5EF4-FFF2-40B4-BE49-F238E27FC236}">
                <a16:creationId xmlns:a16="http://schemas.microsoft.com/office/drawing/2014/main" id="{C2426CF5-692E-954D-86F5-1714225F3984}"/>
              </a:ext>
            </a:extLst>
          </p:cNvPr>
          <p:cNvGraphicFramePr>
            <a:graphicFrameLocks noGrp="1"/>
          </p:cNvGraphicFramePr>
          <p:nvPr/>
        </p:nvGraphicFramePr>
        <p:xfrm>
          <a:off x="2575759" y="3789040"/>
          <a:ext cx="1516865" cy="1854200"/>
        </p:xfrm>
        <a:graphic>
          <a:graphicData uri="http://schemas.openxmlformats.org/drawingml/2006/table">
            <a:tbl>
              <a:tblPr firstRow="1" bandRow="1">
                <a:tableStyleId>{17292A2E-F333-43FB-9621-5CBBE7FDCDCB}</a:tableStyleId>
              </a:tblPr>
              <a:tblGrid>
                <a:gridCol w="1516865">
                  <a:extLst>
                    <a:ext uri="{9D8B030D-6E8A-4147-A177-3AD203B41FA5}">
                      <a16:colId xmlns:a16="http://schemas.microsoft.com/office/drawing/2014/main" val="20000"/>
                    </a:ext>
                  </a:extLst>
                </a:gridCol>
              </a:tblGrid>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253026262"/>
                  </a:ext>
                </a:extLst>
              </a:tr>
              <a:tr h="370840">
                <a:tc>
                  <a:txBody>
                    <a:bodyPr/>
                    <a:lstStyle/>
                    <a:p>
                      <a:endParaRPr lang="en-US" b="0" dirty="0">
                        <a:solidFill>
                          <a:srgbClr val="000000"/>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1"/>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2"/>
                  </a:ext>
                </a:extLst>
              </a:tr>
              <a:tr h="370840">
                <a:tc>
                  <a:txBody>
                    <a:bodyPr/>
                    <a:lstStyle/>
                    <a:p>
                      <a:endParaRPr lang="en-US" dirty="0">
                        <a:solidFill>
                          <a:srgbClr val="000000"/>
                        </a:solidFill>
                      </a:endParaRPr>
                    </a:p>
                  </a:txBody>
                  <a:tcPr>
                    <a:noFill/>
                  </a:tcPr>
                </a:tc>
                <a:extLst>
                  <a:ext uri="{0D108BD9-81ED-4DB2-BD59-A6C34878D82A}">
                    <a16:rowId xmlns:a16="http://schemas.microsoft.com/office/drawing/2014/main" val="10003"/>
                  </a:ext>
                </a:extLst>
              </a:tr>
            </a:tbl>
          </a:graphicData>
        </a:graphic>
      </p:graphicFrame>
      <p:grpSp>
        <p:nvGrpSpPr>
          <p:cNvPr id="18" name="Group 17">
            <a:extLst>
              <a:ext uri="{FF2B5EF4-FFF2-40B4-BE49-F238E27FC236}">
                <a16:creationId xmlns:a16="http://schemas.microsoft.com/office/drawing/2014/main" id="{8C1CB57D-8044-184D-9148-3E232CF214AA}"/>
              </a:ext>
            </a:extLst>
          </p:cNvPr>
          <p:cNvGrpSpPr/>
          <p:nvPr/>
        </p:nvGrpSpPr>
        <p:grpSpPr>
          <a:xfrm>
            <a:off x="611560" y="3406802"/>
            <a:ext cx="3157167" cy="1947956"/>
            <a:chOff x="184209" y="3302856"/>
            <a:chExt cx="3157167" cy="1947956"/>
          </a:xfrm>
        </p:grpSpPr>
        <p:sp>
          <p:nvSpPr>
            <p:cNvPr id="24" name="TextBox 23">
              <a:extLst>
                <a:ext uri="{FF2B5EF4-FFF2-40B4-BE49-F238E27FC236}">
                  <a16:creationId xmlns:a16="http://schemas.microsoft.com/office/drawing/2014/main" id="{138628F4-04E1-C34C-A232-75BDACECB867}"/>
                </a:ext>
              </a:extLst>
            </p:cNvPr>
            <p:cNvSpPr txBox="1"/>
            <p:nvPr/>
          </p:nvSpPr>
          <p:spPr>
            <a:xfrm>
              <a:off x="2472303" y="3302856"/>
              <a:ext cx="869073" cy="400110"/>
            </a:xfrm>
            <a:prstGeom prst="rect">
              <a:avLst/>
            </a:prstGeom>
            <a:noFill/>
          </p:spPr>
          <p:txBody>
            <a:bodyPr wrap="none" rtlCol="0">
              <a:spAutoFit/>
            </a:bodyPr>
            <a:lstStyle/>
            <a:p>
              <a:r>
                <a:rPr lang="en-US" sz="2000" b="1" dirty="0"/>
                <a:t>Stack</a:t>
              </a:r>
            </a:p>
          </p:txBody>
        </p:sp>
        <p:grpSp>
          <p:nvGrpSpPr>
            <p:cNvPr id="20" name="Group 19">
              <a:extLst>
                <a:ext uri="{FF2B5EF4-FFF2-40B4-BE49-F238E27FC236}">
                  <a16:creationId xmlns:a16="http://schemas.microsoft.com/office/drawing/2014/main" id="{4DE9DC09-6DC5-9445-BC3B-0FEBE1844CC9}"/>
                </a:ext>
              </a:extLst>
            </p:cNvPr>
            <p:cNvGrpSpPr/>
            <p:nvPr/>
          </p:nvGrpSpPr>
          <p:grpSpPr>
            <a:xfrm>
              <a:off x="184209" y="4850702"/>
              <a:ext cx="1998142" cy="400110"/>
              <a:chOff x="184209" y="4850702"/>
              <a:chExt cx="1998142" cy="400110"/>
            </a:xfrm>
          </p:grpSpPr>
          <p:sp>
            <p:nvSpPr>
              <p:cNvPr id="21" name="TextBox 20">
                <a:extLst>
                  <a:ext uri="{FF2B5EF4-FFF2-40B4-BE49-F238E27FC236}">
                    <a16:creationId xmlns:a16="http://schemas.microsoft.com/office/drawing/2014/main" id="{691362DD-8FDB-5A4C-8929-970D1F28ED1D}"/>
                  </a:ext>
                </a:extLst>
              </p:cNvPr>
              <p:cNvSpPr txBox="1"/>
              <p:nvPr/>
            </p:nvSpPr>
            <p:spPr>
              <a:xfrm>
                <a:off x="184209" y="4850702"/>
                <a:ext cx="954107" cy="400110"/>
              </a:xfrm>
              <a:prstGeom prst="rect">
                <a:avLst/>
              </a:prstGeom>
              <a:noFill/>
            </p:spPr>
            <p:txBody>
              <a:bodyPr wrap="none" rtlCol="0">
                <a:spAutoFit/>
              </a:bodyPr>
              <a:lstStyle/>
              <a:p>
                <a:r>
                  <a:rPr lang="en-US" sz="2000" b="1" dirty="0">
                    <a:latin typeface="Courier"/>
                    <a:cs typeface="Courier"/>
                  </a:rPr>
                  <a:t>head:</a:t>
                </a:r>
              </a:p>
            </p:txBody>
          </p:sp>
          <p:sp>
            <p:nvSpPr>
              <p:cNvPr id="22" name="TextBox 21">
                <a:extLst>
                  <a:ext uri="{FF2B5EF4-FFF2-40B4-BE49-F238E27FC236}">
                    <a16:creationId xmlns:a16="http://schemas.microsoft.com/office/drawing/2014/main" id="{54509530-1294-BD42-A2E2-DD8A8C4BE00D}"/>
                  </a:ext>
                </a:extLst>
              </p:cNvPr>
              <p:cNvSpPr txBox="1"/>
              <p:nvPr/>
            </p:nvSpPr>
            <p:spPr>
              <a:xfrm>
                <a:off x="1074354" y="4850702"/>
                <a:ext cx="1107997" cy="400110"/>
              </a:xfrm>
              <a:prstGeom prst="rect">
                <a:avLst/>
              </a:prstGeom>
              <a:noFill/>
            </p:spPr>
            <p:txBody>
              <a:bodyPr wrap="none" rtlCol="0">
                <a:spAutoFit/>
              </a:bodyPr>
              <a:lstStyle/>
              <a:p>
                <a:r>
                  <a:rPr lang="en-US" sz="2000" b="1" dirty="0">
                    <a:latin typeface="Courier"/>
                    <a:cs typeface="Courier"/>
                  </a:rPr>
                  <a:t>OxFFF8</a:t>
                </a:r>
              </a:p>
            </p:txBody>
          </p:sp>
        </p:grpSp>
      </p:grpSp>
      <p:graphicFrame>
        <p:nvGraphicFramePr>
          <p:cNvPr id="25" name="Table 24">
            <a:extLst>
              <a:ext uri="{FF2B5EF4-FFF2-40B4-BE49-F238E27FC236}">
                <a16:creationId xmlns:a16="http://schemas.microsoft.com/office/drawing/2014/main" id="{DED7596E-3B78-3C4A-98CE-40C93CA373FD}"/>
              </a:ext>
            </a:extLst>
          </p:cNvPr>
          <p:cNvGraphicFramePr>
            <a:graphicFrameLocks noGrp="1"/>
          </p:cNvGraphicFramePr>
          <p:nvPr/>
        </p:nvGraphicFramePr>
        <p:xfrm>
          <a:off x="6924487" y="4154876"/>
          <a:ext cx="2124236" cy="1854200"/>
        </p:xfrm>
        <a:graphic>
          <a:graphicData uri="http://schemas.openxmlformats.org/drawingml/2006/table">
            <a:tbl>
              <a:tblPr firstRow="1" bandRow="1">
                <a:tableStyleId>{17292A2E-F333-43FB-9621-5CBBE7FDCDCB}</a:tableStyleId>
              </a:tblPr>
              <a:tblGrid>
                <a:gridCol w="2124236">
                  <a:extLst>
                    <a:ext uri="{9D8B030D-6E8A-4147-A177-3AD203B41FA5}">
                      <a16:colId xmlns:a16="http://schemas.microsoft.com/office/drawing/2014/main" val="20000"/>
                    </a:ext>
                  </a:extLst>
                </a:gridCol>
              </a:tblGrid>
              <a:tr h="370840">
                <a:tc>
                  <a:txBody>
                    <a:bodyPr/>
                    <a:lstStyle/>
                    <a:p>
                      <a:endParaRPr lang="en-US" dirty="0"/>
                    </a:p>
                  </a:txBody>
                  <a:tcP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noFill/>
                  </a:tcPr>
                </a:tc>
                <a:extLst>
                  <a:ext uri="{0D108BD9-81ED-4DB2-BD59-A6C34878D82A}">
                    <a16:rowId xmlns:a16="http://schemas.microsoft.com/office/drawing/2014/main" val="10001"/>
                  </a:ext>
                </a:extLst>
              </a:tr>
              <a:tr h="370840">
                <a:tc>
                  <a:txBody>
                    <a:bodyPr/>
                    <a:lstStyle/>
                    <a:p>
                      <a:endParaRPr lang="en-US" dirty="0"/>
                    </a:p>
                  </a:txBody>
                  <a:tcPr>
                    <a:solidFill>
                      <a:srgbClr val="FFFFFF"/>
                    </a:solidFill>
                  </a:tcPr>
                </a:tc>
                <a:extLst>
                  <a:ext uri="{0D108BD9-81ED-4DB2-BD59-A6C34878D82A}">
                    <a16:rowId xmlns:a16="http://schemas.microsoft.com/office/drawing/2014/main" val="10002"/>
                  </a:ext>
                </a:extLst>
              </a:tr>
              <a:tr h="370840">
                <a:tc>
                  <a:txBody>
                    <a:bodyPr/>
                    <a:lstStyle/>
                    <a:p>
                      <a:endParaRPr lang="en-US" dirty="0"/>
                    </a:p>
                  </a:txBody>
                  <a:tcPr>
                    <a:solidFill>
                      <a:srgbClr val="FFFFFF"/>
                    </a:solidFill>
                  </a:tcPr>
                </a:tc>
                <a:extLst>
                  <a:ext uri="{0D108BD9-81ED-4DB2-BD59-A6C34878D82A}">
                    <a16:rowId xmlns:a16="http://schemas.microsoft.com/office/drawing/2014/main" val="10003"/>
                  </a:ext>
                </a:extLst>
              </a:tr>
              <a:tr h="370840">
                <a:tc>
                  <a:txBody>
                    <a:bodyPr/>
                    <a:lstStyle/>
                    <a:p>
                      <a:endParaRPr lang="en-US" dirty="0"/>
                    </a:p>
                  </a:txBody>
                  <a:tcPr>
                    <a:solidFill>
                      <a:srgbClr val="FFFFFF"/>
                    </a:solidFill>
                  </a:tcPr>
                </a:tc>
                <a:extLst>
                  <a:ext uri="{0D108BD9-81ED-4DB2-BD59-A6C34878D82A}">
                    <a16:rowId xmlns:a16="http://schemas.microsoft.com/office/drawing/2014/main" val="10004"/>
                  </a:ext>
                </a:extLst>
              </a:tr>
            </a:tbl>
          </a:graphicData>
        </a:graphic>
      </p:graphicFrame>
      <p:sp>
        <p:nvSpPr>
          <p:cNvPr id="45" name="Rectangle 44">
            <a:extLst>
              <a:ext uri="{FF2B5EF4-FFF2-40B4-BE49-F238E27FC236}">
                <a16:creationId xmlns:a16="http://schemas.microsoft.com/office/drawing/2014/main" id="{47D09627-DDD4-7444-AD19-FF001C83957B}"/>
              </a:ext>
            </a:extLst>
          </p:cNvPr>
          <p:cNvSpPr/>
          <p:nvPr/>
        </p:nvSpPr>
        <p:spPr bwMode="auto">
          <a:xfrm>
            <a:off x="5772359" y="4104456"/>
            <a:ext cx="3300141" cy="789390"/>
          </a:xfrm>
          <a:prstGeom prst="rect">
            <a:avLst/>
          </a:prstGeom>
          <a:noFill/>
          <a:ln w="57150" cap="flat" cmpd="sng" algn="ctr">
            <a:solidFill>
              <a:srgbClr val="FF9933"/>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grpSp>
        <p:nvGrpSpPr>
          <p:cNvPr id="66" name="Group 65">
            <a:extLst>
              <a:ext uri="{FF2B5EF4-FFF2-40B4-BE49-F238E27FC236}">
                <a16:creationId xmlns:a16="http://schemas.microsoft.com/office/drawing/2014/main" id="{DD1BA66B-1184-9E4A-A034-8AB633B4FFB2}"/>
              </a:ext>
            </a:extLst>
          </p:cNvPr>
          <p:cNvGrpSpPr/>
          <p:nvPr/>
        </p:nvGrpSpPr>
        <p:grpSpPr>
          <a:xfrm>
            <a:off x="5766975" y="3681028"/>
            <a:ext cx="2551947" cy="2376264"/>
            <a:chOff x="5766975" y="3372808"/>
            <a:chExt cx="2551947" cy="2376264"/>
          </a:xfrm>
        </p:grpSpPr>
        <p:grpSp>
          <p:nvGrpSpPr>
            <p:cNvPr id="63" name="Group 62">
              <a:extLst>
                <a:ext uri="{FF2B5EF4-FFF2-40B4-BE49-F238E27FC236}">
                  <a16:creationId xmlns:a16="http://schemas.microsoft.com/office/drawing/2014/main" id="{309B9F5F-E0CF-CE42-8B33-C68DF9A14104}"/>
                </a:ext>
              </a:extLst>
            </p:cNvPr>
            <p:cNvGrpSpPr/>
            <p:nvPr/>
          </p:nvGrpSpPr>
          <p:grpSpPr>
            <a:xfrm>
              <a:off x="5770596" y="3372808"/>
              <a:ext cx="2548326" cy="2376264"/>
              <a:chOff x="5770596" y="3372808"/>
              <a:chExt cx="2548326" cy="2376264"/>
            </a:xfrm>
          </p:grpSpPr>
          <p:grpSp>
            <p:nvGrpSpPr>
              <p:cNvPr id="26" name="Group 25">
                <a:extLst>
                  <a:ext uri="{FF2B5EF4-FFF2-40B4-BE49-F238E27FC236}">
                    <a16:creationId xmlns:a16="http://schemas.microsoft.com/office/drawing/2014/main" id="{4E28AE00-FB18-104B-A7A4-E30153F9F343}"/>
                  </a:ext>
                </a:extLst>
              </p:cNvPr>
              <p:cNvGrpSpPr/>
              <p:nvPr/>
            </p:nvGrpSpPr>
            <p:grpSpPr>
              <a:xfrm>
                <a:off x="5770596" y="3810652"/>
                <a:ext cx="1050428" cy="1938420"/>
                <a:chOff x="5770596" y="2318672"/>
                <a:chExt cx="1050428" cy="1938420"/>
              </a:xfrm>
            </p:grpSpPr>
            <p:sp>
              <p:nvSpPr>
                <p:cNvPr id="27" name="TextBox 26">
                  <a:extLst>
                    <a:ext uri="{FF2B5EF4-FFF2-40B4-BE49-F238E27FC236}">
                      <a16:creationId xmlns:a16="http://schemas.microsoft.com/office/drawing/2014/main" id="{E29B307F-5533-4141-8CF0-09663BB208D3}"/>
                    </a:ext>
                  </a:extLst>
                </p:cNvPr>
                <p:cNvSpPr txBox="1"/>
                <p:nvPr/>
              </p:nvSpPr>
              <p:spPr>
                <a:xfrm>
                  <a:off x="5772562" y="2318672"/>
                  <a:ext cx="1040519" cy="400110"/>
                </a:xfrm>
                <a:prstGeom prst="rect">
                  <a:avLst/>
                </a:prstGeom>
                <a:noFill/>
              </p:spPr>
              <p:txBody>
                <a:bodyPr wrap="none" rtlCol="0">
                  <a:spAutoFit/>
                </a:bodyPr>
                <a:lstStyle/>
                <a:p>
                  <a:r>
                    <a:rPr lang="en-US" sz="2000" b="1" dirty="0"/>
                    <a:t>0x1000</a:t>
                  </a:r>
                </a:p>
              </p:txBody>
            </p:sp>
            <p:sp>
              <p:nvSpPr>
                <p:cNvPr id="28" name="TextBox 27">
                  <a:extLst>
                    <a:ext uri="{FF2B5EF4-FFF2-40B4-BE49-F238E27FC236}">
                      <a16:creationId xmlns:a16="http://schemas.microsoft.com/office/drawing/2014/main" id="{FDFB6309-4CE3-7746-A046-7FF6BA64E4B4}"/>
                    </a:ext>
                  </a:extLst>
                </p:cNvPr>
                <p:cNvSpPr txBox="1"/>
                <p:nvPr/>
              </p:nvSpPr>
              <p:spPr>
                <a:xfrm>
                  <a:off x="5770596" y="2746654"/>
                  <a:ext cx="1043876" cy="400110"/>
                </a:xfrm>
                <a:prstGeom prst="rect">
                  <a:avLst/>
                </a:prstGeom>
                <a:noFill/>
              </p:spPr>
              <p:txBody>
                <a:bodyPr wrap="none" rtlCol="0">
                  <a:spAutoFit/>
                </a:bodyPr>
                <a:lstStyle/>
                <a:p>
                  <a:r>
                    <a:rPr lang="en-US" sz="2000" b="1" dirty="0"/>
                    <a:t>0x1004</a:t>
                  </a:r>
                </a:p>
              </p:txBody>
            </p:sp>
            <p:sp>
              <p:nvSpPr>
                <p:cNvPr id="30" name="TextBox 29">
                  <a:extLst>
                    <a:ext uri="{FF2B5EF4-FFF2-40B4-BE49-F238E27FC236}">
                      <a16:creationId xmlns:a16="http://schemas.microsoft.com/office/drawing/2014/main" id="{4360B998-AB88-864D-8573-8B93812D719A}"/>
                    </a:ext>
                  </a:extLst>
                </p:cNvPr>
                <p:cNvSpPr txBox="1"/>
                <p:nvPr/>
              </p:nvSpPr>
              <p:spPr>
                <a:xfrm>
                  <a:off x="5772274" y="3132348"/>
                  <a:ext cx="1040519" cy="400110"/>
                </a:xfrm>
                <a:prstGeom prst="rect">
                  <a:avLst/>
                </a:prstGeom>
                <a:noFill/>
              </p:spPr>
              <p:txBody>
                <a:bodyPr wrap="none" rtlCol="0">
                  <a:spAutoFit/>
                </a:bodyPr>
                <a:lstStyle/>
                <a:p>
                  <a:r>
                    <a:rPr lang="en-US" sz="2000" b="1" dirty="0"/>
                    <a:t>0x1008</a:t>
                  </a:r>
                </a:p>
              </p:txBody>
            </p:sp>
            <p:sp>
              <p:nvSpPr>
                <p:cNvPr id="31" name="TextBox 30">
                  <a:extLst>
                    <a:ext uri="{FF2B5EF4-FFF2-40B4-BE49-F238E27FC236}">
                      <a16:creationId xmlns:a16="http://schemas.microsoft.com/office/drawing/2014/main" id="{2C3DB842-0AF3-3B4D-9F0C-188300746447}"/>
                    </a:ext>
                  </a:extLst>
                </p:cNvPr>
                <p:cNvSpPr txBox="1"/>
                <p:nvPr/>
              </p:nvSpPr>
              <p:spPr>
                <a:xfrm>
                  <a:off x="5780505" y="3856982"/>
                  <a:ext cx="1040519" cy="400110"/>
                </a:xfrm>
                <a:prstGeom prst="rect">
                  <a:avLst/>
                </a:prstGeom>
                <a:noFill/>
              </p:spPr>
              <p:txBody>
                <a:bodyPr wrap="none" rtlCol="0">
                  <a:spAutoFit/>
                </a:bodyPr>
                <a:lstStyle/>
                <a:p>
                  <a:r>
                    <a:rPr lang="en-US" sz="2000" b="1" dirty="0"/>
                    <a:t>0x1010</a:t>
                  </a:r>
                </a:p>
              </p:txBody>
            </p:sp>
          </p:grpSp>
          <p:sp>
            <p:nvSpPr>
              <p:cNvPr id="32" name="TextBox 31">
                <a:extLst>
                  <a:ext uri="{FF2B5EF4-FFF2-40B4-BE49-F238E27FC236}">
                    <a16:creationId xmlns:a16="http://schemas.microsoft.com/office/drawing/2014/main" id="{57E80CBD-550C-D444-A113-DABE42522141}"/>
                  </a:ext>
                </a:extLst>
              </p:cNvPr>
              <p:cNvSpPr txBox="1"/>
              <p:nvPr/>
            </p:nvSpPr>
            <p:spPr>
              <a:xfrm>
                <a:off x="7507081" y="3372808"/>
                <a:ext cx="811841" cy="400110"/>
              </a:xfrm>
              <a:prstGeom prst="rect">
                <a:avLst/>
              </a:prstGeom>
              <a:noFill/>
            </p:spPr>
            <p:txBody>
              <a:bodyPr wrap="none" rtlCol="0">
                <a:spAutoFit/>
              </a:bodyPr>
              <a:lstStyle/>
              <a:p>
                <a:r>
                  <a:rPr lang="en-US" sz="2000" b="1" dirty="0"/>
                  <a:t>Heap</a:t>
                </a:r>
              </a:p>
            </p:txBody>
          </p:sp>
        </p:grpSp>
        <p:sp>
          <p:nvSpPr>
            <p:cNvPr id="51" name="TextBox 50">
              <a:extLst>
                <a:ext uri="{FF2B5EF4-FFF2-40B4-BE49-F238E27FC236}">
                  <a16:creationId xmlns:a16="http://schemas.microsoft.com/office/drawing/2014/main" id="{6B1EF8E1-E808-7E4B-9FFE-ED7124A17163}"/>
                </a:ext>
              </a:extLst>
            </p:cNvPr>
            <p:cNvSpPr txBox="1"/>
            <p:nvPr/>
          </p:nvSpPr>
          <p:spPr>
            <a:xfrm>
              <a:off x="5766975" y="4943778"/>
              <a:ext cx="1083951" cy="400110"/>
            </a:xfrm>
            <a:prstGeom prst="rect">
              <a:avLst/>
            </a:prstGeom>
            <a:noFill/>
          </p:spPr>
          <p:txBody>
            <a:bodyPr wrap="none" rtlCol="0">
              <a:spAutoFit/>
            </a:bodyPr>
            <a:lstStyle/>
            <a:p>
              <a:r>
                <a:rPr lang="en-US" sz="2000" b="1" dirty="0"/>
                <a:t>0x100C</a:t>
              </a:r>
            </a:p>
          </p:txBody>
        </p:sp>
      </p:grpSp>
      <p:grpSp>
        <p:nvGrpSpPr>
          <p:cNvPr id="62" name="Group 61">
            <a:extLst>
              <a:ext uri="{FF2B5EF4-FFF2-40B4-BE49-F238E27FC236}">
                <a16:creationId xmlns:a16="http://schemas.microsoft.com/office/drawing/2014/main" id="{03D667BD-69C3-7A46-B544-052BA8C34B74}"/>
              </a:ext>
            </a:extLst>
          </p:cNvPr>
          <p:cNvGrpSpPr/>
          <p:nvPr/>
        </p:nvGrpSpPr>
        <p:grpSpPr>
          <a:xfrm>
            <a:off x="7590123" y="4146744"/>
            <a:ext cx="800219" cy="770420"/>
            <a:chOff x="7590123" y="3838524"/>
            <a:chExt cx="800219" cy="770420"/>
          </a:xfrm>
        </p:grpSpPr>
        <p:sp>
          <p:nvSpPr>
            <p:cNvPr id="64" name="TextBox 63">
              <a:extLst>
                <a:ext uri="{FF2B5EF4-FFF2-40B4-BE49-F238E27FC236}">
                  <a16:creationId xmlns:a16="http://schemas.microsoft.com/office/drawing/2014/main" id="{1EF66D34-DA13-4248-BD89-1F940CA038FF}"/>
                </a:ext>
              </a:extLst>
            </p:cNvPr>
            <p:cNvSpPr txBox="1"/>
            <p:nvPr/>
          </p:nvSpPr>
          <p:spPr>
            <a:xfrm>
              <a:off x="7779654" y="3838524"/>
              <a:ext cx="338554" cy="400110"/>
            </a:xfrm>
            <a:prstGeom prst="rect">
              <a:avLst/>
            </a:prstGeom>
            <a:noFill/>
          </p:spPr>
          <p:txBody>
            <a:bodyPr wrap="none" rtlCol="0">
              <a:spAutoFit/>
            </a:bodyPr>
            <a:lstStyle/>
            <a:p>
              <a:r>
                <a:rPr lang="en-US" sz="2000" b="1" dirty="0">
                  <a:latin typeface="Courier"/>
                  <a:cs typeface="Courier"/>
                </a:rPr>
                <a:t>1</a:t>
              </a:r>
            </a:p>
          </p:txBody>
        </p:sp>
        <p:sp>
          <p:nvSpPr>
            <p:cNvPr id="65" name="TextBox 64">
              <a:extLst>
                <a:ext uri="{FF2B5EF4-FFF2-40B4-BE49-F238E27FC236}">
                  <a16:creationId xmlns:a16="http://schemas.microsoft.com/office/drawing/2014/main" id="{AAD38141-FEC5-0D4D-9C58-60757F905329}"/>
                </a:ext>
              </a:extLst>
            </p:cNvPr>
            <p:cNvSpPr txBox="1"/>
            <p:nvPr/>
          </p:nvSpPr>
          <p:spPr>
            <a:xfrm>
              <a:off x="7590123" y="4208834"/>
              <a:ext cx="800219" cy="400110"/>
            </a:xfrm>
            <a:prstGeom prst="rect">
              <a:avLst/>
            </a:prstGeom>
            <a:noFill/>
          </p:spPr>
          <p:txBody>
            <a:bodyPr wrap="none" rtlCol="0">
              <a:spAutoFit/>
            </a:bodyPr>
            <a:lstStyle/>
            <a:p>
              <a:r>
                <a:rPr lang="en-US" sz="2000" b="1" dirty="0">
                  <a:solidFill>
                    <a:srgbClr val="FF0000"/>
                  </a:solidFill>
                  <a:latin typeface="Courier"/>
                  <a:cs typeface="Courier"/>
                </a:rPr>
                <a:t>NULL</a:t>
              </a:r>
            </a:p>
          </p:txBody>
        </p:sp>
      </p:grpSp>
      <p:grpSp>
        <p:nvGrpSpPr>
          <p:cNvPr id="4" name="Group 3">
            <a:extLst>
              <a:ext uri="{FF2B5EF4-FFF2-40B4-BE49-F238E27FC236}">
                <a16:creationId xmlns:a16="http://schemas.microsoft.com/office/drawing/2014/main" id="{32E27C90-A58F-6244-ACCE-83BB477420E0}"/>
              </a:ext>
            </a:extLst>
          </p:cNvPr>
          <p:cNvGrpSpPr/>
          <p:nvPr/>
        </p:nvGrpSpPr>
        <p:grpSpPr>
          <a:xfrm>
            <a:off x="5315089" y="6055737"/>
            <a:ext cx="3667188" cy="725929"/>
            <a:chOff x="5315089" y="6055737"/>
            <a:chExt cx="3667188" cy="725929"/>
          </a:xfrm>
        </p:grpSpPr>
        <p:sp>
          <p:nvSpPr>
            <p:cNvPr id="70" name="Rectangle 1051">
              <a:extLst>
                <a:ext uri="{FF2B5EF4-FFF2-40B4-BE49-F238E27FC236}">
                  <a16:creationId xmlns:a16="http://schemas.microsoft.com/office/drawing/2014/main" id="{826B9854-02FE-1448-AA1D-439CDCE9DB1D}"/>
                </a:ext>
              </a:extLst>
            </p:cNvPr>
            <p:cNvSpPr>
              <a:spLocks noChangeArrowheads="1"/>
            </p:cNvSpPr>
            <p:nvPr/>
          </p:nvSpPr>
          <p:spPr bwMode="auto">
            <a:xfrm>
              <a:off x="6772838" y="6055737"/>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1</a:t>
              </a:r>
            </a:p>
          </p:txBody>
        </p:sp>
        <p:sp>
          <p:nvSpPr>
            <p:cNvPr id="71" name="Rectangle 1052">
              <a:extLst>
                <a:ext uri="{FF2B5EF4-FFF2-40B4-BE49-F238E27FC236}">
                  <a16:creationId xmlns:a16="http://schemas.microsoft.com/office/drawing/2014/main" id="{9280C8F8-2240-FA42-8F59-236FC9F99EB4}"/>
                </a:ext>
              </a:extLst>
            </p:cNvPr>
            <p:cNvSpPr>
              <a:spLocks noChangeArrowheads="1"/>
            </p:cNvSpPr>
            <p:nvPr/>
          </p:nvSpPr>
          <p:spPr bwMode="auto">
            <a:xfrm>
              <a:off x="7382438" y="6055737"/>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Line 1053">
              <a:extLst>
                <a:ext uri="{FF2B5EF4-FFF2-40B4-BE49-F238E27FC236}">
                  <a16:creationId xmlns:a16="http://schemas.microsoft.com/office/drawing/2014/main" id="{86F3ED12-059D-4F46-AF7B-2B398F3C5959}"/>
                </a:ext>
              </a:extLst>
            </p:cNvPr>
            <p:cNvSpPr>
              <a:spLocks noChangeShapeType="1"/>
            </p:cNvSpPr>
            <p:nvPr/>
          </p:nvSpPr>
          <p:spPr bwMode="auto">
            <a:xfrm flipV="1">
              <a:off x="7687238" y="6360537"/>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73" name="Text Box 1067">
              <a:extLst>
                <a:ext uri="{FF2B5EF4-FFF2-40B4-BE49-F238E27FC236}">
                  <a16:creationId xmlns:a16="http://schemas.microsoft.com/office/drawing/2014/main" id="{71813EDD-17D0-8F42-9ADA-384F696127A9}"/>
                </a:ext>
              </a:extLst>
            </p:cNvPr>
            <p:cNvSpPr txBox="1">
              <a:spLocks noChangeArrowheads="1"/>
            </p:cNvSpPr>
            <p:nvPr/>
          </p:nvSpPr>
          <p:spPr bwMode="auto">
            <a:xfrm>
              <a:off x="8588577" y="6178793"/>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83" name="Text Box 25">
              <a:extLst>
                <a:ext uri="{FF2B5EF4-FFF2-40B4-BE49-F238E27FC236}">
                  <a16:creationId xmlns:a16="http://schemas.microsoft.com/office/drawing/2014/main" id="{15047A87-63E6-0D4B-BE75-F6356A9360AD}"/>
                </a:ext>
              </a:extLst>
            </p:cNvPr>
            <p:cNvSpPr txBox="1">
              <a:spLocks noChangeArrowheads="1"/>
            </p:cNvSpPr>
            <p:nvPr/>
          </p:nvSpPr>
          <p:spPr bwMode="auto">
            <a:xfrm flipH="1">
              <a:off x="5315089" y="6320001"/>
              <a:ext cx="14326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err="1">
                  <a:latin typeface="Times New Roman" charset="0"/>
                </a:rPr>
                <a:t>new_elt</a:t>
              </a:r>
              <a:endParaRPr lang="en-US" sz="2400" b="1" i="1" dirty="0">
                <a:latin typeface="Times New Roman" charset="0"/>
              </a:endParaRPr>
            </a:p>
          </p:txBody>
        </p:sp>
        <p:sp>
          <p:nvSpPr>
            <p:cNvPr id="84" name="Line 26">
              <a:extLst>
                <a:ext uri="{FF2B5EF4-FFF2-40B4-BE49-F238E27FC236}">
                  <a16:creationId xmlns:a16="http://schemas.microsoft.com/office/drawing/2014/main" id="{6092FAA6-D4E3-1147-80FB-E64B6A702DD2}"/>
                </a:ext>
              </a:extLst>
            </p:cNvPr>
            <p:cNvSpPr>
              <a:spLocks noChangeShapeType="1"/>
            </p:cNvSpPr>
            <p:nvPr/>
          </p:nvSpPr>
          <p:spPr bwMode="auto">
            <a:xfrm rot="5400000" flipV="1">
              <a:off x="6336196" y="6109173"/>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grpSp>
      <p:cxnSp>
        <p:nvCxnSpPr>
          <p:cNvPr id="46" name="Straight Arrow Connector 45">
            <a:extLst>
              <a:ext uri="{FF2B5EF4-FFF2-40B4-BE49-F238E27FC236}">
                <a16:creationId xmlns:a16="http://schemas.microsoft.com/office/drawing/2014/main" id="{9BFDA6A4-7B6F-0D44-A5BF-AB1DBE9C3E4B}"/>
              </a:ext>
            </a:extLst>
          </p:cNvPr>
          <p:cNvCxnSpPr>
            <a:cxnSpLocks/>
            <a:stCxn id="17" idx="3"/>
            <a:endCxn id="27" idx="1"/>
          </p:cNvCxnSpPr>
          <p:nvPr/>
        </p:nvCxnSpPr>
        <p:spPr bwMode="auto">
          <a:xfrm flipV="1">
            <a:off x="4092624" y="4318927"/>
            <a:ext cx="1679938" cy="397213"/>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50" name="Group 49">
            <a:extLst>
              <a:ext uri="{FF2B5EF4-FFF2-40B4-BE49-F238E27FC236}">
                <a16:creationId xmlns:a16="http://schemas.microsoft.com/office/drawing/2014/main" id="{C9AE7853-F46C-874A-A17E-8BAB478914C7}"/>
              </a:ext>
            </a:extLst>
          </p:cNvPr>
          <p:cNvGrpSpPr/>
          <p:nvPr/>
        </p:nvGrpSpPr>
        <p:grpSpPr>
          <a:xfrm>
            <a:off x="143508" y="4601804"/>
            <a:ext cx="2448272" cy="400110"/>
            <a:chOff x="143508" y="4893902"/>
            <a:chExt cx="2448272" cy="400110"/>
          </a:xfrm>
        </p:grpSpPr>
        <p:sp>
          <p:nvSpPr>
            <p:cNvPr id="52" name="TextBox 51">
              <a:extLst>
                <a:ext uri="{FF2B5EF4-FFF2-40B4-BE49-F238E27FC236}">
                  <a16:creationId xmlns:a16="http://schemas.microsoft.com/office/drawing/2014/main" id="{600447CB-0D8D-DB4C-A743-96AEA2296ADB}"/>
                </a:ext>
              </a:extLst>
            </p:cNvPr>
            <p:cNvSpPr txBox="1"/>
            <p:nvPr/>
          </p:nvSpPr>
          <p:spPr>
            <a:xfrm>
              <a:off x="143508" y="4893902"/>
              <a:ext cx="1415772" cy="400110"/>
            </a:xfrm>
            <a:prstGeom prst="rect">
              <a:avLst/>
            </a:prstGeom>
            <a:noFill/>
          </p:spPr>
          <p:txBody>
            <a:bodyPr wrap="none" rtlCol="0">
              <a:spAutoFit/>
            </a:bodyPr>
            <a:lstStyle/>
            <a:p>
              <a:r>
                <a:rPr lang="en-US" sz="2000" b="1" dirty="0" err="1">
                  <a:latin typeface="Courier"/>
                  <a:cs typeface="Courier"/>
                </a:rPr>
                <a:t>new_elt</a:t>
              </a:r>
              <a:r>
                <a:rPr lang="en-US" sz="2000" b="1" dirty="0">
                  <a:latin typeface="Courier"/>
                  <a:cs typeface="Courier"/>
                </a:rPr>
                <a:t>:</a:t>
              </a:r>
            </a:p>
          </p:txBody>
        </p:sp>
        <p:sp>
          <p:nvSpPr>
            <p:cNvPr id="53" name="TextBox 52">
              <a:extLst>
                <a:ext uri="{FF2B5EF4-FFF2-40B4-BE49-F238E27FC236}">
                  <a16:creationId xmlns:a16="http://schemas.microsoft.com/office/drawing/2014/main" id="{30D4D9B4-5A10-5E4A-854B-F731D757DFDF}"/>
                </a:ext>
              </a:extLst>
            </p:cNvPr>
            <p:cNvSpPr txBox="1"/>
            <p:nvPr/>
          </p:nvSpPr>
          <p:spPr>
            <a:xfrm>
              <a:off x="1483783" y="4893902"/>
              <a:ext cx="1107997" cy="400110"/>
            </a:xfrm>
            <a:prstGeom prst="rect">
              <a:avLst/>
            </a:prstGeom>
            <a:noFill/>
          </p:spPr>
          <p:txBody>
            <a:bodyPr wrap="none" rtlCol="0">
              <a:spAutoFit/>
            </a:bodyPr>
            <a:lstStyle/>
            <a:p>
              <a:r>
                <a:rPr lang="en-US" sz="2000" b="1" dirty="0">
                  <a:latin typeface="Courier"/>
                  <a:cs typeface="Courier"/>
                </a:rPr>
                <a:t>OxFFF0</a:t>
              </a:r>
            </a:p>
          </p:txBody>
        </p:sp>
      </p:grpSp>
      <p:grpSp>
        <p:nvGrpSpPr>
          <p:cNvPr id="86" name="Group 85">
            <a:extLst>
              <a:ext uri="{FF2B5EF4-FFF2-40B4-BE49-F238E27FC236}">
                <a16:creationId xmlns:a16="http://schemas.microsoft.com/office/drawing/2014/main" id="{5590239D-055A-5C48-B20B-6DBEA9B072FF}"/>
              </a:ext>
            </a:extLst>
          </p:cNvPr>
          <p:cNvGrpSpPr/>
          <p:nvPr/>
        </p:nvGrpSpPr>
        <p:grpSpPr>
          <a:xfrm>
            <a:off x="2820927" y="5714839"/>
            <a:ext cx="1463041" cy="738497"/>
            <a:chOff x="2820927" y="5517232"/>
            <a:chExt cx="1463041" cy="738497"/>
          </a:xfrm>
        </p:grpSpPr>
        <p:sp>
          <p:nvSpPr>
            <p:cNvPr id="87" name="Line 26">
              <a:extLst>
                <a:ext uri="{FF2B5EF4-FFF2-40B4-BE49-F238E27FC236}">
                  <a16:creationId xmlns:a16="http://schemas.microsoft.com/office/drawing/2014/main" id="{A2E115B6-B13E-9749-B44C-EA47EBE39DC4}"/>
                </a:ext>
              </a:extLst>
            </p:cNvPr>
            <p:cNvSpPr>
              <a:spLocks noChangeShapeType="1"/>
            </p:cNvSpPr>
            <p:nvPr/>
          </p:nvSpPr>
          <p:spPr bwMode="auto">
            <a:xfrm rot="5400000" flipV="1">
              <a:off x="3522093" y="57524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88" name="Text Box 25">
              <a:extLst>
                <a:ext uri="{FF2B5EF4-FFF2-40B4-BE49-F238E27FC236}">
                  <a16:creationId xmlns:a16="http://schemas.microsoft.com/office/drawing/2014/main" id="{A3DA7CB2-A2BE-A84F-831D-5D6496047BF5}"/>
                </a:ext>
              </a:extLst>
            </p:cNvPr>
            <p:cNvSpPr txBox="1">
              <a:spLocks noChangeArrowheads="1"/>
            </p:cNvSpPr>
            <p:nvPr/>
          </p:nvSpPr>
          <p:spPr bwMode="auto">
            <a:xfrm flipH="1">
              <a:off x="2820927" y="5517232"/>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sp>
          <p:nvSpPr>
            <p:cNvPr id="89" name="Text Box 1067">
              <a:extLst>
                <a:ext uri="{FF2B5EF4-FFF2-40B4-BE49-F238E27FC236}">
                  <a16:creationId xmlns:a16="http://schemas.microsoft.com/office/drawing/2014/main" id="{D6C98F17-DB6D-664C-BC84-6449F08E3631}"/>
                </a:ext>
              </a:extLst>
            </p:cNvPr>
            <p:cNvSpPr txBox="1">
              <a:spLocks noChangeArrowheads="1"/>
            </p:cNvSpPr>
            <p:nvPr/>
          </p:nvSpPr>
          <p:spPr bwMode="auto">
            <a:xfrm>
              <a:off x="3890268" y="5858854"/>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
        <p:nvSpPr>
          <p:cNvPr id="90" name="TextBox 89">
            <a:extLst>
              <a:ext uri="{FF2B5EF4-FFF2-40B4-BE49-F238E27FC236}">
                <a16:creationId xmlns:a16="http://schemas.microsoft.com/office/drawing/2014/main" id="{90E6F05F-0DF0-3240-980A-439A484451FD}"/>
              </a:ext>
            </a:extLst>
          </p:cNvPr>
          <p:cNvSpPr txBox="1"/>
          <p:nvPr/>
        </p:nvSpPr>
        <p:spPr>
          <a:xfrm>
            <a:off x="2766118" y="4507871"/>
            <a:ext cx="1107997" cy="400110"/>
          </a:xfrm>
          <a:prstGeom prst="rect">
            <a:avLst/>
          </a:prstGeom>
          <a:noFill/>
        </p:spPr>
        <p:txBody>
          <a:bodyPr wrap="none" rtlCol="0">
            <a:spAutoFit/>
          </a:bodyPr>
          <a:lstStyle/>
          <a:p>
            <a:r>
              <a:rPr lang="en-US" sz="2000" b="1" dirty="0">
                <a:latin typeface="Courier"/>
                <a:cs typeface="Courier"/>
              </a:rPr>
              <a:t>0x1000</a:t>
            </a:r>
          </a:p>
        </p:txBody>
      </p:sp>
      <p:sp>
        <p:nvSpPr>
          <p:cNvPr id="54" name="Rectangle 53">
            <a:extLst>
              <a:ext uri="{FF2B5EF4-FFF2-40B4-BE49-F238E27FC236}">
                <a16:creationId xmlns:a16="http://schemas.microsoft.com/office/drawing/2014/main" id="{BFA343AA-7EDE-3D4C-BA4C-DD12413AE2F5}"/>
              </a:ext>
            </a:extLst>
          </p:cNvPr>
          <p:cNvSpPr/>
          <p:nvPr/>
        </p:nvSpPr>
        <p:spPr>
          <a:xfrm>
            <a:off x="5516267" y="975059"/>
            <a:ext cx="3466009" cy="461665"/>
          </a:xfrm>
          <a:prstGeom prst="rect">
            <a:avLst/>
          </a:prstGeom>
          <a:ln>
            <a:solidFill>
              <a:srgbClr val="FF0000"/>
            </a:solidFill>
          </a:ln>
        </p:spPr>
        <p:txBody>
          <a:bodyPr wrap="square">
            <a:spAutoFit/>
          </a:bodyPr>
          <a:lstStyle/>
          <a:p>
            <a:r>
              <a:rPr lang="en-US" sz="2400" b="1" dirty="0">
                <a:solidFill>
                  <a:srgbClr val="FF0000"/>
                </a:solidFill>
              </a:rPr>
              <a:t>Pass by VALUE</a:t>
            </a:r>
          </a:p>
        </p:txBody>
      </p:sp>
      <p:sp>
        <p:nvSpPr>
          <p:cNvPr id="55" name="TextBox 54">
            <a:extLst>
              <a:ext uri="{FF2B5EF4-FFF2-40B4-BE49-F238E27FC236}">
                <a16:creationId xmlns:a16="http://schemas.microsoft.com/office/drawing/2014/main" id="{3B7E84C9-65FB-D64B-AF5C-612483BC3548}"/>
              </a:ext>
            </a:extLst>
          </p:cNvPr>
          <p:cNvSpPr txBox="1"/>
          <p:nvPr/>
        </p:nvSpPr>
        <p:spPr>
          <a:xfrm>
            <a:off x="2926394" y="4885807"/>
            <a:ext cx="800219" cy="400110"/>
          </a:xfrm>
          <a:prstGeom prst="rect">
            <a:avLst/>
          </a:prstGeom>
          <a:noFill/>
        </p:spPr>
        <p:txBody>
          <a:bodyPr wrap="none" rtlCol="0">
            <a:spAutoFit/>
          </a:bodyPr>
          <a:lstStyle/>
          <a:p>
            <a:r>
              <a:rPr lang="en-US" sz="2000" b="1" dirty="0">
                <a:latin typeface="Courier"/>
                <a:cs typeface="Courier"/>
              </a:rPr>
              <a:t>NULL</a:t>
            </a:r>
          </a:p>
        </p:txBody>
      </p:sp>
    </p:spTree>
    <p:extLst>
      <p:ext uri="{BB962C8B-B14F-4D97-AF65-F5344CB8AC3E}">
        <p14:creationId xmlns:p14="http://schemas.microsoft.com/office/powerpoint/2010/main" val="277450834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225</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5"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6"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37" name="Line 1053"/>
          <p:cNvSpPr>
            <a:spLocks noChangeShapeType="1"/>
          </p:cNvSpPr>
          <p:nvPr/>
        </p:nvSpPr>
        <p:spPr bwMode="auto">
          <a:xfrm flipV="1">
            <a:off x="2210036"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83354295"/>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226</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2210036"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6"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8" name="Line 26">
            <a:extLst>
              <a:ext uri="{FF2B5EF4-FFF2-40B4-BE49-F238E27FC236}">
                <a16:creationId xmlns:a16="http://schemas.microsoft.com/office/drawing/2014/main" id="{6F762AD3-F969-E440-87FA-6ED6A6AE6116}"/>
              </a:ext>
            </a:extLst>
          </p:cNvPr>
          <p:cNvSpPr>
            <a:spLocks noChangeShapeType="1"/>
          </p:cNvSpPr>
          <p:nvPr/>
        </p:nvSpPr>
        <p:spPr bwMode="auto">
          <a:xfrm rot="5400000" flipV="1">
            <a:off x="967172" y="2296108"/>
            <a:ext cx="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323871510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227</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25" name="Elbow Connector 24"/>
          <p:cNvCxnSpPr>
            <a:stCxn id="118" idx="2"/>
            <a:endCxn id="22" idx="1"/>
          </p:cNvCxnSpPr>
          <p:nvPr/>
        </p:nvCxnSpPr>
        <p:spPr bwMode="auto">
          <a:xfrm rot="16200000" flipH="1">
            <a:off x="561684" y="2747819"/>
            <a:ext cx="959259" cy="508645"/>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1691680" y="3255367"/>
            <a:ext cx="472698" cy="461665"/>
          </a:xfrm>
          <a:prstGeom prst="rect">
            <a:avLst/>
          </a:prstGeom>
          <a:noFill/>
        </p:spPr>
        <p:txBody>
          <a:bodyPr wrap="square" rtlCol="0">
            <a:spAutoFit/>
          </a:bodyPr>
          <a:lstStyle/>
          <a:p>
            <a:r>
              <a:rPr lang="en-US" sz="2400" dirty="0"/>
              <a:t> </a:t>
            </a:r>
          </a:p>
        </p:txBody>
      </p:sp>
      <p:sp>
        <p:nvSpPr>
          <p:cNvPr id="32"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9" name="Line 1053">
            <a:extLst>
              <a:ext uri="{FF2B5EF4-FFF2-40B4-BE49-F238E27FC236}">
                <a16:creationId xmlns:a16="http://schemas.microsoft.com/office/drawing/2014/main" id="{D206D97D-DAAC-1640-ACB2-2729889623B7}"/>
              </a:ext>
            </a:extLst>
          </p:cNvPr>
          <p:cNvSpPr>
            <a:spLocks noChangeShapeType="1"/>
          </p:cNvSpPr>
          <p:nvPr/>
        </p:nvSpPr>
        <p:spPr bwMode="auto">
          <a:xfrm flipV="1">
            <a:off x="2210036"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12683271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228</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2210036" y="3481772"/>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6"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cxnSp>
        <p:nvCxnSpPr>
          <p:cNvPr id="30" name="Elbow Connector 29">
            <a:extLst>
              <a:ext uri="{FF2B5EF4-FFF2-40B4-BE49-F238E27FC236}">
                <a16:creationId xmlns:a16="http://schemas.microsoft.com/office/drawing/2014/main" id="{68989321-DD8C-9748-9408-75286080B8F5}"/>
              </a:ext>
            </a:extLst>
          </p:cNvPr>
          <p:cNvCxnSpPr/>
          <p:nvPr/>
        </p:nvCxnSpPr>
        <p:spPr bwMode="auto">
          <a:xfrm rot="16200000" flipH="1">
            <a:off x="561684" y="2747819"/>
            <a:ext cx="959259" cy="508645"/>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 name="TextBox 2">
            <a:extLst>
              <a:ext uri="{FF2B5EF4-FFF2-40B4-BE49-F238E27FC236}">
                <a16:creationId xmlns:a16="http://schemas.microsoft.com/office/drawing/2014/main" id="{2B002DDB-FC39-FA4B-A21F-2C05A23397FD}"/>
              </a:ext>
            </a:extLst>
          </p:cNvPr>
          <p:cNvSpPr txBox="1"/>
          <p:nvPr/>
        </p:nvSpPr>
        <p:spPr>
          <a:xfrm>
            <a:off x="3253539" y="3176972"/>
            <a:ext cx="934871" cy="584775"/>
          </a:xfrm>
          <a:prstGeom prst="rect">
            <a:avLst/>
          </a:prstGeom>
          <a:noFill/>
        </p:spPr>
        <p:txBody>
          <a:bodyPr wrap="none" rtlCol="0">
            <a:spAutoFit/>
          </a:bodyPr>
          <a:lstStyle/>
          <a:p>
            <a:r>
              <a:rPr lang="en-FR" sz="3200" b="1" dirty="0">
                <a:solidFill>
                  <a:srgbClr val="FF0000"/>
                </a:solidFill>
              </a:rPr>
              <a:t>???</a:t>
            </a:r>
          </a:p>
        </p:txBody>
      </p:sp>
      <p:sp>
        <p:nvSpPr>
          <p:cNvPr id="31" name="TextBox 30">
            <a:extLst>
              <a:ext uri="{FF2B5EF4-FFF2-40B4-BE49-F238E27FC236}">
                <a16:creationId xmlns:a16="http://schemas.microsoft.com/office/drawing/2014/main" id="{A5A574BC-1AFD-DE49-8485-72C462041755}"/>
              </a:ext>
            </a:extLst>
          </p:cNvPr>
          <p:cNvSpPr txBox="1"/>
          <p:nvPr/>
        </p:nvSpPr>
        <p:spPr>
          <a:xfrm>
            <a:off x="6112645" y="74921"/>
            <a:ext cx="593432" cy="584775"/>
          </a:xfrm>
          <a:prstGeom prst="rect">
            <a:avLst/>
          </a:prstGeom>
          <a:noFill/>
        </p:spPr>
        <p:txBody>
          <a:bodyPr wrap="none" rtlCol="0">
            <a:spAutoFit/>
          </a:bodyPr>
          <a:lstStyle/>
          <a:p>
            <a:r>
              <a:rPr lang="en-FR" sz="3200" b="1" dirty="0">
                <a:solidFill>
                  <a:srgbClr val="FF0000"/>
                </a:solidFill>
              </a:rPr>
              <a:t>!!!</a:t>
            </a:r>
          </a:p>
        </p:txBody>
      </p:sp>
    </p:spTree>
    <p:extLst>
      <p:ext uri="{BB962C8B-B14F-4D97-AF65-F5344CB8AC3E}">
        <p14:creationId xmlns:p14="http://schemas.microsoft.com/office/powerpoint/2010/main" val="304774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229</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5"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6"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37" name="Line 1053"/>
          <p:cNvSpPr>
            <a:spLocks noChangeShapeType="1"/>
          </p:cNvSpPr>
          <p:nvPr/>
        </p:nvSpPr>
        <p:spPr bwMode="auto">
          <a:xfrm flipV="1">
            <a:off x="2210036" y="3481772"/>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219527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230</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26" name="Elbow Connector 25"/>
          <p:cNvCxnSpPr>
            <a:cxnSpLocks/>
            <a:stCxn id="27" idx="3"/>
            <a:endCxn id="104" idx="1"/>
          </p:cNvCxnSpPr>
          <p:nvPr/>
        </p:nvCxnSpPr>
        <p:spPr bwMode="auto">
          <a:xfrm flipH="1" flipV="1">
            <a:off x="1282575" y="2581672"/>
            <a:ext cx="881803" cy="904528"/>
          </a:xfrm>
          <a:prstGeom prst="bentConnector5">
            <a:avLst>
              <a:gd name="adj1" fmla="val -62410"/>
              <a:gd name="adj2" fmla="val 51527"/>
              <a:gd name="adj3" fmla="val 125924"/>
            </a:avLst>
          </a:prstGeom>
          <a:noFill/>
          <a:ln w="28575" cap="flat" cmpd="sng" algn="ctr">
            <a:solidFill>
              <a:srgbClr val="000208"/>
            </a:solidFill>
            <a:prstDash val="solid"/>
            <a:round/>
            <a:headEnd type="oval"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1691680" y="3255367"/>
            <a:ext cx="472698" cy="461665"/>
          </a:xfrm>
          <a:prstGeom prst="rect">
            <a:avLst/>
          </a:prstGeom>
          <a:noFill/>
        </p:spPr>
        <p:txBody>
          <a:bodyPr wrap="square" rtlCol="0">
            <a:spAutoFit/>
          </a:bodyPr>
          <a:lstStyle/>
          <a:p>
            <a:r>
              <a:rPr lang="en-US" sz="2400" dirty="0"/>
              <a:t> </a:t>
            </a:r>
          </a:p>
        </p:txBody>
      </p:sp>
      <p:sp>
        <p:nvSpPr>
          <p:cNvPr id="32"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9" name="Line 26">
            <a:extLst>
              <a:ext uri="{FF2B5EF4-FFF2-40B4-BE49-F238E27FC236}">
                <a16:creationId xmlns:a16="http://schemas.microsoft.com/office/drawing/2014/main" id="{E54DB0F4-0BC7-4A42-9CB3-FA4F0321C30C}"/>
              </a:ext>
            </a:extLst>
          </p:cNvPr>
          <p:cNvSpPr>
            <a:spLocks noChangeShapeType="1"/>
          </p:cNvSpPr>
          <p:nvPr/>
        </p:nvSpPr>
        <p:spPr bwMode="auto">
          <a:xfrm rot="5400000" flipV="1">
            <a:off x="977775" y="2152092"/>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392816729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231</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1295636"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1905236"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25" name="Elbow Connector 24"/>
          <p:cNvCxnSpPr>
            <a:stCxn id="118" idx="2"/>
            <a:endCxn id="22" idx="1"/>
          </p:cNvCxnSpPr>
          <p:nvPr/>
        </p:nvCxnSpPr>
        <p:spPr bwMode="auto">
          <a:xfrm rot="16200000" flipH="1">
            <a:off x="561684" y="2747819"/>
            <a:ext cx="959259" cy="508645"/>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Elbow Connector 25"/>
          <p:cNvCxnSpPr>
            <a:stCxn id="27" idx="3"/>
            <a:endCxn id="104" idx="1"/>
          </p:cNvCxnSpPr>
          <p:nvPr/>
        </p:nvCxnSpPr>
        <p:spPr bwMode="auto">
          <a:xfrm flipH="1" flipV="1">
            <a:off x="1282575" y="2581672"/>
            <a:ext cx="881803" cy="904528"/>
          </a:xfrm>
          <a:prstGeom prst="bentConnector5">
            <a:avLst>
              <a:gd name="adj1" fmla="val -62410"/>
              <a:gd name="adj2" fmla="val 51527"/>
              <a:gd name="adj3" fmla="val 125924"/>
            </a:avLst>
          </a:prstGeom>
          <a:noFill/>
          <a:ln w="28575" cap="flat" cmpd="sng" algn="ctr">
            <a:solidFill>
              <a:srgbClr val="000208"/>
            </a:solidFill>
            <a:prstDash val="solid"/>
            <a:round/>
            <a:headEnd type="oval"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1691680" y="3255367"/>
            <a:ext cx="472698" cy="461665"/>
          </a:xfrm>
          <a:prstGeom prst="rect">
            <a:avLst/>
          </a:prstGeom>
          <a:noFill/>
        </p:spPr>
        <p:txBody>
          <a:bodyPr wrap="square" rtlCol="0">
            <a:spAutoFit/>
          </a:bodyPr>
          <a:lstStyle/>
          <a:p>
            <a:r>
              <a:rPr lang="en-US" sz="2400" dirty="0"/>
              <a:t> </a:t>
            </a:r>
          </a:p>
        </p:txBody>
      </p:sp>
      <p:sp>
        <p:nvSpPr>
          <p:cNvPr id="32"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9884974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In the middle:</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232</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7" name="Rectangle 1051">
            <a:extLst>
              <a:ext uri="{FF2B5EF4-FFF2-40B4-BE49-F238E27FC236}">
                <a16:creationId xmlns:a16="http://schemas.microsoft.com/office/drawing/2014/main" id="{3F5D1195-BC4D-6D4C-9C0C-55B603D6884E}"/>
              </a:ext>
            </a:extLst>
          </p:cNvPr>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a:extLst>
              <a:ext uri="{FF2B5EF4-FFF2-40B4-BE49-F238E27FC236}">
                <a16:creationId xmlns:a16="http://schemas.microsoft.com/office/drawing/2014/main" id="{14F937BE-4992-6047-A750-9D474D7A158B}"/>
              </a:ext>
            </a:extLst>
          </p:cNvPr>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a:extLst>
              <a:ext uri="{FF2B5EF4-FFF2-40B4-BE49-F238E27FC236}">
                <a16:creationId xmlns:a16="http://schemas.microsoft.com/office/drawing/2014/main" id="{78EDC98A-9DFF-554D-A35E-6924347B9387}"/>
              </a:ext>
            </a:extLst>
          </p:cNvPr>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0" name="Line 1053">
            <a:extLst>
              <a:ext uri="{FF2B5EF4-FFF2-40B4-BE49-F238E27FC236}">
                <a16:creationId xmlns:a16="http://schemas.microsoft.com/office/drawing/2014/main" id="{9B062315-1887-944E-9479-220CB0B3D69C}"/>
              </a:ext>
            </a:extLst>
          </p:cNvPr>
          <p:cNvSpPr>
            <a:spLocks noChangeShapeType="1"/>
          </p:cNvSpPr>
          <p:nvPr/>
        </p:nvSpPr>
        <p:spPr bwMode="auto">
          <a:xfrm flipV="1">
            <a:off x="5004048" y="378904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166008856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233</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7" name="Line 1053"/>
            <p:cNvSpPr>
              <a:spLocks noChangeShapeType="1"/>
            </p:cNvSpPr>
            <p:nvPr/>
          </p:nvSpPr>
          <p:spPr bwMode="auto">
            <a:xfrm flipV="1">
              <a:off x="4025044" y="3049724"/>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0" name="Line 1053"/>
          <p:cNvSpPr>
            <a:spLocks noChangeShapeType="1"/>
          </p:cNvSpPr>
          <p:nvPr/>
        </p:nvSpPr>
        <p:spPr bwMode="auto">
          <a:xfrm flipV="1">
            <a:off x="5004048" y="378904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1"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9729912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234</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0" name="Line 1053"/>
          <p:cNvSpPr>
            <a:spLocks noChangeShapeType="1"/>
          </p:cNvSpPr>
          <p:nvPr/>
        </p:nvSpPr>
        <p:spPr bwMode="auto">
          <a:xfrm flipV="1">
            <a:off x="5004048" y="378904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cxnSp>
        <p:nvCxnSpPr>
          <p:cNvPr id="26" name="Elbow Connector 25"/>
          <p:cNvCxnSpPr/>
          <p:nvPr/>
        </p:nvCxnSpPr>
        <p:spPr bwMode="auto">
          <a:xfrm>
            <a:off x="3995936" y="2564904"/>
            <a:ext cx="463406" cy="561255"/>
          </a:xfrm>
          <a:prstGeom prst="bentConnector2">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TextBox 30"/>
          <p:cNvSpPr txBox="1"/>
          <p:nvPr/>
        </p:nvSpPr>
        <p:spPr>
          <a:xfrm>
            <a:off x="3527884" y="2312876"/>
            <a:ext cx="472698" cy="461665"/>
          </a:xfrm>
          <a:prstGeom prst="rect">
            <a:avLst/>
          </a:prstGeom>
          <a:noFill/>
        </p:spPr>
        <p:txBody>
          <a:bodyPr wrap="square" rtlCol="0">
            <a:spAutoFit/>
          </a:bodyPr>
          <a:lstStyle/>
          <a:p>
            <a:r>
              <a:rPr lang="en-US" sz="2400" dirty="0"/>
              <a:t> </a:t>
            </a:r>
          </a:p>
        </p:txBody>
      </p:sp>
      <p:cxnSp>
        <p:nvCxnSpPr>
          <p:cNvPr id="32" name="Elbow Connector 31"/>
          <p:cNvCxnSpPr>
            <a:endCxn id="27" idx="1"/>
          </p:cNvCxnSpPr>
          <p:nvPr/>
        </p:nvCxnSpPr>
        <p:spPr bwMode="auto">
          <a:xfrm rot="5400000">
            <a:off x="3911023" y="3216839"/>
            <a:ext cx="700844" cy="405086"/>
          </a:xfrm>
          <a:prstGeom prst="bentConnector4">
            <a:avLst>
              <a:gd name="adj1" fmla="val 28255"/>
              <a:gd name="adj2" fmla="val 15643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6691770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235</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0" name="Line 1053"/>
          <p:cNvSpPr>
            <a:spLocks noChangeShapeType="1"/>
          </p:cNvSpPr>
          <p:nvPr/>
        </p:nvSpPr>
        <p:spPr bwMode="auto">
          <a:xfrm flipV="1">
            <a:off x="5004048" y="3789040"/>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cxnSp>
        <p:nvCxnSpPr>
          <p:cNvPr id="26" name="Elbow Connector 25"/>
          <p:cNvCxnSpPr/>
          <p:nvPr/>
        </p:nvCxnSpPr>
        <p:spPr bwMode="auto">
          <a:xfrm>
            <a:off x="3995936" y="2564904"/>
            <a:ext cx="463406" cy="561255"/>
          </a:xfrm>
          <a:prstGeom prst="bentConnector2">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TextBox 30"/>
          <p:cNvSpPr txBox="1"/>
          <p:nvPr/>
        </p:nvSpPr>
        <p:spPr>
          <a:xfrm>
            <a:off x="3527884" y="2312876"/>
            <a:ext cx="472698" cy="461665"/>
          </a:xfrm>
          <a:prstGeom prst="rect">
            <a:avLst/>
          </a:prstGeom>
          <a:noFill/>
        </p:spPr>
        <p:txBody>
          <a:bodyPr wrap="square" rtlCol="0">
            <a:spAutoFit/>
          </a:bodyPr>
          <a:lstStyle/>
          <a:p>
            <a:r>
              <a:rPr lang="en-US" sz="2400" dirty="0"/>
              <a:t> </a:t>
            </a:r>
          </a:p>
        </p:txBody>
      </p:sp>
      <p:cxnSp>
        <p:nvCxnSpPr>
          <p:cNvPr id="32" name="Elbow Connector 31"/>
          <p:cNvCxnSpPr>
            <a:endCxn id="27" idx="1"/>
          </p:cNvCxnSpPr>
          <p:nvPr/>
        </p:nvCxnSpPr>
        <p:spPr bwMode="auto">
          <a:xfrm rot="5400000">
            <a:off x="3911023" y="3216839"/>
            <a:ext cx="700844" cy="405086"/>
          </a:xfrm>
          <a:prstGeom prst="bentConnector4">
            <a:avLst>
              <a:gd name="adj1" fmla="val 28255"/>
              <a:gd name="adj2" fmla="val 15643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TextBox 1">
            <a:extLst>
              <a:ext uri="{FF2B5EF4-FFF2-40B4-BE49-F238E27FC236}">
                <a16:creationId xmlns:a16="http://schemas.microsoft.com/office/drawing/2014/main" id="{043873A5-D54A-A54E-93B6-C5F08845D4E3}"/>
              </a:ext>
            </a:extLst>
          </p:cNvPr>
          <p:cNvSpPr txBox="1"/>
          <p:nvPr/>
        </p:nvSpPr>
        <p:spPr>
          <a:xfrm>
            <a:off x="6198849" y="3356992"/>
            <a:ext cx="934871" cy="584775"/>
          </a:xfrm>
          <a:prstGeom prst="rect">
            <a:avLst/>
          </a:prstGeom>
          <a:noFill/>
        </p:spPr>
        <p:txBody>
          <a:bodyPr wrap="none" rtlCol="0">
            <a:spAutoFit/>
          </a:bodyPr>
          <a:lstStyle/>
          <a:p>
            <a:r>
              <a:rPr lang="en-FR" sz="3200" b="1" dirty="0">
                <a:solidFill>
                  <a:srgbClr val="FF0000"/>
                </a:solidFill>
              </a:rPr>
              <a:t>???</a:t>
            </a:r>
          </a:p>
        </p:txBody>
      </p:sp>
    </p:spTree>
    <p:extLst>
      <p:ext uri="{BB962C8B-B14F-4D97-AF65-F5344CB8AC3E}">
        <p14:creationId xmlns:p14="http://schemas.microsoft.com/office/powerpoint/2010/main" val="190950209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236</a:t>
            </a:fld>
            <a:endParaRPr lang="fr-FR" sz="1400" dirty="0">
              <a:solidFill>
                <a:srgbClr val="000208"/>
              </a:solidFill>
              <a:latin typeface="Times New Roman" charset="0"/>
            </a:endParaRPr>
          </a:p>
        </p:txBody>
      </p:sp>
      <p:sp>
        <p:nvSpPr>
          <p:cNvPr id="41"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42"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44" name="TextBox 43"/>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46" name="TextBox 45"/>
          <p:cNvSpPr txBox="1"/>
          <p:nvPr/>
        </p:nvSpPr>
        <p:spPr>
          <a:xfrm>
            <a:off x="5760132" y="4149080"/>
            <a:ext cx="472698" cy="461665"/>
          </a:xfrm>
          <a:prstGeom prst="rect">
            <a:avLst/>
          </a:prstGeom>
          <a:noFill/>
        </p:spPr>
        <p:txBody>
          <a:bodyPr wrap="square" rtlCol="0">
            <a:spAutoFit/>
          </a:bodyPr>
          <a:lstStyle/>
          <a:p>
            <a:r>
              <a:rPr lang="en-US" sz="2400" dirty="0"/>
              <a:t> </a:t>
            </a: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7"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68" name="Line 1053"/>
          <p:cNvSpPr>
            <a:spLocks noChangeShapeType="1"/>
          </p:cNvSpPr>
          <p:nvPr/>
        </p:nvSpPr>
        <p:spPr bwMode="auto">
          <a:xfrm flipV="1">
            <a:off x="5004048" y="378904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9"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745804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237</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0" name="Line 1053"/>
          <p:cNvSpPr>
            <a:spLocks noChangeShapeType="1"/>
          </p:cNvSpPr>
          <p:nvPr/>
        </p:nvSpPr>
        <p:spPr bwMode="auto">
          <a:xfrm flipV="1">
            <a:off x="5004048" y="3789040"/>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1" name="TextBox 30"/>
          <p:cNvSpPr txBox="1"/>
          <p:nvPr/>
        </p:nvSpPr>
        <p:spPr>
          <a:xfrm>
            <a:off x="3527884" y="2312876"/>
            <a:ext cx="472698" cy="461665"/>
          </a:xfrm>
          <a:prstGeom prst="rect">
            <a:avLst/>
          </a:prstGeom>
          <a:noFill/>
        </p:spPr>
        <p:txBody>
          <a:bodyPr wrap="square" rtlCol="0">
            <a:spAutoFit/>
          </a:bodyPr>
          <a:lstStyle/>
          <a:p>
            <a:r>
              <a:rPr lang="en-US" sz="2400" dirty="0"/>
              <a:t> </a:t>
            </a:r>
          </a:p>
        </p:txBody>
      </p:sp>
      <p:sp>
        <p:nvSpPr>
          <p:cNvPr id="33"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35" name="Line 1053">
            <a:extLst>
              <a:ext uri="{FF2B5EF4-FFF2-40B4-BE49-F238E27FC236}">
                <a16:creationId xmlns:a16="http://schemas.microsoft.com/office/drawing/2014/main" id="{C7AC1F87-6219-4741-984C-6EF0DD42A959}"/>
              </a:ext>
            </a:extLst>
          </p:cNvPr>
          <p:cNvSpPr>
            <a:spLocks noChangeShapeType="1"/>
          </p:cNvSpPr>
          <p:nvPr/>
        </p:nvSpPr>
        <p:spPr bwMode="auto">
          <a:xfrm flipV="1">
            <a:off x="4025775" y="25816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243437200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238</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sp>
        <p:nvSpPr>
          <p:cNvPr id="31" name="TextBox 30"/>
          <p:cNvSpPr txBox="1"/>
          <p:nvPr/>
        </p:nvSpPr>
        <p:spPr>
          <a:xfrm>
            <a:off x="3527884" y="2312876"/>
            <a:ext cx="472698" cy="461665"/>
          </a:xfrm>
          <a:prstGeom prst="rect">
            <a:avLst/>
          </a:prstGeom>
          <a:noFill/>
        </p:spPr>
        <p:txBody>
          <a:bodyPr wrap="square" rtlCol="0">
            <a:spAutoFit/>
          </a:bodyPr>
          <a:lstStyle/>
          <a:p>
            <a:r>
              <a:rPr lang="en-US" sz="2400" dirty="0"/>
              <a:t> </a:t>
            </a:r>
          </a:p>
        </p:txBody>
      </p:sp>
      <p:cxnSp>
        <p:nvCxnSpPr>
          <p:cNvPr id="33" name="Elbow Connector 32"/>
          <p:cNvCxnSpPr>
            <a:cxnSpLocks/>
          </p:cNvCxnSpPr>
          <p:nvPr/>
        </p:nvCxnSpPr>
        <p:spPr bwMode="auto">
          <a:xfrm flipH="1" flipV="1">
            <a:off x="4940175" y="2784953"/>
            <a:ext cx="23473" cy="1076095"/>
          </a:xfrm>
          <a:prstGeom prst="bentConnector5">
            <a:avLst>
              <a:gd name="adj1" fmla="val -2200260"/>
              <a:gd name="adj2" fmla="val 56922"/>
              <a:gd name="adj3" fmla="val 1073885"/>
            </a:avLst>
          </a:prstGeom>
          <a:noFill/>
          <a:ln w="28575" cap="flat" cmpd="sng" algn="ctr">
            <a:solidFill>
              <a:srgbClr val="000208"/>
            </a:solidFill>
            <a:prstDash val="solid"/>
            <a:round/>
            <a:headEnd type="oval"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35" name="Line 1053">
            <a:extLst>
              <a:ext uri="{FF2B5EF4-FFF2-40B4-BE49-F238E27FC236}">
                <a16:creationId xmlns:a16="http://schemas.microsoft.com/office/drawing/2014/main" id="{3BC4D572-3EF7-8E46-BC37-6C2C0B735CEF}"/>
              </a:ext>
            </a:extLst>
          </p:cNvPr>
          <p:cNvSpPr>
            <a:spLocks noChangeShapeType="1"/>
          </p:cNvSpPr>
          <p:nvPr/>
        </p:nvSpPr>
        <p:spPr bwMode="auto">
          <a:xfrm flipV="1">
            <a:off x="4025775" y="256490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Tree>
    <p:extLst>
      <p:ext uri="{BB962C8B-B14F-4D97-AF65-F5344CB8AC3E}">
        <p14:creationId xmlns:p14="http://schemas.microsoft.com/office/powerpoint/2010/main" val="334605265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239</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27" name="Rectangle 1051"/>
          <p:cNvSpPr>
            <a:spLocks noChangeArrowheads="1"/>
          </p:cNvSpPr>
          <p:nvPr/>
        </p:nvSpPr>
        <p:spPr bwMode="auto">
          <a:xfrm>
            <a:off x="4058902" y="3465004"/>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8" name="Rectangle 1052"/>
          <p:cNvSpPr>
            <a:spLocks noChangeArrowheads="1"/>
          </p:cNvSpPr>
          <p:nvPr/>
        </p:nvSpPr>
        <p:spPr bwMode="auto">
          <a:xfrm>
            <a:off x="4668502" y="346500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dirty="0"/>
              <a:t> </a:t>
            </a:r>
          </a:p>
        </p:txBody>
      </p:sp>
      <p:sp>
        <p:nvSpPr>
          <p:cNvPr id="29" name="TextBox 28"/>
          <p:cNvSpPr txBox="1"/>
          <p:nvPr/>
        </p:nvSpPr>
        <p:spPr>
          <a:xfrm>
            <a:off x="4490950" y="3534544"/>
            <a:ext cx="472698" cy="461665"/>
          </a:xfrm>
          <a:prstGeom prst="rect">
            <a:avLst/>
          </a:prstGeom>
          <a:noFill/>
        </p:spPr>
        <p:txBody>
          <a:bodyPr wrap="square" rtlCol="0">
            <a:spAutoFit/>
          </a:bodyPr>
          <a:lstStyle/>
          <a:p>
            <a:r>
              <a:rPr lang="en-US" sz="2400" dirty="0"/>
              <a:t> </a:t>
            </a:r>
          </a:p>
        </p:txBody>
      </p:sp>
      <p:cxnSp>
        <p:nvCxnSpPr>
          <p:cNvPr id="26" name="Elbow Connector 25"/>
          <p:cNvCxnSpPr/>
          <p:nvPr/>
        </p:nvCxnSpPr>
        <p:spPr bwMode="auto">
          <a:xfrm>
            <a:off x="3995936" y="2564904"/>
            <a:ext cx="463406" cy="561255"/>
          </a:xfrm>
          <a:prstGeom prst="bentConnector2">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1" name="TextBox 30"/>
          <p:cNvSpPr txBox="1"/>
          <p:nvPr/>
        </p:nvSpPr>
        <p:spPr>
          <a:xfrm>
            <a:off x="3527884" y="2312876"/>
            <a:ext cx="472698" cy="461665"/>
          </a:xfrm>
          <a:prstGeom prst="rect">
            <a:avLst/>
          </a:prstGeom>
          <a:noFill/>
        </p:spPr>
        <p:txBody>
          <a:bodyPr wrap="square" rtlCol="0">
            <a:spAutoFit/>
          </a:bodyPr>
          <a:lstStyle/>
          <a:p>
            <a:r>
              <a:rPr lang="en-US" sz="2400" dirty="0"/>
              <a:t> </a:t>
            </a:r>
          </a:p>
        </p:txBody>
      </p:sp>
      <p:cxnSp>
        <p:nvCxnSpPr>
          <p:cNvPr id="32" name="Elbow Connector 31"/>
          <p:cNvCxnSpPr>
            <a:endCxn id="27" idx="1"/>
          </p:cNvCxnSpPr>
          <p:nvPr/>
        </p:nvCxnSpPr>
        <p:spPr bwMode="auto">
          <a:xfrm rot="5400000">
            <a:off x="3911023" y="3216839"/>
            <a:ext cx="700844" cy="405086"/>
          </a:xfrm>
          <a:prstGeom prst="bentConnector4">
            <a:avLst>
              <a:gd name="adj1" fmla="val 28255"/>
              <a:gd name="adj2" fmla="val 15643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Elbow Connector 32"/>
          <p:cNvCxnSpPr>
            <a:stCxn id="29" idx="3"/>
            <a:endCxn id="58" idx="1"/>
          </p:cNvCxnSpPr>
          <p:nvPr/>
        </p:nvCxnSpPr>
        <p:spPr bwMode="auto">
          <a:xfrm flipH="1" flipV="1">
            <a:off x="4940175" y="2581672"/>
            <a:ext cx="23473" cy="1183705"/>
          </a:xfrm>
          <a:prstGeom prst="bentConnector5">
            <a:avLst>
              <a:gd name="adj1" fmla="val -2200260"/>
              <a:gd name="adj2" fmla="val 44015"/>
              <a:gd name="adj3" fmla="val 1073885"/>
            </a:avLst>
          </a:prstGeom>
          <a:noFill/>
          <a:ln w="28575" cap="flat" cmpd="sng" algn="ctr">
            <a:solidFill>
              <a:srgbClr val="000208"/>
            </a:solidFill>
            <a:prstDash val="solid"/>
            <a:round/>
            <a:headEnd type="oval"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92939027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240</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6775648"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7385248"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7690048"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10729204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241</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6775648"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7385248"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7690048"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2366114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242</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6775648"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7385248"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7690048" y="348177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6" name="Elbow Connector 25"/>
          <p:cNvCxnSpPr/>
          <p:nvPr/>
        </p:nvCxnSpPr>
        <p:spPr bwMode="auto">
          <a:xfrm rot="16200000" flipH="1">
            <a:off x="7740352" y="2564904"/>
            <a:ext cx="504056" cy="504056"/>
          </a:xfrm>
          <a:prstGeom prst="bentConnector3">
            <a:avLst>
              <a:gd name="adj1" fmla="val -3751"/>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7272300" y="2312876"/>
            <a:ext cx="472698" cy="461665"/>
          </a:xfrm>
          <a:prstGeom prst="rect">
            <a:avLst/>
          </a:prstGeom>
          <a:noFill/>
        </p:spPr>
        <p:txBody>
          <a:bodyPr wrap="square" rtlCol="0">
            <a:spAutoFit/>
          </a:bodyPr>
          <a:lstStyle/>
          <a:p>
            <a:r>
              <a:rPr lang="en-US" sz="2400" dirty="0"/>
              <a:t> </a:t>
            </a:r>
          </a:p>
        </p:txBody>
      </p:sp>
      <p:cxnSp>
        <p:nvCxnSpPr>
          <p:cNvPr id="28" name="Elbow Connector 27"/>
          <p:cNvCxnSpPr>
            <a:endCxn id="22" idx="1"/>
          </p:cNvCxnSpPr>
          <p:nvPr/>
        </p:nvCxnSpPr>
        <p:spPr bwMode="auto">
          <a:xfrm rot="10800000" flipV="1">
            <a:off x="6775648" y="3068960"/>
            <a:ext cx="1468760" cy="412812"/>
          </a:xfrm>
          <a:prstGeom prst="bentConnector3">
            <a:avLst>
              <a:gd name="adj1" fmla="val 115564"/>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93581378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243</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6775648"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7385248"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4" name="Line 1053"/>
          <p:cNvSpPr>
            <a:spLocks noChangeShapeType="1"/>
          </p:cNvSpPr>
          <p:nvPr/>
        </p:nvSpPr>
        <p:spPr bwMode="auto">
          <a:xfrm flipV="1">
            <a:off x="7690048" y="3481772"/>
            <a:ext cx="9144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6" name="Elbow Connector 25"/>
          <p:cNvCxnSpPr/>
          <p:nvPr/>
        </p:nvCxnSpPr>
        <p:spPr bwMode="auto">
          <a:xfrm rot="16200000" flipH="1">
            <a:off x="7740352" y="2564904"/>
            <a:ext cx="504056" cy="504056"/>
          </a:xfrm>
          <a:prstGeom prst="bentConnector3">
            <a:avLst>
              <a:gd name="adj1" fmla="val -3751"/>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7272300" y="2312876"/>
            <a:ext cx="472698" cy="461665"/>
          </a:xfrm>
          <a:prstGeom prst="rect">
            <a:avLst/>
          </a:prstGeom>
          <a:noFill/>
        </p:spPr>
        <p:txBody>
          <a:bodyPr wrap="square" rtlCol="0">
            <a:spAutoFit/>
          </a:bodyPr>
          <a:lstStyle/>
          <a:p>
            <a:r>
              <a:rPr lang="en-US" sz="2400" dirty="0"/>
              <a:t> </a:t>
            </a:r>
          </a:p>
        </p:txBody>
      </p:sp>
      <p:cxnSp>
        <p:nvCxnSpPr>
          <p:cNvPr id="28" name="Elbow Connector 27"/>
          <p:cNvCxnSpPr>
            <a:endCxn id="22" idx="1"/>
          </p:cNvCxnSpPr>
          <p:nvPr/>
        </p:nvCxnSpPr>
        <p:spPr bwMode="auto">
          <a:xfrm rot="10800000" flipV="1">
            <a:off x="6775648" y="3068960"/>
            <a:ext cx="1468760" cy="412812"/>
          </a:xfrm>
          <a:prstGeom prst="bentConnector3">
            <a:avLst>
              <a:gd name="adj1" fmla="val 115564"/>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01300263"/>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244</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2" name="Rectangle 1051"/>
          <p:cNvSpPr>
            <a:spLocks noChangeArrowheads="1"/>
          </p:cNvSpPr>
          <p:nvPr/>
        </p:nvSpPr>
        <p:spPr bwMode="auto">
          <a:xfrm>
            <a:off x="6775648" y="3176972"/>
            <a:ext cx="609600" cy="609600"/>
          </a:xfrm>
          <a:prstGeom prst="rect">
            <a:avLst/>
          </a:prstGeom>
          <a:solidFill>
            <a:srgbClr val="ADB8FF"/>
          </a:solidFill>
          <a:ln w="28575">
            <a:solidFill>
              <a:schemeClr val="tx1"/>
            </a:solidFill>
            <a:miter lim="800000"/>
            <a:headEnd/>
            <a:tailEnd/>
          </a:ln>
          <a:effectLst/>
        </p:spPr>
        <p:txBody>
          <a:bodyPr wrap="none" anchor="ctr"/>
          <a:lstStyle/>
          <a:p>
            <a:r>
              <a:rPr lang="en-US" sz="3200" dirty="0"/>
              <a:t>E</a:t>
            </a:r>
          </a:p>
        </p:txBody>
      </p:sp>
      <p:sp>
        <p:nvSpPr>
          <p:cNvPr id="23" name="Rectangle 1052"/>
          <p:cNvSpPr>
            <a:spLocks noChangeArrowheads="1"/>
          </p:cNvSpPr>
          <p:nvPr/>
        </p:nvSpPr>
        <p:spPr bwMode="auto">
          <a:xfrm>
            <a:off x="7385248" y="3176972"/>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6" name="Elbow Connector 25"/>
          <p:cNvCxnSpPr/>
          <p:nvPr/>
        </p:nvCxnSpPr>
        <p:spPr bwMode="auto">
          <a:xfrm rot="16200000" flipH="1">
            <a:off x="7740352" y="2564904"/>
            <a:ext cx="504056" cy="504056"/>
          </a:xfrm>
          <a:prstGeom prst="bentConnector3">
            <a:avLst>
              <a:gd name="adj1" fmla="val -3751"/>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TextBox 26"/>
          <p:cNvSpPr txBox="1"/>
          <p:nvPr/>
        </p:nvSpPr>
        <p:spPr>
          <a:xfrm>
            <a:off x="7272300" y="2312876"/>
            <a:ext cx="472698" cy="461665"/>
          </a:xfrm>
          <a:prstGeom prst="rect">
            <a:avLst/>
          </a:prstGeom>
          <a:noFill/>
        </p:spPr>
        <p:txBody>
          <a:bodyPr wrap="square" rtlCol="0">
            <a:spAutoFit/>
          </a:bodyPr>
          <a:lstStyle/>
          <a:p>
            <a:r>
              <a:rPr lang="en-US" sz="2400" dirty="0"/>
              <a:t> </a:t>
            </a:r>
          </a:p>
        </p:txBody>
      </p:sp>
      <p:cxnSp>
        <p:nvCxnSpPr>
          <p:cNvPr id="28" name="Elbow Connector 27"/>
          <p:cNvCxnSpPr>
            <a:endCxn id="22" idx="1"/>
          </p:cNvCxnSpPr>
          <p:nvPr/>
        </p:nvCxnSpPr>
        <p:spPr bwMode="auto">
          <a:xfrm rot="10800000" flipV="1">
            <a:off x="6775648" y="3068960"/>
            <a:ext cx="1468760" cy="412812"/>
          </a:xfrm>
          <a:prstGeom prst="bentConnector3">
            <a:avLst>
              <a:gd name="adj1" fmla="val 115564"/>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 name="Elbow Connector 28"/>
          <p:cNvCxnSpPr>
            <a:endCxn id="116" idx="2"/>
          </p:cNvCxnSpPr>
          <p:nvPr/>
        </p:nvCxnSpPr>
        <p:spPr bwMode="auto">
          <a:xfrm flipV="1">
            <a:off x="7704348" y="2780110"/>
            <a:ext cx="1063290" cy="684894"/>
          </a:xfrm>
          <a:prstGeom prst="bentConnector2">
            <a:avLst/>
          </a:prstGeom>
          <a:noFill/>
          <a:ln w="28575" cap="flat" cmpd="sng" algn="ctr">
            <a:solidFill>
              <a:srgbClr val="000208"/>
            </a:solidFill>
            <a:prstDash val="solid"/>
            <a:round/>
            <a:headEnd type="oval"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78788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Deletion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245</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4" name="Straight Connector 3"/>
          <p:cNvCxnSpPr/>
          <p:nvPr/>
        </p:nvCxnSpPr>
        <p:spPr bwMode="auto">
          <a:xfrm>
            <a:off x="1439652" y="1988840"/>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5411070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Deletion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246</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4" name="Straight Connector 3"/>
          <p:cNvCxnSpPr/>
          <p:nvPr/>
        </p:nvCxnSpPr>
        <p:spPr bwMode="auto">
          <a:xfrm>
            <a:off x="1439652" y="1988840"/>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1451154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Deletion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head:</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247</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38"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4" name="Straight Connector 3"/>
          <p:cNvCxnSpPr/>
          <p:nvPr/>
        </p:nvCxnSpPr>
        <p:spPr bwMode="auto">
          <a:xfrm>
            <a:off x="1439652" y="1988840"/>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 name="Elbow Connector 29"/>
          <p:cNvCxnSpPr>
            <a:stCxn id="118" idx="2"/>
          </p:cNvCxnSpPr>
          <p:nvPr/>
        </p:nvCxnSpPr>
        <p:spPr bwMode="auto">
          <a:xfrm rot="16200000" flipH="1">
            <a:off x="1344154" y="1965349"/>
            <a:ext cx="798475" cy="1912801"/>
          </a:xfrm>
          <a:prstGeom prst="bentConnector2">
            <a:avLst/>
          </a:prstGeom>
          <a:noFill/>
          <a:ln w="28575" cap="flat" cmpd="sng" algn="ctr">
            <a:solidFill>
              <a:srgbClr val="000208"/>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Elbow Connector 32"/>
          <p:cNvCxnSpPr>
            <a:endCxn id="107" idx="1"/>
          </p:cNvCxnSpPr>
          <p:nvPr/>
        </p:nvCxnSpPr>
        <p:spPr bwMode="auto">
          <a:xfrm rot="5400000" flipH="1" flipV="1">
            <a:off x="2535925" y="2745539"/>
            <a:ext cx="739316" cy="411583"/>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7" name="Rectangle 3" descr="Rectangle: Click to edit Master text styles&#10;Second level&#10;Third level&#10;Fourth level&#10;Fifth level"/>
          <p:cNvSpPr txBox="1">
            <a:spLocks noChangeArrowheads="1"/>
          </p:cNvSpPr>
          <p:nvPr/>
        </p:nvSpPr>
        <p:spPr bwMode="auto">
          <a:xfrm>
            <a:off x="215516" y="4005063"/>
            <a:ext cx="8532948" cy="881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solidFill>
                  <a:srgbClr val="FF0000"/>
                </a:solidFill>
              </a:rPr>
              <a:t>ATTENTION: </a:t>
            </a:r>
            <a:r>
              <a:rPr lang="en-US" dirty="0"/>
              <a:t>Free the memory space used for element A</a:t>
            </a:r>
          </a:p>
          <a:p>
            <a:pPr lvl="1">
              <a:lnSpc>
                <a:spcPct val="90000"/>
              </a:lnSpc>
            </a:pPr>
            <a:r>
              <a:rPr lang="en-US" dirty="0"/>
              <a:t>Need to </a:t>
            </a:r>
            <a:r>
              <a:rPr lang="en-US" dirty="0">
                <a:solidFill>
                  <a:srgbClr val="FF0000"/>
                </a:solidFill>
              </a:rPr>
              <a:t>know the pointer to the element A!</a:t>
            </a:r>
          </a:p>
        </p:txBody>
      </p:sp>
      <p:sp>
        <p:nvSpPr>
          <p:cNvPr id="2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3590186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248</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7"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69"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8" name="Straight Connector 27"/>
          <p:cNvCxnSpPr/>
          <p:nvPr/>
        </p:nvCxnSpPr>
        <p:spPr bwMode="auto">
          <a:xfrm>
            <a:off x="3131840" y="1844824"/>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2325366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249</a:t>
            </a:fld>
            <a:endParaRPr lang="fr-FR" sz="1400" dirty="0">
              <a:solidFill>
                <a:srgbClr val="000208"/>
              </a:solidFill>
              <a:latin typeface="Times New Roman" charset="0"/>
            </a:endParaRPr>
          </a:p>
        </p:txBody>
      </p:sp>
      <p:grpSp>
        <p:nvGrpSpPr>
          <p:cNvPr id="51" name="Group 50"/>
          <p:cNvGrpSpPr/>
          <p:nvPr/>
        </p:nvGrpSpPr>
        <p:grpSpPr>
          <a:xfrm>
            <a:off x="266006" y="2060848"/>
            <a:ext cx="8698482" cy="825624"/>
            <a:chOff x="265275" y="2528900"/>
            <a:chExt cx="8698482" cy="825624"/>
          </a:xfrm>
        </p:grpSpPr>
        <p:sp>
          <p:nvSpPr>
            <p:cNvPr id="52"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53"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56"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59"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1"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62"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4"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65"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6"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67" name="Rectangle 3" descr="Rectangle: Click to edit Master text styles&#10;Second level&#10;Third level&#10;Fourth level&#10;Fifth level"/>
          <p:cNvSpPr txBox="1">
            <a:spLocks noChangeArrowheads="1"/>
          </p:cNvSpPr>
          <p:nvPr/>
        </p:nvSpPr>
        <p:spPr bwMode="auto">
          <a:xfrm>
            <a:off x="359532" y="1196752"/>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t>In the middle:</a:t>
            </a:r>
          </a:p>
        </p:txBody>
      </p:sp>
      <p:sp>
        <p:nvSpPr>
          <p:cNvPr id="69"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8" name="Straight Connector 27"/>
          <p:cNvCxnSpPr/>
          <p:nvPr/>
        </p:nvCxnSpPr>
        <p:spPr bwMode="auto">
          <a:xfrm>
            <a:off x="3131840" y="1844824"/>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 name="Elbow Connector 23"/>
          <p:cNvCxnSpPr>
            <a:stCxn id="29" idx="3"/>
          </p:cNvCxnSpPr>
          <p:nvPr/>
        </p:nvCxnSpPr>
        <p:spPr bwMode="auto">
          <a:xfrm>
            <a:off x="2164378" y="2579713"/>
            <a:ext cx="2376207" cy="747662"/>
          </a:xfrm>
          <a:prstGeom prst="bentConnector3">
            <a:avLst>
              <a:gd name="adj1" fmla="val 25771"/>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 name="Elbow Connector 24"/>
          <p:cNvCxnSpPr>
            <a:endCxn id="58" idx="1"/>
          </p:cNvCxnSpPr>
          <p:nvPr/>
        </p:nvCxnSpPr>
        <p:spPr bwMode="auto">
          <a:xfrm rot="5400000" flipH="1" flipV="1">
            <a:off x="4367528" y="2754730"/>
            <a:ext cx="745705" cy="399590"/>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9" name="TextBox 28"/>
          <p:cNvSpPr txBox="1"/>
          <p:nvPr/>
        </p:nvSpPr>
        <p:spPr>
          <a:xfrm>
            <a:off x="1691680" y="2348880"/>
            <a:ext cx="472698" cy="461665"/>
          </a:xfrm>
          <a:prstGeom prst="rect">
            <a:avLst/>
          </a:prstGeom>
          <a:noFill/>
        </p:spPr>
        <p:txBody>
          <a:bodyPr wrap="square" rtlCol="0">
            <a:spAutoFit/>
          </a:bodyPr>
          <a:lstStyle/>
          <a:p>
            <a:r>
              <a:rPr lang="en-US" sz="2400" dirty="0"/>
              <a:t> </a:t>
            </a:r>
          </a:p>
        </p:txBody>
      </p:sp>
      <p:sp>
        <p:nvSpPr>
          <p:cNvPr id="32" name="Rectangle 3" descr="Rectangle: Click to edit Master text styles&#10;Second level&#10;Third level&#10;Fourth level&#10;Fifth level"/>
          <p:cNvSpPr txBox="1">
            <a:spLocks noChangeArrowheads="1"/>
          </p:cNvSpPr>
          <p:nvPr/>
        </p:nvSpPr>
        <p:spPr bwMode="auto">
          <a:xfrm>
            <a:off x="215516" y="4005064"/>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solidFill>
                  <a:srgbClr val="FF0000"/>
                </a:solidFill>
              </a:rPr>
              <a:t>ATTENTION: </a:t>
            </a:r>
            <a:r>
              <a:rPr lang="en-US" dirty="0"/>
              <a:t>Free the memory space used for element B</a:t>
            </a:r>
          </a:p>
          <a:p>
            <a:pPr lvl="1">
              <a:lnSpc>
                <a:spcPct val="90000"/>
              </a:lnSpc>
            </a:pPr>
            <a:r>
              <a:rPr lang="en-US" dirty="0"/>
              <a:t>Need to </a:t>
            </a:r>
            <a:r>
              <a:rPr lang="en-US" dirty="0">
                <a:solidFill>
                  <a:srgbClr val="FF0000"/>
                </a:solidFill>
              </a:rPr>
              <a:t>know the pointer to the element B!</a:t>
            </a:r>
          </a:p>
        </p:txBody>
      </p:sp>
      <p:sp>
        <p:nvSpPr>
          <p:cNvPr id="2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56753157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250</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2" name="Line 1056"/>
            <p:cNvSpPr>
              <a:spLocks noChangeShapeType="1"/>
            </p:cNvSpPr>
            <p:nvPr/>
          </p:nvSpPr>
          <p:spPr bwMode="auto">
            <a:xfrm flipV="1">
              <a:off x="58538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 name="Line 1059"/>
            <p:cNvSpPr>
              <a:spLocks noChangeShapeType="1"/>
            </p:cNvSpPr>
            <p:nvPr/>
          </p:nvSpPr>
          <p:spPr bwMode="auto">
            <a:xfrm flipV="1">
              <a:off x="76826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sym typeface="Symbol" charset="0"/>
                </a:rPr>
                <a:t></a:t>
              </a:r>
              <a:endParaRPr lang="en-US" sz="2000" b="1"/>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6" name="Straight Connector 25"/>
          <p:cNvCxnSpPr/>
          <p:nvPr/>
        </p:nvCxnSpPr>
        <p:spPr bwMode="auto">
          <a:xfrm>
            <a:off x="6840252" y="1952836"/>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7400734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2800" dirty="0"/>
              <a:t>Operations: Insertion</a:t>
            </a:r>
          </a:p>
        </p:txBody>
      </p:sp>
      <p:sp>
        <p:nvSpPr>
          <p:cNvPr id="67587" name="Rectangle 3" descr="Rectangle: Click to edit Master text styles&#10;Second level&#10;Third level&#10;Fourth level&#10;Fifth level"/>
          <p:cNvSpPr>
            <a:spLocks noGrp="1" noChangeArrowheads="1"/>
          </p:cNvSpPr>
          <p:nvPr>
            <p:ph type="body" idx="1"/>
          </p:nvPr>
        </p:nvSpPr>
        <p:spPr>
          <a:xfrm>
            <a:off x="359532" y="1196752"/>
            <a:ext cx="8532948" cy="609600"/>
          </a:xfrm>
        </p:spPr>
        <p:txBody>
          <a:bodyPr/>
          <a:lstStyle/>
          <a:p>
            <a:pPr>
              <a:lnSpc>
                <a:spcPct val="90000"/>
              </a:lnSpc>
            </a:pPr>
            <a:r>
              <a:rPr lang="en-US" dirty="0"/>
              <a:t>At the tail:</a:t>
            </a:r>
          </a:p>
        </p:txBody>
      </p:sp>
      <p:sp>
        <p:nvSpPr>
          <p:cNvPr id="10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251</a:t>
            </a:fld>
            <a:endParaRPr lang="fr-FR" sz="1400" dirty="0">
              <a:solidFill>
                <a:srgbClr val="000208"/>
              </a:solidFill>
              <a:latin typeface="Times New Roman" charset="0"/>
            </a:endParaRPr>
          </a:p>
        </p:txBody>
      </p:sp>
      <p:grpSp>
        <p:nvGrpSpPr>
          <p:cNvPr id="2" name="Group 1"/>
          <p:cNvGrpSpPr/>
          <p:nvPr/>
        </p:nvGrpSpPr>
        <p:grpSpPr>
          <a:xfrm>
            <a:off x="266006" y="2060848"/>
            <a:ext cx="8698482" cy="825624"/>
            <a:chOff x="265275" y="2528900"/>
            <a:chExt cx="8698482" cy="825624"/>
          </a:xfrm>
        </p:grpSpPr>
        <p:sp>
          <p:nvSpPr>
            <p:cNvPr id="104" name="Rectangle 1044"/>
            <p:cNvSpPr>
              <a:spLocks noChangeArrowheads="1"/>
            </p:cNvSpPr>
            <p:nvPr/>
          </p:nvSpPr>
          <p:spPr bwMode="auto">
            <a:xfrm>
              <a:off x="12818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A</a:t>
              </a:r>
            </a:p>
          </p:txBody>
        </p:sp>
        <p:sp>
          <p:nvSpPr>
            <p:cNvPr id="105" name="Rectangle 1048"/>
            <p:cNvSpPr>
              <a:spLocks noChangeArrowheads="1"/>
            </p:cNvSpPr>
            <p:nvPr/>
          </p:nvSpPr>
          <p:spPr bwMode="auto">
            <a:xfrm>
              <a:off x="18914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 name="Line 1050"/>
            <p:cNvSpPr>
              <a:spLocks noChangeShapeType="1"/>
            </p:cNvSpPr>
            <p:nvPr/>
          </p:nvSpPr>
          <p:spPr bwMode="auto">
            <a:xfrm flipV="1">
              <a:off x="21962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07" name="Rectangle 1051"/>
            <p:cNvSpPr>
              <a:spLocks noChangeArrowheads="1"/>
            </p:cNvSpPr>
            <p:nvPr/>
          </p:nvSpPr>
          <p:spPr bwMode="auto">
            <a:xfrm>
              <a:off x="31106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B</a:t>
              </a:r>
            </a:p>
          </p:txBody>
        </p:sp>
        <p:sp>
          <p:nvSpPr>
            <p:cNvPr id="108" name="Rectangle 1052"/>
            <p:cNvSpPr>
              <a:spLocks noChangeArrowheads="1"/>
            </p:cNvSpPr>
            <p:nvPr/>
          </p:nvSpPr>
          <p:spPr bwMode="auto">
            <a:xfrm>
              <a:off x="37202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 name="Line 1053"/>
            <p:cNvSpPr>
              <a:spLocks noChangeShapeType="1"/>
            </p:cNvSpPr>
            <p:nvPr/>
          </p:nvSpPr>
          <p:spPr bwMode="auto">
            <a:xfrm flipV="1">
              <a:off x="4025044" y="304972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0" name="Rectangle 1054"/>
            <p:cNvSpPr>
              <a:spLocks noChangeArrowheads="1"/>
            </p:cNvSpPr>
            <p:nvPr/>
          </p:nvSpPr>
          <p:spPr bwMode="auto">
            <a:xfrm>
              <a:off x="49394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C</a:t>
              </a:r>
            </a:p>
          </p:txBody>
        </p:sp>
        <p:sp>
          <p:nvSpPr>
            <p:cNvPr id="111" name="Rectangle 1055"/>
            <p:cNvSpPr>
              <a:spLocks noChangeArrowheads="1"/>
            </p:cNvSpPr>
            <p:nvPr/>
          </p:nvSpPr>
          <p:spPr bwMode="auto">
            <a:xfrm>
              <a:off x="55490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3" name="Rectangle 1057"/>
            <p:cNvSpPr>
              <a:spLocks noChangeArrowheads="1"/>
            </p:cNvSpPr>
            <p:nvPr/>
          </p:nvSpPr>
          <p:spPr bwMode="auto">
            <a:xfrm>
              <a:off x="6768244" y="2744924"/>
              <a:ext cx="609600" cy="609600"/>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3200" dirty="0"/>
                <a:t>D</a:t>
              </a:r>
            </a:p>
          </p:txBody>
        </p:sp>
        <p:sp>
          <p:nvSpPr>
            <p:cNvPr id="114" name="Rectangle 1058"/>
            <p:cNvSpPr>
              <a:spLocks noChangeArrowheads="1"/>
            </p:cNvSpPr>
            <p:nvPr/>
          </p:nvSpPr>
          <p:spPr bwMode="auto">
            <a:xfrm>
              <a:off x="7377844" y="2744924"/>
              <a:ext cx="609600" cy="6096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 name="Text Box 1067"/>
            <p:cNvSpPr txBox="1">
              <a:spLocks noChangeArrowheads="1"/>
            </p:cNvSpPr>
            <p:nvPr/>
          </p:nvSpPr>
          <p:spPr bwMode="auto">
            <a:xfrm>
              <a:off x="8570057" y="285128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sp>
          <p:nvSpPr>
            <p:cNvPr id="117" name="Line 26"/>
            <p:cNvSpPr>
              <a:spLocks noChangeShapeType="1"/>
            </p:cNvSpPr>
            <p:nvPr/>
          </p:nvSpPr>
          <p:spPr bwMode="auto">
            <a:xfrm rot="5400000" flipV="1">
              <a:off x="966441" y="276416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18" name="Text Box 25"/>
            <p:cNvSpPr txBox="1">
              <a:spLocks noChangeArrowheads="1"/>
            </p:cNvSpPr>
            <p:nvPr/>
          </p:nvSpPr>
          <p:spPr bwMode="auto">
            <a:xfrm flipH="1">
              <a:off x="265275" y="2528900"/>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Head</a:t>
              </a:r>
            </a:p>
          </p:txBody>
        </p:sp>
      </p:grpSp>
      <p:sp>
        <p:nvSpPr>
          <p:cNvPr id="25" name="Text Box 25"/>
          <p:cNvSpPr txBox="1">
            <a:spLocks noChangeArrowheads="1"/>
          </p:cNvSpPr>
          <p:nvPr/>
        </p:nvSpPr>
        <p:spPr bwMode="auto">
          <a:xfrm flipH="1">
            <a:off x="7992380" y="2060848"/>
            <a:ext cx="104197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400" b="1" i="1" dirty="0">
                <a:latin typeface="Times New Roman" charset="0"/>
              </a:rPr>
              <a:t>Tail</a:t>
            </a:r>
          </a:p>
        </p:txBody>
      </p:sp>
      <p:cxnSp>
        <p:nvCxnSpPr>
          <p:cNvPr id="26" name="Straight Connector 25"/>
          <p:cNvCxnSpPr/>
          <p:nvPr/>
        </p:nvCxnSpPr>
        <p:spPr bwMode="auto">
          <a:xfrm>
            <a:off x="6840252" y="1952836"/>
            <a:ext cx="1008112" cy="1224136"/>
          </a:xfrm>
          <a:prstGeom prst="line">
            <a:avLst/>
          </a:prstGeom>
          <a:noFill/>
          <a:ln w="76200" cap="flat" cmpd="sng" algn="ctr">
            <a:solidFill>
              <a:srgbClr val="FF0000"/>
            </a:solidFill>
            <a:prstDash val="solid"/>
            <a:round/>
            <a:headEnd type="none"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 name="Elbow Connector 23"/>
          <p:cNvCxnSpPr/>
          <p:nvPr/>
        </p:nvCxnSpPr>
        <p:spPr bwMode="auto">
          <a:xfrm>
            <a:off x="5832140" y="2600908"/>
            <a:ext cx="2376207" cy="747662"/>
          </a:xfrm>
          <a:prstGeom prst="bentConnector3">
            <a:avLst>
              <a:gd name="adj1" fmla="val 25771"/>
            </a:avLst>
          </a:prstGeom>
          <a:noFill/>
          <a:ln w="28575" cap="flat" cmpd="sng" algn="ctr">
            <a:solidFill>
              <a:srgbClr val="000208"/>
            </a:solidFill>
            <a:prstDash val="solid"/>
            <a:round/>
            <a:headEnd type="oval" w="lg" len="lg"/>
            <a:tailEnd type="non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Elbow Connector 26"/>
          <p:cNvCxnSpPr/>
          <p:nvPr/>
        </p:nvCxnSpPr>
        <p:spPr bwMode="auto">
          <a:xfrm rot="5400000" flipH="1" flipV="1">
            <a:off x="8035290" y="2775925"/>
            <a:ext cx="745705" cy="399590"/>
          </a:xfrm>
          <a:prstGeom prst="bentConnector2">
            <a:avLst/>
          </a:prstGeom>
          <a:noFill/>
          <a:ln w="28575"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8" name="Rectangle 3" descr="Rectangle: Click to edit Master text styles&#10;Second level&#10;Third level&#10;Fourth level&#10;Fifth level"/>
          <p:cNvSpPr txBox="1">
            <a:spLocks noChangeArrowheads="1"/>
          </p:cNvSpPr>
          <p:nvPr/>
        </p:nvSpPr>
        <p:spPr bwMode="auto">
          <a:xfrm>
            <a:off x="215516" y="4005064"/>
            <a:ext cx="8532948"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90000"/>
              </a:lnSpc>
            </a:pPr>
            <a:r>
              <a:rPr lang="en-US" dirty="0">
                <a:solidFill>
                  <a:srgbClr val="FF0000"/>
                </a:solidFill>
              </a:rPr>
              <a:t>ATTENTION: </a:t>
            </a:r>
            <a:r>
              <a:rPr lang="en-US" dirty="0"/>
              <a:t>Free the memory space used for element D</a:t>
            </a:r>
          </a:p>
          <a:p>
            <a:pPr lvl="1">
              <a:lnSpc>
                <a:spcPct val="90000"/>
              </a:lnSpc>
            </a:pPr>
            <a:r>
              <a:rPr lang="en-US" dirty="0"/>
              <a:t>Need to </a:t>
            </a:r>
            <a:r>
              <a:rPr lang="en-US" dirty="0">
                <a:solidFill>
                  <a:srgbClr val="FF0000"/>
                </a:solidFill>
              </a:rPr>
              <a:t>know the pointer to the element C!</a:t>
            </a:r>
          </a:p>
          <a:p>
            <a:pPr>
              <a:lnSpc>
                <a:spcPct val="90000"/>
              </a:lnSpc>
            </a:pPr>
            <a:endParaRPr lang="en-US" dirty="0"/>
          </a:p>
        </p:txBody>
      </p:sp>
      <p:sp>
        <p:nvSpPr>
          <p:cNvPr id="2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8563747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sz="2800" dirty="0"/>
              <a:t>Doubly linked list</a:t>
            </a:r>
          </a:p>
        </p:txBody>
      </p:sp>
      <p:sp>
        <p:nvSpPr>
          <p:cNvPr id="48131" name="Rectangle 3" descr="Rectangle: Click to edit Master text styles&#10;Second level&#10;Third level&#10;Fourth level&#10;Fifth level"/>
          <p:cNvSpPr>
            <a:spLocks noGrp="1" noChangeArrowheads="1"/>
          </p:cNvSpPr>
          <p:nvPr>
            <p:ph type="body" idx="1"/>
          </p:nvPr>
        </p:nvSpPr>
        <p:spPr>
          <a:xfrm>
            <a:off x="395536" y="1124744"/>
            <a:ext cx="8604956" cy="2438400"/>
          </a:xfrm>
        </p:spPr>
        <p:txBody>
          <a:bodyPr/>
          <a:lstStyle/>
          <a:p>
            <a:pPr>
              <a:lnSpc>
                <a:spcPct val="90000"/>
              </a:lnSpc>
            </a:pPr>
            <a:r>
              <a:rPr lang="en-US" dirty="0"/>
              <a:t>Each element has</a:t>
            </a:r>
          </a:p>
          <a:p>
            <a:pPr lvl="1">
              <a:lnSpc>
                <a:spcPct val="90000"/>
              </a:lnSpc>
            </a:pPr>
            <a:r>
              <a:rPr lang="en-US" b="1" dirty="0">
                <a:latin typeface="Courier"/>
                <a:cs typeface="Courier"/>
              </a:rPr>
              <a:t>data</a:t>
            </a:r>
          </a:p>
          <a:p>
            <a:pPr lvl="1">
              <a:lnSpc>
                <a:spcPct val="90000"/>
              </a:lnSpc>
            </a:pPr>
            <a:r>
              <a:rPr lang="en-US" b="1" dirty="0" err="1">
                <a:latin typeface="Courier"/>
                <a:cs typeface="Courier"/>
              </a:rPr>
              <a:t>prev</a:t>
            </a:r>
            <a:r>
              <a:rPr lang="en-US" dirty="0"/>
              <a:t>: Link to the previous element</a:t>
            </a:r>
          </a:p>
          <a:p>
            <a:pPr lvl="1">
              <a:lnSpc>
                <a:spcPct val="90000"/>
              </a:lnSpc>
            </a:pPr>
            <a:r>
              <a:rPr lang="en-US" b="1" dirty="0">
                <a:latin typeface="Courier"/>
                <a:cs typeface="Courier"/>
              </a:rPr>
              <a:t>next</a:t>
            </a:r>
            <a:r>
              <a:rPr lang="en-US" dirty="0"/>
              <a:t>: Link to the next element</a:t>
            </a:r>
          </a:p>
          <a:p>
            <a:pPr lvl="1">
              <a:lnSpc>
                <a:spcPct val="90000"/>
              </a:lnSpc>
            </a:pPr>
            <a:endParaRPr lang="en-US" dirty="0"/>
          </a:p>
          <a:p>
            <a:pPr>
              <a:lnSpc>
                <a:spcPct val="90000"/>
              </a:lnSpc>
            </a:pPr>
            <a:r>
              <a:rPr lang="en-US" dirty="0"/>
              <a:t>Advantages</a:t>
            </a:r>
          </a:p>
          <a:p>
            <a:pPr lvl="1">
              <a:lnSpc>
                <a:spcPct val="90000"/>
              </a:lnSpc>
            </a:pPr>
            <a:r>
              <a:rPr lang="en-US" dirty="0"/>
              <a:t>Traversed both in forward and backward direction</a:t>
            </a:r>
          </a:p>
          <a:p>
            <a:pPr lvl="1">
              <a:lnSpc>
                <a:spcPct val="90000"/>
              </a:lnSpc>
            </a:pPr>
            <a:r>
              <a:rPr lang="en-US" dirty="0"/>
              <a:t>Delete operation is more efficient, previous pointer is given</a:t>
            </a:r>
          </a:p>
          <a:p>
            <a:pPr lvl="2">
              <a:lnSpc>
                <a:spcPct val="90000"/>
              </a:lnSpc>
            </a:pPr>
            <a:r>
              <a:rPr lang="en-US" dirty="0"/>
              <a:t>Singly list: We have to traverse the list to find it</a:t>
            </a:r>
          </a:p>
          <a:p>
            <a:pPr lvl="2">
              <a:lnSpc>
                <a:spcPct val="90000"/>
              </a:lnSpc>
            </a:pPr>
            <a:endParaRPr lang="en-US" dirty="0"/>
          </a:p>
          <a:p>
            <a:pPr>
              <a:lnSpc>
                <a:spcPct val="90000"/>
              </a:lnSpc>
            </a:pPr>
            <a:r>
              <a:rPr lang="en-US" dirty="0"/>
              <a:t>Disadvantages:</a:t>
            </a:r>
          </a:p>
          <a:p>
            <a:pPr lvl="1">
              <a:lnSpc>
                <a:spcPct val="90000"/>
              </a:lnSpc>
            </a:pPr>
            <a:r>
              <a:rPr lang="en-US" dirty="0"/>
              <a:t>Extra memory space for storing the previous pointer</a:t>
            </a:r>
          </a:p>
          <a:p>
            <a:pPr lvl="1">
              <a:lnSpc>
                <a:spcPct val="90000"/>
              </a:lnSpc>
            </a:pPr>
            <a:r>
              <a:rPr lang="en-US" dirty="0"/>
              <a:t>All operations have to maintain this extra pointer.</a:t>
            </a:r>
          </a:p>
        </p:txBody>
      </p:sp>
      <p:sp>
        <p:nvSpPr>
          <p:cNvPr id="48132" name="Rectangle 4"/>
          <p:cNvSpPr>
            <a:spLocks noChangeArrowheads="1"/>
          </p:cNvSpPr>
          <p:nvPr/>
        </p:nvSpPr>
        <p:spPr bwMode="auto">
          <a:xfrm>
            <a:off x="6359525" y="1921768"/>
            <a:ext cx="498475" cy="498475"/>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133" name="Rectangle 5"/>
          <p:cNvSpPr>
            <a:spLocks noChangeArrowheads="1"/>
          </p:cNvSpPr>
          <p:nvPr/>
        </p:nvSpPr>
        <p:spPr bwMode="auto">
          <a:xfrm>
            <a:off x="6858000" y="1921768"/>
            <a:ext cx="498475" cy="498475"/>
          </a:xfrm>
          <a:prstGeom prst="rect">
            <a:avLst/>
          </a:prstGeom>
          <a:solidFill>
            <a:srgbClr val="ADB8FF"/>
          </a:solidFill>
          <a:ln w="28575">
            <a:solidFill>
              <a:schemeClr val="tx1"/>
            </a:solidFill>
            <a:miter lim="800000"/>
            <a:headEnd/>
            <a:tailEnd/>
          </a:ln>
          <a:effectLst/>
        </p:spPr>
        <p:txBody>
          <a:bodyPr wrap="none" anchor="ctr"/>
          <a:lstStyle/>
          <a:p>
            <a:endParaRPr lang="en-US"/>
          </a:p>
        </p:txBody>
      </p:sp>
      <p:sp>
        <p:nvSpPr>
          <p:cNvPr id="48134" name="Rectangle 6"/>
          <p:cNvSpPr>
            <a:spLocks noChangeArrowheads="1"/>
          </p:cNvSpPr>
          <p:nvPr/>
        </p:nvSpPr>
        <p:spPr bwMode="auto">
          <a:xfrm>
            <a:off x="7356475" y="1921768"/>
            <a:ext cx="498475" cy="498475"/>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48138" name="AutoShape 10"/>
          <p:cNvCxnSpPr>
            <a:cxnSpLocks noChangeShapeType="1"/>
          </p:cNvCxnSpPr>
          <p:nvPr/>
        </p:nvCxnSpPr>
        <p:spPr bwMode="auto">
          <a:xfrm rot="10800000">
            <a:off x="5861050" y="1797943"/>
            <a:ext cx="747713" cy="373063"/>
          </a:xfrm>
          <a:prstGeom prst="curvedConnector3">
            <a:avLst>
              <a:gd name="adj1" fmla="val 49894"/>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8140" name="AutoShape 12"/>
          <p:cNvCxnSpPr>
            <a:cxnSpLocks noChangeShapeType="1"/>
          </p:cNvCxnSpPr>
          <p:nvPr/>
        </p:nvCxnSpPr>
        <p:spPr bwMode="auto">
          <a:xfrm flipV="1">
            <a:off x="7605713" y="1797943"/>
            <a:ext cx="747712" cy="373063"/>
          </a:xfrm>
          <a:prstGeom prst="curvedConnector3">
            <a:avLst>
              <a:gd name="adj1" fmla="val 49894"/>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8141" name="AutoShape 13"/>
          <p:cNvCxnSpPr>
            <a:cxnSpLocks noChangeShapeType="1"/>
            <a:endCxn id="48144" idx="0"/>
          </p:cNvCxnSpPr>
          <p:nvPr/>
        </p:nvCxnSpPr>
        <p:spPr bwMode="auto">
          <a:xfrm rot="16200000" flipH="1">
            <a:off x="6841728" y="2438102"/>
            <a:ext cx="539750" cy="5558"/>
          </a:xfrm>
          <a:prstGeom prst="curvedConnector3">
            <a:avLst>
              <a:gd name="adj1" fmla="val 50000"/>
            </a:avLst>
          </a:prstGeom>
          <a:noFill/>
          <a:ln w="28575">
            <a:solidFill>
              <a:schemeClr val="tx2"/>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8142" name="Text Box 14"/>
          <p:cNvSpPr txBox="1">
            <a:spLocks noChangeArrowheads="1"/>
          </p:cNvSpPr>
          <p:nvPr/>
        </p:nvSpPr>
        <p:spPr bwMode="auto">
          <a:xfrm>
            <a:off x="5714891" y="1401068"/>
            <a:ext cx="80031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latin typeface="Courier"/>
                <a:cs typeface="Courier"/>
              </a:rPr>
              <a:t>prev</a:t>
            </a:r>
          </a:p>
        </p:txBody>
      </p:sp>
      <p:sp>
        <p:nvSpPr>
          <p:cNvPr id="48143" name="Text Box 15"/>
          <p:cNvSpPr txBox="1">
            <a:spLocks noChangeArrowheads="1"/>
          </p:cNvSpPr>
          <p:nvPr/>
        </p:nvSpPr>
        <p:spPr bwMode="auto">
          <a:xfrm>
            <a:off x="7643703" y="1401068"/>
            <a:ext cx="80031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a:latin typeface="Courier"/>
                <a:cs typeface="Courier"/>
              </a:rPr>
              <a:t>next</a:t>
            </a:r>
          </a:p>
        </p:txBody>
      </p:sp>
      <p:sp>
        <p:nvSpPr>
          <p:cNvPr id="48144" name="Text Box 16"/>
          <p:cNvSpPr txBox="1">
            <a:spLocks noChangeArrowheads="1"/>
          </p:cNvSpPr>
          <p:nvPr/>
        </p:nvSpPr>
        <p:spPr bwMode="auto">
          <a:xfrm>
            <a:off x="6714222" y="2710756"/>
            <a:ext cx="80031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olidFill>
                  <a:schemeClr val="tx2"/>
                </a:solidFill>
                <a:latin typeface="Courier"/>
                <a:cs typeface="Courier"/>
              </a:rPr>
              <a:t>data</a:t>
            </a:r>
          </a:p>
        </p:txBody>
      </p:sp>
      <p:sp>
        <p:nvSpPr>
          <p:cNvPr id="48215" name="Text Box 87"/>
          <p:cNvSpPr txBox="1">
            <a:spLocks noChangeArrowheads="1"/>
          </p:cNvSpPr>
          <p:nvPr/>
        </p:nvSpPr>
        <p:spPr bwMode="auto">
          <a:xfrm>
            <a:off x="6361741" y="872716"/>
            <a:ext cx="126205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latin typeface="Courier"/>
                <a:cs typeface="Courier"/>
              </a:rPr>
              <a:t>element</a:t>
            </a:r>
          </a:p>
        </p:txBody>
      </p:sp>
      <p:sp>
        <p:nvSpPr>
          <p:cNvPr id="48216" name="AutoShape 88"/>
          <p:cNvSpPr>
            <a:spLocks noChangeArrowheads="1"/>
          </p:cNvSpPr>
          <p:nvPr/>
        </p:nvSpPr>
        <p:spPr bwMode="auto">
          <a:xfrm>
            <a:off x="5486400" y="1312168"/>
            <a:ext cx="3200400" cy="1905000"/>
          </a:xfrm>
          <a:prstGeom prst="roundRect">
            <a:avLst>
              <a:gd name="adj" fmla="val 16667"/>
            </a:avLst>
          </a:prstGeom>
          <a:noFill/>
          <a:ln w="9525">
            <a:solidFill>
              <a:schemeClr val="tx1"/>
            </a:solidFill>
            <a:prstDash val="lgDash"/>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252</a:t>
            </a:fld>
            <a:endParaRPr lang="fr-FR" sz="1400" dirty="0">
              <a:solidFill>
                <a:srgbClr val="000208"/>
              </a:solidFill>
              <a:latin typeface="Times New Roman" charset="0"/>
            </a:endParaRPr>
          </a:p>
        </p:txBody>
      </p: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74390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3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131">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1">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1">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131">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13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1328737502"/>
              </p:ext>
            </p:extLst>
          </p:nvPr>
        </p:nvGraphicFramePr>
        <p:xfrm>
          <a:off x="6660232" y="1124744"/>
          <a:ext cx="576064" cy="3708400"/>
        </p:xfrm>
        <a:graphic>
          <a:graphicData uri="http://schemas.openxmlformats.org/drawingml/2006/table">
            <a:tbl>
              <a:tblPr firstRow="1" bandRow="1">
                <a:tableStyleId>{8799B23B-EC83-4686-B30A-512413B5E67A}</a:tableStyleId>
              </a:tblPr>
              <a:tblGrid>
                <a:gridCol w="576064">
                  <a:extLst>
                    <a:ext uri="{9D8B030D-6E8A-4147-A177-3AD203B41FA5}">
                      <a16:colId xmlns:a16="http://schemas.microsoft.com/office/drawing/2014/main" val="20000"/>
                    </a:ext>
                  </a:extLst>
                </a:gridCol>
              </a:tblGrid>
              <a:tr h="370840">
                <a:tc>
                  <a:txBody>
                    <a:bodyPr/>
                    <a:lstStyle/>
                    <a:p>
                      <a:pPr algn="ctr"/>
                      <a:r>
                        <a:rPr lang="en-US" b="0" dirty="0"/>
                        <a:t>0</a:t>
                      </a:r>
                      <a:endParaRPr lang="en-US" b="0" dirty="0">
                        <a:solidFill>
                          <a:schemeClr val="tx1"/>
                        </a:solidFill>
                      </a:endParaRPr>
                    </a:p>
                  </a:txBody>
                  <a:tcPr/>
                </a:tc>
                <a:extLst>
                  <a:ext uri="{0D108BD9-81ED-4DB2-BD59-A6C34878D82A}">
                    <a16:rowId xmlns:a16="http://schemas.microsoft.com/office/drawing/2014/main" val="10000"/>
                  </a:ext>
                </a:extLst>
              </a:tr>
              <a:tr h="370840">
                <a:tc>
                  <a:txBody>
                    <a:bodyPr/>
                    <a:lstStyle/>
                    <a:p>
                      <a:pPr algn="ctr"/>
                      <a:r>
                        <a:rPr lang="en-US" dirty="0"/>
                        <a:t>1</a:t>
                      </a:r>
                    </a:p>
                  </a:txBody>
                  <a:tcPr/>
                </a:tc>
                <a:extLst>
                  <a:ext uri="{0D108BD9-81ED-4DB2-BD59-A6C34878D82A}">
                    <a16:rowId xmlns:a16="http://schemas.microsoft.com/office/drawing/2014/main" val="10001"/>
                  </a:ext>
                </a:extLst>
              </a:tr>
              <a:tr h="370840">
                <a:tc>
                  <a:txBody>
                    <a:bodyPr/>
                    <a:lstStyle/>
                    <a:p>
                      <a:pPr algn="ctr"/>
                      <a:r>
                        <a:rPr lang="en-US" dirty="0"/>
                        <a:t>2</a:t>
                      </a:r>
                    </a:p>
                  </a:txBody>
                  <a:tcPr/>
                </a:tc>
                <a:extLst>
                  <a:ext uri="{0D108BD9-81ED-4DB2-BD59-A6C34878D82A}">
                    <a16:rowId xmlns:a16="http://schemas.microsoft.com/office/drawing/2014/main" val="10002"/>
                  </a:ext>
                </a:extLst>
              </a:tr>
              <a:tr h="370840">
                <a:tc>
                  <a:txBody>
                    <a:bodyPr/>
                    <a:lstStyle/>
                    <a:p>
                      <a:pPr algn="ctr"/>
                      <a:r>
                        <a:rPr lang="en-US" dirty="0"/>
                        <a:t>3</a:t>
                      </a:r>
                    </a:p>
                  </a:txBody>
                  <a:tcPr/>
                </a:tc>
                <a:extLst>
                  <a:ext uri="{0D108BD9-81ED-4DB2-BD59-A6C34878D82A}">
                    <a16:rowId xmlns:a16="http://schemas.microsoft.com/office/drawing/2014/main" val="10003"/>
                  </a:ext>
                </a:extLst>
              </a:tr>
              <a:tr h="370840">
                <a:tc>
                  <a:txBody>
                    <a:bodyPr/>
                    <a:lstStyle/>
                    <a:p>
                      <a:pPr algn="ctr"/>
                      <a:r>
                        <a:rPr lang="en-US" dirty="0"/>
                        <a:t>4</a:t>
                      </a:r>
                    </a:p>
                  </a:txBody>
                  <a:tcPr/>
                </a:tc>
                <a:extLst>
                  <a:ext uri="{0D108BD9-81ED-4DB2-BD59-A6C34878D82A}">
                    <a16:rowId xmlns:a16="http://schemas.microsoft.com/office/drawing/2014/main" val="10004"/>
                  </a:ext>
                </a:extLst>
              </a:tr>
              <a:tr h="370840">
                <a:tc>
                  <a:txBody>
                    <a:bodyPr/>
                    <a:lstStyle/>
                    <a:p>
                      <a:pPr algn="ctr"/>
                      <a:r>
                        <a:rPr lang="en-US" dirty="0"/>
                        <a:t>5</a:t>
                      </a:r>
                    </a:p>
                  </a:txBody>
                  <a:tcPr/>
                </a:tc>
                <a:extLst>
                  <a:ext uri="{0D108BD9-81ED-4DB2-BD59-A6C34878D82A}">
                    <a16:rowId xmlns:a16="http://schemas.microsoft.com/office/drawing/2014/main" val="10005"/>
                  </a:ext>
                </a:extLst>
              </a:tr>
              <a:tr h="370840">
                <a:tc>
                  <a:txBody>
                    <a:bodyPr/>
                    <a:lstStyle/>
                    <a:p>
                      <a:pPr algn="ctr"/>
                      <a:r>
                        <a:rPr lang="en-US" dirty="0"/>
                        <a:t>6</a:t>
                      </a:r>
                    </a:p>
                  </a:txBody>
                  <a:tcPr/>
                </a:tc>
                <a:extLst>
                  <a:ext uri="{0D108BD9-81ED-4DB2-BD59-A6C34878D82A}">
                    <a16:rowId xmlns:a16="http://schemas.microsoft.com/office/drawing/2014/main" val="10006"/>
                  </a:ext>
                </a:extLst>
              </a:tr>
              <a:tr h="370840">
                <a:tc>
                  <a:txBody>
                    <a:bodyPr/>
                    <a:lstStyle/>
                    <a:p>
                      <a:pPr algn="ctr"/>
                      <a:r>
                        <a:rPr lang="en-US" dirty="0"/>
                        <a:t>7</a:t>
                      </a:r>
                    </a:p>
                  </a:txBody>
                  <a:tcPr/>
                </a:tc>
                <a:extLst>
                  <a:ext uri="{0D108BD9-81ED-4DB2-BD59-A6C34878D82A}">
                    <a16:rowId xmlns:a16="http://schemas.microsoft.com/office/drawing/2014/main" val="10007"/>
                  </a:ext>
                </a:extLst>
              </a:tr>
              <a:tr h="370840">
                <a:tc>
                  <a:txBody>
                    <a:bodyPr/>
                    <a:lstStyle/>
                    <a:p>
                      <a:pPr algn="ctr"/>
                      <a:r>
                        <a:rPr lang="en-US" dirty="0"/>
                        <a:t>8</a:t>
                      </a:r>
                    </a:p>
                  </a:txBody>
                  <a:tcPr/>
                </a:tc>
                <a:extLst>
                  <a:ext uri="{0D108BD9-81ED-4DB2-BD59-A6C34878D82A}">
                    <a16:rowId xmlns:a16="http://schemas.microsoft.com/office/drawing/2014/main" val="10008"/>
                  </a:ext>
                </a:extLst>
              </a:tr>
              <a:tr h="370840">
                <a:tc>
                  <a:txBody>
                    <a:bodyPr/>
                    <a:lstStyle/>
                    <a:p>
                      <a:pPr algn="ctr"/>
                      <a:r>
                        <a:rPr lang="en-US" dirty="0"/>
                        <a:t>9</a:t>
                      </a:r>
                    </a:p>
                  </a:txBody>
                  <a:tcPr/>
                </a:tc>
                <a:extLst>
                  <a:ext uri="{0D108BD9-81ED-4DB2-BD59-A6C34878D82A}">
                    <a16:rowId xmlns:a16="http://schemas.microsoft.com/office/drawing/2014/main" val="10009"/>
                  </a:ext>
                </a:extLst>
              </a:tr>
            </a:tbl>
          </a:graphicData>
        </a:graphic>
      </p:graphicFrame>
      <p:sp>
        <p:nvSpPr>
          <p:cNvPr id="3074" name="Rectangle 2"/>
          <p:cNvSpPr>
            <a:spLocks noGrp="1" noChangeArrowheads="1"/>
          </p:cNvSpPr>
          <p:nvPr>
            <p:ph type="body" idx="1"/>
          </p:nvPr>
        </p:nvSpPr>
        <p:spPr>
          <a:xfrm>
            <a:off x="215516" y="980728"/>
            <a:ext cx="5976664" cy="4114800"/>
          </a:xfrm>
          <a:ln/>
        </p:spPr>
        <p:txBody>
          <a:bodyPr/>
          <a:lstStyle/>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An array of a fixed size </a:t>
            </a:r>
            <a:r>
              <a:rPr lang="en-GB" sz="2400" b="1" dirty="0" err="1">
                <a:latin typeface="Courier"/>
                <a:cs typeface="Courier"/>
              </a:rPr>
              <a:t>hsize</a:t>
            </a:r>
            <a:endParaRPr lang="en-GB" sz="2400" b="1" dirty="0">
              <a:latin typeface="Courier"/>
              <a:cs typeface="Courier"/>
            </a:endParaRPr>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An element is associated with an integer value called </a:t>
            </a:r>
            <a:r>
              <a:rPr lang="en-GB" sz="2400" b="1" dirty="0">
                <a:latin typeface="Courier"/>
                <a:cs typeface="Courier"/>
              </a:rPr>
              <a:t>hash value</a:t>
            </a:r>
            <a:endParaRPr lang="en-GB" sz="2400" dirty="0"/>
          </a:p>
          <a:p>
            <a:pPr lvl="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number within the range 0 to </a:t>
            </a:r>
            <a:r>
              <a:rPr lang="en-GB" sz="2000" b="1" dirty="0" err="1">
                <a:latin typeface="Courier"/>
                <a:cs typeface="Courier"/>
              </a:rPr>
              <a:t>hsize</a:t>
            </a:r>
            <a:r>
              <a:rPr lang="en-GB" sz="2000" b="1" dirty="0">
                <a:latin typeface="Courier"/>
                <a:cs typeface="Courier"/>
              </a:rPr>
              <a:t> </a:t>
            </a:r>
            <a:r>
              <a:rPr lang="en-GB" sz="2000" dirty="0"/>
              <a:t>– 1</a:t>
            </a:r>
          </a:p>
          <a:p>
            <a:pPr lvl="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depicts in which cell of the hash table the element will be stored (</a:t>
            </a:r>
            <a:r>
              <a:rPr lang="en-GB" sz="2000" b="1" dirty="0">
                <a:latin typeface="Courier"/>
                <a:cs typeface="Courier"/>
              </a:rPr>
              <a:t>key)</a:t>
            </a:r>
            <a:endParaRPr lang="en-GB" sz="2000" dirty="0"/>
          </a:p>
          <a:p>
            <a:pPr lvl="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calculated using a Hash Function</a:t>
            </a:r>
          </a:p>
          <a:p>
            <a:pPr lvl="2">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Maps a data set of arbitrary size to a data set of fixed size</a:t>
            </a:r>
          </a:p>
          <a:p>
            <a:pPr lvl="2">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unique value</a:t>
            </a:r>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Fast access of the data:</a:t>
            </a:r>
          </a:p>
          <a:p>
            <a:pPr lvl="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Search in the index indicated by the </a:t>
            </a:r>
            <a:r>
              <a:rPr lang="en-GB" sz="2000" b="1" dirty="0">
                <a:latin typeface="Courier"/>
                <a:cs typeface="Courier"/>
              </a:rPr>
              <a:t>key</a:t>
            </a:r>
            <a:endParaRPr lang="en-GB" sz="2000" dirty="0"/>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lvl="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p>
        </p:txBody>
      </p:sp>
      <p:sp>
        <p:nvSpPr>
          <p:cNvPr id="5" name="Titre 1"/>
          <p:cNvSpPr txBox="1">
            <a:spLocks/>
          </p:cNvSpPr>
          <p:nvPr/>
        </p:nvSpPr>
        <p:spPr bwMode="auto">
          <a:xfrm>
            <a:off x="304800" y="1526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a:t>
            </a: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253</a:t>
            </a:fld>
            <a:endParaRPr lang="fr-FR" sz="1400">
              <a:solidFill>
                <a:srgbClr val="000208"/>
              </a:solidFill>
              <a:latin typeface="Times New Roman"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192544194"/>
              </p:ext>
            </p:extLst>
          </p:nvPr>
        </p:nvGraphicFramePr>
        <p:xfrm>
          <a:off x="7128284" y="1124744"/>
          <a:ext cx="1548172" cy="3708400"/>
        </p:xfrm>
        <a:graphic>
          <a:graphicData uri="http://schemas.openxmlformats.org/drawingml/2006/table">
            <a:tbl>
              <a:tblPr firstRow="1" bandRow="1">
                <a:tableStyleId>{17292A2E-F333-43FB-9621-5CBBE7FDCDCB}</a:tableStyleId>
              </a:tblPr>
              <a:tblGrid>
                <a:gridCol w="1548172">
                  <a:extLst>
                    <a:ext uri="{9D8B030D-6E8A-4147-A177-3AD203B41FA5}">
                      <a16:colId xmlns:a16="http://schemas.microsoft.com/office/drawing/2014/main" val="20000"/>
                    </a:ext>
                  </a:extLst>
                </a:gridCol>
              </a:tblGrid>
              <a:tr h="370840">
                <a:tc>
                  <a:txBody>
                    <a:bodyPr/>
                    <a:lstStyle/>
                    <a:p>
                      <a:pPr algn="ctr"/>
                      <a:endParaRPr lang="en-US" dirty="0"/>
                    </a:p>
                  </a:txBody>
                  <a:tcPr>
                    <a:solidFill>
                      <a:schemeClr val="bg1"/>
                    </a:solidFill>
                  </a:tcPr>
                </a:tc>
                <a:extLst>
                  <a:ext uri="{0D108BD9-81ED-4DB2-BD59-A6C34878D82A}">
                    <a16:rowId xmlns:a16="http://schemas.microsoft.com/office/drawing/2014/main" val="10000"/>
                  </a:ext>
                </a:extLst>
              </a:tr>
              <a:tr h="370840">
                <a:tc>
                  <a:txBody>
                    <a:bodyPr/>
                    <a:lstStyle/>
                    <a:p>
                      <a:pPr algn="ctr"/>
                      <a:endParaRPr lang="en-US"/>
                    </a:p>
                  </a:txBody>
                  <a:tcPr/>
                </a:tc>
                <a:extLst>
                  <a:ext uri="{0D108BD9-81ED-4DB2-BD59-A6C34878D82A}">
                    <a16:rowId xmlns:a16="http://schemas.microsoft.com/office/drawing/2014/main" val="10001"/>
                  </a:ext>
                </a:extLst>
              </a:tr>
              <a:tr h="370840">
                <a:tc>
                  <a:txBody>
                    <a:bodyPr/>
                    <a:lstStyle/>
                    <a:p>
                      <a:pPr algn="ctr"/>
                      <a:r>
                        <a:rPr lang="en-US" dirty="0"/>
                        <a:t>John</a:t>
                      </a:r>
                    </a:p>
                  </a:txBody>
                  <a:tcPr/>
                </a:tc>
                <a:extLst>
                  <a:ext uri="{0D108BD9-81ED-4DB2-BD59-A6C34878D82A}">
                    <a16:rowId xmlns:a16="http://schemas.microsoft.com/office/drawing/2014/main" val="10002"/>
                  </a:ext>
                </a:extLst>
              </a:tr>
              <a:tr h="370840">
                <a:tc>
                  <a:txBody>
                    <a:bodyPr/>
                    <a:lstStyle/>
                    <a:p>
                      <a:pPr algn="ctr"/>
                      <a:r>
                        <a:rPr lang="en-US" dirty="0"/>
                        <a:t>Mary</a:t>
                      </a:r>
                    </a:p>
                  </a:txBody>
                  <a:tcPr/>
                </a:tc>
                <a:extLst>
                  <a:ext uri="{0D108BD9-81ED-4DB2-BD59-A6C34878D82A}">
                    <a16:rowId xmlns:a16="http://schemas.microsoft.com/office/drawing/2014/main" val="10003"/>
                  </a:ext>
                </a:extLst>
              </a:tr>
              <a:tr h="370840">
                <a:tc>
                  <a:txBody>
                    <a:bodyPr/>
                    <a:lstStyle/>
                    <a:p>
                      <a:pPr algn="ctr"/>
                      <a:endParaRPr lang="en-US"/>
                    </a:p>
                  </a:txBody>
                  <a:tcPr/>
                </a:tc>
                <a:extLst>
                  <a:ext uri="{0D108BD9-81ED-4DB2-BD59-A6C34878D82A}">
                    <a16:rowId xmlns:a16="http://schemas.microsoft.com/office/drawing/2014/main" val="10004"/>
                  </a:ext>
                </a:extLst>
              </a:tr>
              <a:tr h="370840">
                <a:tc>
                  <a:txBody>
                    <a:bodyPr/>
                    <a:lstStyle/>
                    <a:p>
                      <a:pPr algn="ctr"/>
                      <a:endParaRPr lang="en-US"/>
                    </a:p>
                  </a:txBody>
                  <a:tcPr/>
                </a:tc>
                <a:extLst>
                  <a:ext uri="{0D108BD9-81ED-4DB2-BD59-A6C34878D82A}">
                    <a16:rowId xmlns:a16="http://schemas.microsoft.com/office/drawing/2014/main" val="10005"/>
                  </a:ext>
                </a:extLst>
              </a:tr>
              <a:tr h="370840">
                <a:tc>
                  <a:txBody>
                    <a:bodyPr/>
                    <a:lstStyle/>
                    <a:p>
                      <a:pPr algn="ctr"/>
                      <a:r>
                        <a:rPr lang="en-US" dirty="0"/>
                        <a:t>Helen</a:t>
                      </a:r>
                    </a:p>
                  </a:txBody>
                  <a:tcPr/>
                </a:tc>
                <a:extLst>
                  <a:ext uri="{0D108BD9-81ED-4DB2-BD59-A6C34878D82A}">
                    <a16:rowId xmlns:a16="http://schemas.microsoft.com/office/drawing/2014/main" val="10006"/>
                  </a:ext>
                </a:extLst>
              </a:tr>
              <a:tr h="370840">
                <a:tc>
                  <a:txBody>
                    <a:bodyPr/>
                    <a:lstStyle/>
                    <a:p>
                      <a:pPr algn="ctr"/>
                      <a:endParaRPr lang="en-US"/>
                    </a:p>
                  </a:txBody>
                  <a:tcPr/>
                </a:tc>
                <a:extLst>
                  <a:ext uri="{0D108BD9-81ED-4DB2-BD59-A6C34878D82A}">
                    <a16:rowId xmlns:a16="http://schemas.microsoft.com/office/drawing/2014/main" val="10007"/>
                  </a:ext>
                </a:extLst>
              </a:tr>
              <a:tr h="370840">
                <a:tc>
                  <a:txBody>
                    <a:bodyPr/>
                    <a:lstStyle/>
                    <a:p>
                      <a:pPr algn="ctr"/>
                      <a:r>
                        <a:rPr lang="en-US" dirty="0"/>
                        <a:t>Nick</a:t>
                      </a:r>
                    </a:p>
                  </a:txBody>
                  <a:tcPr/>
                </a:tc>
                <a:extLst>
                  <a:ext uri="{0D108BD9-81ED-4DB2-BD59-A6C34878D82A}">
                    <a16:rowId xmlns:a16="http://schemas.microsoft.com/office/drawing/2014/main" val="10008"/>
                  </a:ext>
                </a:extLst>
              </a:tr>
              <a:tr h="370840">
                <a:tc>
                  <a:txBody>
                    <a:bodyPr/>
                    <a:lstStyle/>
                    <a:p>
                      <a:pPr algn="ctr"/>
                      <a:endParaRPr lang="en-US" dirty="0"/>
                    </a:p>
                  </a:txBody>
                  <a:tcPr/>
                </a:tc>
                <a:extLst>
                  <a:ext uri="{0D108BD9-81ED-4DB2-BD59-A6C34878D82A}">
                    <a16:rowId xmlns:a16="http://schemas.microsoft.com/office/drawing/2014/main" val="10009"/>
                  </a:ext>
                </a:extLst>
              </a:tr>
            </a:tbl>
          </a:graphicData>
        </a:graphic>
      </p:graphicFrame>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6234997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215516" y="980728"/>
            <a:ext cx="8568952" cy="4114800"/>
          </a:xfrm>
          <a:ln/>
        </p:spPr>
        <p:txBody>
          <a:bodyPr/>
          <a:lstStyle/>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Caches: Data tables used to speed up the data</a:t>
            </a:r>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Object representation: Dynamic languages (Perl, Python, JavaScript) use hash tables to implement objects</a:t>
            </a:r>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Algorithms to make computing faster</a:t>
            </a:r>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Database indexing: In disk-based data tables and database indexes</a:t>
            </a:r>
          </a:p>
        </p:txBody>
      </p:sp>
      <p:sp>
        <p:nvSpPr>
          <p:cNvPr id="5" name="Titre 1"/>
          <p:cNvSpPr txBox="1">
            <a:spLocks/>
          </p:cNvSpPr>
          <p:nvPr/>
        </p:nvSpPr>
        <p:spPr bwMode="auto">
          <a:xfrm>
            <a:off x="304800" y="1526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Some</a:t>
            </a:r>
            <a:r>
              <a:rPr lang="fr-FR" sz="2800" dirty="0">
                <a:latin typeface="Arial" charset="0"/>
                <a:cs typeface="ＭＳ Ｐゴシック" charset="0"/>
              </a:rPr>
              <a:t> of </a:t>
            </a:r>
            <a:r>
              <a:rPr lang="fr-FR" sz="2800" dirty="0" err="1">
                <a:latin typeface="Arial" charset="0"/>
                <a:cs typeface="ＭＳ Ｐゴシック" charset="0"/>
              </a:rPr>
              <a:t>its</a:t>
            </a:r>
            <a:r>
              <a:rPr lang="fr-FR" sz="2800" dirty="0">
                <a:latin typeface="Arial" charset="0"/>
                <a:cs typeface="ＭＳ Ｐゴシック" charset="0"/>
              </a:rPr>
              <a:t> use</a:t>
            </a: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254</a:t>
            </a:fld>
            <a:endParaRPr lang="fr-FR" sz="140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53431399"/>
      </p:ext>
    </p:extLst>
  </p:cSld>
  <p:clrMapOvr>
    <a:masterClrMapping/>
  </p:clrMapOvr>
  <p:transition spd="me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95536" y="872716"/>
            <a:ext cx="8532948" cy="2782652"/>
          </a:xfrm>
          <a:ln/>
        </p:spPr>
        <p:txBody>
          <a:bodyPr/>
          <a:lstStyle/>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Integers: </a:t>
            </a: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Return </a:t>
            </a:r>
            <a:r>
              <a:rPr lang="en-GB" sz="2000" b="1" dirty="0">
                <a:latin typeface="Courier"/>
                <a:cs typeface="Courier"/>
              </a:rPr>
              <a:t>key MOD </a:t>
            </a:r>
            <a:r>
              <a:rPr lang="en-GB" sz="2000" b="1" dirty="0" err="1">
                <a:latin typeface="Courier"/>
                <a:cs typeface="Courier"/>
              </a:rPr>
              <a:t>hsize</a:t>
            </a:r>
            <a:endParaRPr lang="en-GB" sz="2000" dirty="0"/>
          </a:p>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Strings: </a:t>
            </a: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We add up the ASCII values of the chars, and return the modulo operation</a:t>
            </a:r>
          </a:p>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marL="0" indent="0">
              <a:lnSpc>
                <a:spcPct val="90000"/>
              </a:lnSpc>
              <a:spcBef>
                <a:spcPts val="6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a:t>
            </a:r>
            <a:r>
              <a:rPr lang="fr-FR" sz="2800" dirty="0" err="1">
                <a:latin typeface="Arial" charset="0"/>
                <a:cs typeface="ＭＳ Ｐゴシック" charset="0"/>
              </a:rPr>
              <a:t>Function</a:t>
            </a:r>
            <a:r>
              <a:rPr lang="fr-FR" sz="2800" dirty="0">
                <a:latin typeface="Arial" charset="0"/>
                <a:cs typeface="ＭＳ Ｐゴシック" charset="0"/>
              </a:rPr>
              <a:t>: Simple </a:t>
            </a:r>
            <a:r>
              <a:rPr lang="fr-FR" sz="2800" dirty="0" err="1">
                <a:latin typeface="Arial" charset="0"/>
                <a:cs typeface="ＭＳ Ｐゴシック" charset="0"/>
              </a:rPr>
              <a:t>examples</a:t>
            </a:r>
            <a:endParaRPr lang="fr-FR" sz="2800" dirty="0">
              <a:latin typeface="Arial" charset="0"/>
              <a:cs typeface="ＭＳ Ｐゴシック" charset="0"/>
            </a:endParaRPr>
          </a:p>
        </p:txBody>
      </p:sp>
      <p:sp>
        <p:nvSpPr>
          <p:cNvPr id="6" name="Text Box 3"/>
          <p:cNvSpPr txBox="1">
            <a:spLocks noChangeArrowheads="1"/>
          </p:cNvSpPr>
          <p:nvPr/>
        </p:nvSpPr>
        <p:spPr bwMode="auto">
          <a:xfrm>
            <a:off x="1331640" y="3573016"/>
            <a:ext cx="7200800" cy="21950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ea typeface="ＭＳ Ｐゴシック" charset="0"/>
              </a:defRPr>
            </a:lvl9pPr>
          </a:lstStyle>
          <a:p>
            <a:pPr algn="l" eaLnBrk="1" hangingPunct="1">
              <a:lnSpc>
                <a:spcPct val="70000"/>
              </a:lnSpc>
              <a:spcBef>
                <a:spcPts val="750"/>
              </a:spcBef>
              <a:buClr>
                <a:srgbClr val="000000"/>
              </a:buClr>
              <a:buSzPct val="100000"/>
              <a:buFont typeface="Times New Roman" charset="0"/>
              <a:buNone/>
            </a:pPr>
            <a:r>
              <a:rPr lang="en-GB" sz="2000" b="1" dirty="0" err="1">
                <a:latin typeface="Courier"/>
                <a:cs typeface="Courier"/>
              </a:rPr>
              <a:t>int</a:t>
            </a:r>
            <a:r>
              <a:rPr lang="en-GB" sz="2000" b="1" dirty="0">
                <a:latin typeface="Courier"/>
                <a:cs typeface="Courier"/>
              </a:rPr>
              <a:t> hash( char *key, </a:t>
            </a:r>
            <a:r>
              <a:rPr lang="en-GB" sz="2000" b="1" dirty="0" err="1">
                <a:latin typeface="Courier"/>
                <a:cs typeface="Courier"/>
              </a:rPr>
              <a:t>int</a:t>
            </a:r>
            <a:r>
              <a:rPr lang="en-GB" sz="2000" b="1" dirty="0">
                <a:latin typeface="Courier"/>
                <a:cs typeface="Courier"/>
              </a:rPr>
              <a:t> </a:t>
            </a:r>
            <a:r>
              <a:rPr lang="en-GB" sz="2000" b="1" dirty="0" err="1">
                <a:latin typeface="Courier"/>
                <a:cs typeface="Courier"/>
              </a:rPr>
              <a:t>hsize</a:t>
            </a:r>
            <a:r>
              <a:rPr lang="en-GB" sz="2000" b="1" dirty="0">
                <a:latin typeface="Courier"/>
                <a:cs typeface="Courier"/>
              </a:rPr>
              <a:t> )</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	</a:t>
            </a:r>
            <a:r>
              <a:rPr lang="en-GB" sz="2000" b="1" dirty="0" err="1">
                <a:latin typeface="Courier"/>
                <a:cs typeface="Courier"/>
              </a:rPr>
              <a:t>int</a:t>
            </a:r>
            <a:r>
              <a:rPr lang="en-GB" sz="2000" b="1" dirty="0">
                <a:latin typeface="Courier"/>
                <a:cs typeface="Courier"/>
              </a:rPr>
              <a:t> </a:t>
            </a:r>
            <a:r>
              <a:rPr lang="en-GB" sz="2000" b="1" dirty="0" err="1">
                <a:latin typeface="Courier"/>
                <a:cs typeface="Courier"/>
              </a:rPr>
              <a:t>hash_val</a:t>
            </a:r>
            <a:r>
              <a:rPr lang="en-GB" sz="2000" b="1" dirty="0">
                <a:latin typeface="Courier"/>
                <a:cs typeface="Courier"/>
              </a:rPr>
              <a:t> = 0;</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	while( *key != '\0' )</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            </a:t>
            </a:r>
            <a:r>
              <a:rPr lang="en-GB" sz="2000" b="1" dirty="0" err="1">
                <a:latin typeface="Courier"/>
                <a:cs typeface="Courier"/>
              </a:rPr>
              <a:t>hash_val</a:t>
            </a:r>
            <a:r>
              <a:rPr lang="en-GB" sz="2000" b="1" dirty="0">
                <a:latin typeface="Courier"/>
                <a:cs typeface="Courier"/>
              </a:rPr>
              <a:t> += *key++;</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      return( </a:t>
            </a:r>
            <a:r>
              <a:rPr lang="en-GB" sz="2000" b="1" dirty="0" err="1">
                <a:latin typeface="Courier"/>
                <a:cs typeface="Courier"/>
              </a:rPr>
              <a:t>hash_val</a:t>
            </a:r>
            <a:r>
              <a:rPr lang="en-GB" sz="2000" b="1" dirty="0">
                <a:latin typeface="Courier"/>
                <a:cs typeface="Courier"/>
              </a:rPr>
              <a:t> % </a:t>
            </a:r>
            <a:r>
              <a:rPr lang="en-GB" sz="2000" b="1" dirty="0" err="1">
                <a:latin typeface="Courier"/>
                <a:cs typeface="Courier"/>
              </a:rPr>
              <a:t>hsize</a:t>
            </a:r>
            <a:r>
              <a:rPr lang="en-GB" sz="2000" b="1" dirty="0">
                <a:latin typeface="Courier"/>
                <a:cs typeface="Courier"/>
              </a:rPr>
              <a:t> );</a:t>
            </a:r>
          </a:p>
          <a:p>
            <a:pPr algn="l" eaLnBrk="1" hangingPunct="1">
              <a:lnSpc>
                <a:spcPct val="70000"/>
              </a:lnSpc>
              <a:spcBef>
                <a:spcPts val="750"/>
              </a:spcBef>
              <a:buClr>
                <a:srgbClr val="000000"/>
              </a:buClr>
              <a:buSzPct val="100000"/>
              <a:buFont typeface="Times New Roman" charset="0"/>
              <a:buNone/>
            </a:pPr>
            <a:r>
              <a:rPr lang="en-GB" sz="2000" b="1" dirty="0">
                <a:latin typeface="Courier"/>
                <a:cs typeface="Courier"/>
              </a:rPr>
              <a:t>}</a:t>
            </a: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255</a:t>
            </a:fld>
            <a:endParaRPr lang="fr-FR" sz="1400">
              <a:solidFill>
                <a:srgbClr val="000208"/>
              </a:solidFill>
              <a:latin typeface="Times New Roman" charset="0"/>
            </a:endParaRP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8047762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p:cNvGraphicFramePr>
            <a:graphicFrameLocks noGrp="1"/>
          </p:cNvGraphicFramePr>
          <p:nvPr>
            <p:extLst>
              <p:ext uri="{D42A27DB-BD31-4B8C-83A1-F6EECF244321}">
                <p14:modId xmlns:p14="http://schemas.microsoft.com/office/powerpoint/2010/main" val="570263884"/>
              </p:ext>
            </p:extLst>
          </p:nvPr>
        </p:nvGraphicFramePr>
        <p:xfrm>
          <a:off x="5868144" y="1520782"/>
          <a:ext cx="576064" cy="4536510"/>
        </p:xfrm>
        <a:graphic>
          <a:graphicData uri="http://schemas.openxmlformats.org/drawingml/2006/table">
            <a:tbl>
              <a:tblPr firstRow="1" bandRow="1">
                <a:tableStyleId>{8799B23B-EC83-4686-B30A-512413B5E67A}</a:tableStyleId>
              </a:tblPr>
              <a:tblGrid>
                <a:gridCol w="576064">
                  <a:extLst>
                    <a:ext uri="{9D8B030D-6E8A-4147-A177-3AD203B41FA5}">
                      <a16:colId xmlns:a16="http://schemas.microsoft.com/office/drawing/2014/main" val="20000"/>
                    </a:ext>
                  </a:extLst>
                </a:gridCol>
              </a:tblGrid>
              <a:tr h="453651">
                <a:tc>
                  <a:txBody>
                    <a:bodyPr/>
                    <a:lstStyle/>
                    <a:p>
                      <a:pPr algn="ctr"/>
                      <a:r>
                        <a:rPr lang="en-US" b="0" dirty="0"/>
                        <a:t>0</a:t>
                      </a:r>
                      <a:endParaRPr lang="en-US" b="0" dirty="0">
                        <a:solidFill>
                          <a:schemeClr val="tx1"/>
                        </a:solidFill>
                      </a:endParaRPr>
                    </a:p>
                  </a:txBody>
                  <a:tcPr/>
                </a:tc>
                <a:extLst>
                  <a:ext uri="{0D108BD9-81ED-4DB2-BD59-A6C34878D82A}">
                    <a16:rowId xmlns:a16="http://schemas.microsoft.com/office/drawing/2014/main" val="10000"/>
                  </a:ext>
                </a:extLst>
              </a:tr>
              <a:tr h="453651">
                <a:tc>
                  <a:txBody>
                    <a:bodyPr/>
                    <a:lstStyle/>
                    <a:p>
                      <a:pPr algn="ctr"/>
                      <a:r>
                        <a:rPr lang="en-US" dirty="0"/>
                        <a:t>1</a:t>
                      </a:r>
                    </a:p>
                  </a:txBody>
                  <a:tcPr/>
                </a:tc>
                <a:extLst>
                  <a:ext uri="{0D108BD9-81ED-4DB2-BD59-A6C34878D82A}">
                    <a16:rowId xmlns:a16="http://schemas.microsoft.com/office/drawing/2014/main" val="10001"/>
                  </a:ext>
                </a:extLst>
              </a:tr>
              <a:tr h="453651">
                <a:tc>
                  <a:txBody>
                    <a:bodyPr/>
                    <a:lstStyle/>
                    <a:p>
                      <a:pPr algn="ctr"/>
                      <a:r>
                        <a:rPr lang="en-US" dirty="0"/>
                        <a:t>2</a:t>
                      </a:r>
                    </a:p>
                  </a:txBody>
                  <a:tcPr/>
                </a:tc>
                <a:extLst>
                  <a:ext uri="{0D108BD9-81ED-4DB2-BD59-A6C34878D82A}">
                    <a16:rowId xmlns:a16="http://schemas.microsoft.com/office/drawing/2014/main" val="10002"/>
                  </a:ext>
                </a:extLst>
              </a:tr>
              <a:tr h="453651">
                <a:tc>
                  <a:txBody>
                    <a:bodyPr/>
                    <a:lstStyle/>
                    <a:p>
                      <a:pPr algn="ctr"/>
                      <a:r>
                        <a:rPr lang="en-US" dirty="0"/>
                        <a:t>3</a:t>
                      </a:r>
                    </a:p>
                  </a:txBody>
                  <a:tcPr/>
                </a:tc>
                <a:extLst>
                  <a:ext uri="{0D108BD9-81ED-4DB2-BD59-A6C34878D82A}">
                    <a16:rowId xmlns:a16="http://schemas.microsoft.com/office/drawing/2014/main" val="10003"/>
                  </a:ext>
                </a:extLst>
              </a:tr>
              <a:tr h="453651">
                <a:tc>
                  <a:txBody>
                    <a:bodyPr/>
                    <a:lstStyle/>
                    <a:p>
                      <a:pPr algn="ctr"/>
                      <a:r>
                        <a:rPr lang="en-US" dirty="0"/>
                        <a:t>4</a:t>
                      </a:r>
                    </a:p>
                  </a:txBody>
                  <a:tcPr/>
                </a:tc>
                <a:extLst>
                  <a:ext uri="{0D108BD9-81ED-4DB2-BD59-A6C34878D82A}">
                    <a16:rowId xmlns:a16="http://schemas.microsoft.com/office/drawing/2014/main" val="10004"/>
                  </a:ext>
                </a:extLst>
              </a:tr>
              <a:tr h="453651">
                <a:tc>
                  <a:txBody>
                    <a:bodyPr/>
                    <a:lstStyle/>
                    <a:p>
                      <a:pPr algn="ctr"/>
                      <a:r>
                        <a:rPr lang="en-US" dirty="0"/>
                        <a:t>5</a:t>
                      </a:r>
                    </a:p>
                  </a:txBody>
                  <a:tcPr/>
                </a:tc>
                <a:extLst>
                  <a:ext uri="{0D108BD9-81ED-4DB2-BD59-A6C34878D82A}">
                    <a16:rowId xmlns:a16="http://schemas.microsoft.com/office/drawing/2014/main" val="10005"/>
                  </a:ext>
                </a:extLst>
              </a:tr>
              <a:tr h="453651">
                <a:tc>
                  <a:txBody>
                    <a:bodyPr/>
                    <a:lstStyle/>
                    <a:p>
                      <a:pPr algn="ctr"/>
                      <a:r>
                        <a:rPr lang="en-US" dirty="0"/>
                        <a:t>6</a:t>
                      </a:r>
                    </a:p>
                  </a:txBody>
                  <a:tcPr/>
                </a:tc>
                <a:extLst>
                  <a:ext uri="{0D108BD9-81ED-4DB2-BD59-A6C34878D82A}">
                    <a16:rowId xmlns:a16="http://schemas.microsoft.com/office/drawing/2014/main" val="10006"/>
                  </a:ext>
                </a:extLst>
              </a:tr>
              <a:tr h="453651">
                <a:tc>
                  <a:txBody>
                    <a:bodyPr/>
                    <a:lstStyle/>
                    <a:p>
                      <a:pPr algn="ctr"/>
                      <a:r>
                        <a:rPr lang="en-US" dirty="0"/>
                        <a:t>7</a:t>
                      </a:r>
                    </a:p>
                  </a:txBody>
                  <a:tcPr/>
                </a:tc>
                <a:extLst>
                  <a:ext uri="{0D108BD9-81ED-4DB2-BD59-A6C34878D82A}">
                    <a16:rowId xmlns:a16="http://schemas.microsoft.com/office/drawing/2014/main" val="10007"/>
                  </a:ext>
                </a:extLst>
              </a:tr>
              <a:tr h="453651">
                <a:tc>
                  <a:txBody>
                    <a:bodyPr/>
                    <a:lstStyle/>
                    <a:p>
                      <a:pPr algn="ctr"/>
                      <a:r>
                        <a:rPr lang="en-US" dirty="0"/>
                        <a:t>8</a:t>
                      </a:r>
                    </a:p>
                  </a:txBody>
                  <a:tcPr/>
                </a:tc>
                <a:extLst>
                  <a:ext uri="{0D108BD9-81ED-4DB2-BD59-A6C34878D82A}">
                    <a16:rowId xmlns:a16="http://schemas.microsoft.com/office/drawing/2014/main" val="10008"/>
                  </a:ext>
                </a:extLst>
              </a:tr>
              <a:tr h="453651">
                <a:tc>
                  <a:txBody>
                    <a:bodyPr/>
                    <a:lstStyle/>
                    <a:p>
                      <a:pPr algn="ctr"/>
                      <a:r>
                        <a:rPr lang="en-US" dirty="0"/>
                        <a:t>9</a:t>
                      </a:r>
                    </a:p>
                  </a:txBody>
                  <a:tcPr/>
                </a:tc>
                <a:extLst>
                  <a:ext uri="{0D108BD9-81ED-4DB2-BD59-A6C34878D82A}">
                    <a16:rowId xmlns:a16="http://schemas.microsoft.com/office/drawing/2014/main" val="1000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101413781"/>
              </p:ext>
            </p:extLst>
          </p:nvPr>
        </p:nvGraphicFramePr>
        <p:xfrm>
          <a:off x="6372200" y="1520788"/>
          <a:ext cx="1584176" cy="4536500"/>
        </p:xfrm>
        <a:graphic>
          <a:graphicData uri="http://schemas.openxmlformats.org/drawingml/2006/table">
            <a:tbl>
              <a:tblPr firstRow="1" bandRow="1">
                <a:tableStyleId>{17292A2E-F333-43FB-9621-5CBBE7FDCDCB}</a:tableStyleId>
              </a:tblPr>
              <a:tblGrid>
                <a:gridCol w="1584176">
                  <a:extLst>
                    <a:ext uri="{9D8B030D-6E8A-4147-A177-3AD203B41FA5}">
                      <a16:colId xmlns:a16="http://schemas.microsoft.com/office/drawing/2014/main" val="20000"/>
                    </a:ext>
                  </a:extLst>
                </a:gridCol>
              </a:tblGrid>
              <a:tr h="453650">
                <a:tc>
                  <a:txBody>
                    <a:bodyPr/>
                    <a:lstStyle/>
                    <a:p>
                      <a:pPr algn="ctr"/>
                      <a:r>
                        <a:rPr lang="en-US" b="0" dirty="0">
                          <a:solidFill>
                            <a:srgbClr val="000000"/>
                          </a:solidFill>
                        </a:rPr>
                        <a:t>0</a:t>
                      </a:r>
                    </a:p>
                  </a:txBody>
                  <a:tcPr>
                    <a:solidFill>
                      <a:schemeClr val="bg1"/>
                    </a:solidFill>
                  </a:tcPr>
                </a:tc>
                <a:extLst>
                  <a:ext uri="{0D108BD9-81ED-4DB2-BD59-A6C34878D82A}">
                    <a16:rowId xmlns:a16="http://schemas.microsoft.com/office/drawing/2014/main" val="10000"/>
                  </a:ext>
                </a:extLst>
              </a:tr>
              <a:tr h="453650">
                <a:tc>
                  <a:txBody>
                    <a:bodyPr/>
                    <a:lstStyle/>
                    <a:p>
                      <a:pPr algn="ctr"/>
                      <a:r>
                        <a:rPr lang="en-US" dirty="0"/>
                        <a:t>1 / 81</a:t>
                      </a:r>
                    </a:p>
                  </a:txBody>
                  <a:tcPr/>
                </a:tc>
                <a:extLst>
                  <a:ext uri="{0D108BD9-81ED-4DB2-BD59-A6C34878D82A}">
                    <a16:rowId xmlns:a16="http://schemas.microsoft.com/office/drawing/2014/main" val="10001"/>
                  </a:ext>
                </a:extLst>
              </a:tr>
              <a:tr h="453650">
                <a:tc>
                  <a:txBody>
                    <a:bodyPr/>
                    <a:lstStyle/>
                    <a:p>
                      <a:pPr algn="ctr"/>
                      <a:endParaRPr lang="en-US" dirty="0"/>
                    </a:p>
                  </a:txBody>
                  <a:tcPr/>
                </a:tc>
                <a:extLst>
                  <a:ext uri="{0D108BD9-81ED-4DB2-BD59-A6C34878D82A}">
                    <a16:rowId xmlns:a16="http://schemas.microsoft.com/office/drawing/2014/main" val="10002"/>
                  </a:ext>
                </a:extLst>
              </a:tr>
              <a:tr h="453650">
                <a:tc>
                  <a:txBody>
                    <a:bodyPr/>
                    <a:lstStyle/>
                    <a:p>
                      <a:pPr algn="ctr"/>
                      <a:endParaRPr lang="en-US" dirty="0"/>
                    </a:p>
                  </a:txBody>
                  <a:tcPr/>
                </a:tc>
                <a:extLst>
                  <a:ext uri="{0D108BD9-81ED-4DB2-BD59-A6C34878D82A}">
                    <a16:rowId xmlns:a16="http://schemas.microsoft.com/office/drawing/2014/main" val="10003"/>
                  </a:ext>
                </a:extLst>
              </a:tr>
              <a:tr h="453650">
                <a:tc>
                  <a:txBody>
                    <a:bodyPr/>
                    <a:lstStyle/>
                    <a:p>
                      <a:pPr algn="ctr"/>
                      <a:r>
                        <a:rPr lang="en-US" dirty="0"/>
                        <a:t>4 / 64</a:t>
                      </a:r>
                    </a:p>
                  </a:txBody>
                  <a:tcPr/>
                </a:tc>
                <a:extLst>
                  <a:ext uri="{0D108BD9-81ED-4DB2-BD59-A6C34878D82A}">
                    <a16:rowId xmlns:a16="http://schemas.microsoft.com/office/drawing/2014/main" val="10004"/>
                  </a:ext>
                </a:extLst>
              </a:tr>
              <a:tr h="453650">
                <a:tc>
                  <a:txBody>
                    <a:bodyPr/>
                    <a:lstStyle/>
                    <a:p>
                      <a:pPr algn="ctr"/>
                      <a:r>
                        <a:rPr lang="en-US" dirty="0"/>
                        <a:t>25</a:t>
                      </a:r>
                    </a:p>
                  </a:txBody>
                  <a:tcPr/>
                </a:tc>
                <a:extLst>
                  <a:ext uri="{0D108BD9-81ED-4DB2-BD59-A6C34878D82A}">
                    <a16:rowId xmlns:a16="http://schemas.microsoft.com/office/drawing/2014/main" val="10005"/>
                  </a:ext>
                </a:extLst>
              </a:tr>
              <a:tr h="453650">
                <a:tc>
                  <a:txBody>
                    <a:bodyPr/>
                    <a:lstStyle/>
                    <a:p>
                      <a:pPr algn="ctr"/>
                      <a:r>
                        <a:rPr lang="en-US" dirty="0"/>
                        <a:t>16 / 36</a:t>
                      </a:r>
                    </a:p>
                  </a:txBody>
                  <a:tcPr/>
                </a:tc>
                <a:extLst>
                  <a:ext uri="{0D108BD9-81ED-4DB2-BD59-A6C34878D82A}">
                    <a16:rowId xmlns:a16="http://schemas.microsoft.com/office/drawing/2014/main" val="10006"/>
                  </a:ext>
                </a:extLst>
              </a:tr>
              <a:tr h="453650">
                <a:tc>
                  <a:txBody>
                    <a:bodyPr/>
                    <a:lstStyle/>
                    <a:p>
                      <a:pPr algn="ctr"/>
                      <a:endParaRPr lang="en-US"/>
                    </a:p>
                  </a:txBody>
                  <a:tcPr/>
                </a:tc>
                <a:extLst>
                  <a:ext uri="{0D108BD9-81ED-4DB2-BD59-A6C34878D82A}">
                    <a16:rowId xmlns:a16="http://schemas.microsoft.com/office/drawing/2014/main" val="10007"/>
                  </a:ext>
                </a:extLst>
              </a:tr>
              <a:tr h="453650">
                <a:tc>
                  <a:txBody>
                    <a:bodyPr/>
                    <a:lstStyle/>
                    <a:p>
                      <a:pPr algn="ctr"/>
                      <a:endParaRPr lang="en-US" dirty="0"/>
                    </a:p>
                  </a:txBody>
                  <a:tcPr/>
                </a:tc>
                <a:extLst>
                  <a:ext uri="{0D108BD9-81ED-4DB2-BD59-A6C34878D82A}">
                    <a16:rowId xmlns:a16="http://schemas.microsoft.com/office/drawing/2014/main" val="10008"/>
                  </a:ext>
                </a:extLst>
              </a:tr>
              <a:tr h="453650">
                <a:tc>
                  <a:txBody>
                    <a:bodyPr/>
                    <a:lstStyle/>
                    <a:p>
                      <a:pPr algn="ctr"/>
                      <a:r>
                        <a:rPr lang="en-US" dirty="0"/>
                        <a:t>9 / 49</a:t>
                      </a:r>
                    </a:p>
                  </a:txBody>
                  <a:tcPr/>
                </a:tc>
                <a:extLst>
                  <a:ext uri="{0D108BD9-81ED-4DB2-BD59-A6C34878D82A}">
                    <a16:rowId xmlns:a16="http://schemas.microsoft.com/office/drawing/2014/main" val="10009"/>
                  </a:ext>
                </a:extLst>
              </a:tr>
            </a:tbl>
          </a:graphicData>
        </a:graphic>
      </p:graphicFrame>
      <p:sp>
        <p:nvSpPr>
          <p:cNvPr id="3074" name="Rectangle 2"/>
          <p:cNvSpPr>
            <a:spLocks noGrp="1" noChangeArrowheads="1"/>
          </p:cNvSpPr>
          <p:nvPr>
            <p:ph type="body" idx="1"/>
          </p:nvPr>
        </p:nvSpPr>
        <p:spPr>
          <a:xfrm>
            <a:off x="251520" y="836712"/>
            <a:ext cx="8568444" cy="1764196"/>
          </a:xfrm>
          <a:ln/>
        </p:spPr>
        <p:txBody>
          <a:bodyPr/>
          <a:lstStyle/>
          <a:p>
            <a:pPr>
              <a:lnSpc>
                <a:spcPct val="93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When more than one element have the same hash value ! </a:t>
            </a:r>
          </a:p>
          <a:p>
            <a:pPr>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Example: </a:t>
            </a:r>
          </a:p>
          <a:p>
            <a:pPr lvl="1">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dirty="0" err="1">
                <a:latin typeface="Courier"/>
                <a:cs typeface="Courier"/>
              </a:rPr>
              <a:t>hsize</a:t>
            </a:r>
            <a:r>
              <a:rPr lang="en-GB" sz="2000" dirty="0"/>
              <a:t> = 10 </a:t>
            </a:r>
          </a:p>
          <a:p>
            <a:pPr lvl="1">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Elements: the first 10 perfect squares</a:t>
            </a:r>
          </a:p>
          <a:p>
            <a:pPr marL="542925" lvl="1" indent="0">
              <a:lnSpc>
                <a:spcPct val="90000"/>
              </a:lnSpc>
              <a:spcBef>
                <a:spcPts val="45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0, 1, 4, 9, 16, 25, 36, 49, 64, 81</a:t>
            </a:r>
          </a:p>
          <a:p>
            <a:pPr lvl="1">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hash function: </a:t>
            </a:r>
            <a:r>
              <a:rPr lang="en-GB" sz="2000" b="1" dirty="0">
                <a:latin typeface="Courier"/>
                <a:cs typeface="Courier"/>
              </a:rPr>
              <a:t>hash(x)=x mod 10</a:t>
            </a:r>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Collisions</a:t>
            </a: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256</a:t>
            </a:fld>
            <a:endParaRPr lang="fr-FR" sz="1400">
              <a:solidFill>
                <a:srgbClr val="000208"/>
              </a:solidFill>
              <a:latin typeface="Times New Roman" charset="0"/>
            </a:endParaRPr>
          </a:p>
        </p:txBody>
      </p:sp>
      <p:sp>
        <p:nvSpPr>
          <p:cNvPr id="2" name="Oval 1"/>
          <p:cNvSpPr/>
          <p:nvPr/>
        </p:nvSpPr>
        <p:spPr bwMode="auto">
          <a:xfrm>
            <a:off x="6444208" y="1952836"/>
            <a:ext cx="1368152" cy="468052"/>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1" name="Oval 10"/>
          <p:cNvSpPr/>
          <p:nvPr/>
        </p:nvSpPr>
        <p:spPr bwMode="auto">
          <a:xfrm>
            <a:off x="6480212" y="3320988"/>
            <a:ext cx="1368152" cy="468052"/>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2" name="Oval 11"/>
          <p:cNvSpPr/>
          <p:nvPr/>
        </p:nvSpPr>
        <p:spPr bwMode="auto">
          <a:xfrm>
            <a:off x="6480212" y="4221088"/>
            <a:ext cx="1368152" cy="468052"/>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3" name="Oval 12"/>
          <p:cNvSpPr/>
          <p:nvPr/>
        </p:nvSpPr>
        <p:spPr bwMode="auto">
          <a:xfrm>
            <a:off x="6408204" y="5589240"/>
            <a:ext cx="1368152" cy="468052"/>
          </a:xfrm>
          <a:prstGeom prst="ellipse">
            <a:avLst/>
          </a:prstGeom>
          <a:noFill/>
          <a:ln w="38100" cap="flat" cmpd="sng" algn="ctr">
            <a:solidFill>
              <a:srgbClr val="FF0000"/>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fontScale="92500" lnSpcReduction="20000"/>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endParaRPr kumimoji="0" lang="en-US" sz="2000" b="0" i="0" u="none" strike="noStrike" cap="none" normalizeH="0" baseline="0" dirty="0">
              <a:ln>
                <a:noFill/>
              </a:ln>
              <a:solidFill>
                <a:srgbClr val="010507"/>
              </a:solidFill>
              <a:effectLst/>
              <a:latin typeface="Arial" charset="0"/>
            </a:endParaRPr>
          </a:p>
        </p:txBody>
      </p:sp>
      <p:sp>
        <p:nvSpPr>
          <p:cNvPr id="1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2838644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251520" y="836712"/>
            <a:ext cx="8568444" cy="1764196"/>
          </a:xfrm>
          <a:ln/>
        </p:spPr>
        <p:txBody>
          <a:bodyPr/>
          <a:lstStyle/>
          <a:p>
            <a:pPr>
              <a:lnSpc>
                <a:spcPct val="93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Separate chaining (open hashing): </a:t>
            </a:r>
          </a:p>
          <a:p>
            <a:pPr lvl="1">
              <a:lnSpc>
                <a:spcPct val="93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Each element of the hash table is a linked list</a:t>
            </a:r>
          </a:p>
          <a:p>
            <a:pPr lvl="1">
              <a:lnSpc>
                <a:spcPct val="9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Collision: Store both elements in the same linked list</a:t>
            </a:r>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Collisions: Solution</a:t>
            </a: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257</a:t>
            </a:fld>
            <a:endParaRPr lang="fr-FR" sz="1400">
              <a:solidFill>
                <a:srgbClr val="000208"/>
              </a:solidFill>
              <a:latin typeface="Times New Roman" charset="0"/>
            </a:endParaRPr>
          </a:p>
        </p:txBody>
      </p:sp>
      <p:sp>
        <p:nvSpPr>
          <p:cNvPr id="9"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a:solidFill>
                  <a:srgbClr val="000208"/>
                </a:solidFill>
              </a:rPr>
              <a:t>L3Info – C/Unix</a:t>
            </a:r>
            <a:endParaRPr lang="fr-FR" sz="1800" dirty="0">
              <a:solidFill>
                <a:srgbClr val="000208"/>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705671185"/>
              </p:ext>
            </p:extLst>
          </p:nvPr>
        </p:nvGraphicFramePr>
        <p:xfrm>
          <a:off x="899592" y="2096848"/>
          <a:ext cx="576064" cy="4536510"/>
        </p:xfrm>
        <a:graphic>
          <a:graphicData uri="http://schemas.openxmlformats.org/drawingml/2006/table">
            <a:tbl>
              <a:tblPr firstRow="1" bandRow="1">
                <a:tableStyleId>{8799B23B-EC83-4686-B30A-512413B5E67A}</a:tableStyleId>
              </a:tblPr>
              <a:tblGrid>
                <a:gridCol w="576064">
                  <a:extLst>
                    <a:ext uri="{9D8B030D-6E8A-4147-A177-3AD203B41FA5}">
                      <a16:colId xmlns:a16="http://schemas.microsoft.com/office/drawing/2014/main" val="20000"/>
                    </a:ext>
                  </a:extLst>
                </a:gridCol>
              </a:tblGrid>
              <a:tr h="453651">
                <a:tc>
                  <a:txBody>
                    <a:bodyPr/>
                    <a:lstStyle/>
                    <a:p>
                      <a:pPr algn="ctr"/>
                      <a:r>
                        <a:rPr lang="en-US" b="0" dirty="0"/>
                        <a:t>0</a:t>
                      </a:r>
                      <a:endParaRPr lang="en-US" b="0" dirty="0">
                        <a:solidFill>
                          <a:schemeClr val="tx1"/>
                        </a:solidFill>
                      </a:endParaRPr>
                    </a:p>
                  </a:txBody>
                  <a:tcPr/>
                </a:tc>
                <a:extLst>
                  <a:ext uri="{0D108BD9-81ED-4DB2-BD59-A6C34878D82A}">
                    <a16:rowId xmlns:a16="http://schemas.microsoft.com/office/drawing/2014/main" val="10000"/>
                  </a:ext>
                </a:extLst>
              </a:tr>
              <a:tr h="453651">
                <a:tc>
                  <a:txBody>
                    <a:bodyPr/>
                    <a:lstStyle/>
                    <a:p>
                      <a:pPr algn="ctr"/>
                      <a:r>
                        <a:rPr lang="en-US" dirty="0"/>
                        <a:t>1</a:t>
                      </a:r>
                    </a:p>
                  </a:txBody>
                  <a:tcPr/>
                </a:tc>
                <a:extLst>
                  <a:ext uri="{0D108BD9-81ED-4DB2-BD59-A6C34878D82A}">
                    <a16:rowId xmlns:a16="http://schemas.microsoft.com/office/drawing/2014/main" val="10001"/>
                  </a:ext>
                </a:extLst>
              </a:tr>
              <a:tr h="453651">
                <a:tc>
                  <a:txBody>
                    <a:bodyPr/>
                    <a:lstStyle/>
                    <a:p>
                      <a:pPr algn="ctr"/>
                      <a:r>
                        <a:rPr lang="en-US" dirty="0"/>
                        <a:t>2</a:t>
                      </a:r>
                    </a:p>
                  </a:txBody>
                  <a:tcPr/>
                </a:tc>
                <a:extLst>
                  <a:ext uri="{0D108BD9-81ED-4DB2-BD59-A6C34878D82A}">
                    <a16:rowId xmlns:a16="http://schemas.microsoft.com/office/drawing/2014/main" val="10002"/>
                  </a:ext>
                </a:extLst>
              </a:tr>
              <a:tr h="453651">
                <a:tc>
                  <a:txBody>
                    <a:bodyPr/>
                    <a:lstStyle/>
                    <a:p>
                      <a:pPr algn="ctr"/>
                      <a:r>
                        <a:rPr lang="en-US" dirty="0"/>
                        <a:t>3</a:t>
                      </a:r>
                    </a:p>
                  </a:txBody>
                  <a:tcPr/>
                </a:tc>
                <a:extLst>
                  <a:ext uri="{0D108BD9-81ED-4DB2-BD59-A6C34878D82A}">
                    <a16:rowId xmlns:a16="http://schemas.microsoft.com/office/drawing/2014/main" val="10003"/>
                  </a:ext>
                </a:extLst>
              </a:tr>
              <a:tr h="453651">
                <a:tc>
                  <a:txBody>
                    <a:bodyPr/>
                    <a:lstStyle/>
                    <a:p>
                      <a:pPr algn="ctr"/>
                      <a:r>
                        <a:rPr lang="en-US" dirty="0"/>
                        <a:t>4</a:t>
                      </a:r>
                    </a:p>
                  </a:txBody>
                  <a:tcPr/>
                </a:tc>
                <a:extLst>
                  <a:ext uri="{0D108BD9-81ED-4DB2-BD59-A6C34878D82A}">
                    <a16:rowId xmlns:a16="http://schemas.microsoft.com/office/drawing/2014/main" val="10004"/>
                  </a:ext>
                </a:extLst>
              </a:tr>
              <a:tr h="453651">
                <a:tc>
                  <a:txBody>
                    <a:bodyPr/>
                    <a:lstStyle/>
                    <a:p>
                      <a:pPr algn="ctr"/>
                      <a:r>
                        <a:rPr lang="en-US" dirty="0"/>
                        <a:t>5</a:t>
                      </a:r>
                    </a:p>
                  </a:txBody>
                  <a:tcPr/>
                </a:tc>
                <a:extLst>
                  <a:ext uri="{0D108BD9-81ED-4DB2-BD59-A6C34878D82A}">
                    <a16:rowId xmlns:a16="http://schemas.microsoft.com/office/drawing/2014/main" val="10005"/>
                  </a:ext>
                </a:extLst>
              </a:tr>
              <a:tr h="453651">
                <a:tc>
                  <a:txBody>
                    <a:bodyPr/>
                    <a:lstStyle/>
                    <a:p>
                      <a:pPr algn="ctr"/>
                      <a:r>
                        <a:rPr lang="en-US" dirty="0"/>
                        <a:t>6</a:t>
                      </a:r>
                    </a:p>
                  </a:txBody>
                  <a:tcPr/>
                </a:tc>
                <a:extLst>
                  <a:ext uri="{0D108BD9-81ED-4DB2-BD59-A6C34878D82A}">
                    <a16:rowId xmlns:a16="http://schemas.microsoft.com/office/drawing/2014/main" val="10006"/>
                  </a:ext>
                </a:extLst>
              </a:tr>
              <a:tr h="453651">
                <a:tc>
                  <a:txBody>
                    <a:bodyPr/>
                    <a:lstStyle/>
                    <a:p>
                      <a:pPr algn="ctr"/>
                      <a:r>
                        <a:rPr lang="en-US" dirty="0"/>
                        <a:t>7</a:t>
                      </a:r>
                    </a:p>
                  </a:txBody>
                  <a:tcPr/>
                </a:tc>
                <a:extLst>
                  <a:ext uri="{0D108BD9-81ED-4DB2-BD59-A6C34878D82A}">
                    <a16:rowId xmlns:a16="http://schemas.microsoft.com/office/drawing/2014/main" val="10007"/>
                  </a:ext>
                </a:extLst>
              </a:tr>
              <a:tr h="453651">
                <a:tc>
                  <a:txBody>
                    <a:bodyPr/>
                    <a:lstStyle/>
                    <a:p>
                      <a:pPr algn="ctr"/>
                      <a:r>
                        <a:rPr lang="en-US" dirty="0"/>
                        <a:t>8</a:t>
                      </a:r>
                    </a:p>
                  </a:txBody>
                  <a:tcPr/>
                </a:tc>
                <a:extLst>
                  <a:ext uri="{0D108BD9-81ED-4DB2-BD59-A6C34878D82A}">
                    <a16:rowId xmlns:a16="http://schemas.microsoft.com/office/drawing/2014/main" val="10008"/>
                  </a:ext>
                </a:extLst>
              </a:tr>
              <a:tr h="453651">
                <a:tc>
                  <a:txBody>
                    <a:bodyPr/>
                    <a:lstStyle/>
                    <a:p>
                      <a:pPr algn="ctr"/>
                      <a:r>
                        <a:rPr lang="en-US" dirty="0"/>
                        <a:t>9</a:t>
                      </a:r>
                    </a:p>
                  </a:txBody>
                  <a:tcPr/>
                </a:tc>
                <a:extLst>
                  <a:ext uri="{0D108BD9-81ED-4DB2-BD59-A6C34878D82A}">
                    <a16:rowId xmlns:a16="http://schemas.microsoft.com/office/drawing/2014/main" val="10009"/>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419414602"/>
              </p:ext>
            </p:extLst>
          </p:nvPr>
        </p:nvGraphicFramePr>
        <p:xfrm>
          <a:off x="1403648" y="2096854"/>
          <a:ext cx="1584176" cy="4536500"/>
        </p:xfrm>
        <a:graphic>
          <a:graphicData uri="http://schemas.openxmlformats.org/drawingml/2006/table">
            <a:tbl>
              <a:tblPr firstRow="1" bandRow="1">
                <a:tableStyleId>{17292A2E-F333-43FB-9621-5CBBE7FDCDCB}</a:tableStyleId>
              </a:tblPr>
              <a:tblGrid>
                <a:gridCol w="1584176">
                  <a:extLst>
                    <a:ext uri="{9D8B030D-6E8A-4147-A177-3AD203B41FA5}">
                      <a16:colId xmlns:a16="http://schemas.microsoft.com/office/drawing/2014/main" val="20000"/>
                    </a:ext>
                  </a:extLst>
                </a:gridCol>
              </a:tblGrid>
              <a:tr h="453650">
                <a:tc>
                  <a:txBody>
                    <a:bodyPr/>
                    <a:lstStyle/>
                    <a:p>
                      <a:pPr algn="ctr"/>
                      <a:endParaRPr lang="en-US" b="0" dirty="0">
                        <a:solidFill>
                          <a:srgbClr val="000000"/>
                        </a:solidFill>
                      </a:endParaRPr>
                    </a:p>
                  </a:txBody>
                  <a:tcPr>
                    <a:solidFill>
                      <a:schemeClr val="bg1"/>
                    </a:solidFill>
                  </a:tcPr>
                </a:tc>
                <a:extLst>
                  <a:ext uri="{0D108BD9-81ED-4DB2-BD59-A6C34878D82A}">
                    <a16:rowId xmlns:a16="http://schemas.microsoft.com/office/drawing/2014/main" val="10000"/>
                  </a:ext>
                </a:extLst>
              </a:tr>
              <a:tr h="453650">
                <a:tc>
                  <a:txBody>
                    <a:bodyPr/>
                    <a:lstStyle/>
                    <a:p>
                      <a:pPr algn="ctr"/>
                      <a:endParaRPr lang="en-US" dirty="0"/>
                    </a:p>
                  </a:txBody>
                  <a:tcPr/>
                </a:tc>
                <a:extLst>
                  <a:ext uri="{0D108BD9-81ED-4DB2-BD59-A6C34878D82A}">
                    <a16:rowId xmlns:a16="http://schemas.microsoft.com/office/drawing/2014/main" val="10001"/>
                  </a:ext>
                </a:extLst>
              </a:tr>
              <a:tr h="453650">
                <a:tc>
                  <a:txBody>
                    <a:bodyPr/>
                    <a:lstStyle/>
                    <a:p>
                      <a:pPr algn="ctr"/>
                      <a:endParaRPr lang="en-US" dirty="0"/>
                    </a:p>
                  </a:txBody>
                  <a:tcPr/>
                </a:tc>
                <a:extLst>
                  <a:ext uri="{0D108BD9-81ED-4DB2-BD59-A6C34878D82A}">
                    <a16:rowId xmlns:a16="http://schemas.microsoft.com/office/drawing/2014/main" val="10002"/>
                  </a:ext>
                </a:extLst>
              </a:tr>
              <a:tr h="453650">
                <a:tc>
                  <a:txBody>
                    <a:bodyPr/>
                    <a:lstStyle/>
                    <a:p>
                      <a:pPr algn="ctr"/>
                      <a:endParaRPr lang="en-US" dirty="0"/>
                    </a:p>
                  </a:txBody>
                  <a:tcPr/>
                </a:tc>
                <a:extLst>
                  <a:ext uri="{0D108BD9-81ED-4DB2-BD59-A6C34878D82A}">
                    <a16:rowId xmlns:a16="http://schemas.microsoft.com/office/drawing/2014/main" val="10003"/>
                  </a:ext>
                </a:extLst>
              </a:tr>
              <a:tr h="453650">
                <a:tc>
                  <a:txBody>
                    <a:bodyPr/>
                    <a:lstStyle/>
                    <a:p>
                      <a:pPr algn="ctr"/>
                      <a:endParaRPr lang="en-US" dirty="0"/>
                    </a:p>
                  </a:txBody>
                  <a:tcPr/>
                </a:tc>
                <a:extLst>
                  <a:ext uri="{0D108BD9-81ED-4DB2-BD59-A6C34878D82A}">
                    <a16:rowId xmlns:a16="http://schemas.microsoft.com/office/drawing/2014/main" val="10004"/>
                  </a:ext>
                </a:extLst>
              </a:tr>
              <a:tr h="453650">
                <a:tc>
                  <a:txBody>
                    <a:bodyPr/>
                    <a:lstStyle/>
                    <a:p>
                      <a:pPr algn="ctr"/>
                      <a:endParaRPr lang="en-US" dirty="0"/>
                    </a:p>
                  </a:txBody>
                  <a:tcPr/>
                </a:tc>
                <a:extLst>
                  <a:ext uri="{0D108BD9-81ED-4DB2-BD59-A6C34878D82A}">
                    <a16:rowId xmlns:a16="http://schemas.microsoft.com/office/drawing/2014/main" val="10005"/>
                  </a:ext>
                </a:extLst>
              </a:tr>
              <a:tr h="453650">
                <a:tc>
                  <a:txBody>
                    <a:bodyPr/>
                    <a:lstStyle/>
                    <a:p>
                      <a:pPr algn="ctr"/>
                      <a:endParaRPr lang="en-US" dirty="0"/>
                    </a:p>
                  </a:txBody>
                  <a:tcPr/>
                </a:tc>
                <a:extLst>
                  <a:ext uri="{0D108BD9-81ED-4DB2-BD59-A6C34878D82A}">
                    <a16:rowId xmlns:a16="http://schemas.microsoft.com/office/drawing/2014/main" val="10006"/>
                  </a:ext>
                </a:extLst>
              </a:tr>
              <a:tr h="453650">
                <a:tc>
                  <a:txBody>
                    <a:bodyPr/>
                    <a:lstStyle/>
                    <a:p>
                      <a:pPr algn="ctr"/>
                      <a:endParaRPr lang="en-US"/>
                    </a:p>
                  </a:txBody>
                  <a:tcPr/>
                </a:tc>
                <a:extLst>
                  <a:ext uri="{0D108BD9-81ED-4DB2-BD59-A6C34878D82A}">
                    <a16:rowId xmlns:a16="http://schemas.microsoft.com/office/drawing/2014/main" val="10007"/>
                  </a:ext>
                </a:extLst>
              </a:tr>
              <a:tr h="453650">
                <a:tc>
                  <a:txBody>
                    <a:bodyPr/>
                    <a:lstStyle/>
                    <a:p>
                      <a:pPr algn="ctr"/>
                      <a:endParaRPr lang="en-US" dirty="0"/>
                    </a:p>
                  </a:txBody>
                  <a:tcPr/>
                </a:tc>
                <a:extLst>
                  <a:ext uri="{0D108BD9-81ED-4DB2-BD59-A6C34878D82A}">
                    <a16:rowId xmlns:a16="http://schemas.microsoft.com/office/drawing/2014/main" val="10008"/>
                  </a:ext>
                </a:extLst>
              </a:tr>
              <a:tr h="453650">
                <a:tc>
                  <a:txBody>
                    <a:bodyPr/>
                    <a:lstStyle/>
                    <a:p>
                      <a:pPr algn="ctr"/>
                      <a:endParaRPr lang="en-US" dirty="0"/>
                    </a:p>
                  </a:txBody>
                  <a:tcPr/>
                </a:tc>
                <a:extLst>
                  <a:ext uri="{0D108BD9-81ED-4DB2-BD59-A6C34878D82A}">
                    <a16:rowId xmlns:a16="http://schemas.microsoft.com/office/drawing/2014/main" val="10009"/>
                  </a:ext>
                </a:extLst>
              </a:tr>
            </a:tbl>
          </a:graphicData>
        </a:graphic>
      </p:graphicFrame>
      <p:grpSp>
        <p:nvGrpSpPr>
          <p:cNvPr id="4" name="Group 3"/>
          <p:cNvGrpSpPr/>
          <p:nvPr/>
        </p:nvGrpSpPr>
        <p:grpSpPr>
          <a:xfrm>
            <a:off x="2368860" y="2600908"/>
            <a:ext cx="4937100" cy="396875"/>
            <a:chOff x="2368860" y="2600908"/>
            <a:chExt cx="4937100" cy="396875"/>
          </a:xfrm>
        </p:grpSpPr>
        <p:sp>
          <p:nvSpPr>
            <p:cNvPr id="14" name="Line 1050"/>
            <p:cNvSpPr>
              <a:spLocks noChangeShapeType="1"/>
            </p:cNvSpPr>
            <p:nvPr/>
          </p:nvSpPr>
          <p:spPr bwMode="auto">
            <a:xfrm flipV="1">
              <a:off x="2368860" y="28169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5" name="Rectangle 1051"/>
            <p:cNvSpPr>
              <a:spLocks noChangeArrowheads="1"/>
            </p:cNvSpPr>
            <p:nvPr/>
          </p:nvSpPr>
          <p:spPr bwMode="auto">
            <a:xfrm>
              <a:off x="3283260" y="2600908"/>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1</a:t>
              </a:r>
            </a:p>
          </p:txBody>
        </p:sp>
        <p:sp>
          <p:nvSpPr>
            <p:cNvPr id="16" name="Rectangle 1052"/>
            <p:cNvSpPr>
              <a:spLocks noChangeArrowheads="1"/>
            </p:cNvSpPr>
            <p:nvPr/>
          </p:nvSpPr>
          <p:spPr bwMode="auto">
            <a:xfrm>
              <a:off x="3892860" y="2600908"/>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 name="Line 1053"/>
            <p:cNvSpPr>
              <a:spLocks noChangeShapeType="1"/>
            </p:cNvSpPr>
            <p:nvPr/>
          </p:nvSpPr>
          <p:spPr bwMode="auto">
            <a:xfrm flipV="1">
              <a:off x="4197660" y="28169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18" name="Rectangle 1051"/>
            <p:cNvSpPr>
              <a:spLocks noChangeArrowheads="1"/>
            </p:cNvSpPr>
            <p:nvPr/>
          </p:nvSpPr>
          <p:spPr bwMode="auto">
            <a:xfrm>
              <a:off x="5114528" y="2600908"/>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81</a:t>
              </a:r>
            </a:p>
          </p:txBody>
        </p:sp>
        <p:sp>
          <p:nvSpPr>
            <p:cNvPr id="19" name="Rectangle 1052"/>
            <p:cNvSpPr>
              <a:spLocks noChangeArrowheads="1"/>
            </p:cNvSpPr>
            <p:nvPr/>
          </p:nvSpPr>
          <p:spPr bwMode="auto">
            <a:xfrm>
              <a:off x="5724128" y="2600908"/>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 name="Line 1053"/>
            <p:cNvSpPr>
              <a:spLocks noChangeShapeType="1"/>
            </p:cNvSpPr>
            <p:nvPr/>
          </p:nvSpPr>
          <p:spPr bwMode="auto">
            <a:xfrm flipV="1">
              <a:off x="6028928" y="28169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1" name="Text Box 1067"/>
            <p:cNvSpPr txBox="1">
              <a:spLocks noChangeArrowheads="1"/>
            </p:cNvSpPr>
            <p:nvPr/>
          </p:nvSpPr>
          <p:spPr bwMode="auto">
            <a:xfrm>
              <a:off x="6912260" y="2600908"/>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6" name="Group 5"/>
          <p:cNvGrpSpPr/>
          <p:nvPr/>
        </p:nvGrpSpPr>
        <p:grpSpPr>
          <a:xfrm>
            <a:off x="2363924" y="3933056"/>
            <a:ext cx="4937100" cy="396875"/>
            <a:chOff x="2363924" y="3933056"/>
            <a:chExt cx="4937100" cy="396875"/>
          </a:xfrm>
        </p:grpSpPr>
        <p:sp>
          <p:nvSpPr>
            <p:cNvPr id="22" name="Line 1050"/>
            <p:cNvSpPr>
              <a:spLocks noChangeShapeType="1"/>
            </p:cNvSpPr>
            <p:nvPr/>
          </p:nvSpPr>
          <p:spPr bwMode="auto">
            <a:xfrm flipV="1">
              <a:off x="2363924" y="41490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3" name="Rectangle 1051"/>
            <p:cNvSpPr>
              <a:spLocks noChangeArrowheads="1"/>
            </p:cNvSpPr>
            <p:nvPr/>
          </p:nvSpPr>
          <p:spPr bwMode="auto">
            <a:xfrm>
              <a:off x="3278324" y="3933056"/>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4</a:t>
              </a:r>
            </a:p>
          </p:txBody>
        </p:sp>
        <p:sp>
          <p:nvSpPr>
            <p:cNvPr id="24" name="Rectangle 1052"/>
            <p:cNvSpPr>
              <a:spLocks noChangeArrowheads="1"/>
            </p:cNvSpPr>
            <p:nvPr/>
          </p:nvSpPr>
          <p:spPr bwMode="auto">
            <a:xfrm>
              <a:off x="3887924" y="3933056"/>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 name="Line 1053"/>
            <p:cNvSpPr>
              <a:spLocks noChangeShapeType="1"/>
            </p:cNvSpPr>
            <p:nvPr/>
          </p:nvSpPr>
          <p:spPr bwMode="auto">
            <a:xfrm flipV="1">
              <a:off x="4192724" y="41490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6" name="Rectangle 1051"/>
            <p:cNvSpPr>
              <a:spLocks noChangeArrowheads="1"/>
            </p:cNvSpPr>
            <p:nvPr/>
          </p:nvSpPr>
          <p:spPr bwMode="auto">
            <a:xfrm>
              <a:off x="5109592" y="3933056"/>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64</a:t>
              </a:r>
            </a:p>
          </p:txBody>
        </p:sp>
        <p:sp>
          <p:nvSpPr>
            <p:cNvPr id="27" name="Rectangle 1052"/>
            <p:cNvSpPr>
              <a:spLocks noChangeArrowheads="1"/>
            </p:cNvSpPr>
            <p:nvPr/>
          </p:nvSpPr>
          <p:spPr bwMode="auto">
            <a:xfrm>
              <a:off x="5719192" y="3933056"/>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8" name="Line 1053"/>
            <p:cNvSpPr>
              <a:spLocks noChangeShapeType="1"/>
            </p:cNvSpPr>
            <p:nvPr/>
          </p:nvSpPr>
          <p:spPr bwMode="auto">
            <a:xfrm flipV="1">
              <a:off x="6023992" y="4149080"/>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29" name="Text Box 1067"/>
            <p:cNvSpPr txBox="1">
              <a:spLocks noChangeArrowheads="1"/>
            </p:cNvSpPr>
            <p:nvPr/>
          </p:nvSpPr>
          <p:spPr bwMode="auto">
            <a:xfrm>
              <a:off x="6907324" y="3933056"/>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3073" name="Group 3072"/>
          <p:cNvGrpSpPr/>
          <p:nvPr/>
        </p:nvGrpSpPr>
        <p:grpSpPr>
          <a:xfrm>
            <a:off x="2363924" y="4869160"/>
            <a:ext cx="4937100" cy="396875"/>
            <a:chOff x="2363924" y="4869160"/>
            <a:chExt cx="4937100" cy="396875"/>
          </a:xfrm>
        </p:grpSpPr>
        <p:sp>
          <p:nvSpPr>
            <p:cNvPr id="30" name="Line 1050"/>
            <p:cNvSpPr>
              <a:spLocks noChangeShapeType="1"/>
            </p:cNvSpPr>
            <p:nvPr/>
          </p:nvSpPr>
          <p:spPr bwMode="auto">
            <a:xfrm flipV="1">
              <a:off x="2363924" y="508518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1" name="Rectangle 1051"/>
            <p:cNvSpPr>
              <a:spLocks noChangeArrowheads="1"/>
            </p:cNvSpPr>
            <p:nvPr/>
          </p:nvSpPr>
          <p:spPr bwMode="auto">
            <a:xfrm>
              <a:off x="3278324" y="4869160"/>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16</a:t>
              </a:r>
            </a:p>
          </p:txBody>
        </p:sp>
        <p:sp>
          <p:nvSpPr>
            <p:cNvPr id="32" name="Rectangle 1052"/>
            <p:cNvSpPr>
              <a:spLocks noChangeArrowheads="1"/>
            </p:cNvSpPr>
            <p:nvPr/>
          </p:nvSpPr>
          <p:spPr bwMode="auto">
            <a:xfrm>
              <a:off x="3887924" y="4869160"/>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 name="Line 1053"/>
            <p:cNvSpPr>
              <a:spLocks noChangeShapeType="1"/>
            </p:cNvSpPr>
            <p:nvPr/>
          </p:nvSpPr>
          <p:spPr bwMode="auto">
            <a:xfrm flipV="1">
              <a:off x="4192724" y="508518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4" name="Rectangle 1051"/>
            <p:cNvSpPr>
              <a:spLocks noChangeArrowheads="1"/>
            </p:cNvSpPr>
            <p:nvPr/>
          </p:nvSpPr>
          <p:spPr bwMode="auto">
            <a:xfrm>
              <a:off x="5109592" y="4869160"/>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36</a:t>
              </a:r>
            </a:p>
          </p:txBody>
        </p:sp>
        <p:sp>
          <p:nvSpPr>
            <p:cNvPr id="35" name="Rectangle 1052"/>
            <p:cNvSpPr>
              <a:spLocks noChangeArrowheads="1"/>
            </p:cNvSpPr>
            <p:nvPr/>
          </p:nvSpPr>
          <p:spPr bwMode="auto">
            <a:xfrm>
              <a:off x="5719192" y="4869160"/>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6" name="Line 1053"/>
            <p:cNvSpPr>
              <a:spLocks noChangeShapeType="1"/>
            </p:cNvSpPr>
            <p:nvPr/>
          </p:nvSpPr>
          <p:spPr bwMode="auto">
            <a:xfrm flipV="1">
              <a:off x="6023992" y="5085184"/>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7" name="Text Box 1067"/>
            <p:cNvSpPr txBox="1">
              <a:spLocks noChangeArrowheads="1"/>
            </p:cNvSpPr>
            <p:nvPr/>
          </p:nvSpPr>
          <p:spPr bwMode="auto">
            <a:xfrm>
              <a:off x="6907324" y="4869160"/>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3075" name="Group 3074"/>
          <p:cNvGrpSpPr/>
          <p:nvPr/>
        </p:nvGrpSpPr>
        <p:grpSpPr>
          <a:xfrm>
            <a:off x="2330388" y="6201308"/>
            <a:ext cx="4937100" cy="396875"/>
            <a:chOff x="2330388" y="6201308"/>
            <a:chExt cx="4937100" cy="396875"/>
          </a:xfrm>
        </p:grpSpPr>
        <p:sp>
          <p:nvSpPr>
            <p:cNvPr id="38" name="Line 1050"/>
            <p:cNvSpPr>
              <a:spLocks noChangeShapeType="1"/>
            </p:cNvSpPr>
            <p:nvPr/>
          </p:nvSpPr>
          <p:spPr bwMode="auto">
            <a:xfrm flipV="1">
              <a:off x="2330388" y="64173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39" name="Rectangle 1051"/>
            <p:cNvSpPr>
              <a:spLocks noChangeArrowheads="1"/>
            </p:cNvSpPr>
            <p:nvPr/>
          </p:nvSpPr>
          <p:spPr bwMode="auto">
            <a:xfrm>
              <a:off x="3244788" y="6201308"/>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9</a:t>
              </a:r>
            </a:p>
          </p:txBody>
        </p:sp>
        <p:sp>
          <p:nvSpPr>
            <p:cNvPr id="40" name="Rectangle 1052"/>
            <p:cNvSpPr>
              <a:spLocks noChangeArrowheads="1"/>
            </p:cNvSpPr>
            <p:nvPr/>
          </p:nvSpPr>
          <p:spPr bwMode="auto">
            <a:xfrm>
              <a:off x="3854388" y="6201308"/>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 name="Line 1053"/>
            <p:cNvSpPr>
              <a:spLocks noChangeShapeType="1"/>
            </p:cNvSpPr>
            <p:nvPr/>
          </p:nvSpPr>
          <p:spPr bwMode="auto">
            <a:xfrm flipV="1">
              <a:off x="4159188" y="64173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42" name="Rectangle 1051"/>
            <p:cNvSpPr>
              <a:spLocks noChangeArrowheads="1"/>
            </p:cNvSpPr>
            <p:nvPr/>
          </p:nvSpPr>
          <p:spPr bwMode="auto">
            <a:xfrm>
              <a:off x="5076056" y="6201308"/>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49</a:t>
              </a:r>
            </a:p>
          </p:txBody>
        </p:sp>
        <p:sp>
          <p:nvSpPr>
            <p:cNvPr id="43" name="Rectangle 1052"/>
            <p:cNvSpPr>
              <a:spLocks noChangeArrowheads="1"/>
            </p:cNvSpPr>
            <p:nvPr/>
          </p:nvSpPr>
          <p:spPr bwMode="auto">
            <a:xfrm>
              <a:off x="5685656" y="6201308"/>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4" name="Line 1053"/>
            <p:cNvSpPr>
              <a:spLocks noChangeShapeType="1"/>
            </p:cNvSpPr>
            <p:nvPr/>
          </p:nvSpPr>
          <p:spPr bwMode="auto">
            <a:xfrm flipV="1">
              <a:off x="5990456" y="6417332"/>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45" name="Text Box 1067"/>
            <p:cNvSpPr txBox="1">
              <a:spLocks noChangeArrowheads="1"/>
            </p:cNvSpPr>
            <p:nvPr/>
          </p:nvSpPr>
          <p:spPr bwMode="auto">
            <a:xfrm>
              <a:off x="6873788" y="6201308"/>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3" name="Group 2"/>
          <p:cNvGrpSpPr/>
          <p:nvPr/>
        </p:nvGrpSpPr>
        <p:grpSpPr>
          <a:xfrm>
            <a:off x="2375756" y="2096852"/>
            <a:ext cx="3108300" cy="396875"/>
            <a:chOff x="2375756" y="2096852"/>
            <a:chExt cx="3108300" cy="396875"/>
          </a:xfrm>
        </p:grpSpPr>
        <p:sp>
          <p:nvSpPr>
            <p:cNvPr id="54" name="Line 1053"/>
            <p:cNvSpPr>
              <a:spLocks noChangeShapeType="1"/>
            </p:cNvSpPr>
            <p:nvPr/>
          </p:nvSpPr>
          <p:spPr bwMode="auto">
            <a:xfrm flipV="1">
              <a:off x="2375756" y="2312876"/>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5" name="Rectangle 1051"/>
            <p:cNvSpPr>
              <a:spLocks noChangeArrowheads="1"/>
            </p:cNvSpPr>
            <p:nvPr/>
          </p:nvSpPr>
          <p:spPr bwMode="auto">
            <a:xfrm>
              <a:off x="3292624" y="2096852"/>
              <a:ext cx="609600" cy="396044"/>
            </a:xfrm>
            <a:prstGeom prst="rect">
              <a:avLst/>
            </a:prstGeom>
            <a:solidFill>
              <a:schemeClr val="accent5"/>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0</a:t>
              </a:r>
            </a:p>
          </p:txBody>
        </p:sp>
        <p:sp>
          <p:nvSpPr>
            <p:cNvPr id="56" name="Rectangle 1052"/>
            <p:cNvSpPr>
              <a:spLocks noChangeArrowheads="1"/>
            </p:cNvSpPr>
            <p:nvPr/>
          </p:nvSpPr>
          <p:spPr bwMode="auto">
            <a:xfrm>
              <a:off x="3902224" y="2096852"/>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7" name="Line 1053"/>
            <p:cNvSpPr>
              <a:spLocks noChangeShapeType="1"/>
            </p:cNvSpPr>
            <p:nvPr/>
          </p:nvSpPr>
          <p:spPr bwMode="auto">
            <a:xfrm flipV="1">
              <a:off x="4207024" y="2312876"/>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58" name="Text Box 1067"/>
            <p:cNvSpPr txBox="1">
              <a:spLocks noChangeArrowheads="1"/>
            </p:cNvSpPr>
            <p:nvPr/>
          </p:nvSpPr>
          <p:spPr bwMode="auto">
            <a:xfrm>
              <a:off x="5090356" y="2096852"/>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grpSp>
        <p:nvGrpSpPr>
          <p:cNvPr id="3072" name="Group 3071"/>
          <p:cNvGrpSpPr/>
          <p:nvPr/>
        </p:nvGrpSpPr>
        <p:grpSpPr>
          <a:xfrm>
            <a:off x="2361456" y="4400277"/>
            <a:ext cx="3108300" cy="396875"/>
            <a:chOff x="2361456" y="4400277"/>
            <a:chExt cx="3108300" cy="396875"/>
          </a:xfrm>
        </p:grpSpPr>
        <p:sp>
          <p:nvSpPr>
            <p:cNvPr id="59" name="Line 1053"/>
            <p:cNvSpPr>
              <a:spLocks noChangeShapeType="1"/>
            </p:cNvSpPr>
            <p:nvPr/>
          </p:nvSpPr>
          <p:spPr bwMode="auto">
            <a:xfrm flipV="1">
              <a:off x="2361456" y="4616301"/>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0" name="Rectangle 1051"/>
            <p:cNvSpPr>
              <a:spLocks noChangeArrowheads="1"/>
            </p:cNvSpPr>
            <p:nvPr/>
          </p:nvSpPr>
          <p:spPr bwMode="auto">
            <a:xfrm>
              <a:off x="3278324" y="4400277"/>
              <a:ext cx="609600" cy="396044"/>
            </a:xfrm>
            <a:prstGeom prst="rect">
              <a:avLst/>
            </a:prstGeom>
            <a:solidFill>
              <a:srgbClr val="ADB8FF"/>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r>
                <a:rPr lang="en-US" sz="2400" dirty="0"/>
                <a:t>25</a:t>
              </a:r>
            </a:p>
          </p:txBody>
        </p:sp>
        <p:sp>
          <p:nvSpPr>
            <p:cNvPr id="61" name="Rectangle 1052"/>
            <p:cNvSpPr>
              <a:spLocks noChangeArrowheads="1"/>
            </p:cNvSpPr>
            <p:nvPr/>
          </p:nvSpPr>
          <p:spPr bwMode="auto">
            <a:xfrm>
              <a:off x="3887924" y="4400277"/>
              <a:ext cx="609600" cy="396044"/>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2" name="Line 1053"/>
            <p:cNvSpPr>
              <a:spLocks noChangeShapeType="1"/>
            </p:cNvSpPr>
            <p:nvPr/>
          </p:nvSpPr>
          <p:spPr bwMode="auto">
            <a:xfrm flipV="1">
              <a:off x="4192724" y="4616301"/>
              <a:ext cx="914400" cy="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p>
          </p:txBody>
        </p:sp>
        <p:sp>
          <p:nvSpPr>
            <p:cNvPr id="63" name="Text Box 1067"/>
            <p:cNvSpPr txBox="1">
              <a:spLocks noChangeArrowheads="1"/>
            </p:cNvSpPr>
            <p:nvPr/>
          </p:nvSpPr>
          <p:spPr bwMode="auto">
            <a:xfrm>
              <a:off x="5076056" y="4400277"/>
              <a:ext cx="393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sz="2000" b="1" dirty="0">
                  <a:sym typeface="Symbol" charset="0"/>
                </a:rPr>
                <a:t></a:t>
              </a:r>
              <a:endParaRPr lang="en-US" sz="2000" b="1" dirty="0"/>
            </a:p>
          </p:txBody>
        </p:sp>
      </p:grpSp>
    </p:spTree>
    <p:extLst>
      <p:ext uri="{BB962C8B-B14F-4D97-AF65-F5344CB8AC3E}">
        <p14:creationId xmlns:p14="http://schemas.microsoft.com/office/powerpoint/2010/main" val="22359206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95536" y="836712"/>
            <a:ext cx="8532948" cy="2782652"/>
          </a:xfrm>
          <a:ln/>
        </p:spPr>
        <p:txBody>
          <a:body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The distribution of the values may NOT be even !</a:t>
            </a:r>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Example</a:t>
            </a:r>
          </a:p>
          <a:p>
            <a:pPr lvl="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dirty="0" err="1">
                <a:latin typeface="Courier"/>
                <a:cs typeface="Courier"/>
              </a:rPr>
              <a:t>hsize</a:t>
            </a:r>
            <a:r>
              <a:rPr lang="en-GB" sz="2000" dirty="0"/>
              <a:t> = 10007</a:t>
            </a:r>
          </a:p>
          <a:p>
            <a:pPr lvl="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Variable: strings of 8 ASCII characters</a:t>
            </a:r>
          </a:p>
          <a:p>
            <a:pPr lvl="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The hash function: adds up the ASCII values of the chars and return the modulo operation</a:t>
            </a:r>
          </a:p>
          <a:p>
            <a:pPr lvl="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sym typeface="Wingdings"/>
              </a:rPr>
              <a:t> it</a:t>
            </a:r>
            <a:r>
              <a:rPr lang="en-GB" sz="2000" dirty="0"/>
              <a:t> can only assume values 0 – 1016, which is 127*8</a:t>
            </a:r>
            <a:endParaRPr lang="en-GB" sz="1600" dirty="0"/>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err="1">
                <a:latin typeface="Arial" charset="0"/>
                <a:cs typeface="ＭＳ Ｐゴシック" charset="0"/>
              </a:rPr>
              <a:t>Problems</a:t>
            </a:r>
            <a:endParaRPr lang="fr-FR" sz="2800" dirty="0">
              <a:latin typeface="Arial" charset="0"/>
              <a:cs typeface="ＭＳ Ｐゴシック" charset="0"/>
            </a:endParaRP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258</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878252468"/>
      </p:ext>
    </p:extLst>
  </p:cSld>
  <p:clrMapOvr>
    <a:masterClrMapping/>
  </p:clrMapOvr>
  <p:transition spd="me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95536" y="836712"/>
            <a:ext cx="8532948" cy="2782652"/>
          </a:xfrm>
          <a:ln/>
        </p:spPr>
        <p:txBody>
          <a:body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Create a dictionary and search engine:</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Read files word by word</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Add to the dictionary one word found in a file and the number of times found in the file</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Search for a word in the dictionary</a:t>
            </a: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Use hash table and linked lists to store the words with the same key</a:t>
            </a:r>
            <a:endParaRPr lang="en-GB" sz="1600" dirty="0"/>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259</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92835408"/>
      </p:ext>
    </p:extLst>
  </p:cSld>
  <p:clrMapOvr>
    <a:masterClrMapping/>
  </p:clrMapOvr>
  <p:transition spd="me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251520" y="3934395"/>
            <a:ext cx="8640960" cy="4067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8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4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8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8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8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8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8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800">
                <a:solidFill>
                  <a:srgbClr val="000208"/>
                </a:solidFill>
                <a:latin typeface="+mn-lt"/>
              </a:defRPr>
            </a:lvl9p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The structure</a:t>
            </a:r>
            <a:r>
              <a:rPr lang="en-GB" sz="2400" b="1" dirty="0"/>
              <a:t> </a:t>
            </a:r>
            <a:r>
              <a:rPr lang="en-GB" sz="2400" b="1" dirty="0" err="1">
                <a:latin typeface="Courier"/>
                <a:cs typeface="Courier"/>
              </a:rPr>
              <a:t>word_entry</a:t>
            </a:r>
            <a:r>
              <a:rPr lang="en-GB" sz="2400" b="1" dirty="0">
                <a:latin typeface="Courier"/>
                <a:cs typeface="Courier"/>
              </a:rPr>
              <a:t> </a:t>
            </a:r>
            <a:r>
              <a:rPr lang="en-GB" sz="2400" dirty="0"/>
              <a:t>has as elements</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word of size </a:t>
            </a:r>
            <a:r>
              <a:rPr lang="en-GB" sz="2000" b="1" dirty="0">
                <a:latin typeface="Courier"/>
                <a:cs typeface="Courier"/>
              </a:rPr>
              <a:t>SIZE</a:t>
            </a:r>
            <a:r>
              <a:rPr lang="en-GB" sz="2000" dirty="0"/>
              <a:t> </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an integer </a:t>
            </a:r>
            <a:r>
              <a:rPr lang="en-GB" sz="2000" b="1" dirty="0" err="1">
                <a:solidFill>
                  <a:schemeClr val="tx1"/>
                </a:solidFill>
                <a:latin typeface="Courier"/>
                <a:cs typeface="Courier"/>
              </a:rPr>
              <a:t>in_file</a:t>
            </a:r>
            <a:r>
              <a:rPr lang="en-GB" sz="2000" dirty="0"/>
              <a:t> which is the identifier of the file where the word has been found</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an integer </a:t>
            </a:r>
            <a:r>
              <a:rPr lang="en-GB" sz="2000" b="1" dirty="0">
                <a:solidFill>
                  <a:schemeClr val="tx1"/>
                </a:solidFill>
                <a:latin typeface="Courier"/>
                <a:cs typeface="Courier"/>
              </a:rPr>
              <a:t>times</a:t>
            </a:r>
            <a:r>
              <a:rPr lang="en-GB" sz="2000" dirty="0"/>
              <a:t> which shows how many times the word exist in this file</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pointer </a:t>
            </a:r>
            <a:r>
              <a:rPr lang="en-GB" sz="2000" b="1" dirty="0">
                <a:solidFill>
                  <a:schemeClr val="tx1"/>
                </a:solidFill>
                <a:latin typeface="Courier"/>
                <a:cs typeface="Courier"/>
              </a:rPr>
              <a:t>*next </a:t>
            </a:r>
            <a:r>
              <a:rPr lang="en-GB" sz="2000" dirty="0"/>
              <a:t>to a structure </a:t>
            </a:r>
            <a:r>
              <a:rPr lang="en-GB" sz="2000" b="1" dirty="0" err="1">
                <a:latin typeface="Courier"/>
                <a:cs typeface="Courier"/>
              </a:rPr>
              <a:t>word_entry</a:t>
            </a:r>
            <a:endParaRPr lang="en-GB" sz="2000" b="1" dirty="0">
              <a:latin typeface="Courier"/>
              <a:cs typeface="Courier"/>
            </a:endParaRPr>
          </a:p>
          <a:p>
            <a:pPr marL="0" indent="0">
              <a:lnSpc>
                <a:spcPct val="90000"/>
              </a:lnSpc>
              <a:spcBef>
                <a:spcPts val="6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b="1" dirty="0">
              <a:latin typeface="Courier"/>
              <a:cs typeface="Courier"/>
            </a:endParaRPr>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260</a:t>
            </a:fld>
            <a:endParaRPr lang="fr-FR" sz="1400" dirty="0">
              <a:solidFill>
                <a:srgbClr val="000208"/>
              </a:solidFill>
              <a:latin typeface="Times New Roman" charset="0"/>
            </a:endParaRPr>
          </a:p>
        </p:txBody>
      </p:sp>
      <p:sp>
        <p:nvSpPr>
          <p:cNvPr id="10" name="AutoShape 3"/>
          <p:cNvSpPr>
            <a:spLocks noChangeArrowheads="1"/>
          </p:cNvSpPr>
          <p:nvPr/>
        </p:nvSpPr>
        <p:spPr bwMode="auto">
          <a:xfrm>
            <a:off x="431540" y="836712"/>
            <a:ext cx="5876551" cy="2987614"/>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endParaRPr lang="en-GB" sz="2000" b="1" dirty="0">
              <a:solidFill>
                <a:schemeClr val="tx1"/>
              </a:solidFill>
              <a:latin typeface="Courier"/>
              <a:cs typeface="Courier"/>
            </a:endParaRP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char word[SIZE];</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int</a:t>
            </a:r>
            <a:r>
              <a:rPr lang="en-GB" sz="2000" b="1" dirty="0">
                <a:solidFill>
                  <a:schemeClr val="tx1"/>
                </a:solidFill>
                <a:latin typeface="Courier"/>
                <a:cs typeface="Courier"/>
              </a:rPr>
              <a:t> </a:t>
            </a:r>
            <a:r>
              <a:rPr lang="en-GB" sz="2000" b="1" dirty="0" err="1">
                <a:solidFill>
                  <a:schemeClr val="tx1"/>
                </a:solidFill>
                <a:latin typeface="Courier"/>
                <a:cs typeface="Courier"/>
              </a:rPr>
              <a:t>in_file</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int</a:t>
            </a:r>
            <a:r>
              <a:rPr lang="en-GB" sz="2000" b="1" dirty="0">
                <a:solidFill>
                  <a:schemeClr val="tx1"/>
                </a:solidFill>
                <a:latin typeface="Courier"/>
                <a:cs typeface="Courier"/>
              </a:rPr>
              <a:t> times;</a:t>
            </a:r>
          </a:p>
          <a:p>
            <a:pPr algn="l" eaLnBrk="1" hangingPunct="1">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r>
              <a:rPr lang="en-GB" sz="2000" b="1" dirty="0">
                <a:solidFill>
                  <a:schemeClr val="tx1"/>
                </a:solidFill>
                <a:latin typeface="Courier"/>
                <a:cs typeface="Courier"/>
              </a:rPr>
              <a:t> *next;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typedef</a:t>
            </a: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r>
              <a:rPr lang="en-GB" sz="2000" b="1" dirty="0">
                <a:solidFill>
                  <a:schemeClr val="tx1"/>
                </a:solidFill>
                <a:latin typeface="Courier"/>
                <a:cs typeface="Courier"/>
              </a:rPr>
              <a:t>;</a:t>
            </a:r>
          </a:p>
        </p:txBody>
      </p:sp>
      <p:grpSp>
        <p:nvGrpSpPr>
          <p:cNvPr id="2" name="Group 1"/>
          <p:cNvGrpSpPr/>
          <p:nvPr/>
        </p:nvGrpSpPr>
        <p:grpSpPr>
          <a:xfrm>
            <a:off x="6480827" y="944724"/>
            <a:ext cx="2339645" cy="2664296"/>
            <a:chOff x="6156176" y="1196752"/>
            <a:chExt cx="2339645" cy="2664296"/>
          </a:xfrm>
        </p:grpSpPr>
        <p:grpSp>
          <p:nvGrpSpPr>
            <p:cNvPr id="38" name="Group 37"/>
            <p:cNvGrpSpPr/>
            <p:nvPr/>
          </p:nvGrpSpPr>
          <p:grpSpPr>
            <a:xfrm>
              <a:off x="6156176" y="1196752"/>
              <a:ext cx="2303640" cy="2664296"/>
              <a:chOff x="2895159" y="2468625"/>
              <a:chExt cx="1732851" cy="2664296"/>
            </a:xfrm>
          </p:grpSpPr>
          <p:sp>
            <p:nvSpPr>
              <p:cNvPr id="39" name="Rectangle 38"/>
              <p:cNvSpPr/>
              <p:nvPr/>
            </p:nvSpPr>
            <p:spPr>
              <a:xfrm>
                <a:off x="2922242" y="2882092"/>
                <a:ext cx="1705768" cy="2250829"/>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0" name="Rectangle 39"/>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1" name="Rectangle 40"/>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word_entry</a:t>
                </a:r>
                <a:endParaRPr lang="en-US" sz="2000" b="1" dirty="0">
                  <a:latin typeface="Courier"/>
                  <a:cs typeface="Courier"/>
                </a:endParaRPr>
              </a:p>
            </p:txBody>
          </p:sp>
          <p:sp>
            <p:nvSpPr>
              <p:cNvPr id="42" name="Rectangle 41"/>
              <p:cNvSpPr/>
              <p:nvPr/>
            </p:nvSpPr>
            <p:spPr>
              <a:xfrm>
                <a:off x="3058325" y="3543232"/>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3" name="Rectangle 42"/>
              <p:cNvSpPr/>
              <p:nvPr/>
            </p:nvSpPr>
            <p:spPr>
              <a:xfrm>
                <a:off x="2895159" y="3040065"/>
                <a:ext cx="1705768" cy="400110"/>
              </a:xfrm>
              <a:prstGeom prst="rect">
                <a:avLst/>
              </a:prstGeom>
            </p:spPr>
            <p:txBody>
              <a:bodyPr wrap="square">
                <a:spAutoFit/>
              </a:bodyPr>
              <a:lstStyle/>
              <a:p>
                <a:r>
                  <a:rPr lang="en-US" sz="2000" b="1" dirty="0">
                    <a:latin typeface="Courier"/>
                    <a:cs typeface="Courier"/>
                  </a:rPr>
                  <a:t>word</a:t>
                </a:r>
              </a:p>
            </p:txBody>
          </p:sp>
          <p:sp>
            <p:nvSpPr>
              <p:cNvPr id="44" name="Rectangle 43"/>
              <p:cNvSpPr/>
              <p:nvPr/>
            </p:nvSpPr>
            <p:spPr>
              <a:xfrm>
                <a:off x="2895622" y="3494825"/>
                <a:ext cx="1705768" cy="400110"/>
              </a:xfrm>
              <a:prstGeom prst="rect">
                <a:avLst/>
              </a:prstGeom>
            </p:spPr>
            <p:txBody>
              <a:bodyPr wrap="square">
                <a:spAutoFit/>
              </a:bodyPr>
              <a:lstStyle/>
              <a:p>
                <a:r>
                  <a:rPr lang="en-US" sz="2000" b="1" dirty="0" err="1">
                    <a:latin typeface="Courier"/>
                    <a:cs typeface="Courier"/>
                  </a:rPr>
                  <a:t>in_file</a:t>
                </a:r>
                <a:endParaRPr lang="en-US" sz="2000" b="1" dirty="0">
                  <a:latin typeface="Courier"/>
                  <a:cs typeface="Courier"/>
                </a:endParaRPr>
              </a:p>
            </p:txBody>
          </p:sp>
        </p:grpSp>
        <p:sp>
          <p:nvSpPr>
            <p:cNvPr id="46" name="Rectangle 45"/>
            <p:cNvSpPr/>
            <p:nvPr/>
          </p:nvSpPr>
          <p:spPr>
            <a:xfrm>
              <a:off x="6372200" y="2812247"/>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7" name="Rectangle 46"/>
            <p:cNvSpPr/>
            <p:nvPr/>
          </p:nvSpPr>
          <p:spPr>
            <a:xfrm>
              <a:off x="6372200" y="332098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8" name="Rectangle 47"/>
            <p:cNvSpPr/>
            <p:nvPr/>
          </p:nvSpPr>
          <p:spPr>
            <a:xfrm>
              <a:off x="6228184" y="2780928"/>
              <a:ext cx="2267637" cy="400110"/>
            </a:xfrm>
            <a:prstGeom prst="rect">
              <a:avLst/>
            </a:prstGeom>
          </p:spPr>
          <p:txBody>
            <a:bodyPr wrap="square">
              <a:spAutoFit/>
            </a:bodyPr>
            <a:lstStyle/>
            <a:p>
              <a:r>
                <a:rPr lang="en-US" sz="2000" b="1" dirty="0">
                  <a:latin typeface="Courier"/>
                  <a:cs typeface="Courier"/>
                </a:rPr>
                <a:t>times</a:t>
              </a:r>
            </a:p>
          </p:txBody>
        </p:sp>
        <p:sp>
          <p:nvSpPr>
            <p:cNvPr id="49" name="Rectangle 48"/>
            <p:cNvSpPr/>
            <p:nvPr/>
          </p:nvSpPr>
          <p:spPr>
            <a:xfrm>
              <a:off x="6156176" y="3284984"/>
              <a:ext cx="2267637" cy="400110"/>
            </a:xfrm>
            <a:prstGeom prst="rect">
              <a:avLst/>
            </a:prstGeom>
          </p:spPr>
          <p:txBody>
            <a:bodyPr wrap="square">
              <a:spAutoFit/>
            </a:bodyPr>
            <a:lstStyle/>
            <a:p>
              <a:r>
                <a:rPr lang="en-US" sz="2000" b="1" dirty="0">
                  <a:latin typeface="Courier"/>
                  <a:cs typeface="Courier"/>
                </a:rPr>
                <a:t>next</a:t>
              </a:r>
            </a:p>
          </p:txBody>
        </p:sp>
      </p:grpSp>
      <p:sp>
        <p:nvSpPr>
          <p:cNvPr id="1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cxnSp>
        <p:nvCxnSpPr>
          <p:cNvPr id="4" name="Straight Arrow Connector 3"/>
          <p:cNvCxnSpPr/>
          <p:nvPr/>
        </p:nvCxnSpPr>
        <p:spPr bwMode="auto">
          <a:xfrm>
            <a:off x="8208404" y="3248980"/>
            <a:ext cx="756084"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479357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251520" y="3645024"/>
            <a:ext cx="8640960" cy="4067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8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4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8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8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8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8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8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800">
                <a:solidFill>
                  <a:srgbClr val="000208"/>
                </a:solidFill>
                <a:latin typeface="+mn-lt"/>
              </a:defRPr>
            </a:lvl9p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The structure</a:t>
            </a:r>
            <a:r>
              <a:rPr lang="en-GB" sz="2400" b="1" dirty="0"/>
              <a:t> </a:t>
            </a:r>
            <a:r>
              <a:rPr lang="en-GB" sz="2400" b="1" dirty="0" err="1">
                <a:latin typeface="Courier"/>
                <a:cs typeface="Courier"/>
              </a:rPr>
              <a:t>word_list</a:t>
            </a:r>
            <a:r>
              <a:rPr lang="en-GB" sz="2400" b="1" dirty="0">
                <a:latin typeface="Courier"/>
                <a:cs typeface="Courier"/>
              </a:rPr>
              <a:t> </a:t>
            </a:r>
            <a:r>
              <a:rPr lang="en-GB" sz="2400" dirty="0"/>
              <a:t>has as elements</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pointer </a:t>
            </a:r>
            <a:r>
              <a:rPr lang="en-GB" sz="2000" b="1" dirty="0">
                <a:solidFill>
                  <a:schemeClr val="tx1"/>
                </a:solidFill>
                <a:latin typeface="Courier"/>
                <a:cs typeface="Courier"/>
              </a:rPr>
              <a:t>*</a:t>
            </a:r>
            <a:r>
              <a:rPr lang="en-GB" sz="2000" b="1" dirty="0" err="1">
                <a:solidFill>
                  <a:schemeClr val="tx1"/>
                </a:solidFill>
                <a:latin typeface="Courier"/>
                <a:cs typeface="Courier"/>
              </a:rPr>
              <a:t>first_word</a:t>
            </a:r>
            <a:r>
              <a:rPr lang="en-GB" sz="2000" b="1" dirty="0">
                <a:solidFill>
                  <a:schemeClr val="tx1"/>
                </a:solidFill>
                <a:latin typeface="Courier"/>
                <a:cs typeface="Courier"/>
              </a:rPr>
              <a:t> </a:t>
            </a:r>
            <a:r>
              <a:rPr lang="en-GB" sz="2000" dirty="0"/>
              <a:t>to a structure </a:t>
            </a:r>
            <a:r>
              <a:rPr lang="en-GB" sz="2000" b="1" dirty="0" err="1">
                <a:latin typeface="Courier"/>
                <a:cs typeface="Courier"/>
              </a:rPr>
              <a:t>word_entry</a:t>
            </a:r>
            <a:endParaRPr lang="en-GB" sz="2000" b="1" dirty="0">
              <a:latin typeface="Courier"/>
              <a:cs typeface="Courier"/>
            </a:endParaRP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pointer </a:t>
            </a:r>
            <a:r>
              <a:rPr lang="en-GB" sz="2000" b="1" dirty="0">
                <a:solidFill>
                  <a:schemeClr val="tx1"/>
                </a:solidFill>
                <a:latin typeface="Courier"/>
                <a:cs typeface="Courier"/>
              </a:rPr>
              <a:t>*</a:t>
            </a:r>
            <a:r>
              <a:rPr lang="en-GB" sz="2000" b="1" dirty="0" err="1">
                <a:solidFill>
                  <a:schemeClr val="tx1"/>
                </a:solidFill>
                <a:latin typeface="Courier"/>
                <a:cs typeface="Courier"/>
              </a:rPr>
              <a:t>last_word</a:t>
            </a:r>
            <a:r>
              <a:rPr lang="en-GB" sz="2000" b="1" dirty="0">
                <a:solidFill>
                  <a:schemeClr val="tx1"/>
                </a:solidFill>
                <a:latin typeface="Courier"/>
                <a:cs typeface="Courier"/>
              </a:rPr>
              <a:t> </a:t>
            </a:r>
            <a:r>
              <a:rPr lang="en-GB" sz="2000" dirty="0"/>
              <a:t>to a structure </a:t>
            </a:r>
            <a:r>
              <a:rPr lang="en-GB" sz="2000" b="1" dirty="0" err="1">
                <a:latin typeface="Courier"/>
                <a:cs typeface="Courier"/>
              </a:rPr>
              <a:t>word_entry</a:t>
            </a:r>
            <a:endParaRPr lang="en-GB" sz="2000" b="1" dirty="0">
              <a:latin typeface="Courier"/>
              <a:cs typeface="Courier"/>
            </a:endParaRP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b="1" dirty="0">
              <a:latin typeface="Courier"/>
              <a:cs typeface="Courier"/>
            </a:endParaRPr>
          </a:p>
          <a:p>
            <a:pPr marL="0" indent="0">
              <a:lnSpc>
                <a:spcPct val="90000"/>
              </a:lnSpc>
              <a:spcBef>
                <a:spcPts val="6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b="1" dirty="0">
              <a:latin typeface="Courier"/>
              <a:cs typeface="Courier"/>
            </a:endParaRPr>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261</a:t>
            </a:fld>
            <a:endParaRPr lang="fr-FR" sz="1400" dirty="0">
              <a:solidFill>
                <a:srgbClr val="000208"/>
              </a:solidFill>
              <a:latin typeface="Times New Roman" charset="0"/>
            </a:endParaRPr>
          </a:p>
        </p:txBody>
      </p:sp>
      <p:sp>
        <p:nvSpPr>
          <p:cNvPr id="10" name="AutoShape 3"/>
          <p:cNvSpPr>
            <a:spLocks noChangeArrowheads="1"/>
          </p:cNvSpPr>
          <p:nvPr/>
        </p:nvSpPr>
        <p:spPr bwMode="auto">
          <a:xfrm>
            <a:off x="431540" y="836712"/>
            <a:ext cx="5568724" cy="2248950"/>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word_list</a:t>
            </a:r>
            <a:endParaRPr lang="en-GB" sz="2000" b="1" dirty="0">
              <a:solidFill>
                <a:schemeClr val="tx1"/>
              </a:solidFill>
              <a:latin typeface="Courier"/>
              <a:cs typeface="Courier"/>
            </a:endParaRP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r>
              <a:rPr lang="en-GB" sz="2000" b="1" dirty="0">
                <a:solidFill>
                  <a:schemeClr val="tx1"/>
                </a:solidFill>
                <a:latin typeface="Courier"/>
                <a:cs typeface="Courier"/>
              </a:rPr>
              <a:t> *</a:t>
            </a:r>
            <a:r>
              <a:rPr lang="en-GB" sz="2000" b="1" dirty="0" err="1">
                <a:solidFill>
                  <a:schemeClr val="tx1"/>
                </a:solidFill>
                <a:latin typeface="Courier"/>
                <a:cs typeface="Courier"/>
              </a:rPr>
              <a:t>first_word</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word_entry</a:t>
            </a:r>
            <a:r>
              <a:rPr lang="en-GB" sz="2000" b="1" dirty="0">
                <a:solidFill>
                  <a:schemeClr val="tx1"/>
                </a:solidFill>
                <a:latin typeface="Courier"/>
                <a:cs typeface="Courier"/>
              </a:rPr>
              <a:t> *</a:t>
            </a:r>
            <a:r>
              <a:rPr lang="en-GB" sz="2000" b="1" dirty="0" err="1">
                <a:solidFill>
                  <a:schemeClr val="tx1"/>
                </a:solidFill>
                <a:latin typeface="Courier"/>
                <a:cs typeface="Courier"/>
              </a:rPr>
              <a:t>last_word</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typedef</a:t>
            </a: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word_list</a:t>
            </a:r>
            <a:r>
              <a:rPr lang="en-GB" sz="2000" b="1" dirty="0">
                <a:solidFill>
                  <a:schemeClr val="tx1"/>
                </a:solidFill>
                <a:latin typeface="Courier"/>
                <a:cs typeface="Courier"/>
              </a:rPr>
              <a:t> </a:t>
            </a:r>
            <a:r>
              <a:rPr lang="en-GB" sz="2000" b="1" dirty="0" err="1">
                <a:solidFill>
                  <a:schemeClr val="tx1"/>
                </a:solidFill>
                <a:latin typeface="Courier"/>
                <a:cs typeface="Courier"/>
              </a:rPr>
              <a:t>word_list</a:t>
            </a:r>
            <a:r>
              <a:rPr lang="en-GB" sz="2000" b="1" dirty="0">
                <a:solidFill>
                  <a:schemeClr val="tx1"/>
                </a:solidFill>
                <a:latin typeface="Courier"/>
                <a:cs typeface="Courier"/>
              </a:rPr>
              <a:t>;</a:t>
            </a:r>
          </a:p>
        </p:txBody>
      </p:sp>
      <p:grpSp>
        <p:nvGrpSpPr>
          <p:cNvPr id="7" name="Group 6"/>
          <p:cNvGrpSpPr/>
          <p:nvPr/>
        </p:nvGrpSpPr>
        <p:grpSpPr>
          <a:xfrm>
            <a:off x="6192180" y="1232756"/>
            <a:ext cx="2267636" cy="1692188"/>
            <a:chOff x="2922242" y="2468625"/>
            <a:chExt cx="1705768" cy="1692188"/>
          </a:xfrm>
        </p:grpSpPr>
        <p:sp>
          <p:nvSpPr>
            <p:cNvPr id="12" name="Rectangle 11"/>
            <p:cNvSpPr/>
            <p:nvPr/>
          </p:nvSpPr>
          <p:spPr>
            <a:xfrm>
              <a:off x="2922242" y="2882092"/>
              <a:ext cx="1705768" cy="1278721"/>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3" name="Rectangle 12"/>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4" name="Rectangle 13"/>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word_list</a:t>
              </a:r>
              <a:endParaRPr lang="en-US" sz="2000" b="1" dirty="0">
                <a:latin typeface="Courier"/>
                <a:cs typeface="Courier"/>
              </a:endParaRPr>
            </a:p>
          </p:txBody>
        </p:sp>
        <p:sp>
          <p:nvSpPr>
            <p:cNvPr id="16" name="Rectangle 15"/>
            <p:cNvSpPr/>
            <p:nvPr/>
          </p:nvSpPr>
          <p:spPr>
            <a:xfrm>
              <a:off x="2922242" y="3040065"/>
              <a:ext cx="1705768" cy="400110"/>
            </a:xfrm>
            <a:prstGeom prst="rect">
              <a:avLst/>
            </a:prstGeom>
          </p:spPr>
          <p:txBody>
            <a:bodyPr wrap="square">
              <a:spAutoFit/>
            </a:bodyPr>
            <a:lstStyle/>
            <a:p>
              <a:r>
                <a:rPr lang="en-US" sz="2000" b="1" dirty="0" err="1">
                  <a:latin typeface="Courier"/>
                  <a:cs typeface="Courier"/>
                </a:rPr>
                <a:t>first_word</a:t>
              </a:r>
              <a:endParaRPr lang="en-US" sz="2000" b="1" dirty="0">
                <a:latin typeface="Courier"/>
                <a:cs typeface="Courier"/>
              </a:endParaRPr>
            </a:p>
          </p:txBody>
        </p:sp>
      </p:grpSp>
      <p:sp>
        <p:nvSpPr>
          <p:cNvPr id="18" name="Rectangle 17"/>
          <p:cNvSpPr/>
          <p:nvPr/>
        </p:nvSpPr>
        <p:spPr>
          <a:xfrm>
            <a:off x="6372820" y="2379310"/>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9" name="Rectangle 18"/>
          <p:cNvSpPr/>
          <p:nvPr/>
        </p:nvSpPr>
        <p:spPr>
          <a:xfrm>
            <a:off x="6156176" y="2384884"/>
            <a:ext cx="2267636" cy="400110"/>
          </a:xfrm>
          <a:prstGeom prst="rect">
            <a:avLst/>
          </a:prstGeom>
        </p:spPr>
        <p:txBody>
          <a:bodyPr wrap="square">
            <a:spAutoFit/>
          </a:bodyPr>
          <a:lstStyle/>
          <a:p>
            <a:r>
              <a:rPr lang="en-US" sz="2000" b="1" dirty="0" err="1">
                <a:latin typeface="Courier"/>
                <a:cs typeface="Courier"/>
              </a:rPr>
              <a:t>last_word</a:t>
            </a:r>
            <a:endParaRPr lang="en-US" sz="2000" b="1" dirty="0">
              <a:latin typeface="Courier"/>
              <a:cs typeface="Courier"/>
            </a:endParaRPr>
          </a:p>
        </p:txBody>
      </p:sp>
      <p:sp>
        <p:nvSpPr>
          <p:cNvPr id="1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cxnSp>
        <p:nvCxnSpPr>
          <p:cNvPr id="17" name="Straight Arrow Connector 16"/>
          <p:cNvCxnSpPr/>
          <p:nvPr/>
        </p:nvCxnSpPr>
        <p:spPr bwMode="auto">
          <a:xfrm>
            <a:off x="8208404" y="2564904"/>
            <a:ext cx="756084"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0" name="Straight Arrow Connector 19"/>
          <p:cNvCxnSpPr/>
          <p:nvPr/>
        </p:nvCxnSpPr>
        <p:spPr bwMode="auto">
          <a:xfrm>
            <a:off x="8208404" y="1988840"/>
            <a:ext cx="756084"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941593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xfrm>
            <a:off x="251520" y="3212976"/>
            <a:ext cx="8640960" cy="4175125"/>
          </a:xfrm>
          <a:ln/>
        </p:spPr>
        <p:txBody>
          <a:bodyPr/>
          <a:lstStyle/>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The</a:t>
            </a:r>
            <a:r>
              <a:rPr lang="en-GB" sz="2400" b="1" dirty="0"/>
              <a:t> </a:t>
            </a:r>
            <a:r>
              <a:rPr lang="en-GB" sz="2400" b="1" dirty="0" err="1">
                <a:latin typeface="Courier"/>
                <a:cs typeface="Courier"/>
              </a:rPr>
              <a:t>hash_table</a:t>
            </a:r>
            <a:r>
              <a:rPr lang="en-GB" sz="2400" dirty="0"/>
              <a:t> structure contains</a:t>
            </a: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a pointer </a:t>
            </a:r>
            <a:r>
              <a:rPr lang="en-GB" sz="2000" b="1" dirty="0" err="1">
                <a:latin typeface="Courier"/>
                <a:cs typeface="Courier"/>
              </a:rPr>
              <a:t>htable</a:t>
            </a:r>
            <a:r>
              <a:rPr lang="en-GB" sz="2000" dirty="0"/>
              <a:t> to a type </a:t>
            </a:r>
            <a:r>
              <a:rPr lang="en-GB" sz="2000" b="1" dirty="0" err="1">
                <a:latin typeface="Courier"/>
                <a:cs typeface="Courier"/>
              </a:rPr>
              <a:t>word_list</a:t>
            </a:r>
            <a:endParaRPr lang="en-GB" sz="2000" b="1" dirty="0">
              <a:latin typeface="Courier New"/>
              <a:cs typeface="Courier New"/>
            </a:endParaRPr>
          </a:p>
          <a:p>
            <a:pPr lvl="2">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cs typeface="Courier New"/>
              </a:rPr>
              <a:t>A pointer to a pointer of the structure </a:t>
            </a:r>
            <a:r>
              <a:rPr lang="en-GB" b="1" dirty="0" err="1">
                <a:solidFill>
                  <a:schemeClr val="tx1"/>
                </a:solidFill>
                <a:latin typeface="Courier"/>
                <a:cs typeface="Courier"/>
              </a:rPr>
              <a:t>word_entry</a:t>
            </a:r>
            <a:endParaRPr lang="en-GB" b="1" dirty="0">
              <a:solidFill>
                <a:schemeClr val="tx1"/>
              </a:solidFill>
              <a:latin typeface="Courier"/>
              <a:cs typeface="Courier"/>
            </a:endParaRP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the fixed size </a:t>
            </a:r>
            <a:r>
              <a:rPr lang="en-GB" sz="2000" b="1" dirty="0" err="1">
                <a:solidFill>
                  <a:schemeClr val="tx1"/>
                </a:solidFill>
                <a:latin typeface="Courier"/>
                <a:cs typeface="Courier"/>
              </a:rPr>
              <a:t>hsize</a:t>
            </a:r>
            <a:endParaRPr lang="en-GB" sz="2000" b="1" dirty="0">
              <a:solidFill>
                <a:schemeClr val="tx1"/>
              </a:solidFill>
              <a:latin typeface="Courier"/>
              <a:cs typeface="Courier"/>
            </a:endParaRP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b="1" dirty="0">
              <a:solidFill>
                <a:schemeClr val="tx1"/>
              </a:solidFill>
              <a:latin typeface="Courier"/>
              <a:cs typeface="Courier"/>
            </a:endParaRPr>
          </a:p>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We have finished the hash table declaration?</a:t>
            </a:r>
            <a:endParaRPr lang="en-GB" sz="2400" b="1" dirty="0">
              <a:latin typeface="Courier New"/>
              <a:cs typeface="Courier New"/>
            </a:endParaRPr>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7" name="AutoShape 3"/>
          <p:cNvSpPr>
            <a:spLocks noChangeArrowheads="1"/>
          </p:cNvSpPr>
          <p:nvPr/>
        </p:nvSpPr>
        <p:spPr bwMode="auto">
          <a:xfrm>
            <a:off x="323528" y="854853"/>
            <a:ext cx="5876551" cy="2248950"/>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hash_table</a:t>
            </a:r>
            <a:endParaRPr lang="en-GB" sz="2000" b="1" dirty="0">
              <a:solidFill>
                <a:schemeClr val="tx1"/>
              </a:solidFill>
              <a:latin typeface="Courier"/>
              <a:cs typeface="Courier"/>
            </a:endParaRP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word_list</a:t>
            </a:r>
            <a:r>
              <a:rPr lang="en-GB" sz="2000" b="1" dirty="0">
                <a:solidFill>
                  <a:schemeClr val="tx1"/>
                </a:solidFill>
                <a:latin typeface="Courier"/>
                <a:cs typeface="Courier"/>
              </a:rPr>
              <a:t> *</a:t>
            </a:r>
            <a:r>
              <a:rPr lang="en-GB" sz="2000" b="1" dirty="0" err="1">
                <a:solidFill>
                  <a:schemeClr val="tx1"/>
                </a:solidFill>
                <a:latin typeface="Courier"/>
                <a:cs typeface="Courier"/>
              </a:rPr>
              <a:t>htable</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int</a:t>
            </a:r>
            <a:r>
              <a:rPr lang="en-GB" sz="2000" b="1" dirty="0">
                <a:solidFill>
                  <a:schemeClr val="tx1"/>
                </a:solidFill>
                <a:latin typeface="Courier"/>
                <a:cs typeface="Courier"/>
              </a:rPr>
              <a:t> </a:t>
            </a:r>
            <a:r>
              <a:rPr lang="en-GB" sz="2000" b="1" dirty="0" err="1">
                <a:solidFill>
                  <a:schemeClr val="tx1"/>
                </a:solidFill>
                <a:latin typeface="Courier"/>
                <a:cs typeface="Courier"/>
              </a:rPr>
              <a:t>hsize</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typedef</a:t>
            </a:r>
            <a:r>
              <a:rPr lang="en-GB" sz="2000" b="1" dirty="0">
                <a:solidFill>
                  <a:schemeClr val="tx1"/>
                </a:solidFill>
                <a:latin typeface="Courier"/>
                <a:cs typeface="Courier"/>
              </a:rPr>
              <a:t> </a:t>
            </a:r>
            <a:r>
              <a:rPr lang="en-GB" sz="2000" b="1" dirty="0" err="1">
                <a:solidFill>
                  <a:schemeClr val="tx1"/>
                </a:solidFill>
                <a:latin typeface="Courier"/>
                <a:cs typeface="Courier"/>
              </a:rPr>
              <a:t>struct</a:t>
            </a:r>
            <a:r>
              <a:rPr lang="en-GB" sz="2000" b="1" dirty="0">
                <a:solidFill>
                  <a:schemeClr val="tx1"/>
                </a:solidFill>
                <a:latin typeface="Courier"/>
                <a:cs typeface="Courier"/>
              </a:rPr>
              <a:t> </a:t>
            </a:r>
            <a:r>
              <a:rPr lang="en-GB" sz="2000" b="1" dirty="0" err="1">
                <a:solidFill>
                  <a:schemeClr val="tx1"/>
                </a:solidFill>
                <a:latin typeface="Courier"/>
                <a:cs typeface="Courier"/>
              </a:rPr>
              <a:t>hash_table</a:t>
            </a:r>
            <a:r>
              <a:rPr lang="en-GB" sz="2000" b="1" dirty="0">
                <a:solidFill>
                  <a:schemeClr val="tx1"/>
                </a:solidFill>
                <a:latin typeface="Courier"/>
                <a:cs typeface="Courier"/>
              </a:rPr>
              <a:t> </a:t>
            </a:r>
            <a:r>
              <a:rPr lang="en-GB" sz="2000" b="1" dirty="0" err="1">
                <a:solidFill>
                  <a:schemeClr val="tx1"/>
                </a:solidFill>
                <a:latin typeface="Courier"/>
                <a:cs typeface="Courier"/>
              </a:rPr>
              <a:t>hash_table</a:t>
            </a:r>
            <a:r>
              <a:rPr lang="en-GB" sz="2000" b="1" dirty="0">
                <a:solidFill>
                  <a:schemeClr val="tx1"/>
                </a:solidFill>
                <a:latin typeface="Courier"/>
                <a:cs typeface="Courier"/>
              </a:rPr>
              <a:t>;</a:t>
            </a: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262</a:t>
            </a:fld>
            <a:endParaRPr lang="fr-FR" sz="1400" dirty="0">
              <a:solidFill>
                <a:srgbClr val="000208"/>
              </a:solidFill>
              <a:latin typeface="Times New Roman" charset="0"/>
            </a:endParaRPr>
          </a:p>
        </p:txBody>
      </p:sp>
      <p:grpSp>
        <p:nvGrpSpPr>
          <p:cNvPr id="10" name="Group 9"/>
          <p:cNvGrpSpPr/>
          <p:nvPr/>
        </p:nvGrpSpPr>
        <p:grpSpPr>
          <a:xfrm>
            <a:off x="6444208" y="908720"/>
            <a:ext cx="2470236" cy="1583054"/>
            <a:chOff x="2922242" y="2468625"/>
            <a:chExt cx="1858168" cy="1583054"/>
          </a:xfrm>
        </p:grpSpPr>
        <p:sp>
          <p:nvSpPr>
            <p:cNvPr id="11" name="Rectangle 10"/>
            <p:cNvSpPr/>
            <p:nvPr/>
          </p:nvSpPr>
          <p:spPr>
            <a:xfrm>
              <a:off x="2922242" y="2882092"/>
              <a:ext cx="1705768" cy="1169587"/>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2" name="Rectangle 11"/>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3" name="Rectangle 12"/>
            <p:cNvSpPr/>
            <p:nvPr/>
          </p:nvSpPr>
          <p:spPr>
            <a:xfrm>
              <a:off x="2922242" y="2468625"/>
              <a:ext cx="1705768" cy="400110"/>
            </a:xfrm>
            <a:prstGeom prst="rect">
              <a:avLst/>
            </a:prstGeom>
          </p:spPr>
          <p:txBody>
            <a:bodyPr wrap="square">
              <a:spAutoFit/>
            </a:bodyPr>
            <a:lstStyle/>
            <a:p>
              <a:r>
                <a:rPr lang="en-US" sz="2000" b="1" dirty="0" err="1">
                  <a:latin typeface="Courier"/>
                  <a:cs typeface="Courier"/>
                </a:rPr>
                <a:t>hash_table</a:t>
              </a:r>
              <a:endParaRPr lang="en-US" sz="2000" b="1" dirty="0">
                <a:latin typeface="Courier"/>
                <a:cs typeface="Courier"/>
              </a:endParaRPr>
            </a:p>
          </p:txBody>
        </p:sp>
        <p:sp>
          <p:nvSpPr>
            <p:cNvPr id="14" name="Rectangle 13"/>
            <p:cNvSpPr/>
            <p:nvPr/>
          </p:nvSpPr>
          <p:spPr>
            <a:xfrm>
              <a:off x="3058325" y="3543232"/>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5" name="Rectangle 14"/>
            <p:cNvSpPr/>
            <p:nvPr/>
          </p:nvSpPr>
          <p:spPr>
            <a:xfrm>
              <a:off x="3058322" y="3040065"/>
              <a:ext cx="1705768" cy="400110"/>
            </a:xfrm>
            <a:prstGeom prst="rect">
              <a:avLst/>
            </a:prstGeom>
          </p:spPr>
          <p:txBody>
            <a:bodyPr wrap="square">
              <a:spAutoFit/>
            </a:bodyPr>
            <a:lstStyle/>
            <a:p>
              <a:r>
                <a:rPr lang="en-US" sz="2000" b="1" dirty="0" err="1">
                  <a:latin typeface="Courier"/>
                  <a:cs typeface="Courier"/>
                </a:rPr>
                <a:t>htable</a:t>
              </a:r>
              <a:endParaRPr lang="en-US" sz="2000" b="1" dirty="0">
                <a:latin typeface="Courier"/>
                <a:cs typeface="Courier"/>
              </a:endParaRPr>
            </a:p>
          </p:txBody>
        </p:sp>
        <p:sp>
          <p:nvSpPr>
            <p:cNvPr id="16" name="Rectangle 15"/>
            <p:cNvSpPr/>
            <p:nvPr/>
          </p:nvSpPr>
          <p:spPr>
            <a:xfrm>
              <a:off x="3074642" y="3494825"/>
              <a:ext cx="1705768" cy="400110"/>
            </a:xfrm>
            <a:prstGeom prst="rect">
              <a:avLst/>
            </a:prstGeom>
          </p:spPr>
          <p:txBody>
            <a:bodyPr wrap="square">
              <a:spAutoFit/>
            </a:bodyPr>
            <a:lstStyle/>
            <a:p>
              <a:r>
                <a:rPr lang="en-US" sz="2000" b="1" dirty="0" err="1">
                  <a:latin typeface="Courier"/>
                  <a:cs typeface="Courier"/>
                </a:rPr>
                <a:t>hsize</a:t>
              </a:r>
              <a:endParaRPr lang="en-US" sz="2000" b="1" dirty="0">
                <a:latin typeface="Courier"/>
                <a:cs typeface="Courier"/>
              </a:endParaRPr>
            </a:p>
          </p:txBody>
        </p:sp>
      </p:grpSp>
      <p:sp>
        <p:nvSpPr>
          <p:cNvPr id="1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cxnSp>
        <p:nvCxnSpPr>
          <p:cNvPr id="18" name="Straight Arrow Connector 17"/>
          <p:cNvCxnSpPr/>
          <p:nvPr/>
        </p:nvCxnSpPr>
        <p:spPr bwMode="auto">
          <a:xfrm>
            <a:off x="8352420" y="1700808"/>
            <a:ext cx="756084" cy="0"/>
          </a:xfrm>
          <a:prstGeom prst="straightConnector1">
            <a:avLst/>
          </a:prstGeom>
          <a:noFill/>
          <a:ln w="6350" cap="flat" cmpd="sng" algn="ctr">
            <a:solidFill>
              <a:srgbClr val="000208"/>
            </a:solidFill>
            <a:prstDash val="solid"/>
            <a:round/>
            <a:headEnd type="none" w="lg" len="lg"/>
            <a:tailEnd type="arrow"/>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16334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AutoShape 3"/>
          <p:cNvSpPr>
            <a:spLocks noChangeArrowheads="1"/>
          </p:cNvSpPr>
          <p:nvPr/>
        </p:nvSpPr>
        <p:spPr bwMode="auto">
          <a:xfrm>
            <a:off x="215516" y="955898"/>
            <a:ext cx="8954818" cy="771623"/>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hash_table</a:t>
            </a:r>
            <a:r>
              <a:rPr lang="en-GB" sz="2000" b="1" dirty="0">
                <a:solidFill>
                  <a:schemeClr val="tx1"/>
                </a:solidFill>
                <a:latin typeface="Courier"/>
                <a:cs typeface="Courier"/>
              </a:rPr>
              <a:t> *</a:t>
            </a:r>
            <a:r>
              <a:rPr lang="en-GB" sz="2000" b="1" dirty="0" err="1">
                <a:solidFill>
                  <a:schemeClr val="tx1"/>
                </a:solidFill>
                <a:latin typeface="Courier"/>
                <a:cs typeface="Courier"/>
              </a:rPr>
              <a:t>htable_ptr</a:t>
            </a:r>
            <a:r>
              <a:rPr lang="en-GB" sz="2000" b="1" dirty="0">
                <a:solidFill>
                  <a:schemeClr val="tx1"/>
                </a:solidFill>
                <a:latin typeface="Courier"/>
                <a:cs typeface="Courier"/>
              </a:rPr>
              <a:t>;</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a:solidFill>
                  <a:schemeClr val="tx1"/>
                </a:solidFill>
                <a:latin typeface="Courier"/>
                <a:cs typeface="Courier"/>
              </a:rPr>
              <a:t>  </a:t>
            </a:r>
            <a:r>
              <a:rPr lang="en-GB" sz="2000" b="1" dirty="0" err="1">
                <a:solidFill>
                  <a:schemeClr val="tx1"/>
                </a:solidFill>
                <a:latin typeface="Courier"/>
                <a:cs typeface="Courier"/>
              </a:rPr>
              <a:t>htable_ptr</a:t>
            </a:r>
            <a:r>
              <a:rPr lang="en-GB" sz="2000" b="1" dirty="0">
                <a:solidFill>
                  <a:schemeClr val="tx1"/>
                </a:solidFill>
                <a:latin typeface="Courier"/>
                <a:cs typeface="Courier"/>
              </a:rPr>
              <a:t> = (</a:t>
            </a:r>
            <a:r>
              <a:rPr lang="en-GB" sz="2000" b="1" dirty="0" err="1">
                <a:solidFill>
                  <a:schemeClr val="tx1"/>
                </a:solidFill>
                <a:latin typeface="Courier"/>
                <a:cs typeface="Courier"/>
              </a:rPr>
              <a:t>hash_table</a:t>
            </a:r>
            <a:r>
              <a:rPr lang="en-GB" sz="2000" b="1" dirty="0">
                <a:solidFill>
                  <a:schemeClr val="tx1"/>
                </a:solidFill>
                <a:latin typeface="Courier"/>
                <a:cs typeface="Courier"/>
              </a:rPr>
              <a:t>*) </a:t>
            </a:r>
            <a:r>
              <a:rPr lang="en-GB" sz="2000" b="1" dirty="0" err="1">
                <a:solidFill>
                  <a:schemeClr val="tx1"/>
                </a:solidFill>
                <a:latin typeface="Courier"/>
                <a:cs typeface="Courier"/>
              </a:rPr>
              <a:t>malloc</a:t>
            </a:r>
            <a:r>
              <a:rPr lang="en-GB" sz="2000" b="1" dirty="0">
                <a:solidFill>
                  <a:schemeClr val="tx1"/>
                </a:solidFill>
                <a:latin typeface="Courier"/>
                <a:cs typeface="Courier"/>
              </a:rPr>
              <a:t> (</a:t>
            </a:r>
            <a:r>
              <a:rPr lang="en-GB" sz="2000" b="1" dirty="0" err="1">
                <a:solidFill>
                  <a:schemeClr val="tx1"/>
                </a:solidFill>
                <a:latin typeface="Courier"/>
                <a:cs typeface="Courier"/>
              </a:rPr>
              <a:t>sizeof</a:t>
            </a:r>
            <a:r>
              <a:rPr lang="en-GB" sz="2000" b="1" dirty="0">
                <a:solidFill>
                  <a:schemeClr val="tx1"/>
                </a:solidFill>
                <a:latin typeface="Courier"/>
                <a:cs typeface="Courier"/>
              </a:rPr>
              <a:t>(</a:t>
            </a:r>
            <a:r>
              <a:rPr lang="en-GB" sz="2000" b="1" dirty="0" err="1">
                <a:solidFill>
                  <a:schemeClr val="tx1"/>
                </a:solidFill>
                <a:latin typeface="Courier"/>
                <a:cs typeface="Courier"/>
              </a:rPr>
              <a:t>hash_table</a:t>
            </a:r>
            <a:r>
              <a:rPr lang="en-GB" sz="2000" b="1" dirty="0">
                <a:solidFill>
                  <a:schemeClr val="tx1"/>
                </a:solidFill>
                <a:latin typeface="Courier"/>
                <a:cs typeface="Courier"/>
              </a:rPr>
              <a:t>));  </a:t>
            </a:r>
          </a:p>
        </p:txBody>
      </p:sp>
      <p:sp>
        <p:nvSpPr>
          <p:cNvPr id="7"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Rectangle 2"/>
          <p:cNvSpPr txBox="1">
            <a:spLocks noChangeArrowheads="1"/>
          </p:cNvSpPr>
          <p:nvPr/>
        </p:nvSpPr>
        <p:spPr bwMode="auto">
          <a:xfrm>
            <a:off x="179512" y="2060848"/>
            <a:ext cx="8964488"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8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4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8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8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8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8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8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800">
                <a:solidFill>
                  <a:srgbClr val="000208"/>
                </a:solidFill>
                <a:latin typeface="+mn-lt"/>
              </a:defRPr>
            </a:lvl9pPr>
          </a:lstStyle>
          <a:p>
            <a:pPr>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Hash table allocation: </a:t>
            </a: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dirty="0" err="1">
                <a:latin typeface="Courier New"/>
                <a:cs typeface="Courier New"/>
              </a:rPr>
              <a:t>malloc</a:t>
            </a:r>
            <a:r>
              <a:rPr lang="en-GB" sz="2000" b="1" dirty="0">
                <a:cs typeface="Courier New"/>
              </a:rPr>
              <a:t> </a:t>
            </a:r>
            <a:r>
              <a:rPr lang="en-GB" sz="2000" dirty="0">
                <a:cs typeface="Courier New"/>
              </a:rPr>
              <a:t>reserves a memory space equal to the structure </a:t>
            </a:r>
            <a:r>
              <a:rPr lang="en-GB" sz="2000" b="1" dirty="0" err="1">
                <a:solidFill>
                  <a:schemeClr val="tx1"/>
                </a:solidFill>
                <a:latin typeface="Courier"/>
                <a:cs typeface="Courier"/>
              </a:rPr>
              <a:t>hash_table</a:t>
            </a:r>
            <a:endParaRPr lang="en-GB" sz="2000" b="1" dirty="0">
              <a:latin typeface="Courier New"/>
              <a:cs typeface="Courier New"/>
            </a:endParaRPr>
          </a:p>
          <a:p>
            <a:pPr lvl="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b="1" dirty="0" err="1">
                <a:latin typeface="Courier New"/>
                <a:cs typeface="Courier New"/>
              </a:rPr>
              <a:t>htable_ptr</a:t>
            </a:r>
            <a:r>
              <a:rPr lang="en-GB" sz="2000" dirty="0"/>
              <a:t> will point to a structure containing an integer and a pointer to a </a:t>
            </a:r>
            <a:r>
              <a:rPr lang="en-GB" sz="2000" b="1" dirty="0" err="1">
                <a:latin typeface="Courier New"/>
                <a:cs typeface="Courier New"/>
              </a:rPr>
              <a:t>word_list</a:t>
            </a:r>
            <a:endParaRPr lang="en-GB" sz="2000" b="1" dirty="0">
              <a:latin typeface="Courier New"/>
              <a:cs typeface="Courier New"/>
            </a:endParaRPr>
          </a:p>
        </p:txBody>
      </p:sp>
      <p:sp>
        <p:nvSpPr>
          <p:cNvPr id="1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263</a:t>
            </a:fld>
            <a:endParaRPr lang="fr-FR" sz="1400" dirty="0">
              <a:solidFill>
                <a:srgbClr val="000208"/>
              </a:solidFill>
              <a:latin typeface="Times New Roman" charset="0"/>
            </a:endParaRPr>
          </a:p>
        </p:txBody>
      </p:sp>
      <p:sp>
        <p:nvSpPr>
          <p:cNvPr id="2" name="Rectangle 1"/>
          <p:cNvSpPr/>
          <p:nvPr/>
        </p:nvSpPr>
        <p:spPr>
          <a:xfrm>
            <a:off x="633172" y="4000998"/>
            <a:ext cx="5417719" cy="400110"/>
          </a:xfrm>
          <a:prstGeom prst="rect">
            <a:avLst/>
          </a:prstGeom>
        </p:spPr>
        <p:txBody>
          <a:bodyPr wrap="none">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dirty="0" err="1">
                <a:solidFill>
                  <a:schemeClr val="tx1"/>
                </a:solidFill>
                <a:latin typeface="Courier"/>
                <a:cs typeface="Courier"/>
              </a:rPr>
              <a:t>htable_ptr</a:t>
            </a:r>
            <a:r>
              <a:rPr lang="en-GB" sz="2000" b="1" dirty="0">
                <a:solidFill>
                  <a:schemeClr val="tx1"/>
                </a:solidFill>
                <a:latin typeface="Courier"/>
                <a:cs typeface="Courier"/>
              </a:rPr>
              <a:t>-&gt;</a:t>
            </a:r>
            <a:r>
              <a:rPr lang="en-GB" sz="2000" b="1" dirty="0" err="1">
                <a:solidFill>
                  <a:schemeClr val="tx1"/>
                </a:solidFill>
                <a:latin typeface="Courier"/>
                <a:cs typeface="Courier"/>
              </a:rPr>
              <a:t>hsize</a:t>
            </a:r>
            <a:r>
              <a:rPr lang="en-GB" sz="2000" b="1" dirty="0">
                <a:solidFill>
                  <a:schemeClr val="tx1"/>
                </a:solidFill>
                <a:latin typeface="Courier"/>
                <a:cs typeface="Courier"/>
              </a:rPr>
              <a:t> = PRIME_NUMBER;</a:t>
            </a:r>
          </a:p>
        </p:txBody>
      </p:sp>
      <p:sp>
        <p:nvSpPr>
          <p:cNvPr id="14" name="Rectangle 2"/>
          <p:cNvSpPr txBox="1">
            <a:spLocks noChangeArrowheads="1"/>
          </p:cNvSpPr>
          <p:nvPr/>
        </p:nvSpPr>
        <p:spPr bwMode="auto">
          <a:xfrm>
            <a:off x="179512" y="3645024"/>
            <a:ext cx="8352928" cy="5040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8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4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8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8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8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8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8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800">
                <a:solidFill>
                  <a:srgbClr val="000208"/>
                </a:solidFill>
                <a:latin typeface="+mn-lt"/>
              </a:defRPr>
            </a:lvl9p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Hash table size initialisation</a:t>
            </a:r>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We have finished the hash table declaration?</a:t>
            </a:r>
            <a:endParaRPr lang="en-GB" sz="2400" b="1" dirty="0">
              <a:latin typeface="Courier New"/>
              <a:cs typeface="Courier New"/>
            </a:endParaRPr>
          </a:p>
          <a:p>
            <a:pPr marL="0" indent="0">
              <a:lnSpc>
                <a:spcPct val="90000"/>
              </a:lnSpc>
              <a:spcBef>
                <a:spcPts val="6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221134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264</a:t>
            </a:fld>
            <a:endParaRPr lang="fr-FR" sz="1400" dirty="0">
              <a:solidFill>
                <a:srgbClr val="000208"/>
              </a:solidFill>
              <a:latin typeface="Times New Roman" charset="0"/>
            </a:endParaRPr>
          </a:p>
        </p:txBody>
      </p:sp>
      <p:grpSp>
        <p:nvGrpSpPr>
          <p:cNvPr id="10" name="Group 9"/>
          <p:cNvGrpSpPr/>
          <p:nvPr/>
        </p:nvGrpSpPr>
        <p:grpSpPr>
          <a:xfrm>
            <a:off x="1418571" y="908720"/>
            <a:ext cx="2289333" cy="1583054"/>
            <a:chOff x="3058322" y="2468625"/>
            <a:chExt cx="1722089" cy="1583054"/>
          </a:xfrm>
        </p:grpSpPr>
        <p:sp>
          <p:nvSpPr>
            <p:cNvPr id="11" name="Rectangle 10"/>
            <p:cNvSpPr/>
            <p:nvPr/>
          </p:nvSpPr>
          <p:spPr>
            <a:xfrm>
              <a:off x="3317463" y="2882092"/>
              <a:ext cx="1310546" cy="1169587"/>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2" name="Rectangle 11"/>
            <p:cNvSpPr/>
            <p:nvPr/>
          </p:nvSpPr>
          <p:spPr>
            <a:xfrm>
              <a:off x="3425795" y="3034492"/>
              <a:ext cx="1066347" cy="334234"/>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3" name="Rectangle 12"/>
            <p:cNvSpPr/>
            <p:nvPr/>
          </p:nvSpPr>
          <p:spPr>
            <a:xfrm>
              <a:off x="3074643" y="2468625"/>
              <a:ext cx="1705768" cy="400110"/>
            </a:xfrm>
            <a:prstGeom prst="rect">
              <a:avLst/>
            </a:prstGeom>
          </p:spPr>
          <p:txBody>
            <a:bodyPr wrap="square">
              <a:spAutoFit/>
            </a:bodyPr>
            <a:lstStyle/>
            <a:p>
              <a:r>
                <a:rPr lang="en-US" sz="2000" b="1" dirty="0" err="1">
                  <a:latin typeface="Courier"/>
                  <a:cs typeface="Courier"/>
                </a:rPr>
                <a:t>hash_table</a:t>
              </a:r>
              <a:endParaRPr lang="en-US" sz="2000" b="1" dirty="0">
                <a:latin typeface="Courier"/>
                <a:cs typeface="Courier"/>
              </a:endParaRPr>
            </a:p>
          </p:txBody>
        </p:sp>
        <p:sp>
          <p:nvSpPr>
            <p:cNvPr id="14" name="Rectangle 13"/>
            <p:cNvSpPr/>
            <p:nvPr/>
          </p:nvSpPr>
          <p:spPr>
            <a:xfrm>
              <a:off x="3425797" y="3543232"/>
              <a:ext cx="1066347" cy="329549"/>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5" name="Rectangle 14"/>
            <p:cNvSpPr/>
            <p:nvPr/>
          </p:nvSpPr>
          <p:spPr>
            <a:xfrm>
              <a:off x="3058322" y="3040065"/>
              <a:ext cx="1705768" cy="400110"/>
            </a:xfrm>
            <a:prstGeom prst="rect">
              <a:avLst/>
            </a:prstGeom>
          </p:spPr>
          <p:txBody>
            <a:bodyPr wrap="square">
              <a:spAutoFit/>
            </a:bodyPr>
            <a:lstStyle/>
            <a:p>
              <a:r>
                <a:rPr lang="en-US" sz="2000" b="1" dirty="0" err="1">
                  <a:latin typeface="Courier"/>
                  <a:cs typeface="Courier"/>
                </a:rPr>
                <a:t>htable</a:t>
              </a:r>
              <a:endParaRPr lang="en-US" sz="2000" b="1" dirty="0">
                <a:latin typeface="Courier"/>
                <a:cs typeface="Courier"/>
              </a:endParaRPr>
            </a:p>
          </p:txBody>
        </p:sp>
        <p:sp>
          <p:nvSpPr>
            <p:cNvPr id="16" name="Rectangle 15"/>
            <p:cNvSpPr/>
            <p:nvPr/>
          </p:nvSpPr>
          <p:spPr>
            <a:xfrm>
              <a:off x="3074642" y="3494825"/>
              <a:ext cx="1705768" cy="400110"/>
            </a:xfrm>
            <a:prstGeom prst="rect">
              <a:avLst/>
            </a:prstGeom>
          </p:spPr>
          <p:txBody>
            <a:bodyPr wrap="square">
              <a:spAutoFit/>
            </a:bodyPr>
            <a:lstStyle/>
            <a:p>
              <a:r>
                <a:rPr lang="en-US" sz="2000" b="1" dirty="0" err="1">
                  <a:latin typeface="Courier"/>
                  <a:cs typeface="Courier"/>
                </a:rPr>
                <a:t>hsize</a:t>
              </a:r>
              <a:endParaRPr lang="en-US" sz="2000" b="1" dirty="0">
                <a:latin typeface="Courier"/>
                <a:cs typeface="Courier"/>
              </a:endParaRPr>
            </a:p>
          </p:txBody>
        </p:sp>
      </p:grpSp>
      <p:sp>
        <p:nvSpPr>
          <p:cNvPr id="53" name="Rectangle 52"/>
          <p:cNvSpPr/>
          <p:nvPr/>
        </p:nvSpPr>
        <p:spPr>
          <a:xfrm>
            <a:off x="-287924" y="1268760"/>
            <a:ext cx="2267636" cy="400110"/>
          </a:xfrm>
          <a:prstGeom prst="rect">
            <a:avLst/>
          </a:prstGeom>
        </p:spPr>
        <p:txBody>
          <a:bodyPr wrap="square">
            <a:spAutoFit/>
          </a:bodyPr>
          <a:lstStyle/>
          <a:p>
            <a:r>
              <a:rPr lang="en-US" sz="2000" b="1" dirty="0" err="1">
                <a:latin typeface="Courier"/>
                <a:cs typeface="Courier"/>
              </a:rPr>
              <a:t>htable_ptr</a:t>
            </a:r>
            <a:endParaRPr lang="en-US" sz="2000" b="1" dirty="0">
              <a:latin typeface="Courier"/>
              <a:cs typeface="Courier"/>
            </a:endParaRPr>
          </a:p>
        </p:txBody>
      </p:sp>
      <p:cxnSp>
        <p:nvCxnSpPr>
          <p:cNvPr id="55" name="Elbow Connector 54"/>
          <p:cNvCxnSpPr>
            <a:stCxn id="53" idx="2"/>
            <a:endCxn id="11" idx="1"/>
          </p:cNvCxnSpPr>
          <p:nvPr/>
        </p:nvCxnSpPr>
        <p:spPr>
          <a:xfrm rot="16200000" flipH="1">
            <a:off x="1185428" y="1329336"/>
            <a:ext cx="238111" cy="917178"/>
          </a:xfrm>
          <a:prstGeom prst="bentConnector2">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sp>
        <p:nvSpPr>
          <p:cNvPr id="5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59051713"/>
      </p:ext>
    </p:extLst>
  </p:cSld>
  <p:clrMapOvr>
    <a:masterClrMapping/>
  </p:clrMapOvr>
  <p:transition spd="me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110125" y="1057174"/>
            <a:ext cx="8352928" cy="1296144"/>
          </a:xfrm>
          <a:ln/>
        </p:spPr>
        <p:txBody>
          <a:body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Hast table pointer initialisation:</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We need to </a:t>
            </a:r>
            <a:r>
              <a:rPr lang="en-GB" sz="2000" b="1" dirty="0"/>
              <a:t>allocate</a:t>
            </a:r>
            <a:r>
              <a:rPr lang="en-GB" sz="2000" dirty="0"/>
              <a:t> space for the linked lists. </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We use an array of structures </a:t>
            </a:r>
            <a:r>
              <a:rPr lang="en-GB" sz="2000" b="1" dirty="0" err="1">
                <a:solidFill>
                  <a:schemeClr val="tx1"/>
                </a:solidFill>
                <a:latin typeface="Courier"/>
                <a:cs typeface="Courier"/>
              </a:rPr>
              <a:t>word_list</a:t>
            </a:r>
            <a:r>
              <a:rPr lang="en-GB" sz="2000" dirty="0"/>
              <a:t> equal to the table size</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p>
        </p:txBody>
      </p:sp>
      <p:sp>
        <p:nvSpPr>
          <p:cNvPr id="7"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11" name="AutoShape 3"/>
          <p:cNvSpPr>
            <a:spLocks noChangeArrowheads="1"/>
          </p:cNvSpPr>
          <p:nvPr/>
        </p:nvSpPr>
        <p:spPr bwMode="auto">
          <a:xfrm>
            <a:off x="99963" y="2445419"/>
            <a:ext cx="9047166" cy="703912"/>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htable</a:t>
            </a:r>
            <a:r>
              <a:rPr lang="en-GB" sz="1800" b="1" dirty="0">
                <a:solidFill>
                  <a:schemeClr val="tx1"/>
                </a:solidFill>
                <a:latin typeface="Courier"/>
                <a:cs typeface="Courier"/>
              </a:rPr>
              <a:t> = </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    (</a:t>
            </a:r>
            <a:r>
              <a:rPr lang="en-GB" sz="1800" b="1" dirty="0" err="1">
                <a:solidFill>
                  <a:schemeClr val="tx1"/>
                </a:solidFill>
                <a:latin typeface="Courier"/>
                <a:cs typeface="Courier"/>
              </a:rPr>
              <a:t>word_list</a:t>
            </a:r>
            <a:r>
              <a:rPr lang="en-GB" sz="1800" b="1" dirty="0">
                <a:solidFill>
                  <a:schemeClr val="tx1"/>
                </a:solidFill>
                <a:latin typeface="Courier"/>
                <a:cs typeface="Courier"/>
              </a:rPr>
              <a:t>*) </a:t>
            </a:r>
            <a:r>
              <a:rPr lang="en-GB" sz="1800" b="1" dirty="0" err="1">
                <a:solidFill>
                  <a:schemeClr val="tx1"/>
                </a:solidFill>
                <a:latin typeface="Courier"/>
                <a:cs typeface="Courier"/>
              </a:rPr>
              <a:t>malloc</a:t>
            </a:r>
            <a:r>
              <a:rPr lang="en-GB" sz="1800" b="1" dirty="0">
                <a:solidFill>
                  <a:schemeClr val="tx1"/>
                </a:solidFill>
                <a:latin typeface="Courier"/>
                <a:cs typeface="Courier"/>
              </a:rPr>
              <a:t>(</a:t>
            </a:r>
            <a:r>
              <a:rPr lang="en-GB" sz="1800" b="1" dirty="0" err="1">
                <a:solidFill>
                  <a:schemeClr val="tx1"/>
                </a:solidFill>
                <a:latin typeface="Courier"/>
                <a:cs typeface="Courier"/>
              </a:rPr>
              <a:t>sizeof</a:t>
            </a:r>
            <a:r>
              <a:rPr lang="en-GB" sz="1800" b="1" dirty="0">
                <a:solidFill>
                  <a:schemeClr val="tx1"/>
                </a:solidFill>
                <a:latin typeface="Courier"/>
                <a:cs typeface="Courier"/>
              </a:rPr>
              <a:t>(</a:t>
            </a:r>
            <a:r>
              <a:rPr lang="en-GB" sz="1800" b="1" dirty="0" err="1">
                <a:solidFill>
                  <a:schemeClr val="tx1"/>
                </a:solidFill>
                <a:latin typeface="Courier"/>
                <a:cs typeface="Courier"/>
              </a:rPr>
              <a:t>word_list</a:t>
            </a:r>
            <a:r>
              <a:rPr lang="en-GB" sz="1800" b="1" dirty="0">
                <a:solidFill>
                  <a:schemeClr val="tx1"/>
                </a:solidFill>
                <a:latin typeface="Courier"/>
                <a:cs typeface="Courier"/>
              </a:rPr>
              <a:t>) * </a:t>
            </a: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hsize</a:t>
            </a:r>
            <a:r>
              <a:rPr lang="en-GB" sz="1800" b="1" dirty="0">
                <a:solidFill>
                  <a:schemeClr val="tx1"/>
                </a:solidFill>
                <a:latin typeface="Courier"/>
                <a:cs typeface="Courier"/>
              </a:rPr>
              <a:t> );</a:t>
            </a:r>
          </a:p>
        </p:txBody>
      </p:sp>
      <p:sp>
        <p:nvSpPr>
          <p:cNvPr id="1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265</a:t>
            </a:fld>
            <a:endParaRPr lang="fr-FR" sz="1400" dirty="0">
              <a:solidFill>
                <a:srgbClr val="000208"/>
              </a:solidFill>
              <a:latin typeface="Times New Roman" charset="0"/>
            </a:endParaRPr>
          </a:p>
        </p:txBody>
      </p:sp>
      <p:sp>
        <p:nvSpPr>
          <p:cNvPr id="15" name="Rectangle 2"/>
          <p:cNvSpPr txBox="1">
            <a:spLocks noChangeArrowheads="1"/>
          </p:cNvSpPr>
          <p:nvPr/>
        </p:nvSpPr>
        <p:spPr bwMode="auto">
          <a:xfrm>
            <a:off x="110125" y="3320988"/>
            <a:ext cx="8928484" cy="7560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8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4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8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8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8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8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8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800">
                <a:solidFill>
                  <a:srgbClr val="000208"/>
                </a:solidFill>
                <a:latin typeface="+mn-lt"/>
              </a:defRPr>
            </a:lvl9pPr>
          </a:lstStyle>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We need to initialize the pointers of the structures </a:t>
            </a:r>
            <a:r>
              <a:rPr lang="en-GB" sz="2000" b="1" dirty="0" err="1">
                <a:latin typeface="Courier New"/>
                <a:cs typeface="Courier New"/>
              </a:rPr>
              <a:t>word_list</a:t>
            </a:r>
            <a:r>
              <a:rPr lang="en-GB" sz="2000" dirty="0"/>
              <a:t> to </a:t>
            </a:r>
            <a:r>
              <a:rPr lang="en-GB" sz="2000" b="1" dirty="0">
                <a:latin typeface="Courier New"/>
                <a:cs typeface="Courier New"/>
              </a:rPr>
              <a:t>NULL</a:t>
            </a:r>
          </a:p>
        </p:txBody>
      </p:sp>
      <p:sp>
        <p:nvSpPr>
          <p:cNvPr id="16" name="AutoShape 3"/>
          <p:cNvSpPr>
            <a:spLocks noChangeArrowheads="1"/>
          </p:cNvSpPr>
          <p:nvPr/>
        </p:nvSpPr>
        <p:spPr bwMode="auto">
          <a:xfrm>
            <a:off x="163857" y="3940862"/>
            <a:ext cx="5999681" cy="1368709"/>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for(</a:t>
            </a:r>
            <a:r>
              <a:rPr lang="en-GB" sz="1800" b="1" dirty="0" err="1">
                <a:solidFill>
                  <a:schemeClr val="tx1"/>
                </a:solidFill>
                <a:latin typeface="Courier"/>
                <a:cs typeface="Courier"/>
              </a:rPr>
              <a:t>i</a:t>
            </a:r>
            <a:r>
              <a:rPr lang="en-GB" sz="1800" b="1" dirty="0">
                <a:solidFill>
                  <a:schemeClr val="tx1"/>
                </a:solidFill>
                <a:latin typeface="Courier"/>
                <a:cs typeface="Courier"/>
              </a:rPr>
              <a:t> = 0; </a:t>
            </a:r>
            <a:r>
              <a:rPr lang="en-GB" sz="1800" b="1" dirty="0" err="1">
                <a:solidFill>
                  <a:schemeClr val="tx1"/>
                </a:solidFill>
                <a:latin typeface="Courier"/>
                <a:cs typeface="Courier"/>
              </a:rPr>
              <a:t>i</a:t>
            </a:r>
            <a:r>
              <a:rPr lang="en-GB" sz="1800" b="1" dirty="0">
                <a:solidFill>
                  <a:schemeClr val="tx1"/>
                </a:solidFill>
                <a:latin typeface="Courier"/>
                <a:cs typeface="Courier"/>
              </a:rPr>
              <a:t> &lt; </a:t>
            </a: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hsize</a:t>
            </a:r>
            <a:r>
              <a:rPr lang="en-GB" sz="1800" b="1" dirty="0">
                <a:solidFill>
                  <a:schemeClr val="tx1"/>
                </a:solidFill>
                <a:latin typeface="Courier"/>
                <a:cs typeface="Courier"/>
              </a:rPr>
              <a:t> ; </a:t>
            </a:r>
            <a:r>
              <a:rPr lang="en-GB" sz="1800" b="1" dirty="0" err="1">
                <a:solidFill>
                  <a:schemeClr val="tx1"/>
                </a:solidFill>
                <a:latin typeface="Courier"/>
                <a:cs typeface="Courier"/>
              </a:rPr>
              <a:t>i</a:t>
            </a:r>
            <a:r>
              <a:rPr lang="en-GB" sz="1800" b="1" dirty="0">
                <a:solidFill>
                  <a:schemeClr val="tx1"/>
                </a:solidFill>
                <a:latin typeface="Courier"/>
                <a:cs typeface="Courier"/>
              </a:rPr>
              <a:t>++ ){</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  </a:t>
            </a: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htable</a:t>
            </a:r>
            <a:r>
              <a:rPr lang="en-GB" sz="1800" b="1" dirty="0">
                <a:solidFill>
                  <a:schemeClr val="tx1"/>
                </a:solidFill>
                <a:latin typeface="Courier"/>
                <a:cs typeface="Courier"/>
              </a:rPr>
              <a:t>[</a:t>
            </a:r>
            <a:r>
              <a:rPr lang="en-GB" sz="1800" b="1" dirty="0" err="1">
                <a:solidFill>
                  <a:schemeClr val="tx1"/>
                </a:solidFill>
                <a:latin typeface="Courier"/>
                <a:cs typeface="Courier"/>
              </a:rPr>
              <a:t>i</a:t>
            </a:r>
            <a:r>
              <a:rPr lang="en-GB" sz="1800" b="1" dirty="0">
                <a:solidFill>
                  <a:schemeClr val="tx1"/>
                </a:solidFill>
                <a:latin typeface="Courier"/>
                <a:cs typeface="Courier"/>
              </a:rPr>
              <a:t>].</a:t>
            </a:r>
            <a:r>
              <a:rPr lang="en-GB" sz="1800" b="1" dirty="0" err="1">
                <a:solidFill>
                  <a:schemeClr val="tx1"/>
                </a:solidFill>
                <a:latin typeface="Courier"/>
                <a:cs typeface="Courier"/>
              </a:rPr>
              <a:t>first_word</a:t>
            </a:r>
            <a:r>
              <a:rPr lang="en-GB" sz="1800" b="1" dirty="0">
                <a:solidFill>
                  <a:schemeClr val="tx1"/>
                </a:solidFill>
                <a:latin typeface="Courier"/>
                <a:cs typeface="Courier"/>
              </a:rPr>
              <a:t> = NULL;</a:t>
            </a:r>
          </a:p>
          <a:p>
            <a:pPr algn="l" eaLnBrk="1" hangingPunct="1">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  </a:t>
            </a: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htable</a:t>
            </a:r>
            <a:r>
              <a:rPr lang="en-GB" sz="1800" b="1" dirty="0">
                <a:solidFill>
                  <a:schemeClr val="tx1"/>
                </a:solidFill>
                <a:latin typeface="Courier"/>
                <a:cs typeface="Courier"/>
              </a:rPr>
              <a:t>[</a:t>
            </a:r>
            <a:r>
              <a:rPr lang="en-GB" sz="1800" b="1" dirty="0" err="1">
                <a:solidFill>
                  <a:schemeClr val="tx1"/>
                </a:solidFill>
                <a:latin typeface="Courier"/>
                <a:cs typeface="Courier"/>
              </a:rPr>
              <a:t>i</a:t>
            </a:r>
            <a:r>
              <a:rPr lang="en-GB" sz="1800" b="1" dirty="0">
                <a:solidFill>
                  <a:schemeClr val="tx1"/>
                </a:solidFill>
                <a:latin typeface="Courier"/>
                <a:cs typeface="Courier"/>
              </a:rPr>
              <a:t>].</a:t>
            </a:r>
            <a:r>
              <a:rPr lang="en-GB" sz="1800" b="1" dirty="0" err="1">
                <a:solidFill>
                  <a:schemeClr val="tx1"/>
                </a:solidFill>
                <a:latin typeface="Courier"/>
                <a:cs typeface="Courier"/>
              </a:rPr>
              <a:t>last_word</a:t>
            </a:r>
            <a:r>
              <a:rPr lang="en-GB" sz="1800" b="1" dirty="0">
                <a:solidFill>
                  <a:schemeClr val="tx1"/>
                </a:solidFill>
                <a:latin typeface="Courier"/>
                <a:cs typeface="Courier"/>
              </a:rPr>
              <a:t> = NULL;</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070645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3962686" y="1340768"/>
            <a:ext cx="2267636" cy="4824536"/>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266</a:t>
            </a:fld>
            <a:endParaRPr lang="fr-FR" sz="1400" dirty="0">
              <a:solidFill>
                <a:srgbClr val="000208"/>
              </a:solidFill>
              <a:latin typeface="Times New Roman" charset="0"/>
            </a:endParaRPr>
          </a:p>
        </p:txBody>
      </p:sp>
      <p:grpSp>
        <p:nvGrpSpPr>
          <p:cNvPr id="10" name="Group 9"/>
          <p:cNvGrpSpPr/>
          <p:nvPr/>
        </p:nvGrpSpPr>
        <p:grpSpPr>
          <a:xfrm>
            <a:off x="1418571" y="908720"/>
            <a:ext cx="2289333" cy="1583054"/>
            <a:chOff x="3058322" y="2468625"/>
            <a:chExt cx="1722089" cy="1583054"/>
          </a:xfrm>
        </p:grpSpPr>
        <p:sp>
          <p:nvSpPr>
            <p:cNvPr id="11" name="Rectangle 10"/>
            <p:cNvSpPr/>
            <p:nvPr/>
          </p:nvSpPr>
          <p:spPr>
            <a:xfrm>
              <a:off x="3317463" y="2882092"/>
              <a:ext cx="1310546" cy="1169587"/>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2" name="Rectangle 11"/>
            <p:cNvSpPr/>
            <p:nvPr/>
          </p:nvSpPr>
          <p:spPr>
            <a:xfrm>
              <a:off x="3425795" y="3034492"/>
              <a:ext cx="1066347" cy="334234"/>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3" name="Rectangle 12"/>
            <p:cNvSpPr/>
            <p:nvPr/>
          </p:nvSpPr>
          <p:spPr>
            <a:xfrm>
              <a:off x="3074643" y="2468625"/>
              <a:ext cx="1705768" cy="400110"/>
            </a:xfrm>
            <a:prstGeom prst="rect">
              <a:avLst/>
            </a:prstGeom>
          </p:spPr>
          <p:txBody>
            <a:bodyPr wrap="square">
              <a:spAutoFit/>
            </a:bodyPr>
            <a:lstStyle/>
            <a:p>
              <a:r>
                <a:rPr lang="en-US" sz="2000" b="1" dirty="0" err="1">
                  <a:latin typeface="Courier"/>
                  <a:cs typeface="Courier"/>
                </a:rPr>
                <a:t>hash_table</a:t>
              </a:r>
              <a:endParaRPr lang="en-US" sz="2000" b="1" dirty="0">
                <a:latin typeface="Courier"/>
                <a:cs typeface="Courier"/>
              </a:endParaRPr>
            </a:p>
          </p:txBody>
        </p:sp>
        <p:sp>
          <p:nvSpPr>
            <p:cNvPr id="14" name="Rectangle 13"/>
            <p:cNvSpPr/>
            <p:nvPr/>
          </p:nvSpPr>
          <p:spPr>
            <a:xfrm>
              <a:off x="3425797" y="3543232"/>
              <a:ext cx="1066347" cy="329549"/>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5" name="Rectangle 14"/>
            <p:cNvSpPr/>
            <p:nvPr/>
          </p:nvSpPr>
          <p:spPr>
            <a:xfrm>
              <a:off x="3058322" y="3040065"/>
              <a:ext cx="1705768" cy="400110"/>
            </a:xfrm>
            <a:prstGeom prst="rect">
              <a:avLst/>
            </a:prstGeom>
          </p:spPr>
          <p:txBody>
            <a:bodyPr wrap="square">
              <a:spAutoFit/>
            </a:bodyPr>
            <a:lstStyle/>
            <a:p>
              <a:r>
                <a:rPr lang="en-US" sz="2000" b="1" dirty="0" err="1">
                  <a:latin typeface="Courier"/>
                  <a:cs typeface="Courier"/>
                </a:rPr>
                <a:t>htable</a:t>
              </a:r>
              <a:endParaRPr lang="en-US" sz="2000" b="1" dirty="0">
                <a:latin typeface="Courier"/>
                <a:cs typeface="Courier"/>
              </a:endParaRPr>
            </a:p>
          </p:txBody>
        </p:sp>
        <p:sp>
          <p:nvSpPr>
            <p:cNvPr id="16" name="Rectangle 15"/>
            <p:cNvSpPr/>
            <p:nvPr/>
          </p:nvSpPr>
          <p:spPr>
            <a:xfrm>
              <a:off x="3074642" y="3494825"/>
              <a:ext cx="1705768" cy="400110"/>
            </a:xfrm>
            <a:prstGeom prst="rect">
              <a:avLst/>
            </a:prstGeom>
          </p:spPr>
          <p:txBody>
            <a:bodyPr wrap="square">
              <a:spAutoFit/>
            </a:bodyPr>
            <a:lstStyle/>
            <a:p>
              <a:r>
                <a:rPr lang="en-US" sz="2000" b="1" dirty="0" err="1">
                  <a:latin typeface="Courier"/>
                  <a:cs typeface="Courier"/>
                </a:rPr>
                <a:t>hsize</a:t>
              </a:r>
              <a:endParaRPr lang="en-US" sz="2000" b="1" dirty="0">
                <a:latin typeface="Courier"/>
                <a:cs typeface="Courier"/>
              </a:endParaRPr>
            </a:p>
          </p:txBody>
        </p:sp>
      </p:grpSp>
      <p:grpSp>
        <p:nvGrpSpPr>
          <p:cNvPr id="61" name="Group 60"/>
          <p:cNvGrpSpPr/>
          <p:nvPr/>
        </p:nvGrpSpPr>
        <p:grpSpPr>
          <a:xfrm>
            <a:off x="3924543" y="944724"/>
            <a:ext cx="2303640" cy="1692188"/>
            <a:chOff x="3924543" y="944724"/>
            <a:chExt cx="2303640" cy="1692188"/>
          </a:xfrm>
        </p:grpSpPr>
        <p:grpSp>
          <p:nvGrpSpPr>
            <p:cNvPr id="29" name="Group 28"/>
            <p:cNvGrpSpPr/>
            <p:nvPr/>
          </p:nvGrpSpPr>
          <p:grpSpPr>
            <a:xfrm>
              <a:off x="3960547" y="944724"/>
              <a:ext cx="2267636" cy="1692188"/>
              <a:chOff x="2922242" y="2468625"/>
              <a:chExt cx="1705768" cy="1692188"/>
            </a:xfrm>
          </p:grpSpPr>
          <p:sp>
            <p:nvSpPr>
              <p:cNvPr id="30" name="Rectangle 29"/>
              <p:cNvSpPr/>
              <p:nvPr/>
            </p:nvSpPr>
            <p:spPr>
              <a:xfrm>
                <a:off x="2922242" y="2882092"/>
                <a:ext cx="1705768" cy="1278721"/>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1" name="Rectangle 30"/>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2" name="Rectangle 31"/>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word_list</a:t>
                </a:r>
                <a:endParaRPr lang="en-US" sz="2000" b="1" dirty="0">
                  <a:latin typeface="Courier"/>
                  <a:cs typeface="Courier"/>
                </a:endParaRPr>
              </a:p>
            </p:txBody>
          </p:sp>
          <p:sp>
            <p:nvSpPr>
              <p:cNvPr id="33" name="Rectangle 32"/>
              <p:cNvSpPr/>
              <p:nvPr/>
            </p:nvSpPr>
            <p:spPr>
              <a:xfrm>
                <a:off x="2922242" y="3040065"/>
                <a:ext cx="1705768" cy="400110"/>
              </a:xfrm>
              <a:prstGeom prst="rect">
                <a:avLst/>
              </a:prstGeom>
            </p:spPr>
            <p:txBody>
              <a:bodyPr wrap="square">
                <a:spAutoFit/>
              </a:bodyPr>
              <a:lstStyle/>
              <a:p>
                <a:r>
                  <a:rPr lang="en-US" sz="2000" b="1" dirty="0" err="1">
                    <a:latin typeface="Courier"/>
                    <a:cs typeface="Courier"/>
                  </a:rPr>
                  <a:t>first_word</a:t>
                </a:r>
                <a:endParaRPr lang="en-US" sz="2000" b="1" dirty="0">
                  <a:latin typeface="Courier"/>
                  <a:cs typeface="Courier"/>
                </a:endParaRPr>
              </a:p>
            </p:txBody>
          </p:sp>
        </p:grpSp>
        <p:sp>
          <p:nvSpPr>
            <p:cNvPr id="34" name="Rectangle 33"/>
            <p:cNvSpPr/>
            <p:nvPr/>
          </p:nvSpPr>
          <p:spPr>
            <a:xfrm>
              <a:off x="4141187" y="209127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5" name="Rectangle 34"/>
            <p:cNvSpPr/>
            <p:nvPr/>
          </p:nvSpPr>
          <p:spPr>
            <a:xfrm>
              <a:off x="3924543" y="2096852"/>
              <a:ext cx="2267636" cy="400110"/>
            </a:xfrm>
            <a:prstGeom prst="rect">
              <a:avLst/>
            </a:prstGeom>
          </p:spPr>
          <p:txBody>
            <a:bodyPr wrap="square">
              <a:spAutoFit/>
            </a:bodyPr>
            <a:lstStyle/>
            <a:p>
              <a:r>
                <a:rPr lang="en-US" sz="2000" b="1" dirty="0" err="1">
                  <a:latin typeface="Courier"/>
                  <a:cs typeface="Courier"/>
                </a:rPr>
                <a:t>last_word</a:t>
              </a:r>
              <a:endParaRPr lang="en-US" sz="2000" b="1" dirty="0">
                <a:latin typeface="Courier"/>
                <a:cs typeface="Courier"/>
              </a:endParaRPr>
            </a:p>
          </p:txBody>
        </p:sp>
      </p:grpSp>
      <p:cxnSp>
        <p:nvCxnSpPr>
          <p:cNvPr id="48" name="Elbow Connector 47"/>
          <p:cNvCxnSpPr>
            <a:endCxn id="77" idx="1"/>
          </p:cNvCxnSpPr>
          <p:nvPr/>
        </p:nvCxnSpPr>
        <p:spPr>
          <a:xfrm rot="16200000" flipH="1">
            <a:off x="2503147" y="2293497"/>
            <a:ext cx="2088232" cy="830846"/>
          </a:xfrm>
          <a:prstGeom prst="bentConnector2">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87924" y="1268760"/>
            <a:ext cx="2267636" cy="400110"/>
          </a:xfrm>
          <a:prstGeom prst="rect">
            <a:avLst/>
          </a:prstGeom>
        </p:spPr>
        <p:txBody>
          <a:bodyPr wrap="square">
            <a:spAutoFit/>
          </a:bodyPr>
          <a:lstStyle/>
          <a:p>
            <a:r>
              <a:rPr lang="en-US" sz="2000" b="1" dirty="0" err="1">
                <a:latin typeface="Courier"/>
                <a:cs typeface="Courier"/>
              </a:rPr>
              <a:t>htable_ptr</a:t>
            </a:r>
            <a:endParaRPr lang="en-US" sz="2000" b="1" dirty="0">
              <a:latin typeface="Courier"/>
              <a:cs typeface="Courier"/>
            </a:endParaRPr>
          </a:p>
        </p:txBody>
      </p:sp>
      <p:cxnSp>
        <p:nvCxnSpPr>
          <p:cNvPr id="55" name="Elbow Connector 54"/>
          <p:cNvCxnSpPr>
            <a:stCxn id="53" idx="2"/>
            <a:endCxn id="11" idx="1"/>
          </p:cNvCxnSpPr>
          <p:nvPr/>
        </p:nvCxnSpPr>
        <p:spPr>
          <a:xfrm rot="16200000" flipH="1">
            <a:off x="1185428" y="1329336"/>
            <a:ext cx="238111" cy="917178"/>
          </a:xfrm>
          <a:prstGeom prst="bentConnector2">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grpSp>
        <p:nvGrpSpPr>
          <p:cNvPr id="69" name="Group 68"/>
          <p:cNvGrpSpPr/>
          <p:nvPr/>
        </p:nvGrpSpPr>
        <p:grpSpPr>
          <a:xfrm>
            <a:off x="3926682" y="4473116"/>
            <a:ext cx="2303640" cy="1692188"/>
            <a:chOff x="3924543" y="944724"/>
            <a:chExt cx="2303640" cy="1692188"/>
          </a:xfrm>
        </p:grpSpPr>
        <p:grpSp>
          <p:nvGrpSpPr>
            <p:cNvPr id="70" name="Group 69"/>
            <p:cNvGrpSpPr/>
            <p:nvPr/>
          </p:nvGrpSpPr>
          <p:grpSpPr>
            <a:xfrm>
              <a:off x="3960547" y="944724"/>
              <a:ext cx="2267636" cy="1692188"/>
              <a:chOff x="2922242" y="2468625"/>
              <a:chExt cx="1705768" cy="1692188"/>
            </a:xfrm>
          </p:grpSpPr>
          <p:sp>
            <p:nvSpPr>
              <p:cNvPr id="73" name="Rectangle 72"/>
              <p:cNvSpPr/>
              <p:nvPr/>
            </p:nvSpPr>
            <p:spPr>
              <a:xfrm>
                <a:off x="2922242" y="2882092"/>
                <a:ext cx="1705768" cy="1278721"/>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4" name="Rectangle 73"/>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5" name="Rectangle 74"/>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word_list</a:t>
                </a:r>
                <a:endParaRPr lang="en-US" sz="2000" b="1" dirty="0">
                  <a:latin typeface="Courier"/>
                  <a:cs typeface="Courier"/>
                </a:endParaRPr>
              </a:p>
            </p:txBody>
          </p:sp>
          <p:sp>
            <p:nvSpPr>
              <p:cNvPr id="76" name="Rectangle 75"/>
              <p:cNvSpPr/>
              <p:nvPr/>
            </p:nvSpPr>
            <p:spPr>
              <a:xfrm>
                <a:off x="2922242" y="3040065"/>
                <a:ext cx="1705768" cy="400110"/>
              </a:xfrm>
              <a:prstGeom prst="rect">
                <a:avLst/>
              </a:prstGeom>
            </p:spPr>
            <p:txBody>
              <a:bodyPr wrap="square">
                <a:spAutoFit/>
              </a:bodyPr>
              <a:lstStyle/>
              <a:p>
                <a:r>
                  <a:rPr lang="en-US" sz="2000" b="1" dirty="0" err="1">
                    <a:latin typeface="Courier"/>
                    <a:cs typeface="Courier"/>
                  </a:rPr>
                  <a:t>first_word</a:t>
                </a:r>
                <a:endParaRPr lang="en-US" sz="2000" b="1" dirty="0">
                  <a:latin typeface="Courier"/>
                  <a:cs typeface="Courier"/>
                </a:endParaRPr>
              </a:p>
            </p:txBody>
          </p:sp>
        </p:grpSp>
        <p:sp>
          <p:nvSpPr>
            <p:cNvPr id="71" name="Rectangle 70"/>
            <p:cNvSpPr/>
            <p:nvPr/>
          </p:nvSpPr>
          <p:spPr>
            <a:xfrm>
              <a:off x="4141187" y="209127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2" name="Rectangle 71"/>
            <p:cNvSpPr/>
            <p:nvPr/>
          </p:nvSpPr>
          <p:spPr>
            <a:xfrm>
              <a:off x="3924543" y="2096852"/>
              <a:ext cx="2267636" cy="400110"/>
            </a:xfrm>
            <a:prstGeom prst="rect">
              <a:avLst/>
            </a:prstGeom>
          </p:spPr>
          <p:txBody>
            <a:bodyPr wrap="square">
              <a:spAutoFit/>
            </a:bodyPr>
            <a:lstStyle/>
            <a:p>
              <a:r>
                <a:rPr lang="en-US" sz="2000" b="1" dirty="0" err="1">
                  <a:latin typeface="Courier"/>
                  <a:cs typeface="Courier"/>
                </a:rPr>
                <a:t>last_word</a:t>
              </a:r>
              <a:endParaRPr lang="en-US" sz="2000" b="1" dirty="0">
                <a:latin typeface="Courier"/>
                <a:cs typeface="Courier"/>
              </a:endParaRPr>
            </a:p>
          </p:txBody>
        </p:sp>
      </p:grpSp>
      <p:sp>
        <p:nvSpPr>
          <p:cNvPr id="79" name="Text Box 1067"/>
          <p:cNvSpPr txBox="1">
            <a:spLocks noChangeArrowheads="1"/>
          </p:cNvSpPr>
          <p:nvPr/>
        </p:nvSpPr>
        <p:spPr bwMode="auto">
          <a:xfrm>
            <a:off x="6660232" y="1484784"/>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82" name="Straight Arrow Connector 81"/>
          <p:cNvCxnSpPr>
            <a:endCxn id="79" idx="1"/>
          </p:cNvCxnSpPr>
          <p:nvPr/>
        </p:nvCxnSpPr>
        <p:spPr bwMode="auto">
          <a:xfrm flipV="1">
            <a:off x="5940152" y="1684839"/>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8" name="Text Box 1067"/>
          <p:cNvSpPr txBox="1">
            <a:spLocks noChangeArrowheads="1"/>
          </p:cNvSpPr>
          <p:nvPr/>
        </p:nvSpPr>
        <p:spPr bwMode="auto">
          <a:xfrm>
            <a:off x="6624228" y="2056782"/>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89" name="Straight Arrow Connector 88"/>
          <p:cNvCxnSpPr>
            <a:endCxn id="88" idx="1"/>
          </p:cNvCxnSpPr>
          <p:nvPr/>
        </p:nvCxnSpPr>
        <p:spPr bwMode="auto">
          <a:xfrm flipV="1">
            <a:off x="5904148" y="2256837"/>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0" name="Text Box 1067"/>
          <p:cNvSpPr txBox="1">
            <a:spLocks noChangeArrowheads="1"/>
          </p:cNvSpPr>
          <p:nvPr/>
        </p:nvSpPr>
        <p:spPr bwMode="auto">
          <a:xfrm>
            <a:off x="6696236" y="5017242"/>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91" name="Straight Arrow Connector 90"/>
          <p:cNvCxnSpPr>
            <a:endCxn id="90" idx="1"/>
          </p:cNvCxnSpPr>
          <p:nvPr/>
        </p:nvCxnSpPr>
        <p:spPr bwMode="auto">
          <a:xfrm flipV="1">
            <a:off x="5976156" y="5217297"/>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2" name="Text Box 1067"/>
          <p:cNvSpPr txBox="1">
            <a:spLocks noChangeArrowheads="1"/>
          </p:cNvSpPr>
          <p:nvPr/>
        </p:nvSpPr>
        <p:spPr bwMode="auto">
          <a:xfrm>
            <a:off x="6660232" y="5589240"/>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93" name="Straight Arrow Connector 92"/>
          <p:cNvCxnSpPr>
            <a:endCxn id="92" idx="1"/>
          </p:cNvCxnSpPr>
          <p:nvPr/>
        </p:nvCxnSpPr>
        <p:spPr bwMode="auto">
          <a:xfrm flipV="1">
            <a:off x="5940152" y="5789295"/>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5" name="Rectangle 94"/>
          <p:cNvSpPr/>
          <p:nvPr/>
        </p:nvSpPr>
        <p:spPr>
          <a:xfrm>
            <a:off x="3563888" y="1772816"/>
            <a:ext cx="432048" cy="400110"/>
          </a:xfrm>
          <a:prstGeom prst="rect">
            <a:avLst/>
          </a:prstGeom>
        </p:spPr>
        <p:txBody>
          <a:bodyPr wrap="square">
            <a:spAutoFit/>
          </a:bodyPr>
          <a:lstStyle/>
          <a:p>
            <a:r>
              <a:rPr lang="en-US" sz="2000" b="1" dirty="0">
                <a:latin typeface="Courier"/>
                <a:cs typeface="Courier"/>
              </a:rPr>
              <a:t>0</a:t>
            </a:r>
          </a:p>
        </p:txBody>
      </p:sp>
      <p:sp>
        <p:nvSpPr>
          <p:cNvPr id="96" name="Rectangle 95"/>
          <p:cNvSpPr/>
          <p:nvPr/>
        </p:nvSpPr>
        <p:spPr>
          <a:xfrm>
            <a:off x="2519772" y="5481228"/>
            <a:ext cx="1476164" cy="400110"/>
          </a:xfrm>
          <a:prstGeom prst="rect">
            <a:avLst/>
          </a:prstGeom>
        </p:spPr>
        <p:txBody>
          <a:bodyPr wrap="square">
            <a:spAutoFit/>
          </a:bodyPr>
          <a:lstStyle/>
          <a:p>
            <a:r>
              <a:rPr lang="en-US" sz="2000" b="1" dirty="0">
                <a:latin typeface="Courier"/>
                <a:cs typeface="Courier"/>
              </a:rPr>
              <a:t>hsize-1</a:t>
            </a:r>
          </a:p>
        </p:txBody>
      </p:sp>
      <p:sp>
        <p:nvSpPr>
          <p:cNvPr id="42"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658898372"/>
      </p:ext>
    </p:extLst>
  </p:cSld>
  <p:clrMapOvr>
    <a:masterClrMapping/>
  </p:clrMapOvr>
  <p:transition spd="me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110125" y="1057174"/>
            <a:ext cx="8352928" cy="1296144"/>
          </a:xfrm>
          <a:ln/>
        </p:spPr>
        <p:txBody>
          <a:bodyPr/>
          <a:lstStyle/>
          <a:p>
            <a:pPr>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When a new word is added:</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We need to </a:t>
            </a:r>
            <a:r>
              <a:rPr lang="en-GB" sz="2000" b="1" dirty="0"/>
              <a:t>allocate</a:t>
            </a:r>
            <a:r>
              <a:rPr lang="en-GB" sz="2000" dirty="0"/>
              <a:t> space for the word</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Connected to the list based on the hash key</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000" dirty="0"/>
          </a:p>
        </p:txBody>
      </p:sp>
      <p:sp>
        <p:nvSpPr>
          <p:cNvPr id="7"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12"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267</a:t>
            </a:fld>
            <a:endParaRPr lang="fr-FR" sz="1400" dirty="0">
              <a:solidFill>
                <a:srgbClr val="000208"/>
              </a:solidFill>
              <a:latin typeface="Times New Roman" charset="0"/>
            </a:endParaRPr>
          </a:p>
        </p:txBody>
      </p:sp>
      <p:sp>
        <p:nvSpPr>
          <p:cNvPr id="16" name="AutoShape 3"/>
          <p:cNvSpPr>
            <a:spLocks noChangeArrowheads="1"/>
          </p:cNvSpPr>
          <p:nvPr/>
        </p:nvSpPr>
        <p:spPr bwMode="auto">
          <a:xfrm>
            <a:off x="163856" y="2888940"/>
            <a:ext cx="8764627" cy="703912"/>
          </a:xfrm>
          <a:prstGeom prst="roundRect">
            <a:avLst>
              <a:gd name="adj" fmla="val 42"/>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square" lIns="90000" tIns="46800" rIns="90000" bIns="46800">
            <a:spAutoFit/>
          </a:bodyPr>
          <a:lstStyle/>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solidFill>
                  <a:schemeClr val="tx1"/>
                </a:solidFill>
                <a:latin typeface="Courier"/>
                <a:cs typeface="Courier"/>
              </a:rPr>
              <a:t>htable_ptr</a:t>
            </a:r>
            <a:r>
              <a:rPr lang="en-GB" sz="1800" b="1" dirty="0">
                <a:solidFill>
                  <a:schemeClr val="tx1"/>
                </a:solidFill>
                <a:latin typeface="Courier"/>
                <a:cs typeface="Courier"/>
              </a:rPr>
              <a:t>-&gt;</a:t>
            </a:r>
            <a:r>
              <a:rPr lang="en-GB" sz="1800" b="1" dirty="0" err="1">
                <a:solidFill>
                  <a:schemeClr val="tx1"/>
                </a:solidFill>
                <a:latin typeface="Courier"/>
                <a:cs typeface="Courier"/>
              </a:rPr>
              <a:t>htable</a:t>
            </a:r>
            <a:r>
              <a:rPr lang="en-GB" sz="1800" b="1" dirty="0">
                <a:solidFill>
                  <a:schemeClr val="tx1"/>
                </a:solidFill>
                <a:latin typeface="Courier"/>
                <a:cs typeface="Courier"/>
              </a:rPr>
              <a:t>[key].</a:t>
            </a:r>
            <a:r>
              <a:rPr lang="en-GB" sz="1800" b="1" dirty="0" err="1">
                <a:solidFill>
                  <a:schemeClr val="tx1"/>
                </a:solidFill>
                <a:latin typeface="Courier"/>
                <a:cs typeface="Courier"/>
              </a:rPr>
              <a:t>first_word</a:t>
            </a:r>
            <a:r>
              <a:rPr lang="en-GB" sz="1800" b="1" dirty="0">
                <a:solidFill>
                  <a:schemeClr val="tx1"/>
                </a:solidFill>
                <a:latin typeface="Courier"/>
                <a:cs typeface="Courier"/>
              </a:rPr>
              <a:t> = </a:t>
            </a:r>
          </a:p>
          <a:p>
            <a:pPr algn="l" eaLnBrk="1" hangingPunct="1">
              <a:buClr>
                <a:srgbClr val="000000"/>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solidFill>
                  <a:schemeClr val="tx1"/>
                </a:solidFill>
                <a:latin typeface="Courier"/>
                <a:cs typeface="Courier"/>
              </a:rPr>
              <a:t>			(</a:t>
            </a:r>
            <a:r>
              <a:rPr lang="en-GB" sz="1800" b="1" dirty="0" err="1">
                <a:solidFill>
                  <a:schemeClr val="tx1"/>
                </a:solidFill>
                <a:latin typeface="Courier"/>
                <a:cs typeface="Courier"/>
              </a:rPr>
              <a:t>word_entry</a:t>
            </a:r>
            <a:r>
              <a:rPr lang="en-GB" sz="1800" b="1" dirty="0">
                <a:solidFill>
                  <a:schemeClr val="tx1"/>
                </a:solidFill>
                <a:latin typeface="Courier"/>
                <a:cs typeface="Courier"/>
              </a:rPr>
              <a:t>*)</a:t>
            </a:r>
            <a:r>
              <a:rPr lang="en-GB" sz="1800" b="1" dirty="0" err="1">
                <a:solidFill>
                  <a:schemeClr val="tx1"/>
                </a:solidFill>
                <a:latin typeface="Courier"/>
                <a:cs typeface="Courier"/>
              </a:rPr>
              <a:t>malloc</a:t>
            </a:r>
            <a:r>
              <a:rPr lang="en-GB" sz="1800" b="1" dirty="0">
                <a:solidFill>
                  <a:schemeClr val="tx1"/>
                </a:solidFill>
                <a:latin typeface="Courier"/>
                <a:cs typeface="Courier"/>
              </a:rPr>
              <a:t>(</a:t>
            </a:r>
            <a:r>
              <a:rPr lang="en-GB" sz="1800" b="1" dirty="0" err="1">
                <a:solidFill>
                  <a:schemeClr val="tx1"/>
                </a:solidFill>
                <a:latin typeface="Courier"/>
                <a:cs typeface="Courier"/>
              </a:rPr>
              <a:t>sizeof</a:t>
            </a:r>
            <a:r>
              <a:rPr lang="en-GB" sz="1800" b="1" dirty="0">
                <a:solidFill>
                  <a:schemeClr val="tx1"/>
                </a:solidFill>
                <a:latin typeface="Courier"/>
                <a:cs typeface="Courier"/>
              </a:rPr>
              <a:t>(</a:t>
            </a:r>
            <a:r>
              <a:rPr lang="en-GB" sz="1800" b="1" dirty="0" err="1">
                <a:solidFill>
                  <a:schemeClr val="tx1"/>
                </a:solidFill>
                <a:latin typeface="Courier"/>
                <a:cs typeface="Courier"/>
              </a:rPr>
              <a:t>word_entry</a:t>
            </a:r>
            <a:r>
              <a:rPr lang="en-GB" sz="1800" b="1" dirty="0">
                <a:solidFill>
                  <a:schemeClr val="tx1"/>
                </a:solidFill>
                <a:latin typeface="Courier"/>
                <a:cs typeface="Courier"/>
              </a:rPr>
              <a:t>));</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726459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3962686" y="1340768"/>
            <a:ext cx="2267636" cy="4824536"/>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5" name="Titre 1"/>
          <p:cNvSpPr txBox="1">
            <a:spLocks/>
          </p:cNvSpPr>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Hash table: </a:t>
            </a:r>
            <a:r>
              <a:rPr lang="fr-FR" sz="2800" dirty="0" err="1">
                <a:latin typeface="Arial" charset="0"/>
                <a:cs typeface="ＭＳ Ｐゴシック" charset="0"/>
              </a:rPr>
              <a:t>Dictionary</a:t>
            </a:r>
            <a:endParaRPr lang="fr-FR" sz="2800" dirty="0">
              <a:latin typeface="Arial" charset="0"/>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268</a:t>
            </a:fld>
            <a:endParaRPr lang="fr-FR" sz="1400" dirty="0">
              <a:solidFill>
                <a:srgbClr val="000208"/>
              </a:solidFill>
              <a:latin typeface="Times New Roman" charset="0"/>
            </a:endParaRPr>
          </a:p>
        </p:txBody>
      </p:sp>
      <p:grpSp>
        <p:nvGrpSpPr>
          <p:cNvPr id="10" name="Group 9"/>
          <p:cNvGrpSpPr/>
          <p:nvPr/>
        </p:nvGrpSpPr>
        <p:grpSpPr>
          <a:xfrm>
            <a:off x="1418571" y="908720"/>
            <a:ext cx="2289333" cy="1583054"/>
            <a:chOff x="3058322" y="2468625"/>
            <a:chExt cx="1722089" cy="1583054"/>
          </a:xfrm>
        </p:grpSpPr>
        <p:sp>
          <p:nvSpPr>
            <p:cNvPr id="11" name="Rectangle 10"/>
            <p:cNvSpPr/>
            <p:nvPr/>
          </p:nvSpPr>
          <p:spPr>
            <a:xfrm>
              <a:off x="3317463" y="2882092"/>
              <a:ext cx="1310546" cy="1169587"/>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2" name="Rectangle 11"/>
            <p:cNvSpPr/>
            <p:nvPr/>
          </p:nvSpPr>
          <p:spPr>
            <a:xfrm>
              <a:off x="3425795" y="3034492"/>
              <a:ext cx="1066347" cy="334234"/>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3" name="Rectangle 12"/>
            <p:cNvSpPr/>
            <p:nvPr/>
          </p:nvSpPr>
          <p:spPr>
            <a:xfrm>
              <a:off x="3074643" y="2468625"/>
              <a:ext cx="1705768" cy="400110"/>
            </a:xfrm>
            <a:prstGeom prst="rect">
              <a:avLst/>
            </a:prstGeom>
          </p:spPr>
          <p:txBody>
            <a:bodyPr wrap="square">
              <a:spAutoFit/>
            </a:bodyPr>
            <a:lstStyle/>
            <a:p>
              <a:r>
                <a:rPr lang="en-US" sz="2000" b="1" dirty="0" err="1">
                  <a:latin typeface="Courier"/>
                  <a:cs typeface="Courier"/>
                </a:rPr>
                <a:t>hash_table</a:t>
              </a:r>
              <a:endParaRPr lang="en-US" sz="2000" b="1" dirty="0">
                <a:latin typeface="Courier"/>
                <a:cs typeface="Courier"/>
              </a:endParaRPr>
            </a:p>
          </p:txBody>
        </p:sp>
        <p:sp>
          <p:nvSpPr>
            <p:cNvPr id="14" name="Rectangle 13"/>
            <p:cNvSpPr/>
            <p:nvPr/>
          </p:nvSpPr>
          <p:spPr>
            <a:xfrm>
              <a:off x="3425797" y="3543232"/>
              <a:ext cx="1066347" cy="329549"/>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15" name="Rectangle 14"/>
            <p:cNvSpPr/>
            <p:nvPr/>
          </p:nvSpPr>
          <p:spPr>
            <a:xfrm>
              <a:off x="3058322" y="3040065"/>
              <a:ext cx="1705768" cy="400110"/>
            </a:xfrm>
            <a:prstGeom prst="rect">
              <a:avLst/>
            </a:prstGeom>
          </p:spPr>
          <p:txBody>
            <a:bodyPr wrap="square">
              <a:spAutoFit/>
            </a:bodyPr>
            <a:lstStyle/>
            <a:p>
              <a:r>
                <a:rPr lang="en-US" sz="2000" b="1" dirty="0" err="1">
                  <a:latin typeface="Courier"/>
                  <a:cs typeface="Courier"/>
                </a:rPr>
                <a:t>htable</a:t>
              </a:r>
              <a:endParaRPr lang="en-US" sz="2000" b="1" dirty="0">
                <a:latin typeface="Courier"/>
                <a:cs typeface="Courier"/>
              </a:endParaRPr>
            </a:p>
          </p:txBody>
        </p:sp>
        <p:sp>
          <p:nvSpPr>
            <p:cNvPr id="16" name="Rectangle 15"/>
            <p:cNvSpPr/>
            <p:nvPr/>
          </p:nvSpPr>
          <p:spPr>
            <a:xfrm>
              <a:off x="3074642" y="3494825"/>
              <a:ext cx="1705768" cy="400110"/>
            </a:xfrm>
            <a:prstGeom prst="rect">
              <a:avLst/>
            </a:prstGeom>
          </p:spPr>
          <p:txBody>
            <a:bodyPr wrap="square">
              <a:spAutoFit/>
            </a:bodyPr>
            <a:lstStyle/>
            <a:p>
              <a:r>
                <a:rPr lang="en-US" sz="2000" b="1" dirty="0" err="1">
                  <a:latin typeface="Courier"/>
                  <a:cs typeface="Courier"/>
                </a:rPr>
                <a:t>hsize</a:t>
              </a:r>
              <a:endParaRPr lang="en-US" sz="2000" b="1" dirty="0">
                <a:latin typeface="Courier"/>
                <a:cs typeface="Courier"/>
              </a:endParaRPr>
            </a:p>
          </p:txBody>
        </p:sp>
      </p:grpSp>
      <p:grpSp>
        <p:nvGrpSpPr>
          <p:cNvPr id="61" name="Group 60"/>
          <p:cNvGrpSpPr/>
          <p:nvPr/>
        </p:nvGrpSpPr>
        <p:grpSpPr>
          <a:xfrm>
            <a:off x="3924543" y="944724"/>
            <a:ext cx="2303640" cy="1692188"/>
            <a:chOff x="3924543" y="944724"/>
            <a:chExt cx="2303640" cy="1692188"/>
          </a:xfrm>
        </p:grpSpPr>
        <p:grpSp>
          <p:nvGrpSpPr>
            <p:cNvPr id="29" name="Group 28"/>
            <p:cNvGrpSpPr/>
            <p:nvPr/>
          </p:nvGrpSpPr>
          <p:grpSpPr>
            <a:xfrm>
              <a:off x="3960547" y="944724"/>
              <a:ext cx="2267636" cy="1692188"/>
              <a:chOff x="2922242" y="2468625"/>
              <a:chExt cx="1705768" cy="1692188"/>
            </a:xfrm>
          </p:grpSpPr>
          <p:sp>
            <p:nvSpPr>
              <p:cNvPr id="30" name="Rectangle 29"/>
              <p:cNvSpPr/>
              <p:nvPr/>
            </p:nvSpPr>
            <p:spPr>
              <a:xfrm>
                <a:off x="2922242" y="2882092"/>
                <a:ext cx="1705768" cy="1278721"/>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1" name="Rectangle 30"/>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2" name="Rectangle 31"/>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word_list</a:t>
                </a:r>
                <a:endParaRPr lang="en-US" sz="2000" b="1" dirty="0">
                  <a:latin typeface="Courier"/>
                  <a:cs typeface="Courier"/>
                </a:endParaRPr>
              </a:p>
            </p:txBody>
          </p:sp>
          <p:sp>
            <p:nvSpPr>
              <p:cNvPr id="33" name="Rectangle 32"/>
              <p:cNvSpPr/>
              <p:nvPr/>
            </p:nvSpPr>
            <p:spPr>
              <a:xfrm>
                <a:off x="2922242" y="3040065"/>
                <a:ext cx="1705768" cy="400110"/>
              </a:xfrm>
              <a:prstGeom prst="rect">
                <a:avLst/>
              </a:prstGeom>
            </p:spPr>
            <p:txBody>
              <a:bodyPr wrap="square">
                <a:spAutoFit/>
              </a:bodyPr>
              <a:lstStyle/>
              <a:p>
                <a:r>
                  <a:rPr lang="en-US" sz="2000" b="1" dirty="0" err="1">
                    <a:latin typeface="Courier"/>
                    <a:cs typeface="Courier"/>
                  </a:rPr>
                  <a:t>first_word</a:t>
                </a:r>
                <a:endParaRPr lang="en-US" sz="2000" b="1" dirty="0">
                  <a:latin typeface="Courier"/>
                  <a:cs typeface="Courier"/>
                </a:endParaRPr>
              </a:p>
            </p:txBody>
          </p:sp>
        </p:grpSp>
        <p:sp>
          <p:nvSpPr>
            <p:cNvPr id="34" name="Rectangle 33"/>
            <p:cNvSpPr/>
            <p:nvPr/>
          </p:nvSpPr>
          <p:spPr>
            <a:xfrm>
              <a:off x="4141187" y="209127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35" name="Rectangle 34"/>
            <p:cNvSpPr/>
            <p:nvPr/>
          </p:nvSpPr>
          <p:spPr>
            <a:xfrm>
              <a:off x="3924543" y="2096852"/>
              <a:ext cx="2267636" cy="400110"/>
            </a:xfrm>
            <a:prstGeom prst="rect">
              <a:avLst/>
            </a:prstGeom>
          </p:spPr>
          <p:txBody>
            <a:bodyPr wrap="square">
              <a:spAutoFit/>
            </a:bodyPr>
            <a:lstStyle/>
            <a:p>
              <a:r>
                <a:rPr lang="en-US" sz="2000" b="1" dirty="0" err="1">
                  <a:latin typeface="Courier"/>
                  <a:cs typeface="Courier"/>
                </a:rPr>
                <a:t>last_word</a:t>
              </a:r>
              <a:endParaRPr lang="en-US" sz="2000" b="1" dirty="0">
                <a:latin typeface="Courier"/>
                <a:cs typeface="Courier"/>
              </a:endParaRPr>
            </a:p>
          </p:txBody>
        </p:sp>
      </p:grpSp>
      <p:cxnSp>
        <p:nvCxnSpPr>
          <p:cNvPr id="48" name="Elbow Connector 47"/>
          <p:cNvCxnSpPr>
            <a:endCxn id="77" idx="1"/>
          </p:cNvCxnSpPr>
          <p:nvPr/>
        </p:nvCxnSpPr>
        <p:spPr>
          <a:xfrm rot="16200000" flipH="1">
            <a:off x="2503147" y="2293497"/>
            <a:ext cx="2088232" cy="830846"/>
          </a:xfrm>
          <a:prstGeom prst="bentConnector2">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87924" y="1268760"/>
            <a:ext cx="2267636" cy="400110"/>
          </a:xfrm>
          <a:prstGeom prst="rect">
            <a:avLst/>
          </a:prstGeom>
        </p:spPr>
        <p:txBody>
          <a:bodyPr wrap="square">
            <a:spAutoFit/>
          </a:bodyPr>
          <a:lstStyle/>
          <a:p>
            <a:r>
              <a:rPr lang="en-US" sz="2000" b="1" dirty="0" err="1">
                <a:latin typeface="Courier"/>
                <a:cs typeface="Courier"/>
              </a:rPr>
              <a:t>htable_ptr</a:t>
            </a:r>
            <a:endParaRPr lang="en-US" sz="2000" b="1" dirty="0">
              <a:latin typeface="Courier"/>
              <a:cs typeface="Courier"/>
            </a:endParaRPr>
          </a:p>
        </p:txBody>
      </p:sp>
      <p:cxnSp>
        <p:nvCxnSpPr>
          <p:cNvPr id="55" name="Elbow Connector 54"/>
          <p:cNvCxnSpPr>
            <a:stCxn id="53" idx="2"/>
            <a:endCxn id="11" idx="1"/>
          </p:cNvCxnSpPr>
          <p:nvPr/>
        </p:nvCxnSpPr>
        <p:spPr>
          <a:xfrm rot="16200000" flipH="1">
            <a:off x="1185428" y="1329336"/>
            <a:ext cx="238111" cy="917178"/>
          </a:xfrm>
          <a:prstGeom prst="bentConnector2">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grpSp>
        <p:nvGrpSpPr>
          <p:cNvPr id="69" name="Group 68"/>
          <p:cNvGrpSpPr/>
          <p:nvPr/>
        </p:nvGrpSpPr>
        <p:grpSpPr>
          <a:xfrm>
            <a:off x="3926682" y="4473116"/>
            <a:ext cx="2303640" cy="1692188"/>
            <a:chOff x="3924543" y="944724"/>
            <a:chExt cx="2303640" cy="1692188"/>
          </a:xfrm>
        </p:grpSpPr>
        <p:grpSp>
          <p:nvGrpSpPr>
            <p:cNvPr id="70" name="Group 69"/>
            <p:cNvGrpSpPr/>
            <p:nvPr/>
          </p:nvGrpSpPr>
          <p:grpSpPr>
            <a:xfrm>
              <a:off x="3960547" y="944724"/>
              <a:ext cx="2267636" cy="1692188"/>
              <a:chOff x="2922242" y="2468625"/>
              <a:chExt cx="1705768" cy="1692188"/>
            </a:xfrm>
          </p:grpSpPr>
          <p:sp>
            <p:nvSpPr>
              <p:cNvPr id="73" name="Rectangle 72"/>
              <p:cNvSpPr/>
              <p:nvPr/>
            </p:nvSpPr>
            <p:spPr>
              <a:xfrm>
                <a:off x="2922242" y="2882092"/>
                <a:ext cx="1705768" cy="1278721"/>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4" name="Rectangle 73"/>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5" name="Rectangle 74"/>
              <p:cNvSpPr/>
              <p:nvPr/>
            </p:nvSpPr>
            <p:spPr>
              <a:xfrm>
                <a:off x="2922242" y="2468625"/>
                <a:ext cx="1705768" cy="400110"/>
              </a:xfrm>
              <a:prstGeom prst="rect">
                <a:avLst/>
              </a:prstGeom>
            </p:spPr>
            <p:txBody>
              <a:bodyPr wrap="square">
                <a:spAutoFit/>
              </a:bodyPr>
              <a:lstStyle/>
              <a:p>
                <a:r>
                  <a:rPr lang="en-US" sz="2000" b="1" dirty="0" err="1">
                    <a:latin typeface="Courier"/>
                    <a:cs typeface="Courier"/>
                  </a:rPr>
                  <a:t>word_list</a:t>
                </a:r>
                <a:endParaRPr lang="en-US" sz="2000" b="1" dirty="0">
                  <a:latin typeface="Courier"/>
                  <a:cs typeface="Courier"/>
                </a:endParaRPr>
              </a:p>
            </p:txBody>
          </p:sp>
          <p:sp>
            <p:nvSpPr>
              <p:cNvPr id="76" name="Rectangle 75"/>
              <p:cNvSpPr/>
              <p:nvPr/>
            </p:nvSpPr>
            <p:spPr>
              <a:xfrm>
                <a:off x="2922242" y="3040065"/>
                <a:ext cx="1705768" cy="400110"/>
              </a:xfrm>
              <a:prstGeom prst="rect">
                <a:avLst/>
              </a:prstGeom>
            </p:spPr>
            <p:txBody>
              <a:bodyPr wrap="square">
                <a:spAutoFit/>
              </a:bodyPr>
              <a:lstStyle/>
              <a:p>
                <a:r>
                  <a:rPr lang="en-US" sz="2000" b="1" dirty="0" err="1">
                    <a:latin typeface="Courier"/>
                    <a:cs typeface="Courier"/>
                  </a:rPr>
                  <a:t>first_word</a:t>
                </a:r>
                <a:endParaRPr lang="en-US" sz="2000" b="1" dirty="0">
                  <a:latin typeface="Courier"/>
                  <a:cs typeface="Courier"/>
                </a:endParaRPr>
              </a:p>
            </p:txBody>
          </p:sp>
        </p:grpSp>
        <p:sp>
          <p:nvSpPr>
            <p:cNvPr id="71" name="Rectangle 70"/>
            <p:cNvSpPr/>
            <p:nvPr/>
          </p:nvSpPr>
          <p:spPr>
            <a:xfrm>
              <a:off x="4141187" y="209127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72" name="Rectangle 71"/>
            <p:cNvSpPr/>
            <p:nvPr/>
          </p:nvSpPr>
          <p:spPr>
            <a:xfrm>
              <a:off x="3924543" y="2096852"/>
              <a:ext cx="2267636" cy="400110"/>
            </a:xfrm>
            <a:prstGeom prst="rect">
              <a:avLst/>
            </a:prstGeom>
          </p:spPr>
          <p:txBody>
            <a:bodyPr wrap="square">
              <a:spAutoFit/>
            </a:bodyPr>
            <a:lstStyle/>
            <a:p>
              <a:r>
                <a:rPr lang="en-US" sz="2000" b="1" dirty="0" err="1">
                  <a:latin typeface="Courier"/>
                  <a:cs typeface="Courier"/>
                </a:rPr>
                <a:t>last_word</a:t>
              </a:r>
              <a:endParaRPr lang="en-US" sz="2000" b="1" dirty="0">
                <a:latin typeface="Courier"/>
                <a:cs typeface="Courier"/>
              </a:endParaRPr>
            </a:p>
          </p:txBody>
        </p:sp>
      </p:grpSp>
      <p:sp>
        <p:nvSpPr>
          <p:cNvPr id="90" name="Text Box 1067"/>
          <p:cNvSpPr txBox="1">
            <a:spLocks noChangeArrowheads="1"/>
          </p:cNvSpPr>
          <p:nvPr/>
        </p:nvSpPr>
        <p:spPr bwMode="auto">
          <a:xfrm>
            <a:off x="6696236" y="5017242"/>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91" name="Straight Arrow Connector 90"/>
          <p:cNvCxnSpPr>
            <a:endCxn id="90" idx="1"/>
          </p:cNvCxnSpPr>
          <p:nvPr/>
        </p:nvCxnSpPr>
        <p:spPr bwMode="auto">
          <a:xfrm flipV="1">
            <a:off x="5976156" y="5217297"/>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2" name="Text Box 1067"/>
          <p:cNvSpPr txBox="1">
            <a:spLocks noChangeArrowheads="1"/>
          </p:cNvSpPr>
          <p:nvPr/>
        </p:nvSpPr>
        <p:spPr bwMode="auto">
          <a:xfrm>
            <a:off x="6660232" y="5589240"/>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93" name="Straight Arrow Connector 92"/>
          <p:cNvCxnSpPr>
            <a:endCxn id="92" idx="1"/>
          </p:cNvCxnSpPr>
          <p:nvPr/>
        </p:nvCxnSpPr>
        <p:spPr bwMode="auto">
          <a:xfrm flipV="1">
            <a:off x="5940152" y="5789295"/>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0" name="Group 39"/>
          <p:cNvGrpSpPr/>
          <p:nvPr/>
        </p:nvGrpSpPr>
        <p:grpSpPr>
          <a:xfrm>
            <a:off x="6399489" y="440668"/>
            <a:ext cx="2339645" cy="2664296"/>
            <a:chOff x="6156176" y="1196752"/>
            <a:chExt cx="2339645" cy="2664296"/>
          </a:xfrm>
        </p:grpSpPr>
        <p:grpSp>
          <p:nvGrpSpPr>
            <p:cNvPr id="41" name="Group 40"/>
            <p:cNvGrpSpPr/>
            <p:nvPr/>
          </p:nvGrpSpPr>
          <p:grpSpPr>
            <a:xfrm>
              <a:off x="6156176" y="1196752"/>
              <a:ext cx="2303640" cy="2664296"/>
              <a:chOff x="2895159" y="2468625"/>
              <a:chExt cx="1732851" cy="2664296"/>
            </a:xfrm>
          </p:grpSpPr>
          <p:sp>
            <p:nvSpPr>
              <p:cNvPr id="46" name="Rectangle 45"/>
              <p:cNvSpPr/>
              <p:nvPr/>
            </p:nvSpPr>
            <p:spPr>
              <a:xfrm>
                <a:off x="2922242" y="2882092"/>
                <a:ext cx="1705768" cy="2250829"/>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7" name="Rectangle 46"/>
              <p:cNvSpPr/>
              <p:nvPr/>
            </p:nvSpPr>
            <p:spPr>
              <a:xfrm>
                <a:off x="3058325" y="3034491"/>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9" name="Rectangle 48"/>
              <p:cNvSpPr/>
              <p:nvPr/>
            </p:nvSpPr>
            <p:spPr>
              <a:xfrm>
                <a:off x="2922242" y="2468625"/>
                <a:ext cx="1705768" cy="400110"/>
              </a:xfrm>
              <a:prstGeom prst="rect">
                <a:avLst/>
              </a:prstGeom>
              <a:solidFill>
                <a:schemeClr val="bg1"/>
              </a:solidFill>
            </p:spPr>
            <p:txBody>
              <a:bodyPr wrap="square">
                <a:spAutoFit/>
              </a:bodyPr>
              <a:lstStyle/>
              <a:p>
                <a:r>
                  <a:rPr lang="en-US" sz="2000" b="1" dirty="0" err="1">
                    <a:latin typeface="Courier"/>
                    <a:cs typeface="Courier"/>
                  </a:rPr>
                  <a:t>word_entry</a:t>
                </a:r>
                <a:endParaRPr lang="en-US" sz="2000" b="1" dirty="0">
                  <a:latin typeface="Courier"/>
                  <a:cs typeface="Courier"/>
                </a:endParaRPr>
              </a:p>
            </p:txBody>
          </p:sp>
          <p:sp>
            <p:nvSpPr>
              <p:cNvPr id="50" name="Rectangle 49"/>
              <p:cNvSpPr/>
              <p:nvPr/>
            </p:nvSpPr>
            <p:spPr>
              <a:xfrm>
                <a:off x="3058325" y="3543232"/>
                <a:ext cx="143381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51" name="Rectangle 50"/>
              <p:cNvSpPr/>
              <p:nvPr/>
            </p:nvSpPr>
            <p:spPr>
              <a:xfrm>
                <a:off x="2895159" y="3040065"/>
                <a:ext cx="1705768" cy="400110"/>
              </a:xfrm>
              <a:prstGeom prst="rect">
                <a:avLst/>
              </a:prstGeom>
            </p:spPr>
            <p:txBody>
              <a:bodyPr wrap="square">
                <a:spAutoFit/>
              </a:bodyPr>
              <a:lstStyle/>
              <a:p>
                <a:r>
                  <a:rPr lang="en-US" sz="2000" b="1" dirty="0">
                    <a:latin typeface="Courier"/>
                    <a:cs typeface="Courier"/>
                  </a:rPr>
                  <a:t>word</a:t>
                </a:r>
              </a:p>
            </p:txBody>
          </p:sp>
          <p:sp>
            <p:nvSpPr>
              <p:cNvPr id="52" name="Rectangle 51"/>
              <p:cNvSpPr/>
              <p:nvPr/>
            </p:nvSpPr>
            <p:spPr>
              <a:xfrm>
                <a:off x="2895622" y="3494825"/>
                <a:ext cx="1705768" cy="400110"/>
              </a:xfrm>
              <a:prstGeom prst="rect">
                <a:avLst/>
              </a:prstGeom>
            </p:spPr>
            <p:txBody>
              <a:bodyPr wrap="square">
                <a:spAutoFit/>
              </a:bodyPr>
              <a:lstStyle/>
              <a:p>
                <a:r>
                  <a:rPr lang="en-US" sz="2000" b="1" dirty="0" err="1">
                    <a:latin typeface="Courier"/>
                    <a:cs typeface="Courier"/>
                  </a:rPr>
                  <a:t>in_file</a:t>
                </a:r>
                <a:endParaRPr lang="en-US" sz="2000" b="1" dirty="0">
                  <a:latin typeface="Courier"/>
                  <a:cs typeface="Courier"/>
                </a:endParaRPr>
              </a:p>
            </p:txBody>
          </p:sp>
        </p:grpSp>
        <p:sp>
          <p:nvSpPr>
            <p:cNvPr id="42" name="Rectangle 41"/>
            <p:cNvSpPr/>
            <p:nvPr/>
          </p:nvSpPr>
          <p:spPr>
            <a:xfrm>
              <a:off x="6372200" y="2812247"/>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3" name="Rectangle 42"/>
            <p:cNvSpPr/>
            <p:nvPr/>
          </p:nvSpPr>
          <p:spPr>
            <a:xfrm>
              <a:off x="6372200" y="3320988"/>
              <a:ext cx="1906108" cy="368673"/>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000"/>
            </a:p>
          </p:txBody>
        </p:sp>
        <p:sp>
          <p:nvSpPr>
            <p:cNvPr id="44" name="Rectangle 43"/>
            <p:cNvSpPr/>
            <p:nvPr/>
          </p:nvSpPr>
          <p:spPr>
            <a:xfrm>
              <a:off x="6228184" y="2780928"/>
              <a:ext cx="2267637" cy="400110"/>
            </a:xfrm>
            <a:prstGeom prst="rect">
              <a:avLst/>
            </a:prstGeom>
          </p:spPr>
          <p:txBody>
            <a:bodyPr wrap="square">
              <a:spAutoFit/>
            </a:bodyPr>
            <a:lstStyle/>
            <a:p>
              <a:r>
                <a:rPr lang="en-US" sz="2000" b="1" dirty="0">
                  <a:latin typeface="Courier"/>
                  <a:cs typeface="Courier"/>
                </a:rPr>
                <a:t>times</a:t>
              </a:r>
            </a:p>
          </p:txBody>
        </p:sp>
        <p:sp>
          <p:nvSpPr>
            <p:cNvPr id="45" name="Rectangle 44"/>
            <p:cNvSpPr/>
            <p:nvPr/>
          </p:nvSpPr>
          <p:spPr>
            <a:xfrm>
              <a:off x="6156176" y="3284984"/>
              <a:ext cx="2267637" cy="400110"/>
            </a:xfrm>
            <a:prstGeom prst="rect">
              <a:avLst/>
            </a:prstGeom>
          </p:spPr>
          <p:txBody>
            <a:bodyPr wrap="square">
              <a:spAutoFit/>
            </a:bodyPr>
            <a:lstStyle/>
            <a:p>
              <a:r>
                <a:rPr lang="en-US" sz="2000" b="1" dirty="0">
                  <a:latin typeface="Courier"/>
                  <a:cs typeface="Courier"/>
                </a:rPr>
                <a:t>next</a:t>
              </a:r>
            </a:p>
          </p:txBody>
        </p:sp>
      </p:grpSp>
      <p:cxnSp>
        <p:nvCxnSpPr>
          <p:cNvPr id="68" name="Elbow Connector 67"/>
          <p:cNvCxnSpPr>
            <a:stCxn id="31" idx="3"/>
            <a:endCxn id="46" idx="1"/>
          </p:cNvCxnSpPr>
          <p:nvPr/>
        </p:nvCxnSpPr>
        <p:spPr>
          <a:xfrm>
            <a:off x="6047563" y="1694927"/>
            <a:ext cx="387930" cy="284623"/>
          </a:xfrm>
          <a:prstGeom prst="bentConnector3">
            <a:avLst>
              <a:gd name="adj1" fmla="val 50000"/>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cxnSp>
        <p:nvCxnSpPr>
          <p:cNvPr id="78" name="Elbow Connector 77"/>
          <p:cNvCxnSpPr>
            <a:stCxn id="34" idx="3"/>
            <a:endCxn id="46" idx="1"/>
          </p:cNvCxnSpPr>
          <p:nvPr/>
        </p:nvCxnSpPr>
        <p:spPr>
          <a:xfrm flipV="1">
            <a:off x="6047295" y="1979550"/>
            <a:ext cx="388198" cy="296065"/>
          </a:xfrm>
          <a:prstGeom prst="bentConnector3">
            <a:avLst>
              <a:gd name="adj1" fmla="val 50000"/>
            </a:avLst>
          </a:prstGeom>
          <a:ln w="28575" cmpd="sng">
            <a:solidFill>
              <a:schemeClr val="tx1"/>
            </a:solidFill>
            <a:headEnd type="oval" w="lg" len="med"/>
            <a:tailEnd type="triangle" w="lg" len="lg"/>
          </a:ln>
        </p:spPr>
        <p:style>
          <a:lnRef idx="2">
            <a:schemeClr val="accent1"/>
          </a:lnRef>
          <a:fillRef idx="0">
            <a:schemeClr val="accent1"/>
          </a:fillRef>
          <a:effectRef idx="1">
            <a:schemeClr val="accent1"/>
          </a:effectRef>
          <a:fontRef idx="minor">
            <a:schemeClr val="tx1"/>
          </a:fontRef>
        </p:style>
      </p:cxnSp>
      <p:sp>
        <p:nvSpPr>
          <p:cNvPr id="88" name="Text Box 1067"/>
          <p:cNvSpPr txBox="1">
            <a:spLocks noChangeArrowheads="1"/>
          </p:cNvSpPr>
          <p:nvPr/>
        </p:nvSpPr>
        <p:spPr bwMode="auto">
          <a:xfrm>
            <a:off x="8677932" y="2544869"/>
            <a:ext cx="46805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sz="2000" b="1" dirty="0">
                <a:sym typeface="Symbol" charset="0"/>
              </a:rPr>
              <a:t></a:t>
            </a:r>
            <a:endParaRPr lang="en-US" sz="2000" b="1" dirty="0"/>
          </a:p>
        </p:txBody>
      </p:sp>
      <p:cxnSp>
        <p:nvCxnSpPr>
          <p:cNvPr id="89" name="Straight Arrow Connector 88"/>
          <p:cNvCxnSpPr>
            <a:endCxn id="88" idx="1"/>
          </p:cNvCxnSpPr>
          <p:nvPr/>
        </p:nvCxnSpPr>
        <p:spPr bwMode="auto">
          <a:xfrm flipV="1">
            <a:off x="7957852" y="2744924"/>
            <a:ext cx="720080" cy="15970"/>
          </a:xfrm>
          <a:prstGeom prst="straightConnector1">
            <a:avLst/>
          </a:prstGeom>
          <a:noFill/>
          <a:ln w="57150" cap="flat" cmpd="sng" algn="ctr">
            <a:solidFill>
              <a:schemeClr val="tx1"/>
            </a:solidFill>
            <a:prstDash val="solid"/>
            <a:round/>
            <a:headEnd type="oval" w="med" len="sm"/>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0" name="Rectangle 79"/>
          <p:cNvSpPr/>
          <p:nvPr/>
        </p:nvSpPr>
        <p:spPr>
          <a:xfrm>
            <a:off x="3563888" y="1772816"/>
            <a:ext cx="432048" cy="400110"/>
          </a:xfrm>
          <a:prstGeom prst="rect">
            <a:avLst/>
          </a:prstGeom>
        </p:spPr>
        <p:txBody>
          <a:bodyPr wrap="square">
            <a:spAutoFit/>
          </a:bodyPr>
          <a:lstStyle/>
          <a:p>
            <a:r>
              <a:rPr lang="en-US" sz="2000" b="1" dirty="0">
                <a:latin typeface="Courier"/>
                <a:cs typeface="Courier"/>
              </a:rPr>
              <a:t>0</a:t>
            </a:r>
          </a:p>
        </p:txBody>
      </p:sp>
      <p:sp>
        <p:nvSpPr>
          <p:cNvPr id="81" name="Rectangle 80"/>
          <p:cNvSpPr/>
          <p:nvPr/>
        </p:nvSpPr>
        <p:spPr>
          <a:xfrm>
            <a:off x="2519772" y="5481228"/>
            <a:ext cx="1476164" cy="400110"/>
          </a:xfrm>
          <a:prstGeom prst="rect">
            <a:avLst/>
          </a:prstGeom>
        </p:spPr>
        <p:txBody>
          <a:bodyPr wrap="square">
            <a:spAutoFit/>
          </a:bodyPr>
          <a:lstStyle/>
          <a:p>
            <a:r>
              <a:rPr lang="en-US" sz="2000" b="1" dirty="0">
                <a:latin typeface="Courier"/>
                <a:cs typeface="Courier"/>
              </a:rPr>
              <a:t>hsize-1</a:t>
            </a:r>
          </a:p>
        </p:txBody>
      </p:sp>
      <p:sp>
        <p:nvSpPr>
          <p:cNvPr id="54"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133725585"/>
      </p:ext>
    </p:extLst>
  </p:cSld>
  <p:clrMapOvr>
    <a:masterClrMapping/>
  </p:clrMapOvr>
  <p:transition spd="me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269</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CM 8: Library functions:</a:t>
            </a:r>
            <a:br>
              <a:rPr lang="en-GB" dirty="0">
                <a:latin typeface="Arial" charset="0"/>
              </a:rPr>
            </a:br>
            <a:r>
              <a:rPr lang="en-GB" dirty="0">
                <a:latin typeface="Arial" charset="0"/>
              </a:rPr>
              <a:t>Inputs/Outputs, strings and files</a:t>
            </a: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7841013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re 1"/>
          <p:cNvSpPr>
            <a:spLocks noGrp="1"/>
          </p:cNvSpPr>
          <p:nvPr>
            <p:ph type="title"/>
          </p:nvPr>
        </p:nvSpPr>
        <p:spPr/>
        <p:txBody>
          <a:bodyPr/>
          <a:lstStyle/>
          <a:p>
            <a:r>
              <a:rPr lang="fr-FR" sz="2800" dirty="0">
                <a:latin typeface="Arial" charset="0"/>
                <a:cs typeface="ＭＳ Ｐゴシック" charset="0"/>
              </a:rPr>
              <a:t>Input / Output </a:t>
            </a:r>
            <a:r>
              <a:rPr lang="fr-FR" sz="2800" dirty="0" err="1">
                <a:latin typeface="Arial" charset="0"/>
                <a:cs typeface="ＭＳ Ｐゴシック" charset="0"/>
              </a:rPr>
              <a:t>functions</a:t>
            </a:r>
            <a:endParaRPr lang="fr-FR" sz="2800" dirty="0">
              <a:latin typeface="Arial" charset="0"/>
              <a:cs typeface="ＭＳ Ｐゴシック" charset="0"/>
            </a:endParaRPr>
          </a:p>
        </p:txBody>
      </p:sp>
      <p:sp>
        <p:nvSpPr>
          <p:cNvPr id="93186" name="Espace réservé du contenu 2"/>
          <p:cNvSpPr>
            <a:spLocks noGrp="1"/>
          </p:cNvSpPr>
          <p:nvPr>
            <p:ph idx="1"/>
          </p:nvPr>
        </p:nvSpPr>
        <p:spPr>
          <a:xfrm>
            <a:off x="457200" y="914400"/>
            <a:ext cx="8686800" cy="5257800"/>
          </a:xfrm>
        </p:spPr>
        <p:txBody>
          <a:bodyPr/>
          <a:lstStyle/>
          <a:p>
            <a:r>
              <a:rPr lang="en-GB" dirty="0">
                <a:latin typeface="Arial" charset="0"/>
                <a:cs typeface="ＭＳ Ｐゴシック" charset="0"/>
              </a:rPr>
              <a:t>Several functions to manipulate I/O.</a:t>
            </a:r>
          </a:p>
          <a:p>
            <a:pPr lvl="1"/>
            <a:r>
              <a:rPr lang="en-GB" dirty="0">
                <a:latin typeface="Arial" charset="0"/>
                <a:cs typeface="ＭＳ Ｐゴシック" charset="0"/>
              </a:rPr>
              <a:t>To use them we have to add their directive to the head of the compilation file using </a:t>
            </a:r>
            <a:r>
              <a:rPr lang="en-GB" b="1" dirty="0">
                <a:latin typeface="Courier"/>
                <a:cs typeface="Courier"/>
              </a:rPr>
              <a:t>#include </a:t>
            </a:r>
            <a:endParaRPr lang="en-GB" b="1" dirty="0">
              <a:latin typeface="Arial" charset="0"/>
              <a:cs typeface="ＭＳ Ｐゴシック" charset="0"/>
            </a:endParaRPr>
          </a:p>
          <a:p>
            <a:pPr lvl="1"/>
            <a:r>
              <a:rPr lang="en-GB" dirty="0">
                <a:latin typeface="Arial" charset="0"/>
                <a:cs typeface="ＭＳ Ｐゴシック" charset="0"/>
              </a:rPr>
              <a:t>We have to provide a format that indicates the type of the objects over whom we want to perform an I/O operation</a:t>
            </a:r>
          </a:p>
          <a:p>
            <a:endParaRPr lang="en-GB" dirty="0">
              <a:latin typeface="Arial" charset="0"/>
              <a:cs typeface="ＭＳ Ｐゴシック" charset="0"/>
            </a:endParaRPr>
          </a:p>
          <a:p>
            <a:r>
              <a:rPr lang="en-GB" dirty="0">
                <a:latin typeface="Arial" charset="0"/>
                <a:cs typeface="ＭＳ Ｐゴシック" charset="0"/>
              </a:rPr>
              <a:t>We have seen 2 basic I/O functions</a:t>
            </a:r>
            <a:r>
              <a:rPr lang="en-GB" dirty="0">
                <a:solidFill>
                  <a:schemeClr val="tx1"/>
                </a:solidFill>
                <a:latin typeface="Arial" charset="0"/>
                <a:cs typeface="ＭＳ Ｐゴシック" charset="0"/>
              </a:rPr>
              <a:t>:</a:t>
            </a:r>
          </a:p>
          <a:p>
            <a:pPr lvl="1"/>
            <a:r>
              <a:rPr lang="en-GB" dirty="0">
                <a:latin typeface="Arial" charset="0"/>
              </a:rPr>
              <a:t>Write to the standard output (</a:t>
            </a:r>
            <a:r>
              <a:rPr lang="en-GB" b="1" dirty="0" err="1">
                <a:latin typeface="Courier"/>
                <a:cs typeface="Courier"/>
              </a:rPr>
              <a:t>printf</a:t>
            </a:r>
            <a:r>
              <a:rPr lang="en-GB" dirty="0">
                <a:latin typeface="Arial" charset="0"/>
              </a:rPr>
              <a:t>)</a:t>
            </a:r>
          </a:p>
          <a:p>
            <a:pPr lvl="1"/>
            <a:r>
              <a:rPr lang="en-GB" dirty="0">
                <a:latin typeface="Arial" charset="0"/>
              </a:rPr>
              <a:t>Read from the standard entry (</a:t>
            </a:r>
            <a:r>
              <a:rPr lang="en-GB" b="1" dirty="0" err="1">
                <a:latin typeface="Courier"/>
                <a:cs typeface="Courier"/>
              </a:rPr>
              <a:t>scanf</a:t>
            </a:r>
            <a:r>
              <a:rPr lang="en-GB" dirty="0">
                <a:latin typeface="Arial" charset="0"/>
              </a:rPr>
              <a:t>)</a:t>
            </a:r>
          </a:p>
          <a:p>
            <a:endParaRPr lang="en-GB" dirty="0">
              <a:latin typeface="Arial" charset="0"/>
              <a:cs typeface="ＭＳ Ｐゴシック" charset="0"/>
            </a:endParaRPr>
          </a:p>
          <a:p>
            <a:endParaRPr lang="en-GB" dirty="0">
              <a:latin typeface="Arial" charset="0"/>
              <a:cs typeface="ＭＳ Ｐゴシック" charset="0"/>
            </a:endParaRP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270</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50407034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re 1"/>
          <p:cNvSpPr>
            <a:spLocks noGrp="1"/>
          </p:cNvSpPr>
          <p:nvPr>
            <p:ph type="title"/>
          </p:nvPr>
        </p:nvSpPr>
        <p:spPr/>
        <p:txBody>
          <a:bodyPr/>
          <a:lstStyle/>
          <a:p>
            <a:r>
              <a:rPr lang="fr-FR" sz="2800" dirty="0">
                <a:latin typeface="Arial" charset="0"/>
                <a:ea typeface="ＭＳ Ｐゴシック" charset="0"/>
                <a:cs typeface="ＭＳ Ｐゴシック" charset="0"/>
              </a:rPr>
              <a:t>Read/</a:t>
            </a:r>
            <a:r>
              <a:rPr lang="fr-FR" sz="2800" dirty="0" err="1">
                <a:latin typeface="Arial" charset="0"/>
                <a:ea typeface="ＭＳ Ｐゴシック" charset="0"/>
                <a:cs typeface="ＭＳ Ｐゴシック" charset="0"/>
              </a:rPr>
              <a:t>Write</a:t>
            </a:r>
            <a:r>
              <a:rPr lang="fr-FR" sz="2800" dirty="0">
                <a:latin typeface="Arial" charset="0"/>
                <a:ea typeface="ＭＳ Ｐゴシック" charset="0"/>
                <a:cs typeface="ＭＳ Ｐゴシック" charset="0"/>
              </a:rPr>
              <a:t> a </a:t>
            </a:r>
            <a:r>
              <a:rPr lang="fr-FR" sz="2800" dirty="0" err="1">
                <a:latin typeface="Arial" charset="0"/>
                <a:ea typeface="ＭＳ Ｐゴシック" charset="0"/>
                <a:cs typeface="ＭＳ Ｐゴシック" charset="0"/>
              </a:rPr>
              <a:t>character</a:t>
            </a:r>
            <a:endParaRPr lang="fr-FR" sz="2800" dirty="0">
              <a:latin typeface="Arial" charset="0"/>
              <a:ea typeface="ＭＳ Ｐゴシック" charset="0"/>
              <a:cs typeface="ＭＳ Ｐゴシック" charset="0"/>
            </a:endParaRPr>
          </a:p>
        </p:txBody>
      </p:sp>
      <p:sp>
        <p:nvSpPr>
          <p:cNvPr id="94210" name="Espace réservé du contenu 2"/>
          <p:cNvSpPr>
            <a:spLocks noGrp="1"/>
          </p:cNvSpPr>
          <p:nvPr>
            <p:ph idx="1"/>
          </p:nvPr>
        </p:nvSpPr>
        <p:spPr>
          <a:xfrm>
            <a:off x="457200" y="728700"/>
            <a:ext cx="8686800" cy="5257800"/>
          </a:xfrm>
        </p:spPr>
        <p:txBody>
          <a:bodyPr/>
          <a:lstStyle/>
          <a:p>
            <a:r>
              <a:rPr lang="en-GB" dirty="0">
                <a:latin typeface="Arial" charset="0"/>
                <a:cs typeface="ＭＳ Ｐゴシック" charset="0"/>
              </a:rPr>
              <a:t>Read a character: </a:t>
            </a:r>
          </a:p>
          <a:p>
            <a:pPr marL="0" indent="0">
              <a:buNone/>
            </a:pPr>
            <a:r>
              <a:rPr lang="en-GB" sz="2000" b="1" dirty="0">
                <a:latin typeface="Courier"/>
                <a:cs typeface="Courier"/>
              </a:rPr>
              <a:t>#include &lt;</a:t>
            </a:r>
            <a:r>
              <a:rPr lang="en-GB" sz="2000" b="1" dirty="0" err="1">
                <a:latin typeface="Courier"/>
                <a:cs typeface="Courier"/>
              </a:rPr>
              <a:t>stdio.h</a:t>
            </a:r>
            <a:r>
              <a:rPr lang="en-GB" sz="2000" b="1" dirty="0">
                <a:latin typeface="Courier"/>
                <a:cs typeface="Courier"/>
              </a:rPr>
              <a:t>&gt;</a:t>
            </a:r>
          </a:p>
          <a:p>
            <a:pPr marL="0" indent="0">
              <a:buNone/>
            </a:pPr>
            <a:r>
              <a:rPr lang="en-GB" sz="2000" b="1" dirty="0" err="1">
                <a:latin typeface="Courier"/>
                <a:cs typeface="Courier"/>
              </a:rPr>
              <a:t>int</a:t>
            </a:r>
            <a:r>
              <a:rPr lang="en-GB" sz="2000" b="1" dirty="0">
                <a:latin typeface="Courier"/>
                <a:cs typeface="Courier"/>
              </a:rPr>
              <a:t> </a:t>
            </a:r>
            <a:r>
              <a:rPr lang="en-GB" sz="2000" b="1" dirty="0" err="1">
                <a:latin typeface="Courier"/>
                <a:cs typeface="Courier"/>
              </a:rPr>
              <a:t>getchar</a:t>
            </a:r>
            <a:r>
              <a:rPr lang="en-GB" sz="2000" b="1" dirty="0">
                <a:latin typeface="Courier"/>
                <a:cs typeface="Courier"/>
              </a:rPr>
              <a:t>()</a:t>
            </a:r>
          </a:p>
          <a:p>
            <a:pPr lvl="1"/>
            <a:r>
              <a:rPr lang="en-GB" dirty="0">
                <a:latin typeface="Arial" charset="0"/>
              </a:rPr>
              <a:t>Returns </a:t>
            </a:r>
            <a:r>
              <a:rPr lang="en-GB" b="1" dirty="0">
                <a:latin typeface="Arial" charset="0"/>
              </a:rPr>
              <a:t>one</a:t>
            </a:r>
            <a:r>
              <a:rPr lang="en-GB" dirty="0">
                <a:latin typeface="Arial" charset="0"/>
              </a:rPr>
              <a:t> character read from the standard input as </a:t>
            </a:r>
            <a:r>
              <a:rPr lang="en-GB" dirty="0"/>
              <a:t>an </a:t>
            </a:r>
            <a:r>
              <a:rPr lang="en-GB" b="1" dirty="0">
                <a:latin typeface="Courier"/>
                <a:cs typeface="Courier"/>
              </a:rPr>
              <a:t>unsigned char</a:t>
            </a:r>
            <a:r>
              <a:rPr lang="en-GB" dirty="0"/>
              <a:t> cast to an </a:t>
            </a:r>
            <a:r>
              <a:rPr lang="en-GB" b="1" dirty="0" err="1">
                <a:latin typeface="Courier"/>
                <a:cs typeface="Courier"/>
              </a:rPr>
              <a:t>int</a:t>
            </a:r>
            <a:endParaRPr lang="en-GB" b="1" dirty="0">
              <a:latin typeface="Courier"/>
              <a:cs typeface="Courier"/>
            </a:endParaRPr>
          </a:p>
          <a:p>
            <a:pPr lvl="1"/>
            <a:r>
              <a:rPr lang="en-GB" dirty="0"/>
              <a:t>Returns </a:t>
            </a:r>
            <a:r>
              <a:rPr lang="en-GB" b="1" dirty="0"/>
              <a:t>EOF</a:t>
            </a:r>
            <a:r>
              <a:rPr lang="en-GB" dirty="0"/>
              <a:t> when the file ends or in case of an error</a:t>
            </a:r>
            <a:endParaRPr lang="en-GB" dirty="0">
              <a:latin typeface="Arial" charset="0"/>
            </a:endParaRPr>
          </a:p>
          <a:p>
            <a:pPr lvl="1"/>
            <a:endParaRPr lang="en-GB" sz="800" dirty="0">
              <a:latin typeface="Arial" charset="0"/>
            </a:endParaRPr>
          </a:p>
          <a:p>
            <a:r>
              <a:rPr lang="en-GB" dirty="0">
                <a:latin typeface="Arial" charset="0"/>
                <a:cs typeface="ＭＳ Ｐゴシック" charset="0"/>
              </a:rPr>
              <a:t>Write a character : </a:t>
            </a:r>
          </a:p>
          <a:p>
            <a:pPr marL="0" indent="0">
              <a:buNone/>
            </a:pPr>
            <a:r>
              <a:rPr lang="en-GB" sz="2000" b="1" dirty="0">
                <a:latin typeface="Courier"/>
                <a:cs typeface="Courier"/>
              </a:rPr>
              <a:t>#include &lt;</a:t>
            </a:r>
            <a:r>
              <a:rPr lang="en-GB" sz="2000" b="1" dirty="0" err="1">
                <a:latin typeface="Courier"/>
                <a:cs typeface="Courier"/>
              </a:rPr>
              <a:t>stdio.h</a:t>
            </a:r>
            <a:r>
              <a:rPr lang="en-GB" sz="2000" b="1" dirty="0">
                <a:latin typeface="Courier"/>
                <a:cs typeface="Courier"/>
              </a:rPr>
              <a:t>&gt;</a:t>
            </a:r>
          </a:p>
          <a:p>
            <a:pPr marL="0" indent="0">
              <a:buNone/>
            </a:pPr>
            <a:r>
              <a:rPr lang="en-GB" sz="2000" b="1" dirty="0" err="1">
                <a:latin typeface="Courier"/>
                <a:cs typeface="Courier"/>
              </a:rPr>
              <a:t>int</a:t>
            </a:r>
            <a:r>
              <a:rPr lang="en-GB" sz="2000" b="1" dirty="0">
                <a:latin typeface="Courier"/>
                <a:cs typeface="Courier"/>
              </a:rPr>
              <a:t> </a:t>
            </a:r>
            <a:r>
              <a:rPr lang="en-GB" sz="2000" b="1" dirty="0" err="1">
                <a:latin typeface="Courier"/>
                <a:cs typeface="Courier"/>
              </a:rPr>
              <a:t>putchar</a:t>
            </a:r>
            <a:r>
              <a:rPr lang="en-GB" sz="2000" b="1" dirty="0">
                <a:latin typeface="Courier"/>
                <a:cs typeface="Courier"/>
              </a:rPr>
              <a:t>(</a:t>
            </a:r>
            <a:r>
              <a:rPr lang="en-GB" sz="2000" b="1" dirty="0" err="1">
                <a:latin typeface="Courier"/>
                <a:cs typeface="Courier"/>
              </a:rPr>
              <a:t>int</a:t>
            </a:r>
            <a:r>
              <a:rPr lang="en-GB" sz="2000" b="1" dirty="0">
                <a:latin typeface="Courier"/>
                <a:cs typeface="Courier"/>
              </a:rPr>
              <a:t> c)</a:t>
            </a:r>
          </a:p>
          <a:p>
            <a:pPr lvl="1"/>
            <a:r>
              <a:rPr lang="en-GB" dirty="0"/>
              <a:t>Writes a character (an </a:t>
            </a:r>
            <a:r>
              <a:rPr lang="en-GB" b="1" dirty="0">
                <a:latin typeface="Courier"/>
                <a:cs typeface="Courier"/>
              </a:rPr>
              <a:t>unsigned char</a:t>
            </a:r>
            <a:r>
              <a:rPr lang="en-GB" dirty="0"/>
              <a:t>) specified by the argument </a:t>
            </a:r>
            <a:r>
              <a:rPr lang="en-GB" b="1" dirty="0">
                <a:latin typeface="Courier"/>
                <a:cs typeface="Courier"/>
              </a:rPr>
              <a:t>c </a:t>
            </a:r>
            <a:r>
              <a:rPr lang="en-GB" dirty="0">
                <a:latin typeface="Arial" charset="0"/>
              </a:rPr>
              <a:t>to the standard output</a:t>
            </a:r>
          </a:p>
          <a:p>
            <a:pPr lvl="1"/>
            <a:endParaRPr lang="en-GB" sz="800" dirty="0">
              <a:latin typeface="Arial" charset="0"/>
            </a:endParaRPr>
          </a:p>
          <a:p>
            <a:r>
              <a:rPr lang="en-GB" dirty="0">
                <a:latin typeface="Arial" charset="0"/>
                <a:cs typeface="ＭＳ Ｐゴシック" charset="0"/>
              </a:rPr>
              <a:t>Example:</a:t>
            </a:r>
          </a:p>
          <a:p>
            <a:pPr marL="0" indent="0">
              <a:buNone/>
            </a:pPr>
            <a:r>
              <a:rPr lang="en-GB" sz="2000" b="1" dirty="0">
                <a:latin typeface="Courier"/>
                <a:cs typeface="Courier"/>
              </a:rPr>
              <a:t>char c;</a:t>
            </a:r>
            <a:br>
              <a:rPr lang="en-GB" sz="2000" b="1" dirty="0">
                <a:latin typeface="Courier"/>
                <a:cs typeface="Courier"/>
              </a:rPr>
            </a:br>
            <a:r>
              <a:rPr lang="en-GB" sz="2000" b="1" dirty="0">
                <a:latin typeface="Courier"/>
                <a:cs typeface="Courier"/>
              </a:rPr>
              <a:t>c = </a:t>
            </a:r>
            <a:r>
              <a:rPr lang="en-GB" sz="2000" b="1" dirty="0" err="1">
                <a:latin typeface="Courier"/>
                <a:cs typeface="Courier"/>
              </a:rPr>
              <a:t>getchar</a:t>
            </a:r>
            <a:r>
              <a:rPr lang="en-GB" sz="2000" b="1" dirty="0">
                <a:latin typeface="Courier"/>
                <a:cs typeface="Courier"/>
              </a:rPr>
              <a:t>();</a:t>
            </a:r>
            <a:br>
              <a:rPr lang="en-GB" sz="2000" b="1" dirty="0">
                <a:latin typeface="Courier"/>
                <a:cs typeface="Courier"/>
              </a:rPr>
            </a:br>
            <a:r>
              <a:rPr lang="en-GB" sz="2000" b="1" dirty="0" err="1">
                <a:latin typeface="Courier"/>
                <a:cs typeface="Courier"/>
              </a:rPr>
              <a:t>putchar</a:t>
            </a:r>
            <a:r>
              <a:rPr lang="en-GB" sz="2000" b="1" dirty="0">
                <a:latin typeface="Courier"/>
                <a:cs typeface="Courier"/>
              </a:rPr>
              <a:t>(‘</a:t>
            </a:r>
            <a:r>
              <a:rPr lang="en-GB" altLang="ja-JP" sz="2000" b="1" dirty="0">
                <a:latin typeface="Courier"/>
                <a:cs typeface="Courier"/>
              </a:rPr>
              <a:t>\n</a:t>
            </a:r>
            <a:r>
              <a:rPr lang="en-GB" sz="2000" b="1" dirty="0">
                <a:latin typeface="Courier"/>
                <a:cs typeface="Courier"/>
              </a:rPr>
              <a:t>’</a:t>
            </a:r>
            <a:r>
              <a:rPr lang="en-GB" altLang="ja-JP" sz="2000" b="1" dirty="0">
                <a:latin typeface="Courier"/>
                <a:cs typeface="Courier"/>
              </a:rPr>
              <a:t>); /* displays a new line */</a:t>
            </a:r>
            <a:endParaRPr lang="en-GB" sz="2000" b="1" dirty="0">
              <a:latin typeface="Courier"/>
              <a:cs typeface="Courier"/>
            </a:endParaRP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271</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0703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2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42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210">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4210">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42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ea typeface="ＭＳ Ｐゴシック" charset="0"/>
                <a:cs typeface="ＭＳ Ｐゴシック" charset="0"/>
              </a:rPr>
              <a:t>String manipulation</a:t>
            </a:r>
          </a:p>
        </p:txBody>
      </p:sp>
      <p:sp>
        <p:nvSpPr>
          <p:cNvPr id="92162" name="Espace réservé du contenu 2"/>
          <p:cNvSpPr>
            <a:spLocks noGrp="1"/>
          </p:cNvSpPr>
          <p:nvPr>
            <p:ph idx="1"/>
          </p:nvPr>
        </p:nvSpPr>
        <p:spPr>
          <a:xfrm>
            <a:off x="287524" y="872716"/>
            <a:ext cx="10225136" cy="4537075"/>
          </a:xfrm>
        </p:spPr>
        <p:txBody>
          <a:bodyPr/>
          <a:lstStyle/>
          <a:p>
            <a:r>
              <a:rPr lang="en-GB" b="1" dirty="0">
                <a:latin typeface="Courier"/>
                <a:cs typeface="Courier"/>
              </a:rPr>
              <a:t>#include&lt;</a:t>
            </a:r>
            <a:r>
              <a:rPr lang="en-GB" b="1" dirty="0" err="1">
                <a:latin typeface="Courier"/>
                <a:cs typeface="Courier"/>
              </a:rPr>
              <a:t>string.h</a:t>
            </a:r>
            <a:r>
              <a:rPr lang="en-GB" b="1" dirty="0">
                <a:latin typeface="Courier"/>
                <a:cs typeface="Courier"/>
              </a:rPr>
              <a:t>&gt;</a:t>
            </a:r>
          </a:p>
          <a:p>
            <a:pPr marL="0" indent="0">
              <a:buNone/>
            </a:pPr>
            <a:endParaRPr lang="en-GB" dirty="0">
              <a:latin typeface="Arial" charset="0"/>
            </a:endParaRPr>
          </a:p>
          <a:p>
            <a:r>
              <a:rPr lang="en-GB" dirty="0">
                <a:latin typeface="Arial" charset="0"/>
              </a:rPr>
              <a:t>Read and write strings: 		</a:t>
            </a:r>
            <a:r>
              <a:rPr lang="en-GB" b="1" dirty="0" err="1">
                <a:latin typeface="Courier"/>
                <a:cs typeface="Courier"/>
              </a:rPr>
              <a:t>scanf</a:t>
            </a:r>
            <a:r>
              <a:rPr lang="en-GB" b="1" dirty="0">
                <a:latin typeface="Courier"/>
                <a:cs typeface="Courier"/>
              </a:rPr>
              <a:t>(…)/</a:t>
            </a:r>
            <a:r>
              <a:rPr lang="en-GB" b="1" dirty="0" err="1">
                <a:latin typeface="Courier"/>
                <a:cs typeface="Courier"/>
              </a:rPr>
              <a:t>printf</a:t>
            </a:r>
            <a:r>
              <a:rPr lang="en-GB" b="1" dirty="0">
                <a:latin typeface="Courier"/>
                <a:cs typeface="Courier"/>
              </a:rPr>
              <a:t>(…),</a:t>
            </a:r>
          </a:p>
          <a:p>
            <a:pPr marL="0" indent="0">
              <a:buNone/>
            </a:pPr>
            <a:r>
              <a:rPr lang="en-GB" b="1" dirty="0">
                <a:latin typeface="Courier"/>
                <a:cs typeface="Courier"/>
              </a:rPr>
              <a:t>					gets(…)/puts(…), </a:t>
            </a:r>
          </a:p>
          <a:p>
            <a:pPr marL="0" indent="0">
              <a:buNone/>
            </a:pPr>
            <a:r>
              <a:rPr lang="en-GB" b="1" dirty="0">
                <a:latin typeface="Courier"/>
                <a:cs typeface="Courier"/>
              </a:rPr>
              <a:t>					</a:t>
            </a:r>
            <a:r>
              <a:rPr lang="en-GB" b="1" dirty="0" err="1">
                <a:latin typeface="Courier"/>
                <a:cs typeface="Courier"/>
              </a:rPr>
              <a:t>fgets</a:t>
            </a:r>
            <a:r>
              <a:rPr lang="en-GB" b="1" dirty="0">
                <a:latin typeface="Courier"/>
                <a:cs typeface="Courier"/>
              </a:rPr>
              <a:t>(…)/</a:t>
            </a:r>
            <a:r>
              <a:rPr lang="en-GB" b="1" dirty="0" err="1">
                <a:latin typeface="Courier"/>
                <a:cs typeface="Courier"/>
              </a:rPr>
              <a:t>fputs</a:t>
            </a:r>
            <a:r>
              <a:rPr lang="en-GB" b="1" dirty="0">
                <a:latin typeface="Courier"/>
                <a:cs typeface="Courier"/>
              </a:rPr>
              <a:t>(…), …</a:t>
            </a:r>
            <a:endParaRPr lang="en-GB" dirty="0">
              <a:latin typeface="Arial" charset="0"/>
            </a:endParaRPr>
          </a:p>
          <a:p>
            <a:r>
              <a:rPr lang="en-GB" dirty="0">
                <a:latin typeface="Arial" charset="0"/>
              </a:rPr>
              <a:t>Length of string : 			</a:t>
            </a:r>
            <a:r>
              <a:rPr lang="en-GB" b="1" dirty="0" err="1">
                <a:latin typeface="Courier"/>
                <a:cs typeface="Courier"/>
              </a:rPr>
              <a:t>strlen</a:t>
            </a:r>
            <a:r>
              <a:rPr lang="en-GB" b="1" dirty="0">
                <a:latin typeface="Courier"/>
                <a:cs typeface="Courier"/>
              </a:rPr>
              <a:t>(…), …</a:t>
            </a:r>
          </a:p>
          <a:p>
            <a:r>
              <a:rPr lang="en-GB" dirty="0">
                <a:latin typeface="Arial" charset="0"/>
              </a:rPr>
              <a:t>Comparison of strings : 		</a:t>
            </a:r>
            <a:r>
              <a:rPr lang="en-GB" b="1" dirty="0" err="1">
                <a:latin typeface="Courier"/>
                <a:cs typeface="Courier"/>
              </a:rPr>
              <a:t>strcmp</a:t>
            </a:r>
            <a:r>
              <a:rPr lang="en-GB" b="1" dirty="0">
                <a:latin typeface="Courier"/>
                <a:cs typeface="Courier"/>
              </a:rPr>
              <a:t>(…), …</a:t>
            </a:r>
          </a:p>
          <a:p>
            <a:r>
              <a:rPr lang="en-GB" dirty="0">
                <a:solidFill>
                  <a:schemeClr val="tx1"/>
                </a:solidFill>
                <a:latin typeface="Arial" charset="0"/>
              </a:rPr>
              <a:t>Copy of strings : 			</a:t>
            </a:r>
            <a:r>
              <a:rPr lang="en-GB" b="1" dirty="0" err="1">
                <a:solidFill>
                  <a:schemeClr val="tx1"/>
                </a:solidFill>
                <a:latin typeface="Courier"/>
                <a:cs typeface="Courier"/>
              </a:rPr>
              <a:t>strcpy</a:t>
            </a:r>
            <a:r>
              <a:rPr lang="en-GB" b="1" dirty="0">
                <a:solidFill>
                  <a:schemeClr val="tx1"/>
                </a:solidFill>
                <a:latin typeface="Courier"/>
                <a:cs typeface="Courier"/>
              </a:rPr>
              <a:t>(…), …</a:t>
            </a:r>
          </a:p>
          <a:p>
            <a:r>
              <a:rPr lang="en-GB" dirty="0">
                <a:solidFill>
                  <a:schemeClr val="tx1"/>
                </a:solidFill>
                <a:latin typeface="Arial" charset="0"/>
              </a:rPr>
              <a:t>Formatted output to a string: 	</a:t>
            </a:r>
            <a:r>
              <a:rPr lang="en-GB" b="1" dirty="0" err="1">
                <a:solidFill>
                  <a:schemeClr val="tx1"/>
                </a:solidFill>
                <a:latin typeface="Courier"/>
                <a:cs typeface="Courier"/>
              </a:rPr>
              <a:t>sprintf</a:t>
            </a:r>
            <a:r>
              <a:rPr lang="en-GB" b="1" dirty="0">
                <a:solidFill>
                  <a:schemeClr val="tx1"/>
                </a:solidFill>
                <a:latin typeface="Courier"/>
                <a:cs typeface="Courier"/>
              </a:rPr>
              <a:t>(…), …</a:t>
            </a:r>
          </a:p>
          <a:p>
            <a:r>
              <a:rPr lang="en-GB" dirty="0">
                <a:latin typeface="Arial" charset="0"/>
              </a:rPr>
              <a: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272</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711228410"/>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String </a:t>
            </a:r>
            <a:r>
              <a:rPr lang="fr-FR" sz="2800" dirty="0" err="1">
                <a:latin typeface="Arial" charset="0"/>
                <a:cs typeface="ＭＳ Ｐゴシック" charset="0"/>
              </a:rPr>
              <a:t>declaration</a:t>
            </a:r>
            <a:r>
              <a:rPr lang="fr-FR" sz="2800" dirty="0">
                <a:latin typeface="Arial" charset="0"/>
                <a:cs typeface="ＭＳ Ｐゴシック" charset="0"/>
              </a:rPr>
              <a:t>: </a:t>
            </a:r>
            <a:r>
              <a:rPr lang="fr-FR" sz="2800" dirty="0" err="1">
                <a:latin typeface="Arial" charset="0"/>
                <a:cs typeface="ＭＳ Ｐゴシック" charset="0"/>
              </a:rPr>
              <a:t>Remarks</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72385" y="872716"/>
            <a:ext cx="8856476" cy="4537075"/>
          </a:xfrm>
        </p:spPr>
        <p:txBody>
          <a:bodyPr/>
          <a:lstStyle/>
          <a:p>
            <a:r>
              <a:rPr lang="en-GB" dirty="0">
                <a:latin typeface="Arial" charset="0"/>
                <a:cs typeface="ＭＳ Ｐゴシック" charset="0"/>
              </a:rPr>
              <a:t>Static declaration</a:t>
            </a:r>
          </a:p>
          <a:p>
            <a:pPr marL="0" lvl="1" indent="0">
              <a:buSzTx/>
              <a:buNone/>
            </a:pPr>
            <a:r>
              <a:rPr lang="en-GB" b="1" dirty="0">
                <a:latin typeface="Courier"/>
                <a:cs typeface="Courier"/>
              </a:rPr>
              <a:t>char str1[]=“hello”;</a:t>
            </a:r>
          </a:p>
          <a:p>
            <a:pPr marL="0" lvl="1" indent="0">
              <a:buSzTx/>
              <a:buNone/>
            </a:pPr>
            <a:r>
              <a:rPr lang="en-GB" b="1" dirty="0">
                <a:latin typeface="Courier"/>
                <a:cs typeface="Courier"/>
              </a:rPr>
              <a:t>char str2[]=“world”;</a:t>
            </a:r>
            <a:endParaRPr lang="en-GB" dirty="0">
              <a:latin typeface="Arial" charset="0"/>
              <a:cs typeface="ＭＳ Ｐゴシック" charset="0"/>
            </a:endParaRPr>
          </a:p>
          <a:p>
            <a:pPr lvl="1"/>
            <a:r>
              <a:rPr lang="en-GB" dirty="0">
                <a:latin typeface="Arial" charset="0"/>
                <a:cs typeface="ＭＳ Ｐゴシック" charset="0"/>
              </a:rPr>
              <a:t>We </a:t>
            </a:r>
            <a:r>
              <a:rPr lang="en-GB" dirty="0">
                <a:solidFill>
                  <a:srgbClr val="FF0000"/>
                </a:solidFill>
                <a:latin typeface="Arial" charset="0"/>
                <a:cs typeface="ＭＳ Ｐゴシック" charset="0"/>
              </a:rPr>
              <a:t>CANNOT</a:t>
            </a:r>
            <a:r>
              <a:rPr lang="en-GB" dirty="0">
                <a:latin typeface="Arial" charset="0"/>
                <a:cs typeface="ＭＳ Ｐゴシック" charset="0"/>
              </a:rPr>
              <a:t> assign a string to another (</a:t>
            </a:r>
            <a:r>
              <a:rPr lang="en-GB" b="1" dirty="0">
                <a:solidFill>
                  <a:srgbClr val="FF0000"/>
                </a:solidFill>
                <a:latin typeface="Courier"/>
                <a:cs typeface="Courier"/>
              </a:rPr>
              <a:t>str2 = str1;</a:t>
            </a:r>
            <a:r>
              <a:rPr lang="en-GB" b="1" dirty="0">
                <a:solidFill>
                  <a:schemeClr val="tx1"/>
                </a:solidFill>
                <a:cs typeface="Courier"/>
              </a:rPr>
              <a:t>). </a:t>
            </a:r>
            <a:r>
              <a:rPr lang="en-GB" dirty="0">
                <a:latin typeface="Arial" charset="0"/>
                <a:cs typeface="ＭＳ Ｐゴシック" charset="0"/>
              </a:rPr>
              <a:t>They are constant pointers!</a:t>
            </a:r>
          </a:p>
          <a:p>
            <a:pPr lvl="2"/>
            <a:r>
              <a:rPr lang="en-GB" dirty="0">
                <a:latin typeface="Arial" charset="0"/>
                <a:cs typeface="ＭＳ Ｐゴシック" charset="0"/>
              </a:rPr>
              <a:t>We have to copy one to the other!</a:t>
            </a:r>
          </a:p>
          <a:p>
            <a:pPr lvl="1"/>
            <a:r>
              <a:rPr lang="en-GB" dirty="0">
                <a:latin typeface="Arial" charset="0"/>
                <a:cs typeface="ＭＳ Ｐゴシック" charset="0"/>
              </a:rPr>
              <a:t>Once the string is initialized, it </a:t>
            </a:r>
            <a:r>
              <a:rPr lang="en-GB" dirty="0">
                <a:solidFill>
                  <a:srgbClr val="FF0000"/>
                </a:solidFill>
                <a:latin typeface="Arial" charset="0"/>
                <a:cs typeface="ＭＳ Ｐゴシック" charset="0"/>
              </a:rPr>
              <a:t>CANNOT </a:t>
            </a:r>
            <a:r>
              <a:rPr lang="en-GB" dirty="0">
                <a:latin typeface="Arial" charset="0"/>
                <a:cs typeface="ＭＳ Ｐゴシック" charset="0"/>
              </a:rPr>
              <a:t>be assigned to another </a:t>
            </a:r>
            <a:r>
              <a:rPr lang="en-GB" dirty="0">
                <a:solidFill>
                  <a:srgbClr val="FF0000"/>
                </a:solidFill>
                <a:latin typeface="Arial" charset="0"/>
                <a:cs typeface="ＭＳ Ｐゴシック" charset="0"/>
              </a:rPr>
              <a:t>set of characters</a:t>
            </a:r>
          </a:p>
          <a:p>
            <a:pPr marL="542925" lvl="1" indent="0">
              <a:buNone/>
            </a:pPr>
            <a:r>
              <a:rPr lang="en-GB" b="1" dirty="0">
                <a:solidFill>
                  <a:srgbClr val="FF0000"/>
                </a:solidFill>
                <a:latin typeface="Courier"/>
                <a:cs typeface="Courier"/>
              </a:rPr>
              <a:t>str1 = “bye”;</a:t>
            </a:r>
            <a:endParaRPr lang="en-GB" sz="800" dirty="0">
              <a:latin typeface="Arial" charset="0"/>
              <a:cs typeface="ＭＳ Ｐゴシック"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273</a:t>
            </a:fld>
            <a:endParaRPr lang="fr-FR" sz="140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2651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Basic I/O limitations </a:t>
            </a:r>
            <a:r>
              <a:rPr lang="fr-FR" sz="2800" dirty="0" err="1">
                <a:latin typeface="Arial" charset="0"/>
                <a:cs typeface="ＭＳ Ｐゴシック" charset="0"/>
              </a:rPr>
              <a:t>with</a:t>
            </a:r>
            <a:r>
              <a:rPr lang="fr-FR" sz="2800" dirty="0">
                <a:latin typeface="Arial" charset="0"/>
                <a:cs typeface="ＭＳ Ｐゴシック" charset="0"/>
              </a:rPr>
              <a:t> strings</a:t>
            </a:r>
          </a:p>
        </p:txBody>
      </p:sp>
      <p:sp>
        <p:nvSpPr>
          <p:cNvPr id="92162" name="Espace réservé du contenu 2"/>
          <p:cNvSpPr>
            <a:spLocks noGrp="1"/>
          </p:cNvSpPr>
          <p:nvPr>
            <p:ph idx="1"/>
          </p:nvPr>
        </p:nvSpPr>
        <p:spPr>
          <a:xfrm>
            <a:off x="287524" y="872716"/>
            <a:ext cx="8856476" cy="4537075"/>
          </a:xfrm>
        </p:spPr>
        <p:txBody>
          <a:bodyPr/>
          <a:lstStyle/>
          <a:p>
            <a:pPr marL="363538" lvl="1" indent="-363538">
              <a:buSzTx/>
              <a:buBlip>
                <a:blip r:embed="rId3"/>
              </a:buBlip>
            </a:pPr>
            <a:r>
              <a:rPr lang="en-GB" sz="2400" dirty="0">
                <a:ea typeface="Courier New"/>
              </a:rPr>
              <a:t>Basic I/O are </a:t>
            </a:r>
            <a:r>
              <a:rPr lang="en-GB" sz="2400" b="1" dirty="0">
                <a:solidFill>
                  <a:srgbClr val="FF0000"/>
                </a:solidFill>
                <a:ea typeface="Courier New"/>
              </a:rPr>
              <a:t>NOT</a:t>
            </a:r>
            <a:r>
              <a:rPr lang="en-GB" sz="2400" dirty="0">
                <a:solidFill>
                  <a:srgbClr val="FF0000"/>
                </a:solidFill>
                <a:ea typeface="Courier New"/>
              </a:rPr>
              <a:t> </a:t>
            </a:r>
            <a:r>
              <a:rPr lang="en-GB" sz="2400" dirty="0">
                <a:ea typeface="Courier New"/>
              </a:rPr>
              <a:t>capable verifying </a:t>
            </a:r>
            <a:r>
              <a:rPr lang="en-GB" sz="2400" b="1" dirty="0">
                <a:solidFill>
                  <a:srgbClr val="FF0000"/>
                </a:solidFill>
                <a:ea typeface="Courier New"/>
              </a:rPr>
              <a:t>bounds</a:t>
            </a:r>
          </a:p>
          <a:p>
            <a:pPr marL="363538" lvl="1" indent="-363538">
              <a:buSzTx/>
              <a:buBlip>
                <a:blip r:embed="rId3"/>
              </a:buBlip>
            </a:pPr>
            <a:r>
              <a:rPr lang="en-GB" sz="2400" dirty="0">
                <a:ea typeface="Courier New"/>
              </a:rPr>
              <a:t>Example:</a:t>
            </a:r>
          </a:p>
          <a:p>
            <a:pPr marL="179388" lvl="2" indent="0">
              <a:buNone/>
            </a:pPr>
            <a:r>
              <a:rPr lang="en-GB" b="1" dirty="0">
                <a:latin typeface="Courier New"/>
                <a:ea typeface="Courier New"/>
                <a:cs typeface="Courier New"/>
              </a:rPr>
              <a:t>char name = “Hello” </a:t>
            </a:r>
            <a:endParaRPr lang="en-GB" sz="2400" dirty="0">
              <a:cs typeface="Courier New"/>
            </a:endParaRPr>
          </a:p>
          <a:p>
            <a:pPr marL="179388" lvl="2" indent="0">
              <a:buNone/>
            </a:pPr>
            <a:r>
              <a:rPr lang="en-GB" b="1" dirty="0" err="1">
                <a:latin typeface="Courier New"/>
                <a:ea typeface="Courier New"/>
              </a:rPr>
              <a:t>scanf</a:t>
            </a:r>
            <a:r>
              <a:rPr lang="en-GB" b="1" dirty="0">
                <a:latin typeface="Courier New"/>
                <a:ea typeface="Courier New"/>
              </a:rPr>
              <a:t>(“%s”, name ); </a:t>
            </a:r>
          </a:p>
          <a:p>
            <a:pPr marL="179388" lvl="2" indent="0">
              <a:buNone/>
            </a:pPr>
            <a:r>
              <a:rPr lang="en-GB" b="1" dirty="0" err="1">
                <a:latin typeface="Courier New"/>
                <a:ea typeface="Courier New"/>
              </a:rPr>
              <a:t>printf</a:t>
            </a:r>
            <a:r>
              <a:rPr lang="en-GB" b="1" dirty="0">
                <a:latin typeface="Courier New"/>
                <a:ea typeface="Courier New"/>
              </a:rPr>
              <a:t>(“%s”, name );</a:t>
            </a:r>
          </a:p>
          <a:p>
            <a:endParaRPr lang="en-GB" b="1" dirty="0">
              <a:latin typeface="Courier New"/>
              <a:ea typeface="Courier New"/>
            </a:endParaRPr>
          </a:p>
          <a:p>
            <a:r>
              <a:rPr lang="en-GB" b="1" dirty="0" err="1">
                <a:latin typeface="Courier New"/>
                <a:ea typeface="Courier New"/>
              </a:rPr>
              <a:t>scanf</a:t>
            </a:r>
            <a:r>
              <a:rPr lang="en-GB" b="1" dirty="0">
                <a:latin typeface="Courier New"/>
                <a:ea typeface="Courier New"/>
              </a:rPr>
              <a:t>(“</a:t>
            </a:r>
            <a:r>
              <a:rPr lang="en-GB" b="1" dirty="0">
                <a:solidFill>
                  <a:srgbClr val="FF0000"/>
                </a:solidFill>
                <a:latin typeface="Courier New"/>
                <a:ea typeface="Courier New"/>
              </a:rPr>
              <a:t>%s</a:t>
            </a:r>
            <a:r>
              <a:rPr lang="en-GB" b="1" dirty="0">
                <a:latin typeface="Courier New"/>
                <a:ea typeface="Courier New"/>
              </a:rPr>
              <a:t>”, name );</a:t>
            </a:r>
            <a:r>
              <a:rPr lang="en-GB" b="1" dirty="0">
                <a:latin typeface="Courier New"/>
                <a:ea typeface="Courier New"/>
                <a:sym typeface="Wingdings"/>
              </a:rPr>
              <a:t> </a:t>
            </a:r>
            <a:r>
              <a:rPr lang="en-GB" b="1" dirty="0">
                <a:solidFill>
                  <a:srgbClr val="FF0000"/>
                </a:solidFill>
                <a:latin typeface="Courier New"/>
                <a:ea typeface="Courier New"/>
              </a:rPr>
              <a:t>%s is dangerous! </a:t>
            </a:r>
          </a:p>
          <a:p>
            <a:pPr lvl="1"/>
            <a:r>
              <a:rPr lang="en-GB" b="1" dirty="0">
                <a:latin typeface="Courier New"/>
                <a:ea typeface="Courier New"/>
              </a:rPr>
              <a:t>name </a:t>
            </a:r>
            <a:r>
              <a:rPr lang="en-GB" dirty="0">
                <a:ea typeface="Courier New"/>
              </a:rPr>
              <a:t>is a pointer, the starting address of the string</a:t>
            </a:r>
          </a:p>
          <a:p>
            <a:pPr lvl="1"/>
            <a:r>
              <a:rPr lang="en-GB" b="1" dirty="0">
                <a:solidFill>
                  <a:srgbClr val="FF0000"/>
                </a:solidFill>
                <a:ea typeface="Courier New"/>
              </a:rPr>
              <a:t>NO verification </a:t>
            </a:r>
            <a:r>
              <a:rPr lang="en-GB" dirty="0">
                <a:ea typeface="Courier New"/>
              </a:rPr>
              <a:t>on how long is the information to be written!</a:t>
            </a:r>
          </a:p>
          <a:p>
            <a:pPr lvl="1"/>
            <a:r>
              <a:rPr lang="en-GB" dirty="0">
                <a:ea typeface="Courier New"/>
              </a:rPr>
              <a:t>Analogy: Give a pen to someone and point where to start writing</a:t>
            </a:r>
          </a:p>
          <a:p>
            <a:pPr lvl="2"/>
            <a:r>
              <a:rPr lang="en-GB" dirty="0">
                <a:ea typeface="Courier New"/>
                <a:sym typeface="Wingdings"/>
              </a:rPr>
              <a:t>But then have n</a:t>
            </a:r>
            <a:r>
              <a:rPr lang="en-GB" dirty="0">
                <a:ea typeface="Courier New"/>
              </a:rPr>
              <a:t>o control! he may continue writing on the desk..</a:t>
            </a:r>
          </a:p>
          <a:p>
            <a:pPr lvl="1"/>
            <a:r>
              <a:rPr lang="en-GB" dirty="0"/>
              <a:t>Solution:</a:t>
            </a:r>
          </a:p>
          <a:p>
            <a:pPr lvl="2"/>
            <a:r>
              <a:rPr lang="en-GB" b="1" dirty="0">
                <a:latin typeface="Courier"/>
                <a:cs typeface="Courier"/>
              </a:rPr>
              <a:t>char name[10];</a:t>
            </a:r>
          </a:p>
          <a:p>
            <a:pPr lvl="2"/>
            <a:r>
              <a:rPr lang="en-GB" b="1" dirty="0" err="1">
                <a:latin typeface="Courier New"/>
                <a:ea typeface="Courier New"/>
              </a:rPr>
              <a:t>scanf</a:t>
            </a:r>
            <a:r>
              <a:rPr lang="en-GB" b="1" dirty="0">
                <a:latin typeface="Courier New"/>
                <a:ea typeface="Courier New"/>
              </a:rPr>
              <a:t>(“</a:t>
            </a:r>
            <a:r>
              <a:rPr lang="en-GB" b="1" dirty="0">
                <a:solidFill>
                  <a:schemeClr val="accent2"/>
                </a:solidFill>
                <a:latin typeface="Courier New"/>
                <a:ea typeface="Courier New"/>
              </a:rPr>
              <a:t>%9s</a:t>
            </a:r>
            <a:r>
              <a:rPr lang="en-GB" b="1" dirty="0">
                <a:latin typeface="Courier New"/>
                <a:ea typeface="Courier New"/>
              </a:rPr>
              <a:t>”, name );</a:t>
            </a:r>
          </a:p>
          <a:p>
            <a:pPr lvl="1">
              <a:lnSpc>
                <a:spcPct val="100000"/>
              </a:lnSpc>
              <a:buSzPct val="25000"/>
              <a:buFont typeface="StarSymbol"/>
              <a:buChar char=""/>
            </a:pPr>
            <a:endParaRPr lang="en-GB" dirty="0"/>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274</a:t>
            </a:fld>
            <a:endParaRPr lang="fr-FR" sz="1400" dirty="0">
              <a:solidFill>
                <a:srgbClr val="000208"/>
              </a:solidFill>
              <a:latin typeface="Times New Roman" charset="0"/>
            </a:endParaRPr>
          </a:p>
        </p:txBody>
      </p:sp>
      <p:sp>
        <p:nvSpPr>
          <p:cNvPr id="7" name="Rectangle 6"/>
          <p:cNvSpPr/>
          <p:nvPr/>
        </p:nvSpPr>
        <p:spPr>
          <a:xfrm rot="20061788">
            <a:off x="6061460" y="1633554"/>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78156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6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6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16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6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162">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16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16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162">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Basic I/O limitations </a:t>
            </a:r>
            <a:r>
              <a:rPr lang="fr-FR" sz="2800" dirty="0" err="1">
                <a:latin typeface="Arial" charset="0"/>
                <a:cs typeface="ＭＳ Ｐゴシック" charset="0"/>
              </a:rPr>
              <a:t>with</a:t>
            </a:r>
            <a:r>
              <a:rPr lang="fr-FR" sz="2800" dirty="0">
                <a:latin typeface="Arial" charset="0"/>
                <a:cs typeface="ＭＳ Ｐゴシック" charset="0"/>
              </a:rPr>
              <a:t> strings</a:t>
            </a:r>
          </a:p>
        </p:txBody>
      </p:sp>
      <p:sp>
        <p:nvSpPr>
          <p:cNvPr id="92162" name="Espace réservé du contenu 2"/>
          <p:cNvSpPr>
            <a:spLocks noGrp="1"/>
          </p:cNvSpPr>
          <p:nvPr>
            <p:ph idx="1"/>
          </p:nvPr>
        </p:nvSpPr>
        <p:spPr>
          <a:xfrm>
            <a:off x="287524" y="872716"/>
            <a:ext cx="8856476" cy="4537075"/>
          </a:xfrm>
        </p:spPr>
        <p:txBody>
          <a:bodyPr/>
          <a:lstStyle/>
          <a:p>
            <a:r>
              <a:rPr lang="en-GB" b="1" dirty="0" err="1">
                <a:latin typeface="Courier New"/>
                <a:ea typeface="Courier New"/>
              </a:rPr>
              <a:t>scanf</a:t>
            </a:r>
            <a:r>
              <a:rPr lang="en-GB" dirty="0">
                <a:ea typeface="Courier New"/>
              </a:rPr>
              <a:t> ends after a space:</a:t>
            </a:r>
            <a:endParaRPr lang="en-GB" dirty="0"/>
          </a:p>
          <a:p>
            <a:pPr lvl="1"/>
            <a:r>
              <a:rPr lang="en-GB" dirty="0">
                <a:ea typeface="Courier New"/>
              </a:rPr>
              <a:t>receiving multiword strings in</a:t>
            </a:r>
            <a:r>
              <a:rPr lang="en-GB" b="1" dirty="0">
                <a:ea typeface="Courier New"/>
              </a:rPr>
              <a:t> one variable</a:t>
            </a:r>
            <a:endParaRPr lang="en-GB" b="1" dirty="0">
              <a:latin typeface="Courier"/>
              <a:cs typeface="Courier"/>
            </a:endParaRPr>
          </a:p>
          <a:p>
            <a:pPr marL="363538" lvl="1" indent="-363538">
              <a:buSzTx/>
              <a:buBlip>
                <a:blip r:embed="rId3"/>
              </a:buBlip>
            </a:pPr>
            <a:r>
              <a:rPr lang="en-GB" sz="2400" dirty="0">
                <a:ea typeface="Courier New"/>
              </a:rPr>
              <a:t>Example</a:t>
            </a:r>
          </a:p>
          <a:p>
            <a:pPr marL="0" lvl="1" indent="0">
              <a:buSzTx/>
              <a:buNone/>
            </a:pPr>
            <a:r>
              <a:rPr lang="en-GB" b="1" dirty="0">
                <a:latin typeface="Courier New"/>
                <a:ea typeface="Courier New"/>
                <a:cs typeface="Courier New"/>
              </a:rPr>
              <a:t>char name = “Hello John</a:t>
            </a:r>
            <a:r>
              <a:rPr lang="en-GB" dirty="0">
                <a:ea typeface="Courier New"/>
              </a:rPr>
              <a:t>”</a:t>
            </a:r>
            <a:endParaRPr lang="en-GB" dirty="0"/>
          </a:p>
          <a:p>
            <a:pPr marL="0" lvl="1" indent="0">
              <a:buSzTx/>
              <a:buNone/>
            </a:pPr>
            <a:r>
              <a:rPr lang="en-GB" b="1" dirty="0" err="1">
                <a:latin typeface="Courier New"/>
                <a:ea typeface="Courier New"/>
              </a:rPr>
              <a:t>scanf</a:t>
            </a:r>
            <a:r>
              <a:rPr lang="en-GB" b="1" dirty="0">
                <a:latin typeface="Courier New"/>
                <a:ea typeface="Courier New"/>
              </a:rPr>
              <a:t>(“%s”, name ); </a:t>
            </a:r>
          </a:p>
          <a:p>
            <a:pPr marL="0" lvl="1" indent="0">
              <a:buSzTx/>
              <a:buNone/>
            </a:pPr>
            <a:r>
              <a:rPr lang="en-GB" b="1" dirty="0" err="1">
                <a:latin typeface="Courier New"/>
                <a:ea typeface="Courier New"/>
              </a:rPr>
              <a:t>printf</a:t>
            </a:r>
            <a:r>
              <a:rPr lang="en-GB" b="1" dirty="0">
                <a:latin typeface="Courier New"/>
                <a:ea typeface="Courier New"/>
              </a:rPr>
              <a:t>(“%s”, name );</a:t>
            </a:r>
          </a:p>
          <a:p>
            <a:endParaRPr lang="en-GB" dirty="0"/>
          </a:p>
          <a:p>
            <a:r>
              <a:rPr lang="en-GB" dirty="0"/>
              <a:t>Solution?</a:t>
            </a:r>
          </a:p>
          <a:p>
            <a:pPr lvl="1"/>
            <a:r>
              <a:rPr lang="en-GB" b="1" dirty="0">
                <a:latin typeface="Courier"/>
                <a:cs typeface="Courier"/>
              </a:rPr>
              <a:t>gets(name);</a:t>
            </a:r>
          </a:p>
          <a:p>
            <a:pPr lvl="1"/>
            <a:r>
              <a:rPr lang="en-GB" b="1" dirty="0">
                <a:latin typeface="Courier"/>
                <a:cs typeface="Courier"/>
              </a:rPr>
              <a:t>puts(name);</a:t>
            </a:r>
          </a:p>
          <a:p>
            <a:pPr marL="542925" lvl="1" indent="0">
              <a:buNone/>
            </a:pPr>
            <a:endParaRPr lang="en-GB" b="1" dirty="0">
              <a:latin typeface="Courier"/>
              <a:cs typeface="Courier"/>
            </a:endParaRPr>
          </a:p>
          <a:p>
            <a:pPr lvl="1">
              <a:lnSpc>
                <a:spcPct val="100000"/>
              </a:lnSpc>
              <a:buSzPct val="25000"/>
              <a:buFont typeface="StarSymbol"/>
              <a:buChar char=""/>
            </a:pPr>
            <a:endParaRPr lang="en-GB" dirty="0"/>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275</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65519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6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6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16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Read/</a:t>
            </a:r>
            <a:r>
              <a:rPr lang="fr-FR" sz="2800" dirty="0" err="1">
                <a:latin typeface="Arial" charset="0"/>
                <a:cs typeface="ＭＳ Ｐゴシック" charset="0"/>
              </a:rPr>
              <a:t>Write</a:t>
            </a:r>
            <a:r>
              <a:rPr lang="fr-FR" sz="2800" dirty="0">
                <a:latin typeface="Arial" charset="0"/>
                <a:cs typeface="ＭＳ Ｐゴシック" charset="0"/>
              </a:rPr>
              <a:t> a string</a:t>
            </a:r>
          </a:p>
        </p:txBody>
      </p:sp>
      <p:sp>
        <p:nvSpPr>
          <p:cNvPr id="92162" name="Espace réservé du contenu 2"/>
          <p:cNvSpPr>
            <a:spLocks noGrp="1"/>
          </p:cNvSpPr>
          <p:nvPr>
            <p:ph idx="1"/>
          </p:nvPr>
        </p:nvSpPr>
        <p:spPr>
          <a:xfrm>
            <a:off x="287524" y="872716"/>
            <a:ext cx="8856476" cy="4537075"/>
          </a:xfrm>
        </p:spPr>
        <p:txBody>
          <a:bodyPr/>
          <a:lstStyle/>
          <a:p>
            <a:pPr marL="363538" lvl="1" indent="-363538">
              <a:buSzTx/>
              <a:buBlip>
                <a:blip r:embed="rId3"/>
              </a:buBlip>
            </a:pPr>
            <a:r>
              <a:rPr lang="en-US" sz="2400" dirty="0">
                <a:cs typeface="Courier"/>
              </a:rPr>
              <a:t>Syntax:</a:t>
            </a:r>
            <a:r>
              <a:rPr lang="en-US" sz="2400" b="1" dirty="0">
                <a:latin typeface="Courier"/>
                <a:cs typeface="Courier"/>
              </a:rPr>
              <a:t> </a:t>
            </a:r>
          </a:p>
          <a:p>
            <a:pPr marL="0" lvl="1" indent="0">
              <a:buSzTx/>
              <a:buNone/>
            </a:pPr>
            <a:r>
              <a:rPr lang="en-US" b="1" dirty="0">
                <a:latin typeface="Courier"/>
                <a:cs typeface="Courier"/>
              </a:rPr>
              <a:t>char *gets(char *</a:t>
            </a:r>
            <a:r>
              <a:rPr lang="en-US" b="1" dirty="0" err="1">
                <a:latin typeface="Courier"/>
                <a:cs typeface="Courier"/>
              </a:rPr>
              <a:t>str</a:t>
            </a:r>
            <a:r>
              <a:rPr lang="en-US" b="1" dirty="0">
                <a:latin typeface="Courier"/>
                <a:cs typeface="Courier"/>
              </a:rPr>
              <a:t>)</a:t>
            </a:r>
            <a:r>
              <a:rPr lang="en-US" dirty="0">
                <a:latin typeface="Courier"/>
                <a:cs typeface="Courier"/>
              </a:rPr>
              <a:t> </a:t>
            </a:r>
            <a:endParaRPr lang="en-GB" b="1" dirty="0">
              <a:latin typeface="Courier"/>
              <a:cs typeface="Courier"/>
            </a:endParaRPr>
          </a:p>
          <a:p>
            <a:pPr lvl="1"/>
            <a:endParaRPr lang="en-GB" dirty="0">
              <a:cs typeface="Courier"/>
            </a:endParaRPr>
          </a:p>
          <a:p>
            <a:r>
              <a:rPr lang="en-GB" dirty="0">
                <a:cs typeface="Courier"/>
              </a:rPr>
              <a:t>Function:</a:t>
            </a:r>
          </a:p>
          <a:p>
            <a:pPr lvl="1"/>
            <a:r>
              <a:rPr lang="en-GB" dirty="0">
                <a:cs typeface="Courier"/>
              </a:rPr>
              <a:t>Reads a line from the </a:t>
            </a:r>
            <a:r>
              <a:rPr lang="en-GB" b="1" dirty="0" err="1">
                <a:latin typeface="Courier"/>
                <a:cs typeface="Courier"/>
              </a:rPr>
              <a:t>stdin</a:t>
            </a:r>
            <a:r>
              <a:rPr lang="en-GB" dirty="0">
                <a:cs typeface="Courier"/>
              </a:rPr>
              <a:t> and stores it in the string pointed by </a:t>
            </a:r>
            <a:r>
              <a:rPr lang="en-GB" b="1" dirty="0" err="1">
                <a:latin typeface="Courier"/>
                <a:cs typeface="Courier"/>
              </a:rPr>
              <a:t>str</a:t>
            </a:r>
            <a:r>
              <a:rPr lang="en-GB" b="1" dirty="0">
                <a:latin typeface="Courier"/>
                <a:cs typeface="Courier"/>
              </a:rPr>
              <a:t> </a:t>
            </a:r>
            <a:r>
              <a:rPr lang="en-GB" dirty="0">
                <a:cs typeface="Courier"/>
              </a:rPr>
              <a:t>(stops when </a:t>
            </a:r>
            <a:r>
              <a:rPr lang="en-GB" b="1" dirty="0">
                <a:latin typeface="Courier"/>
                <a:cs typeface="Courier"/>
              </a:rPr>
              <a:t>\n</a:t>
            </a:r>
            <a:r>
              <a:rPr lang="en-GB" dirty="0">
                <a:cs typeface="Courier"/>
              </a:rPr>
              <a:t> is read or </a:t>
            </a:r>
            <a:r>
              <a:rPr lang="en-GB" b="1" dirty="0">
                <a:latin typeface="Courier"/>
                <a:cs typeface="Courier"/>
              </a:rPr>
              <a:t>EOF</a:t>
            </a:r>
            <a:r>
              <a:rPr lang="en-GB" dirty="0">
                <a:cs typeface="Courier"/>
              </a:rPr>
              <a:t>)</a:t>
            </a:r>
            <a:endParaRPr lang="en-GB" dirty="0"/>
          </a:p>
          <a:p>
            <a:pPr lvl="1"/>
            <a:r>
              <a:rPr lang="en-GB" dirty="0"/>
              <a:t>It does </a:t>
            </a:r>
            <a:r>
              <a:rPr lang="en-GB" b="1" dirty="0">
                <a:solidFill>
                  <a:srgbClr val="FF0000"/>
                </a:solidFill>
              </a:rPr>
              <a:t>NOT</a:t>
            </a:r>
            <a:r>
              <a:rPr lang="en-GB" dirty="0"/>
              <a:t> include the ending newline character </a:t>
            </a:r>
            <a:r>
              <a:rPr lang="en-GB" b="1" dirty="0">
                <a:latin typeface="Courier"/>
                <a:cs typeface="Courier"/>
              </a:rPr>
              <a:t>\n</a:t>
            </a:r>
            <a:r>
              <a:rPr lang="en-GB" dirty="0"/>
              <a:t> in the resulting string</a:t>
            </a:r>
          </a:p>
          <a:p>
            <a:pPr lvl="1"/>
            <a:r>
              <a:rPr lang="en-GB" dirty="0"/>
              <a:t>It does</a:t>
            </a:r>
            <a:r>
              <a:rPr lang="en-GB" b="1" dirty="0">
                <a:solidFill>
                  <a:srgbClr val="FF0000"/>
                </a:solidFill>
              </a:rPr>
              <a:t> NOT</a:t>
            </a:r>
            <a:r>
              <a:rPr lang="en-GB" dirty="0"/>
              <a:t> allow to specify a maximum size for </a:t>
            </a:r>
            <a:r>
              <a:rPr lang="en-GB" b="1" dirty="0">
                <a:latin typeface="Courier"/>
                <a:cs typeface="Courier"/>
              </a:rPr>
              <a:t>name</a:t>
            </a:r>
          </a:p>
          <a:p>
            <a:pPr lvl="2"/>
            <a:r>
              <a:rPr lang="en-GB" b="1" dirty="0">
                <a:solidFill>
                  <a:srgbClr val="FF0000"/>
                </a:solidFill>
                <a:cs typeface="Courier"/>
              </a:rPr>
              <a:t>DANGEROUS</a:t>
            </a:r>
          </a:p>
          <a:p>
            <a:r>
              <a:rPr lang="en-GB" dirty="0"/>
              <a:t>Returns: </a:t>
            </a:r>
          </a:p>
          <a:p>
            <a:pPr lvl="1"/>
            <a:r>
              <a:rPr lang="en-GB" b="1" dirty="0" err="1">
                <a:latin typeface="Courier"/>
                <a:cs typeface="Courier"/>
              </a:rPr>
              <a:t>str</a:t>
            </a:r>
            <a:r>
              <a:rPr lang="en-GB" dirty="0"/>
              <a:t> on success</a:t>
            </a:r>
          </a:p>
          <a:p>
            <a:pPr lvl="1"/>
            <a:r>
              <a:rPr lang="en-GB" b="1" dirty="0">
                <a:latin typeface="Courier"/>
                <a:cs typeface="Courier"/>
              </a:rPr>
              <a:t>NULL</a:t>
            </a:r>
            <a:r>
              <a:rPr lang="en-GB" dirty="0"/>
              <a:t> </a:t>
            </a:r>
          </a:p>
          <a:p>
            <a:pPr lvl="2"/>
            <a:r>
              <a:rPr lang="en-GB" dirty="0"/>
              <a:t>Error </a:t>
            </a:r>
          </a:p>
          <a:p>
            <a:pPr lvl="2"/>
            <a:r>
              <a:rPr lang="en-GB" dirty="0"/>
              <a:t>when </a:t>
            </a:r>
            <a:r>
              <a:rPr lang="en-GB" b="1" dirty="0">
                <a:latin typeface="Courier"/>
                <a:cs typeface="Courier"/>
              </a:rPr>
              <a:t>EOF</a:t>
            </a:r>
            <a:r>
              <a:rPr lang="en-GB" dirty="0"/>
              <a:t> occurs, while no characters have been read.</a:t>
            </a:r>
            <a:endParaRPr lang="en-GB" b="1" dirty="0">
              <a:solidFill>
                <a:srgbClr val="FF0000"/>
              </a:solidFill>
              <a:cs typeface="Courier"/>
            </a:endParaRPr>
          </a:p>
          <a:p>
            <a:pPr lvl="1"/>
            <a:endParaRPr lang="en-GB" b="1" dirty="0">
              <a:latin typeface="Courier"/>
              <a:cs typeface="Courier"/>
            </a:endParaRPr>
          </a:p>
          <a:p>
            <a:pPr lvl="1">
              <a:lnSpc>
                <a:spcPct val="100000"/>
              </a:lnSpc>
              <a:buSzPct val="25000"/>
              <a:buFont typeface="StarSymbol"/>
              <a:buChar char=""/>
            </a:pPr>
            <a:endParaRPr lang="en-GB" dirty="0"/>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276</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5472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6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Read/</a:t>
            </a:r>
            <a:r>
              <a:rPr lang="fr-FR" sz="2800" dirty="0" err="1">
                <a:latin typeface="Arial" charset="0"/>
                <a:cs typeface="ＭＳ Ｐゴシック" charset="0"/>
              </a:rPr>
              <a:t>Write</a:t>
            </a:r>
            <a:r>
              <a:rPr lang="fr-FR" sz="2800" dirty="0">
                <a:latin typeface="Arial" charset="0"/>
                <a:cs typeface="ＭＳ Ｐゴシック" charset="0"/>
              </a:rPr>
              <a:t> a string</a:t>
            </a:r>
          </a:p>
        </p:txBody>
      </p:sp>
      <p:sp>
        <p:nvSpPr>
          <p:cNvPr id="92162" name="Espace réservé du contenu 2"/>
          <p:cNvSpPr>
            <a:spLocks noGrp="1"/>
          </p:cNvSpPr>
          <p:nvPr>
            <p:ph idx="1"/>
          </p:nvPr>
        </p:nvSpPr>
        <p:spPr>
          <a:xfrm>
            <a:off x="-36512" y="764704"/>
            <a:ext cx="9180512" cy="4537075"/>
          </a:xfrm>
        </p:spPr>
        <p:txBody>
          <a:bodyPr/>
          <a:lstStyle/>
          <a:p>
            <a:pPr marL="363538" lvl="1" indent="-363538">
              <a:buSzTx/>
              <a:buBlip>
                <a:blip r:embed="rId3"/>
              </a:buBlip>
            </a:pPr>
            <a:r>
              <a:rPr lang="en-GB" sz="2400" dirty="0">
                <a:cs typeface="Courier"/>
              </a:rPr>
              <a:t>Syntax:</a:t>
            </a:r>
          </a:p>
          <a:p>
            <a:pPr marL="0" lvl="1" indent="0">
              <a:buSzTx/>
              <a:buNone/>
            </a:pPr>
            <a:r>
              <a:rPr lang="en-GB" b="1" dirty="0">
                <a:latin typeface="Courier"/>
                <a:cs typeface="Courier"/>
              </a:rPr>
              <a:t>char *</a:t>
            </a:r>
            <a:r>
              <a:rPr lang="en-GB" b="1" dirty="0" err="1">
                <a:latin typeface="Courier"/>
                <a:cs typeface="Courier"/>
              </a:rPr>
              <a:t>fgets</a:t>
            </a:r>
            <a:r>
              <a:rPr lang="en-GB" b="1" dirty="0">
                <a:latin typeface="Courier"/>
                <a:cs typeface="Courier"/>
              </a:rPr>
              <a:t> (char *</a:t>
            </a:r>
            <a:r>
              <a:rPr lang="en-GB" b="1" dirty="0" err="1">
                <a:latin typeface="Courier"/>
                <a:cs typeface="Courier"/>
              </a:rPr>
              <a:t>str</a:t>
            </a:r>
            <a:r>
              <a:rPr lang="en-GB" b="1" dirty="0">
                <a:latin typeface="Courier"/>
                <a:cs typeface="Courier"/>
              </a:rPr>
              <a:t>, </a:t>
            </a:r>
            <a:r>
              <a:rPr lang="en-GB" b="1" dirty="0" err="1">
                <a:latin typeface="Courier"/>
                <a:cs typeface="Courier"/>
              </a:rPr>
              <a:t>int</a:t>
            </a:r>
            <a:r>
              <a:rPr lang="en-GB" b="1" dirty="0">
                <a:latin typeface="Courier"/>
                <a:cs typeface="Courier"/>
              </a:rPr>
              <a:t> size, FILE* file);</a:t>
            </a:r>
          </a:p>
          <a:p>
            <a:r>
              <a:rPr lang="en-GB" dirty="0">
                <a:cs typeface="Courier"/>
              </a:rPr>
              <a:t>Function:</a:t>
            </a:r>
            <a:endParaRPr lang="en-GB" dirty="0"/>
          </a:p>
          <a:p>
            <a:pPr lvl="1"/>
            <a:r>
              <a:rPr lang="en-GB" dirty="0"/>
              <a:t>Reads </a:t>
            </a:r>
            <a:r>
              <a:rPr lang="en-GB" b="1" dirty="0">
                <a:latin typeface="Courier"/>
                <a:cs typeface="Courier"/>
              </a:rPr>
              <a:t>size – 1</a:t>
            </a:r>
            <a:r>
              <a:rPr lang="en-GB" dirty="0"/>
              <a:t> characters from input stream </a:t>
            </a:r>
            <a:r>
              <a:rPr lang="en-GB" b="1" dirty="0">
                <a:latin typeface="Courier"/>
                <a:cs typeface="Courier"/>
              </a:rPr>
              <a:t>file </a:t>
            </a:r>
            <a:r>
              <a:rPr lang="en-GB" dirty="0">
                <a:cs typeface="Courier"/>
              </a:rPr>
              <a:t>and stores it in the string pointed by </a:t>
            </a:r>
            <a:r>
              <a:rPr lang="en-GB" b="1" dirty="0" err="1">
                <a:latin typeface="Courier"/>
                <a:cs typeface="Courier"/>
              </a:rPr>
              <a:t>str</a:t>
            </a:r>
            <a:r>
              <a:rPr lang="en-GB" b="1" dirty="0">
                <a:latin typeface="Courier"/>
                <a:cs typeface="Courier"/>
              </a:rPr>
              <a:t> </a:t>
            </a:r>
          </a:p>
          <a:p>
            <a:pPr lvl="1"/>
            <a:r>
              <a:rPr lang="en-GB" dirty="0">
                <a:cs typeface="Courier"/>
              </a:rPr>
              <a:t>Stops </a:t>
            </a:r>
            <a:r>
              <a:rPr lang="en-GB" dirty="0"/>
              <a:t>whichever happens first</a:t>
            </a:r>
            <a:r>
              <a:rPr lang="en-GB" dirty="0">
                <a:cs typeface="Courier"/>
              </a:rPr>
              <a:t>:</a:t>
            </a:r>
            <a:endParaRPr lang="en-GB" dirty="0"/>
          </a:p>
          <a:p>
            <a:pPr lvl="2"/>
            <a:r>
              <a:rPr lang="en-GB" b="1" dirty="0">
                <a:latin typeface="Courier"/>
                <a:cs typeface="Courier"/>
              </a:rPr>
              <a:t>size – 1</a:t>
            </a:r>
            <a:r>
              <a:rPr lang="en-GB" dirty="0"/>
              <a:t> characters have been read</a:t>
            </a:r>
          </a:p>
          <a:p>
            <a:pPr lvl="2"/>
            <a:r>
              <a:rPr lang="en-GB" dirty="0"/>
              <a:t>A newline occurs, </a:t>
            </a:r>
            <a:r>
              <a:rPr lang="en-GB" b="1" dirty="0">
                <a:latin typeface="Courier"/>
                <a:cs typeface="Courier"/>
              </a:rPr>
              <a:t>\n</a:t>
            </a:r>
            <a:endParaRPr lang="en-GB" dirty="0"/>
          </a:p>
          <a:p>
            <a:pPr lvl="2"/>
            <a:r>
              <a:rPr lang="en-GB" dirty="0"/>
              <a:t>The end-of-file is reached, </a:t>
            </a:r>
            <a:r>
              <a:rPr lang="en-GB" b="1" dirty="0">
                <a:latin typeface="Courier"/>
                <a:cs typeface="Courier"/>
              </a:rPr>
              <a:t>EOF</a:t>
            </a:r>
            <a:endParaRPr lang="en-GB" dirty="0"/>
          </a:p>
          <a:p>
            <a:pPr lvl="1"/>
            <a:r>
              <a:rPr lang="en-GB" dirty="0"/>
              <a:t>It </a:t>
            </a:r>
            <a:r>
              <a:rPr lang="en-GB" dirty="0">
                <a:cs typeface="Courier"/>
              </a:rPr>
              <a:t>includes new line character </a:t>
            </a:r>
            <a:r>
              <a:rPr lang="en-GB" b="1" dirty="0">
                <a:latin typeface="Courier"/>
                <a:cs typeface="Courier"/>
              </a:rPr>
              <a:t>`\n`</a:t>
            </a:r>
            <a:r>
              <a:rPr lang="en-GB" dirty="0">
                <a:cs typeface="Courier"/>
              </a:rPr>
              <a:t> pressed by the user</a:t>
            </a:r>
          </a:p>
          <a:p>
            <a:pPr lvl="1"/>
            <a:r>
              <a:rPr lang="en-GB" dirty="0"/>
              <a:t>A terminating null character </a:t>
            </a:r>
            <a:r>
              <a:rPr lang="en-GB" b="1" dirty="0">
                <a:latin typeface="Courier"/>
                <a:cs typeface="Courier"/>
              </a:rPr>
              <a:t>`\0’</a:t>
            </a:r>
            <a:r>
              <a:rPr lang="en-GB" dirty="0"/>
              <a:t>is automatically appended after the characters. </a:t>
            </a:r>
          </a:p>
          <a:p>
            <a:pPr marL="542925" lvl="1" indent="0">
              <a:buNone/>
            </a:pPr>
            <a:endParaRPr lang="en-GB" sz="800" dirty="0"/>
          </a:p>
          <a:p>
            <a:r>
              <a:rPr lang="en-GB" dirty="0"/>
              <a:t>Returns: </a:t>
            </a:r>
          </a:p>
          <a:p>
            <a:pPr lvl="1"/>
            <a:r>
              <a:rPr lang="en-GB" b="1" dirty="0" err="1">
                <a:latin typeface="Courier"/>
                <a:cs typeface="Courier"/>
              </a:rPr>
              <a:t>str</a:t>
            </a:r>
            <a:r>
              <a:rPr lang="en-GB" dirty="0"/>
              <a:t> on success</a:t>
            </a:r>
          </a:p>
          <a:p>
            <a:pPr lvl="1"/>
            <a:r>
              <a:rPr lang="en-GB" b="1" dirty="0">
                <a:latin typeface="Courier"/>
                <a:cs typeface="Courier"/>
              </a:rPr>
              <a:t>NULL</a:t>
            </a:r>
            <a:r>
              <a:rPr lang="en-GB" dirty="0"/>
              <a:t> :Error or when </a:t>
            </a:r>
            <a:r>
              <a:rPr lang="en-GB" b="1" dirty="0">
                <a:latin typeface="Courier"/>
                <a:cs typeface="Courier"/>
              </a:rPr>
              <a:t>EOF</a:t>
            </a:r>
            <a:r>
              <a:rPr lang="en-GB" dirty="0"/>
              <a:t> occurs, while no characters have been read.</a:t>
            </a:r>
            <a:endParaRPr lang="en-GB" b="1" dirty="0">
              <a:solidFill>
                <a:srgbClr val="FF0000"/>
              </a:solidFill>
              <a:cs typeface="Courier"/>
            </a:endParaRPr>
          </a:p>
          <a:p>
            <a:pPr lvl="1"/>
            <a:endParaRPr lang="en-GB" b="1" dirty="0">
              <a:latin typeface="Courier"/>
              <a:cs typeface="Courier"/>
            </a:endParaRPr>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277</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37968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2">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6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Read/</a:t>
            </a:r>
            <a:r>
              <a:rPr lang="fr-FR" sz="2800" dirty="0" err="1">
                <a:latin typeface="Arial" charset="0"/>
                <a:cs typeface="ＭＳ Ｐゴシック" charset="0"/>
              </a:rPr>
              <a:t>Write</a:t>
            </a:r>
            <a:r>
              <a:rPr lang="fr-FR" sz="2800" dirty="0">
                <a:latin typeface="Arial" charset="0"/>
                <a:cs typeface="ＭＳ Ｐゴシック" charset="0"/>
              </a:rPr>
              <a:t> a string</a:t>
            </a:r>
          </a:p>
        </p:txBody>
      </p:sp>
      <p:sp>
        <p:nvSpPr>
          <p:cNvPr id="92162" name="Espace réservé du contenu 2"/>
          <p:cNvSpPr>
            <a:spLocks noGrp="1"/>
          </p:cNvSpPr>
          <p:nvPr>
            <p:ph idx="1"/>
          </p:nvPr>
        </p:nvSpPr>
        <p:spPr>
          <a:xfrm>
            <a:off x="287524" y="872716"/>
            <a:ext cx="9289032" cy="4537075"/>
          </a:xfrm>
        </p:spPr>
        <p:txBody>
          <a:bodyPr/>
          <a:lstStyle/>
          <a:p>
            <a:r>
              <a:rPr lang="en-GB" sz="2000" b="1" dirty="0" err="1">
                <a:latin typeface="Courier"/>
                <a:cs typeface="Courier"/>
              </a:rPr>
              <a:t>int</a:t>
            </a:r>
            <a:r>
              <a:rPr lang="en-GB" sz="2000" b="1" dirty="0">
                <a:latin typeface="Courier"/>
                <a:cs typeface="Courier"/>
              </a:rPr>
              <a:t> </a:t>
            </a:r>
            <a:r>
              <a:rPr lang="en-GB" sz="2000" b="1" dirty="0" err="1">
                <a:latin typeface="Courier"/>
                <a:cs typeface="Courier"/>
              </a:rPr>
              <a:t>sscanf</a:t>
            </a:r>
            <a:r>
              <a:rPr lang="en-GB" sz="2000" b="1" dirty="0">
                <a:latin typeface="Courier"/>
                <a:cs typeface="Courier"/>
              </a:rPr>
              <a:t> (</a:t>
            </a:r>
            <a:r>
              <a:rPr lang="en-GB" sz="2000" b="1" dirty="0" err="1">
                <a:latin typeface="Courier"/>
                <a:cs typeface="Courier"/>
              </a:rPr>
              <a:t>const</a:t>
            </a:r>
            <a:r>
              <a:rPr lang="en-GB" sz="2000" b="1" dirty="0">
                <a:latin typeface="Courier"/>
                <a:cs typeface="Courier"/>
              </a:rPr>
              <a:t> char *</a:t>
            </a:r>
            <a:r>
              <a:rPr lang="en-GB" sz="2000" b="1" dirty="0" err="1">
                <a:latin typeface="Courier"/>
                <a:cs typeface="Courier"/>
              </a:rPr>
              <a:t>str</a:t>
            </a:r>
            <a:r>
              <a:rPr lang="en-GB" sz="2000" b="1" dirty="0">
                <a:latin typeface="Courier"/>
                <a:cs typeface="Courier"/>
              </a:rPr>
              <a:t>, </a:t>
            </a:r>
            <a:r>
              <a:rPr lang="en-GB" sz="2000" b="1" dirty="0" err="1">
                <a:latin typeface="Courier"/>
                <a:cs typeface="Courier"/>
              </a:rPr>
              <a:t>const</a:t>
            </a:r>
            <a:r>
              <a:rPr lang="en-GB" sz="2000" b="1" dirty="0">
                <a:latin typeface="Courier"/>
                <a:cs typeface="Courier"/>
              </a:rPr>
              <a:t> char * format, ...);</a:t>
            </a:r>
          </a:p>
          <a:p>
            <a:pPr lvl="1"/>
            <a:r>
              <a:rPr lang="en-GB" dirty="0"/>
              <a:t>Like </a:t>
            </a:r>
            <a:r>
              <a:rPr lang="en-GB" b="1" dirty="0" err="1">
                <a:latin typeface="Courier"/>
                <a:cs typeface="Courier"/>
              </a:rPr>
              <a:t>scanf</a:t>
            </a:r>
            <a:r>
              <a:rPr lang="en-GB" dirty="0"/>
              <a:t> but reads data from string pointed by </a:t>
            </a:r>
            <a:r>
              <a:rPr lang="en-GB" b="1" dirty="0" err="1">
                <a:latin typeface="Courier"/>
                <a:cs typeface="Courier"/>
              </a:rPr>
              <a:t>str</a:t>
            </a:r>
            <a:r>
              <a:rPr lang="en-GB" dirty="0"/>
              <a:t> as the </a:t>
            </a:r>
            <a:r>
              <a:rPr lang="en-GB" b="1" dirty="0">
                <a:latin typeface="Courier"/>
                <a:cs typeface="Courier"/>
              </a:rPr>
              <a:t>format</a:t>
            </a:r>
            <a:r>
              <a:rPr lang="en-GB" dirty="0">
                <a:latin typeface="Courier"/>
                <a:cs typeface="Courier"/>
              </a:rPr>
              <a:t> specifies</a:t>
            </a:r>
            <a:endParaRPr lang="en-GB" dirty="0"/>
          </a:p>
          <a:p>
            <a:endParaRPr lang="en-GB" dirty="0">
              <a:cs typeface="Courier"/>
            </a:endParaRPr>
          </a:p>
          <a:p>
            <a:r>
              <a:rPr lang="en-GB" dirty="0">
                <a:cs typeface="Courier"/>
              </a:rPr>
              <a:t>And much other functions, check libraries documentation</a:t>
            </a:r>
          </a:p>
          <a:p>
            <a:pPr lvl="1">
              <a:lnSpc>
                <a:spcPct val="100000"/>
              </a:lnSpc>
              <a:buSzPct val="25000"/>
              <a:buFont typeface="StarSymbol"/>
              <a:buChar char=""/>
            </a:pPr>
            <a:endParaRPr lang="en-GB" dirty="0"/>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278</a:t>
            </a:fld>
            <a:endParaRPr lang="fr-FR" sz="1400" dirty="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32842704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err="1">
                <a:latin typeface="Arial" charset="0"/>
                <a:cs typeface="ＭＳ Ｐゴシック" charset="0"/>
              </a:rPr>
              <a:t>Length</a:t>
            </a:r>
            <a:r>
              <a:rPr lang="fr-FR" sz="2800" dirty="0">
                <a:latin typeface="Arial" charset="0"/>
                <a:cs typeface="ＭＳ Ｐゴシック" charset="0"/>
              </a:rPr>
              <a:t> of a string: </a:t>
            </a:r>
            <a:r>
              <a:rPr lang="fr-FR" sz="2800" dirty="0" err="1">
                <a:latin typeface="Courier New"/>
                <a:ea typeface="Courier New"/>
              </a:rPr>
              <a:t>strlen</a:t>
            </a:r>
            <a:r>
              <a:rPr lang="fr-FR" sz="2800" dirty="0">
                <a:latin typeface="Courier New"/>
                <a:ea typeface="Courier New"/>
              </a:rPr>
              <a:t>()</a:t>
            </a:r>
            <a:r>
              <a:rPr lang="fr-FR" sz="2800" dirty="0">
                <a:latin typeface="Arial" charset="0"/>
                <a:cs typeface="ＭＳ Ｐゴシック" charset="0"/>
              </a:rPr>
              <a:t> </a:t>
            </a:r>
          </a:p>
        </p:txBody>
      </p:sp>
      <p:sp>
        <p:nvSpPr>
          <p:cNvPr id="92162" name="Espace réservé du contenu 2"/>
          <p:cNvSpPr>
            <a:spLocks noGrp="1"/>
          </p:cNvSpPr>
          <p:nvPr>
            <p:ph idx="1"/>
          </p:nvPr>
        </p:nvSpPr>
        <p:spPr>
          <a:xfrm>
            <a:off x="287524" y="872716"/>
            <a:ext cx="8856476" cy="4537075"/>
          </a:xfrm>
        </p:spPr>
        <p:txBody>
          <a:bodyPr/>
          <a:lstStyle/>
          <a:p>
            <a:r>
              <a:rPr lang="en-GB" dirty="0"/>
              <a:t>Syntax:</a:t>
            </a:r>
          </a:p>
          <a:p>
            <a:pPr marL="0" indent="0">
              <a:buNone/>
            </a:pPr>
            <a:r>
              <a:rPr lang="en-GB" sz="2000" b="1" dirty="0" err="1">
                <a:latin typeface="Courier New"/>
                <a:ea typeface="Courier New"/>
              </a:rPr>
              <a:t>size_t</a:t>
            </a:r>
            <a:r>
              <a:rPr lang="en-GB" sz="2000" b="1" dirty="0">
                <a:latin typeface="Courier New"/>
                <a:ea typeface="Courier New"/>
              </a:rPr>
              <a:t> </a:t>
            </a:r>
            <a:r>
              <a:rPr lang="en-GB" sz="2000" b="1" dirty="0" err="1">
                <a:latin typeface="Courier New"/>
                <a:ea typeface="Courier New"/>
              </a:rPr>
              <a:t>strlen</a:t>
            </a:r>
            <a:r>
              <a:rPr lang="en-GB" sz="2000" b="1" dirty="0">
                <a:latin typeface="Courier New"/>
                <a:ea typeface="Courier New"/>
              </a:rPr>
              <a:t>(</a:t>
            </a:r>
            <a:r>
              <a:rPr lang="en-GB" sz="2000" b="1" dirty="0" err="1">
                <a:latin typeface="Courier New"/>
                <a:ea typeface="Courier New"/>
              </a:rPr>
              <a:t>const</a:t>
            </a:r>
            <a:r>
              <a:rPr lang="en-GB" sz="2000" b="1" dirty="0">
                <a:latin typeface="Courier New"/>
                <a:ea typeface="Courier New"/>
              </a:rPr>
              <a:t> char *</a:t>
            </a:r>
            <a:r>
              <a:rPr lang="en-GB" sz="2000" b="1" dirty="0" err="1">
                <a:latin typeface="Courier New"/>
                <a:ea typeface="Courier New"/>
              </a:rPr>
              <a:t>str</a:t>
            </a:r>
            <a:r>
              <a:rPr lang="en-GB" sz="2000" b="1" dirty="0">
                <a:latin typeface="Courier New"/>
                <a:ea typeface="Courier New"/>
              </a:rPr>
              <a:t>);</a:t>
            </a:r>
            <a:endParaRPr lang="en-GB" sz="2800" dirty="0"/>
          </a:p>
          <a:p>
            <a:endParaRPr lang="en-GB" sz="1400" dirty="0"/>
          </a:p>
          <a:p>
            <a:r>
              <a:rPr lang="en-GB" dirty="0"/>
              <a:t>Function:</a:t>
            </a:r>
          </a:p>
          <a:p>
            <a:pPr lvl="1"/>
            <a:r>
              <a:rPr lang="en-GB" dirty="0"/>
              <a:t>Counts the number of characters of the string pointed by </a:t>
            </a:r>
            <a:r>
              <a:rPr lang="en-GB" b="1" dirty="0" err="1">
                <a:latin typeface="Courier"/>
                <a:cs typeface="Courier"/>
              </a:rPr>
              <a:t>str</a:t>
            </a:r>
            <a:r>
              <a:rPr lang="en-GB" b="1" dirty="0">
                <a:latin typeface="Courier"/>
                <a:cs typeface="Courier"/>
              </a:rPr>
              <a:t> </a:t>
            </a:r>
            <a:r>
              <a:rPr lang="en-GB" dirty="0"/>
              <a:t>until it finds the terminating null character (</a:t>
            </a:r>
            <a:r>
              <a:rPr lang="en-GB" b="1" dirty="0">
                <a:latin typeface="Courier New"/>
                <a:ea typeface="Courier New"/>
              </a:rPr>
              <a:t>‘\0’</a:t>
            </a:r>
            <a:r>
              <a:rPr lang="en-GB" dirty="0">
                <a:ea typeface="Arial"/>
              </a:rPr>
              <a:t>)</a:t>
            </a:r>
          </a:p>
          <a:p>
            <a:pPr lvl="1"/>
            <a:r>
              <a:rPr lang="en-GB" dirty="0"/>
              <a:t>the terminating null character ( </a:t>
            </a:r>
            <a:r>
              <a:rPr lang="en-GB" b="1" dirty="0">
                <a:latin typeface="Courier New"/>
                <a:ea typeface="Courier New"/>
              </a:rPr>
              <a:t>‘\0’</a:t>
            </a:r>
            <a:r>
              <a:rPr lang="en-GB" dirty="0">
                <a:ea typeface="Arial"/>
              </a:rPr>
              <a:t>) is </a:t>
            </a:r>
            <a:r>
              <a:rPr lang="en-GB" dirty="0">
                <a:solidFill>
                  <a:srgbClr val="FF0000"/>
                </a:solidFill>
              </a:rPr>
              <a:t>NOT INCLUDED </a:t>
            </a:r>
            <a:r>
              <a:rPr lang="en-GB" dirty="0">
                <a:solidFill>
                  <a:schemeClr val="tx1"/>
                </a:solidFill>
              </a:rPr>
              <a:t>in the length of the string</a:t>
            </a:r>
          </a:p>
          <a:p>
            <a:pPr lvl="1"/>
            <a:r>
              <a:rPr lang="en-US" b="1" dirty="0" err="1">
                <a:latin typeface="Courier"/>
                <a:cs typeface="Courier"/>
              </a:rPr>
              <a:t>size_t</a:t>
            </a:r>
            <a:r>
              <a:rPr lang="en-US" dirty="0">
                <a:latin typeface="Arial" charset="0"/>
              </a:rPr>
              <a:t> is </a:t>
            </a:r>
            <a:r>
              <a:rPr lang="en-US" dirty="0"/>
              <a:t>unsigned integer type of at least 16 bit</a:t>
            </a:r>
            <a:endParaRPr lang="en-GB" dirty="0">
              <a:solidFill>
                <a:schemeClr val="tx1"/>
              </a:solidFill>
            </a:endParaRPr>
          </a:p>
          <a:p>
            <a:pPr lvl="1"/>
            <a:endParaRPr lang="en-GB" dirty="0">
              <a:ea typeface="Arial"/>
            </a:endParaRPr>
          </a:p>
          <a:p>
            <a:r>
              <a:rPr lang="en-GB" dirty="0">
                <a:ea typeface="Arial"/>
              </a:rPr>
              <a:t>Returns: the length of the string </a:t>
            </a:r>
          </a:p>
          <a:p>
            <a:pPr lvl="1"/>
            <a:endParaRPr lang="en-GB" sz="800" dirty="0"/>
          </a:p>
          <a:p>
            <a:r>
              <a:rPr lang="en-GB" dirty="0"/>
              <a:t>Example</a:t>
            </a:r>
          </a:p>
          <a:p>
            <a:pPr marL="542925" lvl="1" indent="0">
              <a:lnSpc>
                <a:spcPct val="100000"/>
              </a:lnSpc>
              <a:buSzPct val="25000"/>
              <a:buNone/>
            </a:pPr>
            <a:r>
              <a:rPr lang="en-GB" b="1" dirty="0">
                <a:latin typeface="Courier New"/>
                <a:ea typeface="Courier New"/>
              </a:rPr>
              <a:t>char </a:t>
            </a:r>
            <a:r>
              <a:rPr lang="en-GB" b="1" dirty="0" err="1">
                <a:latin typeface="Courier New"/>
                <a:ea typeface="Courier New"/>
              </a:rPr>
              <a:t>ch</a:t>
            </a:r>
            <a:r>
              <a:rPr lang="en-GB" b="1" dirty="0">
                <a:latin typeface="Courier New"/>
                <a:ea typeface="Courier New"/>
              </a:rPr>
              <a:t>[50]=“how long am I?”;</a:t>
            </a:r>
          </a:p>
          <a:p>
            <a:pPr marL="542925" lvl="1" indent="0">
              <a:lnSpc>
                <a:spcPct val="100000"/>
              </a:lnSpc>
              <a:buSzPct val="25000"/>
              <a:buNone/>
            </a:pPr>
            <a:r>
              <a:rPr lang="en-GB" b="1" dirty="0" err="1">
                <a:latin typeface="Courier New"/>
                <a:ea typeface="Courier New"/>
              </a:rPr>
              <a:t>printf</a:t>
            </a:r>
            <a:r>
              <a:rPr lang="en-GB" b="1" dirty="0">
                <a:latin typeface="Courier New"/>
                <a:ea typeface="Courier New"/>
              </a:rPr>
              <a:t>(″%d\n″,</a:t>
            </a:r>
            <a:r>
              <a:rPr lang="en-GB" b="1" dirty="0" err="1">
                <a:latin typeface="Courier New"/>
                <a:ea typeface="Courier New"/>
              </a:rPr>
              <a:t>strlen</a:t>
            </a:r>
            <a:r>
              <a:rPr lang="en-GB" b="1" dirty="0">
                <a:latin typeface="Courier New"/>
                <a:ea typeface="Courier New"/>
              </a:rPr>
              <a:t>(</a:t>
            </a:r>
            <a:r>
              <a:rPr lang="en-GB" b="1" dirty="0" err="1">
                <a:latin typeface="Courier New"/>
                <a:ea typeface="Courier New"/>
              </a:rPr>
              <a:t>ch</a:t>
            </a:r>
            <a:r>
              <a:rPr lang="en-GB" b="1" dirty="0">
                <a:latin typeface="Courier New"/>
                <a:ea typeface="Courier New"/>
              </a:rPr>
              <a:t>));</a:t>
            </a:r>
            <a:endParaRPr lang="en-GB" dirty="0"/>
          </a:p>
          <a:p>
            <a:pPr lvl="1">
              <a:lnSpc>
                <a:spcPct val="100000"/>
              </a:lnSpc>
              <a:buSzPct val="25000"/>
              <a:buFont typeface="StarSymbol"/>
              <a:buChar char=""/>
            </a:pPr>
            <a:endParaRPr lang="en-GB" dirty="0"/>
          </a:p>
          <a:p>
            <a:pPr>
              <a:lnSpc>
                <a:spcPct val="100000"/>
              </a:lnSpc>
              <a:buSzPct val="25000"/>
              <a:buFont typeface="StarSymbol"/>
              <a:buChar char=""/>
            </a:pPr>
            <a:endParaRPr lang="en-GB" dirty="0"/>
          </a:p>
          <a:p>
            <a:endParaRPr lang="en-GB" dirty="0">
              <a:latin typeface="Arial" charset="0"/>
            </a:endParaRP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279</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9412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6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err="1">
                <a:latin typeface="Arial" charset="0"/>
                <a:cs typeface="ＭＳ Ｐゴシック" charset="0"/>
              </a:rPr>
              <a:t>Concatenate</a:t>
            </a:r>
            <a:r>
              <a:rPr lang="fr-FR" sz="2800" dirty="0">
                <a:latin typeface="Arial" charset="0"/>
                <a:cs typeface="ＭＳ Ｐゴシック" charset="0"/>
              </a:rPr>
              <a:t> strings: </a:t>
            </a:r>
            <a:r>
              <a:rPr lang="fr-FR" sz="2800" dirty="0" err="1">
                <a:latin typeface="Courier New"/>
                <a:ea typeface="Courier New"/>
              </a:rPr>
              <a:t>strcat</a:t>
            </a:r>
            <a:r>
              <a:rPr lang="fr-FR" sz="2800" dirty="0">
                <a:latin typeface="Courier New"/>
                <a:ea typeface="Courier New"/>
              </a:rPr>
              <a:t>()</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87524" y="692696"/>
            <a:ext cx="8856476" cy="4537075"/>
          </a:xfrm>
        </p:spPr>
        <p:txBody>
          <a:bodyPr/>
          <a:lstStyle/>
          <a:p>
            <a:r>
              <a:rPr lang="en-GB" dirty="0"/>
              <a:t>Syntax:</a:t>
            </a:r>
          </a:p>
          <a:p>
            <a:pPr marL="0" indent="0">
              <a:buNone/>
            </a:pPr>
            <a:r>
              <a:rPr lang="en-GB" sz="2000" b="1" dirty="0">
                <a:latin typeface="Courier"/>
                <a:cs typeface="Courier"/>
              </a:rPr>
              <a:t>char *</a:t>
            </a:r>
            <a:r>
              <a:rPr lang="en-GB" sz="2000" b="1" dirty="0" err="1">
                <a:latin typeface="Courier"/>
                <a:cs typeface="Courier"/>
              </a:rPr>
              <a:t>strcat</a:t>
            </a:r>
            <a:r>
              <a:rPr lang="en-GB" sz="2000" b="1" dirty="0">
                <a:latin typeface="Courier"/>
                <a:cs typeface="Courier"/>
              </a:rPr>
              <a:t>(char *</a:t>
            </a:r>
            <a:r>
              <a:rPr lang="en-GB" sz="2000" b="1" dirty="0" err="1">
                <a:latin typeface="Courier"/>
                <a:cs typeface="Courier"/>
              </a:rPr>
              <a:t>dest</a:t>
            </a:r>
            <a:r>
              <a:rPr lang="en-GB" sz="2000" b="1" dirty="0">
                <a:latin typeface="Courier"/>
                <a:cs typeface="Courier"/>
              </a:rPr>
              <a:t>, </a:t>
            </a:r>
            <a:r>
              <a:rPr lang="en-GB" sz="2000" b="1" dirty="0" err="1">
                <a:latin typeface="Courier"/>
                <a:cs typeface="Courier"/>
              </a:rPr>
              <a:t>const</a:t>
            </a:r>
            <a:r>
              <a:rPr lang="en-GB" sz="2000" b="1" dirty="0">
                <a:latin typeface="Courier"/>
                <a:cs typeface="Courier"/>
              </a:rPr>
              <a:t> char *</a:t>
            </a:r>
            <a:r>
              <a:rPr lang="en-GB" sz="2000" b="1" dirty="0" err="1">
                <a:latin typeface="Courier"/>
                <a:cs typeface="Courier"/>
              </a:rPr>
              <a:t>src</a:t>
            </a:r>
            <a:r>
              <a:rPr lang="en-GB" sz="2000" b="1" dirty="0">
                <a:latin typeface="Courier"/>
                <a:cs typeface="Courier"/>
              </a:rPr>
              <a:t>)</a:t>
            </a:r>
            <a:r>
              <a:rPr lang="en-GB" sz="2000" dirty="0">
                <a:latin typeface="Courier"/>
                <a:cs typeface="Courier"/>
              </a:rPr>
              <a:t> ;</a:t>
            </a:r>
          </a:p>
          <a:p>
            <a:pPr marL="0" indent="0">
              <a:buNone/>
            </a:pPr>
            <a:endParaRPr lang="en-GB" sz="800" dirty="0"/>
          </a:p>
          <a:p>
            <a:r>
              <a:rPr lang="en-GB" dirty="0"/>
              <a:t>Function</a:t>
            </a:r>
          </a:p>
          <a:p>
            <a:pPr lvl="1"/>
            <a:r>
              <a:rPr lang="en-GB" dirty="0"/>
              <a:t>appends the string pointed to by </a:t>
            </a:r>
            <a:r>
              <a:rPr lang="en-GB" b="1" dirty="0" err="1">
                <a:latin typeface="Courier"/>
                <a:cs typeface="Courier"/>
              </a:rPr>
              <a:t>src</a:t>
            </a:r>
            <a:r>
              <a:rPr lang="en-GB" dirty="0"/>
              <a:t> to the end of the string pointed to by </a:t>
            </a:r>
            <a:r>
              <a:rPr lang="en-GB" b="1" dirty="0" err="1">
                <a:latin typeface="Courier"/>
                <a:cs typeface="Courier"/>
              </a:rPr>
              <a:t>dest</a:t>
            </a:r>
            <a:r>
              <a:rPr lang="en-GB" dirty="0"/>
              <a:t>.</a:t>
            </a:r>
          </a:p>
          <a:p>
            <a:pPr lvl="1"/>
            <a:r>
              <a:rPr lang="en-GB" dirty="0"/>
              <a:t>the string pointed to by </a:t>
            </a:r>
            <a:r>
              <a:rPr lang="en-GB" b="1" dirty="0" err="1">
                <a:latin typeface="Courier"/>
                <a:cs typeface="Courier"/>
              </a:rPr>
              <a:t>dest</a:t>
            </a:r>
            <a:r>
              <a:rPr lang="en-GB" dirty="0"/>
              <a:t> SHOULD be </a:t>
            </a:r>
            <a:r>
              <a:rPr lang="en-GB" b="1" dirty="0">
                <a:solidFill>
                  <a:srgbClr val="FF0000"/>
                </a:solidFill>
              </a:rPr>
              <a:t>LARGE</a:t>
            </a:r>
            <a:r>
              <a:rPr lang="en-GB" dirty="0"/>
              <a:t> enough to hold </a:t>
            </a:r>
            <a:r>
              <a:rPr lang="en-GB" dirty="0">
                <a:solidFill>
                  <a:srgbClr val="FF0000"/>
                </a:solidFill>
              </a:rPr>
              <a:t>both strings</a:t>
            </a:r>
            <a:r>
              <a:rPr lang="en-GB" dirty="0"/>
              <a:t> AND the </a:t>
            </a:r>
            <a:r>
              <a:rPr lang="en-GB" dirty="0">
                <a:solidFill>
                  <a:srgbClr val="FF0000"/>
                </a:solidFill>
              </a:rPr>
              <a:t>terminating character</a:t>
            </a:r>
          </a:p>
          <a:p>
            <a:pPr lvl="1"/>
            <a:r>
              <a:rPr lang="en-GB" dirty="0"/>
              <a:t>The strings pointed by </a:t>
            </a:r>
            <a:r>
              <a:rPr lang="en-GB" b="1" dirty="0" err="1">
                <a:latin typeface="Courier New"/>
                <a:ea typeface="Courier New"/>
              </a:rPr>
              <a:t>src</a:t>
            </a:r>
            <a:r>
              <a:rPr lang="en-GB" dirty="0"/>
              <a:t> and </a:t>
            </a:r>
            <a:r>
              <a:rPr lang="en-GB" b="1" dirty="0" err="1">
                <a:latin typeface="Courier New"/>
                <a:ea typeface="Courier New"/>
              </a:rPr>
              <a:t>dest</a:t>
            </a:r>
            <a:r>
              <a:rPr lang="en-GB" dirty="0"/>
              <a:t> must </a:t>
            </a:r>
            <a:r>
              <a:rPr lang="en-GB" b="1" dirty="0">
                <a:solidFill>
                  <a:srgbClr val="FF0000"/>
                </a:solidFill>
              </a:rPr>
              <a:t>NOT overlap</a:t>
            </a:r>
            <a:r>
              <a:rPr lang="en-GB" dirty="0"/>
              <a:t>!</a:t>
            </a:r>
          </a:p>
          <a:p>
            <a:pPr lvl="1"/>
            <a:endParaRPr lang="en-GB" sz="800" dirty="0"/>
          </a:p>
          <a:p>
            <a:r>
              <a:rPr lang="en-GB" dirty="0"/>
              <a:t>Return value:</a:t>
            </a:r>
          </a:p>
          <a:p>
            <a:pPr lvl="1"/>
            <a:r>
              <a:rPr lang="en-GB" dirty="0"/>
              <a:t>The function </a:t>
            </a:r>
            <a:r>
              <a:rPr lang="en-GB" b="1" dirty="0" err="1">
                <a:latin typeface="Courier New"/>
                <a:ea typeface="Courier New"/>
              </a:rPr>
              <a:t>strcat</a:t>
            </a:r>
            <a:r>
              <a:rPr lang="en-GB" b="1" dirty="0">
                <a:latin typeface="Courier New"/>
                <a:ea typeface="Courier New"/>
              </a:rPr>
              <a:t> ()</a:t>
            </a:r>
            <a:r>
              <a:rPr lang="en-GB" dirty="0"/>
              <a:t> returns normally a pointer to the destination string </a:t>
            </a:r>
            <a:r>
              <a:rPr lang="en-GB" b="1" dirty="0" err="1">
                <a:latin typeface="Courier New"/>
                <a:ea typeface="Courier New"/>
              </a:rPr>
              <a:t>dest</a:t>
            </a:r>
            <a:r>
              <a:rPr lang="en-GB" dirty="0"/>
              <a: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280</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3699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6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6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Copy strings: </a:t>
            </a:r>
            <a:r>
              <a:rPr lang="fr-FR" sz="2800" dirty="0" err="1">
                <a:latin typeface="Courier New"/>
                <a:ea typeface="Courier New"/>
              </a:rPr>
              <a:t>strcpy</a:t>
            </a:r>
            <a:r>
              <a:rPr lang="fr-FR" sz="2800" dirty="0">
                <a:latin typeface="Courier New"/>
                <a:ea typeface="Courier New"/>
              </a:rPr>
              <a:t>()</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87524" y="692696"/>
            <a:ext cx="8856476" cy="4537075"/>
          </a:xfrm>
        </p:spPr>
        <p:txBody>
          <a:bodyPr/>
          <a:lstStyle/>
          <a:p>
            <a:r>
              <a:rPr lang="en-GB" dirty="0"/>
              <a:t>Syntax:</a:t>
            </a:r>
          </a:p>
          <a:p>
            <a:pPr marL="0" indent="0">
              <a:buNone/>
            </a:pPr>
            <a:r>
              <a:rPr lang="en-GB" sz="2000" b="1" dirty="0">
                <a:latin typeface="Courier New"/>
                <a:ea typeface="Courier New"/>
              </a:rPr>
              <a:t>char *</a:t>
            </a:r>
            <a:r>
              <a:rPr lang="en-GB" sz="2000" b="1" dirty="0" err="1">
                <a:latin typeface="Courier New"/>
                <a:ea typeface="Courier New"/>
              </a:rPr>
              <a:t>strcpy</a:t>
            </a:r>
            <a:r>
              <a:rPr lang="en-GB" sz="2000" b="1" dirty="0">
                <a:latin typeface="Courier New"/>
                <a:ea typeface="Courier New"/>
              </a:rPr>
              <a:t>(char *</a:t>
            </a:r>
            <a:r>
              <a:rPr lang="en-GB" sz="2000" b="1" dirty="0" err="1">
                <a:latin typeface="Courier New"/>
                <a:ea typeface="Courier New"/>
              </a:rPr>
              <a:t>dest</a:t>
            </a:r>
            <a:r>
              <a:rPr lang="en-GB" sz="2000" b="1" dirty="0">
                <a:latin typeface="Courier New"/>
                <a:ea typeface="Courier New"/>
              </a:rPr>
              <a:t>, char *</a:t>
            </a:r>
            <a:r>
              <a:rPr lang="en-GB" sz="2000" b="1" dirty="0" err="1">
                <a:latin typeface="Courier New"/>
                <a:ea typeface="Courier New"/>
              </a:rPr>
              <a:t>src</a:t>
            </a:r>
            <a:r>
              <a:rPr lang="en-GB" sz="2000" b="1" dirty="0">
                <a:latin typeface="Courier New"/>
                <a:ea typeface="Courier New"/>
              </a:rPr>
              <a:t>);</a:t>
            </a:r>
          </a:p>
          <a:p>
            <a:endParaRPr lang="en-GB" sz="800" dirty="0"/>
          </a:p>
          <a:p>
            <a:r>
              <a:rPr lang="en-GB" dirty="0"/>
              <a:t>Function</a:t>
            </a:r>
          </a:p>
          <a:p>
            <a:pPr lvl="1"/>
            <a:r>
              <a:rPr lang="en-GB" dirty="0"/>
              <a:t>The function </a:t>
            </a:r>
            <a:r>
              <a:rPr lang="en-GB" b="1" dirty="0" err="1">
                <a:latin typeface="Courier New"/>
                <a:ea typeface="Courier New"/>
              </a:rPr>
              <a:t>strcpy</a:t>
            </a:r>
            <a:r>
              <a:rPr lang="en-GB" b="1" dirty="0">
                <a:latin typeface="Courier New"/>
                <a:ea typeface="Courier New"/>
              </a:rPr>
              <a:t>()</a:t>
            </a:r>
            <a:r>
              <a:rPr lang="en-GB" dirty="0"/>
              <a:t> copies the string pointed by </a:t>
            </a:r>
            <a:r>
              <a:rPr lang="en-GB" b="1" dirty="0" err="1">
                <a:latin typeface="Courier New"/>
                <a:ea typeface="Courier New"/>
              </a:rPr>
              <a:t>src</a:t>
            </a:r>
            <a:r>
              <a:rPr lang="en-GB" b="1" dirty="0">
                <a:latin typeface="Courier New"/>
                <a:ea typeface="Courier New"/>
              </a:rPr>
              <a:t> </a:t>
            </a:r>
            <a:r>
              <a:rPr lang="en-GB" dirty="0"/>
              <a:t>(including the character </a:t>
            </a:r>
            <a:r>
              <a:rPr lang="en-GB" b="1" dirty="0">
                <a:latin typeface="Courier New"/>
                <a:ea typeface="Courier New"/>
              </a:rPr>
              <a:t>’\0’</a:t>
            </a:r>
            <a:r>
              <a:rPr lang="en-GB" dirty="0"/>
              <a:t>) into the string pointed by </a:t>
            </a:r>
            <a:r>
              <a:rPr lang="en-GB" b="1" dirty="0" err="1">
                <a:latin typeface="Courier New"/>
                <a:ea typeface="Courier New"/>
              </a:rPr>
              <a:t>dest</a:t>
            </a:r>
            <a:r>
              <a:rPr lang="en-GB" dirty="0"/>
              <a:t>. </a:t>
            </a:r>
          </a:p>
          <a:p>
            <a:pPr lvl="1"/>
            <a:r>
              <a:rPr lang="en-GB" dirty="0"/>
              <a:t>The strings pointed by </a:t>
            </a:r>
            <a:r>
              <a:rPr lang="en-GB" b="1" dirty="0" err="1">
                <a:latin typeface="Courier New"/>
                <a:ea typeface="Courier New"/>
              </a:rPr>
              <a:t>src</a:t>
            </a:r>
            <a:r>
              <a:rPr lang="en-GB" dirty="0"/>
              <a:t> and </a:t>
            </a:r>
            <a:r>
              <a:rPr lang="en-GB" b="1" dirty="0" err="1">
                <a:latin typeface="Courier New"/>
                <a:ea typeface="Courier New"/>
              </a:rPr>
              <a:t>dest</a:t>
            </a:r>
            <a:r>
              <a:rPr lang="en-GB" dirty="0"/>
              <a:t> must </a:t>
            </a:r>
            <a:r>
              <a:rPr lang="en-GB" b="1" dirty="0">
                <a:solidFill>
                  <a:srgbClr val="FF0000"/>
                </a:solidFill>
              </a:rPr>
              <a:t>NOT overlap</a:t>
            </a:r>
            <a:r>
              <a:rPr lang="en-GB" dirty="0"/>
              <a:t>!</a:t>
            </a:r>
          </a:p>
          <a:p>
            <a:pPr lvl="1"/>
            <a:r>
              <a:rPr lang="en-GB" dirty="0">
                <a:solidFill>
                  <a:srgbClr val="000000"/>
                </a:solidFill>
              </a:rPr>
              <a:t>It does </a:t>
            </a:r>
            <a:r>
              <a:rPr lang="en-GB" b="1" dirty="0">
                <a:solidFill>
                  <a:srgbClr val="FF0000"/>
                </a:solidFill>
              </a:rPr>
              <a:t>NOT</a:t>
            </a:r>
            <a:r>
              <a:rPr lang="en-GB" b="1" dirty="0">
                <a:solidFill>
                  <a:srgbClr val="000000"/>
                </a:solidFill>
              </a:rPr>
              <a:t> </a:t>
            </a:r>
            <a:r>
              <a:rPr lang="en-GB" dirty="0">
                <a:solidFill>
                  <a:srgbClr val="000000"/>
                </a:solidFill>
              </a:rPr>
              <a:t>verify the </a:t>
            </a:r>
            <a:r>
              <a:rPr lang="en-GB" b="1" dirty="0">
                <a:solidFill>
                  <a:srgbClr val="FF0000"/>
                </a:solidFill>
              </a:rPr>
              <a:t>SIZE</a:t>
            </a:r>
            <a:r>
              <a:rPr lang="en-GB" dirty="0">
                <a:solidFill>
                  <a:srgbClr val="FF0000"/>
                </a:solidFill>
              </a:rPr>
              <a:t> </a:t>
            </a:r>
            <a:r>
              <a:rPr lang="en-GB" dirty="0">
                <a:solidFill>
                  <a:srgbClr val="000000"/>
                </a:solidFill>
              </a:rPr>
              <a:t>of the strings before copying </a:t>
            </a:r>
            <a:endParaRPr lang="en-GB" dirty="0"/>
          </a:p>
          <a:p>
            <a:pPr lvl="1"/>
            <a:r>
              <a:rPr lang="en-GB" dirty="0"/>
              <a:t>No knowledge of how large </a:t>
            </a:r>
            <a:r>
              <a:rPr lang="en-GB" b="1" dirty="0" err="1">
                <a:latin typeface="Courier"/>
                <a:cs typeface="Courier"/>
              </a:rPr>
              <a:t>src</a:t>
            </a:r>
            <a:r>
              <a:rPr lang="en-GB" dirty="0"/>
              <a:t> is!</a:t>
            </a:r>
          </a:p>
          <a:p>
            <a:pPr lvl="1"/>
            <a:r>
              <a:rPr lang="en-GB" b="1" dirty="0" err="1">
                <a:latin typeface="Courier New"/>
                <a:ea typeface="Courier New"/>
              </a:rPr>
              <a:t>src</a:t>
            </a:r>
            <a:r>
              <a:rPr lang="en-GB" b="1" dirty="0">
                <a:latin typeface="Courier New"/>
                <a:ea typeface="Courier New"/>
              </a:rPr>
              <a:t> </a:t>
            </a:r>
            <a:r>
              <a:rPr lang="en-GB" dirty="0"/>
              <a:t>can be larger than </a:t>
            </a:r>
            <a:r>
              <a:rPr lang="en-GB" b="1" dirty="0" err="1">
                <a:latin typeface="Courier New"/>
                <a:ea typeface="Courier New"/>
              </a:rPr>
              <a:t>dest</a:t>
            </a:r>
            <a:endParaRPr lang="en-GB" dirty="0"/>
          </a:p>
          <a:p>
            <a:pPr lvl="1"/>
            <a:endParaRPr lang="en-GB" sz="800" dirty="0"/>
          </a:p>
          <a:p>
            <a:r>
              <a:rPr lang="en-GB" dirty="0"/>
              <a:t>Return:</a:t>
            </a:r>
          </a:p>
          <a:p>
            <a:pPr lvl="1"/>
            <a:r>
              <a:rPr lang="en-GB" dirty="0"/>
              <a:t>The function </a:t>
            </a:r>
            <a:r>
              <a:rPr lang="en-GB" b="1" dirty="0" err="1">
                <a:latin typeface="Courier New"/>
                <a:ea typeface="Courier New"/>
              </a:rPr>
              <a:t>strcpy</a:t>
            </a:r>
            <a:r>
              <a:rPr lang="en-GB" b="1" dirty="0">
                <a:latin typeface="Courier New"/>
                <a:ea typeface="Courier New"/>
              </a:rPr>
              <a:t>()</a:t>
            </a:r>
            <a:r>
              <a:rPr lang="en-GB" dirty="0"/>
              <a:t> returns normally a pointer to the destination string </a:t>
            </a:r>
            <a:r>
              <a:rPr lang="en-GB" b="1" dirty="0" err="1">
                <a:latin typeface="Courier New"/>
                <a:ea typeface="Courier New"/>
              </a:rPr>
              <a:t>dest</a:t>
            </a:r>
            <a:r>
              <a:rPr lang="en-GB" dirty="0"/>
              <a:t>.</a:t>
            </a:r>
          </a:p>
          <a:p>
            <a:r>
              <a:rPr lang="en-GB" dirty="0"/>
              <a:t>Solution?</a:t>
            </a:r>
          </a:p>
          <a:p>
            <a:pPr lvl="1"/>
            <a:r>
              <a:rPr lang="en-GB" b="1" dirty="0" err="1">
                <a:latin typeface="Courier"/>
                <a:cs typeface="Courier"/>
              </a:rPr>
              <a:t>strncpy</a:t>
            </a:r>
            <a:r>
              <a:rPr lang="en-GB" b="1" dirty="0">
                <a:latin typeface="Courier"/>
                <a:cs typeface="Courier"/>
              </a:rPr>
              <a: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281</a:t>
            </a:fld>
            <a:endParaRPr lang="fr-FR" sz="1400">
              <a:solidFill>
                <a:srgbClr val="000208"/>
              </a:solidFill>
              <a:latin typeface="Times New Roman" charset="0"/>
            </a:endParaRPr>
          </a:p>
        </p:txBody>
      </p:sp>
      <p:sp>
        <p:nvSpPr>
          <p:cNvPr id="6" name="Rectangle 5"/>
          <p:cNvSpPr/>
          <p:nvPr/>
        </p:nvSpPr>
        <p:spPr>
          <a:xfrm rot="20061788">
            <a:off x="5886316" y="3685783"/>
            <a:ext cx="3122738" cy="461665"/>
          </a:xfrm>
          <a:prstGeom prst="rect">
            <a:avLst/>
          </a:prstGeom>
          <a:ln>
            <a:solidFill>
              <a:srgbClr val="FF0000"/>
            </a:solidFill>
          </a:ln>
        </p:spPr>
        <p:txBody>
          <a:bodyPr>
            <a:spAutoFit/>
          </a:bodyPr>
          <a:lstStyle/>
          <a:p>
            <a:r>
              <a:rPr lang="en-US" sz="2400" b="1" dirty="0">
                <a:solidFill>
                  <a:srgbClr val="FF0000"/>
                </a:solidFill>
              </a:rPr>
              <a:t>SECURITY ISSUES</a:t>
            </a: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4617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6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6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6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6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216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16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16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16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CustomShape 4"/>
          <p:cNvSpPr/>
          <p:nvPr/>
        </p:nvSpPr>
        <p:spPr>
          <a:xfrm>
            <a:off x="35496" y="656692"/>
            <a:ext cx="7147030" cy="4313214"/>
          </a:xfrm>
          <a:prstGeom prst="rect">
            <a:avLst/>
          </a:prstGeom>
        </p:spPr>
        <p:txBody>
          <a:bodyPr wrap="none" lIns="79371" tIns="39686" rIns="79371" bIns="39686"/>
          <a:lstStyle/>
          <a:p>
            <a:pPr algn="l"/>
            <a:r>
              <a:rPr lang="en-US" sz="2000" dirty="0">
                <a:solidFill>
                  <a:srgbClr val="78492A"/>
                </a:solidFill>
                <a:latin typeface="Menlo"/>
                <a:ea typeface="Menlo"/>
                <a:cs typeface="Menlo"/>
              </a:rPr>
              <a:t>#include </a:t>
            </a:r>
            <a:r>
              <a:rPr lang="en-US" sz="2000" dirty="0">
                <a:solidFill>
                  <a:srgbClr val="D12E1B"/>
                </a:solidFill>
                <a:latin typeface="Menlo"/>
                <a:ea typeface="Menlo"/>
                <a:cs typeface="Menlo"/>
              </a:rPr>
              <a:t>&lt;</a:t>
            </a:r>
            <a:r>
              <a:rPr lang="en-US" sz="2000" dirty="0" err="1">
                <a:solidFill>
                  <a:srgbClr val="D12E1B"/>
                </a:solidFill>
                <a:latin typeface="Menlo"/>
                <a:ea typeface="Menlo"/>
                <a:cs typeface="Menlo"/>
              </a:rPr>
              <a:t>stdio.h</a:t>
            </a:r>
            <a:r>
              <a:rPr lang="en-US" sz="2000" dirty="0">
                <a:solidFill>
                  <a:srgbClr val="D12E1B"/>
                </a:solidFill>
                <a:latin typeface="Menlo"/>
                <a:ea typeface="Menlo"/>
                <a:cs typeface="Menlo"/>
              </a:rPr>
              <a:t>&gt;</a:t>
            </a:r>
            <a:endParaRPr lang="en-US" sz="2000" dirty="0">
              <a:solidFill>
                <a:srgbClr val="78492A"/>
              </a:solidFill>
              <a:latin typeface="Menlo"/>
              <a:ea typeface="Menlo"/>
              <a:cs typeface="Menlo"/>
            </a:endParaRPr>
          </a:p>
          <a:p>
            <a:pPr algn="l"/>
            <a:r>
              <a:rPr lang="en-US" sz="2000" dirty="0">
                <a:solidFill>
                  <a:srgbClr val="78492A"/>
                </a:solidFill>
                <a:latin typeface="Menlo"/>
                <a:ea typeface="Menlo"/>
                <a:cs typeface="Menlo"/>
              </a:rPr>
              <a:t>#includ</a:t>
            </a:r>
            <a:r>
              <a:rPr lang="en-US" sz="2000" dirty="0">
                <a:solidFill>
                  <a:srgbClr val="D12E1B"/>
                </a:solidFill>
                <a:latin typeface="Menlo"/>
                <a:ea typeface="Menlo"/>
                <a:cs typeface="Menlo"/>
              </a:rPr>
              <a:t>e &lt;</a:t>
            </a:r>
            <a:r>
              <a:rPr lang="en-US" sz="2000" dirty="0" err="1">
                <a:solidFill>
                  <a:srgbClr val="D12E1B"/>
                </a:solidFill>
                <a:latin typeface="Menlo"/>
                <a:ea typeface="Menlo"/>
                <a:cs typeface="Menlo"/>
              </a:rPr>
              <a:t>string.h</a:t>
            </a:r>
            <a:r>
              <a:rPr lang="en-US" sz="2000" dirty="0">
                <a:solidFill>
                  <a:srgbClr val="000000"/>
                </a:solidFill>
                <a:latin typeface="Menlo"/>
                <a:ea typeface="Menlo"/>
                <a:cs typeface="Menlo"/>
              </a:rPr>
              <a:t>&gt;</a:t>
            </a:r>
          </a:p>
          <a:p>
            <a:pPr algn="l"/>
            <a:endParaRPr lang="en-US" dirty="0">
              <a:solidFill>
                <a:srgbClr val="BB2CA2"/>
              </a:solidFill>
              <a:latin typeface="Menlo"/>
              <a:ea typeface="Menlo"/>
              <a:cs typeface="Menlo"/>
            </a:endParaRPr>
          </a:p>
          <a:p>
            <a:pPr algn="l"/>
            <a:r>
              <a:rPr lang="en-US" sz="2000" dirty="0">
                <a:solidFill>
                  <a:srgbClr val="FF00FF"/>
                </a:solidFill>
                <a:latin typeface="Menlo Regular"/>
                <a:ea typeface="Menlo"/>
                <a:cs typeface="Menlo Regular"/>
              </a:rPr>
              <a:t>void </a:t>
            </a:r>
            <a:r>
              <a:rPr lang="en-US" sz="2000" dirty="0">
                <a:solidFill>
                  <a:srgbClr val="000000"/>
                </a:solidFill>
                <a:latin typeface="Menlo Regular"/>
                <a:ea typeface="Menlo"/>
                <a:cs typeface="Menlo Regular"/>
              </a:rPr>
              <a:t>print(</a:t>
            </a:r>
            <a:r>
              <a:rPr lang="en-US" sz="2000" dirty="0" err="1">
                <a:solidFill>
                  <a:srgbClr val="FF00FF"/>
                </a:solidFill>
                <a:latin typeface="Menlo Regular"/>
                <a:ea typeface="Menlo"/>
                <a:cs typeface="Menlo Regular"/>
              </a:rPr>
              <a:t>int</a:t>
            </a:r>
            <a:r>
              <a:rPr lang="en-US" sz="2000" dirty="0">
                <a:solidFill>
                  <a:srgbClr val="FF00FF"/>
                </a:solidFill>
                <a:latin typeface="Menlo Regular"/>
                <a:ea typeface="Menlo"/>
                <a:cs typeface="Menlo Regular"/>
              </a:rPr>
              <a:t> </a:t>
            </a:r>
            <a:r>
              <a:rPr lang="en-US" sz="2000" dirty="0" err="1">
                <a:solidFill>
                  <a:srgbClr val="000000"/>
                </a:solidFill>
                <a:latin typeface="Menlo Regular"/>
                <a:ea typeface="Menlo"/>
                <a:cs typeface="Menlo Regular"/>
              </a:rPr>
              <a:t>i</a:t>
            </a:r>
            <a:r>
              <a:rPr lang="en-US" sz="2000" dirty="0">
                <a:solidFill>
                  <a:srgbClr val="000000"/>
                </a:solidFill>
                <a:latin typeface="Menlo Regular"/>
                <a:ea typeface="Menlo"/>
                <a:cs typeface="Menlo Regular"/>
              </a:rPr>
              <a:t>){</a:t>
            </a:r>
          </a:p>
          <a:p>
            <a:pPr algn="l"/>
            <a:r>
              <a:rPr lang="en-US" sz="2000" dirty="0">
                <a:solidFill>
                  <a:srgbClr val="000000"/>
                </a:solidFill>
                <a:latin typeface="Menlo Regular"/>
                <a:ea typeface="Menlo"/>
                <a:cs typeface="Menlo Regular"/>
              </a:rPr>
              <a:t>    </a:t>
            </a:r>
            <a:r>
              <a:rPr lang="en-US" sz="2000" dirty="0">
                <a:solidFill>
                  <a:srgbClr val="FF00FF"/>
                </a:solidFill>
                <a:latin typeface="Menlo Regular"/>
                <a:ea typeface="Menlo"/>
                <a:cs typeface="Menlo Regular"/>
              </a:rPr>
              <a:t>char</a:t>
            </a:r>
            <a:r>
              <a:rPr lang="en-US" sz="2000" dirty="0">
                <a:solidFill>
                  <a:srgbClr val="000000"/>
                </a:solidFill>
                <a:latin typeface="Menlo Regular"/>
                <a:ea typeface="Menlo"/>
                <a:cs typeface="Menlo Regular"/>
              </a:rPr>
              <a:t> text1[</a:t>
            </a:r>
            <a:r>
              <a:rPr lang="en-US" sz="2000" dirty="0">
                <a:solidFill>
                  <a:srgbClr val="3366FF"/>
                </a:solidFill>
                <a:latin typeface="Menlo Regular"/>
                <a:ea typeface="Menlo"/>
                <a:cs typeface="Menlo Regular"/>
              </a:rPr>
              <a:t>10</a:t>
            </a:r>
            <a:r>
              <a:rPr lang="en-US" sz="2000" dirty="0">
                <a:solidFill>
                  <a:srgbClr val="000000"/>
                </a:solidFill>
                <a:latin typeface="Menlo Regular"/>
                <a:ea typeface="Menlo"/>
                <a:cs typeface="Menlo Regular"/>
              </a:rPr>
              <a:t>] = </a:t>
            </a:r>
            <a:r>
              <a:rPr lang="en-US" sz="2000" dirty="0">
                <a:solidFill>
                  <a:srgbClr val="FF0000"/>
                </a:solidFill>
                <a:latin typeface="Menlo Regular"/>
                <a:ea typeface="Menlo"/>
                <a:cs typeface="Menlo Regular"/>
              </a:rPr>
              <a:t>"</a:t>
            </a:r>
            <a:r>
              <a:rPr lang="en-US" sz="2000" dirty="0" err="1">
                <a:solidFill>
                  <a:srgbClr val="FF0000"/>
                </a:solidFill>
                <a:latin typeface="Menlo Regular"/>
                <a:ea typeface="Menlo"/>
                <a:cs typeface="Menlo Regular"/>
              </a:rPr>
              <a:t>Hippolyte</a:t>
            </a:r>
            <a:r>
              <a:rPr lang="en-US" sz="2000" dirty="0">
                <a:solidFill>
                  <a:srgbClr val="FF0000"/>
                </a:solidFill>
                <a:latin typeface="Menlo Regular"/>
                <a:ea typeface="Menlo"/>
                <a:cs typeface="Menlo Regular"/>
              </a:rPr>
              <a:t>”</a:t>
            </a:r>
            <a:r>
              <a:rPr lang="en-US" sz="2000" dirty="0">
                <a:solidFill>
                  <a:srgbClr val="000000"/>
                </a:solidFill>
                <a:latin typeface="Menlo Regular"/>
                <a:ea typeface="Menlo"/>
                <a:cs typeface="Menlo Regular"/>
              </a:rPr>
              <a:t>;</a:t>
            </a:r>
          </a:p>
          <a:p>
            <a:pPr algn="l"/>
            <a:r>
              <a:rPr lang="en-US" sz="2000" dirty="0">
                <a:solidFill>
                  <a:srgbClr val="000000"/>
                </a:solidFill>
                <a:latin typeface="Menlo Regular"/>
                <a:ea typeface="Menlo"/>
                <a:cs typeface="Menlo Regular"/>
              </a:rPr>
              <a:t>    </a:t>
            </a:r>
            <a:r>
              <a:rPr lang="en-US" sz="2000" dirty="0">
                <a:solidFill>
                  <a:srgbClr val="FF00FF"/>
                </a:solidFill>
                <a:latin typeface="Menlo Regular"/>
                <a:ea typeface="Menlo"/>
                <a:cs typeface="Menlo Regular"/>
              </a:rPr>
              <a:t>char</a:t>
            </a:r>
            <a:r>
              <a:rPr lang="en-US" sz="2000" dirty="0">
                <a:solidFill>
                  <a:srgbClr val="000000"/>
                </a:solidFill>
                <a:latin typeface="Menlo Regular"/>
                <a:ea typeface="Menlo"/>
                <a:cs typeface="Menlo Regular"/>
              </a:rPr>
              <a:t> text2[</a:t>
            </a:r>
            <a:r>
              <a:rPr lang="en-US" sz="2000" dirty="0">
                <a:solidFill>
                  <a:schemeClr val="accent1"/>
                </a:solidFill>
                <a:latin typeface="Menlo Regular"/>
                <a:ea typeface="Menlo"/>
                <a:cs typeface="Menlo Regular"/>
              </a:rPr>
              <a:t>5</a:t>
            </a:r>
            <a:r>
              <a:rPr lang="en-US" sz="2000" dirty="0">
                <a:solidFill>
                  <a:srgbClr val="000000"/>
                </a:solidFill>
                <a:latin typeface="Menlo Regular"/>
                <a:ea typeface="Menlo"/>
                <a:cs typeface="Menlo Regular"/>
              </a:rPr>
              <a:t>] = </a:t>
            </a:r>
            <a:r>
              <a:rPr lang="en-US" sz="2000" dirty="0">
                <a:solidFill>
                  <a:srgbClr val="FF0000"/>
                </a:solidFill>
                <a:latin typeface="Menlo Regular"/>
                <a:ea typeface="Menlo"/>
                <a:cs typeface="Menlo Regular"/>
              </a:rPr>
              <a:t>"Ares”</a:t>
            </a:r>
            <a:r>
              <a:rPr lang="en-US" sz="2000" dirty="0">
                <a:solidFill>
                  <a:srgbClr val="000000"/>
                </a:solidFill>
                <a:latin typeface="Menlo Regular"/>
                <a:ea typeface="Menlo"/>
                <a:cs typeface="Menlo Regular"/>
              </a:rPr>
              <a:t>;</a:t>
            </a:r>
          </a:p>
          <a:p>
            <a:pPr algn="l"/>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printf</a:t>
            </a:r>
            <a:r>
              <a:rPr lang="en-US" sz="2000" dirty="0">
                <a:solidFill>
                  <a:srgbClr val="000000"/>
                </a:solidFill>
                <a:latin typeface="Menlo Regular"/>
                <a:ea typeface="Menlo"/>
                <a:cs typeface="Menlo Regular"/>
              </a:rPr>
              <a:t>(</a:t>
            </a:r>
            <a:r>
              <a:rPr lang="en-US" sz="2000" dirty="0">
                <a:solidFill>
                  <a:srgbClr val="FF0000"/>
                </a:solidFill>
                <a:latin typeface="Menlo Regular"/>
                <a:ea typeface="Menlo"/>
                <a:cs typeface="Menlo Regular"/>
              </a:rPr>
              <a:t>"The initial content of text1 is :%s \n"</a:t>
            </a:r>
            <a:r>
              <a:rPr lang="en-US" sz="2000" dirty="0">
                <a:solidFill>
                  <a:srgbClr val="000000"/>
                </a:solidFill>
                <a:latin typeface="Menlo Regular"/>
                <a:ea typeface="Menlo"/>
                <a:cs typeface="Menlo Regular"/>
              </a:rPr>
              <a:t>, text1);</a:t>
            </a:r>
          </a:p>
          <a:p>
            <a:pPr algn="l"/>
            <a:r>
              <a:rPr lang="en-US" sz="2000" dirty="0">
                <a:solidFill>
                  <a:srgbClr val="000000"/>
                </a:solidFill>
                <a:latin typeface="Menlo Regular"/>
                <a:ea typeface="Menlo"/>
                <a:cs typeface="Menlo Regular"/>
              </a:rPr>
              <a:t>    </a:t>
            </a:r>
            <a:r>
              <a:rPr lang="en-US" sz="2000" dirty="0">
                <a:solidFill>
                  <a:srgbClr val="FF00FF"/>
                </a:solidFill>
                <a:latin typeface="Menlo Regular"/>
                <a:ea typeface="Menlo"/>
                <a:cs typeface="Menlo Regular"/>
              </a:rPr>
              <a:t>if</a:t>
            </a:r>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i</a:t>
            </a:r>
            <a:r>
              <a:rPr lang="en-US" sz="2000" dirty="0">
                <a:solidFill>
                  <a:srgbClr val="000000"/>
                </a:solidFill>
                <a:latin typeface="Menlo Regular"/>
                <a:ea typeface="Menlo"/>
                <a:cs typeface="Menlo Regular"/>
              </a:rPr>
              <a:t>==</a:t>
            </a:r>
            <a:r>
              <a:rPr lang="en-US" sz="2000" dirty="0">
                <a:solidFill>
                  <a:schemeClr val="accent1"/>
                </a:solidFill>
                <a:latin typeface="Menlo Regular"/>
                <a:ea typeface="Menlo"/>
                <a:cs typeface="Menlo Regular"/>
              </a:rPr>
              <a:t>0</a:t>
            </a:r>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strcpy</a:t>
            </a:r>
            <a:r>
              <a:rPr lang="en-US" sz="2000" dirty="0">
                <a:solidFill>
                  <a:srgbClr val="000000"/>
                </a:solidFill>
                <a:latin typeface="Menlo Regular"/>
                <a:ea typeface="Menlo"/>
                <a:cs typeface="Menlo Regular"/>
              </a:rPr>
              <a:t>(text1,text2) ;</a:t>
            </a:r>
          </a:p>
          <a:p>
            <a:pPr algn="l"/>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printf</a:t>
            </a:r>
            <a:r>
              <a:rPr lang="en-US" sz="2000" dirty="0">
                <a:solidFill>
                  <a:srgbClr val="000000"/>
                </a:solidFill>
                <a:latin typeface="Menlo Regular"/>
                <a:ea typeface="Menlo"/>
                <a:cs typeface="Menlo Regular"/>
              </a:rPr>
              <a:t>(</a:t>
            </a:r>
            <a:r>
              <a:rPr lang="en-US" sz="2000" dirty="0">
                <a:solidFill>
                  <a:srgbClr val="FF0000"/>
                </a:solidFill>
                <a:latin typeface="Menlo Regular"/>
                <a:ea typeface="Menlo"/>
                <a:cs typeface="Menlo Regular"/>
              </a:rPr>
              <a:t>"text1 has now :%s \n"</a:t>
            </a:r>
            <a:r>
              <a:rPr lang="en-US" sz="2000" dirty="0">
                <a:solidFill>
                  <a:srgbClr val="000000"/>
                </a:solidFill>
                <a:latin typeface="Menlo Regular"/>
                <a:ea typeface="Menlo"/>
                <a:cs typeface="Menlo Regular"/>
              </a:rPr>
              <a:t>, text1);}</a:t>
            </a:r>
          </a:p>
          <a:p>
            <a:pPr algn="l"/>
            <a:r>
              <a:rPr lang="en-US" sz="2000" dirty="0">
                <a:solidFill>
                  <a:srgbClr val="000000"/>
                </a:solidFill>
                <a:latin typeface="Menlo Regular"/>
                <a:ea typeface="Menlo"/>
                <a:cs typeface="Menlo Regular"/>
              </a:rPr>
              <a:t>    </a:t>
            </a:r>
            <a:r>
              <a:rPr lang="en-US" sz="2000" dirty="0">
                <a:solidFill>
                  <a:srgbClr val="FF00FF"/>
                </a:solidFill>
                <a:latin typeface="Menlo Regular"/>
                <a:ea typeface="Menlo"/>
                <a:cs typeface="Menlo Regular"/>
              </a:rPr>
              <a:t>else</a:t>
            </a:r>
            <a:r>
              <a:rPr lang="en-US" sz="2000" dirty="0">
                <a:solidFill>
                  <a:srgbClr val="000000"/>
                </a:solidFill>
                <a:latin typeface="Menlo Regular"/>
                <a:ea typeface="Menlo"/>
                <a:cs typeface="Menlo Regular"/>
              </a:rPr>
              <a:t>{</a:t>
            </a:r>
          </a:p>
          <a:p>
            <a:pPr algn="l"/>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strcpy</a:t>
            </a:r>
            <a:r>
              <a:rPr lang="en-US" sz="2000" dirty="0">
                <a:solidFill>
                  <a:srgbClr val="000000"/>
                </a:solidFill>
                <a:latin typeface="Menlo Regular"/>
                <a:ea typeface="Menlo"/>
                <a:cs typeface="Menlo Regular"/>
              </a:rPr>
              <a:t>(text2,text1) ;</a:t>
            </a:r>
          </a:p>
          <a:p>
            <a:pPr algn="l"/>
            <a:r>
              <a:rPr lang="en-US" sz="2000" dirty="0">
                <a:solidFill>
                  <a:srgbClr val="000000"/>
                </a:solidFill>
                <a:latin typeface="Menlo Regular"/>
                <a:ea typeface="Menlo"/>
                <a:cs typeface="Menlo Regular"/>
              </a:rPr>
              <a:t>        </a:t>
            </a:r>
            <a:r>
              <a:rPr lang="en-US" sz="2000" dirty="0" err="1">
                <a:solidFill>
                  <a:srgbClr val="000000"/>
                </a:solidFill>
                <a:latin typeface="Menlo Regular"/>
                <a:ea typeface="Menlo"/>
                <a:cs typeface="Menlo Regular"/>
              </a:rPr>
              <a:t>printf</a:t>
            </a:r>
            <a:r>
              <a:rPr lang="en-US" sz="2000" dirty="0">
                <a:solidFill>
                  <a:srgbClr val="000000"/>
                </a:solidFill>
                <a:latin typeface="Menlo Regular"/>
                <a:ea typeface="Menlo"/>
                <a:cs typeface="Menlo Regular"/>
              </a:rPr>
              <a:t>(</a:t>
            </a:r>
            <a:r>
              <a:rPr lang="en-US" sz="2000" dirty="0">
                <a:solidFill>
                  <a:srgbClr val="FF0000"/>
                </a:solidFill>
                <a:latin typeface="Menlo Regular"/>
                <a:ea typeface="Menlo"/>
                <a:cs typeface="Menlo Regular"/>
              </a:rPr>
              <a:t>"text2 has now :%s \n"</a:t>
            </a:r>
            <a:r>
              <a:rPr lang="en-US" sz="2000" dirty="0">
                <a:solidFill>
                  <a:srgbClr val="000000"/>
                </a:solidFill>
                <a:latin typeface="Menlo Regular"/>
                <a:cs typeface="Menlo Regular"/>
              </a:rPr>
              <a:t>, text2);}</a:t>
            </a:r>
          </a:p>
          <a:p>
            <a:r>
              <a:rPr lang="en-US" sz="2000" dirty="0">
                <a:solidFill>
                  <a:srgbClr val="000000"/>
                </a:solidFill>
                <a:latin typeface="Menlo Regular"/>
                <a:cs typeface="Menlo Regular"/>
              </a:rPr>
              <a:t>}</a:t>
            </a:r>
            <a:r>
              <a:rPr lang="en-US" sz="2000" dirty="0">
                <a:solidFill>
                  <a:srgbClr val="BB2CA2"/>
                </a:solidFill>
                <a:latin typeface="Menlo"/>
                <a:ea typeface="Menlo"/>
                <a:cs typeface="Menlo"/>
              </a:rPr>
              <a:t> </a:t>
            </a:r>
          </a:p>
          <a:p>
            <a:r>
              <a:rPr lang="en-US" sz="2000" dirty="0">
                <a:solidFill>
                  <a:srgbClr val="BB2CA2"/>
                </a:solidFill>
                <a:latin typeface="Menlo"/>
                <a:ea typeface="Menlo"/>
                <a:cs typeface="Menlo"/>
              </a:rPr>
              <a:t>void</a:t>
            </a:r>
            <a:r>
              <a:rPr lang="en-US" sz="2000" dirty="0">
                <a:solidFill>
                  <a:srgbClr val="000000"/>
                </a:solidFill>
                <a:latin typeface="Menlo"/>
                <a:ea typeface="Menlo"/>
                <a:cs typeface="Menlo"/>
              </a:rPr>
              <a:t> main(){</a:t>
            </a:r>
          </a:p>
          <a:p>
            <a:r>
              <a:rPr lang="en-US" sz="2000" dirty="0">
                <a:solidFill>
                  <a:srgbClr val="000000"/>
                </a:solidFill>
                <a:latin typeface="Menlo"/>
                <a:ea typeface="Menlo"/>
                <a:cs typeface="Menlo"/>
              </a:rPr>
              <a:t>    print(</a:t>
            </a:r>
            <a:r>
              <a:rPr lang="en-US" sz="2000" dirty="0">
                <a:solidFill>
                  <a:srgbClr val="2629D9"/>
                </a:solidFill>
                <a:latin typeface="Menlo"/>
                <a:ea typeface="Menlo"/>
                <a:cs typeface="Menlo"/>
              </a:rPr>
              <a:t>0</a:t>
            </a:r>
            <a:r>
              <a:rPr lang="en-US" sz="2000" dirty="0">
                <a:solidFill>
                  <a:srgbClr val="000000"/>
                </a:solidFill>
                <a:latin typeface="Menlo"/>
                <a:ea typeface="Menlo"/>
                <a:cs typeface="Menlo"/>
              </a:rPr>
              <a:t>);</a:t>
            </a:r>
          </a:p>
          <a:p>
            <a:r>
              <a:rPr lang="en-US" sz="2000" dirty="0">
                <a:solidFill>
                  <a:srgbClr val="000000"/>
                </a:solidFill>
                <a:latin typeface="Menlo"/>
                <a:ea typeface="Menlo"/>
                <a:cs typeface="Menlo"/>
              </a:rPr>
              <a:t>    print(</a:t>
            </a:r>
            <a:r>
              <a:rPr lang="en-US" sz="2000" dirty="0">
                <a:solidFill>
                  <a:srgbClr val="2629D9"/>
                </a:solidFill>
                <a:latin typeface="Menlo"/>
                <a:ea typeface="Menlo"/>
                <a:cs typeface="Menlo"/>
              </a:rPr>
              <a:t>1</a:t>
            </a:r>
            <a:r>
              <a:rPr lang="en-US" sz="2000" dirty="0">
                <a:solidFill>
                  <a:srgbClr val="000000"/>
                </a:solidFill>
                <a:latin typeface="Menlo"/>
                <a:ea typeface="Menlo"/>
                <a:cs typeface="Menlo"/>
              </a:rPr>
              <a:t>);</a:t>
            </a:r>
          </a:p>
          <a:p>
            <a:r>
              <a:rPr lang="en-US" sz="2000" dirty="0">
                <a:solidFill>
                  <a:srgbClr val="000000"/>
                </a:solidFill>
                <a:latin typeface="Menlo"/>
                <a:ea typeface="Menlo"/>
                <a:cs typeface="Menlo"/>
              </a:rPr>
              <a:t>}</a:t>
            </a:r>
            <a:endParaRPr lang="en-US" sz="2000" b="1" dirty="0">
              <a:solidFill>
                <a:srgbClr val="000000"/>
              </a:solidFill>
              <a:latin typeface="Menlo Regular"/>
              <a:cs typeface="Menlo Regular"/>
            </a:endParaRPr>
          </a:p>
        </p:txBody>
      </p:sp>
      <p:sp>
        <p:nvSpPr>
          <p:cNvPr id="6" name="Titre 1"/>
          <p:cNvSpPr txBox="1">
            <a:spLocks/>
          </p:cNvSpPr>
          <p:nvPr/>
        </p:nvSpPr>
        <p:spPr>
          <a:xfrm>
            <a:off x="304800" y="152400"/>
            <a:ext cx="777240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Copy strings: </a:t>
            </a:r>
            <a:r>
              <a:rPr lang="fr-FR" sz="2800" dirty="0" err="1">
                <a:latin typeface="Courier New"/>
                <a:ea typeface="Courier New"/>
              </a:rPr>
              <a:t>strcpy</a:t>
            </a:r>
            <a:r>
              <a:rPr lang="fr-FR" sz="2800" dirty="0">
                <a:latin typeface="Courier New"/>
                <a:ea typeface="Courier New"/>
              </a:rPr>
              <a:t>()</a:t>
            </a:r>
            <a:r>
              <a:rPr lang="fr-FR" sz="2800" dirty="0">
                <a:latin typeface="+mn-lt"/>
                <a:ea typeface="Courier New"/>
              </a:rPr>
              <a:t>:</a:t>
            </a:r>
            <a:r>
              <a:rPr lang="fr-FR" sz="2800" dirty="0" err="1">
                <a:latin typeface="+mn-lt"/>
                <a:ea typeface="Courier New"/>
              </a:rPr>
              <a:t>Example</a:t>
            </a:r>
            <a:endParaRPr lang="fr-FR" sz="2800" dirty="0">
              <a:latin typeface="+mn-lt"/>
              <a:cs typeface="ＭＳ Ｐゴシック" charset="0"/>
            </a:endParaRPr>
          </a:p>
        </p:txBody>
      </p:sp>
      <p:sp>
        <p:nvSpPr>
          <p:cNvPr id="8"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282</a:t>
            </a:fld>
            <a:endParaRPr lang="fr-FR" sz="1400" dirty="0">
              <a:solidFill>
                <a:srgbClr val="000208"/>
              </a:solidFill>
              <a:latin typeface="Times New Roman" charset="0"/>
            </a:endParaRP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95049777"/>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re 1"/>
          <p:cNvSpPr>
            <a:spLocks noGrp="1"/>
          </p:cNvSpPr>
          <p:nvPr>
            <p:ph type="title"/>
          </p:nvPr>
        </p:nvSpPr>
        <p:spPr/>
        <p:txBody>
          <a:bodyPr/>
          <a:lstStyle/>
          <a:p>
            <a:r>
              <a:rPr lang="fr-FR" sz="2800" dirty="0">
                <a:latin typeface="Arial" charset="0"/>
                <a:cs typeface="ＭＳ Ｐゴシック" charset="0"/>
              </a:rPr>
              <a:t>Copy strings: </a:t>
            </a:r>
            <a:r>
              <a:rPr lang="fr-FR" sz="2800" dirty="0" err="1">
                <a:latin typeface="Courier New"/>
                <a:ea typeface="Courier New"/>
              </a:rPr>
              <a:t>strncpy</a:t>
            </a:r>
            <a:r>
              <a:rPr lang="fr-FR" sz="2800" dirty="0">
                <a:latin typeface="Courier New"/>
                <a:ea typeface="Courier New"/>
              </a:rPr>
              <a:t>()</a:t>
            </a:r>
            <a:endParaRPr lang="fr-FR" sz="2800" dirty="0">
              <a:latin typeface="Arial" charset="0"/>
              <a:cs typeface="ＭＳ Ｐゴシック" charset="0"/>
            </a:endParaRPr>
          </a:p>
        </p:txBody>
      </p:sp>
      <p:sp>
        <p:nvSpPr>
          <p:cNvPr id="92162" name="Espace réservé du contenu 2"/>
          <p:cNvSpPr>
            <a:spLocks noGrp="1"/>
          </p:cNvSpPr>
          <p:nvPr>
            <p:ph idx="1"/>
          </p:nvPr>
        </p:nvSpPr>
        <p:spPr>
          <a:xfrm>
            <a:off x="287524" y="692696"/>
            <a:ext cx="8856476" cy="4537075"/>
          </a:xfrm>
        </p:spPr>
        <p:txBody>
          <a:bodyPr/>
          <a:lstStyle/>
          <a:p>
            <a:r>
              <a:rPr lang="en-GB" dirty="0"/>
              <a:t>Syntax:</a:t>
            </a:r>
          </a:p>
          <a:p>
            <a:pPr marL="0" indent="0">
              <a:buNone/>
            </a:pPr>
            <a:r>
              <a:rPr lang="en-GB" sz="2000" b="1" dirty="0">
                <a:latin typeface="Courier"/>
                <a:cs typeface="Courier"/>
              </a:rPr>
              <a:t>char *</a:t>
            </a:r>
            <a:r>
              <a:rPr lang="en-GB" sz="2000" b="1" dirty="0" err="1">
                <a:latin typeface="Courier"/>
                <a:cs typeface="Courier"/>
              </a:rPr>
              <a:t>strncpy</a:t>
            </a:r>
            <a:r>
              <a:rPr lang="en-GB" sz="2000" b="1" dirty="0">
                <a:latin typeface="Courier"/>
                <a:cs typeface="Courier"/>
              </a:rPr>
              <a:t>(char *</a:t>
            </a:r>
            <a:r>
              <a:rPr lang="en-GB" sz="2000" b="1" dirty="0" err="1">
                <a:latin typeface="Courier"/>
                <a:cs typeface="Courier"/>
              </a:rPr>
              <a:t>dest</a:t>
            </a:r>
            <a:r>
              <a:rPr lang="en-GB" sz="2000" b="1" dirty="0">
                <a:latin typeface="Courier"/>
                <a:cs typeface="Courier"/>
              </a:rPr>
              <a:t>, char *</a:t>
            </a:r>
            <a:r>
              <a:rPr lang="en-GB" sz="2000" b="1" dirty="0" err="1">
                <a:latin typeface="Courier"/>
                <a:cs typeface="Courier"/>
              </a:rPr>
              <a:t>src</a:t>
            </a:r>
            <a:r>
              <a:rPr lang="en-GB" sz="2000" b="1" dirty="0">
                <a:latin typeface="Courier"/>
                <a:cs typeface="Courier"/>
              </a:rPr>
              <a:t>, </a:t>
            </a:r>
            <a:r>
              <a:rPr lang="en-GB" sz="2000" b="1" dirty="0" err="1">
                <a:latin typeface="Courier"/>
                <a:cs typeface="Courier"/>
              </a:rPr>
              <a:t>size_t</a:t>
            </a:r>
            <a:r>
              <a:rPr lang="en-GB" sz="2000" b="1" dirty="0">
                <a:latin typeface="Courier"/>
                <a:cs typeface="Courier"/>
              </a:rPr>
              <a:t> n)</a:t>
            </a:r>
            <a:r>
              <a:rPr lang="en-GB" sz="2000" dirty="0">
                <a:latin typeface="Courier"/>
                <a:cs typeface="Courier"/>
              </a:rPr>
              <a:t> </a:t>
            </a:r>
          </a:p>
          <a:p>
            <a:pPr lvl="1"/>
            <a:endParaRPr lang="en-GB" dirty="0"/>
          </a:p>
          <a:p>
            <a:r>
              <a:rPr lang="en-GB" dirty="0"/>
              <a:t>Function:</a:t>
            </a:r>
          </a:p>
          <a:p>
            <a:pPr lvl="1"/>
            <a:r>
              <a:rPr lang="en-GB" dirty="0"/>
              <a:t>Copies </a:t>
            </a:r>
            <a:r>
              <a:rPr lang="en-GB" b="1" dirty="0">
                <a:solidFill>
                  <a:srgbClr val="FF0000"/>
                </a:solidFill>
              </a:rPr>
              <a:t>UP TO</a:t>
            </a:r>
            <a:r>
              <a:rPr lang="en-GB" dirty="0">
                <a:solidFill>
                  <a:srgbClr val="FF0000"/>
                </a:solidFill>
              </a:rPr>
              <a:t> </a:t>
            </a:r>
            <a:r>
              <a:rPr lang="en-GB" dirty="0"/>
              <a:t>to </a:t>
            </a:r>
            <a:r>
              <a:rPr lang="en-GB" b="1" dirty="0"/>
              <a:t>n</a:t>
            </a:r>
            <a:r>
              <a:rPr lang="en-GB" dirty="0"/>
              <a:t> characters from the string pointed by </a:t>
            </a:r>
            <a:r>
              <a:rPr lang="en-GB" b="1" dirty="0" err="1">
                <a:latin typeface="Courier"/>
                <a:cs typeface="Courier"/>
              </a:rPr>
              <a:t>src</a:t>
            </a:r>
            <a:r>
              <a:rPr lang="en-GB" dirty="0"/>
              <a:t> to </a:t>
            </a:r>
            <a:r>
              <a:rPr lang="en-GB" b="1" dirty="0" err="1">
                <a:latin typeface="Courier"/>
                <a:cs typeface="Courier"/>
              </a:rPr>
              <a:t>dest</a:t>
            </a:r>
            <a:r>
              <a:rPr lang="en-GB" dirty="0"/>
              <a:t>.</a:t>
            </a:r>
          </a:p>
          <a:p>
            <a:pPr lvl="1"/>
            <a:r>
              <a:rPr lang="en-GB" dirty="0"/>
              <a:t>Length of </a:t>
            </a:r>
            <a:r>
              <a:rPr lang="en-GB" b="1" dirty="0" err="1">
                <a:latin typeface="Courier New"/>
                <a:ea typeface="Courier New"/>
              </a:rPr>
              <a:t>src</a:t>
            </a:r>
            <a:r>
              <a:rPr lang="en-GB" b="1" dirty="0">
                <a:latin typeface="Courier New"/>
                <a:ea typeface="Courier New"/>
              </a:rPr>
              <a:t> &lt; </a:t>
            </a:r>
            <a:r>
              <a:rPr lang="en-GB" dirty="0"/>
              <a:t>n </a:t>
            </a:r>
            <a:r>
              <a:rPr lang="en-GB" dirty="0">
                <a:sym typeface="Wingdings"/>
              </a:rPr>
              <a:t> </a:t>
            </a:r>
            <a:r>
              <a:rPr lang="en-GB" dirty="0"/>
              <a:t>the remaining part of </a:t>
            </a:r>
            <a:r>
              <a:rPr lang="en-GB" b="1" dirty="0" err="1">
                <a:latin typeface="Courier New"/>
                <a:ea typeface="Courier New"/>
              </a:rPr>
              <a:t>dest</a:t>
            </a:r>
            <a:r>
              <a:rPr lang="en-GB" dirty="0"/>
              <a:t> is padded with null bytes.</a:t>
            </a:r>
          </a:p>
          <a:p>
            <a:pPr lvl="1"/>
            <a:r>
              <a:rPr lang="en-GB" dirty="0"/>
              <a:t>Length of </a:t>
            </a:r>
            <a:r>
              <a:rPr lang="en-GB" b="1" dirty="0" err="1">
                <a:latin typeface="Courier New"/>
                <a:ea typeface="Courier New"/>
              </a:rPr>
              <a:t>src</a:t>
            </a:r>
            <a:r>
              <a:rPr lang="en-GB" b="1" dirty="0">
                <a:latin typeface="Courier New"/>
                <a:ea typeface="Courier New"/>
              </a:rPr>
              <a:t> &gt; </a:t>
            </a:r>
            <a:r>
              <a:rPr lang="en-GB" dirty="0"/>
              <a:t>n </a:t>
            </a:r>
            <a:r>
              <a:rPr lang="en-GB" dirty="0">
                <a:sym typeface="Wingdings"/>
              </a:rPr>
              <a:t> </a:t>
            </a:r>
            <a:r>
              <a:rPr lang="en-GB" b="1" dirty="0">
                <a:solidFill>
                  <a:srgbClr val="FF0000"/>
                </a:solidFill>
                <a:sym typeface="Wingdings"/>
              </a:rPr>
              <a:t>no termination </a:t>
            </a:r>
            <a:r>
              <a:rPr lang="en-GB" dirty="0">
                <a:sym typeface="Wingdings"/>
              </a:rPr>
              <a:t>character at </a:t>
            </a:r>
            <a:r>
              <a:rPr lang="en-GB" b="1" dirty="0" err="1">
                <a:latin typeface="Courier New"/>
                <a:ea typeface="Courier New"/>
              </a:rPr>
              <a:t>dest</a:t>
            </a:r>
            <a:endParaRPr lang="en-GB" dirty="0">
              <a:latin typeface="Arial" charset="0"/>
            </a:endParaRPr>
          </a:p>
          <a:p>
            <a:pPr lvl="1"/>
            <a:endParaRPr lang="en-GB" dirty="0">
              <a:latin typeface="Arial" charset="0"/>
            </a:endParaRPr>
          </a:p>
          <a:p>
            <a:r>
              <a:rPr lang="en-GB" dirty="0"/>
              <a:t>Return:</a:t>
            </a:r>
          </a:p>
          <a:p>
            <a:pPr lvl="1"/>
            <a:r>
              <a:rPr lang="en-GB" dirty="0"/>
              <a:t>The function </a:t>
            </a:r>
            <a:r>
              <a:rPr lang="en-GB" b="1" dirty="0" err="1">
                <a:latin typeface="Courier New"/>
                <a:ea typeface="Courier New"/>
              </a:rPr>
              <a:t>strncpy</a:t>
            </a:r>
            <a:r>
              <a:rPr lang="en-GB" b="1" dirty="0">
                <a:latin typeface="Courier New"/>
                <a:ea typeface="Courier New"/>
              </a:rPr>
              <a:t>()</a:t>
            </a:r>
            <a:r>
              <a:rPr lang="en-GB" dirty="0"/>
              <a:t> returns normally a pointer to the destination string </a:t>
            </a:r>
            <a:r>
              <a:rPr lang="en-GB" b="1" dirty="0" err="1">
                <a:latin typeface="Courier New"/>
                <a:ea typeface="Courier New"/>
              </a:rPr>
              <a:t>dest</a:t>
            </a:r>
            <a:r>
              <a:rPr lang="en-GB" dirty="0"/>
              <a:t>.</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283</a:t>
            </a:fld>
            <a:endParaRPr lang="fr-FR" sz="1400">
              <a:solidFill>
                <a:srgbClr val="000208"/>
              </a:solidFill>
              <a:latin typeface="Times New Roman"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4165317565"/>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TextShape 2"/>
          <p:cNvSpPr txBox="1"/>
          <p:nvPr/>
        </p:nvSpPr>
        <p:spPr>
          <a:xfrm>
            <a:off x="7848364" y="872716"/>
            <a:ext cx="8263608" cy="5462795"/>
          </a:xfrm>
          <a:prstGeom prst="rect">
            <a:avLst/>
          </a:prstGeom>
        </p:spPr>
        <p:txBody>
          <a:bodyPr lIns="92070" tIns="46035" rIns="92070" bIns="46035"/>
          <a:lstStyle/>
          <a:p>
            <a:pPr algn="l">
              <a:lnSpc>
                <a:spcPct val="100000"/>
              </a:lnSpc>
              <a:buSzPct val="25000"/>
              <a:buFont typeface="StarSymbol"/>
              <a:buChar char=""/>
            </a:pPr>
            <a:endParaRPr sz="1800" dirty="0"/>
          </a:p>
        </p:txBody>
      </p:sp>
      <p:sp>
        <p:nvSpPr>
          <p:cNvPr id="4" name="Titre 1"/>
          <p:cNvSpPr txBox="1">
            <a:spLocks/>
          </p:cNvSpPr>
          <p:nvPr/>
        </p:nvSpPr>
        <p:spPr>
          <a:xfrm>
            <a:off x="304800" y="152400"/>
            <a:ext cx="777240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Compare strings: </a:t>
            </a:r>
            <a:r>
              <a:rPr lang="fr-FR" sz="2800" dirty="0" err="1">
                <a:latin typeface="Courier New"/>
                <a:ea typeface="Courier New"/>
              </a:rPr>
              <a:t>strcmp</a:t>
            </a:r>
            <a:r>
              <a:rPr lang="fr-FR" sz="2800" dirty="0">
                <a:latin typeface="Courier New"/>
                <a:ea typeface="Courier New"/>
              </a:rPr>
              <a:t>()</a:t>
            </a:r>
            <a:endParaRPr lang="fr-FR" sz="2800" dirty="0">
              <a:latin typeface="+mn-lt"/>
              <a:cs typeface="ＭＳ Ｐゴシック" charset="0"/>
            </a:endParaRPr>
          </a:p>
        </p:txBody>
      </p:sp>
      <p:sp>
        <p:nvSpPr>
          <p:cNvPr id="5" name="Espace réservé du contenu 2"/>
          <p:cNvSpPr>
            <a:spLocks noGrp="1"/>
          </p:cNvSpPr>
          <p:nvPr>
            <p:ph idx="1"/>
          </p:nvPr>
        </p:nvSpPr>
        <p:spPr>
          <a:xfrm>
            <a:off x="287524" y="692696"/>
            <a:ext cx="8856476" cy="4537075"/>
          </a:xfrm>
        </p:spPr>
        <p:txBody>
          <a:bodyPr/>
          <a:lstStyle/>
          <a:p>
            <a:r>
              <a:rPr lang="en-GB" dirty="0"/>
              <a:t>Syntax:</a:t>
            </a:r>
          </a:p>
          <a:p>
            <a:pPr marL="0" indent="0">
              <a:buNone/>
            </a:pPr>
            <a:r>
              <a:rPr lang="en-GB" sz="1800" b="1" dirty="0">
                <a:latin typeface="Courier New"/>
                <a:ea typeface="Courier New"/>
              </a:rPr>
              <a:t>char </a:t>
            </a:r>
            <a:r>
              <a:rPr lang="en-GB" sz="1800" b="1" dirty="0" err="1">
                <a:latin typeface="Courier New"/>
                <a:ea typeface="Courier New"/>
              </a:rPr>
              <a:t>strcmp</a:t>
            </a:r>
            <a:r>
              <a:rPr lang="en-GB" sz="1800" b="1" dirty="0">
                <a:latin typeface="Courier New"/>
                <a:ea typeface="Courier New"/>
              </a:rPr>
              <a:t> (char *str1, char *str2);</a:t>
            </a:r>
          </a:p>
          <a:p>
            <a:pPr marL="0" indent="0">
              <a:buNone/>
            </a:pPr>
            <a:endParaRPr lang="en-GB" sz="800" dirty="0"/>
          </a:p>
          <a:p>
            <a:r>
              <a:rPr lang="en-GB" dirty="0"/>
              <a:t>Function</a:t>
            </a:r>
          </a:p>
          <a:p>
            <a:pPr lvl="1"/>
            <a:r>
              <a:rPr lang="en-GB" dirty="0"/>
              <a:t>The function </a:t>
            </a:r>
            <a:r>
              <a:rPr lang="en-GB" b="1" dirty="0" err="1">
                <a:latin typeface="Courier New"/>
                <a:ea typeface="Courier New"/>
              </a:rPr>
              <a:t>strcmp</a:t>
            </a:r>
            <a:r>
              <a:rPr lang="en-GB" b="1" dirty="0">
                <a:latin typeface="Courier New"/>
                <a:ea typeface="Courier New"/>
              </a:rPr>
              <a:t>()</a:t>
            </a:r>
            <a:r>
              <a:rPr lang="en-GB" dirty="0"/>
              <a:t> compares two strings of pointed by </a:t>
            </a:r>
            <a:r>
              <a:rPr lang="en-GB" b="1" dirty="0">
                <a:latin typeface="Courier New"/>
                <a:ea typeface="Courier New"/>
              </a:rPr>
              <a:t>str1 </a:t>
            </a:r>
            <a:r>
              <a:rPr lang="en-GB" dirty="0"/>
              <a:t>and by </a:t>
            </a:r>
            <a:r>
              <a:rPr lang="en-GB" b="1" dirty="0">
                <a:latin typeface="Courier New"/>
                <a:ea typeface="Courier New"/>
              </a:rPr>
              <a:t>str2</a:t>
            </a:r>
            <a:r>
              <a:rPr lang="en-GB" dirty="0"/>
              <a:t>. </a:t>
            </a:r>
          </a:p>
          <a:p>
            <a:pPr lvl="1"/>
            <a:endParaRPr lang="en-GB" sz="800" dirty="0"/>
          </a:p>
          <a:p>
            <a:r>
              <a:rPr lang="en-GB" dirty="0"/>
              <a:t>Return: The function </a:t>
            </a:r>
            <a:r>
              <a:rPr lang="en-GB" b="1" dirty="0" err="1">
                <a:latin typeface="Courier New"/>
                <a:ea typeface="Courier New"/>
              </a:rPr>
              <a:t>strcmp</a:t>
            </a:r>
            <a:r>
              <a:rPr lang="en-GB" b="1" dirty="0">
                <a:latin typeface="Courier New"/>
                <a:ea typeface="Courier New"/>
              </a:rPr>
              <a:t>()</a:t>
            </a:r>
            <a:r>
              <a:rPr lang="en-GB" dirty="0"/>
              <a:t> returns an integer:</a:t>
            </a:r>
          </a:p>
          <a:p>
            <a:pPr lvl="1"/>
            <a:r>
              <a:rPr lang="en-GB" dirty="0"/>
              <a:t>if Return value &lt; 0 then it indicates str1 is less than str2.</a:t>
            </a:r>
          </a:p>
          <a:p>
            <a:pPr lvl="1"/>
            <a:r>
              <a:rPr lang="en-GB" dirty="0"/>
              <a:t>if Return value &gt; 0 then it indicates str2 is less than str1.</a:t>
            </a:r>
          </a:p>
          <a:p>
            <a:pPr lvl="1"/>
            <a:r>
              <a:rPr lang="en-GB" dirty="0"/>
              <a:t>if Return value = 0 then it indicates str1 is equal to str2.</a:t>
            </a:r>
          </a:p>
          <a:p>
            <a:pPr lvl="1"/>
            <a:endParaRPr lang="en-GB" sz="400" dirty="0"/>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284</a:t>
            </a:fld>
            <a:endParaRPr lang="fr-FR" sz="1400" dirty="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9214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TextShape 2"/>
          <p:cNvSpPr txBox="1"/>
          <p:nvPr/>
        </p:nvSpPr>
        <p:spPr>
          <a:xfrm>
            <a:off x="7848364" y="872716"/>
            <a:ext cx="8263608" cy="5462795"/>
          </a:xfrm>
          <a:prstGeom prst="rect">
            <a:avLst/>
          </a:prstGeom>
        </p:spPr>
        <p:txBody>
          <a:bodyPr lIns="92070" tIns="46035" rIns="92070" bIns="46035"/>
          <a:lstStyle/>
          <a:p>
            <a:pPr algn="l">
              <a:lnSpc>
                <a:spcPct val="100000"/>
              </a:lnSpc>
              <a:buSzPct val="25000"/>
              <a:buFont typeface="StarSymbol"/>
              <a:buChar char=""/>
            </a:pPr>
            <a:endParaRPr sz="1800" dirty="0"/>
          </a:p>
        </p:txBody>
      </p:sp>
      <p:sp>
        <p:nvSpPr>
          <p:cNvPr id="4" name="Titre 1"/>
          <p:cNvSpPr txBox="1">
            <a:spLocks/>
          </p:cNvSpPr>
          <p:nvPr/>
        </p:nvSpPr>
        <p:spPr>
          <a:xfrm>
            <a:off x="304800" y="152400"/>
            <a:ext cx="777240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Compare strings: </a:t>
            </a:r>
            <a:r>
              <a:rPr lang="fr-FR" sz="2800" dirty="0" err="1">
                <a:latin typeface="Courier New"/>
                <a:ea typeface="Courier New"/>
              </a:rPr>
              <a:t>strncmp</a:t>
            </a:r>
            <a:r>
              <a:rPr lang="fr-FR" sz="2800" dirty="0">
                <a:latin typeface="Courier New"/>
                <a:ea typeface="Courier New"/>
              </a:rPr>
              <a:t>()</a:t>
            </a:r>
            <a:endParaRPr lang="fr-FR" sz="2800" dirty="0">
              <a:latin typeface="+mn-lt"/>
              <a:cs typeface="ＭＳ Ｐゴシック" charset="0"/>
            </a:endParaRPr>
          </a:p>
        </p:txBody>
      </p:sp>
      <p:sp>
        <p:nvSpPr>
          <p:cNvPr id="5" name="Espace réservé du contenu 2"/>
          <p:cNvSpPr>
            <a:spLocks noGrp="1"/>
          </p:cNvSpPr>
          <p:nvPr>
            <p:ph idx="1"/>
          </p:nvPr>
        </p:nvSpPr>
        <p:spPr>
          <a:xfrm>
            <a:off x="287524" y="692696"/>
            <a:ext cx="9037004" cy="4537075"/>
          </a:xfrm>
        </p:spPr>
        <p:txBody>
          <a:bodyPr/>
          <a:lstStyle/>
          <a:p>
            <a:r>
              <a:rPr lang="en-GB" dirty="0"/>
              <a:t>Syntax:</a:t>
            </a:r>
          </a:p>
          <a:p>
            <a:pPr marL="0" indent="0">
              <a:buNone/>
            </a:pPr>
            <a:r>
              <a:rPr lang="en-GB" sz="2000" b="1" dirty="0" err="1">
                <a:latin typeface="Courier"/>
                <a:cs typeface="Courier"/>
              </a:rPr>
              <a:t>int</a:t>
            </a:r>
            <a:r>
              <a:rPr lang="en-GB" sz="2000" b="1" dirty="0">
                <a:latin typeface="Courier"/>
                <a:cs typeface="Courier"/>
              </a:rPr>
              <a:t> </a:t>
            </a:r>
            <a:r>
              <a:rPr lang="en-GB" sz="2000" b="1" dirty="0" err="1">
                <a:latin typeface="Courier"/>
                <a:cs typeface="Courier"/>
              </a:rPr>
              <a:t>strncmp</a:t>
            </a:r>
            <a:r>
              <a:rPr lang="en-GB" sz="2000" b="1" dirty="0">
                <a:latin typeface="Courier"/>
                <a:cs typeface="Courier"/>
              </a:rPr>
              <a:t>(</a:t>
            </a:r>
            <a:r>
              <a:rPr lang="en-GB" sz="2000" b="1" dirty="0" err="1">
                <a:latin typeface="Courier"/>
                <a:cs typeface="Courier"/>
              </a:rPr>
              <a:t>const</a:t>
            </a:r>
            <a:r>
              <a:rPr lang="en-GB" sz="2000" b="1" dirty="0">
                <a:latin typeface="Courier"/>
                <a:cs typeface="Courier"/>
              </a:rPr>
              <a:t> char *str1, </a:t>
            </a:r>
            <a:r>
              <a:rPr lang="en-GB" sz="2000" b="1" dirty="0" err="1">
                <a:latin typeface="Courier"/>
                <a:cs typeface="Courier"/>
              </a:rPr>
              <a:t>const</a:t>
            </a:r>
            <a:r>
              <a:rPr lang="en-GB" sz="2000" b="1" dirty="0">
                <a:latin typeface="Courier"/>
                <a:cs typeface="Courier"/>
              </a:rPr>
              <a:t> char *str2, </a:t>
            </a:r>
            <a:r>
              <a:rPr lang="en-GB" sz="2000" b="1" dirty="0" err="1">
                <a:latin typeface="Courier"/>
                <a:cs typeface="Courier"/>
              </a:rPr>
              <a:t>size_t</a:t>
            </a:r>
            <a:r>
              <a:rPr lang="en-GB" sz="2000" b="1" dirty="0">
                <a:latin typeface="Courier"/>
                <a:cs typeface="Courier"/>
              </a:rPr>
              <a:t> n)</a:t>
            </a:r>
            <a:endParaRPr lang="en-GB" sz="2000" dirty="0">
              <a:latin typeface="Courier"/>
              <a:cs typeface="Courier"/>
            </a:endParaRPr>
          </a:p>
          <a:p>
            <a:endParaRPr lang="en-GB" dirty="0"/>
          </a:p>
          <a:p>
            <a:r>
              <a:rPr lang="en-GB" dirty="0"/>
              <a:t>Function</a:t>
            </a:r>
          </a:p>
          <a:p>
            <a:pPr lvl="1"/>
            <a:r>
              <a:rPr lang="en-GB" dirty="0"/>
              <a:t>The function </a:t>
            </a:r>
            <a:r>
              <a:rPr lang="en-GB" b="1" dirty="0" err="1">
                <a:latin typeface="Courier New"/>
                <a:ea typeface="Courier New"/>
              </a:rPr>
              <a:t>strncmp</a:t>
            </a:r>
            <a:r>
              <a:rPr lang="en-GB" b="1" dirty="0">
                <a:latin typeface="Courier New"/>
                <a:ea typeface="Courier New"/>
              </a:rPr>
              <a:t>()</a:t>
            </a:r>
            <a:r>
              <a:rPr lang="en-GB" dirty="0"/>
              <a:t> compares at most the first </a:t>
            </a:r>
            <a:r>
              <a:rPr lang="en-GB" b="1" dirty="0">
                <a:latin typeface="Courier"/>
                <a:cs typeface="Courier"/>
              </a:rPr>
              <a:t>n</a:t>
            </a:r>
            <a:r>
              <a:rPr lang="en-GB" dirty="0"/>
              <a:t> number of characters between two strings of pointed by </a:t>
            </a:r>
            <a:r>
              <a:rPr lang="en-GB" b="1" dirty="0">
                <a:latin typeface="Courier New"/>
                <a:ea typeface="Courier New"/>
              </a:rPr>
              <a:t>str1 </a:t>
            </a:r>
            <a:r>
              <a:rPr lang="en-GB" dirty="0"/>
              <a:t>and by </a:t>
            </a:r>
            <a:r>
              <a:rPr lang="en-GB" b="1" dirty="0">
                <a:latin typeface="Courier New"/>
                <a:ea typeface="Courier New"/>
              </a:rPr>
              <a:t>str2</a:t>
            </a:r>
            <a:r>
              <a:rPr lang="en-GB" dirty="0"/>
              <a:t>. </a:t>
            </a:r>
          </a:p>
          <a:p>
            <a:pPr lvl="1"/>
            <a:endParaRPr lang="en-GB" sz="800" dirty="0"/>
          </a:p>
          <a:p>
            <a:r>
              <a:rPr lang="en-GB" dirty="0"/>
              <a:t>Return value: The function </a:t>
            </a:r>
            <a:r>
              <a:rPr lang="en-GB" b="1" dirty="0" err="1">
                <a:latin typeface="Courier New"/>
                <a:ea typeface="Courier New"/>
              </a:rPr>
              <a:t>strncmp</a:t>
            </a:r>
            <a:r>
              <a:rPr lang="en-GB" b="1" dirty="0">
                <a:latin typeface="Courier New"/>
                <a:ea typeface="Courier New"/>
              </a:rPr>
              <a:t>()</a:t>
            </a:r>
            <a:r>
              <a:rPr lang="en-GB" dirty="0"/>
              <a:t> returns an integer:</a:t>
            </a:r>
          </a:p>
          <a:p>
            <a:pPr lvl="1"/>
            <a:r>
              <a:rPr lang="en-GB" dirty="0"/>
              <a:t>if Return value &lt; 0 then it indicates str1 is less than str2.</a:t>
            </a:r>
          </a:p>
          <a:p>
            <a:pPr lvl="1"/>
            <a:r>
              <a:rPr lang="en-GB" dirty="0"/>
              <a:t>if Return value &gt; 0 then it indicates str2 is less than str1.</a:t>
            </a:r>
          </a:p>
          <a:p>
            <a:pPr lvl="1"/>
            <a:r>
              <a:rPr lang="en-GB" dirty="0"/>
              <a:t>if Return value = 0 then it indicates str1 is equal to str2.</a:t>
            </a:r>
          </a:p>
          <a:p>
            <a:pPr lvl="1"/>
            <a:endParaRPr lang="en-GB" sz="400" dirty="0"/>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285</a:t>
            </a:fld>
            <a:endParaRPr lang="fr-FR" sz="1400" dirty="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7422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3"/>
          <p:cNvSpPr/>
          <p:nvPr/>
        </p:nvSpPr>
        <p:spPr>
          <a:xfrm>
            <a:off x="287524" y="728700"/>
            <a:ext cx="8316924" cy="4938299"/>
          </a:xfrm>
          <a:prstGeom prst="rect">
            <a:avLst/>
          </a:prstGeom>
        </p:spPr>
        <p:txBody>
          <a:bodyPr wrap="none" lIns="79371" tIns="39686" rIns="79371" bIns="39686"/>
          <a:lstStyle/>
          <a:p>
            <a:pPr algn="l"/>
            <a:r>
              <a:rPr lang="en-US" sz="1800" dirty="0">
                <a:solidFill>
                  <a:srgbClr val="78492A"/>
                </a:solidFill>
                <a:latin typeface="Menlo"/>
                <a:ea typeface="Menlo"/>
                <a:cs typeface="Menlo"/>
              </a:rPr>
              <a:t>#include</a:t>
            </a:r>
            <a:r>
              <a:rPr lang="en-US" sz="1800" dirty="0">
                <a:solidFill>
                  <a:srgbClr val="D12E1B"/>
                </a:solidFill>
                <a:latin typeface="Menlo"/>
                <a:ea typeface="Menlo"/>
                <a:cs typeface="Menlo"/>
              </a:rPr>
              <a:t>&lt;</a:t>
            </a:r>
            <a:r>
              <a:rPr lang="en-US" sz="1800" dirty="0" err="1">
                <a:solidFill>
                  <a:srgbClr val="D12E1B"/>
                </a:solidFill>
                <a:latin typeface="Menlo"/>
                <a:ea typeface="Menlo"/>
                <a:cs typeface="Menlo"/>
              </a:rPr>
              <a:t>stdio.h</a:t>
            </a:r>
            <a:r>
              <a:rPr lang="en-US" sz="1800" dirty="0">
                <a:solidFill>
                  <a:srgbClr val="D12E1B"/>
                </a:solidFill>
                <a:latin typeface="Menlo"/>
                <a:ea typeface="Menlo"/>
                <a:cs typeface="Menlo"/>
              </a:rPr>
              <a:t>&gt;</a:t>
            </a:r>
            <a:endParaRPr lang="en-US" sz="1800" dirty="0">
              <a:solidFill>
                <a:srgbClr val="78492A"/>
              </a:solidFill>
              <a:latin typeface="Menlo"/>
              <a:ea typeface="Menlo"/>
              <a:cs typeface="Menlo"/>
            </a:endParaRPr>
          </a:p>
          <a:p>
            <a:pPr algn="l"/>
            <a:r>
              <a:rPr lang="en-US" sz="1800" dirty="0">
                <a:solidFill>
                  <a:srgbClr val="78492A"/>
                </a:solidFill>
                <a:latin typeface="Menlo"/>
                <a:ea typeface="Menlo"/>
                <a:cs typeface="Menlo"/>
              </a:rPr>
              <a:t>#includ</a:t>
            </a:r>
            <a:r>
              <a:rPr lang="en-US" sz="1800" dirty="0">
                <a:solidFill>
                  <a:srgbClr val="D12E1B"/>
                </a:solidFill>
                <a:latin typeface="Menlo"/>
                <a:ea typeface="Menlo"/>
                <a:cs typeface="Menlo"/>
              </a:rPr>
              <a:t>e&lt;</a:t>
            </a:r>
            <a:r>
              <a:rPr lang="en-US" sz="1800" dirty="0" err="1">
                <a:solidFill>
                  <a:srgbClr val="D12E1B"/>
                </a:solidFill>
                <a:latin typeface="Menlo"/>
                <a:ea typeface="Menlo"/>
                <a:cs typeface="Menlo"/>
              </a:rPr>
              <a:t>string.h</a:t>
            </a:r>
            <a:r>
              <a:rPr lang="en-US" sz="1800" dirty="0">
                <a:solidFill>
                  <a:srgbClr val="000000"/>
                </a:solidFill>
                <a:latin typeface="Menlo"/>
                <a:ea typeface="Menlo"/>
                <a:cs typeface="Menlo"/>
              </a:rPr>
              <a:t>&gt;</a:t>
            </a:r>
            <a:endParaRPr lang="en-US" sz="1800" dirty="0">
              <a:solidFill>
                <a:srgbClr val="BB2CA2"/>
              </a:solidFill>
              <a:latin typeface="Menlo"/>
              <a:ea typeface="Menlo"/>
              <a:cs typeface="Menlo"/>
            </a:endParaRPr>
          </a:p>
          <a:p>
            <a:pPr algn="l"/>
            <a:endParaRPr lang="en-US" sz="1800" dirty="0">
              <a:solidFill>
                <a:srgbClr val="000000"/>
              </a:solidFill>
              <a:latin typeface="Menlo"/>
              <a:ea typeface="Menlo"/>
              <a:cs typeface="Menlo"/>
            </a:endParaRPr>
          </a:p>
          <a:p>
            <a:pPr algn="l"/>
            <a:r>
              <a:rPr lang="en-US" sz="1800" dirty="0">
                <a:solidFill>
                  <a:srgbClr val="FF00FF"/>
                </a:solidFill>
                <a:latin typeface="Menlo"/>
                <a:ea typeface="Menlo"/>
                <a:cs typeface="Menlo"/>
              </a:rPr>
              <a:t>void</a:t>
            </a:r>
            <a:r>
              <a:rPr lang="en-US" sz="1800" dirty="0">
                <a:solidFill>
                  <a:schemeClr val="tx1"/>
                </a:solidFill>
                <a:latin typeface="Menlo"/>
                <a:ea typeface="Menlo"/>
                <a:cs typeface="Menlo"/>
              </a:rPr>
              <a:t> main(){</a:t>
            </a:r>
          </a:p>
          <a:p>
            <a:pPr algn="l"/>
            <a:r>
              <a:rPr lang="en-US" sz="1800" dirty="0">
                <a:solidFill>
                  <a:schemeClr val="tx1"/>
                </a:solidFill>
                <a:latin typeface="Menlo"/>
                <a:ea typeface="Menlo"/>
                <a:cs typeface="Menlo"/>
              </a:rPr>
              <a:t>    </a:t>
            </a:r>
            <a:r>
              <a:rPr lang="en-US" sz="1800" dirty="0">
                <a:solidFill>
                  <a:srgbClr val="FF00FF"/>
                </a:solidFill>
                <a:latin typeface="Menlo"/>
                <a:ea typeface="Menlo"/>
                <a:cs typeface="Menlo"/>
              </a:rPr>
              <a:t>char</a:t>
            </a:r>
            <a:r>
              <a:rPr lang="en-US" sz="1800" dirty="0">
                <a:solidFill>
                  <a:schemeClr val="tx1"/>
                </a:solidFill>
                <a:latin typeface="Menlo"/>
                <a:ea typeface="Menlo"/>
                <a:cs typeface="Menlo"/>
              </a:rPr>
              <a:t> nom1[</a:t>
            </a:r>
            <a:r>
              <a:rPr lang="en-US" sz="1800" dirty="0">
                <a:solidFill>
                  <a:schemeClr val="accent1"/>
                </a:solidFill>
                <a:latin typeface="Menlo"/>
                <a:ea typeface="Menlo"/>
                <a:cs typeface="Menlo"/>
              </a:rPr>
              <a:t>100</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a:solidFill>
                  <a:srgbClr val="FF00FF"/>
                </a:solidFill>
                <a:latin typeface="Menlo"/>
                <a:ea typeface="Menlo"/>
                <a:cs typeface="Menlo"/>
              </a:rPr>
              <a:t>char</a:t>
            </a:r>
            <a:r>
              <a:rPr lang="en-US" sz="1800" dirty="0">
                <a:solidFill>
                  <a:schemeClr val="tx1"/>
                </a:solidFill>
                <a:latin typeface="Menlo"/>
                <a:ea typeface="Menlo"/>
                <a:cs typeface="Menlo"/>
              </a:rPr>
              <a:t> nom2[</a:t>
            </a:r>
            <a:r>
              <a:rPr lang="en-US" sz="1800" dirty="0">
                <a:solidFill>
                  <a:srgbClr val="3366FF"/>
                </a:solidFill>
                <a:latin typeface="Menlo"/>
                <a:ea typeface="Menlo"/>
                <a:cs typeface="Menlo"/>
              </a:rPr>
              <a:t>100</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err="1">
                <a:solidFill>
                  <a:srgbClr val="FF00FF"/>
                </a:solidFill>
                <a:latin typeface="Menlo"/>
                <a:ea typeface="Menlo"/>
                <a:cs typeface="Menlo"/>
              </a:rPr>
              <a:t>int</a:t>
            </a:r>
            <a:r>
              <a:rPr lang="en-US" sz="1800" dirty="0">
                <a:solidFill>
                  <a:srgbClr val="FF00FF"/>
                </a:solidFill>
                <a:latin typeface="Menlo"/>
                <a:ea typeface="Menlo"/>
                <a:cs typeface="Menlo"/>
              </a:rPr>
              <a:t> </a:t>
            </a:r>
            <a:r>
              <a:rPr lang="en-US" sz="1800" dirty="0">
                <a:solidFill>
                  <a:schemeClr val="tx1"/>
                </a:solidFill>
                <a:latin typeface="Menlo"/>
                <a:ea typeface="Menlo"/>
                <a:cs typeface="Menlo"/>
              </a:rPr>
              <a:t>res ;</a:t>
            </a:r>
          </a:p>
          <a:p>
            <a:pPr algn="l"/>
            <a:r>
              <a:rPr lang="en-US" sz="1800" dirty="0">
                <a:solidFill>
                  <a:schemeClr val="tx1"/>
                </a:solidFill>
                <a:latin typeface="Menlo"/>
                <a:ea typeface="Menlo"/>
                <a:cs typeface="Menlo"/>
              </a:rPr>
              <a:t>    </a:t>
            </a:r>
            <a:r>
              <a:rPr lang="en-US" sz="1800" dirty="0" err="1">
                <a:solidFill>
                  <a:schemeClr val="tx1"/>
                </a:solidFill>
                <a:latin typeface="Menlo"/>
                <a:ea typeface="Menlo"/>
                <a:cs typeface="Menlo"/>
              </a:rPr>
              <a:t>strcpy</a:t>
            </a:r>
            <a:r>
              <a:rPr lang="en-US" sz="1800" dirty="0">
                <a:solidFill>
                  <a:schemeClr val="tx1"/>
                </a:solidFill>
                <a:latin typeface="Menlo"/>
                <a:ea typeface="Menlo"/>
                <a:cs typeface="Menlo"/>
              </a:rPr>
              <a:t> ( nom1,   </a:t>
            </a:r>
            <a:r>
              <a:rPr lang="en-US" sz="1800" dirty="0">
                <a:solidFill>
                  <a:srgbClr val="FF0000"/>
                </a:solidFill>
                <a:latin typeface="Menlo"/>
                <a:ea typeface="Menlo"/>
                <a:cs typeface="Menlo"/>
              </a:rPr>
              <a:t>"C programming at L3 INFO - ISTIC"</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err="1">
                <a:solidFill>
                  <a:schemeClr val="tx1"/>
                </a:solidFill>
                <a:latin typeface="Menlo"/>
                <a:ea typeface="Menlo"/>
                <a:cs typeface="Menlo"/>
              </a:rPr>
              <a:t>strcpy</a:t>
            </a:r>
            <a:r>
              <a:rPr lang="en-US" sz="1800" dirty="0">
                <a:solidFill>
                  <a:schemeClr val="tx1"/>
                </a:solidFill>
                <a:latin typeface="Menlo"/>
                <a:ea typeface="Menlo"/>
                <a:cs typeface="Menlo"/>
              </a:rPr>
              <a:t> ( nom2,   </a:t>
            </a:r>
            <a:r>
              <a:rPr lang="en-US" sz="1800" dirty="0">
                <a:solidFill>
                  <a:srgbClr val="FF0000"/>
                </a:solidFill>
                <a:latin typeface="Menlo"/>
                <a:ea typeface="Menlo"/>
                <a:cs typeface="Menlo"/>
              </a:rPr>
              <a:t>"C programming is fun"</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res = </a:t>
            </a:r>
            <a:r>
              <a:rPr lang="en-US" sz="1800" dirty="0" err="1">
                <a:solidFill>
                  <a:schemeClr val="tx1"/>
                </a:solidFill>
                <a:latin typeface="Menlo"/>
                <a:ea typeface="Menlo"/>
                <a:cs typeface="Menlo"/>
              </a:rPr>
              <a:t>strcmp</a:t>
            </a:r>
            <a:r>
              <a:rPr lang="en-US" sz="1800" dirty="0">
                <a:solidFill>
                  <a:schemeClr val="tx1"/>
                </a:solidFill>
                <a:latin typeface="Menlo"/>
                <a:ea typeface="Menlo"/>
                <a:cs typeface="Menlo"/>
              </a:rPr>
              <a:t>(nom1,nom2) ;</a:t>
            </a:r>
          </a:p>
          <a:p>
            <a:pPr algn="l"/>
            <a:r>
              <a:rPr lang="en-US" sz="1800" dirty="0">
                <a:solidFill>
                  <a:schemeClr val="tx1"/>
                </a:solidFill>
                <a:latin typeface="Menlo"/>
                <a:ea typeface="Menlo"/>
                <a:cs typeface="Menlo"/>
              </a:rPr>
              <a:t>    </a:t>
            </a:r>
            <a:r>
              <a:rPr lang="en-US" sz="1800" dirty="0">
                <a:solidFill>
                  <a:srgbClr val="FF00FF"/>
                </a:solidFill>
                <a:latin typeface="Menlo"/>
                <a:ea typeface="Menlo"/>
                <a:cs typeface="Menlo"/>
              </a:rPr>
              <a:t>if</a:t>
            </a:r>
            <a:r>
              <a:rPr lang="en-US" sz="1800" dirty="0">
                <a:solidFill>
                  <a:schemeClr val="tx1"/>
                </a:solidFill>
                <a:latin typeface="Menlo"/>
                <a:ea typeface="Menlo"/>
                <a:cs typeface="Menlo"/>
              </a:rPr>
              <a:t> (res == </a:t>
            </a:r>
            <a:r>
              <a:rPr lang="en-US" sz="1800" dirty="0">
                <a:solidFill>
                  <a:srgbClr val="3366FF"/>
                </a:solidFill>
                <a:latin typeface="Menlo"/>
                <a:ea typeface="Menlo"/>
                <a:cs typeface="Menlo"/>
              </a:rPr>
              <a:t>0</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err="1">
                <a:solidFill>
                  <a:schemeClr val="tx1"/>
                </a:solidFill>
                <a:latin typeface="Menlo"/>
                <a:ea typeface="Menlo"/>
                <a:cs typeface="Menlo"/>
              </a:rPr>
              <a:t>printf</a:t>
            </a:r>
            <a:r>
              <a:rPr lang="en-US" sz="1800" dirty="0">
                <a:solidFill>
                  <a:schemeClr val="tx1"/>
                </a:solidFill>
                <a:latin typeface="Menlo"/>
                <a:ea typeface="Menlo"/>
                <a:cs typeface="Menlo"/>
              </a:rPr>
              <a:t>(</a:t>
            </a:r>
            <a:r>
              <a:rPr lang="en-US" sz="1800" dirty="0">
                <a:solidFill>
                  <a:srgbClr val="FF0000"/>
                </a:solidFill>
                <a:latin typeface="Menlo"/>
                <a:ea typeface="Menlo"/>
                <a:cs typeface="Menlo"/>
              </a:rPr>
              <a:t>"%s and %s are identical\n"</a:t>
            </a:r>
            <a:r>
              <a:rPr lang="en-US" sz="1800" dirty="0">
                <a:solidFill>
                  <a:schemeClr val="tx1"/>
                </a:solidFill>
                <a:latin typeface="Menlo"/>
                <a:ea typeface="Menlo"/>
                <a:cs typeface="Menlo"/>
              </a:rPr>
              <a:t>, nom1, nom2);</a:t>
            </a:r>
          </a:p>
          <a:p>
            <a:pPr algn="l"/>
            <a:r>
              <a:rPr lang="en-US" sz="1800" dirty="0">
                <a:solidFill>
                  <a:schemeClr val="tx1"/>
                </a:solidFill>
                <a:latin typeface="Menlo"/>
                <a:ea typeface="Menlo"/>
                <a:cs typeface="Menlo"/>
              </a:rPr>
              <a:t>    } </a:t>
            </a:r>
            <a:r>
              <a:rPr lang="en-US" sz="1800" dirty="0">
                <a:solidFill>
                  <a:srgbClr val="FF00FF"/>
                </a:solidFill>
                <a:latin typeface="Menlo"/>
                <a:ea typeface="Menlo"/>
                <a:cs typeface="Menlo"/>
              </a:rPr>
              <a:t>else</a:t>
            </a:r>
            <a:r>
              <a:rPr lang="en-US" sz="1800" dirty="0">
                <a:solidFill>
                  <a:schemeClr val="tx1"/>
                </a:solidFill>
                <a:latin typeface="Menlo"/>
                <a:ea typeface="Menlo"/>
                <a:cs typeface="Menlo"/>
              </a:rPr>
              <a:t> </a:t>
            </a:r>
            <a:r>
              <a:rPr lang="en-US" sz="1800" dirty="0">
                <a:solidFill>
                  <a:srgbClr val="FF00FF"/>
                </a:solidFill>
                <a:latin typeface="Menlo"/>
                <a:ea typeface="Menlo"/>
                <a:cs typeface="Menlo"/>
              </a:rPr>
              <a:t>if</a:t>
            </a:r>
            <a:r>
              <a:rPr lang="en-US" sz="1800" dirty="0">
                <a:solidFill>
                  <a:schemeClr val="tx1"/>
                </a:solidFill>
                <a:latin typeface="Menlo"/>
                <a:ea typeface="Menlo"/>
                <a:cs typeface="Menlo"/>
              </a:rPr>
              <a:t> (res&lt;</a:t>
            </a:r>
            <a:r>
              <a:rPr lang="en-US" sz="1800" dirty="0">
                <a:solidFill>
                  <a:schemeClr val="accent1"/>
                </a:solidFill>
                <a:latin typeface="Menlo"/>
                <a:ea typeface="Menlo"/>
                <a:cs typeface="Menlo"/>
              </a:rPr>
              <a:t>0</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err="1">
                <a:solidFill>
                  <a:schemeClr val="tx1"/>
                </a:solidFill>
                <a:latin typeface="Menlo"/>
                <a:ea typeface="Menlo"/>
                <a:cs typeface="Menlo"/>
              </a:rPr>
              <a:t>printf</a:t>
            </a:r>
            <a:r>
              <a:rPr lang="en-US" sz="1800" dirty="0">
                <a:solidFill>
                  <a:schemeClr val="tx1"/>
                </a:solidFill>
                <a:latin typeface="Menlo"/>
                <a:ea typeface="Menlo"/>
                <a:cs typeface="Menlo"/>
              </a:rPr>
              <a:t>(</a:t>
            </a:r>
            <a:r>
              <a:rPr lang="en-US" sz="1800" dirty="0">
                <a:solidFill>
                  <a:srgbClr val="FF0000"/>
                </a:solidFill>
                <a:latin typeface="Menlo"/>
                <a:ea typeface="Menlo"/>
                <a:cs typeface="Menlo"/>
              </a:rPr>
              <a:t>"%s is less than %s \n"</a:t>
            </a:r>
            <a:r>
              <a:rPr lang="en-US" sz="1800" dirty="0">
                <a:solidFill>
                  <a:schemeClr val="tx1"/>
                </a:solidFill>
                <a:latin typeface="Menlo"/>
                <a:ea typeface="Menlo"/>
                <a:cs typeface="Menlo"/>
              </a:rPr>
              <a:t>, nom1, nom2);</a:t>
            </a:r>
          </a:p>
          <a:p>
            <a:pPr algn="l"/>
            <a:r>
              <a:rPr lang="en-US" sz="1800" dirty="0">
                <a:solidFill>
                  <a:schemeClr val="tx1"/>
                </a:solidFill>
                <a:latin typeface="Menlo"/>
                <a:ea typeface="Menlo"/>
                <a:cs typeface="Menlo"/>
              </a:rPr>
              <a:t>    } </a:t>
            </a:r>
            <a:r>
              <a:rPr lang="en-US" sz="1800" dirty="0">
                <a:solidFill>
                  <a:srgbClr val="FF00FF"/>
                </a:solidFill>
                <a:latin typeface="Menlo"/>
                <a:ea typeface="Menlo"/>
                <a:cs typeface="Menlo"/>
              </a:rPr>
              <a:t>else</a:t>
            </a:r>
            <a:r>
              <a:rPr lang="en-US" sz="1800" dirty="0">
                <a:solidFill>
                  <a:schemeClr val="tx1"/>
                </a:solidFill>
                <a:latin typeface="Menlo"/>
                <a:ea typeface="Menlo"/>
                <a:cs typeface="Menlo"/>
              </a:rPr>
              <a:t> {</a:t>
            </a:r>
          </a:p>
          <a:p>
            <a:pPr algn="l"/>
            <a:r>
              <a:rPr lang="en-US" sz="1800" dirty="0">
                <a:solidFill>
                  <a:schemeClr val="tx1"/>
                </a:solidFill>
                <a:latin typeface="Menlo"/>
                <a:ea typeface="Menlo"/>
                <a:cs typeface="Menlo"/>
              </a:rPr>
              <a:t>	 </a:t>
            </a:r>
            <a:r>
              <a:rPr lang="en-US" sz="1800" dirty="0" err="1">
                <a:solidFill>
                  <a:schemeClr val="tx1"/>
                </a:solidFill>
                <a:latin typeface="Menlo"/>
                <a:ea typeface="Menlo"/>
                <a:cs typeface="Menlo"/>
              </a:rPr>
              <a:t>printf</a:t>
            </a:r>
            <a:r>
              <a:rPr lang="en-US" sz="1800" dirty="0">
                <a:solidFill>
                  <a:schemeClr val="tx1"/>
                </a:solidFill>
                <a:latin typeface="Menlo"/>
                <a:ea typeface="Menlo"/>
                <a:cs typeface="Menlo"/>
              </a:rPr>
              <a:t>(</a:t>
            </a:r>
            <a:r>
              <a:rPr lang="en-US" sz="1800" dirty="0">
                <a:solidFill>
                  <a:srgbClr val="FF0000"/>
                </a:solidFill>
                <a:latin typeface="Menlo"/>
                <a:ea typeface="Menlo"/>
                <a:cs typeface="Menlo"/>
              </a:rPr>
              <a:t>"%s is less than %s \n"</a:t>
            </a:r>
            <a:r>
              <a:rPr lang="en-US" sz="1800" dirty="0">
                <a:solidFill>
                  <a:schemeClr val="tx1"/>
                </a:solidFill>
                <a:latin typeface="Menlo"/>
                <a:ea typeface="Menlo"/>
                <a:cs typeface="Menlo"/>
              </a:rPr>
              <a:t>, nom2</a:t>
            </a:r>
            <a:r>
              <a:rPr lang="en-US" sz="1800" dirty="0">
                <a:solidFill>
                  <a:schemeClr val="tx1"/>
                </a:solidFill>
              </a:rPr>
              <a:t>, nom1);</a:t>
            </a:r>
          </a:p>
          <a:p>
            <a:pPr algn="l"/>
            <a:r>
              <a:rPr lang="en-US" sz="1800" dirty="0">
                <a:solidFill>
                  <a:schemeClr val="tx1"/>
                </a:solidFill>
              </a:rPr>
              <a:t>    }</a:t>
            </a:r>
          </a:p>
          <a:p>
            <a:pPr algn="l"/>
            <a:r>
              <a:rPr lang="en-US" sz="1800" dirty="0">
                <a:solidFill>
                  <a:schemeClr val="tx1"/>
                </a:solidFill>
              </a:rPr>
              <a:t>}</a:t>
            </a:r>
          </a:p>
        </p:txBody>
      </p:sp>
      <p:sp>
        <p:nvSpPr>
          <p:cNvPr id="5" name="Titre 1"/>
          <p:cNvSpPr txBox="1">
            <a:spLocks/>
          </p:cNvSpPr>
          <p:nvPr/>
        </p:nvSpPr>
        <p:spPr>
          <a:xfrm>
            <a:off x="304800" y="152400"/>
            <a:ext cx="840766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Compare strings: </a:t>
            </a:r>
            <a:r>
              <a:rPr lang="fr-FR" sz="2800" dirty="0" err="1">
                <a:latin typeface="+mn-lt"/>
                <a:ea typeface="Courier New"/>
              </a:rPr>
              <a:t>Example</a:t>
            </a:r>
            <a:endParaRPr lang="fr-FR" sz="2800" dirty="0">
              <a:latin typeface="+mn-lt"/>
              <a:cs typeface="ＭＳ Ｐゴシック" charset="0"/>
            </a:endParaRP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286</a:t>
            </a:fld>
            <a:endParaRPr lang="fr-FR" sz="1400" dirty="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25254263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3"/>
          <p:cNvSpPr/>
          <p:nvPr/>
        </p:nvSpPr>
        <p:spPr>
          <a:xfrm>
            <a:off x="287524" y="728700"/>
            <a:ext cx="8316924" cy="4938299"/>
          </a:xfrm>
          <a:prstGeom prst="rect">
            <a:avLst/>
          </a:prstGeom>
        </p:spPr>
        <p:txBody>
          <a:bodyPr wrap="none" lIns="79371" tIns="39686" rIns="79371" bIns="39686"/>
          <a:lstStyle/>
          <a:p>
            <a:pPr algn="l"/>
            <a:r>
              <a:rPr lang="en-US" sz="1800" dirty="0">
                <a:solidFill>
                  <a:srgbClr val="78492A"/>
                </a:solidFill>
                <a:latin typeface="Menlo"/>
                <a:ea typeface="Menlo"/>
                <a:cs typeface="Menlo"/>
              </a:rPr>
              <a:t>#include </a:t>
            </a:r>
            <a:r>
              <a:rPr lang="en-US" sz="1800" dirty="0">
                <a:solidFill>
                  <a:srgbClr val="D12E1B"/>
                </a:solidFill>
                <a:latin typeface="Menlo"/>
                <a:ea typeface="Menlo"/>
                <a:cs typeface="Menlo"/>
              </a:rPr>
              <a:t>&lt;</a:t>
            </a:r>
            <a:r>
              <a:rPr lang="en-US" sz="1800" dirty="0" err="1">
                <a:solidFill>
                  <a:srgbClr val="D12E1B"/>
                </a:solidFill>
                <a:latin typeface="Menlo"/>
                <a:ea typeface="Menlo"/>
                <a:cs typeface="Menlo"/>
              </a:rPr>
              <a:t>stdio.h</a:t>
            </a:r>
            <a:r>
              <a:rPr lang="en-US" sz="1800" dirty="0">
                <a:solidFill>
                  <a:srgbClr val="D12E1B"/>
                </a:solidFill>
                <a:latin typeface="Menlo"/>
                <a:ea typeface="Menlo"/>
                <a:cs typeface="Menlo"/>
              </a:rPr>
              <a:t>&gt;</a:t>
            </a:r>
            <a:endParaRPr lang="en-US" sz="1800" dirty="0">
              <a:solidFill>
                <a:srgbClr val="78492A"/>
              </a:solidFill>
              <a:latin typeface="Menlo"/>
              <a:ea typeface="Menlo"/>
              <a:cs typeface="Menlo"/>
            </a:endParaRPr>
          </a:p>
          <a:p>
            <a:pPr algn="l"/>
            <a:r>
              <a:rPr lang="en-US" sz="1800" dirty="0">
                <a:solidFill>
                  <a:srgbClr val="78492A"/>
                </a:solidFill>
                <a:latin typeface="Menlo"/>
                <a:ea typeface="Menlo"/>
                <a:cs typeface="Menlo"/>
              </a:rPr>
              <a:t>#include</a:t>
            </a:r>
            <a:r>
              <a:rPr lang="en-US" sz="1800" dirty="0">
                <a:solidFill>
                  <a:srgbClr val="D12E1B"/>
                </a:solidFill>
                <a:latin typeface="Menlo"/>
                <a:ea typeface="Menlo"/>
                <a:cs typeface="Menlo"/>
              </a:rPr>
              <a:t> &lt;</a:t>
            </a:r>
            <a:r>
              <a:rPr lang="en-US" sz="1800" dirty="0" err="1">
                <a:solidFill>
                  <a:srgbClr val="D12E1B"/>
                </a:solidFill>
                <a:latin typeface="Menlo"/>
                <a:ea typeface="Menlo"/>
                <a:cs typeface="Menlo"/>
              </a:rPr>
              <a:t>string.h</a:t>
            </a:r>
            <a:r>
              <a:rPr lang="en-US" sz="1800" dirty="0">
                <a:solidFill>
                  <a:srgbClr val="FF0000"/>
                </a:solidFill>
                <a:latin typeface="Menlo"/>
                <a:ea typeface="Menlo"/>
                <a:cs typeface="Menlo"/>
              </a:rPr>
              <a:t>&gt;</a:t>
            </a:r>
          </a:p>
          <a:p>
            <a:pPr algn="l"/>
            <a:endParaRPr lang="en-US" dirty="0">
              <a:solidFill>
                <a:srgbClr val="BB2CA2"/>
              </a:solidFill>
              <a:latin typeface="Menlo"/>
              <a:ea typeface="Menlo"/>
              <a:cs typeface="Menlo"/>
            </a:endParaRPr>
          </a:p>
          <a:p>
            <a:pPr algn="l"/>
            <a:r>
              <a:rPr lang="en-US" sz="2000" dirty="0" err="1">
                <a:solidFill>
                  <a:srgbClr val="FF00FF"/>
                </a:solidFill>
                <a:latin typeface="Menlo Regular"/>
                <a:ea typeface="Menlo"/>
                <a:cs typeface="Menlo Regular"/>
              </a:rPr>
              <a:t>int</a:t>
            </a:r>
            <a:r>
              <a:rPr lang="en-US" sz="2000" dirty="0">
                <a:solidFill>
                  <a:srgbClr val="FF00FF"/>
                </a:solidFill>
                <a:latin typeface="Menlo Regular"/>
                <a:ea typeface="Menlo"/>
                <a:cs typeface="Menlo Regular"/>
              </a:rPr>
              <a:t> </a:t>
            </a:r>
            <a:r>
              <a:rPr lang="en-US" sz="2000" dirty="0">
                <a:solidFill>
                  <a:schemeClr val="tx1"/>
                </a:solidFill>
                <a:latin typeface="Menlo Regular"/>
                <a:ea typeface="Menlo"/>
                <a:cs typeface="Menlo Regular"/>
              </a:rPr>
              <a:t>main(){</a:t>
            </a:r>
          </a:p>
          <a:p>
            <a:pPr algn="l"/>
            <a:r>
              <a:rPr lang="en-US" sz="2000" dirty="0">
                <a:solidFill>
                  <a:schemeClr val="tx1"/>
                </a:solidFill>
                <a:latin typeface="Menlo Regular"/>
                <a:ea typeface="Menlo"/>
                <a:cs typeface="Menlo Regular"/>
              </a:rPr>
              <a:t>    </a:t>
            </a:r>
            <a:r>
              <a:rPr lang="en-US" sz="2000" dirty="0">
                <a:solidFill>
                  <a:srgbClr val="FF00FF"/>
                </a:solidFill>
                <a:latin typeface="Menlo Regular"/>
                <a:ea typeface="Menlo"/>
                <a:cs typeface="Menlo Regular"/>
              </a:rPr>
              <a:t>char</a:t>
            </a:r>
            <a:r>
              <a:rPr lang="en-US" sz="2000" dirty="0">
                <a:solidFill>
                  <a:schemeClr val="tx1"/>
                </a:solidFill>
                <a:latin typeface="Menlo Regular"/>
                <a:ea typeface="Menlo"/>
                <a:cs typeface="Menlo Regular"/>
              </a:rPr>
              <a:t> s1[</a:t>
            </a:r>
            <a:r>
              <a:rPr lang="en-US" sz="2000" dirty="0">
                <a:solidFill>
                  <a:schemeClr val="accent1"/>
                </a:solidFill>
                <a:latin typeface="Menlo Regular"/>
                <a:ea typeface="Menlo"/>
                <a:cs typeface="Menlo Regular"/>
              </a:rPr>
              <a:t>20</a:t>
            </a:r>
            <a:r>
              <a:rPr lang="en-US" sz="2000" dirty="0">
                <a:solidFill>
                  <a:schemeClr val="tx1"/>
                </a:solidFill>
                <a:latin typeface="Menlo Regular"/>
                <a:ea typeface="Menlo"/>
                <a:cs typeface="Menlo Regular"/>
              </a:rPr>
              <a:t>];</a:t>
            </a:r>
          </a:p>
          <a:p>
            <a:pPr algn="l"/>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fgets</a:t>
            </a:r>
            <a:r>
              <a:rPr lang="en-US" sz="2000" dirty="0">
                <a:solidFill>
                  <a:schemeClr val="tx1"/>
                </a:solidFill>
                <a:latin typeface="Menlo Regular"/>
                <a:ea typeface="Menlo"/>
                <a:cs typeface="Menlo Regular"/>
              </a:rPr>
              <a:t>(s1, </a:t>
            </a:r>
            <a:r>
              <a:rPr lang="en-US" sz="2000" dirty="0">
                <a:solidFill>
                  <a:srgbClr val="3366FF"/>
                </a:solidFill>
                <a:latin typeface="Menlo Regular"/>
                <a:ea typeface="Menlo"/>
                <a:cs typeface="Menlo Regular"/>
              </a:rPr>
              <a:t>20</a:t>
            </a:r>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stdin</a:t>
            </a:r>
            <a:r>
              <a:rPr lang="en-US" sz="2000" dirty="0">
                <a:solidFill>
                  <a:schemeClr val="tx1"/>
                </a:solidFill>
                <a:latin typeface="Menlo Regular"/>
                <a:ea typeface="Menlo"/>
                <a:cs typeface="Menlo Regular"/>
              </a:rPr>
              <a:t>);</a:t>
            </a:r>
          </a:p>
          <a:p>
            <a:pPr algn="l"/>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strcmp</a:t>
            </a:r>
            <a:r>
              <a:rPr lang="en-US" sz="2000" dirty="0">
                <a:solidFill>
                  <a:schemeClr val="tx1"/>
                </a:solidFill>
                <a:latin typeface="Menlo Regular"/>
                <a:ea typeface="Menlo"/>
                <a:cs typeface="Menlo Regular"/>
              </a:rPr>
              <a:t>(s1, </a:t>
            </a:r>
            <a:r>
              <a:rPr lang="en-US" sz="2000" dirty="0">
                <a:solidFill>
                  <a:srgbClr val="FF0000"/>
                </a:solidFill>
                <a:latin typeface="Menlo Regular"/>
                <a:ea typeface="Menlo"/>
                <a:cs typeface="Menlo Regular"/>
              </a:rPr>
              <a:t>"login"</a:t>
            </a:r>
            <a:r>
              <a:rPr lang="en-US" sz="2000" dirty="0">
                <a:solidFill>
                  <a:schemeClr val="tx1"/>
                </a:solidFill>
                <a:latin typeface="Menlo Regular"/>
                <a:ea typeface="Menlo"/>
                <a:cs typeface="Menlo Regular"/>
              </a:rPr>
              <a:t>);</a:t>
            </a:r>
          </a:p>
          <a:p>
            <a:pPr algn="l"/>
            <a:r>
              <a:rPr lang="en-US" sz="2000" dirty="0">
                <a:solidFill>
                  <a:schemeClr val="tx1"/>
                </a:solidFill>
                <a:latin typeface="Menlo Regular"/>
                <a:ea typeface="Menlo"/>
                <a:cs typeface="Menlo Regular"/>
              </a:rPr>
              <a:t>    </a:t>
            </a:r>
            <a:r>
              <a:rPr lang="en-US" sz="2000" dirty="0">
                <a:solidFill>
                  <a:srgbClr val="FF00FF"/>
                </a:solidFill>
                <a:latin typeface="Menlo Regular"/>
                <a:ea typeface="Menlo"/>
                <a:cs typeface="Menlo Regular"/>
              </a:rPr>
              <a:t>if</a:t>
            </a:r>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strcmp</a:t>
            </a:r>
            <a:r>
              <a:rPr lang="en-US" sz="2000" dirty="0">
                <a:solidFill>
                  <a:schemeClr val="tx1"/>
                </a:solidFill>
                <a:latin typeface="Menlo Regular"/>
                <a:ea typeface="Menlo"/>
                <a:cs typeface="Menlo Regular"/>
              </a:rPr>
              <a:t>(s1, </a:t>
            </a:r>
            <a:r>
              <a:rPr lang="en-US" sz="2000" dirty="0">
                <a:solidFill>
                  <a:srgbClr val="FF0000"/>
                </a:solidFill>
                <a:latin typeface="Menlo Regular"/>
                <a:ea typeface="Menlo"/>
                <a:cs typeface="Menlo Regular"/>
              </a:rPr>
              <a:t>"login"</a:t>
            </a:r>
            <a:r>
              <a:rPr lang="en-US" sz="2000" dirty="0">
                <a:solidFill>
                  <a:schemeClr val="tx1"/>
                </a:solidFill>
                <a:latin typeface="Menlo Regular"/>
                <a:ea typeface="Menlo"/>
                <a:cs typeface="Menlo Regular"/>
              </a:rPr>
              <a:t>) == 0)</a:t>
            </a:r>
          </a:p>
          <a:p>
            <a:pPr algn="l"/>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printf</a:t>
            </a:r>
            <a:r>
              <a:rPr lang="en-US" sz="2000" dirty="0">
                <a:solidFill>
                  <a:schemeClr val="tx1"/>
                </a:solidFill>
                <a:latin typeface="Menlo Regular"/>
                <a:ea typeface="Menlo"/>
                <a:cs typeface="Menlo Regular"/>
              </a:rPr>
              <a:t>(</a:t>
            </a:r>
            <a:r>
              <a:rPr lang="en-US" sz="2000" dirty="0">
                <a:solidFill>
                  <a:srgbClr val="FF0000"/>
                </a:solidFill>
                <a:latin typeface="Menlo Regular"/>
                <a:ea typeface="Menlo"/>
                <a:cs typeface="Menlo Regular"/>
              </a:rPr>
              <a:t>"s1 = \"login\"\n"</a:t>
            </a:r>
            <a:r>
              <a:rPr lang="en-US" sz="2000" dirty="0">
                <a:solidFill>
                  <a:schemeClr val="tx1"/>
                </a:solidFill>
                <a:latin typeface="Menlo Regular"/>
                <a:ea typeface="Menlo"/>
                <a:cs typeface="Menlo Regular"/>
              </a:rPr>
              <a:t>);</a:t>
            </a:r>
          </a:p>
          <a:p>
            <a:pPr algn="l"/>
            <a:r>
              <a:rPr lang="en-US" sz="2000" dirty="0">
                <a:solidFill>
                  <a:schemeClr val="tx1"/>
                </a:solidFill>
                <a:latin typeface="Menlo Regular"/>
                <a:ea typeface="Menlo"/>
                <a:cs typeface="Menlo Regular"/>
              </a:rPr>
              <a:t>    </a:t>
            </a:r>
            <a:r>
              <a:rPr lang="en-US" sz="2000" dirty="0">
                <a:solidFill>
                  <a:srgbClr val="FF00FF"/>
                </a:solidFill>
                <a:latin typeface="Menlo Regular"/>
                <a:ea typeface="Menlo"/>
                <a:cs typeface="Menlo Regular"/>
              </a:rPr>
              <a:t>else</a:t>
            </a:r>
          </a:p>
          <a:p>
            <a:pPr algn="l"/>
            <a:r>
              <a:rPr lang="en-US" sz="2000" dirty="0">
                <a:solidFill>
                  <a:schemeClr val="tx1"/>
                </a:solidFill>
                <a:latin typeface="Menlo Regular"/>
                <a:ea typeface="Menlo"/>
                <a:cs typeface="Menlo Regular"/>
              </a:rPr>
              <a:t>        </a:t>
            </a:r>
            <a:r>
              <a:rPr lang="en-US" sz="2000" dirty="0" err="1">
                <a:solidFill>
                  <a:schemeClr val="tx1"/>
                </a:solidFill>
                <a:latin typeface="Menlo Regular"/>
                <a:ea typeface="Menlo"/>
                <a:cs typeface="Menlo Regular"/>
              </a:rPr>
              <a:t>printf</a:t>
            </a:r>
            <a:r>
              <a:rPr lang="en-US" sz="2000" dirty="0">
                <a:solidFill>
                  <a:schemeClr val="tx1"/>
                </a:solidFill>
                <a:latin typeface="Menlo Regular"/>
                <a:ea typeface="Menlo"/>
                <a:cs typeface="Menlo Regular"/>
              </a:rPr>
              <a:t>(</a:t>
            </a:r>
            <a:r>
              <a:rPr lang="en-US" sz="2000" dirty="0">
                <a:solidFill>
                  <a:srgbClr val="FF0000"/>
                </a:solidFill>
                <a:latin typeface="Menlo Regular"/>
                <a:ea typeface="Menlo"/>
                <a:cs typeface="Menlo Regular"/>
              </a:rPr>
              <a:t>"s1 != \"login\"\n"</a:t>
            </a:r>
            <a:r>
              <a:rPr lang="en-US" sz="2000" dirty="0">
                <a:solidFill>
                  <a:schemeClr val="tx1"/>
                </a:solidFill>
                <a:latin typeface="Menlo Regular"/>
                <a:ea typeface="Menlo"/>
                <a:cs typeface="Menlo Regular"/>
              </a:rPr>
              <a:t>);</a:t>
            </a:r>
          </a:p>
          <a:p>
            <a:pPr algn="l"/>
            <a:r>
              <a:rPr lang="en-US" sz="2000" dirty="0">
                <a:solidFill>
                  <a:schemeClr val="tx1"/>
                </a:solidFill>
                <a:latin typeface="Menlo Regular"/>
                <a:ea typeface="Menlo"/>
                <a:cs typeface="Menlo Regular"/>
              </a:rPr>
              <a:t>    </a:t>
            </a:r>
            <a:r>
              <a:rPr lang="en-US" sz="2000" dirty="0">
                <a:solidFill>
                  <a:srgbClr val="FF00FF"/>
                </a:solidFill>
                <a:latin typeface="Menlo Regular"/>
                <a:ea typeface="Menlo"/>
                <a:cs typeface="Menlo Regular"/>
              </a:rPr>
              <a:t>ret</a:t>
            </a:r>
            <a:r>
              <a:rPr lang="en-US" sz="2000" dirty="0">
                <a:solidFill>
                  <a:srgbClr val="FF00FF"/>
                </a:solidFill>
                <a:latin typeface="Menlo Regular"/>
                <a:cs typeface="Menlo Regular"/>
              </a:rPr>
              <a:t>urn</a:t>
            </a:r>
            <a:r>
              <a:rPr lang="en-US" sz="2000" dirty="0">
                <a:solidFill>
                  <a:schemeClr val="tx1"/>
                </a:solidFill>
                <a:latin typeface="Menlo Regular"/>
                <a:cs typeface="Menlo Regular"/>
              </a:rPr>
              <a:t> </a:t>
            </a:r>
            <a:r>
              <a:rPr lang="en-US" sz="2000" dirty="0">
                <a:solidFill>
                  <a:schemeClr val="accent1"/>
                </a:solidFill>
                <a:latin typeface="Menlo Regular"/>
                <a:cs typeface="Menlo Regular"/>
              </a:rPr>
              <a:t>0</a:t>
            </a:r>
            <a:r>
              <a:rPr lang="en-US" sz="2000" dirty="0">
                <a:solidFill>
                  <a:schemeClr val="tx1"/>
                </a:solidFill>
                <a:latin typeface="Menlo Regular"/>
                <a:cs typeface="Menlo Regular"/>
              </a:rPr>
              <a:t>;</a:t>
            </a:r>
          </a:p>
          <a:p>
            <a:pPr algn="l"/>
            <a:r>
              <a:rPr lang="en-US" sz="2000" dirty="0">
                <a:solidFill>
                  <a:schemeClr val="tx1"/>
                </a:solidFill>
                <a:latin typeface="Menlo Regular"/>
                <a:cs typeface="Menlo Regular"/>
              </a:rPr>
              <a:t>}</a:t>
            </a:r>
            <a:endParaRPr lang="da-DK" sz="2000" b="1" dirty="0">
              <a:solidFill>
                <a:schemeClr val="tx1"/>
              </a:solidFill>
              <a:latin typeface="Menlo Regular"/>
              <a:cs typeface="Menlo Regular"/>
            </a:endParaRPr>
          </a:p>
        </p:txBody>
      </p:sp>
      <p:sp>
        <p:nvSpPr>
          <p:cNvPr id="5" name="Titre 1"/>
          <p:cNvSpPr txBox="1">
            <a:spLocks/>
          </p:cNvSpPr>
          <p:nvPr/>
        </p:nvSpPr>
        <p:spPr>
          <a:xfrm>
            <a:off x="304800" y="152400"/>
            <a:ext cx="840766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Compare strings: </a:t>
            </a:r>
            <a:r>
              <a:rPr lang="fr-FR" sz="2800" dirty="0" err="1">
                <a:latin typeface="+mn-lt"/>
                <a:ea typeface="Courier New"/>
              </a:rPr>
              <a:t>Example</a:t>
            </a:r>
            <a:endParaRPr lang="fr-FR" sz="2800" dirty="0">
              <a:latin typeface="+mn-lt"/>
              <a:cs typeface="ＭＳ Ｐゴシック" charset="0"/>
            </a:endParaRPr>
          </a:p>
        </p:txBody>
      </p:sp>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287</a:t>
            </a:fld>
            <a:endParaRPr lang="fr-FR" sz="1400" dirty="0">
              <a:solidFill>
                <a:srgbClr val="000208"/>
              </a:solidFill>
              <a:latin typeface="Times New Roman"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36211030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re 1"/>
          <p:cNvSpPr>
            <a:spLocks noGrp="1"/>
          </p:cNvSpPr>
          <p:nvPr>
            <p:ph type="title"/>
          </p:nvPr>
        </p:nvSpPr>
        <p:spPr/>
        <p:txBody>
          <a:bodyPr/>
          <a:lstStyle/>
          <a:p>
            <a:r>
              <a:rPr lang="fr-FR" sz="2800" dirty="0" err="1">
                <a:latin typeface="Arial" charset="0"/>
                <a:cs typeface="ＭＳ Ｐゴシック" charset="0"/>
              </a:rPr>
              <a:t>Let’s</a:t>
            </a:r>
            <a:r>
              <a:rPr lang="fr-FR" sz="2800" dirty="0">
                <a:latin typeface="Arial" charset="0"/>
                <a:cs typeface="ＭＳ Ｐゴシック" charset="0"/>
              </a:rPr>
              <a:t>…</a:t>
            </a:r>
            <a:endParaRPr lang="fr-FR" sz="2800" dirty="0">
              <a:latin typeface="Arial" charset="0"/>
              <a:ea typeface="ＭＳ Ｐゴシック" charset="0"/>
              <a:cs typeface="ＭＳ Ｐゴシック" charset="0"/>
            </a:endParaRPr>
          </a:p>
        </p:txBody>
      </p:sp>
      <p:sp>
        <p:nvSpPr>
          <p:cNvPr id="1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288</a:t>
            </a:fld>
            <a:endParaRPr lang="fr-FR" sz="1400">
              <a:solidFill>
                <a:srgbClr val="000208"/>
              </a:solidFill>
              <a:latin typeface="Times New Roman" charset="0"/>
            </a:endParaRPr>
          </a:p>
        </p:txBody>
      </p:sp>
      <p:sp>
        <p:nvSpPr>
          <p:cNvPr id="25" name="Content Placeholder 18"/>
          <p:cNvSpPr>
            <a:spLocks noGrp="1"/>
          </p:cNvSpPr>
          <p:nvPr>
            <p:ph idx="1"/>
          </p:nvPr>
        </p:nvSpPr>
        <p:spPr>
          <a:xfrm>
            <a:off x="3023828" y="2960948"/>
            <a:ext cx="3320571" cy="1447192"/>
          </a:xfrm>
          <a:prstGeom prst="rect">
            <a:avLst/>
          </a:prstGeom>
        </p:spPr>
        <p:txBody>
          <a:bodyPr wrap="none">
            <a:spAutoFit/>
          </a:bodyPr>
          <a:lstStyle/>
          <a:p>
            <a:pPr marL="0" indent="0" algn="ctr">
              <a:buNone/>
            </a:pPr>
            <a:r>
              <a:rPr lang="fr-FR" sz="4000" b="1" dirty="0" err="1">
                <a:solidFill>
                  <a:srgbClr val="800000"/>
                </a:solidFill>
                <a:cs typeface="ＭＳ Ｐゴシック" charset="0"/>
              </a:rPr>
              <a:t>Kahoot</a:t>
            </a:r>
            <a:r>
              <a:rPr lang="fr-FR" sz="4000" b="1" dirty="0">
                <a:solidFill>
                  <a:srgbClr val="800000"/>
                </a:solidFill>
                <a:cs typeface="ＭＳ Ｐゴシック" charset="0"/>
              </a:rPr>
              <a:t> time!</a:t>
            </a:r>
          </a:p>
          <a:p>
            <a:pPr marL="0" indent="0" algn="ctr">
              <a:buNone/>
            </a:pPr>
            <a:r>
              <a:rPr lang="fr-FR" sz="4000" b="1" dirty="0">
                <a:solidFill>
                  <a:srgbClr val="800000"/>
                </a:solidFill>
                <a:cs typeface="ＭＳ Ｐゴシック" charset="0"/>
              </a:rPr>
              <a:t>Q1 – Q10</a:t>
            </a:r>
            <a:endParaRPr lang="en-US" sz="4000" b="1" dirty="0">
              <a:solidFill>
                <a:srgbClr val="800000"/>
              </a:solidFill>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940843499"/>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a:latin typeface="Arial" charset="0"/>
                <a:ea typeface="ＭＳ Ｐゴシック" charset="0"/>
                <a:cs typeface="ＭＳ Ｐゴシック" charset="0"/>
              </a:rPr>
              <a:t>I/O and files</a:t>
            </a:r>
          </a:p>
        </p:txBody>
      </p:sp>
      <p:sp>
        <p:nvSpPr>
          <p:cNvPr id="3" name="Espace réservé du contenu 2"/>
          <p:cNvSpPr>
            <a:spLocks noGrp="1"/>
          </p:cNvSpPr>
          <p:nvPr>
            <p:ph idx="1"/>
          </p:nvPr>
        </p:nvSpPr>
        <p:spPr>
          <a:xfrm>
            <a:off x="287524" y="836712"/>
            <a:ext cx="8856476" cy="5544616"/>
          </a:xfrm>
        </p:spPr>
        <p:txBody>
          <a:bodyPr/>
          <a:lstStyle/>
          <a:p>
            <a:pPr>
              <a:defRPr/>
            </a:pPr>
            <a:r>
              <a:rPr lang="en-US" dirty="0"/>
              <a:t>In C, the I/O are implemented using files</a:t>
            </a:r>
          </a:p>
          <a:p>
            <a:pPr>
              <a:defRPr/>
            </a:pPr>
            <a:endParaRPr lang="en-US" sz="1000" dirty="0"/>
          </a:p>
          <a:p>
            <a:pPr>
              <a:defRPr/>
            </a:pPr>
            <a:r>
              <a:rPr lang="en-US" dirty="0"/>
              <a:t>There are a lot of predefined files</a:t>
            </a:r>
          </a:p>
          <a:p>
            <a:pPr lvl="1">
              <a:defRPr/>
            </a:pPr>
            <a:r>
              <a:rPr lang="en-US" dirty="0"/>
              <a:t>The standard input </a:t>
            </a:r>
            <a:r>
              <a:rPr lang="en-US" b="1" dirty="0" err="1">
                <a:latin typeface="Courier New"/>
                <a:ea typeface="Courier New"/>
              </a:rPr>
              <a:t>stdin</a:t>
            </a:r>
            <a:r>
              <a:rPr lang="en-US" dirty="0"/>
              <a:t> </a:t>
            </a:r>
          </a:p>
          <a:p>
            <a:pPr lvl="1">
              <a:defRPr/>
            </a:pPr>
            <a:r>
              <a:rPr lang="en-US" dirty="0"/>
              <a:t>The standard output </a:t>
            </a:r>
            <a:r>
              <a:rPr lang="en-US" b="1" dirty="0" err="1">
                <a:latin typeface="Courier New"/>
                <a:ea typeface="Courier New"/>
              </a:rPr>
              <a:t>stdout</a:t>
            </a:r>
            <a:r>
              <a:rPr lang="en-US" dirty="0"/>
              <a:t> </a:t>
            </a:r>
          </a:p>
          <a:p>
            <a:pPr lvl="1">
              <a:defRPr/>
            </a:pPr>
            <a:r>
              <a:rPr lang="en-US" dirty="0"/>
              <a:t>The standard error </a:t>
            </a:r>
            <a:r>
              <a:rPr lang="en-US" b="1" dirty="0" err="1">
                <a:latin typeface="Courier New"/>
                <a:ea typeface="Courier New"/>
              </a:rPr>
              <a:t>stderr</a:t>
            </a:r>
            <a:endParaRPr lang="en-US" b="1" dirty="0">
              <a:latin typeface="Courier New"/>
              <a:ea typeface="Courier New"/>
            </a:endParaRPr>
          </a:p>
          <a:p>
            <a:pPr lvl="1">
              <a:defRPr/>
            </a:pPr>
            <a:endParaRPr lang="en-US" sz="1000" b="1" dirty="0">
              <a:latin typeface="Courier New"/>
              <a:ea typeface="Courier New"/>
            </a:endParaRPr>
          </a:p>
          <a:p>
            <a:pPr>
              <a:defRPr/>
            </a:pPr>
            <a:r>
              <a:rPr lang="en-US" dirty="0"/>
              <a:t>We have already seen the basic formatted I/</a:t>
            </a:r>
            <a:r>
              <a:rPr lang="en-US" dirty="0" err="1"/>
              <a:t>Os</a:t>
            </a:r>
            <a:endParaRPr lang="en-US" dirty="0"/>
          </a:p>
          <a:p>
            <a:pPr lvl="1">
              <a:defRPr/>
            </a:pPr>
            <a:r>
              <a:rPr lang="en-US" b="1" dirty="0" err="1">
                <a:latin typeface="Courier New"/>
                <a:ea typeface="Courier New"/>
              </a:rPr>
              <a:t>printf</a:t>
            </a:r>
            <a:r>
              <a:rPr lang="en-US" b="1" dirty="0">
                <a:latin typeface="Courier New"/>
                <a:ea typeface="Courier New"/>
              </a:rPr>
              <a:t>(…)</a:t>
            </a:r>
            <a:r>
              <a:rPr lang="en-US" dirty="0"/>
              <a:t>: write to the file of the </a:t>
            </a:r>
            <a:r>
              <a:rPr lang="en-US" b="1" dirty="0" err="1">
                <a:latin typeface="Courier New"/>
                <a:ea typeface="Courier New"/>
              </a:rPr>
              <a:t>stdout</a:t>
            </a:r>
            <a:r>
              <a:rPr lang="en-US" dirty="0"/>
              <a:t> </a:t>
            </a:r>
          </a:p>
          <a:p>
            <a:pPr lvl="1">
              <a:defRPr/>
            </a:pPr>
            <a:r>
              <a:rPr lang="en-US" b="1" dirty="0" err="1">
                <a:latin typeface="Courier New"/>
                <a:ea typeface="Courier New"/>
              </a:rPr>
              <a:t>scanf</a:t>
            </a:r>
            <a:r>
              <a:rPr lang="en-US" b="1" dirty="0">
                <a:latin typeface="Courier New"/>
                <a:ea typeface="Courier New"/>
              </a:rPr>
              <a:t>(…) </a:t>
            </a:r>
            <a:r>
              <a:rPr lang="en-US" dirty="0"/>
              <a:t>: read from the file </a:t>
            </a:r>
            <a:r>
              <a:rPr lang="en-US" b="1" dirty="0" err="1">
                <a:latin typeface="Courier New"/>
                <a:ea typeface="Courier New"/>
              </a:rPr>
              <a:t>stdin</a:t>
            </a:r>
            <a:r>
              <a:rPr lang="en-US" dirty="0"/>
              <a:t> </a:t>
            </a:r>
          </a:p>
          <a:p>
            <a:pPr lvl="1">
              <a:defRPr/>
            </a:pPr>
            <a:endParaRPr lang="en-US" dirty="0"/>
          </a:p>
          <a:p>
            <a:pPr>
              <a:defRPr/>
            </a:pPr>
            <a:r>
              <a:rPr lang="en-US" dirty="0"/>
              <a:t>More global I/</a:t>
            </a:r>
            <a:r>
              <a:rPr lang="en-US" dirty="0" err="1"/>
              <a:t>Os</a:t>
            </a:r>
            <a:r>
              <a:rPr lang="en-US" dirty="0"/>
              <a:t> exist</a:t>
            </a:r>
          </a:p>
          <a:p>
            <a:pPr lvl="1">
              <a:defRPr/>
            </a:pPr>
            <a:r>
              <a:rPr lang="en-US" dirty="0"/>
              <a:t>Non formatted</a:t>
            </a:r>
          </a:p>
          <a:p>
            <a:pPr lvl="1">
              <a:defRPr/>
            </a:pPr>
            <a:r>
              <a:rPr lang="en-US" dirty="0"/>
              <a:t>Based on real files</a:t>
            </a:r>
            <a:endParaRPr lang="en-US" sz="2400" dirty="0"/>
          </a:p>
          <a:p>
            <a:pPr lvl="1">
              <a:buSzPct val="25000"/>
              <a:buFont typeface="StarSymbol"/>
              <a:buChar char=""/>
            </a:pPr>
            <a:endParaRPr lang="en-US" sz="1800" dirty="0"/>
          </a:p>
          <a:p>
            <a:pPr>
              <a:buSzPct val="25000"/>
              <a:buFont typeface="StarSymbol"/>
              <a:buChar char=""/>
            </a:pPr>
            <a:endParaRPr lang="en-US" sz="1800" dirty="0"/>
          </a:p>
          <a:p>
            <a:pPr>
              <a:defRPr/>
            </a:pPr>
            <a:endParaRPr lang="en-US"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289</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93534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en-GB" sz="2800" dirty="0">
                <a:latin typeface="Arial" charset="0"/>
                <a:ea typeface="ＭＳ Ｐゴシック" charset="0"/>
                <a:cs typeface="ＭＳ Ｐゴシック" charset="0"/>
              </a:rPr>
              <a:t>File declaration</a:t>
            </a:r>
          </a:p>
        </p:txBody>
      </p:sp>
      <p:sp>
        <p:nvSpPr>
          <p:cNvPr id="3" name="Espace réservé du contenu 2"/>
          <p:cNvSpPr>
            <a:spLocks noGrp="1"/>
          </p:cNvSpPr>
          <p:nvPr>
            <p:ph idx="1"/>
          </p:nvPr>
        </p:nvSpPr>
        <p:spPr>
          <a:xfrm>
            <a:off x="287524" y="836712"/>
            <a:ext cx="8856476" cy="5544616"/>
          </a:xfrm>
        </p:spPr>
        <p:txBody>
          <a:bodyPr/>
          <a:lstStyle/>
          <a:p>
            <a:pPr>
              <a:defRPr/>
            </a:pPr>
            <a:r>
              <a:rPr lang="en-GB" dirty="0"/>
              <a:t>The access to the files is performed through logical files</a:t>
            </a:r>
          </a:p>
          <a:p>
            <a:pPr lvl="1">
              <a:defRPr/>
            </a:pPr>
            <a:r>
              <a:rPr lang="en-GB" dirty="0"/>
              <a:t>We have to use the directive </a:t>
            </a:r>
            <a:r>
              <a:rPr lang="en-GB" b="1" dirty="0">
                <a:solidFill>
                  <a:srgbClr val="040001"/>
                </a:solidFill>
                <a:latin typeface="Courier New"/>
                <a:ea typeface="Courier New"/>
              </a:rPr>
              <a:t>#include &lt;</a:t>
            </a:r>
            <a:r>
              <a:rPr lang="en-GB" b="1" dirty="0" err="1">
                <a:solidFill>
                  <a:srgbClr val="040001"/>
                </a:solidFill>
                <a:latin typeface="Courier New"/>
                <a:ea typeface="Courier New"/>
              </a:rPr>
              <a:t>stdio.h</a:t>
            </a:r>
            <a:r>
              <a:rPr lang="en-GB" b="1" dirty="0">
                <a:solidFill>
                  <a:srgbClr val="040001"/>
                </a:solidFill>
                <a:latin typeface="Courier New"/>
                <a:ea typeface="Courier New"/>
              </a:rPr>
              <a:t>&gt;</a:t>
            </a:r>
            <a:endParaRPr lang="en-GB" dirty="0"/>
          </a:p>
          <a:p>
            <a:pPr lvl="1">
              <a:defRPr/>
            </a:pPr>
            <a:r>
              <a:rPr lang="en-GB" dirty="0"/>
              <a:t>We define them as type </a:t>
            </a:r>
            <a:r>
              <a:rPr lang="en-GB" b="1" dirty="0">
                <a:latin typeface="Courier New"/>
                <a:ea typeface="Courier New"/>
              </a:rPr>
              <a:t>FILE</a:t>
            </a:r>
            <a:endParaRPr lang="en-GB" dirty="0"/>
          </a:p>
          <a:p>
            <a:pPr lvl="1">
              <a:defRPr/>
            </a:pPr>
            <a:r>
              <a:rPr lang="en-GB" dirty="0"/>
              <a:t>We use pointer to access them </a:t>
            </a:r>
            <a:r>
              <a:rPr lang="en-GB" b="1" dirty="0">
                <a:latin typeface="Courier New"/>
                <a:ea typeface="Courier New"/>
              </a:rPr>
              <a:t>FILE*</a:t>
            </a:r>
            <a:r>
              <a:rPr lang="en-GB" b="1" dirty="0">
                <a:solidFill>
                  <a:srgbClr val="FF0000"/>
                </a:solidFill>
                <a:latin typeface="Courier New"/>
                <a:ea typeface="Courier New"/>
              </a:rPr>
              <a:t> </a:t>
            </a:r>
          </a:p>
          <a:p>
            <a:pPr lvl="1">
              <a:defRPr/>
            </a:pPr>
            <a:endParaRPr lang="en-GB" dirty="0"/>
          </a:p>
          <a:p>
            <a:pPr>
              <a:defRPr/>
            </a:pPr>
            <a:r>
              <a:rPr lang="en-GB" sz="2400" dirty="0"/>
              <a:t>Example of declaring a logical file</a:t>
            </a:r>
            <a:endParaRPr lang="en-GB" dirty="0"/>
          </a:p>
          <a:p>
            <a:pPr lvl="1">
              <a:defRPr/>
            </a:pPr>
            <a:r>
              <a:rPr lang="en-GB" b="1" dirty="0">
                <a:latin typeface="Courier New"/>
                <a:ea typeface="Courier New"/>
              </a:rPr>
              <a:t>FILE* file; </a:t>
            </a:r>
          </a:p>
          <a:p>
            <a:pPr lvl="1">
              <a:defRPr/>
            </a:pPr>
            <a:endParaRPr lang="en-GB" dirty="0"/>
          </a:p>
          <a:p>
            <a:pPr>
              <a:defRPr/>
            </a:pPr>
            <a:r>
              <a:rPr lang="en-GB" sz="2400" dirty="0"/>
              <a:t>Remark:</a:t>
            </a:r>
            <a:endParaRPr lang="en-GB" dirty="0"/>
          </a:p>
          <a:p>
            <a:pPr lvl="1">
              <a:defRPr/>
            </a:pPr>
            <a:r>
              <a:rPr lang="en-GB" dirty="0"/>
              <a:t>A logical file of a program has to be linked with an existing physical file in the file system</a:t>
            </a:r>
          </a:p>
          <a:p>
            <a:pPr lvl="1">
              <a:defRPr/>
            </a:pPr>
            <a:r>
              <a:rPr lang="en-GB" dirty="0"/>
              <a:t>The link is created through the operations of opening and closing the logical files</a:t>
            </a:r>
          </a:p>
          <a:p>
            <a:pPr>
              <a:defRPr/>
            </a:pPr>
            <a:endParaRPr lang="en-GB" dirty="0"/>
          </a:p>
          <a:p>
            <a:pPr lvl="1">
              <a:buSzPct val="25000"/>
              <a:buFont typeface="StarSymbol"/>
              <a:buChar char=""/>
            </a:pPr>
            <a:endParaRPr lang="en-GB" sz="1800" dirty="0"/>
          </a:p>
          <a:p>
            <a:pPr lvl="1">
              <a:buSzPct val="25000"/>
              <a:buFont typeface="StarSymbol"/>
              <a:buChar char=""/>
            </a:pPr>
            <a:endParaRPr lang="en-GB" sz="1800" dirty="0"/>
          </a:p>
          <a:p>
            <a:pPr>
              <a:buSzPct val="25000"/>
              <a:buFont typeface="StarSymbol"/>
              <a:buChar char=""/>
            </a:pPr>
            <a:endParaRPr lang="en-GB" sz="1800" dirty="0"/>
          </a:p>
          <a:p>
            <a:pPr>
              <a:defRPr/>
            </a:pPr>
            <a:endParaRPr lang="en-GB"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290</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94024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a:latin typeface="Arial" charset="0"/>
                <a:cs typeface="ＭＳ Ｐゴシック" charset="0"/>
              </a:rPr>
              <a:t>File open: </a:t>
            </a:r>
            <a:r>
              <a:rPr lang="fr-FR" sz="2800" dirty="0" err="1">
                <a:latin typeface="Courier New"/>
                <a:ea typeface="Courier New"/>
              </a:rPr>
              <a:t>fopen</a:t>
            </a:r>
            <a:r>
              <a:rPr lang="fr-FR" sz="2800" dirty="0">
                <a:latin typeface="Arial" charset="0"/>
                <a:cs typeface="ＭＳ Ｐゴシック" charset="0"/>
              </a:rPr>
              <a:t> </a:t>
            </a:r>
          </a:p>
        </p:txBody>
      </p:sp>
      <p:sp>
        <p:nvSpPr>
          <p:cNvPr id="3" name="Espace réservé du contenu 2"/>
          <p:cNvSpPr>
            <a:spLocks noGrp="1"/>
          </p:cNvSpPr>
          <p:nvPr>
            <p:ph idx="1"/>
          </p:nvPr>
        </p:nvSpPr>
        <p:spPr>
          <a:xfrm>
            <a:off x="287524" y="836712"/>
            <a:ext cx="8856476" cy="5544616"/>
          </a:xfrm>
        </p:spPr>
        <p:txBody>
          <a:bodyPr/>
          <a:lstStyle/>
          <a:p>
            <a:pPr>
              <a:defRPr/>
            </a:pPr>
            <a:r>
              <a:rPr lang="en-GB" dirty="0"/>
              <a:t>Syntax</a:t>
            </a:r>
          </a:p>
          <a:p>
            <a:pPr marL="0" indent="0">
              <a:buNone/>
              <a:defRPr/>
            </a:pPr>
            <a:r>
              <a:rPr lang="en-GB" b="1" dirty="0">
                <a:latin typeface="Courier New"/>
                <a:ea typeface="Courier New"/>
              </a:rPr>
              <a:t>FILE* </a:t>
            </a:r>
            <a:r>
              <a:rPr lang="en-GB" b="1" dirty="0" err="1">
                <a:latin typeface="Courier New"/>
                <a:ea typeface="Courier New"/>
              </a:rPr>
              <a:t>fopen</a:t>
            </a:r>
            <a:r>
              <a:rPr lang="en-GB" b="1" dirty="0">
                <a:latin typeface="Courier New"/>
                <a:ea typeface="Courier New"/>
              </a:rPr>
              <a:t> (char *name, char *mode ); </a:t>
            </a:r>
            <a:endParaRPr lang="en-GB" dirty="0"/>
          </a:p>
          <a:p>
            <a:pPr>
              <a:defRPr/>
            </a:pPr>
            <a:r>
              <a:rPr lang="en-GB" dirty="0"/>
              <a:t>Function</a:t>
            </a:r>
          </a:p>
          <a:p>
            <a:pPr lvl="1">
              <a:defRPr/>
            </a:pPr>
            <a:r>
              <a:rPr lang="en-GB" dirty="0"/>
              <a:t>Open a physical file called </a:t>
            </a:r>
            <a:r>
              <a:rPr lang="en-GB" b="1" dirty="0">
                <a:latin typeface="Courier New"/>
                <a:ea typeface="Courier New"/>
              </a:rPr>
              <a:t>name</a:t>
            </a:r>
            <a:r>
              <a:rPr lang="en-GB" dirty="0"/>
              <a:t> with the access rights defined by the string </a:t>
            </a:r>
            <a:r>
              <a:rPr lang="en-GB" b="1" dirty="0">
                <a:latin typeface="Courier New"/>
                <a:ea typeface="Courier New"/>
              </a:rPr>
              <a:t>mode</a:t>
            </a:r>
            <a:r>
              <a:rPr lang="en-GB" dirty="0"/>
              <a:t> :</a:t>
            </a:r>
          </a:p>
          <a:p>
            <a:pPr lvl="2">
              <a:defRPr/>
            </a:pPr>
            <a:r>
              <a:rPr lang="en-GB" b="1" dirty="0">
                <a:latin typeface="Courier New"/>
                <a:ea typeface="Courier New"/>
              </a:rPr>
              <a:t>"r"</a:t>
            </a:r>
            <a:r>
              <a:rPr lang="en-GB" dirty="0"/>
              <a:t> open for read</a:t>
            </a:r>
          </a:p>
          <a:p>
            <a:pPr lvl="2">
              <a:defRPr/>
            </a:pPr>
            <a:r>
              <a:rPr lang="en-GB" b="1" dirty="0">
                <a:latin typeface="Courier New"/>
                <a:ea typeface="Courier New"/>
              </a:rPr>
              <a:t>"w"</a:t>
            </a:r>
            <a:r>
              <a:rPr lang="en-GB" dirty="0"/>
              <a:t> open for write/create</a:t>
            </a:r>
          </a:p>
          <a:p>
            <a:pPr lvl="2">
              <a:defRPr/>
            </a:pPr>
            <a:r>
              <a:rPr lang="en-GB" b="1" dirty="0">
                <a:latin typeface="Courier New"/>
                <a:ea typeface="Courier New"/>
              </a:rPr>
              <a:t>"a"</a:t>
            </a:r>
            <a:r>
              <a:rPr lang="en-GB" dirty="0"/>
              <a:t> open for write at the end of the file</a:t>
            </a:r>
          </a:p>
          <a:p>
            <a:pPr>
              <a:defRPr/>
            </a:pPr>
            <a:r>
              <a:rPr lang="en-GB" dirty="0"/>
              <a:t>Parameters </a:t>
            </a:r>
          </a:p>
          <a:p>
            <a:pPr lvl="1">
              <a:defRPr/>
            </a:pPr>
            <a:r>
              <a:rPr lang="en-GB" b="1" dirty="0">
                <a:latin typeface="Courier New"/>
                <a:ea typeface="Courier New"/>
              </a:rPr>
              <a:t>name </a:t>
            </a:r>
            <a:r>
              <a:rPr lang="en-GB" dirty="0"/>
              <a:t>: external name of the file to be opened</a:t>
            </a:r>
          </a:p>
          <a:p>
            <a:pPr lvl="1">
              <a:defRPr/>
            </a:pPr>
            <a:r>
              <a:rPr lang="en-GB" b="1" dirty="0">
                <a:latin typeface="Courier New"/>
                <a:ea typeface="Courier New"/>
              </a:rPr>
              <a:t>mode</a:t>
            </a:r>
            <a:r>
              <a:rPr lang="en-GB" dirty="0"/>
              <a:t> : mode and right of opening.</a:t>
            </a:r>
          </a:p>
          <a:p>
            <a:pPr>
              <a:defRPr/>
            </a:pPr>
            <a:r>
              <a:rPr lang="en-GB" dirty="0"/>
              <a:t>Return value</a:t>
            </a:r>
          </a:p>
          <a:p>
            <a:pPr lvl="1">
              <a:defRPr/>
            </a:pPr>
            <a:r>
              <a:rPr lang="en-GB" dirty="0"/>
              <a:t>A pointer over the logical file is returned. In case of an error the return pointer is </a:t>
            </a:r>
            <a:r>
              <a:rPr lang="en-GB" b="1" dirty="0">
                <a:latin typeface="Courier New"/>
                <a:ea typeface="Courier New"/>
              </a:rPr>
              <a:t>NULL</a:t>
            </a:r>
            <a:r>
              <a:rPr lang="en-GB" dirty="0"/>
              <a:t>.</a:t>
            </a:r>
          </a:p>
          <a:p>
            <a:pPr lvl="1">
              <a:lnSpc>
                <a:spcPct val="100000"/>
              </a:lnSpc>
              <a:buSzPct val="25000"/>
              <a:buFont typeface="StarSymbol"/>
              <a:buChar char=""/>
            </a:pPr>
            <a:endParaRPr lang="en-GB" dirty="0"/>
          </a:p>
          <a:p>
            <a:pPr>
              <a:defRPr/>
            </a:pPr>
            <a:endParaRPr lang="en-GB" dirty="0"/>
          </a:p>
          <a:p>
            <a:pPr lvl="1">
              <a:buSzPct val="25000"/>
              <a:buFont typeface="StarSymbol"/>
              <a:buChar char=""/>
            </a:pPr>
            <a:endParaRPr lang="en-GB" sz="1800" dirty="0"/>
          </a:p>
          <a:p>
            <a:pPr lvl="1">
              <a:buSzPct val="25000"/>
              <a:buFont typeface="StarSymbol"/>
              <a:buChar char=""/>
            </a:pPr>
            <a:endParaRPr lang="en-GB" sz="1800" dirty="0"/>
          </a:p>
          <a:p>
            <a:pPr>
              <a:buSzPct val="25000"/>
              <a:buFont typeface="StarSymbol"/>
              <a:buChar char=""/>
            </a:pPr>
            <a:endParaRPr lang="en-GB" sz="1800" dirty="0"/>
          </a:p>
          <a:p>
            <a:pPr>
              <a:defRPr/>
            </a:pPr>
            <a:endParaRPr lang="en-GB"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291</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74968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a:latin typeface="Arial" charset="0"/>
                <a:cs typeface="ＭＳ Ｐゴシック" charset="0"/>
              </a:rPr>
              <a:t>File close: </a:t>
            </a:r>
            <a:r>
              <a:rPr lang="fr-FR" sz="2800" dirty="0" err="1">
                <a:latin typeface="Courier New"/>
                <a:ea typeface="Courier New"/>
              </a:rPr>
              <a:t>fclose</a:t>
            </a:r>
            <a:r>
              <a:rPr lang="fr-FR" sz="2800" dirty="0">
                <a:latin typeface="Arial" charset="0"/>
                <a:cs typeface="ＭＳ Ｐゴシック" charset="0"/>
              </a:rPr>
              <a:t> </a:t>
            </a:r>
          </a:p>
        </p:txBody>
      </p:sp>
      <p:sp>
        <p:nvSpPr>
          <p:cNvPr id="3" name="Espace réservé du contenu 2"/>
          <p:cNvSpPr>
            <a:spLocks noGrp="1"/>
          </p:cNvSpPr>
          <p:nvPr>
            <p:ph idx="1"/>
          </p:nvPr>
        </p:nvSpPr>
        <p:spPr>
          <a:xfrm>
            <a:off x="287524" y="836712"/>
            <a:ext cx="8856476" cy="5544616"/>
          </a:xfrm>
        </p:spPr>
        <p:txBody>
          <a:bodyPr/>
          <a:lstStyle/>
          <a:p>
            <a:pPr>
              <a:defRPr/>
            </a:pPr>
            <a:r>
              <a:rPr lang="en-GB" dirty="0">
                <a:solidFill>
                  <a:srgbClr val="040001"/>
                </a:solidFill>
              </a:rPr>
              <a:t>Syntax</a:t>
            </a:r>
            <a:endParaRPr lang="en-GB" dirty="0"/>
          </a:p>
          <a:p>
            <a:pPr marL="0" indent="0">
              <a:buNone/>
              <a:defRPr/>
            </a:pPr>
            <a:r>
              <a:rPr lang="en-GB" b="1" dirty="0" err="1">
                <a:latin typeface="Courier New"/>
                <a:ea typeface="Courier New"/>
              </a:rPr>
              <a:t>int</a:t>
            </a:r>
            <a:r>
              <a:rPr lang="en-GB" b="1" dirty="0">
                <a:latin typeface="Courier New"/>
                <a:ea typeface="Courier New"/>
              </a:rPr>
              <a:t> </a:t>
            </a:r>
            <a:r>
              <a:rPr lang="en-GB" b="1" dirty="0" err="1">
                <a:latin typeface="Courier New"/>
                <a:ea typeface="Courier New"/>
              </a:rPr>
              <a:t>fclose</a:t>
            </a:r>
            <a:r>
              <a:rPr lang="en-GB" b="1" dirty="0">
                <a:latin typeface="Courier New"/>
                <a:ea typeface="Courier New"/>
              </a:rPr>
              <a:t>(FILE *file);</a:t>
            </a:r>
          </a:p>
          <a:p>
            <a:pPr marL="0" indent="0">
              <a:buNone/>
              <a:defRPr/>
            </a:pPr>
            <a:r>
              <a:rPr lang="en-GB" sz="1000" b="1" dirty="0">
                <a:latin typeface="Courier New"/>
                <a:ea typeface="Courier New"/>
              </a:rPr>
              <a:t> </a:t>
            </a:r>
            <a:endParaRPr lang="en-GB" sz="1000" dirty="0"/>
          </a:p>
          <a:p>
            <a:pPr>
              <a:defRPr/>
            </a:pPr>
            <a:r>
              <a:rPr lang="en-GB" dirty="0"/>
              <a:t>Function</a:t>
            </a:r>
          </a:p>
          <a:p>
            <a:pPr lvl="1">
              <a:defRPr/>
            </a:pPr>
            <a:r>
              <a:rPr lang="en-GB" dirty="0"/>
              <a:t>Close the logical file pointed out by the pointer passed as argument</a:t>
            </a:r>
          </a:p>
          <a:p>
            <a:pPr lvl="1">
              <a:defRPr/>
            </a:pPr>
            <a:endParaRPr lang="en-GB" sz="1000" dirty="0"/>
          </a:p>
          <a:p>
            <a:pPr>
              <a:defRPr/>
            </a:pPr>
            <a:r>
              <a:rPr lang="en-GB" dirty="0"/>
              <a:t>Return value</a:t>
            </a:r>
          </a:p>
          <a:p>
            <a:pPr lvl="1">
              <a:defRPr/>
            </a:pPr>
            <a:r>
              <a:rPr lang="en-GB" dirty="0"/>
              <a:t>The function return 0 if the file is correctly closed</a:t>
            </a:r>
          </a:p>
          <a:p>
            <a:pPr lvl="1">
              <a:defRPr/>
            </a:pPr>
            <a:r>
              <a:rPr lang="en-GB" dirty="0"/>
              <a:t>It returns the constant </a:t>
            </a:r>
            <a:r>
              <a:rPr lang="en-GB" b="1" dirty="0">
                <a:latin typeface="Courier New"/>
                <a:ea typeface="Courier New"/>
              </a:rPr>
              <a:t>EOF</a:t>
            </a:r>
            <a:r>
              <a:rPr lang="en-GB" dirty="0"/>
              <a:t> , in case of an error</a:t>
            </a:r>
          </a:p>
          <a:p>
            <a:pPr>
              <a:defRPr/>
            </a:pPr>
            <a:endParaRPr lang="en-GB" sz="1000" dirty="0"/>
          </a:p>
          <a:p>
            <a:pPr>
              <a:defRPr/>
            </a:pPr>
            <a:r>
              <a:rPr lang="en-GB" dirty="0">
                <a:solidFill>
                  <a:srgbClr val="FF0000"/>
                </a:solidFill>
              </a:rPr>
              <a:t>ATTENTION :</a:t>
            </a:r>
            <a:r>
              <a:rPr lang="en-GB" dirty="0"/>
              <a:t> it is obligatory to close an opened file in mode write. Otherwise the content is </a:t>
            </a:r>
            <a:r>
              <a:rPr lang="en-GB" dirty="0">
                <a:solidFill>
                  <a:srgbClr val="FF0000"/>
                </a:solidFill>
              </a:rPr>
              <a:t>NOT</a:t>
            </a:r>
            <a:r>
              <a:rPr lang="en-GB" dirty="0"/>
              <a:t> stored!</a:t>
            </a:r>
          </a:p>
          <a:p>
            <a:pPr marL="542925" lvl="1" indent="0">
              <a:lnSpc>
                <a:spcPct val="100000"/>
              </a:lnSpc>
              <a:buSzPct val="25000"/>
              <a:buNone/>
            </a:pPr>
            <a:endParaRPr lang="en-GB" dirty="0"/>
          </a:p>
          <a:p>
            <a:pPr>
              <a:defRPr/>
            </a:pPr>
            <a:endParaRPr lang="en-GB" dirty="0"/>
          </a:p>
          <a:p>
            <a:pPr lvl="1">
              <a:buSzPct val="25000"/>
              <a:buFont typeface="StarSymbol"/>
              <a:buChar char=""/>
            </a:pPr>
            <a:endParaRPr lang="en-GB" sz="1800" dirty="0"/>
          </a:p>
          <a:p>
            <a:pPr lvl="1">
              <a:buSzPct val="25000"/>
              <a:buFont typeface="StarSymbol"/>
              <a:buChar char=""/>
            </a:pPr>
            <a:endParaRPr lang="en-GB" sz="1800" dirty="0"/>
          </a:p>
          <a:p>
            <a:pPr>
              <a:buSzPct val="25000"/>
              <a:buFont typeface="StarSymbol"/>
              <a:buChar char=""/>
            </a:pPr>
            <a:endParaRPr lang="en-GB" sz="1800" dirty="0"/>
          </a:p>
          <a:p>
            <a:pPr>
              <a:defRPr/>
            </a:pPr>
            <a:endParaRPr lang="en-GB"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292</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13702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a:latin typeface="Arial" charset="0"/>
                <a:cs typeface="ＭＳ Ｐゴシック" charset="0"/>
              </a:rPr>
              <a:t>Read </a:t>
            </a:r>
            <a:r>
              <a:rPr lang="fr-FR" sz="2800" dirty="0" err="1">
                <a:latin typeface="Arial" charset="0"/>
                <a:cs typeface="ＭＳ Ｐゴシック" charset="0"/>
              </a:rPr>
              <a:t>from</a:t>
            </a:r>
            <a:r>
              <a:rPr lang="fr-FR" sz="2800" dirty="0">
                <a:latin typeface="Arial" charset="0"/>
                <a:cs typeface="ＭＳ Ｐゴシック" charset="0"/>
              </a:rPr>
              <a:t> a file</a:t>
            </a:r>
          </a:p>
        </p:txBody>
      </p:sp>
      <p:sp>
        <p:nvSpPr>
          <p:cNvPr id="3" name="Espace réservé du contenu 2"/>
          <p:cNvSpPr>
            <a:spLocks noGrp="1"/>
          </p:cNvSpPr>
          <p:nvPr>
            <p:ph idx="1"/>
          </p:nvPr>
        </p:nvSpPr>
        <p:spPr>
          <a:xfrm>
            <a:off x="287524" y="836712"/>
            <a:ext cx="8856476" cy="5544616"/>
          </a:xfrm>
        </p:spPr>
        <p:txBody>
          <a:bodyPr/>
          <a:lstStyle/>
          <a:p>
            <a:pPr>
              <a:defRPr/>
            </a:pPr>
            <a:r>
              <a:rPr lang="en-US" b="1" dirty="0" err="1">
                <a:solidFill>
                  <a:srgbClr val="040001"/>
                </a:solidFill>
                <a:latin typeface="Courier New"/>
                <a:ea typeface="Courier New"/>
              </a:rPr>
              <a:t>int</a:t>
            </a:r>
            <a:r>
              <a:rPr lang="en-US" b="1" dirty="0">
                <a:solidFill>
                  <a:srgbClr val="040001"/>
                </a:solidFill>
                <a:latin typeface="Courier New"/>
                <a:ea typeface="Courier New"/>
              </a:rPr>
              <a:t> </a:t>
            </a:r>
            <a:r>
              <a:rPr lang="en-US" b="1" dirty="0" err="1">
                <a:solidFill>
                  <a:srgbClr val="040001"/>
                </a:solidFill>
                <a:latin typeface="Courier New"/>
                <a:ea typeface="Courier New"/>
              </a:rPr>
              <a:t>getc</a:t>
            </a:r>
            <a:r>
              <a:rPr lang="en-US" b="1" dirty="0">
                <a:solidFill>
                  <a:srgbClr val="040001"/>
                </a:solidFill>
                <a:latin typeface="Courier New"/>
                <a:ea typeface="Courier New"/>
              </a:rPr>
              <a:t> (FILE * file); </a:t>
            </a:r>
            <a:endParaRPr lang="en-US" dirty="0"/>
          </a:p>
          <a:p>
            <a:pPr lvl="1">
              <a:defRPr/>
            </a:pPr>
            <a:r>
              <a:rPr lang="en-US" dirty="0">
                <a:solidFill>
                  <a:srgbClr val="040001"/>
                </a:solidFill>
              </a:rPr>
              <a:t>Read a character from the file pointed by </a:t>
            </a:r>
            <a:r>
              <a:rPr lang="en-US" b="1" dirty="0">
                <a:solidFill>
                  <a:srgbClr val="040001"/>
                </a:solidFill>
                <a:latin typeface="Courier New"/>
                <a:ea typeface="Courier New"/>
              </a:rPr>
              <a:t>file</a:t>
            </a:r>
          </a:p>
          <a:p>
            <a:pPr lvl="1">
              <a:defRPr/>
            </a:pPr>
            <a:r>
              <a:rPr lang="en-US" dirty="0"/>
              <a:t>Advances the position indicator for the file.</a:t>
            </a:r>
            <a:endParaRPr lang="en-US" b="1" dirty="0">
              <a:solidFill>
                <a:srgbClr val="040001"/>
              </a:solidFill>
              <a:latin typeface="Courier New"/>
              <a:ea typeface="Courier New"/>
            </a:endParaRPr>
          </a:p>
          <a:p>
            <a:pPr lvl="1">
              <a:defRPr/>
            </a:pPr>
            <a:r>
              <a:rPr lang="en-US" dirty="0">
                <a:solidFill>
                  <a:srgbClr val="040001"/>
                </a:solidFill>
              </a:rPr>
              <a:t>Returns:</a:t>
            </a:r>
          </a:p>
          <a:p>
            <a:pPr lvl="2">
              <a:defRPr/>
            </a:pPr>
            <a:r>
              <a:rPr lang="en-US" dirty="0">
                <a:solidFill>
                  <a:srgbClr val="040001"/>
                </a:solidFill>
              </a:rPr>
              <a:t>the</a:t>
            </a:r>
            <a:r>
              <a:rPr lang="en-US" dirty="0"/>
              <a:t> character read as an unsigned char cast to an </a:t>
            </a:r>
            <a:r>
              <a:rPr lang="en-US" dirty="0" err="1"/>
              <a:t>int</a:t>
            </a:r>
            <a:endParaRPr lang="en-US" dirty="0"/>
          </a:p>
          <a:p>
            <a:pPr lvl="2">
              <a:defRPr/>
            </a:pPr>
            <a:r>
              <a:rPr lang="en-US" dirty="0">
                <a:solidFill>
                  <a:srgbClr val="040001"/>
                </a:solidFill>
              </a:rPr>
              <a:t>the constant </a:t>
            </a:r>
            <a:r>
              <a:rPr lang="en-US" b="1" dirty="0">
                <a:solidFill>
                  <a:srgbClr val="040001"/>
                </a:solidFill>
                <a:latin typeface="Courier New"/>
                <a:ea typeface="Courier New"/>
              </a:rPr>
              <a:t>EOF</a:t>
            </a:r>
            <a:r>
              <a:rPr lang="en-US" dirty="0">
                <a:solidFill>
                  <a:srgbClr val="040001"/>
                </a:solidFill>
              </a:rPr>
              <a:t> in case of an error.</a:t>
            </a:r>
          </a:p>
          <a:p>
            <a:pPr lvl="1">
              <a:defRPr/>
            </a:pPr>
            <a:r>
              <a:rPr lang="en-US" b="1" dirty="0" err="1">
                <a:latin typeface="Courier"/>
                <a:cs typeface="Courier"/>
              </a:rPr>
              <a:t>getchar</a:t>
            </a:r>
            <a:r>
              <a:rPr lang="en-US" b="1" dirty="0">
                <a:latin typeface="Courier"/>
                <a:cs typeface="Courier"/>
              </a:rPr>
              <a:t>()</a:t>
            </a:r>
            <a:r>
              <a:rPr lang="en-US" b="1" dirty="0"/>
              <a:t> </a:t>
            </a:r>
            <a:r>
              <a:rPr lang="en-US" dirty="0"/>
              <a:t>is equal to </a:t>
            </a:r>
            <a:r>
              <a:rPr lang="en-US" b="1" dirty="0" err="1">
                <a:latin typeface="Courier"/>
                <a:cs typeface="Courier"/>
              </a:rPr>
              <a:t>getc</a:t>
            </a:r>
            <a:r>
              <a:rPr lang="en-US" b="1" dirty="0">
                <a:latin typeface="Courier"/>
                <a:cs typeface="Courier"/>
              </a:rPr>
              <a:t>(</a:t>
            </a:r>
            <a:r>
              <a:rPr lang="en-US" b="1" dirty="0" err="1">
                <a:latin typeface="Courier"/>
                <a:cs typeface="Courier"/>
              </a:rPr>
              <a:t>stdin</a:t>
            </a:r>
            <a:r>
              <a:rPr lang="en-US" b="1" dirty="0">
                <a:latin typeface="Courier"/>
                <a:cs typeface="Courier"/>
              </a:rPr>
              <a:t>)</a:t>
            </a:r>
          </a:p>
          <a:p>
            <a:pPr lvl="1">
              <a:defRPr/>
            </a:pPr>
            <a:endParaRPr lang="en-US" b="1" dirty="0">
              <a:latin typeface="Courier"/>
              <a:cs typeface="Courier"/>
            </a:endParaRPr>
          </a:p>
          <a:p>
            <a:pPr>
              <a:defRPr/>
            </a:pPr>
            <a:r>
              <a:rPr lang="en-US" b="1" dirty="0" err="1">
                <a:solidFill>
                  <a:srgbClr val="040001"/>
                </a:solidFill>
                <a:latin typeface="Courier New"/>
                <a:ea typeface="Courier New"/>
              </a:rPr>
              <a:t>int</a:t>
            </a:r>
            <a:r>
              <a:rPr lang="en-US" b="1" dirty="0">
                <a:solidFill>
                  <a:srgbClr val="040001"/>
                </a:solidFill>
                <a:latin typeface="Courier New"/>
                <a:ea typeface="Courier New"/>
              </a:rPr>
              <a:t> </a:t>
            </a:r>
            <a:r>
              <a:rPr lang="en-US" b="1" dirty="0" err="1">
                <a:solidFill>
                  <a:srgbClr val="040001"/>
                </a:solidFill>
                <a:latin typeface="Courier New"/>
                <a:ea typeface="Courier New"/>
              </a:rPr>
              <a:t>fscanf</a:t>
            </a:r>
            <a:r>
              <a:rPr lang="en-US" b="1" dirty="0">
                <a:solidFill>
                  <a:srgbClr val="040001"/>
                </a:solidFill>
                <a:latin typeface="Courier New"/>
                <a:ea typeface="Courier New"/>
              </a:rPr>
              <a:t>(FILE *file, char *format, </a:t>
            </a:r>
            <a:r>
              <a:rPr lang="en-US" b="1" dirty="0" err="1">
                <a:solidFill>
                  <a:srgbClr val="040001"/>
                </a:solidFill>
                <a:latin typeface="Courier New"/>
                <a:ea typeface="Courier New"/>
              </a:rPr>
              <a:t>list_args</a:t>
            </a:r>
            <a:r>
              <a:rPr lang="en-US" b="1" dirty="0">
                <a:solidFill>
                  <a:srgbClr val="040001"/>
                </a:solidFill>
                <a:latin typeface="Courier New"/>
                <a:ea typeface="Courier New"/>
              </a:rPr>
              <a:t>);</a:t>
            </a:r>
            <a:r>
              <a:rPr lang="en-US" b="1" dirty="0">
                <a:latin typeface="Courier New"/>
                <a:ea typeface="Courier New"/>
              </a:rPr>
              <a:t> </a:t>
            </a:r>
            <a:endParaRPr lang="en-US" dirty="0"/>
          </a:p>
          <a:p>
            <a:pPr lvl="1">
              <a:defRPr/>
            </a:pPr>
            <a:r>
              <a:rPr lang="en-US" dirty="0"/>
              <a:t>Works as </a:t>
            </a:r>
            <a:r>
              <a:rPr lang="en-US" b="1" dirty="0" err="1">
                <a:latin typeface="Courier New"/>
                <a:ea typeface="Courier New"/>
              </a:rPr>
              <a:t>scanf</a:t>
            </a:r>
            <a:r>
              <a:rPr lang="en-US" b="1" dirty="0">
                <a:latin typeface="Courier New"/>
                <a:ea typeface="Courier New"/>
              </a:rPr>
              <a:t>()</a:t>
            </a:r>
            <a:r>
              <a:rPr lang="en-US" dirty="0"/>
              <a:t>, but the read is performed from the file pointed by  </a:t>
            </a:r>
            <a:r>
              <a:rPr lang="en-US" b="1" dirty="0">
                <a:latin typeface="Courier New"/>
                <a:ea typeface="Courier New"/>
              </a:rPr>
              <a:t>file</a:t>
            </a:r>
            <a:r>
              <a:rPr lang="en-US" dirty="0"/>
              <a:t> instead of the standard input</a:t>
            </a: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293</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4663648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a:latin typeface="Arial" charset="0"/>
                <a:cs typeface="ＭＳ Ｐゴシック" charset="0"/>
              </a:rPr>
              <a:t>Read </a:t>
            </a:r>
            <a:r>
              <a:rPr lang="fr-FR" sz="2800" dirty="0" err="1">
                <a:latin typeface="Arial" charset="0"/>
                <a:cs typeface="ＭＳ Ｐゴシック" charset="0"/>
              </a:rPr>
              <a:t>from</a:t>
            </a:r>
            <a:r>
              <a:rPr lang="fr-FR" sz="2800" dirty="0">
                <a:latin typeface="Arial" charset="0"/>
                <a:cs typeface="ＭＳ Ｐゴシック" charset="0"/>
              </a:rPr>
              <a:t> a file</a:t>
            </a:r>
          </a:p>
        </p:txBody>
      </p:sp>
      <p:sp>
        <p:nvSpPr>
          <p:cNvPr id="3" name="Espace réservé du contenu 2"/>
          <p:cNvSpPr>
            <a:spLocks noGrp="1"/>
          </p:cNvSpPr>
          <p:nvPr>
            <p:ph idx="1"/>
          </p:nvPr>
        </p:nvSpPr>
        <p:spPr>
          <a:xfrm>
            <a:off x="287524" y="836712"/>
            <a:ext cx="8856476" cy="5544616"/>
          </a:xfrm>
        </p:spPr>
        <p:txBody>
          <a:bodyPr/>
          <a:lstStyle/>
          <a:p>
            <a:pPr>
              <a:defRPr/>
            </a:pPr>
            <a:r>
              <a:rPr lang="en-US" sz="2400" b="1" dirty="0" err="1">
                <a:solidFill>
                  <a:srgbClr val="040001"/>
                </a:solidFill>
                <a:latin typeface="Courier New"/>
                <a:ea typeface="Courier New"/>
              </a:rPr>
              <a:t>int</a:t>
            </a:r>
            <a:r>
              <a:rPr lang="en-US" sz="2400" b="1" dirty="0">
                <a:solidFill>
                  <a:srgbClr val="040001"/>
                </a:solidFill>
                <a:latin typeface="Courier New"/>
                <a:ea typeface="Courier New"/>
              </a:rPr>
              <a:t> </a:t>
            </a:r>
            <a:r>
              <a:rPr lang="en-US" sz="2400" b="1" dirty="0" err="1">
                <a:solidFill>
                  <a:srgbClr val="040001"/>
                </a:solidFill>
                <a:latin typeface="Courier New"/>
                <a:ea typeface="Courier New"/>
              </a:rPr>
              <a:t>fread</a:t>
            </a:r>
            <a:r>
              <a:rPr lang="en-US" sz="2400" b="1" dirty="0">
                <a:solidFill>
                  <a:srgbClr val="040001"/>
                </a:solidFill>
                <a:latin typeface="Courier New"/>
                <a:ea typeface="Courier New"/>
              </a:rPr>
              <a:t>(void *</a:t>
            </a:r>
            <a:r>
              <a:rPr lang="en-US" sz="2400" b="1" dirty="0" err="1">
                <a:solidFill>
                  <a:srgbClr val="040001"/>
                </a:solidFill>
                <a:latin typeface="Courier New"/>
                <a:ea typeface="Courier New"/>
              </a:rPr>
              <a:t>buf</a:t>
            </a:r>
            <a:r>
              <a:rPr lang="en-US" sz="2400" b="1" dirty="0">
                <a:solidFill>
                  <a:srgbClr val="040001"/>
                </a:solidFill>
                <a:latin typeface="Courier New"/>
                <a:ea typeface="Courier New"/>
              </a:rPr>
              <a:t>, </a:t>
            </a:r>
            <a:r>
              <a:rPr lang="en-US" sz="2400" b="1" dirty="0" err="1">
                <a:solidFill>
                  <a:srgbClr val="040001"/>
                </a:solidFill>
                <a:latin typeface="Courier New"/>
                <a:ea typeface="Courier New"/>
              </a:rPr>
              <a:t>int</a:t>
            </a:r>
            <a:r>
              <a:rPr lang="en-US" sz="2400" b="1" dirty="0">
                <a:solidFill>
                  <a:srgbClr val="040001"/>
                </a:solidFill>
                <a:latin typeface="Courier New"/>
                <a:ea typeface="Courier New"/>
              </a:rPr>
              <a:t> size, </a:t>
            </a:r>
            <a:r>
              <a:rPr lang="en-US" sz="2400" b="1" dirty="0" err="1">
                <a:solidFill>
                  <a:srgbClr val="040001"/>
                </a:solidFill>
                <a:latin typeface="Courier New"/>
                <a:ea typeface="Courier New"/>
              </a:rPr>
              <a:t>int</a:t>
            </a:r>
            <a:r>
              <a:rPr lang="en-US" sz="2400" b="1" dirty="0">
                <a:solidFill>
                  <a:srgbClr val="040001"/>
                </a:solidFill>
                <a:latin typeface="Courier New"/>
                <a:ea typeface="Courier New"/>
              </a:rPr>
              <a:t> </a:t>
            </a:r>
            <a:r>
              <a:rPr lang="en-US" sz="2400" b="1" dirty="0" err="1">
                <a:solidFill>
                  <a:srgbClr val="040001"/>
                </a:solidFill>
                <a:latin typeface="Courier New"/>
                <a:ea typeface="Courier New"/>
              </a:rPr>
              <a:t>nb</a:t>
            </a:r>
            <a:r>
              <a:rPr lang="en-US" sz="2400" b="1" dirty="0">
                <a:solidFill>
                  <a:srgbClr val="040001"/>
                </a:solidFill>
                <a:latin typeface="Courier New"/>
                <a:ea typeface="Courier New"/>
              </a:rPr>
              <a:t>, FILE *file);</a:t>
            </a:r>
            <a:r>
              <a:rPr lang="en-US" dirty="0">
                <a:solidFill>
                  <a:srgbClr val="040001"/>
                </a:solidFill>
              </a:rPr>
              <a:t> </a:t>
            </a:r>
          </a:p>
          <a:p>
            <a:pPr lvl="1">
              <a:defRPr/>
            </a:pPr>
            <a:r>
              <a:rPr lang="en-US" dirty="0">
                <a:solidFill>
                  <a:srgbClr val="040001"/>
                </a:solidFill>
              </a:rPr>
              <a:t>Read the packets of data stored to the file pointed by </a:t>
            </a:r>
            <a:r>
              <a:rPr lang="en-US" b="1" dirty="0">
                <a:solidFill>
                  <a:srgbClr val="040001"/>
                </a:solidFill>
                <a:latin typeface="Courier"/>
                <a:cs typeface="Courier"/>
              </a:rPr>
              <a:t>file</a:t>
            </a:r>
            <a:r>
              <a:rPr lang="en-US" dirty="0">
                <a:solidFill>
                  <a:srgbClr val="040001"/>
                </a:solidFill>
                <a:cs typeface="Courier"/>
              </a:rPr>
              <a:t> and write them to a </a:t>
            </a:r>
            <a:r>
              <a:rPr lang="en-US" dirty="0">
                <a:solidFill>
                  <a:srgbClr val="040001"/>
                </a:solidFill>
              </a:rPr>
              <a:t>buffer pointed by the pointer </a:t>
            </a:r>
            <a:r>
              <a:rPr lang="en-US" b="1" dirty="0" err="1">
                <a:solidFill>
                  <a:srgbClr val="040001"/>
                </a:solidFill>
                <a:latin typeface="Courier"/>
                <a:cs typeface="Courier"/>
              </a:rPr>
              <a:t>buf</a:t>
            </a:r>
            <a:r>
              <a:rPr lang="en-US" dirty="0">
                <a:solidFill>
                  <a:srgbClr val="040001"/>
                </a:solidFill>
              </a:rPr>
              <a:t> </a:t>
            </a:r>
          </a:p>
          <a:p>
            <a:pPr lvl="1">
              <a:defRPr/>
            </a:pPr>
            <a:r>
              <a:rPr lang="en-US" dirty="0">
                <a:solidFill>
                  <a:srgbClr val="040001"/>
                </a:solidFill>
                <a:cs typeface="Courier"/>
              </a:rPr>
              <a:t>The </a:t>
            </a:r>
            <a:r>
              <a:rPr lang="en-US" dirty="0">
                <a:solidFill>
                  <a:srgbClr val="040001"/>
                </a:solidFill>
              </a:rPr>
              <a:t>parameter </a:t>
            </a:r>
            <a:r>
              <a:rPr lang="en-US" b="1" dirty="0">
                <a:solidFill>
                  <a:srgbClr val="040001"/>
                </a:solidFill>
                <a:latin typeface="Courier New"/>
                <a:ea typeface="Courier New"/>
              </a:rPr>
              <a:t>size</a:t>
            </a:r>
            <a:r>
              <a:rPr lang="en-US" dirty="0">
                <a:solidFill>
                  <a:srgbClr val="040001"/>
                </a:solidFill>
              </a:rPr>
              <a:t> gives the size of each packet</a:t>
            </a:r>
          </a:p>
          <a:p>
            <a:pPr lvl="1">
              <a:defRPr/>
            </a:pPr>
            <a:r>
              <a:rPr lang="en-US" dirty="0">
                <a:solidFill>
                  <a:srgbClr val="040001"/>
                </a:solidFill>
                <a:cs typeface="Courier"/>
              </a:rPr>
              <a:t>The </a:t>
            </a:r>
            <a:r>
              <a:rPr lang="en-US" dirty="0">
                <a:solidFill>
                  <a:srgbClr val="040001"/>
                </a:solidFill>
              </a:rPr>
              <a:t>parameter </a:t>
            </a:r>
            <a:r>
              <a:rPr lang="en-US" b="1" dirty="0" err="1">
                <a:solidFill>
                  <a:srgbClr val="040001"/>
                </a:solidFill>
                <a:latin typeface="Courier New"/>
                <a:ea typeface="Courier New"/>
              </a:rPr>
              <a:t>nb</a:t>
            </a:r>
            <a:r>
              <a:rPr lang="en-US" dirty="0">
                <a:solidFill>
                  <a:srgbClr val="040001"/>
                </a:solidFill>
              </a:rPr>
              <a:t> indicates the number of packets to write</a:t>
            </a:r>
            <a:endParaRPr lang="en-US" dirty="0"/>
          </a:p>
          <a:p>
            <a:pPr lvl="1">
              <a:defRPr/>
            </a:pPr>
            <a:r>
              <a:rPr lang="en-US" dirty="0">
                <a:solidFill>
                  <a:srgbClr val="040001"/>
                </a:solidFill>
              </a:rPr>
              <a:t>Return the number of packets read from the file, 0 if we have reached the end of the file</a:t>
            </a:r>
            <a:endParaRPr lang="en-US" dirty="0"/>
          </a:p>
          <a:p>
            <a:pPr lvl="1">
              <a:defRPr/>
            </a:pPr>
            <a:r>
              <a:rPr lang="en-US" dirty="0">
                <a:solidFill>
                  <a:srgbClr val="FF0033"/>
                </a:solidFill>
              </a:rPr>
              <a:t>Attention</a:t>
            </a:r>
            <a:r>
              <a:rPr lang="en-US" dirty="0">
                <a:solidFill>
                  <a:srgbClr val="040001"/>
                </a:solidFill>
              </a:rPr>
              <a:t> : the buffer pointer by </a:t>
            </a:r>
            <a:r>
              <a:rPr lang="en-US" b="1" dirty="0" err="1">
                <a:solidFill>
                  <a:srgbClr val="040001"/>
                </a:solidFill>
                <a:latin typeface="Courier New"/>
                <a:ea typeface="Courier New"/>
              </a:rPr>
              <a:t>buf</a:t>
            </a:r>
            <a:r>
              <a:rPr lang="en-US" dirty="0">
                <a:solidFill>
                  <a:srgbClr val="040001"/>
                </a:solidFill>
              </a:rPr>
              <a:t> should be large enough to store all the packets read!</a:t>
            </a:r>
            <a:endParaRPr lang="en-US"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294</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842944592"/>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err="1">
                <a:latin typeface="Arial" charset="0"/>
                <a:cs typeface="ＭＳ Ｐゴシック" charset="0"/>
              </a:rPr>
              <a:t>Write</a:t>
            </a:r>
            <a:r>
              <a:rPr lang="fr-FR" sz="2800" dirty="0">
                <a:latin typeface="Arial" charset="0"/>
                <a:cs typeface="ＭＳ Ｐゴシック" charset="0"/>
              </a:rPr>
              <a:t> to a file</a:t>
            </a:r>
          </a:p>
        </p:txBody>
      </p:sp>
      <p:sp>
        <p:nvSpPr>
          <p:cNvPr id="3" name="Espace réservé du contenu 2"/>
          <p:cNvSpPr>
            <a:spLocks noGrp="1"/>
          </p:cNvSpPr>
          <p:nvPr>
            <p:ph idx="1"/>
          </p:nvPr>
        </p:nvSpPr>
        <p:spPr>
          <a:xfrm>
            <a:off x="287524" y="836712"/>
            <a:ext cx="8856476" cy="5544616"/>
          </a:xfrm>
        </p:spPr>
        <p:txBody>
          <a:bodyPr/>
          <a:lstStyle/>
          <a:p>
            <a:pPr>
              <a:defRPr/>
            </a:pPr>
            <a:r>
              <a:rPr lang="en-GB" b="1" dirty="0" err="1">
                <a:solidFill>
                  <a:srgbClr val="040001"/>
                </a:solidFill>
                <a:latin typeface="Courier New"/>
                <a:ea typeface="Courier New"/>
              </a:rPr>
              <a:t>int</a:t>
            </a:r>
            <a:r>
              <a:rPr lang="en-GB" b="1" dirty="0">
                <a:solidFill>
                  <a:srgbClr val="040001"/>
                </a:solidFill>
                <a:latin typeface="Courier New"/>
                <a:ea typeface="Courier New"/>
              </a:rPr>
              <a:t> </a:t>
            </a:r>
            <a:r>
              <a:rPr lang="en-GB" b="1" dirty="0" err="1">
                <a:solidFill>
                  <a:srgbClr val="040001"/>
                </a:solidFill>
                <a:latin typeface="Courier New"/>
                <a:ea typeface="Courier New"/>
              </a:rPr>
              <a:t>putc</a:t>
            </a:r>
            <a:r>
              <a:rPr lang="en-GB" b="1" dirty="0">
                <a:solidFill>
                  <a:srgbClr val="040001"/>
                </a:solidFill>
                <a:latin typeface="Courier New"/>
                <a:ea typeface="Courier New"/>
              </a:rPr>
              <a:t> (</a:t>
            </a:r>
            <a:r>
              <a:rPr lang="en-GB" b="1" dirty="0" err="1">
                <a:solidFill>
                  <a:srgbClr val="040001"/>
                </a:solidFill>
                <a:latin typeface="Courier New"/>
                <a:ea typeface="Courier New"/>
              </a:rPr>
              <a:t>int</a:t>
            </a:r>
            <a:r>
              <a:rPr lang="en-GB" b="1" dirty="0">
                <a:solidFill>
                  <a:srgbClr val="040001"/>
                </a:solidFill>
                <a:latin typeface="Courier New"/>
                <a:ea typeface="Courier New"/>
              </a:rPr>
              <a:t> c, FILE * file);</a:t>
            </a:r>
            <a:endParaRPr lang="en-GB" dirty="0"/>
          </a:p>
          <a:p>
            <a:pPr lvl="1">
              <a:defRPr/>
            </a:pPr>
            <a:r>
              <a:rPr lang="en-GB" dirty="0">
                <a:solidFill>
                  <a:srgbClr val="040001"/>
                </a:solidFill>
              </a:rPr>
              <a:t>Write a character </a:t>
            </a:r>
            <a:r>
              <a:rPr lang="en-GB" b="1" dirty="0">
                <a:solidFill>
                  <a:srgbClr val="040001"/>
                </a:solidFill>
                <a:latin typeface="Courier New"/>
                <a:ea typeface="Courier New"/>
              </a:rPr>
              <a:t>c</a:t>
            </a:r>
            <a:r>
              <a:rPr lang="en-GB" dirty="0">
                <a:solidFill>
                  <a:srgbClr val="040001"/>
                </a:solidFill>
              </a:rPr>
              <a:t> (converted in </a:t>
            </a:r>
            <a:r>
              <a:rPr lang="en-GB" b="1" dirty="0">
                <a:solidFill>
                  <a:srgbClr val="040001"/>
                </a:solidFill>
                <a:latin typeface="Courier"/>
                <a:cs typeface="Courier"/>
              </a:rPr>
              <a:t>unsigned </a:t>
            </a:r>
            <a:r>
              <a:rPr lang="en-GB" b="1" dirty="0">
                <a:solidFill>
                  <a:srgbClr val="040001"/>
                </a:solidFill>
                <a:latin typeface="Courier New"/>
                <a:ea typeface="Courier New"/>
              </a:rPr>
              <a:t>char</a:t>
            </a:r>
            <a:r>
              <a:rPr lang="en-GB" dirty="0">
                <a:solidFill>
                  <a:srgbClr val="040001"/>
                </a:solidFill>
              </a:rPr>
              <a:t>) in the file pointed by </a:t>
            </a:r>
            <a:r>
              <a:rPr lang="en-GB" b="1" dirty="0">
                <a:solidFill>
                  <a:srgbClr val="040001"/>
                </a:solidFill>
                <a:latin typeface="Courier New"/>
                <a:ea typeface="Courier New"/>
              </a:rPr>
              <a:t>file</a:t>
            </a:r>
            <a:endParaRPr lang="en-GB" dirty="0">
              <a:solidFill>
                <a:srgbClr val="040001"/>
              </a:solidFill>
            </a:endParaRPr>
          </a:p>
          <a:p>
            <a:pPr lvl="1">
              <a:defRPr/>
            </a:pPr>
            <a:r>
              <a:rPr lang="en-GB" dirty="0"/>
              <a:t>Advances the position indicator for the stream</a:t>
            </a:r>
            <a:endParaRPr lang="en-GB" dirty="0">
              <a:solidFill>
                <a:srgbClr val="040001"/>
              </a:solidFill>
            </a:endParaRPr>
          </a:p>
          <a:p>
            <a:pPr lvl="1">
              <a:defRPr/>
            </a:pPr>
            <a:r>
              <a:rPr lang="en-GB" dirty="0">
                <a:solidFill>
                  <a:srgbClr val="040001"/>
                </a:solidFill>
              </a:rPr>
              <a:t>Returns:</a:t>
            </a:r>
          </a:p>
          <a:p>
            <a:pPr lvl="2">
              <a:defRPr/>
            </a:pPr>
            <a:r>
              <a:rPr lang="en-GB" dirty="0"/>
              <a:t>returns the character written as an unsigned char cast to an </a:t>
            </a:r>
            <a:r>
              <a:rPr lang="en-GB" dirty="0" err="1"/>
              <a:t>int</a:t>
            </a:r>
            <a:endParaRPr lang="en-GB" dirty="0"/>
          </a:p>
          <a:p>
            <a:pPr lvl="2">
              <a:defRPr/>
            </a:pPr>
            <a:r>
              <a:rPr lang="en-GB" dirty="0">
                <a:solidFill>
                  <a:srgbClr val="040001"/>
                </a:solidFill>
              </a:rPr>
              <a:t>the constant value </a:t>
            </a:r>
            <a:r>
              <a:rPr lang="en-GB" b="1" dirty="0">
                <a:solidFill>
                  <a:srgbClr val="040001"/>
                </a:solidFill>
                <a:latin typeface="Courier New"/>
                <a:ea typeface="Courier New"/>
              </a:rPr>
              <a:t>EOF</a:t>
            </a:r>
            <a:r>
              <a:rPr lang="en-GB" dirty="0">
                <a:solidFill>
                  <a:srgbClr val="040001"/>
                </a:solidFill>
              </a:rPr>
              <a:t> in case of an error</a:t>
            </a:r>
          </a:p>
          <a:p>
            <a:pPr lvl="1">
              <a:defRPr/>
            </a:pPr>
            <a:r>
              <a:rPr lang="en-GB" b="1" dirty="0" err="1">
                <a:latin typeface="Courier"/>
                <a:cs typeface="Courier"/>
              </a:rPr>
              <a:t>putchar</a:t>
            </a:r>
            <a:r>
              <a:rPr lang="en-GB" b="1" dirty="0">
                <a:latin typeface="Courier"/>
                <a:cs typeface="Courier"/>
              </a:rPr>
              <a:t>()</a:t>
            </a:r>
            <a:r>
              <a:rPr lang="en-GB" dirty="0"/>
              <a:t> is equivalent to </a:t>
            </a:r>
            <a:r>
              <a:rPr lang="en-GB" b="1" dirty="0" err="1">
                <a:latin typeface="Courier"/>
                <a:cs typeface="Courier"/>
              </a:rPr>
              <a:t>putc</a:t>
            </a:r>
            <a:r>
              <a:rPr lang="en-GB" b="1" dirty="0">
                <a:latin typeface="Courier"/>
                <a:cs typeface="Courier"/>
              </a:rPr>
              <a:t>(c, </a:t>
            </a:r>
            <a:r>
              <a:rPr lang="en-GB" b="1" dirty="0" err="1">
                <a:latin typeface="Courier"/>
                <a:cs typeface="Courier"/>
              </a:rPr>
              <a:t>stdout</a:t>
            </a:r>
            <a:r>
              <a:rPr lang="en-GB" b="1" dirty="0">
                <a:latin typeface="Courier"/>
                <a:cs typeface="Courier"/>
              </a:rPr>
              <a:t>)</a:t>
            </a:r>
            <a:r>
              <a:rPr lang="en-GB" dirty="0"/>
              <a:t>.</a:t>
            </a:r>
          </a:p>
          <a:p>
            <a:pPr lvl="1">
              <a:defRPr/>
            </a:pPr>
            <a:endParaRPr lang="en-GB" dirty="0"/>
          </a:p>
          <a:p>
            <a:pPr>
              <a:defRPr/>
            </a:pPr>
            <a:r>
              <a:rPr lang="en-GB" b="1" dirty="0" err="1">
                <a:solidFill>
                  <a:srgbClr val="040001"/>
                </a:solidFill>
                <a:latin typeface="Courier New"/>
                <a:ea typeface="Courier New"/>
              </a:rPr>
              <a:t>int</a:t>
            </a:r>
            <a:r>
              <a:rPr lang="en-GB" b="1" dirty="0">
                <a:solidFill>
                  <a:srgbClr val="040001"/>
                </a:solidFill>
                <a:latin typeface="Courier New"/>
                <a:ea typeface="Courier New"/>
              </a:rPr>
              <a:t> </a:t>
            </a:r>
            <a:r>
              <a:rPr lang="en-GB" b="1" dirty="0" err="1">
                <a:solidFill>
                  <a:srgbClr val="040001"/>
                </a:solidFill>
                <a:latin typeface="Courier New"/>
                <a:ea typeface="Courier New"/>
              </a:rPr>
              <a:t>fprintf</a:t>
            </a:r>
            <a:r>
              <a:rPr lang="en-GB" b="1" dirty="0">
                <a:solidFill>
                  <a:srgbClr val="040001"/>
                </a:solidFill>
                <a:latin typeface="Courier New"/>
                <a:ea typeface="Courier New"/>
              </a:rPr>
              <a:t>(FILE *file, char *format, </a:t>
            </a:r>
            <a:r>
              <a:rPr lang="en-GB" b="1" dirty="0" err="1">
                <a:solidFill>
                  <a:srgbClr val="040001"/>
                </a:solidFill>
                <a:latin typeface="Courier New"/>
                <a:ea typeface="Courier New"/>
              </a:rPr>
              <a:t>list_args</a:t>
            </a:r>
            <a:r>
              <a:rPr lang="en-GB" b="1" dirty="0">
                <a:solidFill>
                  <a:srgbClr val="040001"/>
                </a:solidFill>
                <a:latin typeface="Courier New"/>
                <a:ea typeface="Courier New"/>
              </a:rPr>
              <a:t>);</a:t>
            </a:r>
            <a:r>
              <a:rPr lang="en-GB" b="1" dirty="0">
                <a:latin typeface="Courier New"/>
                <a:ea typeface="Courier New"/>
              </a:rPr>
              <a:t> </a:t>
            </a:r>
            <a:endParaRPr lang="en-GB" dirty="0"/>
          </a:p>
          <a:p>
            <a:pPr lvl="1">
              <a:defRPr/>
            </a:pPr>
            <a:r>
              <a:rPr lang="en-GB" dirty="0"/>
              <a:t>Works like </a:t>
            </a:r>
            <a:r>
              <a:rPr lang="en-GB" b="1" dirty="0" err="1">
                <a:latin typeface="Courier New"/>
                <a:ea typeface="Courier New"/>
              </a:rPr>
              <a:t>printf</a:t>
            </a:r>
            <a:r>
              <a:rPr lang="en-GB" b="1" dirty="0">
                <a:latin typeface="Courier New"/>
                <a:ea typeface="Courier New"/>
              </a:rPr>
              <a:t>()</a:t>
            </a:r>
            <a:r>
              <a:rPr lang="en-GB" dirty="0"/>
              <a:t>, but the writing is performed into the file pointed by </a:t>
            </a:r>
            <a:r>
              <a:rPr lang="en-GB" b="1" dirty="0">
                <a:latin typeface="Courier"/>
                <a:cs typeface="Courier"/>
              </a:rPr>
              <a:t>file</a:t>
            </a:r>
            <a:r>
              <a:rPr lang="en-GB" dirty="0"/>
              <a:t> instead of the standard output</a:t>
            </a:r>
          </a:p>
          <a:p>
            <a:pPr lvl="1">
              <a:buSzPct val="25000"/>
              <a:buFont typeface="StarSymbol"/>
              <a:buChar char=""/>
            </a:pPr>
            <a:endParaRPr lang="en-GB" sz="1800" dirty="0"/>
          </a:p>
          <a:p>
            <a:pPr lvl="1">
              <a:buSzPct val="25000"/>
              <a:buFont typeface="StarSymbol"/>
              <a:buChar char=""/>
            </a:pPr>
            <a:endParaRPr lang="en-GB" sz="1800" dirty="0"/>
          </a:p>
          <a:p>
            <a:pPr>
              <a:buSzPct val="25000"/>
              <a:buFont typeface="StarSymbol"/>
              <a:buChar char=""/>
            </a:pPr>
            <a:endParaRPr lang="en-GB" sz="1800" dirty="0"/>
          </a:p>
          <a:p>
            <a:pPr>
              <a:defRPr/>
            </a:pPr>
            <a:endParaRPr lang="en-GB"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295</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24798643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re 1"/>
          <p:cNvSpPr>
            <a:spLocks noGrp="1"/>
          </p:cNvSpPr>
          <p:nvPr>
            <p:ph type="title"/>
          </p:nvPr>
        </p:nvSpPr>
        <p:spPr/>
        <p:txBody>
          <a:bodyPr/>
          <a:lstStyle/>
          <a:p>
            <a:r>
              <a:rPr lang="fr-FR" sz="2800" dirty="0" err="1">
                <a:latin typeface="Arial" charset="0"/>
                <a:cs typeface="ＭＳ Ｐゴシック" charset="0"/>
              </a:rPr>
              <a:t>Write</a:t>
            </a:r>
            <a:r>
              <a:rPr lang="fr-FR" sz="2800" dirty="0">
                <a:latin typeface="Arial" charset="0"/>
                <a:cs typeface="ＭＳ Ｐゴシック" charset="0"/>
              </a:rPr>
              <a:t> to a file</a:t>
            </a:r>
          </a:p>
        </p:txBody>
      </p:sp>
      <p:sp>
        <p:nvSpPr>
          <p:cNvPr id="3" name="Espace réservé du contenu 2"/>
          <p:cNvSpPr>
            <a:spLocks noGrp="1"/>
          </p:cNvSpPr>
          <p:nvPr>
            <p:ph idx="1"/>
          </p:nvPr>
        </p:nvSpPr>
        <p:spPr>
          <a:xfrm>
            <a:off x="287524" y="836712"/>
            <a:ext cx="8856476" cy="5544616"/>
          </a:xfrm>
        </p:spPr>
        <p:txBody>
          <a:bodyPr/>
          <a:lstStyle/>
          <a:p>
            <a:pPr>
              <a:defRPr/>
            </a:pPr>
            <a:r>
              <a:rPr lang="en-GB" sz="2200" b="1" dirty="0" err="1">
                <a:solidFill>
                  <a:srgbClr val="040001"/>
                </a:solidFill>
                <a:latin typeface="Courier New"/>
                <a:ea typeface="Courier New"/>
              </a:rPr>
              <a:t>int</a:t>
            </a:r>
            <a:r>
              <a:rPr lang="en-GB" sz="2200" b="1" dirty="0">
                <a:solidFill>
                  <a:srgbClr val="040001"/>
                </a:solidFill>
                <a:latin typeface="Courier New"/>
                <a:ea typeface="Courier New"/>
              </a:rPr>
              <a:t> </a:t>
            </a:r>
            <a:r>
              <a:rPr lang="en-GB" sz="2200" b="1" dirty="0" err="1">
                <a:solidFill>
                  <a:srgbClr val="040001"/>
                </a:solidFill>
                <a:latin typeface="Courier New"/>
                <a:ea typeface="Courier New"/>
              </a:rPr>
              <a:t>fwrite</a:t>
            </a:r>
            <a:r>
              <a:rPr lang="en-GB" sz="2200" b="1" dirty="0">
                <a:solidFill>
                  <a:srgbClr val="040001"/>
                </a:solidFill>
                <a:latin typeface="Courier New"/>
                <a:ea typeface="Courier New"/>
              </a:rPr>
              <a:t>(void *</a:t>
            </a:r>
            <a:r>
              <a:rPr lang="en-GB" sz="2200" b="1" dirty="0" err="1">
                <a:solidFill>
                  <a:srgbClr val="040001"/>
                </a:solidFill>
                <a:latin typeface="Courier New"/>
                <a:ea typeface="Courier New"/>
              </a:rPr>
              <a:t>buf</a:t>
            </a:r>
            <a:r>
              <a:rPr lang="en-GB" sz="2200" b="1" dirty="0">
                <a:solidFill>
                  <a:srgbClr val="040001"/>
                </a:solidFill>
                <a:latin typeface="Courier New"/>
                <a:ea typeface="Courier New"/>
              </a:rPr>
              <a:t>, </a:t>
            </a:r>
            <a:r>
              <a:rPr lang="en-GB" sz="2200" b="1" dirty="0" err="1">
                <a:solidFill>
                  <a:srgbClr val="040001"/>
                </a:solidFill>
                <a:latin typeface="Courier New"/>
                <a:ea typeface="Courier New"/>
              </a:rPr>
              <a:t>int</a:t>
            </a:r>
            <a:r>
              <a:rPr lang="en-GB" sz="2200" b="1" dirty="0">
                <a:solidFill>
                  <a:srgbClr val="040001"/>
                </a:solidFill>
                <a:latin typeface="Courier New"/>
                <a:ea typeface="Courier New"/>
              </a:rPr>
              <a:t> size, </a:t>
            </a:r>
            <a:r>
              <a:rPr lang="en-GB" sz="2200" b="1" dirty="0" err="1">
                <a:solidFill>
                  <a:srgbClr val="040001"/>
                </a:solidFill>
                <a:latin typeface="Courier New"/>
                <a:ea typeface="Courier New"/>
              </a:rPr>
              <a:t>int</a:t>
            </a:r>
            <a:r>
              <a:rPr lang="en-GB" sz="2200" b="1" dirty="0">
                <a:solidFill>
                  <a:srgbClr val="040001"/>
                </a:solidFill>
                <a:latin typeface="Courier New"/>
                <a:ea typeface="Courier New"/>
              </a:rPr>
              <a:t> </a:t>
            </a:r>
            <a:r>
              <a:rPr lang="en-GB" sz="2200" b="1" dirty="0" err="1">
                <a:solidFill>
                  <a:srgbClr val="040001"/>
                </a:solidFill>
                <a:latin typeface="Courier New"/>
                <a:ea typeface="Courier New"/>
              </a:rPr>
              <a:t>nb</a:t>
            </a:r>
            <a:r>
              <a:rPr lang="en-GB" sz="2200" b="1" dirty="0">
                <a:solidFill>
                  <a:srgbClr val="040001"/>
                </a:solidFill>
                <a:latin typeface="Courier New"/>
                <a:ea typeface="Courier New"/>
              </a:rPr>
              <a:t>, FILE *file);</a:t>
            </a:r>
            <a:r>
              <a:rPr lang="en-GB" dirty="0">
                <a:solidFill>
                  <a:srgbClr val="040001"/>
                </a:solidFill>
              </a:rPr>
              <a:t> </a:t>
            </a:r>
            <a:endParaRPr lang="en-GB" dirty="0"/>
          </a:p>
          <a:p>
            <a:pPr lvl="1">
              <a:defRPr/>
            </a:pPr>
            <a:r>
              <a:rPr lang="en-GB" dirty="0">
                <a:solidFill>
                  <a:srgbClr val="040001"/>
                </a:solidFill>
              </a:rPr>
              <a:t>Write the </a:t>
            </a:r>
            <a:r>
              <a:rPr lang="en-GB" dirty="0" err="1">
                <a:solidFill>
                  <a:srgbClr val="040001"/>
                </a:solidFill>
              </a:rPr>
              <a:t>packest</a:t>
            </a:r>
            <a:r>
              <a:rPr lang="en-GB" dirty="0">
                <a:solidFill>
                  <a:srgbClr val="040001"/>
                </a:solidFill>
              </a:rPr>
              <a:t> of data stored to the buffer pointed by the pointer </a:t>
            </a:r>
            <a:r>
              <a:rPr lang="en-GB" b="1" dirty="0" err="1">
                <a:solidFill>
                  <a:srgbClr val="040001"/>
                </a:solidFill>
                <a:latin typeface="Courier"/>
                <a:cs typeface="Courier"/>
              </a:rPr>
              <a:t>buf</a:t>
            </a:r>
            <a:r>
              <a:rPr lang="en-GB" dirty="0">
                <a:solidFill>
                  <a:srgbClr val="040001"/>
                </a:solidFill>
              </a:rPr>
              <a:t> in the file pointed by </a:t>
            </a:r>
            <a:r>
              <a:rPr lang="en-GB" b="1" dirty="0">
                <a:solidFill>
                  <a:srgbClr val="040001"/>
                </a:solidFill>
                <a:latin typeface="Courier"/>
                <a:cs typeface="Courier"/>
              </a:rPr>
              <a:t>file</a:t>
            </a:r>
            <a:endParaRPr lang="en-GB" dirty="0">
              <a:solidFill>
                <a:srgbClr val="040001"/>
              </a:solidFill>
              <a:cs typeface="Courier"/>
            </a:endParaRPr>
          </a:p>
          <a:p>
            <a:pPr lvl="1">
              <a:defRPr/>
            </a:pPr>
            <a:r>
              <a:rPr lang="en-GB" dirty="0">
                <a:solidFill>
                  <a:srgbClr val="040001"/>
                </a:solidFill>
                <a:cs typeface="Courier"/>
              </a:rPr>
              <a:t>The </a:t>
            </a:r>
            <a:r>
              <a:rPr lang="en-GB" dirty="0">
                <a:solidFill>
                  <a:srgbClr val="040001"/>
                </a:solidFill>
              </a:rPr>
              <a:t>parameter </a:t>
            </a:r>
            <a:r>
              <a:rPr lang="en-GB" b="1" dirty="0">
                <a:solidFill>
                  <a:srgbClr val="040001"/>
                </a:solidFill>
                <a:latin typeface="Courier New"/>
                <a:ea typeface="Courier New"/>
              </a:rPr>
              <a:t>size</a:t>
            </a:r>
            <a:r>
              <a:rPr lang="en-GB" dirty="0">
                <a:solidFill>
                  <a:srgbClr val="040001"/>
                </a:solidFill>
              </a:rPr>
              <a:t> gives the size of the packet</a:t>
            </a:r>
          </a:p>
          <a:p>
            <a:pPr lvl="1">
              <a:defRPr/>
            </a:pPr>
            <a:r>
              <a:rPr lang="en-GB" dirty="0">
                <a:solidFill>
                  <a:srgbClr val="040001"/>
                </a:solidFill>
                <a:cs typeface="Courier"/>
              </a:rPr>
              <a:t>The </a:t>
            </a:r>
            <a:r>
              <a:rPr lang="en-GB" dirty="0">
                <a:solidFill>
                  <a:srgbClr val="040001"/>
                </a:solidFill>
              </a:rPr>
              <a:t>parameter </a:t>
            </a:r>
            <a:r>
              <a:rPr lang="en-GB" b="1" dirty="0" err="1">
                <a:solidFill>
                  <a:srgbClr val="040001"/>
                </a:solidFill>
                <a:latin typeface="Courier New"/>
                <a:ea typeface="Courier New"/>
              </a:rPr>
              <a:t>nb</a:t>
            </a:r>
            <a:r>
              <a:rPr lang="en-GB" dirty="0">
                <a:solidFill>
                  <a:srgbClr val="040001"/>
                </a:solidFill>
              </a:rPr>
              <a:t> indicates the number of packets to write</a:t>
            </a:r>
            <a:endParaRPr lang="en-GB" dirty="0"/>
          </a:p>
          <a:p>
            <a:pPr lvl="1">
              <a:defRPr/>
            </a:pPr>
            <a:r>
              <a:rPr lang="en-GB" dirty="0">
                <a:solidFill>
                  <a:srgbClr val="040001"/>
                </a:solidFill>
              </a:rPr>
              <a:t>Return the number of packets written to the file</a:t>
            </a:r>
            <a:endParaRPr lang="en-GB" dirty="0"/>
          </a:p>
          <a:p>
            <a:pPr lvl="1">
              <a:buSzPct val="25000"/>
              <a:buFont typeface="StarSymbol"/>
              <a:buChar char=""/>
            </a:pPr>
            <a:endParaRPr lang="en-GB" sz="1800" dirty="0"/>
          </a:p>
          <a:p>
            <a:pPr lvl="1">
              <a:buSzPct val="25000"/>
              <a:buFont typeface="StarSymbol"/>
              <a:buChar char=""/>
            </a:pPr>
            <a:endParaRPr lang="en-GB" sz="1800" dirty="0"/>
          </a:p>
          <a:p>
            <a:pPr>
              <a:buSzPct val="25000"/>
              <a:buFont typeface="StarSymbol"/>
              <a:buChar char=""/>
            </a:pPr>
            <a:endParaRPr lang="en-GB" sz="1800" dirty="0"/>
          </a:p>
          <a:p>
            <a:pPr>
              <a:defRPr/>
            </a:pPr>
            <a:endParaRPr lang="en-GB" dirty="0"/>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296</a:t>
            </a:fld>
            <a:endParaRPr lang="fr-FR" sz="1400" dirty="0">
              <a:solidFill>
                <a:srgbClr val="000208"/>
              </a:solidFill>
              <a:latin typeface="Times New Roman" charset="0"/>
            </a:endParaRPr>
          </a:p>
        </p:txBody>
      </p:sp>
      <p:sp>
        <p:nvSpPr>
          <p:cNvPr id="7"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60151342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781245"/>
            <a:ext cx="9036496" cy="6140143"/>
          </a:xfrm>
          <a:prstGeom prst="rect">
            <a:avLst/>
          </a:prstGeom>
        </p:spPr>
        <p:txBody>
          <a:bodyPr wrap="square">
            <a:spAutoFit/>
          </a:bodyPr>
          <a:lstStyle/>
          <a:p>
            <a:pPr algn="l"/>
            <a:r>
              <a:rPr lang="en-US" sz="1500" dirty="0">
                <a:latin typeface="Menlo Regular"/>
                <a:cs typeface="Menlo Regular"/>
              </a:rPr>
              <a:t>#include &lt;</a:t>
            </a:r>
            <a:r>
              <a:rPr lang="en-US" sz="1500" dirty="0" err="1">
                <a:latin typeface="Menlo Regular"/>
                <a:cs typeface="Menlo Regular"/>
              </a:rPr>
              <a:t>stdio.h</a:t>
            </a:r>
            <a:r>
              <a:rPr lang="en-US" sz="1500" dirty="0">
                <a:latin typeface="Menlo Regular"/>
                <a:cs typeface="Menlo Regular"/>
              </a:rPr>
              <a:t>&gt;</a:t>
            </a:r>
          </a:p>
          <a:p>
            <a:pPr algn="l"/>
            <a:r>
              <a:rPr lang="en-US" sz="1500" dirty="0">
                <a:latin typeface="Menlo Regular"/>
                <a:cs typeface="Menlo Regular"/>
              </a:rPr>
              <a:t>#include &lt;</a:t>
            </a:r>
            <a:r>
              <a:rPr lang="en-US" sz="1500" dirty="0" err="1">
                <a:latin typeface="Menlo Regular"/>
                <a:cs typeface="Menlo Regular"/>
              </a:rPr>
              <a:t>string.h</a:t>
            </a:r>
            <a:r>
              <a:rPr lang="en-US" sz="1500" dirty="0">
                <a:latin typeface="Menlo Regular"/>
                <a:cs typeface="Menlo Regular"/>
              </a:rPr>
              <a:t>&gt;   /* </a:t>
            </a:r>
            <a:r>
              <a:rPr lang="en-US" sz="1500" dirty="0" err="1">
                <a:latin typeface="Menlo Regular"/>
                <a:cs typeface="Menlo Regular"/>
              </a:rPr>
              <a:t>strlen</a:t>
            </a:r>
            <a:r>
              <a:rPr lang="en-US" sz="1500" dirty="0">
                <a:latin typeface="Menlo Regular"/>
                <a:cs typeface="Menlo Regular"/>
              </a:rPr>
              <a:t>() */</a:t>
            </a:r>
          </a:p>
          <a:p>
            <a:pPr algn="l"/>
            <a:r>
              <a:rPr lang="en-US" sz="1500" dirty="0">
                <a:latin typeface="Menlo Regular"/>
                <a:cs typeface="Menlo Regular"/>
              </a:rPr>
              <a:t>#include &lt;</a:t>
            </a:r>
            <a:r>
              <a:rPr lang="en-US" sz="1500" dirty="0" err="1">
                <a:latin typeface="Menlo Regular"/>
                <a:cs typeface="Menlo Regular"/>
              </a:rPr>
              <a:t>stdlib.h</a:t>
            </a:r>
            <a:r>
              <a:rPr lang="en-US" sz="1500" dirty="0">
                <a:latin typeface="Menlo Regular"/>
                <a:cs typeface="Menlo Regular"/>
              </a:rPr>
              <a:t>&gt;   /* exit() */</a:t>
            </a:r>
          </a:p>
          <a:p>
            <a:pPr algn="l"/>
            <a:r>
              <a:rPr lang="en-US" sz="1500" dirty="0" err="1">
                <a:solidFill>
                  <a:srgbClr val="FF00FF"/>
                </a:solidFill>
                <a:latin typeface="Menlo Regular"/>
                <a:cs typeface="Menlo Regular"/>
              </a:rPr>
              <a:t>int</a:t>
            </a:r>
            <a:r>
              <a:rPr lang="en-US" sz="1500" dirty="0">
                <a:solidFill>
                  <a:srgbClr val="FF00FF"/>
                </a:solidFill>
                <a:latin typeface="Menlo Regular"/>
                <a:cs typeface="Menlo Regular"/>
              </a:rPr>
              <a:t> </a:t>
            </a:r>
            <a:r>
              <a:rPr lang="en-US" sz="1500" dirty="0">
                <a:latin typeface="Menlo Regular"/>
                <a:cs typeface="Menlo Regular"/>
              </a:rPr>
              <a:t>main() {</a:t>
            </a:r>
          </a:p>
          <a:p>
            <a:pPr algn="l"/>
            <a:r>
              <a:rPr lang="en-US" sz="1500" dirty="0">
                <a:latin typeface="Menlo Regular"/>
                <a:cs typeface="Menlo Regular"/>
              </a:rPr>
              <a:t>    FILE *file;</a:t>
            </a:r>
          </a:p>
          <a:p>
            <a:pPr algn="l"/>
            <a:r>
              <a:rPr lang="en-US" sz="1500" dirty="0">
                <a:latin typeface="Menlo Regular"/>
                <a:cs typeface="Menlo Regular"/>
              </a:rPr>
              <a:t>    </a:t>
            </a:r>
            <a:r>
              <a:rPr lang="en-US" sz="1500" dirty="0">
                <a:solidFill>
                  <a:srgbClr val="FF00FF"/>
                </a:solidFill>
                <a:latin typeface="Menlo Regular"/>
                <a:cs typeface="Menlo Regular"/>
              </a:rPr>
              <a:t>char</a:t>
            </a:r>
            <a:r>
              <a:rPr lang="en-US" sz="1500" dirty="0">
                <a:latin typeface="Menlo Regular"/>
                <a:cs typeface="Menlo Regular"/>
              </a:rPr>
              <a:t> *</a:t>
            </a:r>
            <a:r>
              <a:rPr lang="en-US" sz="1500" dirty="0" err="1">
                <a:latin typeface="Menlo Regular"/>
                <a:cs typeface="Menlo Regular"/>
              </a:rPr>
              <a:t>msg</a:t>
            </a:r>
            <a:r>
              <a:rPr lang="en-US" sz="1500" dirty="0">
                <a:latin typeface="Menlo Regular"/>
                <a:cs typeface="Menlo Regular"/>
              </a:rPr>
              <a:t> = </a:t>
            </a:r>
            <a:r>
              <a:rPr lang="en-US" sz="1500" dirty="0">
                <a:solidFill>
                  <a:srgbClr val="FF0000"/>
                </a:solidFill>
                <a:latin typeface="Menlo Regular"/>
                <a:cs typeface="Menlo Regular"/>
              </a:rPr>
              <a:t>"123456789012345”</a:t>
            </a:r>
            <a:r>
              <a:rPr lang="en-US" sz="1500" dirty="0">
                <a:latin typeface="Menlo Regular"/>
                <a:cs typeface="Menlo Regular"/>
              </a:rPr>
              <a:t>;</a:t>
            </a:r>
          </a:p>
          <a:p>
            <a:pPr algn="l"/>
            <a:r>
              <a:rPr lang="en-US" sz="1500" dirty="0">
                <a:latin typeface="Menlo Regular"/>
                <a:cs typeface="Menlo Regular"/>
              </a:rPr>
              <a:t>    </a:t>
            </a:r>
            <a:r>
              <a:rPr lang="en-US" sz="1500" dirty="0" err="1">
                <a:solidFill>
                  <a:srgbClr val="FF00FF"/>
                </a:solidFill>
                <a:latin typeface="Menlo Regular"/>
                <a:cs typeface="Menlo Regular"/>
              </a:rPr>
              <a:t>int</a:t>
            </a:r>
            <a:r>
              <a:rPr lang="en-US" sz="1500" dirty="0">
                <a:solidFill>
                  <a:srgbClr val="FF00FF"/>
                </a:solidFill>
                <a:latin typeface="Menlo Regular"/>
                <a:cs typeface="Menlo Regular"/>
              </a:rPr>
              <a:t> </a:t>
            </a:r>
            <a:r>
              <a:rPr lang="en-US" sz="1500" dirty="0">
                <a:latin typeface="Menlo Regular"/>
                <a:cs typeface="Menlo Regular"/>
              </a:rPr>
              <a:t>n;</a:t>
            </a:r>
          </a:p>
          <a:p>
            <a:pPr algn="l"/>
            <a:r>
              <a:rPr lang="en-US" sz="1500" dirty="0">
                <a:latin typeface="Menlo Regular"/>
                <a:cs typeface="Menlo Regular"/>
              </a:rPr>
              <a:t>    file = </a:t>
            </a:r>
            <a:r>
              <a:rPr lang="en-US" sz="1500" dirty="0" err="1">
                <a:latin typeface="Menlo Regular"/>
                <a:cs typeface="Menlo Regular"/>
              </a:rPr>
              <a:t>fopen</a:t>
            </a:r>
            <a:r>
              <a:rPr lang="en-US" sz="1500" dirty="0">
                <a:latin typeface="Menlo Regular"/>
                <a:cs typeface="Menlo Regular"/>
              </a:rPr>
              <a:t>(</a:t>
            </a:r>
            <a:r>
              <a:rPr lang="en-US" sz="1500" dirty="0">
                <a:solidFill>
                  <a:srgbClr val="FF0000"/>
                </a:solidFill>
                <a:latin typeface="Menlo Regular"/>
                <a:cs typeface="Menlo Regular"/>
              </a:rPr>
              <a:t>"</a:t>
            </a:r>
            <a:r>
              <a:rPr lang="en-US" sz="1500" dirty="0" err="1">
                <a:solidFill>
                  <a:srgbClr val="FF0000"/>
                </a:solidFill>
                <a:latin typeface="Menlo Regular"/>
                <a:cs typeface="Menlo Regular"/>
              </a:rPr>
              <a:t>tmp</a:t>
            </a:r>
            <a:r>
              <a:rPr lang="en-US" sz="1500" dirty="0">
                <a:solidFill>
                  <a:srgbClr val="FF0000"/>
                </a:solidFill>
                <a:latin typeface="Menlo Regular"/>
                <a:cs typeface="Menlo Regular"/>
              </a:rPr>
              <a:t>/</a:t>
            </a:r>
            <a:r>
              <a:rPr lang="en-US" sz="1500" dirty="0" err="1">
                <a:solidFill>
                  <a:srgbClr val="FF0000"/>
                </a:solidFill>
                <a:latin typeface="Menlo Regular"/>
                <a:cs typeface="Menlo Regular"/>
              </a:rPr>
              <a:t>test_write</a:t>
            </a:r>
            <a:r>
              <a:rPr lang="en-US" sz="1500" dirty="0">
                <a:solidFill>
                  <a:srgbClr val="FF0000"/>
                </a:solidFill>
                <a:latin typeface="Menlo Regular"/>
                <a:cs typeface="Menlo Regular"/>
              </a:rPr>
              <a:t>"</a:t>
            </a:r>
            <a:r>
              <a:rPr lang="en-US" sz="1500" dirty="0">
                <a:latin typeface="Menlo Regular"/>
                <a:cs typeface="Menlo Regular"/>
              </a:rPr>
              <a:t>, </a:t>
            </a:r>
            <a:r>
              <a:rPr lang="en-US" sz="1500" dirty="0">
                <a:solidFill>
                  <a:srgbClr val="FF0000"/>
                </a:solidFill>
                <a:latin typeface="Menlo Regular"/>
                <a:cs typeface="Menlo Regular"/>
              </a:rPr>
              <a:t>"w"</a:t>
            </a:r>
            <a:r>
              <a:rPr lang="en-US" sz="1500" dirty="0">
                <a:latin typeface="Menlo Regular"/>
                <a:cs typeface="Menlo Regular"/>
              </a:rPr>
              <a:t>);</a:t>
            </a:r>
          </a:p>
          <a:p>
            <a:pPr algn="l"/>
            <a:r>
              <a:rPr lang="en-US" sz="1500" dirty="0">
                <a:latin typeface="Menlo Regular"/>
                <a:cs typeface="Menlo Regular"/>
              </a:rPr>
              <a:t>    </a:t>
            </a:r>
            <a:r>
              <a:rPr lang="en-US" sz="1500" dirty="0">
                <a:solidFill>
                  <a:srgbClr val="FF00FF"/>
                </a:solidFill>
                <a:latin typeface="Menlo Regular"/>
                <a:cs typeface="Menlo Regular"/>
              </a:rPr>
              <a:t>if</a:t>
            </a:r>
            <a:r>
              <a:rPr lang="en-US" sz="1500" dirty="0">
                <a:latin typeface="Menlo Regular"/>
                <a:cs typeface="Menlo Regular"/>
              </a:rPr>
              <a:t> (file!= </a:t>
            </a:r>
            <a:r>
              <a:rPr lang="en-US" sz="1500" dirty="0">
                <a:solidFill>
                  <a:srgbClr val="FF00FF"/>
                </a:solidFill>
                <a:latin typeface="Menlo Regular"/>
                <a:cs typeface="Menlo Regular"/>
              </a:rPr>
              <a:t>NULL</a:t>
            </a:r>
            <a:r>
              <a:rPr lang="en-US" sz="1500" dirty="0">
                <a:latin typeface="Menlo Regular"/>
                <a:cs typeface="Menlo Regular"/>
              </a:rPr>
              <a:t>) {</a:t>
            </a:r>
          </a:p>
          <a:p>
            <a:pPr algn="l"/>
            <a:r>
              <a:rPr lang="en-US" sz="1500" dirty="0">
                <a:latin typeface="Menlo Regular"/>
                <a:cs typeface="Menlo Regular"/>
              </a:rPr>
              <a:t>        n = </a:t>
            </a:r>
            <a:r>
              <a:rPr lang="en-US" sz="1500" dirty="0" err="1">
                <a:latin typeface="Menlo Regular"/>
                <a:cs typeface="Menlo Regular"/>
              </a:rPr>
              <a:t>strlen</a:t>
            </a:r>
            <a:r>
              <a:rPr lang="en-US" sz="1500" dirty="0">
                <a:latin typeface="Menlo Regular"/>
                <a:cs typeface="Menlo Regular"/>
              </a:rPr>
              <a:t>(</a:t>
            </a:r>
            <a:r>
              <a:rPr lang="en-US" sz="1500" dirty="0" err="1">
                <a:latin typeface="Menlo Regular"/>
                <a:cs typeface="Menlo Regular"/>
              </a:rPr>
              <a:t>msg</a:t>
            </a:r>
            <a:r>
              <a:rPr lang="en-US" sz="1500" dirty="0">
                <a:latin typeface="Menlo Regular"/>
                <a:cs typeface="Menlo Regular"/>
              </a:rPr>
              <a:t>);</a:t>
            </a:r>
          </a:p>
          <a:p>
            <a:pPr algn="l"/>
            <a:r>
              <a:rPr lang="en-US" sz="1500" dirty="0">
                <a:latin typeface="Menlo Regular"/>
                <a:cs typeface="Menlo Regular"/>
              </a:rPr>
              <a:t>        </a:t>
            </a:r>
            <a:r>
              <a:rPr lang="en-US" sz="1500" dirty="0" err="1">
                <a:solidFill>
                  <a:srgbClr val="FF00FF"/>
                </a:solidFill>
                <a:latin typeface="Menlo Regular"/>
                <a:cs typeface="Menlo Regular"/>
              </a:rPr>
              <a:t>int</a:t>
            </a:r>
            <a:r>
              <a:rPr lang="en-US" sz="1500" dirty="0">
                <a:solidFill>
                  <a:srgbClr val="FF00FF"/>
                </a:solidFill>
                <a:latin typeface="Menlo Regular"/>
                <a:cs typeface="Menlo Regular"/>
              </a:rPr>
              <a:t> </a:t>
            </a:r>
            <a:r>
              <a:rPr lang="en-US" sz="1500" dirty="0">
                <a:latin typeface="Menlo Regular"/>
                <a:cs typeface="Menlo Regular"/>
              </a:rPr>
              <a:t>res = </a:t>
            </a:r>
            <a:r>
              <a:rPr lang="en-US" sz="1500" dirty="0" err="1">
                <a:latin typeface="Menlo Regular"/>
                <a:cs typeface="Menlo Regular"/>
              </a:rPr>
              <a:t>fwrite</a:t>
            </a:r>
            <a:r>
              <a:rPr lang="en-US" sz="1500" dirty="0">
                <a:latin typeface="Menlo Regular"/>
                <a:cs typeface="Menlo Regular"/>
              </a:rPr>
              <a:t>(</a:t>
            </a:r>
            <a:r>
              <a:rPr lang="en-US" sz="1500" dirty="0" err="1">
                <a:latin typeface="Menlo Regular"/>
                <a:cs typeface="Menlo Regular"/>
              </a:rPr>
              <a:t>msg</a:t>
            </a:r>
            <a:r>
              <a:rPr lang="en-US" sz="1500" dirty="0">
                <a:latin typeface="Menlo Regular"/>
                <a:cs typeface="Menlo Regular"/>
              </a:rPr>
              <a:t>, </a:t>
            </a:r>
            <a:r>
              <a:rPr lang="en-US" sz="1500" dirty="0" err="1">
                <a:solidFill>
                  <a:srgbClr val="FF00FF"/>
                </a:solidFill>
                <a:latin typeface="Menlo Regular"/>
                <a:cs typeface="Menlo Regular"/>
              </a:rPr>
              <a:t>sizeof</a:t>
            </a:r>
            <a:r>
              <a:rPr lang="en-US" sz="1500" dirty="0">
                <a:latin typeface="Menlo Regular"/>
                <a:cs typeface="Menlo Regular"/>
              </a:rPr>
              <a:t>(</a:t>
            </a:r>
            <a:r>
              <a:rPr lang="en-US" sz="1500" dirty="0">
                <a:solidFill>
                  <a:srgbClr val="FF00FF"/>
                </a:solidFill>
                <a:latin typeface="Menlo Regular"/>
                <a:cs typeface="Menlo Regular"/>
              </a:rPr>
              <a:t>char</a:t>
            </a:r>
            <a:r>
              <a:rPr lang="en-US" sz="1500" dirty="0">
                <a:latin typeface="Menlo Regular"/>
                <a:cs typeface="Menlo Regular"/>
              </a:rPr>
              <a:t>), n, file);</a:t>
            </a:r>
          </a:p>
          <a:p>
            <a:pPr algn="l"/>
            <a:r>
              <a:rPr lang="en-US" sz="1500" dirty="0">
                <a:latin typeface="Menlo Regular"/>
                <a:cs typeface="Menlo Regular"/>
              </a:rPr>
              <a:t>        </a:t>
            </a:r>
            <a:r>
              <a:rPr lang="en-US" sz="1500" dirty="0">
                <a:solidFill>
                  <a:srgbClr val="FF00FF"/>
                </a:solidFill>
                <a:latin typeface="Menlo Regular"/>
                <a:cs typeface="Menlo Regular"/>
              </a:rPr>
              <a:t>if</a:t>
            </a:r>
            <a:r>
              <a:rPr lang="en-US" sz="1500" dirty="0">
                <a:latin typeface="Menlo Regular"/>
                <a:cs typeface="Menlo Regular"/>
              </a:rPr>
              <a:t> (res!=n) {</a:t>
            </a:r>
          </a:p>
          <a:p>
            <a:pPr algn="l"/>
            <a:r>
              <a:rPr lang="en-US" sz="1500" dirty="0">
                <a:latin typeface="Menlo Regular"/>
                <a:cs typeface="Menlo Regular"/>
              </a:rPr>
              <a:t>	    </a:t>
            </a:r>
            <a:r>
              <a:rPr lang="en-US" sz="1500" dirty="0" err="1">
                <a:latin typeface="Menlo Regular"/>
                <a:cs typeface="Menlo Regular"/>
              </a:rPr>
              <a:t>fprintf</a:t>
            </a:r>
            <a:r>
              <a:rPr lang="en-US" sz="1500" dirty="0">
                <a:latin typeface="Menlo Regular"/>
                <a:cs typeface="Menlo Regular"/>
              </a:rPr>
              <a:t>(</a:t>
            </a:r>
            <a:r>
              <a:rPr lang="en-US" sz="1500" dirty="0" err="1">
                <a:latin typeface="Menlo Regular"/>
                <a:cs typeface="Menlo Regular"/>
              </a:rPr>
              <a:t>stderr</a:t>
            </a:r>
            <a:r>
              <a:rPr lang="en-US" sz="1500" dirty="0">
                <a:latin typeface="Menlo Regular"/>
                <a:cs typeface="Menlo Regular"/>
              </a:rPr>
              <a:t>,</a:t>
            </a:r>
            <a:r>
              <a:rPr lang="en-US" sz="1500" dirty="0">
                <a:solidFill>
                  <a:srgbClr val="FF0000"/>
                </a:solidFill>
                <a:latin typeface="Menlo Regular"/>
                <a:cs typeface="Menlo Regular"/>
              </a:rPr>
              <a:t>"Error during writing\n"</a:t>
            </a:r>
            <a:r>
              <a:rPr lang="en-US" sz="1500" dirty="0">
                <a:latin typeface="Menlo Regular"/>
                <a:cs typeface="Menlo Regular"/>
              </a:rPr>
              <a:t>);</a:t>
            </a:r>
          </a:p>
          <a:p>
            <a:pPr algn="l"/>
            <a:r>
              <a:rPr lang="en-US" sz="1500" dirty="0">
                <a:latin typeface="Menlo Regular"/>
                <a:cs typeface="Menlo Regular"/>
              </a:rPr>
              <a:t>            exit(2);</a:t>
            </a:r>
          </a:p>
          <a:p>
            <a:pPr algn="l"/>
            <a:r>
              <a:rPr lang="en-US" sz="1500" dirty="0">
                <a:latin typeface="Menlo Regular"/>
                <a:cs typeface="Menlo Regular"/>
              </a:rPr>
              <a:t>        }</a:t>
            </a:r>
          </a:p>
          <a:p>
            <a:pPr algn="l"/>
            <a:r>
              <a:rPr lang="en-US" sz="1500" dirty="0">
                <a:latin typeface="Menlo Regular"/>
                <a:cs typeface="Menlo Regular"/>
              </a:rPr>
              <a:t>        </a:t>
            </a:r>
            <a:r>
              <a:rPr lang="en-US" sz="1500" dirty="0" err="1">
                <a:latin typeface="Menlo Regular"/>
                <a:cs typeface="Menlo Regular"/>
              </a:rPr>
              <a:t>fprintf</a:t>
            </a:r>
            <a:r>
              <a:rPr lang="en-US" sz="1500" dirty="0">
                <a:latin typeface="Menlo Regular"/>
                <a:cs typeface="Menlo Regular"/>
              </a:rPr>
              <a:t>(</a:t>
            </a:r>
            <a:r>
              <a:rPr lang="en-US" sz="1500" dirty="0" err="1">
                <a:latin typeface="Menlo Regular"/>
                <a:cs typeface="Menlo Regular"/>
              </a:rPr>
              <a:t>stdout</a:t>
            </a:r>
            <a:r>
              <a:rPr lang="en-US" sz="1500" dirty="0">
                <a:latin typeface="Menlo Regular"/>
                <a:cs typeface="Menlo Regular"/>
              </a:rPr>
              <a:t>,</a:t>
            </a:r>
            <a:r>
              <a:rPr lang="en-US" sz="1500" dirty="0">
                <a:solidFill>
                  <a:srgbClr val="FF0000"/>
                </a:solidFill>
                <a:latin typeface="Menlo Regular"/>
                <a:cs typeface="Menlo Regular"/>
              </a:rPr>
              <a:t>"Write successful\n"</a:t>
            </a:r>
            <a:r>
              <a:rPr lang="en-US" sz="1500" dirty="0">
                <a:latin typeface="Menlo Regular"/>
                <a:cs typeface="Menlo Regular"/>
              </a:rPr>
              <a:t>);</a:t>
            </a:r>
          </a:p>
          <a:p>
            <a:pPr algn="l"/>
            <a:r>
              <a:rPr lang="en-US" sz="1500" dirty="0">
                <a:latin typeface="Menlo Regular"/>
                <a:cs typeface="Menlo Regular"/>
              </a:rPr>
              <a:t>        </a:t>
            </a:r>
            <a:r>
              <a:rPr lang="en-US" sz="1500" dirty="0" err="1">
                <a:latin typeface="Menlo Regular"/>
                <a:cs typeface="Menlo Regular"/>
              </a:rPr>
              <a:t>fclose</a:t>
            </a:r>
            <a:r>
              <a:rPr lang="en-US" sz="1500" dirty="0">
                <a:latin typeface="Menlo Regular"/>
                <a:cs typeface="Menlo Regular"/>
              </a:rPr>
              <a:t>(file);</a:t>
            </a:r>
          </a:p>
          <a:p>
            <a:pPr algn="l"/>
            <a:r>
              <a:rPr lang="en-US" sz="1500" dirty="0">
                <a:latin typeface="Menlo Regular"/>
                <a:cs typeface="Menlo Regular"/>
              </a:rPr>
              <a:t>    }</a:t>
            </a:r>
            <a:r>
              <a:rPr lang="en-US" sz="1500" dirty="0">
                <a:solidFill>
                  <a:srgbClr val="FF00FF"/>
                </a:solidFill>
                <a:latin typeface="Menlo Regular"/>
                <a:cs typeface="Menlo Regular"/>
              </a:rPr>
              <a:t>else</a:t>
            </a:r>
            <a:r>
              <a:rPr lang="en-US" sz="1500" dirty="0">
                <a:latin typeface="Menlo Regular"/>
                <a:cs typeface="Menlo Regular"/>
              </a:rPr>
              <a:t>{</a:t>
            </a:r>
          </a:p>
          <a:p>
            <a:pPr algn="l"/>
            <a:r>
              <a:rPr lang="en-US" sz="1500" dirty="0">
                <a:latin typeface="Menlo Regular"/>
                <a:cs typeface="Menlo Regular"/>
              </a:rPr>
              <a:t>        </a:t>
            </a:r>
            <a:r>
              <a:rPr lang="en-US" sz="1500" dirty="0" err="1">
                <a:latin typeface="Menlo Regular"/>
                <a:cs typeface="Menlo Regular"/>
              </a:rPr>
              <a:t>printf</a:t>
            </a:r>
            <a:r>
              <a:rPr lang="en-US" sz="1500" dirty="0">
                <a:latin typeface="Menlo Regular"/>
                <a:cs typeface="Menlo Regular"/>
              </a:rPr>
              <a:t>("Couldn't open file for writing\n");</a:t>
            </a:r>
          </a:p>
          <a:p>
            <a:pPr algn="l"/>
            <a:r>
              <a:rPr lang="en-US" sz="1500" dirty="0">
                <a:latin typeface="Menlo Regular"/>
                <a:cs typeface="Menlo Regular"/>
              </a:rPr>
              <a:t>    }</a:t>
            </a:r>
          </a:p>
          <a:p>
            <a:pPr algn="l"/>
            <a:r>
              <a:rPr lang="en-US" sz="1500" dirty="0">
                <a:latin typeface="Menlo Regular"/>
                <a:cs typeface="Menlo Regular"/>
              </a:rPr>
              <a:t>    </a:t>
            </a:r>
            <a:r>
              <a:rPr lang="en-US" sz="1500" dirty="0">
                <a:solidFill>
                  <a:srgbClr val="FF00FF"/>
                </a:solidFill>
                <a:latin typeface="Menlo Regular"/>
                <a:cs typeface="Menlo Regular"/>
              </a:rPr>
              <a:t>return</a:t>
            </a:r>
            <a:r>
              <a:rPr lang="en-US" sz="1500" dirty="0">
                <a:latin typeface="Menlo Regular"/>
                <a:cs typeface="Menlo Regular"/>
              </a:rPr>
              <a:t> </a:t>
            </a:r>
            <a:r>
              <a:rPr lang="en-US" sz="1500" dirty="0">
                <a:solidFill>
                  <a:schemeClr val="accent1"/>
                </a:solidFill>
                <a:latin typeface="Menlo Regular"/>
                <a:cs typeface="Menlo Regular"/>
              </a:rPr>
              <a:t>0</a:t>
            </a:r>
            <a:r>
              <a:rPr lang="en-US" sz="1500" dirty="0">
                <a:latin typeface="Menlo Regular"/>
                <a:cs typeface="Menlo Regular"/>
              </a:rPr>
              <a:t>;</a:t>
            </a:r>
          </a:p>
          <a:p>
            <a:pPr algn="l"/>
            <a:r>
              <a:rPr lang="en-US" sz="1500" dirty="0">
                <a:latin typeface="Menlo Regular"/>
                <a:cs typeface="Menlo Regular"/>
              </a:rPr>
              <a:t>}</a:t>
            </a:r>
          </a:p>
        </p:txBody>
      </p:sp>
      <p:sp>
        <p:nvSpPr>
          <p:cNvPr id="6"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297</a:t>
            </a:fld>
            <a:endParaRPr lang="fr-FR" sz="1400" dirty="0">
              <a:solidFill>
                <a:srgbClr val="000208"/>
              </a:solidFill>
              <a:latin typeface="Times New Roman" charset="0"/>
            </a:endParaRPr>
          </a:p>
        </p:txBody>
      </p:sp>
      <p:sp>
        <p:nvSpPr>
          <p:cNvPr id="4" name="Titre 1"/>
          <p:cNvSpPr txBox="1">
            <a:spLocks/>
          </p:cNvSpPr>
          <p:nvPr/>
        </p:nvSpPr>
        <p:spPr>
          <a:xfrm>
            <a:off x="304800" y="152400"/>
            <a:ext cx="777240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dirty="0" err="1">
                <a:latin typeface="Arial" charset="0"/>
                <a:cs typeface="ＭＳ Ｐゴシック" charset="0"/>
              </a:rPr>
              <a:t>Example</a:t>
            </a:r>
            <a:endParaRPr lang="fr-FR" dirty="0">
              <a:latin typeface="Arial" charset="0"/>
              <a:cs typeface="ＭＳ Ｐゴシック" charset="0"/>
            </a:endParaRPr>
          </a:p>
        </p:txBody>
      </p:sp>
      <p:sp>
        <p:nvSpPr>
          <p:cNvPr id="2" name="Espace réservé du pied de page 1">
            <a:extLst>
              <a:ext uri="{FF2B5EF4-FFF2-40B4-BE49-F238E27FC236}">
                <a16:creationId xmlns:a16="http://schemas.microsoft.com/office/drawing/2014/main" id="{BBA3FDCF-0F9C-E1EE-7741-3CC1BAD1A8FC}"/>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08179871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298</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TD2: C </a:t>
            </a:r>
            <a:r>
              <a:rPr lang="en-GB" dirty="0" err="1">
                <a:latin typeface="Arial" charset="0"/>
              </a:rPr>
              <a:t>exercices</a:t>
            </a:r>
            <a:endParaRPr lang="en-GB" dirty="0">
              <a:latin typeface="Arial" charset="0"/>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367929564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3"/>
          <p:cNvSpPr/>
          <p:nvPr/>
        </p:nvSpPr>
        <p:spPr>
          <a:xfrm>
            <a:off x="81714" y="1736812"/>
            <a:ext cx="8990786" cy="4968552"/>
          </a:xfrm>
          <a:prstGeom prst="rect">
            <a:avLst/>
          </a:prstGeom>
          <a:noFill/>
          <a:ln w="9360">
            <a:solidFill>
              <a:srgbClr val="808080"/>
            </a:solidFill>
            <a:round/>
          </a:ln>
        </p:spPr>
      </p:sp>
      <p:sp>
        <p:nvSpPr>
          <p:cNvPr id="400" name="TextShape 4"/>
          <p:cNvSpPr txBox="1"/>
          <p:nvPr/>
        </p:nvSpPr>
        <p:spPr>
          <a:xfrm>
            <a:off x="35496" y="1924791"/>
            <a:ext cx="9001000" cy="4816577"/>
          </a:xfrm>
          <a:prstGeom prst="rect">
            <a:avLst/>
          </a:prstGeom>
        </p:spPr>
        <p:txBody>
          <a:bodyPr wrap="none" lIns="79371" tIns="39686" rIns="79371" bIns="39686"/>
          <a:lstStyle/>
          <a:p>
            <a:pPr algn="l"/>
            <a:r>
              <a:rPr lang="en-US" sz="2000" b="1" dirty="0">
                <a:solidFill>
                  <a:srgbClr val="000000"/>
                </a:solidFill>
                <a:latin typeface="Courier"/>
                <a:cs typeface="Courier"/>
              </a:rPr>
              <a:t>#include&lt;</a:t>
            </a:r>
            <a:r>
              <a:rPr lang="en-US" sz="2000" b="1" dirty="0" err="1">
                <a:solidFill>
                  <a:srgbClr val="000000"/>
                </a:solidFill>
                <a:latin typeface="Courier"/>
                <a:cs typeface="Courier"/>
              </a:rPr>
              <a:t>stdio.h</a:t>
            </a:r>
            <a:r>
              <a:rPr lang="en-US" sz="2000" b="1" dirty="0">
                <a:solidFill>
                  <a:srgbClr val="000000"/>
                </a:solidFill>
                <a:latin typeface="Courier"/>
                <a:cs typeface="Courier"/>
              </a:rPr>
              <a:t>&gt;</a:t>
            </a:r>
            <a:endParaRPr lang="en-US" sz="1050" b="1" dirty="0">
              <a:latin typeface="Courier"/>
              <a:cs typeface="Courier"/>
            </a:endParaRPr>
          </a:p>
          <a:p>
            <a:pPr algn="l"/>
            <a:endParaRPr lang="en-US" sz="1050" b="1" dirty="0">
              <a:latin typeface="Courier"/>
              <a:cs typeface="Courier"/>
            </a:endParaRPr>
          </a:p>
          <a:p>
            <a:pPr algn="l"/>
            <a:r>
              <a:rPr lang="en-US" sz="2000" b="1" dirty="0" err="1">
                <a:solidFill>
                  <a:srgbClr val="000000"/>
                </a:solidFill>
                <a:latin typeface="Courier"/>
                <a:cs typeface="Courier"/>
              </a:rPr>
              <a:t>int</a:t>
            </a:r>
            <a:r>
              <a:rPr lang="en-US" sz="2000" b="1" dirty="0">
                <a:solidFill>
                  <a:srgbClr val="000000"/>
                </a:solidFill>
                <a:latin typeface="Courier"/>
                <a:cs typeface="Courier"/>
              </a:rPr>
              <a:t> main(){</a:t>
            </a:r>
            <a:endParaRPr lang="en-US" sz="1050" b="1" dirty="0">
              <a:latin typeface="Courier"/>
              <a:cs typeface="Courier"/>
            </a:endParaRPr>
          </a:p>
          <a:p>
            <a:pPr algn="l"/>
            <a:r>
              <a:rPr lang="en-US" sz="2000" b="1" dirty="0">
                <a:solidFill>
                  <a:srgbClr val="000000"/>
                </a:solidFill>
                <a:latin typeface="Courier"/>
                <a:cs typeface="Courier"/>
              </a:rPr>
              <a:t>   char nom[20] = "Balthazar";</a:t>
            </a:r>
            <a:endParaRPr lang="en-US" sz="1050" b="1" dirty="0">
              <a:latin typeface="Courier"/>
              <a:cs typeface="Courier"/>
            </a:endParaRPr>
          </a:p>
          <a:p>
            <a:pPr algn="l"/>
            <a:r>
              <a:rPr lang="en-US" sz="2000" b="1" dirty="0">
                <a:solidFill>
                  <a:srgbClr val="000000"/>
                </a:solidFill>
                <a:latin typeface="Courier"/>
                <a:cs typeface="Courier"/>
              </a:rPr>
              <a:t>   double </a:t>
            </a:r>
            <a:r>
              <a:rPr lang="en-US" sz="2000" b="1" dirty="0" err="1">
                <a:solidFill>
                  <a:srgbClr val="000000"/>
                </a:solidFill>
                <a:latin typeface="Courier"/>
                <a:cs typeface="Courier"/>
              </a:rPr>
              <a:t>solde</a:t>
            </a:r>
            <a:r>
              <a:rPr lang="en-US" sz="2000" b="1" dirty="0">
                <a:solidFill>
                  <a:srgbClr val="000000"/>
                </a:solidFill>
                <a:latin typeface="Courier"/>
                <a:cs typeface="Courier"/>
              </a:rPr>
              <a:t> = 1000.25;</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int</a:t>
            </a:r>
            <a:r>
              <a:rPr lang="en-US" sz="2000" b="1" dirty="0">
                <a:solidFill>
                  <a:srgbClr val="000000"/>
                </a:solidFill>
                <a:latin typeface="Courier"/>
                <a:cs typeface="Courier"/>
              </a:rPr>
              <a:t> age = 21;</a:t>
            </a:r>
            <a:endParaRPr lang="en-US" sz="1050" b="1" dirty="0">
              <a:latin typeface="Courier"/>
              <a:cs typeface="Courier"/>
            </a:endParaRPr>
          </a:p>
          <a:p>
            <a:pPr algn="l"/>
            <a:r>
              <a:rPr lang="en-US" sz="2000" b="1" dirty="0">
                <a:solidFill>
                  <a:srgbClr val="000000"/>
                </a:solidFill>
                <a:latin typeface="Courier"/>
                <a:cs typeface="Courier"/>
              </a:rPr>
              <a:t>   </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printf</a:t>
            </a:r>
            <a:r>
              <a:rPr lang="en-US" sz="2000" b="1" dirty="0">
                <a:solidFill>
                  <a:srgbClr val="000000"/>
                </a:solidFill>
                <a:latin typeface="Courier"/>
                <a:cs typeface="Courier"/>
              </a:rPr>
              <a:t>("Hello %s, you have %d years\n", nom, age);</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printf</a:t>
            </a:r>
            <a:r>
              <a:rPr lang="en-US" sz="2000" b="1" dirty="0">
                <a:solidFill>
                  <a:srgbClr val="000000"/>
                </a:solidFill>
                <a:latin typeface="Courier"/>
                <a:cs typeface="Courier"/>
              </a:rPr>
              <a:t>("Your age is written %x in hex\n", age);</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printf</a:t>
            </a:r>
            <a:r>
              <a:rPr lang="en-US" sz="2000" b="1" dirty="0">
                <a:solidFill>
                  <a:srgbClr val="000000"/>
                </a:solidFill>
                <a:latin typeface="Courier"/>
                <a:cs typeface="Courier"/>
              </a:rPr>
              <a:t>("Your name start with the letter %c\n", nom[0]);</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printf</a:t>
            </a:r>
            <a:r>
              <a:rPr lang="en-US" sz="2000" b="1" dirty="0">
                <a:solidFill>
                  <a:srgbClr val="000000"/>
                </a:solidFill>
                <a:latin typeface="Courier"/>
                <a:cs typeface="Courier"/>
              </a:rPr>
              <a:t>("Your bank account balance is %lf\n", </a:t>
            </a:r>
            <a:r>
              <a:rPr lang="en-US" sz="2000" b="1" dirty="0" err="1">
                <a:solidFill>
                  <a:srgbClr val="000000"/>
                </a:solidFill>
                <a:latin typeface="Courier"/>
                <a:cs typeface="Courier"/>
              </a:rPr>
              <a:t>solde</a:t>
            </a:r>
            <a:r>
              <a:rPr lang="en-US" sz="2000" b="1" dirty="0">
                <a:solidFill>
                  <a:srgbClr val="000000"/>
                </a:solidFill>
                <a:latin typeface="Courier"/>
                <a:cs typeface="Courier"/>
              </a:rPr>
              <a:t>);</a:t>
            </a:r>
            <a:endParaRPr lang="en-US" sz="1050" b="1" dirty="0">
              <a:latin typeface="Courier"/>
              <a:cs typeface="Courier"/>
            </a:endParaRPr>
          </a:p>
          <a:p>
            <a:pPr algn="l"/>
            <a:r>
              <a:rPr lang="en-US" sz="2000" b="1" dirty="0">
                <a:solidFill>
                  <a:srgbClr val="000000"/>
                </a:solidFill>
                <a:latin typeface="Courier"/>
                <a:cs typeface="Courier"/>
              </a:rPr>
              <a:t>   </a:t>
            </a:r>
            <a:r>
              <a:rPr lang="en-US" sz="2000" b="1" dirty="0" err="1">
                <a:solidFill>
                  <a:srgbClr val="000000"/>
                </a:solidFill>
                <a:latin typeface="Courier"/>
                <a:cs typeface="Courier"/>
              </a:rPr>
              <a:t>printf</a:t>
            </a:r>
            <a:r>
              <a:rPr lang="en-US" sz="2000" b="1" dirty="0">
                <a:solidFill>
                  <a:srgbClr val="000000"/>
                </a:solidFill>
                <a:latin typeface="Courier"/>
                <a:cs typeface="Courier"/>
              </a:rPr>
              <a:t>("The address of the table name is %p\n", nom);</a:t>
            </a:r>
            <a:endParaRPr lang="en-US" sz="1050" b="1" dirty="0">
              <a:latin typeface="Courier"/>
              <a:cs typeface="Courier"/>
            </a:endParaRPr>
          </a:p>
          <a:p>
            <a:pPr algn="l"/>
            <a:r>
              <a:rPr lang="en-US" sz="2000" b="1" dirty="0">
                <a:solidFill>
                  <a:srgbClr val="000000"/>
                </a:solidFill>
                <a:latin typeface="Courier"/>
                <a:cs typeface="Courier"/>
              </a:rPr>
              <a:t>}</a:t>
            </a:r>
            <a:endParaRPr lang="en-US" sz="1050" b="1" dirty="0">
              <a:latin typeface="Courier"/>
              <a:cs typeface="Courier"/>
            </a:endParaRPr>
          </a:p>
        </p:txBody>
      </p:sp>
      <p:sp>
        <p:nvSpPr>
          <p:cNvPr id="6" name="Titre 1"/>
          <p:cNvSpPr txBox="1">
            <a:spLocks/>
          </p:cNvSpPr>
          <p:nvPr/>
        </p:nvSpPr>
        <p:spPr>
          <a:xfrm>
            <a:off x="304800" y="152400"/>
            <a:ext cx="7772400" cy="533400"/>
          </a:xfrm>
          <a:prstGeom prst="rect">
            <a:avLst/>
          </a:prstGeom>
        </p:spPr>
        <p:txBody>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fr-FR" sz="2800" dirty="0">
                <a:latin typeface="Arial" charset="0"/>
                <a:cs typeface="ＭＳ Ｐゴシック" charset="0"/>
              </a:rPr>
              <a:t>Exercice 1: Basic I/O</a:t>
            </a:r>
          </a:p>
        </p:txBody>
      </p:sp>
      <p:sp>
        <p:nvSpPr>
          <p:cNvPr id="7" name="Espace réservé du contenu 2"/>
          <p:cNvSpPr txBox="1">
            <a:spLocks/>
          </p:cNvSpPr>
          <p:nvPr/>
        </p:nvSpPr>
        <p:spPr>
          <a:xfrm>
            <a:off x="359532" y="944724"/>
            <a:ext cx="8784468" cy="4537075"/>
          </a:xfrm>
          <a:prstGeom prst="rect">
            <a:avLst/>
          </a:prstGeom>
        </p:spPr>
        <p:txBody>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cs typeface="Courier"/>
              </a:rPr>
              <a:t>What prints the following program? (assume array nom is stored at the address </a:t>
            </a:r>
            <a:r>
              <a:rPr lang="en-GB" dirty="0"/>
              <a:t>0x3472A000)</a:t>
            </a:r>
          </a:p>
          <a:p>
            <a:endParaRPr lang="en-GB" dirty="0">
              <a:latin typeface="Arial" charset="0"/>
            </a:endParaRPr>
          </a:p>
        </p:txBody>
      </p:sp>
      <p:sp>
        <p:nvSpPr>
          <p:cNvPr id="8"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Espace réservé du numéro de diapositive 1">
            <a:extLst>
              <a:ext uri="{FF2B5EF4-FFF2-40B4-BE49-F238E27FC236}">
                <a16:creationId xmlns:a16="http://schemas.microsoft.com/office/drawing/2014/main" id="{F3BBB245-6D1F-DC6A-0D6B-778CBBC11B3E}"/>
              </a:ext>
            </a:extLst>
          </p:cNvPr>
          <p:cNvSpPr>
            <a:spLocks noGrp="1"/>
          </p:cNvSpPr>
          <p:nvPr>
            <p:ph type="sldNum" sz="quarter" idx="11"/>
          </p:nvPr>
        </p:nvSpPr>
        <p:spPr/>
        <p:txBody>
          <a:bodyPr/>
          <a:lstStyle/>
          <a:p>
            <a:pPr lvl="2"/>
            <a:fld id="{727894EC-6C46-9F44-A76B-25ED247F1F1D}" type="slidenum">
              <a:rPr lang="fr-FR" smtClean="0"/>
              <a:pPr lvl="2"/>
              <a:t>299</a:t>
            </a:fld>
            <a:endParaRPr lang="fr-FR"/>
          </a:p>
        </p:txBody>
      </p:sp>
    </p:spTree>
    <p:extLst>
      <p:ext uri="{BB962C8B-B14F-4D97-AF65-F5344CB8AC3E}">
        <p14:creationId xmlns:p14="http://schemas.microsoft.com/office/powerpoint/2010/main" val="349001680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re 1"/>
          <p:cNvSpPr>
            <a:spLocks noGrp="1"/>
          </p:cNvSpPr>
          <p:nvPr>
            <p:ph type="title"/>
          </p:nvPr>
        </p:nvSpPr>
        <p:spPr/>
        <p:txBody>
          <a:bodyPr/>
          <a:lstStyle/>
          <a:p>
            <a:r>
              <a:rPr lang="fr-FR" sz="2800" dirty="0">
                <a:latin typeface="Arial" charset="0"/>
                <a:ea typeface="ＭＳ Ｐゴシック" charset="0"/>
                <a:cs typeface="ＭＳ Ｐゴシック" charset="0"/>
              </a:rPr>
              <a:t>Exercice 2: Pointers</a:t>
            </a:r>
          </a:p>
        </p:txBody>
      </p:sp>
      <p:sp>
        <p:nvSpPr>
          <p:cNvPr id="110594" name="Espace réservé du contenu 2"/>
          <p:cNvSpPr>
            <a:spLocks noGrp="1"/>
          </p:cNvSpPr>
          <p:nvPr>
            <p:ph idx="1"/>
          </p:nvPr>
        </p:nvSpPr>
        <p:spPr/>
        <p:txBody>
          <a:bodyPr/>
          <a:lstStyle/>
          <a:p>
            <a:r>
              <a:rPr lang="en-US">
                <a:latin typeface="Arial" charset="0"/>
                <a:cs typeface="ＭＳ Ｐゴシック" charset="0"/>
              </a:rPr>
              <a:t>Assume the following instructions</a:t>
            </a:r>
            <a:br>
              <a:rPr lang="en-US">
                <a:latin typeface="Arial" charset="0"/>
                <a:cs typeface="ＭＳ Ｐゴシック" charset="0"/>
              </a:rPr>
            </a:br>
            <a:r>
              <a:rPr lang="en-US" b="1">
                <a:latin typeface="Courier"/>
                <a:cs typeface="Courier"/>
              </a:rPr>
              <a:t>int x=0;</a:t>
            </a:r>
            <a:br>
              <a:rPr lang="en-US" b="1">
                <a:latin typeface="Courier"/>
                <a:cs typeface="Courier"/>
              </a:rPr>
            </a:br>
            <a:r>
              <a:rPr lang="en-US" b="1">
                <a:latin typeface="Courier"/>
                <a:cs typeface="Courier"/>
              </a:rPr>
              <a:t>int y=0;</a:t>
            </a:r>
            <a:br>
              <a:rPr lang="en-US" b="1">
                <a:latin typeface="Courier"/>
                <a:cs typeface="Courier"/>
              </a:rPr>
            </a:br>
            <a:r>
              <a:rPr lang="en-US" b="1">
                <a:latin typeface="Courier"/>
                <a:cs typeface="Courier"/>
              </a:rPr>
              <a:t>int* p=NULL;</a:t>
            </a:r>
            <a:br>
              <a:rPr lang="en-US" b="1">
                <a:latin typeface="Courier"/>
                <a:cs typeface="Courier"/>
              </a:rPr>
            </a:br>
            <a:r>
              <a:rPr lang="en-US" b="1">
                <a:latin typeface="Courier"/>
                <a:cs typeface="Courier"/>
              </a:rPr>
              <a:t>p = &amp;x;</a:t>
            </a:r>
            <a:br>
              <a:rPr lang="en-US" b="1">
                <a:latin typeface="Courier"/>
                <a:cs typeface="Courier"/>
              </a:rPr>
            </a:br>
            <a:r>
              <a:rPr lang="en-US" b="1">
                <a:latin typeface="Courier"/>
                <a:cs typeface="Courier"/>
              </a:rPr>
              <a:t>x=2;</a:t>
            </a:r>
            <a:br>
              <a:rPr lang="en-US" b="1">
                <a:latin typeface="Courier"/>
                <a:cs typeface="Courier"/>
              </a:rPr>
            </a:br>
            <a:r>
              <a:rPr lang="en-US" b="1">
                <a:latin typeface="Courier"/>
                <a:cs typeface="Courier"/>
              </a:rPr>
              <a:t>y=4;</a:t>
            </a:r>
            <a:br>
              <a:rPr lang="en-US" b="1">
                <a:latin typeface="Courier"/>
                <a:cs typeface="Courier"/>
              </a:rPr>
            </a:br>
            <a:r>
              <a:rPr lang="en-US" b="1">
                <a:latin typeface="Courier"/>
                <a:cs typeface="Courier"/>
              </a:rPr>
              <a:t>*p = y;</a:t>
            </a:r>
            <a:br>
              <a:rPr lang="en-US" b="1">
                <a:latin typeface="Courier"/>
                <a:cs typeface="Courier"/>
              </a:rPr>
            </a:br>
            <a:r>
              <a:rPr lang="en-US" b="1">
                <a:latin typeface="Courier"/>
                <a:cs typeface="Courier"/>
              </a:rPr>
              <a:t>x = 5;</a:t>
            </a:r>
            <a:br>
              <a:rPr lang="en-US" b="1">
                <a:latin typeface="Courier"/>
                <a:cs typeface="Courier"/>
              </a:rPr>
            </a:br>
            <a:r>
              <a:rPr lang="en-US" b="1">
                <a:latin typeface="Courier"/>
                <a:cs typeface="Courier"/>
              </a:rPr>
              <a:t>y = *p;</a:t>
            </a:r>
            <a:br>
              <a:rPr lang="en-US" b="1">
                <a:latin typeface="Courier"/>
                <a:cs typeface="Courier"/>
              </a:rPr>
            </a:br>
            <a:r>
              <a:rPr lang="en-US" b="1">
                <a:latin typeface="Courier"/>
                <a:cs typeface="Courier"/>
              </a:rPr>
              <a:t>p = &amp;y;</a:t>
            </a:r>
          </a:p>
          <a:p>
            <a:endParaRPr lang="en-US" b="1">
              <a:latin typeface="Courier"/>
              <a:cs typeface="Courier"/>
            </a:endParaRPr>
          </a:p>
          <a:p>
            <a:r>
              <a:rPr lang="en-US">
                <a:latin typeface="Arial" charset="0"/>
                <a:cs typeface="ＭＳ Ｐゴシック" charset="0"/>
              </a:rPr>
              <a:t>Provide the values of </a:t>
            </a:r>
            <a:r>
              <a:rPr lang="en-US" b="1">
                <a:latin typeface="Arial" charset="0"/>
                <a:cs typeface="ＭＳ Ｐゴシック" charset="0"/>
              </a:rPr>
              <a:t>x</a:t>
            </a:r>
            <a:r>
              <a:rPr lang="en-US">
                <a:latin typeface="Arial" charset="0"/>
                <a:cs typeface="ＭＳ Ｐゴシック" charset="0"/>
              </a:rPr>
              <a:t>, </a:t>
            </a:r>
            <a:r>
              <a:rPr lang="en-US" b="1">
                <a:latin typeface="Arial" charset="0"/>
                <a:cs typeface="ＭＳ Ｐゴシック" charset="0"/>
              </a:rPr>
              <a:t>y </a:t>
            </a:r>
            <a:r>
              <a:rPr lang="en-US">
                <a:latin typeface="Arial" charset="0"/>
                <a:cs typeface="ＭＳ Ｐゴシック" charset="0"/>
              </a:rPr>
              <a:t>and </a:t>
            </a:r>
            <a:r>
              <a:rPr lang="en-US" b="1">
                <a:latin typeface="Arial" charset="0"/>
                <a:cs typeface="ＭＳ Ｐゴシック" charset="0"/>
              </a:rPr>
              <a:t>p</a:t>
            </a:r>
          </a:p>
        </p:txBody>
      </p:sp>
      <p:sp>
        <p:nvSpPr>
          <p:cNvPr id="5"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
        <p:nvSpPr>
          <p:cNvPr id="2" name="Espace réservé du numéro de diapositive 1">
            <a:extLst>
              <a:ext uri="{FF2B5EF4-FFF2-40B4-BE49-F238E27FC236}">
                <a16:creationId xmlns:a16="http://schemas.microsoft.com/office/drawing/2014/main" id="{58C9CA36-985E-5CB4-5B02-81D8087AAAC3}"/>
              </a:ext>
            </a:extLst>
          </p:cNvPr>
          <p:cNvSpPr>
            <a:spLocks noGrp="1"/>
          </p:cNvSpPr>
          <p:nvPr>
            <p:ph type="sldNum" sz="quarter" idx="11"/>
          </p:nvPr>
        </p:nvSpPr>
        <p:spPr/>
        <p:txBody>
          <a:bodyPr/>
          <a:lstStyle/>
          <a:p>
            <a:pPr lvl="2"/>
            <a:fld id="{28BEB0BA-EEE4-5F45-9179-3BC54B76BCCF}" type="slidenum">
              <a:rPr lang="fr-FR" smtClean="0"/>
              <a:pPr lvl="2"/>
              <a:t>300</a:t>
            </a:fld>
            <a:endParaRPr lang="fr-FR"/>
          </a:p>
        </p:txBody>
      </p:sp>
    </p:spTree>
    <p:extLst>
      <p:ext uri="{BB962C8B-B14F-4D97-AF65-F5344CB8AC3E}">
        <p14:creationId xmlns:p14="http://schemas.microsoft.com/office/powerpoint/2010/main" val="1340996095"/>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764704"/>
            <a:ext cx="8261350" cy="330932"/>
          </a:xfrm>
        </p:spPr>
        <p:txBody>
          <a:bodyPr/>
          <a:lstStyle/>
          <a:p>
            <a:r>
              <a:rPr lang="en-US" dirty="0"/>
              <a:t>Give the output of the program</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301</a:t>
            </a:fld>
            <a:endParaRPr lang="fr-FR"/>
          </a:p>
        </p:txBody>
      </p:sp>
      <p:sp>
        <p:nvSpPr>
          <p:cNvPr id="6" name="Rectangle 5"/>
          <p:cNvSpPr/>
          <p:nvPr/>
        </p:nvSpPr>
        <p:spPr>
          <a:xfrm>
            <a:off x="179512" y="1264455"/>
            <a:ext cx="8604956" cy="5656933"/>
          </a:xfrm>
          <a:prstGeom prst="rect">
            <a:avLst/>
          </a:prstGeom>
        </p:spPr>
        <p:txBody>
          <a:bodyPr wrap="square">
            <a:spAutoFit/>
          </a:bodyPr>
          <a:lstStyle/>
          <a:p>
            <a:pPr algn="l"/>
            <a:r>
              <a:rPr lang="en-GB" sz="1600" b="1" dirty="0">
                <a:latin typeface="Courier New"/>
                <a:cs typeface="Courier New"/>
              </a:rPr>
              <a:t>#include &lt;</a:t>
            </a:r>
            <a:r>
              <a:rPr lang="en-GB" sz="1600" b="1" dirty="0" err="1">
                <a:latin typeface="Courier New"/>
                <a:cs typeface="Courier New"/>
              </a:rPr>
              <a:t>stdio.h</a:t>
            </a:r>
            <a:r>
              <a:rPr lang="en-GB" sz="1600" b="1" dirty="0">
                <a:latin typeface="Courier New"/>
                <a:cs typeface="Courier New"/>
              </a:rPr>
              <a:t>&gt; </a:t>
            </a:r>
            <a:endParaRPr lang="en-US" sz="1600" dirty="0">
              <a:latin typeface="Courier New"/>
              <a:cs typeface="Courier New"/>
            </a:endParaRPr>
          </a:p>
          <a:p>
            <a:pPr algn="l"/>
            <a:r>
              <a:rPr lang="en-GB" sz="1600" b="1" dirty="0">
                <a:latin typeface="Courier New"/>
                <a:cs typeface="Courier New"/>
              </a:rPr>
              <a:t>void </a:t>
            </a:r>
            <a:r>
              <a:rPr lang="en-GB" sz="1600" b="1" dirty="0" err="1">
                <a:latin typeface="Courier New"/>
                <a:cs typeface="Courier New"/>
              </a:rPr>
              <a:t>echange</a:t>
            </a:r>
            <a:r>
              <a:rPr lang="en-GB" sz="1600" b="1" dirty="0">
                <a:latin typeface="Courier New"/>
                <a:cs typeface="Courier New"/>
              </a:rPr>
              <a:t>(</a:t>
            </a:r>
            <a:r>
              <a:rPr lang="en-GB" sz="1600" b="1" dirty="0" err="1">
                <a:latin typeface="Courier New"/>
                <a:cs typeface="Courier New"/>
              </a:rPr>
              <a:t>int</a:t>
            </a:r>
            <a:r>
              <a:rPr lang="en-GB" sz="1600" b="1" dirty="0">
                <a:latin typeface="Courier New"/>
                <a:cs typeface="Courier New"/>
              </a:rPr>
              <a:t> * a, </a:t>
            </a:r>
            <a:r>
              <a:rPr lang="en-GB" sz="1600" b="1" dirty="0" err="1">
                <a:latin typeface="Courier New"/>
                <a:cs typeface="Courier New"/>
              </a:rPr>
              <a:t>int</a:t>
            </a:r>
            <a:r>
              <a:rPr lang="en-GB" sz="1600" b="1" dirty="0">
                <a:latin typeface="Courier New"/>
                <a:cs typeface="Courier New"/>
              </a:rPr>
              <a:t> b){ </a:t>
            </a:r>
            <a:endParaRPr lang="en-US" sz="1600" dirty="0">
              <a:latin typeface="Courier New"/>
              <a:cs typeface="Courier New"/>
            </a:endParaRPr>
          </a:p>
          <a:p>
            <a:pPr algn="l"/>
            <a:r>
              <a:rPr lang="en-GB" sz="1600" b="1" dirty="0">
                <a:latin typeface="Courier New"/>
                <a:cs typeface="Courier New"/>
              </a:rPr>
              <a:t>	</a:t>
            </a:r>
            <a:r>
              <a:rPr lang="fr-FR" sz="1600" b="1" dirty="0" err="1">
                <a:latin typeface="Courier New"/>
                <a:cs typeface="Courier New"/>
              </a:rPr>
              <a:t>int</a:t>
            </a:r>
            <a:r>
              <a:rPr lang="fr-FR" sz="1600" b="1" dirty="0">
                <a:latin typeface="Courier New"/>
                <a:cs typeface="Courier New"/>
              </a:rPr>
              <a:t> sauve; sauve = *a; *a = b; b = sauve; </a:t>
            </a:r>
            <a:endParaRPr lang="en-US" sz="1600" dirty="0">
              <a:latin typeface="Courier New"/>
              <a:cs typeface="Courier New"/>
            </a:endParaRPr>
          </a:p>
          <a:p>
            <a:pPr algn="l"/>
            <a:r>
              <a:rPr lang="fr-FR" sz="1600" b="1" dirty="0">
                <a:latin typeface="Courier New"/>
                <a:cs typeface="Courier New"/>
              </a:rPr>
              <a:t>} </a:t>
            </a:r>
            <a:endParaRPr lang="en-US" sz="1600" dirty="0">
              <a:latin typeface="Courier New"/>
              <a:cs typeface="Courier New"/>
            </a:endParaRPr>
          </a:p>
          <a:p>
            <a:pPr algn="l"/>
            <a:r>
              <a:rPr lang="fr-FR" sz="1600" b="1" dirty="0" err="1">
                <a:latin typeface="Courier New"/>
                <a:cs typeface="Courier New"/>
              </a:rPr>
              <a:t>void</a:t>
            </a:r>
            <a:r>
              <a:rPr lang="fr-FR" sz="1600" b="1" dirty="0">
                <a:latin typeface="Courier New"/>
                <a:cs typeface="Courier New"/>
              </a:rPr>
              <a:t> echange2(</a:t>
            </a:r>
            <a:r>
              <a:rPr lang="fr-FR" sz="1600" b="1" dirty="0" err="1">
                <a:latin typeface="Courier New"/>
                <a:cs typeface="Courier New"/>
              </a:rPr>
              <a:t>int</a:t>
            </a:r>
            <a:r>
              <a:rPr lang="fr-FR" sz="1600" b="1" dirty="0">
                <a:latin typeface="Courier New"/>
                <a:cs typeface="Courier New"/>
              </a:rPr>
              <a:t> * a, </a:t>
            </a:r>
            <a:r>
              <a:rPr lang="fr-FR" sz="1600" b="1" dirty="0" err="1">
                <a:latin typeface="Courier New"/>
                <a:cs typeface="Courier New"/>
              </a:rPr>
              <a:t>int</a:t>
            </a:r>
            <a:r>
              <a:rPr lang="fr-FR" sz="1600" b="1" dirty="0">
                <a:latin typeface="Courier New"/>
                <a:cs typeface="Courier New"/>
              </a:rPr>
              <a:t> ** b){ </a:t>
            </a:r>
            <a:endParaRPr lang="en-US" sz="1600" dirty="0">
              <a:latin typeface="Courier New"/>
              <a:cs typeface="Courier New"/>
            </a:endParaRPr>
          </a:p>
          <a:p>
            <a:pPr algn="l"/>
            <a:r>
              <a:rPr lang="fr-FR" sz="1600" b="1" dirty="0">
                <a:latin typeface="Courier New"/>
                <a:cs typeface="Courier New"/>
              </a:rPr>
              <a:t>	</a:t>
            </a:r>
            <a:r>
              <a:rPr lang="fr-FR" sz="1600" b="1" dirty="0" err="1">
                <a:latin typeface="Courier New"/>
                <a:cs typeface="Courier New"/>
              </a:rPr>
              <a:t>int</a:t>
            </a:r>
            <a:r>
              <a:rPr lang="fr-FR" sz="1600" b="1" dirty="0">
                <a:latin typeface="Courier New"/>
                <a:cs typeface="Courier New"/>
              </a:rPr>
              <a:t> sauve; sauve = *a; *a = **b; **b = sauve; </a:t>
            </a:r>
            <a:endParaRPr lang="en-US" sz="1600" dirty="0">
              <a:latin typeface="Courier New"/>
              <a:cs typeface="Courier New"/>
            </a:endParaRPr>
          </a:p>
          <a:p>
            <a:pPr algn="l"/>
            <a:r>
              <a:rPr lang="fr-FR" sz="1600" b="1" dirty="0">
                <a:latin typeface="Courier New"/>
                <a:cs typeface="Courier New"/>
              </a:rPr>
              <a:t>} </a:t>
            </a:r>
            <a:endParaRPr lang="en-US" sz="1600" dirty="0">
              <a:latin typeface="Courier New"/>
              <a:cs typeface="Courier New"/>
            </a:endParaRPr>
          </a:p>
          <a:p>
            <a:pPr algn="l"/>
            <a:r>
              <a:rPr lang="fr-FR" sz="1600" b="1" dirty="0" err="1">
                <a:latin typeface="Courier New"/>
                <a:cs typeface="Courier New"/>
              </a:rPr>
              <a:t>void</a:t>
            </a:r>
            <a:r>
              <a:rPr lang="fr-FR" sz="1600" b="1" dirty="0">
                <a:latin typeface="Courier New"/>
                <a:cs typeface="Courier New"/>
              </a:rPr>
              <a:t> echange3(</a:t>
            </a:r>
            <a:r>
              <a:rPr lang="fr-FR" sz="1600" b="1" dirty="0" err="1">
                <a:latin typeface="Courier New"/>
                <a:cs typeface="Courier New"/>
              </a:rPr>
              <a:t>int</a:t>
            </a:r>
            <a:r>
              <a:rPr lang="fr-FR" sz="1600" b="1" dirty="0">
                <a:latin typeface="Courier New"/>
                <a:cs typeface="Courier New"/>
              </a:rPr>
              <a:t> * </a:t>
            </a:r>
            <a:r>
              <a:rPr lang="fr-FR" sz="1600" b="1" dirty="0" err="1">
                <a:latin typeface="Courier New"/>
                <a:cs typeface="Courier New"/>
              </a:rPr>
              <a:t>a,int</a:t>
            </a:r>
            <a:r>
              <a:rPr lang="fr-FR" sz="1600" b="1" dirty="0">
                <a:latin typeface="Courier New"/>
                <a:cs typeface="Courier New"/>
              </a:rPr>
              <a:t> * b){ </a:t>
            </a:r>
            <a:endParaRPr lang="en-US" sz="1600" dirty="0">
              <a:latin typeface="Courier New"/>
              <a:cs typeface="Courier New"/>
            </a:endParaRPr>
          </a:p>
          <a:p>
            <a:pPr algn="l"/>
            <a:r>
              <a:rPr lang="fr-FR" sz="1600" b="1" dirty="0">
                <a:latin typeface="Courier New"/>
                <a:cs typeface="Courier New"/>
              </a:rPr>
              <a:t>	</a:t>
            </a:r>
            <a:r>
              <a:rPr lang="fr-FR" sz="1600" b="1" dirty="0" err="1">
                <a:latin typeface="Courier New"/>
                <a:cs typeface="Courier New"/>
              </a:rPr>
              <a:t>int</a:t>
            </a:r>
            <a:r>
              <a:rPr lang="fr-FR" sz="1600" b="1" dirty="0">
                <a:latin typeface="Courier New"/>
                <a:cs typeface="Courier New"/>
              </a:rPr>
              <a:t> sauve; sauve = *a; *a = *b; *b = sauve; </a:t>
            </a:r>
            <a:endParaRPr lang="en-US" sz="1600" dirty="0">
              <a:latin typeface="Courier New"/>
              <a:cs typeface="Courier New"/>
            </a:endParaRPr>
          </a:p>
          <a:p>
            <a:pPr algn="l"/>
            <a:r>
              <a:rPr lang="fr-FR" sz="1600" b="1" dirty="0">
                <a:latin typeface="Courier New"/>
                <a:cs typeface="Courier New"/>
              </a:rPr>
              <a:t>} </a:t>
            </a:r>
            <a:endParaRPr lang="en-US" sz="1600" dirty="0">
              <a:latin typeface="Courier New"/>
              <a:cs typeface="Courier New"/>
            </a:endParaRPr>
          </a:p>
          <a:p>
            <a:pPr algn="l"/>
            <a:r>
              <a:rPr lang="fr-FR" sz="1600" b="1" dirty="0" err="1">
                <a:latin typeface="Courier New"/>
                <a:cs typeface="Courier New"/>
              </a:rPr>
              <a:t>int</a:t>
            </a:r>
            <a:r>
              <a:rPr lang="fr-FR" sz="1600" b="1" dirty="0">
                <a:latin typeface="Courier New"/>
                <a:cs typeface="Courier New"/>
              </a:rPr>
              <a:t> main(){ </a:t>
            </a:r>
            <a:endParaRPr lang="en-US" sz="1600" dirty="0">
              <a:latin typeface="Courier New"/>
              <a:cs typeface="Courier New"/>
            </a:endParaRPr>
          </a:p>
          <a:p>
            <a:pPr algn="l"/>
            <a:r>
              <a:rPr lang="fr-FR" sz="1600" b="1" dirty="0">
                <a:latin typeface="Courier New"/>
                <a:cs typeface="Courier New"/>
              </a:rPr>
              <a:t>	</a:t>
            </a:r>
            <a:r>
              <a:rPr lang="fr-FR" sz="1600" b="1" dirty="0" err="1">
                <a:latin typeface="Courier New"/>
                <a:cs typeface="Courier New"/>
              </a:rPr>
              <a:t>int</a:t>
            </a:r>
            <a:r>
              <a:rPr lang="fr-FR" sz="1600" b="1" dirty="0">
                <a:latin typeface="Courier New"/>
                <a:cs typeface="Courier New"/>
              </a:rPr>
              <a:t> a, b, d; </a:t>
            </a:r>
            <a:r>
              <a:rPr lang="fr-FR" sz="1600" b="1" dirty="0" err="1">
                <a:latin typeface="Courier New"/>
                <a:cs typeface="Courier New"/>
              </a:rPr>
              <a:t>int</a:t>
            </a:r>
            <a:r>
              <a:rPr lang="fr-FR" sz="1600" b="1" dirty="0">
                <a:latin typeface="Courier New"/>
                <a:cs typeface="Courier New"/>
              </a:rPr>
              <a:t>* c = &amp;d; a = 1; b = 2; (*c) = 3; </a:t>
            </a:r>
            <a:endParaRPr lang="en-US" sz="1600" dirty="0">
              <a:latin typeface="Courier New"/>
              <a:cs typeface="Courier New"/>
            </a:endParaRPr>
          </a:p>
          <a:p>
            <a:pPr algn="l"/>
            <a:r>
              <a:rPr lang="fr-FR" sz="1600" b="1" dirty="0">
                <a:latin typeface="Courier New"/>
                <a:cs typeface="Courier New"/>
              </a:rPr>
              <a:t>	</a:t>
            </a:r>
            <a:r>
              <a:rPr lang="fr-FR" sz="1600" b="1" dirty="0" err="1">
                <a:latin typeface="Courier New"/>
                <a:cs typeface="Courier New"/>
              </a:rPr>
              <a:t>echange</a:t>
            </a:r>
            <a:r>
              <a:rPr lang="fr-FR" sz="1600" b="1" dirty="0">
                <a:latin typeface="Courier New"/>
                <a:cs typeface="Courier New"/>
              </a:rPr>
              <a:t>(&amp;</a:t>
            </a:r>
            <a:r>
              <a:rPr lang="fr-FR" sz="1600" b="1" dirty="0" err="1">
                <a:latin typeface="Courier New"/>
                <a:cs typeface="Courier New"/>
              </a:rPr>
              <a:t>a,b</a:t>
            </a:r>
            <a:r>
              <a:rPr lang="fr-FR" sz="1600" b="1" dirty="0">
                <a:latin typeface="Courier New"/>
                <a:cs typeface="Courier New"/>
              </a:rPr>
              <a:t>);   </a:t>
            </a:r>
            <a:r>
              <a:rPr lang="fr-FR" sz="1600" b="1" dirty="0" err="1">
                <a:latin typeface="Courier New"/>
                <a:cs typeface="Courier New"/>
              </a:rPr>
              <a:t>printf</a:t>
            </a:r>
            <a:r>
              <a:rPr lang="fr-FR" sz="1600" b="1" dirty="0">
                <a:latin typeface="Courier New"/>
                <a:cs typeface="Courier New"/>
              </a:rPr>
              <a:t>("a= %d, b= %d\n",</a:t>
            </a:r>
            <a:r>
              <a:rPr lang="fr-FR" sz="1600" b="1" dirty="0" err="1">
                <a:latin typeface="Courier New"/>
                <a:cs typeface="Courier New"/>
              </a:rPr>
              <a:t>a,b</a:t>
            </a:r>
            <a:r>
              <a:rPr lang="fr-FR" sz="1600" b="1" dirty="0">
                <a:latin typeface="Courier New"/>
                <a:cs typeface="Courier New"/>
              </a:rPr>
              <a:t>); 	</a:t>
            </a:r>
            <a:endParaRPr lang="en-US" sz="1600" dirty="0">
              <a:latin typeface="Courier New"/>
              <a:cs typeface="Courier New"/>
            </a:endParaRPr>
          </a:p>
          <a:p>
            <a:pPr algn="l"/>
            <a:r>
              <a:rPr lang="fr-FR" sz="1600" b="1" dirty="0">
                <a:latin typeface="Courier New"/>
                <a:cs typeface="Courier New"/>
              </a:rPr>
              <a:t>	</a:t>
            </a:r>
            <a:r>
              <a:rPr lang="en-GB" sz="1600" b="1" dirty="0">
                <a:latin typeface="Courier New"/>
                <a:cs typeface="Courier New"/>
              </a:rPr>
              <a:t>echange2(&amp;</a:t>
            </a:r>
            <a:r>
              <a:rPr lang="en-GB" sz="1600" b="1" dirty="0" err="1">
                <a:latin typeface="Courier New"/>
                <a:cs typeface="Courier New"/>
              </a:rPr>
              <a:t>a,&amp;c</a:t>
            </a:r>
            <a:r>
              <a:rPr lang="en-GB" sz="1600" b="1" dirty="0">
                <a:latin typeface="Courier New"/>
                <a:cs typeface="Courier New"/>
              </a:rPr>
              <a:t>); </a:t>
            </a:r>
            <a:r>
              <a:rPr lang="en-GB" sz="1600" b="1" dirty="0" err="1">
                <a:latin typeface="Courier New"/>
                <a:cs typeface="Courier New"/>
              </a:rPr>
              <a:t>printf</a:t>
            </a:r>
            <a:r>
              <a:rPr lang="en-GB" sz="1600" b="1" dirty="0">
                <a:latin typeface="Courier New"/>
                <a:cs typeface="Courier New"/>
              </a:rPr>
              <a:t>("a= %d, c= %d\</a:t>
            </a:r>
            <a:r>
              <a:rPr lang="en-GB" sz="1600" b="1" dirty="0" err="1">
                <a:latin typeface="Courier New"/>
                <a:cs typeface="Courier New"/>
              </a:rPr>
              <a:t>n",a</a:t>
            </a:r>
            <a:r>
              <a:rPr lang="en-GB" sz="1600" b="1" dirty="0">
                <a:latin typeface="Courier New"/>
                <a:cs typeface="Courier New"/>
              </a:rPr>
              <a:t>,*c);</a:t>
            </a:r>
            <a:endParaRPr lang="en-US" sz="1600" dirty="0">
              <a:latin typeface="Courier New"/>
              <a:cs typeface="Courier New"/>
            </a:endParaRPr>
          </a:p>
          <a:p>
            <a:pPr algn="l"/>
            <a:r>
              <a:rPr lang="en-GB" sz="1600" b="1" dirty="0">
                <a:latin typeface="Courier New"/>
                <a:cs typeface="Courier New"/>
              </a:rPr>
              <a:t>	echange3(&amp;</a:t>
            </a:r>
            <a:r>
              <a:rPr lang="en-GB" sz="1600" b="1" dirty="0" err="1">
                <a:latin typeface="Courier New"/>
                <a:cs typeface="Courier New"/>
              </a:rPr>
              <a:t>a,&amp;b</a:t>
            </a:r>
            <a:r>
              <a:rPr lang="en-GB" sz="1600" b="1" dirty="0">
                <a:latin typeface="Courier New"/>
                <a:cs typeface="Courier New"/>
              </a:rPr>
              <a:t>); </a:t>
            </a:r>
            <a:r>
              <a:rPr lang="en-GB" sz="1600" b="1" dirty="0" err="1">
                <a:latin typeface="Courier New"/>
                <a:cs typeface="Courier New"/>
              </a:rPr>
              <a:t>printf</a:t>
            </a:r>
            <a:r>
              <a:rPr lang="en-GB" sz="1600" b="1" dirty="0">
                <a:latin typeface="Courier New"/>
                <a:cs typeface="Courier New"/>
              </a:rPr>
              <a:t>("a= %d, b= %d\n",</a:t>
            </a:r>
            <a:r>
              <a:rPr lang="en-GB" sz="1600" b="1" dirty="0" err="1">
                <a:latin typeface="Courier New"/>
                <a:cs typeface="Courier New"/>
              </a:rPr>
              <a:t>a,b</a:t>
            </a:r>
            <a:r>
              <a:rPr lang="en-GB" sz="1600" b="1" dirty="0">
                <a:latin typeface="Courier New"/>
                <a:cs typeface="Courier New"/>
              </a:rPr>
              <a:t>); </a:t>
            </a:r>
            <a:endParaRPr lang="en-US" sz="1600" dirty="0">
              <a:latin typeface="Courier New"/>
              <a:cs typeface="Courier New"/>
            </a:endParaRPr>
          </a:p>
          <a:p>
            <a:pPr algn="l"/>
            <a:r>
              <a:rPr lang="en-GB" sz="1600" b="1" dirty="0">
                <a:latin typeface="Courier New"/>
                <a:cs typeface="Courier New"/>
              </a:rPr>
              <a:t>	echange3(&amp;</a:t>
            </a:r>
            <a:r>
              <a:rPr lang="en-GB" sz="1600" b="1" dirty="0" err="1">
                <a:latin typeface="Courier New"/>
                <a:cs typeface="Courier New"/>
              </a:rPr>
              <a:t>b,c</a:t>
            </a:r>
            <a:r>
              <a:rPr lang="en-GB" sz="1600" b="1" dirty="0">
                <a:latin typeface="Courier New"/>
                <a:cs typeface="Courier New"/>
              </a:rPr>
              <a:t>);  </a:t>
            </a:r>
            <a:r>
              <a:rPr lang="en-GB" sz="1600" b="1" dirty="0" err="1">
                <a:latin typeface="Courier New"/>
                <a:cs typeface="Courier New"/>
              </a:rPr>
              <a:t>printf</a:t>
            </a:r>
            <a:r>
              <a:rPr lang="en-GB" sz="1600" b="1" dirty="0">
                <a:latin typeface="Courier New"/>
                <a:cs typeface="Courier New"/>
              </a:rPr>
              <a:t>("b= %d, c= %d\</a:t>
            </a:r>
            <a:r>
              <a:rPr lang="en-GB" sz="1600" b="1" dirty="0" err="1">
                <a:latin typeface="Courier New"/>
                <a:cs typeface="Courier New"/>
              </a:rPr>
              <a:t>n",b</a:t>
            </a:r>
            <a:r>
              <a:rPr lang="en-GB" sz="1600" b="1" dirty="0">
                <a:latin typeface="Courier New"/>
                <a:cs typeface="Courier New"/>
              </a:rPr>
              <a:t>,*c); </a:t>
            </a:r>
            <a:endParaRPr lang="en-US" sz="1600" dirty="0">
              <a:latin typeface="Courier New"/>
              <a:cs typeface="Courier New"/>
            </a:endParaRPr>
          </a:p>
          <a:p>
            <a:pPr algn="l"/>
            <a:r>
              <a:rPr lang="en-GB" sz="1600" b="1" dirty="0">
                <a:latin typeface="Courier New"/>
                <a:cs typeface="Courier New"/>
              </a:rPr>
              <a:t>	</a:t>
            </a:r>
            <a:r>
              <a:rPr lang="en-GB" sz="1600" b="1" dirty="0" err="1">
                <a:latin typeface="Courier New"/>
                <a:cs typeface="Courier New"/>
              </a:rPr>
              <a:t>echange</a:t>
            </a:r>
            <a:r>
              <a:rPr lang="en-GB" sz="1600" b="1" dirty="0">
                <a:latin typeface="Courier New"/>
                <a:cs typeface="Courier New"/>
              </a:rPr>
              <a:t>(&amp;</a:t>
            </a:r>
            <a:r>
              <a:rPr lang="en-GB" sz="1600" b="1" dirty="0" err="1">
                <a:latin typeface="Courier New"/>
                <a:cs typeface="Courier New"/>
              </a:rPr>
              <a:t>a,&amp;b</a:t>
            </a:r>
            <a:r>
              <a:rPr lang="en-GB" sz="1600" b="1" dirty="0">
                <a:latin typeface="Courier New"/>
                <a:cs typeface="Courier New"/>
              </a:rPr>
              <a:t>);  </a:t>
            </a:r>
            <a:r>
              <a:rPr lang="en-GB" sz="1600" b="1" dirty="0" err="1">
                <a:latin typeface="Courier New"/>
                <a:cs typeface="Courier New"/>
              </a:rPr>
              <a:t>printf</a:t>
            </a:r>
            <a:r>
              <a:rPr lang="en-GB" sz="1600" b="1" dirty="0">
                <a:latin typeface="Courier New"/>
                <a:cs typeface="Courier New"/>
              </a:rPr>
              <a:t>("a= %d, b= %d\n",</a:t>
            </a:r>
            <a:r>
              <a:rPr lang="en-GB" sz="1600" b="1" dirty="0" err="1">
                <a:latin typeface="Courier New"/>
                <a:cs typeface="Courier New"/>
              </a:rPr>
              <a:t>a,b</a:t>
            </a:r>
            <a:r>
              <a:rPr lang="en-GB" sz="1600" b="1" dirty="0">
                <a:latin typeface="Courier New"/>
                <a:cs typeface="Courier New"/>
              </a:rPr>
              <a:t>); </a:t>
            </a:r>
            <a:endParaRPr lang="en-US" sz="1600" dirty="0">
              <a:latin typeface="Courier New"/>
              <a:cs typeface="Courier New"/>
            </a:endParaRPr>
          </a:p>
          <a:p>
            <a:pPr algn="l"/>
            <a:r>
              <a:rPr lang="en-GB" sz="1600" b="1" dirty="0">
                <a:latin typeface="Courier New"/>
                <a:cs typeface="Courier New"/>
              </a:rPr>
              <a:t>	</a:t>
            </a:r>
            <a:r>
              <a:rPr lang="fr-FR" sz="1600" b="1" dirty="0">
                <a:latin typeface="Courier New"/>
                <a:cs typeface="Courier New"/>
              </a:rPr>
              <a:t>return 0; </a:t>
            </a:r>
            <a:endParaRPr lang="en-US" sz="1600" dirty="0">
              <a:latin typeface="Courier New"/>
              <a:cs typeface="Courier New"/>
            </a:endParaRPr>
          </a:p>
          <a:p>
            <a:pPr algn="l"/>
            <a:r>
              <a:rPr lang="fr-FR" sz="1600" b="1" dirty="0">
                <a:latin typeface="Courier New"/>
                <a:cs typeface="Courier New"/>
              </a:rPr>
              <a:t>} </a:t>
            </a:r>
            <a:endParaRPr lang="en-US" sz="1600" dirty="0">
              <a:latin typeface="Courier New"/>
              <a:cs typeface="Courier New"/>
            </a:endParaRPr>
          </a:p>
        </p:txBody>
      </p:sp>
      <p:sp>
        <p:nvSpPr>
          <p:cNvPr id="7" name="Titre 1"/>
          <p:cNvSpPr>
            <a:spLocks noGrp="1"/>
          </p:cNvSpPr>
          <p:nvPr>
            <p:ph type="title"/>
          </p:nvPr>
        </p:nvSpPr>
        <p:spPr>
          <a:xfrm>
            <a:off x="304800" y="152400"/>
            <a:ext cx="7772400" cy="533400"/>
          </a:xfrm>
        </p:spPr>
        <p:txBody>
          <a:bodyPr/>
          <a:lstStyle/>
          <a:p>
            <a:r>
              <a:rPr lang="fr-FR" sz="2800" dirty="0">
                <a:latin typeface="Arial" charset="0"/>
                <a:ea typeface="ＭＳ Ｐゴシック" charset="0"/>
                <a:cs typeface="ＭＳ Ｐゴシック" charset="0"/>
              </a:rPr>
              <a:t>Exercice 3: Pointers</a:t>
            </a:r>
          </a:p>
        </p:txBody>
      </p:sp>
      <p:sp>
        <p:nvSpPr>
          <p:cNvPr id="2" name="Espace réservé du pied de page 1">
            <a:extLst>
              <a:ext uri="{FF2B5EF4-FFF2-40B4-BE49-F238E27FC236}">
                <a16:creationId xmlns:a16="http://schemas.microsoft.com/office/drawing/2014/main" id="{CDD338CE-2EBE-E922-5C58-D2EAA19BC5C5}"/>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466114822"/>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800" dirty="0">
                <a:latin typeface="Arial" charset="0"/>
                <a:cs typeface="ＭＳ Ｐゴシック" charset="0"/>
              </a:rPr>
              <a:t>Exercice 4: Strings</a:t>
            </a:r>
            <a:endParaRPr lang="en-US" sz="2800" dirty="0"/>
          </a:p>
        </p:txBody>
      </p:sp>
      <p:sp>
        <p:nvSpPr>
          <p:cNvPr id="3" name="Content Placeholder 2"/>
          <p:cNvSpPr>
            <a:spLocks noGrp="1"/>
          </p:cNvSpPr>
          <p:nvPr>
            <p:ph idx="1"/>
          </p:nvPr>
        </p:nvSpPr>
        <p:spPr/>
        <p:txBody>
          <a:bodyPr/>
          <a:lstStyle/>
          <a:p>
            <a:r>
              <a:rPr lang="en-US" dirty="0"/>
              <a:t>Write a function called </a:t>
            </a:r>
            <a:r>
              <a:rPr lang="en-US" b="1" dirty="0"/>
              <a:t>reverse</a:t>
            </a:r>
            <a:r>
              <a:rPr lang="en-US" dirty="0"/>
              <a:t> that reverses the characters of a string, without declaring a second array. The prototype of the function is the following:</a:t>
            </a:r>
          </a:p>
          <a:p>
            <a:pPr marL="0" indent="0">
              <a:buNone/>
            </a:pPr>
            <a:r>
              <a:rPr lang="en-US" b="1" dirty="0">
                <a:latin typeface="Courier New"/>
                <a:cs typeface="Courier New"/>
              </a:rPr>
              <a:t>  </a:t>
            </a:r>
            <a:r>
              <a:rPr lang="en-US" b="1" dirty="0" err="1">
                <a:latin typeface="Courier New"/>
                <a:cs typeface="Courier New"/>
              </a:rPr>
              <a:t>int</a:t>
            </a:r>
            <a:r>
              <a:rPr lang="en-US" b="1" dirty="0">
                <a:latin typeface="Courier New"/>
                <a:cs typeface="Courier New"/>
              </a:rPr>
              <a:t> reverse(char* </a:t>
            </a:r>
            <a:r>
              <a:rPr lang="en-US" b="1" dirty="0" err="1">
                <a:latin typeface="Courier New"/>
                <a:cs typeface="Courier New"/>
              </a:rPr>
              <a:t>str</a:t>
            </a:r>
            <a:r>
              <a:rPr lang="en-US" b="1" dirty="0">
                <a:latin typeface="Courier New"/>
                <a:cs typeface="Courier New"/>
              </a:rPr>
              <a:t>) ;</a:t>
            </a:r>
            <a:endParaRPr lang="en-US" dirty="0">
              <a:latin typeface="Courier New"/>
              <a:cs typeface="Courier New"/>
            </a:endParaRP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302</a:t>
            </a:fld>
            <a:endParaRPr lang="fr-F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450613999"/>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lvl="2"/>
            <a:fld id="{28BEB0BA-EEE4-5F45-9179-3BC54B76BCCF}" type="slidenum">
              <a:rPr lang="fr-FR" smtClean="0"/>
              <a:pPr lvl="2"/>
              <a:t>303</a:t>
            </a:fld>
            <a:endParaRPr lang="fr-FR"/>
          </a:p>
        </p:txBody>
      </p:sp>
      <p:sp>
        <p:nvSpPr>
          <p:cNvPr id="6" name="Rectangle 5"/>
          <p:cNvSpPr/>
          <p:nvPr/>
        </p:nvSpPr>
        <p:spPr>
          <a:xfrm>
            <a:off x="827584" y="1628800"/>
            <a:ext cx="6552728" cy="3354765"/>
          </a:xfrm>
          <a:prstGeom prst="rect">
            <a:avLst/>
          </a:prstGeom>
        </p:spPr>
        <p:txBody>
          <a:bodyPr wrap="square">
            <a:spAutoFit/>
          </a:bodyPr>
          <a:lstStyle/>
          <a:p>
            <a:pPr algn="l"/>
            <a:r>
              <a:rPr lang="fr-FR" sz="2000" b="1" dirty="0">
                <a:latin typeface="Courier New"/>
                <a:cs typeface="Courier New"/>
              </a:rPr>
              <a:t>#</a:t>
            </a:r>
            <a:r>
              <a:rPr lang="fr-FR" sz="2000" b="1" dirty="0" err="1">
                <a:latin typeface="Courier New"/>
                <a:cs typeface="Courier New"/>
              </a:rPr>
              <a:t>include</a:t>
            </a:r>
            <a:r>
              <a:rPr lang="fr-FR" sz="2000" b="1" dirty="0">
                <a:latin typeface="Courier New"/>
                <a:cs typeface="Courier New"/>
              </a:rPr>
              <a:t> &lt;</a:t>
            </a:r>
            <a:r>
              <a:rPr lang="fr-FR" sz="2000" b="1" dirty="0" err="1">
                <a:latin typeface="Courier New"/>
                <a:cs typeface="Courier New"/>
              </a:rPr>
              <a:t>stdio.h</a:t>
            </a:r>
            <a:r>
              <a:rPr lang="fr-FR" sz="2000" b="1" dirty="0">
                <a:latin typeface="Courier New"/>
                <a:cs typeface="Courier New"/>
              </a:rPr>
              <a:t>&gt; </a:t>
            </a:r>
            <a:endParaRPr lang="en-US" sz="2000" dirty="0">
              <a:latin typeface="Courier New"/>
              <a:cs typeface="Courier New"/>
            </a:endParaRPr>
          </a:p>
          <a:p>
            <a:pPr algn="l"/>
            <a:r>
              <a:rPr lang="en-GB" sz="2000" b="1" dirty="0">
                <a:latin typeface="Courier New"/>
                <a:cs typeface="Courier New"/>
              </a:rPr>
              <a:t>#include &lt;</a:t>
            </a:r>
            <a:r>
              <a:rPr lang="en-GB" sz="2000" b="1" dirty="0" err="1">
                <a:latin typeface="Courier New"/>
                <a:cs typeface="Courier New"/>
              </a:rPr>
              <a:t>string.h</a:t>
            </a:r>
            <a:r>
              <a:rPr lang="en-GB" sz="2000" b="1" dirty="0">
                <a:latin typeface="Courier New"/>
                <a:cs typeface="Courier New"/>
              </a:rPr>
              <a:t>&gt; </a:t>
            </a:r>
            <a:endParaRPr lang="en-US" sz="2000" dirty="0">
              <a:latin typeface="Courier New"/>
              <a:cs typeface="Courier New"/>
            </a:endParaRPr>
          </a:p>
          <a:p>
            <a:pPr algn="l"/>
            <a:r>
              <a:rPr lang="fr-FR" sz="2000" dirty="0">
                <a:latin typeface="Courier New"/>
                <a:cs typeface="Courier New"/>
              </a:rPr>
              <a:t> </a:t>
            </a:r>
            <a:endParaRPr lang="en-US" sz="2000" dirty="0">
              <a:latin typeface="Courier New"/>
              <a:cs typeface="Courier New"/>
            </a:endParaRPr>
          </a:p>
          <a:p>
            <a:pPr algn="l"/>
            <a:r>
              <a:rPr lang="en-GB" sz="2000" b="1" dirty="0">
                <a:latin typeface="Courier New"/>
                <a:cs typeface="Courier New"/>
              </a:rPr>
              <a:t>char* mess="hello world\n"</a:t>
            </a:r>
            <a:endParaRPr lang="en-US" sz="2000" dirty="0">
              <a:latin typeface="Courier New"/>
              <a:cs typeface="Courier New"/>
            </a:endParaRPr>
          </a:p>
          <a:p>
            <a:pPr algn="l"/>
            <a:r>
              <a:rPr lang="fr-FR" sz="2000" dirty="0">
                <a:latin typeface="Courier New"/>
                <a:cs typeface="Courier New"/>
              </a:rPr>
              <a:t> </a:t>
            </a:r>
            <a:endParaRPr lang="en-US" sz="2000" dirty="0">
              <a:latin typeface="Courier New"/>
              <a:cs typeface="Courier New"/>
            </a:endParaRPr>
          </a:p>
          <a:p>
            <a:pPr algn="l"/>
            <a:r>
              <a:rPr lang="en-GB" sz="2000" b="1" dirty="0" err="1">
                <a:latin typeface="Courier New"/>
                <a:cs typeface="Courier New"/>
              </a:rPr>
              <a:t>int</a:t>
            </a:r>
            <a:r>
              <a:rPr lang="en-GB" sz="2000" b="1" dirty="0">
                <a:latin typeface="Courier New"/>
                <a:cs typeface="Courier New"/>
              </a:rPr>
              <a:t> main() { </a:t>
            </a:r>
            <a:endParaRPr lang="en-US" sz="2000" dirty="0">
              <a:latin typeface="Courier New"/>
              <a:cs typeface="Courier New"/>
            </a:endParaRPr>
          </a:p>
          <a:p>
            <a:pPr algn="l"/>
            <a:r>
              <a:rPr lang="en-GB" sz="2000" b="1" dirty="0">
                <a:latin typeface="Courier New"/>
                <a:cs typeface="Courier New"/>
              </a:rPr>
              <a:t>	</a:t>
            </a:r>
            <a:r>
              <a:rPr lang="en-GB" sz="2000" b="1" dirty="0" err="1">
                <a:latin typeface="Courier New"/>
                <a:cs typeface="Courier New"/>
              </a:rPr>
              <a:t>strcpy</a:t>
            </a:r>
            <a:r>
              <a:rPr lang="en-GB" sz="2000" b="1" dirty="0">
                <a:latin typeface="Courier New"/>
                <a:cs typeface="Courier New"/>
              </a:rPr>
              <a:t>(mess+4,mess) ; </a:t>
            </a:r>
          </a:p>
          <a:p>
            <a:pPr algn="l"/>
            <a:r>
              <a:rPr lang="en-GB" sz="2000" b="1" dirty="0">
                <a:latin typeface="Courier New"/>
                <a:cs typeface="Courier New"/>
              </a:rPr>
              <a:t>	return 0;</a:t>
            </a:r>
          </a:p>
          <a:p>
            <a:pPr algn="l"/>
            <a:r>
              <a:rPr lang="en-GB" sz="2000" b="1" dirty="0">
                <a:latin typeface="Courier New"/>
                <a:cs typeface="Courier New"/>
              </a:rPr>
              <a:t>}</a:t>
            </a:r>
            <a:endParaRPr lang="en-US" sz="2000" dirty="0">
              <a:latin typeface="Courier New"/>
              <a:cs typeface="Courier New"/>
            </a:endParaRPr>
          </a:p>
        </p:txBody>
      </p:sp>
      <p:sp>
        <p:nvSpPr>
          <p:cNvPr id="7" name="Titl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Exercice 5: Strings and pointers</a:t>
            </a:r>
            <a:endParaRPr lang="en-US" sz="2800" dirty="0"/>
          </a:p>
        </p:txBody>
      </p:sp>
      <p:sp>
        <p:nvSpPr>
          <p:cNvPr id="8" name="Content Placeholder 2"/>
          <p:cNvSpPr>
            <a:spLocks noGrp="1"/>
          </p:cNvSpPr>
          <p:nvPr>
            <p:ph idx="1"/>
          </p:nvPr>
        </p:nvSpPr>
        <p:spPr>
          <a:xfrm>
            <a:off x="457200" y="914400"/>
            <a:ext cx="8261350" cy="678396"/>
          </a:xfrm>
        </p:spPr>
        <p:txBody>
          <a:bodyPr/>
          <a:lstStyle/>
          <a:p>
            <a:r>
              <a:rPr lang="en-US" dirty="0"/>
              <a:t>Give the output of the following program</a:t>
            </a:r>
            <a:endParaRPr lang="en-US" dirty="0">
              <a:latin typeface="Courier New"/>
              <a:cs typeface="Courier New"/>
            </a:endParaRP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258037233"/>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lvl="2"/>
            <a:fld id="{28BEB0BA-EEE4-5F45-9179-3BC54B76BCCF}" type="slidenum">
              <a:rPr lang="fr-FR" smtClean="0"/>
              <a:pPr lvl="2"/>
              <a:t>304</a:t>
            </a:fld>
            <a:endParaRPr lang="fr-FR"/>
          </a:p>
        </p:txBody>
      </p:sp>
      <p:sp>
        <p:nvSpPr>
          <p:cNvPr id="6" name="Rectangle 5"/>
          <p:cNvSpPr/>
          <p:nvPr/>
        </p:nvSpPr>
        <p:spPr>
          <a:xfrm>
            <a:off x="756084" y="1268760"/>
            <a:ext cx="9036496" cy="1366528"/>
          </a:xfrm>
          <a:prstGeom prst="rect">
            <a:avLst/>
          </a:prstGeom>
        </p:spPr>
        <p:txBody>
          <a:bodyPr wrap="square">
            <a:spAutoFit/>
          </a:bodyPr>
          <a:lstStyle/>
          <a:p>
            <a:pPr algn="l"/>
            <a:r>
              <a:rPr lang="fr-FR" sz="1800" b="1" dirty="0" err="1">
                <a:latin typeface="Courier New"/>
                <a:cs typeface="Courier New"/>
              </a:rPr>
              <a:t>typedef</a:t>
            </a:r>
            <a:r>
              <a:rPr lang="fr-FR" sz="1800" b="1" dirty="0">
                <a:latin typeface="Courier New"/>
                <a:cs typeface="Courier New"/>
              </a:rPr>
              <a:t> </a:t>
            </a:r>
            <a:r>
              <a:rPr lang="fr-FR" sz="1800" b="1" dirty="0" err="1">
                <a:latin typeface="Courier New"/>
                <a:cs typeface="Courier New"/>
              </a:rPr>
              <a:t>struct</a:t>
            </a:r>
            <a:r>
              <a:rPr lang="fr-FR" sz="1800" b="1" dirty="0">
                <a:latin typeface="Courier New"/>
                <a:cs typeface="Courier New"/>
              </a:rPr>
              <a:t> </a:t>
            </a:r>
            <a:r>
              <a:rPr lang="fr-FR" sz="1800" b="1" dirty="0" err="1">
                <a:latin typeface="Courier New"/>
                <a:cs typeface="Courier New"/>
              </a:rPr>
              <a:t>s_list</a:t>
            </a:r>
            <a:r>
              <a:rPr lang="fr-FR" sz="1800" b="1" dirty="0">
                <a:latin typeface="Courier New"/>
                <a:cs typeface="Courier New"/>
              </a:rPr>
              <a:t> {</a:t>
            </a:r>
            <a:endParaRPr lang="en-US" sz="1800" dirty="0">
              <a:latin typeface="Courier New"/>
              <a:cs typeface="Courier New"/>
            </a:endParaRPr>
          </a:p>
          <a:p>
            <a:pPr algn="l"/>
            <a:r>
              <a:rPr lang="fr-FR" sz="1800" b="1" dirty="0">
                <a:latin typeface="Courier New"/>
                <a:cs typeface="Courier New"/>
              </a:rPr>
              <a:t>	</a:t>
            </a:r>
            <a:r>
              <a:rPr lang="fr-FR" sz="1800" b="1" dirty="0" err="1">
                <a:latin typeface="Courier New"/>
                <a:cs typeface="Courier New"/>
              </a:rPr>
              <a:t>int</a:t>
            </a:r>
            <a:r>
              <a:rPr lang="fr-FR" sz="1800" b="1" dirty="0">
                <a:latin typeface="Courier New"/>
                <a:cs typeface="Courier New"/>
              </a:rPr>
              <a:t>  value;  		  </a:t>
            </a:r>
            <a:r>
              <a:rPr lang="fr-FR" sz="1800" i="1" dirty="0">
                <a:latin typeface="Courier New"/>
                <a:cs typeface="Courier New"/>
              </a:rPr>
              <a:t>// data of the </a:t>
            </a:r>
            <a:r>
              <a:rPr lang="fr-FR" sz="1800" i="1" dirty="0" err="1">
                <a:latin typeface="Courier New"/>
                <a:cs typeface="Courier New"/>
              </a:rPr>
              <a:t>element</a:t>
            </a:r>
            <a:endParaRPr lang="en-US" sz="1800" dirty="0">
              <a:latin typeface="Courier New"/>
              <a:cs typeface="Courier New"/>
            </a:endParaRPr>
          </a:p>
          <a:p>
            <a:pPr algn="l"/>
            <a:r>
              <a:rPr lang="fr-FR" sz="1800" b="1" dirty="0">
                <a:latin typeface="Courier New"/>
                <a:cs typeface="Courier New"/>
              </a:rPr>
              <a:t>	</a:t>
            </a:r>
            <a:r>
              <a:rPr lang="fr-FR" sz="1800" b="1" dirty="0" err="1">
                <a:latin typeface="Courier New"/>
                <a:cs typeface="Courier New"/>
              </a:rPr>
              <a:t>struct</a:t>
            </a:r>
            <a:r>
              <a:rPr lang="fr-FR" sz="1800" b="1" dirty="0">
                <a:latin typeface="Courier New"/>
                <a:cs typeface="Courier New"/>
              </a:rPr>
              <a:t> </a:t>
            </a:r>
            <a:r>
              <a:rPr lang="fr-FR" sz="1800" b="1" dirty="0" err="1">
                <a:latin typeface="Courier New"/>
                <a:cs typeface="Courier New"/>
              </a:rPr>
              <a:t>s_list</a:t>
            </a:r>
            <a:r>
              <a:rPr lang="fr-FR" sz="1800" b="1" dirty="0">
                <a:latin typeface="Courier New"/>
                <a:cs typeface="Courier New"/>
              </a:rPr>
              <a:t>* </a:t>
            </a:r>
            <a:r>
              <a:rPr lang="fr-FR" sz="1800" b="1" dirty="0" err="1">
                <a:latin typeface="Courier New"/>
                <a:cs typeface="Courier New"/>
              </a:rPr>
              <a:t>next</a:t>
            </a:r>
            <a:r>
              <a:rPr lang="fr-FR" sz="1800" b="1" dirty="0">
                <a:latin typeface="Courier New"/>
                <a:cs typeface="Courier New"/>
              </a:rPr>
              <a:t>;  </a:t>
            </a:r>
            <a:r>
              <a:rPr lang="fr-FR" sz="1800" i="1" dirty="0">
                <a:latin typeface="Courier New"/>
                <a:cs typeface="Courier New"/>
              </a:rPr>
              <a:t>// pointer to the </a:t>
            </a:r>
            <a:r>
              <a:rPr lang="fr-FR" sz="1800" i="1" dirty="0" err="1">
                <a:latin typeface="Courier New"/>
                <a:cs typeface="Courier New"/>
              </a:rPr>
              <a:t>next</a:t>
            </a:r>
            <a:r>
              <a:rPr lang="fr-FR" sz="1800" i="1" dirty="0">
                <a:latin typeface="Courier New"/>
                <a:cs typeface="Courier New"/>
              </a:rPr>
              <a:t> </a:t>
            </a:r>
            <a:r>
              <a:rPr lang="fr-FR" sz="1800" i="1" dirty="0" err="1">
                <a:latin typeface="Courier New"/>
                <a:cs typeface="Courier New"/>
              </a:rPr>
              <a:t>element</a:t>
            </a:r>
            <a:endParaRPr lang="en-US" sz="1800" dirty="0">
              <a:latin typeface="Courier New"/>
              <a:cs typeface="Courier New"/>
            </a:endParaRPr>
          </a:p>
          <a:p>
            <a:pPr algn="l"/>
            <a:r>
              <a:rPr lang="fr-FR" sz="1800" b="1" dirty="0">
                <a:latin typeface="Courier New"/>
                <a:cs typeface="Courier New"/>
              </a:rPr>
              <a:t>  } </a:t>
            </a:r>
            <a:r>
              <a:rPr lang="fr-FR" sz="1800" b="1" dirty="0" err="1">
                <a:latin typeface="Courier New"/>
                <a:cs typeface="Courier New"/>
              </a:rPr>
              <a:t>list_elem_t</a:t>
            </a:r>
            <a:r>
              <a:rPr lang="fr-FR" sz="1800" b="1" dirty="0">
                <a:latin typeface="Courier New"/>
                <a:cs typeface="Courier New"/>
              </a:rPr>
              <a:t>;</a:t>
            </a:r>
            <a:endParaRPr lang="en-US" sz="1800" dirty="0">
              <a:latin typeface="Courier New"/>
              <a:cs typeface="Courier New"/>
            </a:endParaRPr>
          </a:p>
        </p:txBody>
      </p:sp>
      <p:sp>
        <p:nvSpPr>
          <p:cNvPr id="7" name="Titl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Exercice 6: </a:t>
            </a:r>
            <a:r>
              <a:rPr lang="fr-FR" sz="2800" dirty="0" err="1">
                <a:latin typeface="Arial" charset="0"/>
                <a:cs typeface="ＭＳ Ｐゴシック" charset="0"/>
              </a:rPr>
              <a:t>Linked</a:t>
            </a:r>
            <a:r>
              <a:rPr lang="fr-FR" sz="2800" dirty="0">
                <a:latin typeface="Arial" charset="0"/>
                <a:cs typeface="ＭＳ Ｐゴシック" charset="0"/>
              </a:rPr>
              <a:t> </a:t>
            </a:r>
            <a:r>
              <a:rPr lang="fr-FR" sz="2800" dirty="0" err="1">
                <a:latin typeface="Arial" charset="0"/>
                <a:cs typeface="ＭＳ Ｐゴシック" charset="0"/>
              </a:rPr>
              <a:t>lists</a:t>
            </a:r>
            <a:endParaRPr lang="en-US" sz="2800" dirty="0"/>
          </a:p>
        </p:txBody>
      </p:sp>
      <p:sp>
        <p:nvSpPr>
          <p:cNvPr id="8" name="Content Placeholder 2"/>
          <p:cNvSpPr>
            <a:spLocks noGrp="1"/>
          </p:cNvSpPr>
          <p:nvPr>
            <p:ph idx="1"/>
          </p:nvPr>
        </p:nvSpPr>
        <p:spPr>
          <a:xfrm>
            <a:off x="457200" y="914400"/>
            <a:ext cx="8686800" cy="678396"/>
          </a:xfrm>
        </p:spPr>
        <p:txBody>
          <a:bodyPr/>
          <a:lstStyle/>
          <a:p>
            <a:r>
              <a:rPr lang="en-US" dirty="0"/>
              <a:t>We have the structure </a:t>
            </a:r>
            <a:r>
              <a:rPr lang="fr-FR" b="1" dirty="0" err="1">
                <a:latin typeface="Courier New"/>
                <a:cs typeface="Courier New"/>
              </a:rPr>
              <a:t>list_elem_t</a:t>
            </a:r>
            <a:r>
              <a:rPr lang="fr-FR" b="1" dirty="0">
                <a:latin typeface="Courier New"/>
                <a:cs typeface="Courier New"/>
              </a:rPr>
              <a:t> </a:t>
            </a:r>
            <a:r>
              <a:rPr lang="en-US" dirty="0"/>
              <a:t>for the list elements</a:t>
            </a:r>
            <a:endParaRPr lang="en-US" dirty="0">
              <a:latin typeface="Courier New"/>
              <a:cs typeface="Courier New"/>
            </a:endParaRPr>
          </a:p>
        </p:txBody>
      </p:sp>
      <p:sp>
        <p:nvSpPr>
          <p:cNvPr id="9" name="Content Placeholder 2"/>
          <p:cNvSpPr txBox="1">
            <a:spLocks/>
          </p:cNvSpPr>
          <p:nvPr/>
        </p:nvSpPr>
        <p:spPr bwMode="auto">
          <a:xfrm>
            <a:off x="467544" y="2636912"/>
            <a:ext cx="8261350" cy="6783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The head of list is pointing by the pointer </a:t>
            </a:r>
            <a:r>
              <a:rPr lang="fr-FR" b="1" dirty="0" err="1">
                <a:latin typeface="Courier New"/>
                <a:cs typeface="Courier New"/>
              </a:rPr>
              <a:t>list_head</a:t>
            </a:r>
            <a:endParaRPr lang="en-US" dirty="0">
              <a:latin typeface="Courier New"/>
              <a:cs typeface="Courier New"/>
            </a:endParaRPr>
          </a:p>
        </p:txBody>
      </p:sp>
      <p:sp>
        <p:nvSpPr>
          <p:cNvPr id="2" name="Rectangle 1"/>
          <p:cNvSpPr/>
          <p:nvPr/>
        </p:nvSpPr>
        <p:spPr>
          <a:xfrm>
            <a:off x="791580" y="3131676"/>
            <a:ext cx="3509194" cy="369332"/>
          </a:xfrm>
          <a:prstGeom prst="rect">
            <a:avLst/>
          </a:prstGeom>
        </p:spPr>
        <p:txBody>
          <a:bodyPr wrap="none">
            <a:spAutoFit/>
          </a:bodyPr>
          <a:lstStyle/>
          <a:p>
            <a:r>
              <a:rPr lang="en-GB" sz="1800" b="1" dirty="0">
                <a:latin typeface="Courier New"/>
                <a:cs typeface="Courier New"/>
              </a:rPr>
              <a:t> </a:t>
            </a:r>
            <a:r>
              <a:rPr lang="en-GB" sz="1800" b="1" dirty="0" err="1">
                <a:latin typeface="Courier New"/>
                <a:cs typeface="Courier New"/>
              </a:rPr>
              <a:t>list_elem_t</a:t>
            </a:r>
            <a:r>
              <a:rPr lang="en-GB" sz="1800" b="1" dirty="0">
                <a:latin typeface="Courier New"/>
                <a:cs typeface="Courier New"/>
              </a:rPr>
              <a:t>* </a:t>
            </a:r>
            <a:r>
              <a:rPr lang="en-GB" sz="1800" b="1" dirty="0" err="1">
                <a:latin typeface="Courier New"/>
                <a:cs typeface="Courier New"/>
              </a:rPr>
              <a:t>list_head</a:t>
            </a:r>
            <a:r>
              <a:rPr lang="en-GB" sz="1800" b="1" dirty="0">
                <a:latin typeface="Courier New"/>
                <a:cs typeface="Courier New"/>
              </a:rPr>
              <a:t>;</a:t>
            </a:r>
            <a:endParaRPr lang="en-US" sz="1800" dirty="0">
              <a:latin typeface="Courier New"/>
              <a:cs typeface="Courier New"/>
            </a:endParaRPr>
          </a:p>
        </p:txBody>
      </p:sp>
      <p:sp>
        <p:nvSpPr>
          <p:cNvPr id="10" name="Content Placeholder 2"/>
          <p:cNvSpPr txBox="1">
            <a:spLocks/>
          </p:cNvSpPr>
          <p:nvPr/>
        </p:nvSpPr>
        <p:spPr bwMode="auto">
          <a:xfrm>
            <a:off x="359532" y="3902732"/>
            <a:ext cx="8604448" cy="6783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Write a </a:t>
            </a:r>
            <a:r>
              <a:rPr lang="en-US" dirty="0">
                <a:cs typeface="Courier New"/>
              </a:rPr>
              <a:t>function</a:t>
            </a:r>
          </a:p>
          <a:p>
            <a:pPr marL="0" indent="0">
              <a:buNone/>
            </a:pPr>
            <a:r>
              <a:rPr lang="en-GB" b="1" dirty="0" err="1">
                <a:latin typeface="Courier New"/>
                <a:cs typeface="Courier New"/>
              </a:rPr>
              <a:t>list_elem_t</a:t>
            </a:r>
            <a:r>
              <a:rPr lang="en-GB" b="1" dirty="0">
                <a:latin typeface="Courier New"/>
                <a:cs typeface="Courier New"/>
              </a:rPr>
              <a:t>* </a:t>
            </a:r>
            <a:r>
              <a:rPr lang="en-GB" b="1" dirty="0" err="1">
                <a:latin typeface="Courier New"/>
                <a:cs typeface="Courier New"/>
              </a:rPr>
              <a:t>create_element</a:t>
            </a:r>
            <a:r>
              <a:rPr lang="en-GB" b="1" dirty="0">
                <a:latin typeface="Courier New"/>
                <a:cs typeface="Courier New"/>
              </a:rPr>
              <a:t>(</a:t>
            </a:r>
            <a:r>
              <a:rPr lang="en-GB" b="1" dirty="0" err="1">
                <a:latin typeface="Courier New"/>
                <a:cs typeface="Courier New"/>
              </a:rPr>
              <a:t>int</a:t>
            </a:r>
            <a:r>
              <a:rPr lang="en-GB" b="1" dirty="0">
                <a:latin typeface="Courier New"/>
                <a:cs typeface="Courier New"/>
              </a:rPr>
              <a:t> </a:t>
            </a:r>
            <a:r>
              <a:rPr lang="en-GB" b="1" dirty="0" err="1">
                <a:latin typeface="Courier New"/>
                <a:cs typeface="Courier New"/>
              </a:rPr>
              <a:t>val</a:t>
            </a:r>
            <a:r>
              <a:rPr lang="en-GB" b="1" dirty="0">
                <a:latin typeface="Courier New"/>
                <a:cs typeface="Courier New"/>
              </a:rPr>
              <a:t>)</a:t>
            </a:r>
            <a:r>
              <a:rPr lang="en-US" dirty="0"/>
              <a:t>, </a:t>
            </a:r>
          </a:p>
          <a:p>
            <a:pPr marL="0" indent="0">
              <a:buNone/>
            </a:pPr>
            <a:r>
              <a:rPr lang="en-US" dirty="0"/>
              <a:t>which creates a new list element and initializes its </a:t>
            </a:r>
            <a:r>
              <a:rPr lang="en-US" b="1" dirty="0">
                <a:latin typeface="Courier New"/>
                <a:cs typeface="Courier New"/>
              </a:rPr>
              <a:t>value</a:t>
            </a:r>
            <a:r>
              <a:rPr lang="en-US" dirty="0"/>
              <a:t> equal to the passed argument </a:t>
            </a:r>
            <a:r>
              <a:rPr lang="en-US" b="1" dirty="0" err="1">
                <a:latin typeface="Courier New"/>
                <a:cs typeface="Courier New"/>
              </a:rPr>
              <a:t>val</a:t>
            </a:r>
            <a:r>
              <a:rPr lang="en-US" dirty="0"/>
              <a:t> and the </a:t>
            </a:r>
            <a:r>
              <a:rPr lang="en-US" b="1" dirty="0">
                <a:latin typeface="Courier New"/>
                <a:cs typeface="Courier New"/>
              </a:rPr>
              <a:t>next</a:t>
            </a:r>
            <a:r>
              <a:rPr lang="en-US" dirty="0"/>
              <a:t> pointer to </a:t>
            </a:r>
            <a:r>
              <a:rPr lang="en-US" b="1" dirty="0">
                <a:latin typeface="Courier New"/>
                <a:cs typeface="Courier New"/>
              </a:rPr>
              <a:t>NULL</a:t>
            </a:r>
          </a:p>
        </p:txBody>
      </p:sp>
      <p:sp>
        <p:nvSpPr>
          <p:cNvPr id="11"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75214554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lvl="2"/>
            <a:fld id="{28BEB0BA-EEE4-5F45-9179-3BC54B76BCCF}" type="slidenum">
              <a:rPr lang="fr-FR" smtClean="0"/>
              <a:pPr lvl="2"/>
              <a:t>305</a:t>
            </a:fld>
            <a:endParaRPr lang="fr-FR"/>
          </a:p>
        </p:txBody>
      </p:sp>
      <p:sp>
        <p:nvSpPr>
          <p:cNvPr id="6" name="Rectangle 5"/>
          <p:cNvSpPr/>
          <p:nvPr/>
        </p:nvSpPr>
        <p:spPr>
          <a:xfrm>
            <a:off x="756084" y="2199635"/>
            <a:ext cx="9036496" cy="1877437"/>
          </a:xfrm>
          <a:prstGeom prst="rect">
            <a:avLst/>
          </a:prstGeom>
        </p:spPr>
        <p:txBody>
          <a:bodyPr wrap="square">
            <a:spAutoFit/>
          </a:bodyPr>
          <a:lstStyle/>
          <a:p>
            <a:pPr algn="l"/>
            <a:r>
              <a:rPr lang="en-GB" sz="2000" b="1" dirty="0" err="1">
                <a:latin typeface="Courier New"/>
                <a:cs typeface="Courier New"/>
              </a:rPr>
              <a:t>int</a:t>
            </a:r>
            <a:r>
              <a:rPr lang="en-GB" sz="2000" b="1" dirty="0">
                <a:latin typeface="Courier New"/>
                <a:cs typeface="Courier New"/>
              </a:rPr>
              <a:t> </a:t>
            </a:r>
            <a:r>
              <a:rPr lang="en-GB" sz="2000" b="1" dirty="0" err="1">
                <a:latin typeface="Courier New"/>
                <a:cs typeface="Courier New"/>
              </a:rPr>
              <a:t>insert_head</a:t>
            </a:r>
            <a:r>
              <a:rPr lang="en-GB" sz="2000" b="1" dirty="0">
                <a:latin typeface="Courier New"/>
                <a:cs typeface="Courier New"/>
              </a:rPr>
              <a:t>(</a:t>
            </a:r>
            <a:r>
              <a:rPr lang="en-GB" sz="2000" b="1" dirty="0" err="1">
                <a:latin typeface="Courier New"/>
                <a:cs typeface="Courier New"/>
              </a:rPr>
              <a:t>list_elem_t</a:t>
            </a:r>
            <a:r>
              <a:rPr lang="en-GB" sz="2000" b="1" dirty="0">
                <a:latin typeface="Courier New"/>
                <a:cs typeface="Courier New"/>
              </a:rPr>
              <a:t>* l, </a:t>
            </a:r>
            <a:r>
              <a:rPr lang="en-GB" sz="2000" b="1" dirty="0" err="1">
                <a:latin typeface="Courier New"/>
                <a:cs typeface="Courier New"/>
              </a:rPr>
              <a:t>int</a:t>
            </a:r>
            <a:r>
              <a:rPr lang="en-GB" sz="2000" b="1" dirty="0">
                <a:latin typeface="Courier New"/>
                <a:cs typeface="Courier New"/>
              </a:rPr>
              <a:t> </a:t>
            </a:r>
            <a:r>
              <a:rPr lang="en-GB" sz="2000" b="1" dirty="0" err="1">
                <a:latin typeface="Courier New"/>
                <a:cs typeface="Courier New"/>
              </a:rPr>
              <a:t>val</a:t>
            </a:r>
            <a:r>
              <a:rPr lang="en-GB" sz="2000" b="1" dirty="0">
                <a:latin typeface="Courier New"/>
                <a:cs typeface="Courier New"/>
              </a:rPr>
              <a:t>) {</a:t>
            </a:r>
            <a:endParaRPr lang="en-US" sz="2000" dirty="0">
              <a:latin typeface="Courier New"/>
              <a:cs typeface="Courier New"/>
            </a:endParaRPr>
          </a:p>
          <a:p>
            <a:pPr algn="l"/>
            <a:r>
              <a:rPr lang="fr-FR" sz="2000" b="1" dirty="0">
                <a:latin typeface="Courier New"/>
                <a:cs typeface="Courier New"/>
              </a:rPr>
              <a:t>   </a:t>
            </a:r>
            <a:r>
              <a:rPr lang="fr-FR" sz="2000" b="1" dirty="0" err="1">
                <a:latin typeface="Courier New"/>
                <a:cs typeface="Courier New"/>
              </a:rPr>
              <a:t>list_elem_t</a:t>
            </a:r>
            <a:r>
              <a:rPr lang="fr-FR" sz="2000" b="1" dirty="0">
                <a:latin typeface="Courier New"/>
                <a:cs typeface="Courier New"/>
              </a:rPr>
              <a:t> * nouveau = </a:t>
            </a:r>
            <a:r>
              <a:rPr lang="fr-FR" sz="2000" b="1" dirty="0" err="1">
                <a:latin typeface="Courier New"/>
                <a:cs typeface="Courier New"/>
              </a:rPr>
              <a:t>create_element</a:t>
            </a:r>
            <a:r>
              <a:rPr lang="fr-FR" sz="2000" b="1" dirty="0">
                <a:latin typeface="Courier New"/>
                <a:cs typeface="Courier New"/>
              </a:rPr>
              <a:t>(val);</a:t>
            </a:r>
            <a:endParaRPr lang="en-US" sz="2000" dirty="0">
              <a:latin typeface="Courier New"/>
              <a:cs typeface="Courier New"/>
            </a:endParaRPr>
          </a:p>
          <a:p>
            <a:pPr algn="l"/>
            <a:r>
              <a:rPr lang="fr-FR" sz="2000" b="1" dirty="0">
                <a:latin typeface="Courier New"/>
                <a:cs typeface="Courier New"/>
              </a:rPr>
              <a:t>   nouveau-&gt;</a:t>
            </a:r>
            <a:r>
              <a:rPr lang="fr-FR" sz="2000" b="1" dirty="0" err="1">
                <a:latin typeface="Courier New"/>
                <a:cs typeface="Courier New"/>
              </a:rPr>
              <a:t>next</a:t>
            </a:r>
            <a:r>
              <a:rPr lang="fr-FR" sz="2000" b="1" dirty="0">
                <a:latin typeface="Courier New"/>
                <a:cs typeface="Courier New"/>
              </a:rPr>
              <a:t> = l ;</a:t>
            </a:r>
            <a:endParaRPr lang="en-US" sz="2000" dirty="0">
              <a:latin typeface="Courier New"/>
              <a:cs typeface="Courier New"/>
            </a:endParaRPr>
          </a:p>
          <a:p>
            <a:pPr algn="l"/>
            <a:r>
              <a:rPr lang="fr-FR" sz="2000" b="1" dirty="0">
                <a:latin typeface="Courier New"/>
                <a:cs typeface="Courier New"/>
              </a:rPr>
              <a:t>   return 0 ;</a:t>
            </a:r>
            <a:endParaRPr lang="en-US" sz="2000" dirty="0">
              <a:latin typeface="Courier New"/>
              <a:cs typeface="Courier New"/>
            </a:endParaRPr>
          </a:p>
          <a:p>
            <a:pPr algn="l"/>
            <a:r>
              <a:rPr lang="fr-FR" sz="2000" b="1" dirty="0">
                <a:latin typeface="Courier New"/>
                <a:cs typeface="Courier New"/>
              </a:rPr>
              <a:t>}</a:t>
            </a:r>
            <a:endParaRPr lang="en-US" sz="2000" dirty="0">
              <a:latin typeface="Courier New"/>
              <a:cs typeface="Courier New"/>
            </a:endParaRPr>
          </a:p>
        </p:txBody>
      </p:sp>
      <p:sp>
        <p:nvSpPr>
          <p:cNvPr id="7" name="Titl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Exercice 6: </a:t>
            </a:r>
            <a:r>
              <a:rPr lang="fr-FR" sz="2800" dirty="0" err="1">
                <a:latin typeface="Arial" charset="0"/>
                <a:cs typeface="ＭＳ Ｐゴシック" charset="0"/>
              </a:rPr>
              <a:t>Linked</a:t>
            </a:r>
            <a:r>
              <a:rPr lang="fr-FR" sz="2800" dirty="0">
                <a:latin typeface="Arial" charset="0"/>
                <a:cs typeface="ＭＳ Ｐゴシック" charset="0"/>
              </a:rPr>
              <a:t> </a:t>
            </a:r>
            <a:r>
              <a:rPr lang="fr-FR" sz="2800" dirty="0" err="1">
                <a:latin typeface="Arial" charset="0"/>
                <a:cs typeface="ＭＳ Ｐゴシック" charset="0"/>
              </a:rPr>
              <a:t>lists</a:t>
            </a:r>
            <a:endParaRPr lang="en-US" sz="2800" dirty="0"/>
          </a:p>
        </p:txBody>
      </p:sp>
      <p:sp>
        <p:nvSpPr>
          <p:cNvPr id="8" name="Content Placeholder 2"/>
          <p:cNvSpPr>
            <a:spLocks noGrp="1"/>
          </p:cNvSpPr>
          <p:nvPr>
            <p:ph idx="1"/>
          </p:nvPr>
        </p:nvSpPr>
        <p:spPr>
          <a:xfrm>
            <a:off x="457200" y="914400"/>
            <a:ext cx="8686800" cy="678396"/>
          </a:xfrm>
        </p:spPr>
        <p:txBody>
          <a:bodyPr/>
          <a:lstStyle/>
          <a:p>
            <a:r>
              <a:rPr lang="en-US" dirty="0"/>
              <a:t>Assume the function </a:t>
            </a:r>
            <a:r>
              <a:rPr lang="en-GB" b="1" dirty="0" err="1">
                <a:latin typeface="Courier New"/>
                <a:cs typeface="Courier New"/>
              </a:rPr>
              <a:t>insert_head</a:t>
            </a:r>
            <a:r>
              <a:rPr lang="en-US" dirty="0"/>
              <a:t>, which inserts a new element at the head of the list that has been passed as parameter</a:t>
            </a:r>
            <a:endParaRPr lang="en-US" dirty="0">
              <a:latin typeface="Courier New"/>
              <a:cs typeface="Courier New"/>
            </a:endParaRPr>
          </a:p>
        </p:txBody>
      </p:sp>
      <p:sp>
        <p:nvSpPr>
          <p:cNvPr id="10" name="Content Placeholder 2"/>
          <p:cNvSpPr txBox="1">
            <a:spLocks/>
          </p:cNvSpPr>
          <p:nvPr/>
        </p:nvSpPr>
        <p:spPr bwMode="auto">
          <a:xfrm>
            <a:off x="359532" y="4190764"/>
            <a:ext cx="8604448" cy="6783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Is it correct?</a:t>
            </a:r>
          </a:p>
          <a:p>
            <a:pPr lvl="1"/>
            <a:r>
              <a:rPr lang="en-US" dirty="0">
                <a:cs typeface="Courier New"/>
              </a:rPr>
              <a:t>What happens when </a:t>
            </a:r>
            <a:r>
              <a:rPr lang="en-US" b="1" dirty="0" err="1">
                <a:latin typeface="Courier New"/>
                <a:cs typeface="Courier New"/>
              </a:rPr>
              <a:t>insert_head</a:t>
            </a:r>
            <a:r>
              <a:rPr lang="en-US" b="1" dirty="0">
                <a:latin typeface="Courier New"/>
                <a:cs typeface="Courier New"/>
              </a:rPr>
              <a:t>(</a:t>
            </a:r>
            <a:r>
              <a:rPr lang="en-US" b="1" dirty="0" err="1">
                <a:latin typeface="Courier New"/>
                <a:cs typeface="Courier New"/>
              </a:rPr>
              <a:t>list_head</a:t>
            </a:r>
            <a:r>
              <a:rPr lang="en-US" b="1" dirty="0">
                <a:latin typeface="Courier New"/>
                <a:cs typeface="Courier New"/>
              </a:rPr>
              <a:t>, 1)</a:t>
            </a:r>
            <a:r>
              <a:rPr lang="en-US" dirty="0">
                <a:cs typeface="Courier New"/>
              </a:rPr>
              <a:t>is executed?</a:t>
            </a:r>
          </a:p>
          <a:p>
            <a:pPr lvl="1"/>
            <a:r>
              <a:rPr lang="en-US" dirty="0">
                <a:cs typeface="Courier New"/>
              </a:rPr>
              <a:t>Correct the function !</a:t>
            </a:r>
          </a:p>
        </p:txBody>
      </p:sp>
      <p:sp>
        <p:nvSpPr>
          <p:cNvPr id="9"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2463813142"/>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lvl="2"/>
            <a:fld id="{28BEB0BA-EEE4-5F45-9179-3BC54B76BCCF}" type="slidenum">
              <a:rPr lang="fr-FR" smtClean="0"/>
              <a:pPr lvl="2"/>
              <a:t>306</a:t>
            </a:fld>
            <a:endParaRPr lang="fr-FR"/>
          </a:p>
        </p:txBody>
      </p:sp>
      <p:sp>
        <p:nvSpPr>
          <p:cNvPr id="7" name="Title 1"/>
          <p:cNvSpPr>
            <a:spLocks noGrp="1"/>
          </p:cNvSpPr>
          <p:nvPr>
            <p:ph type="title"/>
          </p:nvPr>
        </p:nvSpPr>
        <p:spPr>
          <a:xfrm>
            <a:off x="304800" y="152400"/>
            <a:ext cx="7772400" cy="533400"/>
          </a:xfrm>
        </p:spPr>
        <p:txBody>
          <a:bodyPr/>
          <a:lstStyle/>
          <a:p>
            <a:r>
              <a:rPr lang="fr-FR" sz="2800" dirty="0">
                <a:latin typeface="Arial" charset="0"/>
                <a:cs typeface="ＭＳ Ｐゴシック" charset="0"/>
              </a:rPr>
              <a:t>Exercice 6: </a:t>
            </a:r>
            <a:r>
              <a:rPr lang="fr-FR" sz="2800" dirty="0" err="1">
                <a:latin typeface="Arial" charset="0"/>
                <a:cs typeface="ＭＳ Ｐゴシック" charset="0"/>
              </a:rPr>
              <a:t>Linked</a:t>
            </a:r>
            <a:r>
              <a:rPr lang="fr-FR" sz="2800" dirty="0">
                <a:latin typeface="Arial" charset="0"/>
                <a:cs typeface="ＭＳ Ｐゴシック" charset="0"/>
              </a:rPr>
              <a:t> </a:t>
            </a:r>
            <a:r>
              <a:rPr lang="fr-FR" sz="2800" dirty="0" err="1">
                <a:latin typeface="Arial" charset="0"/>
                <a:cs typeface="ＭＳ Ｐゴシック" charset="0"/>
              </a:rPr>
              <a:t>lists</a:t>
            </a:r>
            <a:endParaRPr lang="en-US" sz="2800" dirty="0"/>
          </a:p>
        </p:txBody>
      </p:sp>
      <p:sp>
        <p:nvSpPr>
          <p:cNvPr id="9" name="Content Placeholder 2"/>
          <p:cNvSpPr txBox="1">
            <a:spLocks/>
          </p:cNvSpPr>
          <p:nvPr/>
        </p:nvSpPr>
        <p:spPr bwMode="auto">
          <a:xfrm>
            <a:off x="359532" y="1160748"/>
            <a:ext cx="8604448" cy="21242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Write a </a:t>
            </a:r>
            <a:r>
              <a:rPr lang="en-US" dirty="0">
                <a:cs typeface="Courier New"/>
              </a:rPr>
              <a:t>function:</a:t>
            </a:r>
          </a:p>
          <a:p>
            <a:pPr marL="0" indent="0">
              <a:buNone/>
            </a:pPr>
            <a:r>
              <a:rPr lang="en-US" b="1" dirty="0" err="1">
                <a:latin typeface="Courier New"/>
                <a:cs typeface="Courier New"/>
              </a:rPr>
              <a:t>int</a:t>
            </a:r>
            <a:r>
              <a:rPr lang="en-US" b="1" dirty="0">
                <a:latin typeface="Courier New"/>
                <a:cs typeface="Courier New"/>
              </a:rPr>
              <a:t> </a:t>
            </a:r>
            <a:r>
              <a:rPr lang="en-US" b="1" dirty="0" err="1">
                <a:latin typeface="Courier New"/>
                <a:cs typeface="Courier New"/>
              </a:rPr>
              <a:t>insert_tail</a:t>
            </a:r>
            <a:r>
              <a:rPr lang="en-US" b="1" dirty="0">
                <a:latin typeface="Courier New"/>
                <a:cs typeface="Courier New"/>
              </a:rPr>
              <a:t>(</a:t>
            </a:r>
            <a:r>
              <a:rPr lang="en-US" b="1" dirty="0" err="1">
                <a:latin typeface="Courier New"/>
                <a:cs typeface="Courier New"/>
              </a:rPr>
              <a:t>list_elem_t</a:t>
            </a:r>
            <a:r>
              <a:rPr lang="en-US" b="1" dirty="0">
                <a:latin typeface="Courier New"/>
                <a:cs typeface="Courier New"/>
              </a:rPr>
              <a:t>** l, </a:t>
            </a:r>
            <a:r>
              <a:rPr lang="en-US" b="1" dirty="0" err="1">
                <a:latin typeface="Courier New"/>
                <a:cs typeface="Courier New"/>
              </a:rPr>
              <a:t>int</a:t>
            </a:r>
            <a:r>
              <a:rPr lang="en-US" b="1" dirty="0">
                <a:latin typeface="Courier New"/>
                <a:cs typeface="Courier New"/>
              </a:rPr>
              <a:t> </a:t>
            </a:r>
            <a:r>
              <a:rPr lang="en-US" b="1" dirty="0" err="1">
                <a:latin typeface="Courier New"/>
                <a:cs typeface="Courier New"/>
              </a:rPr>
              <a:t>val</a:t>
            </a:r>
            <a:r>
              <a:rPr lang="en-US" b="1" dirty="0">
                <a:latin typeface="Courier New"/>
                <a:cs typeface="Courier New"/>
              </a:rPr>
              <a:t>)</a:t>
            </a:r>
            <a:r>
              <a:rPr lang="en-US" dirty="0"/>
              <a:t>, </a:t>
            </a:r>
          </a:p>
          <a:p>
            <a:pPr marL="0" indent="0">
              <a:buNone/>
            </a:pPr>
            <a:r>
              <a:rPr lang="en-US" dirty="0"/>
              <a:t>which creates a new list element at the tail of the list and return 0 in case of success and -1 in case of failure</a:t>
            </a:r>
            <a:endParaRPr lang="en-US" b="1" dirty="0">
              <a:latin typeface="Courier New"/>
              <a:cs typeface="Courier New"/>
            </a:endParaRPr>
          </a:p>
        </p:txBody>
      </p:sp>
      <p:sp>
        <p:nvSpPr>
          <p:cNvPr id="6" name="Espace réservé du pied de page 3"/>
          <p:cNvSpPr>
            <a:spLocks noGrp="1"/>
          </p:cNvSpPr>
          <p:nvPr>
            <p:ph type="ftr" sz="quarter" idx="10"/>
          </p:nvPr>
        </p:nvSpPr>
        <p:spPr>
          <a:xfrm>
            <a:off x="395536" y="6400800"/>
            <a:ext cx="5624264" cy="4572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a:defRPr/>
            </a:pPr>
            <a:r>
              <a:rPr lang="fr-FR" sz="1800"/>
              <a:t>L3Info – C/Unix</a:t>
            </a:r>
            <a:endParaRPr lang="fr-FR" sz="1800" dirty="0"/>
          </a:p>
        </p:txBody>
      </p:sp>
    </p:spTree>
    <p:extLst>
      <p:ext uri="{BB962C8B-B14F-4D97-AF65-F5344CB8AC3E}">
        <p14:creationId xmlns:p14="http://schemas.microsoft.com/office/powerpoint/2010/main" val="1500983305"/>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re 1"/>
          <p:cNvSpPr>
            <a:spLocks noGrp="1"/>
          </p:cNvSpPr>
          <p:nvPr>
            <p:ph type="title"/>
          </p:nvPr>
        </p:nvSpPr>
        <p:spPr/>
        <p:txBody>
          <a:bodyPr/>
          <a:lstStyle/>
          <a:p>
            <a:r>
              <a:rPr lang="fr-FR" sz="2800" dirty="0">
                <a:latin typeface="Arial" charset="0"/>
                <a:cs typeface="ＭＳ Ｐゴシック" charset="0"/>
              </a:rPr>
              <a:t>Exercice 7: Files</a:t>
            </a:r>
          </a:p>
        </p:txBody>
      </p:sp>
      <p:sp>
        <p:nvSpPr>
          <p:cNvPr id="113666" name="Espace réservé du contenu 2"/>
          <p:cNvSpPr>
            <a:spLocks noGrp="1"/>
          </p:cNvSpPr>
          <p:nvPr>
            <p:ph idx="1"/>
          </p:nvPr>
        </p:nvSpPr>
        <p:spPr>
          <a:xfrm>
            <a:off x="323528" y="836713"/>
            <a:ext cx="8712968" cy="2772308"/>
          </a:xfrm>
        </p:spPr>
        <p:txBody>
          <a:bodyPr/>
          <a:lstStyle/>
          <a:p>
            <a:r>
              <a:rPr lang="en-GB" dirty="0">
                <a:latin typeface="Arial" charset="0"/>
                <a:cs typeface="ＭＳ Ｐゴシック" charset="0"/>
              </a:rPr>
              <a:t>Write a </a:t>
            </a:r>
            <a:r>
              <a:rPr lang="en-GB" b="1" dirty="0">
                <a:latin typeface="Courier New"/>
                <a:cs typeface="Courier New"/>
              </a:rPr>
              <a:t>main</a:t>
            </a:r>
            <a:r>
              <a:rPr lang="en-GB" dirty="0">
                <a:latin typeface="Arial" charset="0"/>
                <a:cs typeface="ＭＳ Ｐゴシック" charset="0"/>
              </a:rPr>
              <a:t> function that</a:t>
            </a:r>
          </a:p>
          <a:p>
            <a:pPr lvl="1"/>
            <a:r>
              <a:rPr lang="en-GB" sz="2400" dirty="0">
                <a:latin typeface="Arial" charset="0"/>
                <a:cs typeface="ＭＳ Ｐゴシック" charset="0"/>
              </a:rPr>
              <a:t>Reads the name of a file (</a:t>
            </a:r>
            <a:r>
              <a:rPr lang="en-GB" sz="2400" b="1" dirty="0">
                <a:latin typeface="Courier New"/>
                <a:cs typeface="Courier New"/>
              </a:rPr>
              <a:t>name1</a:t>
            </a:r>
            <a:r>
              <a:rPr lang="en-GB" sz="2400" dirty="0">
                <a:latin typeface="Arial" charset="0"/>
                <a:cs typeface="ＭＳ Ｐゴシック" charset="0"/>
              </a:rPr>
              <a:t>) from the keyboard</a:t>
            </a:r>
          </a:p>
          <a:p>
            <a:pPr lvl="1"/>
            <a:r>
              <a:rPr lang="en-GB" sz="2400" dirty="0">
                <a:latin typeface="Arial" charset="0"/>
                <a:cs typeface="ＭＳ Ｐゴシック" charset="0"/>
              </a:rPr>
              <a:t>Reads the name of a file (</a:t>
            </a:r>
            <a:r>
              <a:rPr lang="en-GB" sz="2400" b="1" dirty="0">
                <a:latin typeface="Courier New"/>
                <a:cs typeface="Courier New"/>
              </a:rPr>
              <a:t>name2</a:t>
            </a:r>
            <a:r>
              <a:rPr lang="en-GB" sz="2400" dirty="0">
                <a:latin typeface="Arial" charset="0"/>
                <a:cs typeface="ＭＳ Ｐゴシック" charset="0"/>
              </a:rPr>
              <a:t>) from the keyboard</a:t>
            </a:r>
          </a:p>
          <a:p>
            <a:pPr lvl="1"/>
            <a:r>
              <a:rPr lang="en-GB" sz="2400" dirty="0">
                <a:latin typeface="Arial" charset="0"/>
                <a:cs typeface="ＭＳ Ｐゴシック" charset="0"/>
              </a:rPr>
              <a:t>Copies character by character the content of the file name1 to the file name2 and replace all the </a:t>
            </a:r>
            <a:r>
              <a:rPr lang="en-GB" sz="2400" b="1" dirty="0"/>
              <a:t>‘X’</a:t>
            </a:r>
            <a:r>
              <a:rPr lang="en-GB" sz="2400" dirty="0"/>
              <a:t> with </a:t>
            </a:r>
            <a:r>
              <a:rPr lang="en-GB" sz="2400" b="1" dirty="0"/>
              <a:t>‘Y’</a:t>
            </a:r>
            <a:r>
              <a:rPr lang="en-GB" sz="2400" dirty="0"/>
              <a:t>.</a:t>
            </a:r>
          </a:p>
          <a:p>
            <a:pPr lvl="1"/>
            <a:r>
              <a:rPr lang="en-GB" sz="2400" dirty="0"/>
              <a:t>If the copy is not possible, prints an error message</a:t>
            </a:r>
            <a:endParaRPr lang="en-GB" sz="2400" dirty="0">
              <a:latin typeface="Arial" charset="0"/>
              <a:cs typeface="ＭＳ Ｐゴシック" charset="0"/>
            </a:endParaRPr>
          </a:p>
        </p:txBody>
      </p:sp>
      <p:sp>
        <p:nvSpPr>
          <p:cNvPr id="113667" name="Espace réservé du numéro de diapositive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C3881F7-01AF-BB4A-90E5-B87C463F9952}" type="slidenum">
              <a:rPr lang="en-US"/>
              <a:pPr eaLnBrk="1" hangingPunct="1"/>
              <a:t>307</a:t>
            </a:fld>
            <a:endParaRPr lang="en-US"/>
          </a:p>
        </p:txBody>
      </p:sp>
      <p:sp>
        <p:nvSpPr>
          <p:cNvPr id="3" name="Rectangle 2"/>
          <p:cNvSpPr/>
          <p:nvPr/>
        </p:nvSpPr>
        <p:spPr>
          <a:xfrm>
            <a:off x="863588" y="3392996"/>
            <a:ext cx="7740860" cy="3287054"/>
          </a:xfrm>
          <a:prstGeom prst="rect">
            <a:avLst/>
          </a:prstGeom>
        </p:spPr>
        <p:txBody>
          <a:bodyPr wrap="square">
            <a:spAutoFit/>
          </a:bodyPr>
          <a:lstStyle/>
          <a:p>
            <a:pPr algn="l"/>
            <a:r>
              <a:rPr lang="en-GB" sz="1800" b="1" dirty="0">
                <a:latin typeface="Courier New"/>
                <a:cs typeface="Courier New"/>
              </a:rPr>
              <a:t>#include &lt;</a:t>
            </a:r>
            <a:r>
              <a:rPr lang="en-GB" sz="1800" b="1" dirty="0" err="1">
                <a:latin typeface="Courier New"/>
                <a:cs typeface="Courier New"/>
              </a:rPr>
              <a:t>stdio.h</a:t>
            </a:r>
            <a:r>
              <a:rPr lang="en-GB" sz="1800" b="1" dirty="0">
                <a:latin typeface="Courier New"/>
                <a:cs typeface="Courier New"/>
              </a:rPr>
              <a:t>&gt; </a:t>
            </a:r>
            <a:endParaRPr lang="en-US" sz="1800" dirty="0">
              <a:latin typeface="Courier New"/>
              <a:cs typeface="Courier New"/>
            </a:endParaRPr>
          </a:p>
          <a:p>
            <a:pPr algn="l"/>
            <a:r>
              <a:rPr lang="en-GB" sz="1800" b="1" dirty="0">
                <a:latin typeface="Courier New"/>
                <a:cs typeface="Courier New"/>
              </a:rPr>
              <a:t>#include &lt;</a:t>
            </a:r>
            <a:r>
              <a:rPr lang="en-GB" sz="1800" b="1" dirty="0" err="1">
                <a:latin typeface="Courier New"/>
                <a:cs typeface="Courier New"/>
              </a:rPr>
              <a:t>string.h</a:t>
            </a:r>
            <a:r>
              <a:rPr lang="en-GB" sz="1800" b="1" dirty="0">
                <a:latin typeface="Courier New"/>
                <a:cs typeface="Courier New"/>
              </a:rPr>
              <a:t>&gt; </a:t>
            </a:r>
            <a:endParaRPr lang="en-US" sz="1800" dirty="0">
              <a:latin typeface="Courier New"/>
              <a:cs typeface="Courier New"/>
            </a:endParaRPr>
          </a:p>
          <a:p>
            <a:pPr algn="l"/>
            <a:endParaRPr lang="fr-FR" sz="700" b="1" dirty="0">
              <a:latin typeface="Courier New"/>
              <a:cs typeface="Courier New"/>
            </a:endParaRPr>
          </a:p>
          <a:p>
            <a:pPr algn="l"/>
            <a:r>
              <a:rPr lang="fr-FR" sz="1800" b="1" dirty="0">
                <a:latin typeface="Courier New"/>
                <a:cs typeface="Courier New"/>
              </a:rPr>
              <a:t>FILE* in;</a:t>
            </a:r>
            <a:endParaRPr lang="en-US" sz="1800" dirty="0">
              <a:latin typeface="Courier New"/>
              <a:cs typeface="Courier New"/>
            </a:endParaRPr>
          </a:p>
          <a:p>
            <a:pPr algn="l"/>
            <a:r>
              <a:rPr lang="fr-FR" sz="1800" b="1" dirty="0">
                <a:latin typeface="Courier New"/>
                <a:cs typeface="Courier New"/>
              </a:rPr>
              <a:t>FILE* out;</a:t>
            </a:r>
            <a:endParaRPr lang="en-US" sz="1800" dirty="0">
              <a:latin typeface="Courier New"/>
              <a:cs typeface="Courier New"/>
            </a:endParaRPr>
          </a:p>
          <a:p>
            <a:pPr algn="l"/>
            <a:endParaRPr lang="en-US" sz="700" dirty="0">
              <a:latin typeface="Courier New"/>
              <a:cs typeface="Courier New"/>
            </a:endParaRPr>
          </a:p>
          <a:p>
            <a:pPr algn="l"/>
            <a:r>
              <a:rPr lang="fr-FR" sz="1800" b="1" dirty="0">
                <a:latin typeface="Courier New"/>
                <a:cs typeface="Courier New"/>
              </a:rPr>
              <a:t>char nom1[40];</a:t>
            </a:r>
            <a:endParaRPr lang="en-US" sz="1800" dirty="0">
              <a:latin typeface="Courier New"/>
              <a:cs typeface="Courier New"/>
            </a:endParaRPr>
          </a:p>
          <a:p>
            <a:pPr algn="l"/>
            <a:r>
              <a:rPr lang="fr-FR" sz="1800" b="1" dirty="0">
                <a:latin typeface="Courier New"/>
                <a:cs typeface="Courier New"/>
              </a:rPr>
              <a:t>char nom2[40];</a:t>
            </a:r>
          </a:p>
          <a:p>
            <a:pPr algn="l"/>
            <a:r>
              <a:rPr lang="fr-FR" sz="1800" b="1" dirty="0" err="1">
                <a:latin typeface="Courier New"/>
                <a:cs typeface="Courier New"/>
              </a:rPr>
              <a:t>int</a:t>
            </a:r>
            <a:r>
              <a:rPr lang="fr-FR" sz="1800" b="1" dirty="0">
                <a:latin typeface="Courier New"/>
                <a:cs typeface="Courier New"/>
              </a:rPr>
              <a:t> main() {</a:t>
            </a:r>
            <a:endParaRPr lang="en-US" sz="1800" dirty="0">
              <a:latin typeface="Courier New"/>
              <a:cs typeface="Courier New"/>
            </a:endParaRPr>
          </a:p>
          <a:p>
            <a:pPr algn="l"/>
            <a:r>
              <a:rPr lang="en-US" sz="1800" dirty="0">
                <a:latin typeface="Courier New"/>
                <a:cs typeface="Courier New"/>
              </a:rPr>
              <a:t>	//To Be Completed</a:t>
            </a:r>
          </a:p>
          <a:p>
            <a:pPr algn="l"/>
            <a:r>
              <a:rPr lang="en-US" sz="1800" b="1" dirty="0">
                <a:latin typeface="Courier New"/>
                <a:cs typeface="Courier New"/>
              </a:rPr>
              <a:t>}</a:t>
            </a:r>
          </a:p>
        </p:txBody>
      </p:sp>
      <p:sp>
        <p:nvSpPr>
          <p:cNvPr id="2" name="Espace réservé du pied de page 1">
            <a:extLst>
              <a:ext uri="{FF2B5EF4-FFF2-40B4-BE49-F238E27FC236}">
                <a16:creationId xmlns:a16="http://schemas.microsoft.com/office/drawing/2014/main" id="{345BDEBA-53B2-2C99-49C6-BC6F5C0A3806}"/>
              </a:ext>
            </a:extLst>
          </p:cNvPr>
          <p:cNvSpPr>
            <a:spLocks noGrp="1"/>
          </p:cNvSpPr>
          <p:nvPr>
            <p:ph type="ftr" sz="quarter" idx="10"/>
          </p:nvPr>
        </p:nvSpPr>
        <p:spPr/>
        <p:txBody>
          <a:bodyPr/>
          <a:lstStyle/>
          <a:p>
            <a:pPr>
              <a:defRPr/>
            </a:pPr>
            <a:r>
              <a:rPr lang="fr-FR"/>
              <a:t>L3Info – C/Unix</a:t>
            </a:r>
            <a:endParaRPr lang="fr-FR" dirty="0"/>
          </a:p>
        </p:txBody>
      </p:sp>
    </p:spTree>
    <p:extLst>
      <p:ext uri="{BB962C8B-B14F-4D97-AF65-F5344CB8AC3E}">
        <p14:creationId xmlns:p14="http://schemas.microsoft.com/office/powerpoint/2010/main" val="25052738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490"/>
  <p:tag name="DEFAULTHEIGHT" val="411"/>
</p:tagLst>
</file>

<file path=ppt/theme/theme1.xml><?xml version="1.0" encoding="utf-8"?>
<a:theme xmlns:a="http://schemas.openxmlformats.org/drawingml/2006/main" name="Copie de Irisa">
  <a:themeElements>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fontScheme name="Copie de Irisa.po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rtlCol="0" anchor="ctr" anchorCtr="0" compatLnSpc="1">
        <a:prstTxWarp prst="textNoShape">
          <a:avLst/>
        </a:prstTxWarp>
        <a:norm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sz="2000" b="0" i="0" u="none" strike="noStrike" cap="none" normalizeH="0" baseline="0" dirty="0" smtClean="0">
            <a:ln>
              <a:noFill/>
            </a:ln>
            <a:solidFill>
              <a:srgbClr val="010507"/>
            </a:solidFill>
            <a:effectLst/>
            <a:latin typeface="Arial" charset="0"/>
          </a:defRPr>
        </a:defPPr>
      </a:lstStyle>
    </a:spDef>
    <a:lnDef>
      <a:spPr bwMode="auto">
        <a:noFill/>
        <a:ln w="6350"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Copie de Irisa.pot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lang="en-US" sz="800" b="0" i="0" u="none" strike="noStrike" cap="none" normalizeH="0" baseline="0" smtClean="0">
            <a:ln>
              <a:noFill/>
            </a:ln>
            <a:solidFill>
              <a:srgbClr val="010507"/>
            </a:solidFill>
            <a:effectLst/>
            <a:latin typeface="Arial" charset="0"/>
          </a:defRPr>
        </a:defPPr>
      </a:lstStyle>
    </a:spDef>
    <a:ln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lang="en-US" sz="800" b="0" i="0" u="none" strike="noStrike" cap="none" normalizeH="0" baseline="0" smtClean="0">
            <a:ln>
              <a:noFill/>
            </a:ln>
            <a:solidFill>
              <a:srgbClr val="010507"/>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
      <a:clrScheme name="Capsules 9">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themeOverride>
</file>

<file path=docProps/app.xml><?xml version="1.0" encoding="utf-8"?>
<Properties xmlns="http://schemas.openxmlformats.org/officeDocument/2006/extended-properties" xmlns:vt="http://schemas.openxmlformats.org/officeDocument/2006/docPropsVTypes">
  <Template>C:\MSOffice\Modeles\Copie de Irisa.pot</Template>
  <TotalTime>152449</TotalTime>
  <Words>25148</Words>
  <Application>Microsoft Office PowerPoint</Application>
  <PresentationFormat>Affichage à l'écran (4:3)</PresentationFormat>
  <Paragraphs>5281</Paragraphs>
  <Slides>307</Slides>
  <Notes>94</Notes>
  <HiddenSlides>0</HiddenSlides>
  <MMClips>0</MMClips>
  <ScaleCrop>false</ScaleCrop>
  <HeadingPairs>
    <vt:vector size="6" baseType="variant">
      <vt:variant>
        <vt:lpstr>Polices utilisées</vt:lpstr>
      </vt:variant>
      <vt:variant>
        <vt:i4>11</vt:i4>
      </vt:variant>
      <vt:variant>
        <vt:lpstr>Thème</vt:lpstr>
      </vt:variant>
      <vt:variant>
        <vt:i4>3</vt:i4>
      </vt:variant>
      <vt:variant>
        <vt:lpstr>Titres des diapositives</vt:lpstr>
      </vt:variant>
      <vt:variant>
        <vt:i4>307</vt:i4>
      </vt:variant>
    </vt:vector>
  </HeadingPairs>
  <TitlesOfParts>
    <vt:vector size="321" baseType="lpstr">
      <vt:lpstr>Arial</vt:lpstr>
      <vt:lpstr>Calibri</vt:lpstr>
      <vt:lpstr>Courier</vt:lpstr>
      <vt:lpstr>Courier New</vt:lpstr>
      <vt:lpstr>Menlo</vt:lpstr>
      <vt:lpstr>Menlo Regular</vt:lpstr>
      <vt:lpstr>Monotype Sorts</vt:lpstr>
      <vt:lpstr>StarSymbol</vt:lpstr>
      <vt:lpstr>Times New Roman</vt:lpstr>
      <vt:lpstr>Wingdings</vt:lpstr>
      <vt:lpstr>ZapfDingbats</vt:lpstr>
      <vt:lpstr>Copie de Irisa</vt:lpstr>
      <vt:lpstr>Conception personnalisée</vt:lpstr>
      <vt:lpstr>Capsules</vt:lpstr>
      <vt:lpstr>Partie B: Langage C</vt:lpstr>
      <vt:lpstr>PLAN</vt:lpstr>
      <vt:lpstr>CM 3: Introduction, Structure et Outils</vt:lpstr>
      <vt:lpstr>Pourquoi C ?</vt:lpstr>
      <vt:lpstr>Que couvre ce cours ?</vt:lpstr>
      <vt:lpstr>C language</vt:lpstr>
      <vt:lpstr>Structure d'un programme C et compilation</vt:lpstr>
      <vt:lpstr>Structure d'un programme en C</vt:lpstr>
      <vt:lpstr>Communication entre fichiers .c</vt:lpstr>
      <vt:lpstr>Communication entre fichiers .c</vt:lpstr>
      <vt:lpstr>Directive #include</vt:lpstr>
      <vt:lpstr>Communication among .c files: Example</vt:lpstr>
      <vt:lpstr>Communication entre fichiers .c : Exemple</vt:lpstr>
      <vt:lpstr>Communication entre fichiers .c : Exemple</vt:lpstr>
      <vt:lpstr>Règles générales</vt:lpstr>
      <vt:lpstr>Structure d’un fichier .c</vt:lpstr>
      <vt:lpstr>Structure d’un fichier .h</vt:lpstr>
      <vt:lpstr>Structure d’un fichier .c : Exemple</vt:lpstr>
      <vt:lpstr>Même exemple réparti en 3 fichiers</vt:lpstr>
      <vt:lpstr>Compilation JAVA </vt:lpstr>
      <vt:lpstr>JAVA compilation</vt:lpstr>
      <vt:lpstr>Compilation C </vt:lpstr>
      <vt:lpstr>Compilation C </vt:lpstr>
      <vt:lpstr>Compilation C </vt:lpstr>
      <vt:lpstr>Compilation C : GCC</vt:lpstr>
      <vt:lpstr>GCC : Une compilation de fichier</vt:lpstr>
      <vt:lpstr>GCC: Plusieurs compilation de fichiers</vt:lpstr>
      <vt:lpstr>Compilation C  : L’outil make</vt:lpstr>
      <vt:lpstr>L’outil make : Exemple</vt:lpstr>
      <vt:lpstr>L’outil make : Exemple</vt:lpstr>
      <vt:lpstr>L’outil make : Exemple</vt:lpstr>
      <vt:lpstr>The tool make: Example</vt:lpstr>
      <vt:lpstr>Structure de Makefile</vt:lpstr>
      <vt:lpstr>Structure de Makefile: Exemple</vt:lpstr>
      <vt:lpstr>Structure of the Makefile: Example</vt:lpstr>
      <vt:lpstr>Structure of the Makefile: Example</vt:lpstr>
      <vt:lpstr>Structure de Makefile: Exemple</vt:lpstr>
      <vt:lpstr>Structure de Makefile: Exemple 2</vt:lpstr>
      <vt:lpstr>Structure de Makefile: Exemple 2</vt:lpstr>
      <vt:lpstr>Messages courants d'erreurs de compilation</vt:lpstr>
      <vt:lpstr>Débogage</vt:lpstr>
      <vt:lpstr>L’outil GDB</vt:lpstr>
      <vt:lpstr>L’outil GDB : Commandes</vt:lpstr>
      <vt:lpstr>L’outil Valgrind</vt:lpstr>
      <vt:lpstr>… avant d'entrer dans plus de détails sur la syntaxe en C…</vt:lpstr>
      <vt:lpstr>Le style de code est très important !</vt:lpstr>
      <vt:lpstr>CM 4:  Composants de base du langage C : Types de données primitifs, Bibliothèques et Structures de contrôle</vt:lpstr>
      <vt:lpstr>Instructions &amp; Commentaires</vt:lpstr>
      <vt:lpstr>Représentation de la valeur</vt:lpstr>
      <vt:lpstr>Définition d'objet de données</vt:lpstr>
      <vt:lpstr>Types de données primitifs : Spécificateurs de type</vt:lpstr>
      <vt:lpstr>Types de données primitifs : Taille</vt:lpstr>
      <vt:lpstr>Types de données primitifs : Valeurs minimales</vt:lpstr>
      <vt:lpstr>Types de données primitifs : Float</vt:lpstr>
      <vt:lpstr>Defining primitive data objects: Examples</vt:lpstr>
      <vt:lpstr>Operators</vt:lpstr>
      <vt:lpstr>Arithmetic operators</vt:lpstr>
      <vt:lpstr>Relational operators</vt:lpstr>
      <vt:lpstr>Logical operators</vt:lpstr>
      <vt:lpstr>Bitwise operators</vt:lpstr>
      <vt:lpstr>Assignment operators</vt:lpstr>
      <vt:lpstr>Common error: Assignment Vs Testing</vt:lpstr>
      <vt:lpstr>Let’s…</vt:lpstr>
      <vt:lpstr>So, what happens if we mix types in an operation? </vt:lpstr>
      <vt:lpstr>And during assignment?</vt:lpstr>
      <vt:lpstr>Primitive data types: Implicit conversion</vt:lpstr>
      <vt:lpstr>Explicit conversion: Cast operator</vt:lpstr>
      <vt:lpstr>With the Implicit or explicit conversion</vt:lpstr>
      <vt:lpstr>And, when we cast different representation ?</vt:lpstr>
      <vt:lpstr>Type conversion: Examples</vt:lpstr>
      <vt:lpstr>Type conversion: Examples</vt:lpstr>
      <vt:lpstr>Type conversion: Usual problems</vt:lpstr>
      <vt:lpstr>Type conversion: Usual problems</vt:lpstr>
      <vt:lpstr>Variable allocation and lifetime</vt:lpstr>
      <vt:lpstr>Variable allocation and lifetime</vt:lpstr>
      <vt:lpstr>Variable allocation and lifetime</vt:lpstr>
      <vt:lpstr>Data objects: Qualifiers</vt:lpstr>
      <vt:lpstr>Object-like Macros</vt:lpstr>
      <vt:lpstr>Other reserved constants</vt:lpstr>
      <vt:lpstr>Basic components of C language: Libraries</vt:lpstr>
      <vt:lpstr>Libraries</vt:lpstr>
      <vt:lpstr>Two basic I/O functions!</vt:lpstr>
      <vt:lpstr>Formated write: printf(…)</vt:lpstr>
      <vt:lpstr>Formated read: scanf(…)</vt:lpstr>
      <vt:lpstr>Format of I/O expressions</vt:lpstr>
      <vt:lpstr>Exemple</vt:lpstr>
      <vt:lpstr>What happens if we use a wrong format?</vt:lpstr>
      <vt:lpstr>Type conversion: Inbuilt typecast functions</vt:lpstr>
      <vt:lpstr>Let’s…</vt:lpstr>
      <vt:lpstr>Basic components of C language: Control structures</vt:lpstr>
      <vt:lpstr>Control structures</vt:lpstr>
      <vt:lpstr>Conditions: If</vt:lpstr>
      <vt:lpstr>Conditions: ternary instruction</vt:lpstr>
      <vt:lpstr>Conditions: switch - case</vt:lpstr>
      <vt:lpstr>Loops</vt:lpstr>
      <vt:lpstr>Loops: Control statements</vt:lpstr>
      <vt:lpstr>Other types of objects</vt:lpstr>
      <vt:lpstr>CM 5: Pointers and Arrays</vt:lpstr>
      <vt:lpstr>Pointer type</vt:lpstr>
      <vt:lpstr>Pointer</vt:lpstr>
      <vt:lpstr>Pointer: Definition</vt:lpstr>
      <vt:lpstr>Pointer: Definition</vt:lpstr>
      <vt:lpstr>Pointer Operations: Address reception</vt:lpstr>
      <vt:lpstr>Pointer Operations: Address reception</vt:lpstr>
      <vt:lpstr>Pointer Operations: Address reception</vt:lpstr>
      <vt:lpstr>Pointer Operations: Dereference/Accessing</vt:lpstr>
      <vt:lpstr>Pointer Operations: Remarks</vt:lpstr>
      <vt:lpstr>Pointer to pointer</vt:lpstr>
      <vt:lpstr>Pointer to pointer: Example</vt:lpstr>
      <vt:lpstr>Pointer to pointer: Example</vt:lpstr>
      <vt:lpstr>Pointer to pointer: Example</vt:lpstr>
      <vt:lpstr>Pointer to pointer: Example</vt:lpstr>
      <vt:lpstr>Pointer to pointer: Example</vt:lpstr>
      <vt:lpstr>Pointer to pointer: Example</vt:lpstr>
      <vt:lpstr>Pointer to pointer: Example</vt:lpstr>
      <vt:lpstr>Let’s…</vt:lpstr>
      <vt:lpstr>Pointer arithmetic</vt:lpstr>
      <vt:lpstr>Pointer arithmetic operators</vt:lpstr>
      <vt:lpstr>Pointer arithmetic: Problems!</vt:lpstr>
      <vt:lpstr>Array type</vt:lpstr>
      <vt:lpstr>Array type: Definition</vt:lpstr>
      <vt:lpstr>Arrays and Pointers</vt:lpstr>
      <vt:lpstr>Arrays and Pointers</vt:lpstr>
      <vt:lpstr>Arrays and Pointers</vt:lpstr>
      <vt:lpstr>An array of pointers</vt:lpstr>
      <vt:lpstr>An array of characters: String</vt:lpstr>
      <vt:lpstr>String initialisation</vt:lpstr>
      <vt:lpstr>String: Remarks</vt:lpstr>
      <vt:lpstr>Arrays and Pointers: Attention !</vt:lpstr>
      <vt:lpstr>Arrays and Pointers: Attention !</vt:lpstr>
      <vt:lpstr>Let’s…</vt:lpstr>
      <vt:lpstr>2D Array: Array of Arrays</vt:lpstr>
      <vt:lpstr>Array of Arrays: Initialization</vt:lpstr>
      <vt:lpstr>Array of Arrays</vt:lpstr>
      <vt:lpstr>Array of Arrays</vt:lpstr>
      <vt:lpstr>Array of Arrays: Remarks!</vt:lpstr>
      <vt:lpstr>Array of Arrays: Pointer arithmetic</vt:lpstr>
      <vt:lpstr>Array of Arrays: Pointer arithmetic</vt:lpstr>
      <vt:lpstr>Array of Arrays: Pointer arithmetic</vt:lpstr>
      <vt:lpstr>Pointer to an array</vt:lpstr>
      <vt:lpstr>Let’s…</vt:lpstr>
      <vt:lpstr>CM 6: Functions</vt:lpstr>
      <vt:lpstr>Function body</vt:lpstr>
      <vt:lpstr>Return value</vt:lpstr>
      <vt:lpstr>Exit value</vt:lpstr>
      <vt:lpstr>Function call</vt:lpstr>
      <vt:lpstr>Function prototype</vt:lpstr>
      <vt:lpstr>Function call: Remarks</vt:lpstr>
      <vt:lpstr>Function: Examples</vt:lpstr>
      <vt:lpstr>Variable allocation in memory</vt:lpstr>
      <vt:lpstr>Stack</vt:lpstr>
      <vt:lpstr>What is visible inside a function? </vt:lpstr>
      <vt:lpstr>Let’s…</vt:lpstr>
      <vt:lpstr>Passing arguments: By value</vt:lpstr>
      <vt:lpstr>Pass by value</vt:lpstr>
      <vt:lpstr>Pass by value</vt:lpstr>
      <vt:lpstr>Pass by value</vt:lpstr>
      <vt:lpstr>Pass by value</vt:lpstr>
      <vt:lpstr>Passing arguments: by Reference</vt:lpstr>
      <vt:lpstr>Pass by reference</vt:lpstr>
      <vt:lpstr>Pass by reference</vt:lpstr>
      <vt:lpstr>Pass by reference</vt:lpstr>
      <vt:lpstr>Pass by reference</vt:lpstr>
      <vt:lpstr>Pass by value: Pointer type</vt:lpstr>
      <vt:lpstr>Pass by value: Pointer type</vt:lpstr>
      <vt:lpstr>Pass by value: Pointer type</vt:lpstr>
      <vt:lpstr>Pass by value: Pointer type</vt:lpstr>
      <vt:lpstr>Pass by reference: Pointer</vt:lpstr>
      <vt:lpstr>Pass by reference: Pointer</vt:lpstr>
      <vt:lpstr>Pass by reference: Pointer</vt:lpstr>
      <vt:lpstr>Pass by reference: Pointer</vt:lpstr>
      <vt:lpstr>Let’s…</vt:lpstr>
      <vt:lpstr>Passing arguments: Array</vt:lpstr>
      <vt:lpstr>Passing arguments: Array</vt:lpstr>
      <vt:lpstr>Passing arguments: 2D Arrays</vt:lpstr>
      <vt:lpstr>Passing arguments: Arrays</vt:lpstr>
      <vt:lpstr>The main function</vt:lpstr>
      <vt:lpstr>Example</vt:lpstr>
      <vt:lpstr>CM7: Dynamic memory allocation</vt:lpstr>
      <vt:lpstr>Variable allocation in memory</vt:lpstr>
      <vt:lpstr>Static &amp; Automatic memory allocation</vt:lpstr>
      <vt:lpstr>Limitations &amp; inefficiencies</vt:lpstr>
      <vt:lpstr>Dynamic memory allocation</vt:lpstr>
      <vt:lpstr>Memory Leak</vt:lpstr>
      <vt:lpstr>Memory Leak</vt:lpstr>
      <vt:lpstr>Dangling pointer</vt:lpstr>
      <vt:lpstr>Dynamic memory: Functions</vt:lpstr>
      <vt:lpstr>Dynamic allocation: malloc()</vt:lpstr>
      <vt:lpstr>Dynamic de-allocation: free(…)</vt:lpstr>
      <vt:lpstr>Dynamic allocation: Example</vt:lpstr>
      <vt:lpstr>Dynamic Memory Allocation</vt:lpstr>
      <vt:lpstr>1D Array with size elements</vt:lpstr>
      <vt:lpstr>1D Array with size characters  string</vt:lpstr>
      <vt:lpstr>String declaration: Remarks</vt:lpstr>
      <vt:lpstr>2D Array: Single pointer</vt:lpstr>
      <vt:lpstr>2D Array: Array of pointers</vt:lpstr>
      <vt:lpstr>2D Array: Pointer to pointer</vt:lpstr>
      <vt:lpstr>Dynamic Memory Allocation</vt:lpstr>
      <vt:lpstr>User-defined data types: Enum, typedef, struct</vt:lpstr>
      <vt:lpstr>Enumerated type declaration &amp; definition</vt:lpstr>
      <vt:lpstr>Structure type declaration</vt:lpstr>
      <vt:lpstr>Structure type declaration</vt:lpstr>
      <vt:lpstr>Structure variable definition &amp; initialisation</vt:lpstr>
      <vt:lpstr>Structure padding</vt:lpstr>
      <vt:lpstr>Structure padding: Example</vt:lpstr>
      <vt:lpstr>Structure variable: Access members</vt:lpstr>
      <vt:lpstr>Definition of a new type</vt:lpstr>
      <vt:lpstr>Structure type: Examples</vt:lpstr>
      <vt:lpstr>Access struct members</vt:lpstr>
      <vt:lpstr>Structures</vt:lpstr>
      <vt:lpstr>Data structures: Lists and Hash tables</vt:lpstr>
      <vt:lpstr>Linked lists Vs arrays</vt:lpstr>
      <vt:lpstr>Why Linked list?</vt:lpstr>
      <vt:lpstr>Linked list</vt:lpstr>
      <vt:lpstr>Linked list: Example</vt:lpstr>
      <vt:lpstr>Linked list: Example</vt:lpstr>
      <vt:lpstr>Linked list: Example</vt:lpstr>
      <vt:lpstr>Linked list: Example</vt:lpstr>
      <vt:lpstr>Linked list: Example</vt:lpstr>
      <vt:lpstr>Linked list: Example</vt:lpstr>
      <vt:lpstr>Linked list: Example</vt:lpstr>
      <vt:lpstr>Why pass by reference?</vt:lpstr>
      <vt:lpstr>Why pass by reference?</vt:lpstr>
      <vt:lpstr>Why pass by reference?</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Insertion</vt:lpstr>
      <vt:lpstr>Operations: Deletion</vt:lpstr>
      <vt:lpstr>Operations: Deletion</vt:lpstr>
      <vt:lpstr>Operations: Deletion</vt:lpstr>
      <vt:lpstr>Operations: Insertion</vt:lpstr>
      <vt:lpstr>Operations: Insertion</vt:lpstr>
      <vt:lpstr>Operations: Insertion</vt:lpstr>
      <vt:lpstr>Operations: Insertion</vt:lpstr>
      <vt:lpstr>Doubly linked list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CM 8: Library functions: Inputs/Outputs, strings and files</vt:lpstr>
      <vt:lpstr>Input / Output functions</vt:lpstr>
      <vt:lpstr>Read/Write a character</vt:lpstr>
      <vt:lpstr>String manipulation</vt:lpstr>
      <vt:lpstr>String declaration: Remarks</vt:lpstr>
      <vt:lpstr>Basic I/O limitations with strings</vt:lpstr>
      <vt:lpstr>Basic I/O limitations with strings</vt:lpstr>
      <vt:lpstr>Read/Write a string</vt:lpstr>
      <vt:lpstr>Read/Write a string</vt:lpstr>
      <vt:lpstr>Read/Write a string</vt:lpstr>
      <vt:lpstr>Length of a string: strlen() </vt:lpstr>
      <vt:lpstr>Concatenate strings: strcat()</vt:lpstr>
      <vt:lpstr>Copy strings: strcpy()</vt:lpstr>
      <vt:lpstr>Présentation PowerPoint</vt:lpstr>
      <vt:lpstr>Copy strings: strncpy()</vt:lpstr>
      <vt:lpstr>Présentation PowerPoint</vt:lpstr>
      <vt:lpstr>Présentation PowerPoint</vt:lpstr>
      <vt:lpstr>Présentation PowerPoint</vt:lpstr>
      <vt:lpstr>Présentation PowerPoint</vt:lpstr>
      <vt:lpstr>Let’s…</vt:lpstr>
      <vt:lpstr>I/O and files</vt:lpstr>
      <vt:lpstr>File declaration</vt:lpstr>
      <vt:lpstr>File open: fopen </vt:lpstr>
      <vt:lpstr>File close: fclose </vt:lpstr>
      <vt:lpstr>Read from a file</vt:lpstr>
      <vt:lpstr>Read from a file</vt:lpstr>
      <vt:lpstr>Write to a file</vt:lpstr>
      <vt:lpstr>Write to a file</vt:lpstr>
      <vt:lpstr>Présentation PowerPoint</vt:lpstr>
      <vt:lpstr>TD2: C exercices</vt:lpstr>
      <vt:lpstr>Présentation PowerPoint</vt:lpstr>
      <vt:lpstr>Exercice 2: Pointers</vt:lpstr>
      <vt:lpstr>Exercice 3: Pointers</vt:lpstr>
      <vt:lpstr>Exercice 4: Strings</vt:lpstr>
      <vt:lpstr>Exercice 5: Strings and pointers</vt:lpstr>
      <vt:lpstr>Exercice 6: Linked lists</vt:lpstr>
      <vt:lpstr>Exercice 6: Linked lists</vt:lpstr>
      <vt:lpstr>Exercice 6: Linked lists</vt:lpstr>
      <vt:lpstr>Exercice 7: Files</vt:lpstr>
    </vt:vector>
  </TitlesOfParts>
  <Company>Irisa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des techniques de partitionnement de réseaux de processeurs pour l'implantation sur circuits programmables </dc:title>
  <dc:creator>sderrien</dc:creator>
  <cp:lastModifiedBy>Bakayoko ibrahima</cp:lastModifiedBy>
  <cp:revision>3616</cp:revision>
  <cp:lastPrinted>2018-09-24T16:47:26Z</cp:lastPrinted>
  <dcterms:created xsi:type="dcterms:W3CDTF">2002-11-12T15:03:12Z</dcterms:created>
  <dcterms:modified xsi:type="dcterms:W3CDTF">2023-11-26T17:19:07Z</dcterms:modified>
</cp:coreProperties>
</file>