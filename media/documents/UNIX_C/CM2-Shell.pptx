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2.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74" r:id="rId2"/>
    <p:sldMasterId id="2147483649" r:id="rId3"/>
  </p:sldMasterIdLst>
  <p:notesMasterIdLst>
    <p:notesMasterId r:id="rId87"/>
  </p:notesMasterIdLst>
  <p:handoutMasterIdLst>
    <p:handoutMasterId r:id="rId88"/>
  </p:handoutMasterIdLst>
  <p:sldIdLst>
    <p:sldId id="1326" r:id="rId4"/>
    <p:sldId id="1335" r:id="rId5"/>
    <p:sldId id="1336" r:id="rId6"/>
    <p:sldId id="1337" r:id="rId7"/>
    <p:sldId id="1339" r:id="rId8"/>
    <p:sldId id="1452" r:id="rId9"/>
    <p:sldId id="1482" r:id="rId10"/>
    <p:sldId id="1358" r:id="rId11"/>
    <p:sldId id="1359" r:id="rId12"/>
    <p:sldId id="1375" r:id="rId13"/>
    <p:sldId id="1407" r:id="rId14"/>
    <p:sldId id="1456" r:id="rId15"/>
    <p:sldId id="1361" r:id="rId16"/>
    <p:sldId id="1342" r:id="rId17"/>
    <p:sldId id="1432" r:id="rId18"/>
    <p:sldId id="1368" r:id="rId19"/>
    <p:sldId id="1367" r:id="rId20"/>
    <p:sldId id="1370" r:id="rId21"/>
    <p:sldId id="1382" r:id="rId22"/>
    <p:sldId id="1458" r:id="rId23"/>
    <p:sldId id="1365" r:id="rId24"/>
    <p:sldId id="1481" r:id="rId25"/>
    <p:sldId id="1366" r:id="rId26"/>
    <p:sldId id="1434" r:id="rId27"/>
    <p:sldId id="1455" r:id="rId28"/>
    <p:sldId id="1436" r:id="rId29"/>
    <p:sldId id="1454" r:id="rId30"/>
    <p:sldId id="1364" r:id="rId31"/>
    <p:sldId id="1354" r:id="rId32"/>
    <p:sldId id="1355" r:id="rId33"/>
    <p:sldId id="1457" r:id="rId34"/>
    <p:sldId id="1461" r:id="rId35"/>
    <p:sldId id="1462" r:id="rId36"/>
    <p:sldId id="1463" r:id="rId37"/>
    <p:sldId id="1386" r:id="rId38"/>
    <p:sldId id="1460" r:id="rId39"/>
    <p:sldId id="1459" r:id="rId40"/>
    <p:sldId id="1371" r:id="rId41"/>
    <p:sldId id="1447" r:id="rId42"/>
    <p:sldId id="1415" r:id="rId43"/>
    <p:sldId id="1467" r:id="rId44"/>
    <p:sldId id="1416" r:id="rId45"/>
    <p:sldId id="1417" r:id="rId46"/>
    <p:sldId id="1385" r:id="rId47"/>
    <p:sldId id="1465" r:id="rId48"/>
    <p:sldId id="1388" r:id="rId49"/>
    <p:sldId id="1409" r:id="rId50"/>
    <p:sldId id="1389" r:id="rId51"/>
    <p:sldId id="1391" r:id="rId52"/>
    <p:sldId id="1390" r:id="rId53"/>
    <p:sldId id="1480" r:id="rId54"/>
    <p:sldId id="1395" r:id="rId55"/>
    <p:sldId id="1472" r:id="rId56"/>
    <p:sldId id="1471" r:id="rId57"/>
    <p:sldId id="1479" r:id="rId58"/>
    <p:sldId id="1469" r:id="rId59"/>
    <p:sldId id="1477" r:id="rId60"/>
    <p:sldId id="1470" r:id="rId61"/>
    <p:sldId id="1414" r:id="rId62"/>
    <p:sldId id="1397" r:id="rId63"/>
    <p:sldId id="1437" r:id="rId64"/>
    <p:sldId id="1398" r:id="rId65"/>
    <p:sldId id="1401" r:id="rId66"/>
    <p:sldId id="1402" r:id="rId67"/>
    <p:sldId id="1438" r:id="rId68"/>
    <p:sldId id="1403" r:id="rId69"/>
    <p:sldId id="1439" r:id="rId70"/>
    <p:sldId id="1440" r:id="rId71"/>
    <p:sldId id="1404" r:id="rId72"/>
    <p:sldId id="1475" r:id="rId73"/>
    <p:sldId id="1473" r:id="rId74"/>
    <p:sldId id="1474" r:id="rId75"/>
    <p:sldId id="1405" r:id="rId76"/>
    <p:sldId id="1406" r:id="rId77"/>
    <p:sldId id="1441" r:id="rId78"/>
    <p:sldId id="1443" r:id="rId79"/>
    <p:sldId id="1418" r:id="rId80"/>
    <p:sldId id="1420" r:id="rId81"/>
    <p:sldId id="1442" r:id="rId82"/>
    <p:sldId id="1444" r:id="rId83"/>
    <p:sldId id="1446" r:id="rId84"/>
    <p:sldId id="1445" r:id="rId85"/>
    <p:sldId id="1448" r:id="rId86"/>
  </p:sldIdLst>
  <p:sldSz cx="9144000" cy="6858000" type="screen4x3"/>
  <p:notesSz cx="9931400" cy="6794500"/>
  <p:custDataLst>
    <p:tags r:id="rId89"/>
  </p:custDataLst>
  <p:defaultTextStyle>
    <a:defPPr>
      <a:defRPr lang="en-US"/>
    </a:defPPr>
    <a:lvl1pPr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1pPr>
    <a:lvl2pPr marL="4572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2pPr>
    <a:lvl3pPr marL="9144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3pPr>
    <a:lvl4pPr marL="1371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4pPr>
    <a:lvl5pPr marL="18288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5pPr>
    <a:lvl6pPr marL="2286000" algn="l" defTabSz="457200" rtl="0" eaLnBrk="1" latinLnBrk="0" hangingPunct="1">
      <a:defRPr sz="800" kern="1200">
        <a:solidFill>
          <a:srgbClr val="010507"/>
        </a:solidFill>
        <a:latin typeface="Arial" charset="0"/>
        <a:ea typeface="ＭＳ Ｐゴシック" charset="0"/>
        <a:cs typeface="+mn-cs"/>
      </a:defRPr>
    </a:lvl6pPr>
    <a:lvl7pPr marL="2743200" algn="l" defTabSz="457200" rtl="0" eaLnBrk="1" latinLnBrk="0" hangingPunct="1">
      <a:defRPr sz="800" kern="1200">
        <a:solidFill>
          <a:srgbClr val="010507"/>
        </a:solidFill>
        <a:latin typeface="Arial" charset="0"/>
        <a:ea typeface="ＭＳ Ｐゴシック" charset="0"/>
        <a:cs typeface="+mn-cs"/>
      </a:defRPr>
    </a:lvl7pPr>
    <a:lvl8pPr marL="3200400" algn="l" defTabSz="457200" rtl="0" eaLnBrk="1" latinLnBrk="0" hangingPunct="1">
      <a:defRPr sz="800" kern="1200">
        <a:solidFill>
          <a:srgbClr val="010507"/>
        </a:solidFill>
        <a:latin typeface="Arial" charset="0"/>
        <a:ea typeface="ＭＳ Ｐゴシック" charset="0"/>
        <a:cs typeface="+mn-cs"/>
      </a:defRPr>
    </a:lvl8pPr>
    <a:lvl9pPr marL="3657600" algn="l" defTabSz="457200" rtl="0" eaLnBrk="1" latinLnBrk="0" hangingPunct="1">
      <a:defRPr sz="800" kern="1200">
        <a:solidFill>
          <a:srgbClr val="010507"/>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4319">
          <p15:clr>
            <a:srgbClr val="A4A3A4"/>
          </p15:clr>
        </p15:guide>
        <p15:guide id="2" pos="5759">
          <p15:clr>
            <a:srgbClr val="A4A3A4"/>
          </p15:clr>
        </p15:guide>
      </p15:sldGuideLst>
    </p:ext>
    <p:ext uri="{2D200454-40CA-4A62-9FC3-DE9A4176ACB9}">
      <p15:notesGuideLst xmlns:p15="http://schemas.microsoft.com/office/powerpoint/2012/main">
        <p15:guide id="1" orient="horz" pos="1605">
          <p15:clr>
            <a:srgbClr val="A4A3A4"/>
          </p15:clr>
        </p15:guide>
        <p15:guide id="2" pos="417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79F7FF"/>
    <a:srgbClr val="99CCFF"/>
    <a:srgbClr val="A70524"/>
    <a:srgbClr val="EAEAEA"/>
    <a:srgbClr val="FFCC00"/>
    <a:srgbClr val="FF9933"/>
    <a:srgbClr val="080000"/>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583" autoAdjust="0"/>
    <p:restoredTop sz="95321" autoAdjust="0"/>
  </p:normalViewPr>
  <p:slideViewPr>
    <p:cSldViewPr>
      <p:cViewPr varScale="1">
        <p:scale>
          <a:sx n="87" d="100"/>
          <a:sy n="87" d="100"/>
        </p:scale>
        <p:origin x="1848" y="78"/>
      </p:cViewPr>
      <p:guideLst>
        <p:guide orient="horz" pos="4319"/>
        <p:guide pos="57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0"/>
    </p:cViewPr>
  </p:sorterViewPr>
  <p:notesViewPr>
    <p:cSldViewPr>
      <p:cViewPr>
        <p:scale>
          <a:sx n="100" d="100"/>
          <a:sy n="100" d="100"/>
        </p:scale>
        <p:origin x="-990" y="-270"/>
      </p:cViewPr>
      <p:guideLst>
        <p:guide orient="horz" pos="1605"/>
        <p:guide pos="4173"/>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slide" Target="slides/slide81.xml"/><Relationship Id="rId89" Type="http://schemas.openxmlformats.org/officeDocument/2006/relationships/tags" Target="tags/tag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handoutMaster" Target="handoutMasters/handout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302125" cy="341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t" anchorCtr="0" compatLnSpc="1">
            <a:prstTxWarp prst="textNoShape">
              <a:avLst/>
            </a:prstTxWarp>
          </a:bodyPr>
          <a:lstStyle>
            <a:lvl1pPr algn="l"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3075" name="Rectangle 3"/>
          <p:cNvSpPr>
            <a:spLocks noGrp="1" noChangeArrowheads="1"/>
          </p:cNvSpPr>
          <p:nvPr>
            <p:ph type="dt" sz="quarter" idx="1"/>
          </p:nvPr>
        </p:nvSpPr>
        <p:spPr bwMode="auto">
          <a:xfrm>
            <a:off x="5629275" y="0"/>
            <a:ext cx="4302125" cy="341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t" anchorCtr="0" compatLnSpc="1">
            <a:prstTxWarp prst="textNoShape">
              <a:avLst/>
            </a:prstTxWarp>
          </a:bodyPr>
          <a:lstStyle>
            <a:lvl1pPr algn="r"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3076" name="Rectangle 4"/>
          <p:cNvSpPr>
            <a:spLocks noGrp="1" noChangeArrowheads="1"/>
          </p:cNvSpPr>
          <p:nvPr>
            <p:ph type="ftr" sz="quarter" idx="2"/>
          </p:nvPr>
        </p:nvSpPr>
        <p:spPr bwMode="auto">
          <a:xfrm>
            <a:off x="0" y="6453188"/>
            <a:ext cx="4302125" cy="341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b" anchorCtr="0" compatLnSpc="1">
            <a:prstTxWarp prst="textNoShape">
              <a:avLst/>
            </a:prstTxWarp>
          </a:bodyPr>
          <a:lstStyle>
            <a:lvl1pPr algn="l"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3077" name="Rectangle 5"/>
          <p:cNvSpPr>
            <a:spLocks noGrp="1" noChangeArrowheads="1"/>
          </p:cNvSpPr>
          <p:nvPr>
            <p:ph type="sldNum" sz="quarter" idx="3"/>
          </p:nvPr>
        </p:nvSpPr>
        <p:spPr bwMode="auto">
          <a:xfrm>
            <a:off x="5629275" y="6453188"/>
            <a:ext cx="4302125" cy="341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b" anchorCtr="0" compatLnSpc="1">
            <a:prstTxWarp prst="textNoShape">
              <a:avLst/>
            </a:prstTxWarp>
          </a:bodyPr>
          <a:lstStyle>
            <a:lvl1pPr algn="r" defTabSz="925513">
              <a:spcBef>
                <a:spcPct val="0"/>
              </a:spcBef>
              <a:buClrTx/>
              <a:buSzTx/>
              <a:buFontTx/>
              <a:buNone/>
              <a:defRPr sz="1100" i="1">
                <a:solidFill>
                  <a:schemeClr val="tx1"/>
                </a:solidFill>
                <a:latin typeface="Times New Roman" charset="0"/>
              </a:defRPr>
            </a:lvl1pPr>
          </a:lstStyle>
          <a:p>
            <a:fld id="{AF383F6B-18B0-1542-A614-EC775359FC3F}" type="slidenum">
              <a:rPr lang="fr-FR"/>
              <a:pPr/>
              <a:t>‹N°›</a:t>
            </a:fld>
            <a:endParaRPr lang="fr-FR"/>
          </a:p>
        </p:txBody>
      </p:sp>
    </p:spTree>
    <p:extLst>
      <p:ext uri="{BB962C8B-B14F-4D97-AF65-F5344CB8AC3E}">
        <p14:creationId xmlns:p14="http://schemas.microsoft.com/office/powerpoint/2010/main" val="29325584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302125" cy="341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t" anchorCtr="0" compatLnSpc="1">
            <a:prstTxWarp prst="textNoShape">
              <a:avLst/>
            </a:prstTxWarp>
          </a:bodyPr>
          <a:lstStyle>
            <a:lvl1pPr algn="l"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2051" name="Rectangle 3"/>
          <p:cNvSpPr>
            <a:spLocks noGrp="1" noChangeArrowheads="1"/>
          </p:cNvSpPr>
          <p:nvPr>
            <p:ph type="dt" idx="1"/>
          </p:nvPr>
        </p:nvSpPr>
        <p:spPr bwMode="auto">
          <a:xfrm>
            <a:off x="5629275" y="0"/>
            <a:ext cx="4302125" cy="341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t" anchorCtr="0" compatLnSpc="1">
            <a:prstTxWarp prst="textNoShape">
              <a:avLst/>
            </a:prstTxWarp>
          </a:bodyPr>
          <a:lstStyle>
            <a:lvl1pPr algn="r"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41988" name="Rectangle 4"/>
          <p:cNvSpPr>
            <a:spLocks noGrp="1" noRot="1" noChangeAspect="1" noChangeArrowheads="1" noTextEdit="1"/>
          </p:cNvSpPr>
          <p:nvPr>
            <p:ph type="sldImg" idx="2"/>
          </p:nvPr>
        </p:nvSpPr>
        <p:spPr bwMode="auto">
          <a:xfrm>
            <a:off x="3278188" y="512763"/>
            <a:ext cx="3386137" cy="2540000"/>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 uri="{FAA26D3D-D897-4be2-8F04-BA451C77F1D7}">
              <ma14:placeholderFlag xmlns:ma14="http://schemas.microsoft.com/office/mac/drawingml/2011/main" xmlns="" val="1"/>
            </a:ext>
          </a:extLst>
        </p:spPr>
      </p:sp>
      <p:sp>
        <p:nvSpPr>
          <p:cNvPr id="2053" name="Rectangle 5"/>
          <p:cNvSpPr>
            <a:spLocks noGrp="1" noChangeArrowheads="1"/>
          </p:cNvSpPr>
          <p:nvPr>
            <p:ph type="body" sz="quarter" idx="3"/>
          </p:nvPr>
        </p:nvSpPr>
        <p:spPr bwMode="auto">
          <a:xfrm>
            <a:off x="1325563" y="3227388"/>
            <a:ext cx="7280275" cy="3060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006" tIns="46503" rIns="93006" bIns="46503"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2054" name="Rectangle 6"/>
          <p:cNvSpPr>
            <a:spLocks noGrp="1" noChangeArrowheads="1"/>
          </p:cNvSpPr>
          <p:nvPr>
            <p:ph type="ftr" sz="quarter" idx="4"/>
          </p:nvPr>
        </p:nvSpPr>
        <p:spPr bwMode="auto">
          <a:xfrm>
            <a:off x="0" y="6453188"/>
            <a:ext cx="4302125" cy="341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b" anchorCtr="0" compatLnSpc="1">
            <a:prstTxWarp prst="textNoShape">
              <a:avLst/>
            </a:prstTxWarp>
          </a:bodyPr>
          <a:lstStyle>
            <a:lvl1pPr algn="l" defTabSz="925513">
              <a:spcBef>
                <a:spcPct val="0"/>
              </a:spcBef>
              <a:buClrTx/>
              <a:buSzTx/>
              <a:buFontTx/>
              <a:buNone/>
              <a:defRPr sz="1100" i="1">
                <a:solidFill>
                  <a:schemeClr val="tx1"/>
                </a:solidFill>
                <a:latin typeface="Times New Roman" pitchFamily="18" charset="0"/>
                <a:ea typeface="+mn-ea"/>
              </a:defRPr>
            </a:lvl1pPr>
          </a:lstStyle>
          <a:p>
            <a:pPr>
              <a:defRPr/>
            </a:pPr>
            <a:endParaRPr lang="fr-FR"/>
          </a:p>
        </p:txBody>
      </p:sp>
      <p:sp>
        <p:nvSpPr>
          <p:cNvPr id="2055" name="Rectangle 7"/>
          <p:cNvSpPr>
            <a:spLocks noGrp="1" noChangeArrowheads="1"/>
          </p:cNvSpPr>
          <p:nvPr>
            <p:ph type="sldNum" sz="quarter" idx="5"/>
          </p:nvPr>
        </p:nvSpPr>
        <p:spPr bwMode="auto">
          <a:xfrm>
            <a:off x="5629275" y="6453188"/>
            <a:ext cx="4302125" cy="341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9242" tIns="0" rIns="19242" bIns="0" numCol="1" anchor="b" anchorCtr="0" compatLnSpc="1">
            <a:prstTxWarp prst="textNoShape">
              <a:avLst/>
            </a:prstTxWarp>
          </a:bodyPr>
          <a:lstStyle>
            <a:lvl1pPr algn="r" defTabSz="925513">
              <a:spcBef>
                <a:spcPct val="0"/>
              </a:spcBef>
              <a:buClrTx/>
              <a:buSzTx/>
              <a:buFontTx/>
              <a:buNone/>
              <a:defRPr sz="1100" i="1">
                <a:solidFill>
                  <a:schemeClr val="tx1"/>
                </a:solidFill>
                <a:latin typeface="Times New Roman" charset="0"/>
              </a:defRPr>
            </a:lvl1pPr>
          </a:lstStyle>
          <a:p>
            <a:fld id="{B4E1F8BA-42AC-4F4D-A3C8-1DE9704DC2C9}" type="slidenum">
              <a:rPr lang="fr-FR"/>
              <a:pPr/>
              <a:t>‹N°›</a:t>
            </a:fld>
            <a:endParaRPr lang="fr-FR"/>
          </a:p>
        </p:txBody>
      </p:sp>
    </p:spTree>
    <p:extLst>
      <p:ext uri="{BB962C8B-B14F-4D97-AF65-F5344CB8AC3E}">
        <p14:creationId xmlns:p14="http://schemas.microsoft.com/office/powerpoint/2010/main" val="35011522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8</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9</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a:t>
            </a:r>
            <a:r>
              <a:rPr lang="en-US" dirty="0" err="1"/>
              <a:t>Cunix</a:t>
            </a:r>
            <a:r>
              <a:rPr lang="en-US" dirty="0"/>
              <a:t>/CM and try that out</a:t>
            </a:r>
          </a:p>
        </p:txBody>
      </p:sp>
      <p:sp>
        <p:nvSpPr>
          <p:cNvPr id="4" name="Slide Number Placeholder 3"/>
          <p:cNvSpPr>
            <a:spLocks noGrp="1"/>
          </p:cNvSpPr>
          <p:nvPr>
            <p:ph type="sldNum" sz="quarter" idx="10"/>
          </p:nvPr>
        </p:nvSpPr>
        <p:spPr/>
        <p:txBody>
          <a:bodyPr/>
          <a:lstStyle/>
          <a:p>
            <a:fld id="{B4E1F8BA-42AC-4F4D-A3C8-1DE9704DC2C9}" type="slidenum">
              <a:rPr lang="fr-FR" smtClean="0"/>
              <a:pPr/>
              <a:t>10</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a:t>
            </a:r>
          </a:p>
          <a:p>
            <a:r>
              <a:rPr lang="en-US" dirty="0"/>
              <a:t>Echo $a=$a+1</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Echo ‘$a=$a+1’</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Echo “$a=$a+1”</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Echo `</a:t>
            </a:r>
            <a:r>
              <a:rPr lang="en-US" dirty="0" err="1"/>
              <a:t>pwd</a:t>
            </a:r>
            <a:r>
              <a:rPr lang="en-US" dirty="0"/>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11</a:t>
            </a:fld>
            <a:endParaRPr lang="fr-FR"/>
          </a:p>
        </p:txBody>
      </p:sp>
    </p:spTree>
    <p:extLst>
      <p:ext uri="{BB962C8B-B14F-4D97-AF65-F5344CB8AC3E}">
        <p14:creationId xmlns:p14="http://schemas.microsoft.com/office/powerpoint/2010/main" val="2138724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permissions, </a:t>
            </a:r>
          </a:p>
          <a:p>
            <a:r>
              <a:rPr lang="en-US" dirty="0"/>
              <a:t>number of links, </a:t>
            </a:r>
          </a:p>
          <a:p>
            <a:r>
              <a:rPr lang="en-US" dirty="0"/>
              <a:t>owner name, </a:t>
            </a:r>
          </a:p>
          <a:p>
            <a:r>
              <a:rPr lang="en-US" dirty="0"/>
              <a:t>owner group, </a:t>
            </a:r>
          </a:p>
          <a:p>
            <a:r>
              <a:rPr lang="en-US" dirty="0"/>
              <a:t>file size, in bytes  -h in human</a:t>
            </a:r>
            <a:r>
              <a:rPr lang="en-US" baseline="0" dirty="0"/>
              <a:t> readable sizes</a:t>
            </a:r>
            <a:endParaRPr lang="en-US" dirty="0"/>
          </a:p>
          <a:p>
            <a:r>
              <a:rPr lang="en-US" dirty="0"/>
              <a:t>time of last modification, and </a:t>
            </a:r>
          </a:p>
          <a:p>
            <a:r>
              <a:rPr lang="en-US" dirty="0"/>
              <a:t>file/directory name</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16</a:t>
            </a:fld>
            <a:endParaRPr lang="fr-FR"/>
          </a:p>
        </p:txBody>
      </p:sp>
    </p:spTree>
    <p:extLst>
      <p:ext uri="{BB962C8B-B14F-4D97-AF65-F5344CB8AC3E}">
        <p14:creationId xmlns:p14="http://schemas.microsoft.com/office/powerpoint/2010/main" val="2485503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19</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endParaRPr lang="en-US" dirty="0">
              <a:latin typeface="Arial" charset="0"/>
              <a:sym typeface="Wingdings"/>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1. Remove all permissions of f for the others</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2. Add the execution permission for all</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3. Define the permissions of f for the group as read and execute </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20</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21</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22</a:t>
            </a:fld>
            <a:endParaRPr lang="fr-FR"/>
          </a:p>
        </p:txBody>
      </p:sp>
    </p:spTree>
    <p:extLst>
      <p:ext uri="{BB962C8B-B14F-4D97-AF65-F5344CB8AC3E}">
        <p14:creationId xmlns:p14="http://schemas.microsoft.com/office/powerpoint/2010/main" val="2191331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endParaRPr lang="en-US" dirty="0">
              <a:latin typeface="Arial" charset="0"/>
              <a:sym typeface="Wingdings"/>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1. Remove all permissions of f for the others</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2. Add the execution permission for all</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3. Define the permissions of f for the group as read and execute </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23</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24</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endParaRPr lang="en-US" dirty="0">
              <a:latin typeface="Arial" charset="0"/>
              <a:sym typeface="Wingdings"/>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1. Remove all permissions of f for the others</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2. Add the execution permission for all</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3. Define the permissions of f for the group as read and execute </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25</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With the quotes, the</a:t>
            </a:r>
            <a:r>
              <a:rPr lang="en-US" baseline="0" dirty="0"/>
              <a:t> wildcard character * is not treated as special by the shell, but it is threated by the command as a regular expression</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a:t>The –name takes as argument a pattern (same syntax when shell expands), so as it is </a:t>
            </a:r>
            <a:r>
              <a:rPr lang="en-US" baseline="0" dirty="0" err="1"/>
              <a:t>intrepreted</a:t>
            </a:r>
            <a:r>
              <a:rPr lang="en-US" baseline="0" dirty="0"/>
              <a:t> by the  program find, quotes are used so it does the same</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a:t>If you want to not be treated as special, we need \* or [*]</a:t>
            </a:r>
            <a:endParaRPr lang="en-US" dirty="0"/>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baseline="0"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a:t>Without QUOTES </a:t>
            </a:r>
            <a:r>
              <a:rPr lang="en-US" dirty="0"/>
              <a:t>the SHELL</a:t>
            </a:r>
            <a:r>
              <a:rPr lang="en-US" baseline="0" dirty="0"/>
              <a:t> </a:t>
            </a:r>
            <a:r>
              <a:rPr lang="en-US" dirty="0"/>
              <a:t>one to expand the wildcard, in which case d* would expand to a list of all names within the current directory starting with d, or to d* in the case there are no such files. If there are several files that will not work! As the shell expands before the find command!! </a:t>
            </a:r>
            <a:r>
              <a:rPr lang="en-US" dirty="0" err="1"/>
              <a:t>Ypu</a:t>
            </a:r>
            <a:r>
              <a:rPr lang="en-US" dirty="0"/>
              <a:t> can show that in CM/examples with exams*.c files</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1.</a:t>
            </a:r>
            <a:r>
              <a:rPr lang="en-GB" dirty="0">
                <a:latin typeface="Arial" charset="0"/>
              </a:rPr>
              <a:t> Print the path of the files finishing at </a:t>
            </a:r>
            <a:r>
              <a:rPr lang="en-GB" b="1" dirty="0">
                <a:latin typeface="Courier"/>
                <a:cs typeface="Courier"/>
              </a:rPr>
              <a:t>.c</a:t>
            </a:r>
            <a:r>
              <a:rPr lang="en-GB" dirty="0">
                <a:latin typeface="Arial" charset="0"/>
              </a:rPr>
              <a:t> in the directory hierarchy </a:t>
            </a:r>
            <a:r>
              <a:rPr lang="en-GB" b="1" dirty="0">
                <a:latin typeface="Courier"/>
                <a:cs typeface="Courier"/>
              </a:rPr>
              <a:t>/</a:t>
            </a:r>
            <a:r>
              <a:rPr lang="en-GB" b="1" dirty="0" err="1">
                <a:latin typeface="Courier"/>
                <a:cs typeface="Courier"/>
              </a:rPr>
              <a:t>usr</a:t>
            </a:r>
            <a:r>
              <a:rPr lang="en-GB" b="1" dirty="0">
                <a:latin typeface="Courier"/>
                <a:cs typeface="Courier"/>
              </a:rPr>
              <a:t>/</a:t>
            </a:r>
          </a:p>
          <a:p>
            <a:endParaRPr lang="en-US"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2.</a:t>
            </a:r>
            <a:r>
              <a:rPr lang="en-GB" sz="2000" dirty="0">
                <a:solidFill>
                  <a:srgbClr val="000000"/>
                </a:solidFill>
                <a:latin typeface="Arial" charset="0"/>
                <a:cs typeface="Courier"/>
              </a:rPr>
              <a:t> Print the path of files in the directory hierarchy </a:t>
            </a:r>
            <a:r>
              <a:rPr lang="en-GB" b="1" dirty="0">
                <a:latin typeface="Courier"/>
                <a:cs typeface="Courier"/>
              </a:rPr>
              <a:t>/</a:t>
            </a:r>
            <a:r>
              <a:rPr lang="en-GB" b="1" dirty="0" err="1">
                <a:latin typeface="Courier"/>
                <a:cs typeface="Courier"/>
              </a:rPr>
              <a:t>usr</a:t>
            </a:r>
            <a:r>
              <a:rPr lang="en-GB" b="1" dirty="0">
                <a:latin typeface="Courier"/>
                <a:cs typeface="Courier"/>
              </a:rPr>
              <a:t>/ </a:t>
            </a:r>
            <a:r>
              <a:rPr lang="en-GB" dirty="0">
                <a:solidFill>
                  <a:srgbClr val="000000"/>
                </a:solidFill>
                <a:latin typeface="Arial" charset="0"/>
                <a:cs typeface="Courier"/>
              </a:rPr>
              <a:t>which have as owner the user </a:t>
            </a:r>
            <a:r>
              <a:rPr lang="en-GB" b="1" dirty="0" err="1">
                <a:latin typeface="Courier"/>
                <a:cs typeface="Courier"/>
              </a:rPr>
              <a:t>angeliki</a:t>
            </a:r>
            <a:endParaRPr lang="en-GB" sz="2000" dirty="0">
              <a:solidFill>
                <a:srgbClr val="000000"/>
              </a:solidFill>
              <a:latin typeface="Arial" charset="0"/>
              <a:cs typeface="Courier"/>
            </a:endParaRPr>
          </a:p>
          <a:p>
            <a:endParaRPr lang="en-US"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3. </a:t>
            </a:r>
            <a:r>
              <a:rPr lang="en-GB" dirty="0">
                <a:solidFill>
                  <a:srgbClr val="000000"/>
                </a:solidFill>
                <a:latin typeface="Arial" charset="0"/>
                <a:cs typeface="Courier"/>
              </a:rPr>
              <a:t>Print the path of files in the working directory hierarchy except the ones that have an extension either </a:t>
            </a:r>
            <a:r>
              <a:rPr lang="en-GB" b="1" dirty="0">
                <a:latin typeface="Courier"/>
                <a:cs typeface="Courier"/>
              </a:rPr>
              <a:t>.</a:t>
            </a:r>
            <a:r>
              <a:rPr lang="en-GB" b="1" dirty="0" err="1">
                <a:latin typeface="Courier"/>
                <a:cs typeface="Courier"/>
              </a:rPr>
              <a:t>obj</a:t>
            </a:r>
            <a:r>
              <a:rPr lang="en-GB" b="1" dirty="0">
                <a:latin typeface="Courier"/>
                <a:cs typeface="Courier"/>
              </a:rPr>
              <a:t> </a:t>
            </a:r>
            <a:r>
              <a:rPr lang="en-GB" dirty="0">
                <a:solidFill>
                  <a:srgbClr val="000000"/>
                </a:solidFill>
                <a:latin typeface="Arial" charset="0"/>
                <a:cs typeface="Courier"/>
              </a:rPr>
              <a:t>or </a:t>
            </a:r>
            <a:r>
              <a:rPr lang="en-GB" b="1" dirty="0">
                <a:latin typeface="Courier"/>
                <a:cs typeface="Courier"/>
              </a:rPr>
              <a:t>.map</a:t>
            </a:r>
            <a:endParaRPr lang="en-GB" dirty="0">
              <a:solidFill>
                <a:srgbClr val="000000"/>
              </a:solidFill>
              <a:latin typeface="Arial" charset="0"/>
              <a:cs typeface="Courier"/>
            </a:endParaRPr>
          </a:p>
          <a:p>
            <a:endParaRPr lang="en-US"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4. </a:t>
            </a:r>
            <a:r>
              <a:rPr lang="en-GB" dirty="0">
                <a:solidFill>
                  <a:srgbClr val="000000"/>
                </a:solidFill>
                <a:latin typeface="Arial" charset="0"/>
                <a:cs typeface="Courier"/>
              </a:rPr>
              <a:t>Print the path of files in the working directory hierarchy that have </a:t>
            </a:r>
            <a:r>
              <a:rPr lang="en-GB" b="1" dirty="0" err="1">
                <a:solidFill>
                  <a:srgbClr val="000000"/>
                </a:solidFill>
                <a:latin typeface="Courier"/>
                <a:cs typeface="Courier"/>
              </a:rPr>
              <a:t>angeliki</a:t>
            </a:r>
            <a:r>
              <a:rPr lang="en-GB" dirty="0">
                <a:solidFill>
                  <a:srgbClr val="000000"/>
                </a:solidFill>
                <a:latin typeface="Arial" charset="0"/>
                <a:cs typeface="Courier"/>
              </a:rPr>
              <a:t> as an owner and have an extension </a:t>
            </a:r>
            <a:r>
              <a:rPr lang="en-GB" b="1" dirty="0">
                <a:latin typeface="Courier"/>
                <a:cs typeface="Courier"/>
              </a:rPr>
              <a:t>.c</a:t>
            </a:r>
          </a:p>
          <a:p>
            <a:endParaRPr lang="en-US"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5. </a:t>
            </a:r>
            <a:r>
              <a:rPr lang="en-GB" dirty="0">
                <a:solidFill>
                  <a:srgbClr val="000000"/>
                </a:solidFill>
                <a:latin typeface="Arial" charset="0"/>
                <a:cs typeface="Courier"/>
              </a:rPr>
              <a:t>Apply the command </a:t>
            </a:r>
            <a:r>
              <a:rPr lang="en-GB" b="1" dirty="0" err="1">
                <a:solidFill>
                  <a:srgbClr val="000000"/>
                </a:solidFill>
                <a:latin typeface="Courier"/>
                <a:cs typeface="Courier"/>
              </a:rPr>
              <a:t>lpr</a:t>
            </a:r>
            <a:r>
              <a:rPr lang="en-GB" dirty="0">
                <a:solidFill>
                  <a:srgbClr val="000000"/>
                </a:solidFill>
                <a:latin typeface="Arial" charset="0"/>
                <a:cs typeface="Courier"/>
              </a:rPr>
              <a:t> (print files) at all the files with an extension of </a:t>
            </a:r>
            <a:r>
              <a:rPr lang="en-GB" b="1" dirty="0">
                <a:solidFill>
                  <a:srgbClr val="000000"/>
                </a:solidFill>
                <a:latin typeface="Courier"/>
                <a:cs typeface="Courier"/>
              </a:rPr>
              <a:t>.java </a:t>
            </a:r>
            <a:r>
              <a:rPr lang="en-GB" dirty="0">
                <a:solidFill>
                  <a:srgbClr val="000000"/>
                </a:solidFill>
                <a:latin typeface="Arial" charset="0"/>
                <a:cs typeface="Courier"/>
              </a:rPr>
              <a:t>of the working directory hierarchy</a:t>
            </a:r>
          </a:p>
          <a:p>
            <a:endParaRPr lang="en-US"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26</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1.</a:t>
            </a:r>
            <a:r>
              <a:rPr lang="en-US" baseline="0" dirty="0"/>
              <a:t> </a:t>
            </a:r>
            <a:r>
              <a:rPr lang="en-GB" dirty="0"/>
              <a:t>Print all the lines of the files of the working directory (and the subdirectories) that have the word </a:t>
            </a:r>
            <a:r>
              <a:rPr lang="en-GB" b="1" dirty="0">
                <a:latin typeface="Courier"/>
                <a:cs typeface="Courier"/>
              </a:rPr>
              <a:t>test</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2. </a:t>
            </a:r>
            <a:r>
              <a:rPr lang="en-GB" dirty="0"/>
              <a:t>Print all the lines of </a:t>
            </a:r>
            <a:r>
              <a:rPr lang="en-GB" b="1" dirty="0">
                <a:latin typeface="Courier"/>
                <a:cs typeface="Courier"/>
              </a:rPr>
              <a:t>filename</a:t>
            </a:r>
            <a:r>
              <a:rPr lang="en-GB" dirty="0"/>
              <a:t> that have a string that starts with letter </a:t>
            </a:r>
            <a:r>
              <a:rPr lang="en-GB" b="1" dirty="0">
                <a:latin typeface="Courier"/>
                <a:cs typeface="Courier"/>
              </a:rPr>
              <a:t>m</a:t>
            </a:r>
            <a:r>
              <a:rPr lang="en-GB" dirty="0"/>
              <a:t> and </a:t>
            </a:r>
            <a:r>
              <a:rPr lang="en-GB" dirty="0" err="1"/>
              <a:t>finises</a:t>
            </a:r>
            <a:r>
              <a:rPr lang="en-GB" dirty="0"/>
              <a:t> with letter </a:t>
            </a:r>
            <a:r>
              <a:rPr lang="en-GB" b="1" dirty="0">
                <a:latin typeface="Courier"/>
                <a:cs typeface="Courier"/>
              </a:rPr>
              <a:t>t</a:t>
            </a:r>
          </a:p>
          <a:p>
            <a:endParaRPr lang="en-US"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3. </a:t>
            </a:r>
            <a:r>
              <a:rPr lang="en-GB" dirty="0"/>
              <a:t>Print all lines of </a:t>
            </a:r>
            <a:r>
              <a:rPr lang="en-GB" b="1" dirty="0">
                <a:latin typeface="Courier"/>
                <a:cs typeface="Courier"/>
              </a:rPr>
              <a:t>filename</a:t>
            </a:r>
            <a:r>
              <a:rPr lang="en-GB" dirty="0"/>
              <a:t> that have a string with 5 letters starting with </a:t>
            </a:r>
            <a:r>
              <a:rPr lang="en-GB" b="1" dirty="0">
                <a:latin typeface="Courier"/>
                <a:ea typeface="Courier New"/>
                <a:cs typeface="Courier"/>
              </a:rPr>
              <a:t>toto</a:t>
            </a:r>
            <a:r>
              <a:rPr lang="en-GB" b="1" dirty="0">
                <a:latin typeface="Courier New"/>
                <a:ea typeface="Courier New"/>
              </a:rPr>
              <a:t> </a:t>
            </a:r>
            <a:r>
              <a:rPr lang="en-GB" dirty="0">
                <a:ea typeface="Arial"/>
              </a:rPr>
              <a:t>and finishes with a number between 1 and 3</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GB" dirty="0">
              <a:latin typeface="Courier"/>
              <a:cs typeface="Courier"/>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Courier"/>
                <a:cs typeface="Courier"/>
              </a:rPr>
              <a:t>Go to directory examples /commands and check the </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Courier"/>
                <a:cs typeface="Courier"/>
              </a:rPr>
              <a:t>Grep “[</a:t>
            </a:r>
            <a:r>
              <a:rPr lang="en-GB" dirty="0" err="1">
                <a:latin typeface="Courier"/>
                <a:cs typeface="Courier"/>
              </a:rPr>
              <a:t>a,b</a:t>
            </a:r>
            <a:r>
              <a:rPr lang="en-GB" dirty="0">
                <a:latin typeface="Courier"/>
                <a:cs typeface="Courier"/>
              </a:rPr>
              <a:t>]</a:t>
            </a:r>
            <a:r>
              <a:rPr lang="en-GB" dirty="0" err="1">
                <a:latin typeface="Courier"/>
                <a:cs typeface="Courier"/>
              </a:rPr>
              <a:t>oo.c</a:t>
            </a:r>
            <a:r>
              <a:rPr lang="en-GB" dirty="0">
                <a:latin typeface="Courier"/>
                <a:cs typeface="Courier"/>
              </a:rPr>
              <a:t>” file1</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Courier"/>
                <a:cs typeface="Courier"/>
              </a:rPr>
              <a:t>Grep “m.*t” file1</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ＭＳ Ｐゴシック" charset="0"/>
                <a:cs typeface="+mn-cs"/>
              </a:rPr>
              <a:t>grep "</a:t>
            </a:r>
            <a:r>
              <a:rPr lang="en-GB" sz="1200" kern="1200" dirty="0" err="1">
                <a:solidFill>
                  <a:schemeClr val="tx1"/>
                </a:solidFill>
                <a:effectLst/>
                <a:latin typeface="Times New Roman" pitchFamily="18" charset="0"/>
                <a:ea typeface="ＭＳ Ｐゴシック" charset="0"/>
                <a:cs typeface="+mn-cs"/>
              </a:rPr>
              <a:t>m..t</a:t>
            </a:r>
            <a:r>
              <a:rPr lang="en-GB" sz="1200" kern="1200" dirty="0">
                <a:solidFill>
                  <a:schemeClr val="tx1"/>
                </a:solidFill>
                <a:effectLst/>
                <a:latin typeface="Times New Roman" pitchFamily="18" charset="0"/>
                <a:ea typeface="ＭＳ Ｐゴシック" charset="0"/>
                <a:cs typeface="+mn-cs"/>
              </a:rPr>
              <a:t>" file1</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GB" dirty="0">
              <a:latin typeface="Courier"/>
              <a:cs typeface="Courier"/>
            </a:endParaRP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GB" dirty="0">
              <a:latin typeface="Courier"/>
              <a:cs typeface="Courier"/>
            </a:endParaRP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27</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B4E1F8BA-42AC-4F4D-A3C8-1DE9704DC2C9}" type="slidenum">
              <a:rPr lang="fr-FR" smtClean="0"/>
              <a:pPr/>
              <a:t>30</a:t>
            </a:fld>
            <a:endParaRPr lang="fr-FR"/>
          </a:p>
        </p:txBody>
      </p:sp>
    </p:spTree>
    <p:extLst>
      <p:ext uri="{BB962C8B-B14F-4D97-AF65-F5344CB8AC3E}">
        <p14:creationId xmlns:p14="http://schemas.microsoft.com/office/powerpoint/2010/main" val="207802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endParaRPr lang="en-US" dirty="0">
              <a:latin typeface="Arial" charset="0"/>
              <a:sym typeface="Wingdings"/>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1. Remove all permissions of f for the others</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2. Add the execution permission for all</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GB" dirty="0">
                <a:latin typeface="Arial" charset="0"/>
                <a:sym typeface="Wingdings"/>
              </a:rPr>
              <a:t>3. Define the permissions of f for the group as read and execute </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31</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35</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Pico &amp;</a:t>
            </a:r>
          </a:p>
          <a:p>
            <a:r>
              <a:rPr lang="en-US" dirty="0" err="1"/>
              <a:t>Fg</a:t>
            </a:r>
            <a:r>
              <a:rPr lang="en-US" dirty="0"/>
              <a:t> %1</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36</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37</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38</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39</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 Does not work as it sees the space so the shell thinks that A is a command</a:t>
            </a:r>
          </a:p>
          <a:p>
            <a:endParaRPr lang="en-US" dirty="0"/>
          </a:p>
          <a:p>
            <a:r>
              <a:rPr lang="en-US" dirty="0" err="1"/>
              <a:t>os</a:t>
            </a:r>
            <a:r>
              <a:rPr lang="en-US" dirty="0"/>
              <a:t>="MAC"</a:t>
            </a:r>
          </a:p>
          <a:p>
            <a:r>
              <a:rPr lang="en-US" dirty="0"/>
              <a:t>echo "$</a:t>
            </a:r>
            <a:r>
              <a:rPr lang="en-US" dirty="0" err="1"/>
              <a:t>os</a:t>
            </a:r>
            <a:r>
              <a:rPr lang="en-US" dirty="0"/>
              <a:t>"</a:t>
            </a:r>
          </a:p>
          <a:p>
            <a:endParaRPr lang="en-US" dirty="0"/>
          </a:p>
          <a:p>
            <a:r>
              <a:rPr lang="en-US" dirty="0"/>
              <a:t>declare -</a:t>
            </a:r>
            <a:r>
              <a:rPr lang="en-US" dirty="0" err="1"/>
              <a:t>i</a:t>
            </a:r>
            <a:r>
              <a:rPr lang="en-US" dirty="0"/>
              <a:t> a=100</a:t>
            </a:r>
          </a:p>
          <a:p>
            <a:r>
              <a:rPr lang="en-US" dirty="0"/>
              <a:t>echo $a</a:t>
            </a:r>
          </a:p>
          <a:p>
            <a:endParaRPr lang="en-US" dirty="0"/>
          </a:p>
          <a:p>
            <a:r>
              <a:rPr lang="en-US" dirty="0"/>
              <a:t>PRINT array</a:t>
            </a:r>
          </a:p>
          <a:p>
            <a:r>
              <a:rPr lang="en-US" dirty="0"/>
              <a:t>declare -a </a:t>
            </a:r>
            <a:r>
              <a:rPr lang="en-US" dirty="0" err="1"/>
              <a:t>arr</a:t>
            </a:r>
            <a:r>
              <a:rPr lang="en-US" dirty="0"/>
              <a:t>=("element1" "element2" "element3")</a:t>
            </a:r>
          </a:p>
          <a:p>
            <a:endParaRPr lang="en-US" dirty="0"/>
          </a:p>
          <a:p>
            <a:r>
              <a:rPr lang="en-US" dirty="0"/>
              <a:t>## now loop through the above array</a:t>
            </a:r>
          </a:p>
          <a:p>
            <a:r>
              <a:rPr lang="en-US" dirty="0"/>
              <a:t>for </a:t>
            </a:r>
            <a:r>
              <a:rPr lang="en-US" dirty="0" err="1"/>
              <a:t>i</a:t>
            </a:r>
            <a:r>
              <a:rPr lang="en-US" dirty="0"/>
              <a:t> in "${</a:t>
            </a:r>
            <a:r>
              <a:rPr lang="en-US" dirty="0" err="1"/>
              <a:t>arr</a:t>
            </a:r>
            <a:r>
              <a:rPr lang="en-US" dirty="0"/>
              <a:t>[@]}"</a:t>
            </a:r>
          </a:p>
          <a:p>
            <a:r>
              <a:rPr lang="en-US" dirty="0"/>
              <a:t>do</a:t>
            </a:r>
          </a:p>
          <a:p>
            <a:r>
              <a:rPr lang="en-US" dirty="0"/>
              <a:t>   echo "$</a:t>
            </a:r>
            <a:r>
              <a:rPr lang="en-US" dirty="0" err="1"/>
              <a:t>i</a:t>
            </a:r>
            <a:r>
              <a:rPr lang="en-US" dirty="0"/>
              <a:t>"</a:t>
            </a:r>
          </a:p>
          <a:p>
            <a:r>
              <a:rPr lang="en-US" dirty="0"/>
              <a:t>   # or do whatever with individual element of the array</a:t>
            </a:r>
          </a:p>
          <a:p>
            <a:r>
              <a:rPr lang="en-US" dirty="0"/>
              <a:t>done</a:t>
            </a:r>
          </a:p>
        </p:txBody>
      </p:sp>
      <p:sp>
        <p:nvSpPr>
          <p:cNvPr id="4" name="Slide Number Placeholder 3"/>
          <p:cNvSpPr>
            <a:spLocks noGrp="1"/>
          </p:cNvSpPr>
          <p:nvPr>
            <p:ph type="sldNum" sz="quarter" idx="10"/>
          </p:nvPr>
        </p:nvSpPr>
        <p:spPr/>
        <p:txBody>
          <a:bodyPr/>
          <a:lstStyle/>
          <a:p>
            <a:fld id="{B4E1F8BA-42AC-4F4D-A3C8-1DE9704DC2C9}" type="slidenum">
              <a:rPr lang="fr-FR" smtClean="0"/>
              <a:pPr/>
              <a:t>40</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41</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that at live</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42</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44</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45</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46</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48</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49</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a:t>
            </a:r>
            <a:r>
              <a:rPr lang="en-US" baseline="0" dirty="0"/>
              <a:t> without spaces!</a:t>
            </a:r>
          </a:p>
          <a:p>
            <a:r>
              <a:rPr lang="en-US" baseline="0" dirty="0"/>
              <a:t>Expression WITH spaces otherwise $a+1 the result is 3+1</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50</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a:t>
            </a:r>
            <a:r>
              <a:rPr lang="en-US" baseline="0" dirty="0"/>
              <a:t> without spaces!</a:t>
            </a:r>
          </a:p>
          <a:p>
            <a:r>
              <a:rPr lang="en-US" baseline="0" dirty="0"/>
              <a:t>Expression WITH spaces otherwise $a+1 the result is 3+1</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51</a:t>
            </a:fld>
            <a:endParaRPr lang="fr-FR"/>
          </a:p>
        </p:txBody>
      </p:sp>
    </p:spTree>
    <p:extLst>
      <p:ext uri="{BB962C8B-B14F-4D97-AF65-F5344CB8AC3E}">
        <p14:creationId xmlns:p14="http://schemas.microsoft.com/office/powerpoint/2010/main" val="35210466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cThe</a:t>
            </a:r>
            <a:r>
              <a:rPr lang="en-US" dirty="0"/>
              <a:t> </a:t>
            </a:r>
            <a:r>
              <a:rPr lang="en-US" b="1" dirty="0"/>
              <a:t>then</a:t>
            </a:r>
            <a:r>
              <a:rPr lang="en-US" dirty="0"/>
              <a:t> clause is executed if the exit code of commands1 is </a:t>
            </a:r>
            <a:r>
              <a:rPr lang="en-US" b="1" dirty="0"/>
              <a:t>zero</a:t>
            </a:r>
            <a:r>
              <a:rPr lang="en-US" dirty="0"/>
              <a:t>. If the exit code is nonzero, then the else clause is executed.</a:t>
            </a:r>
          </a:p>
          <a:p>
            <a:r>
              <a:rPr lang="en-US" dirty="0"/>
              <a:t> commands1 can simple or complex. It can, for example, be a sequence of one or more pipelines separated by one of the operators ;, &amp;, &amp;&amp;, or ||. The if conditions shown below are just special cases of commands1:</a:t>
            </a:r>
          </a:p>
          <a:p>
            <a:endParaRPr lang="en-US" dirty="0"/>
          </a:p>
          <a:p>
            <a:r>
              <a:rPr lang="en-US" b="1" dirty="0"/>
              <a:t>if [ condition ]</a:t>
            </a:r>
          </a:p>
          <a:p>
            <a:r>
              <a:rPr lang="en-US" dirty="0"/>
              <a:t>This is the traditional shell test command. It is available on all POSIX shells. The test command sets an exit code and the if statement acts accordingly. Typical tests are whether a file exists or one number is equal to another.</a:t>
            </a:r>
          </a:p>
          <a:p>
            <a:endParaRPr lang="en-US" dirty="0"/>
          </a:p>
          <a:p>
            <a:r>
              <a:rPr lang="en-US" b="1" dirty="0"/>
              <a:t>if [[ condition ]]</a:t>
            </a:r>
          </a:p>
          <a:p>
            <a:r>
              <a:rPr lang="en-US" dirty="0"/>
              <a:t>This is a new upgraded variation on test that bash supports. This test command also sets an exit code and the if statement acts accordingly. Among its extended features, it can test whether a </a:t>
            </a:r>
            <a:r>
              <a:rPr lang="en-US" b="1" dirty="0"/>
              <a:t>string matches a regular expression</a:t>
            </a:r>
            <a:r>
              <a:rPr lang="en-US" dirty="0"/>
              <a:t>.</a:t>
            </a:r>
          </a:p>
          <a:p>
            <a:endParaRPr lang="en-US" dirty="0"/>
          </a:p>
          <a:p>
            <a:r>
              <a:rPr lang="en-US" b="1" dirty="0"/>
              <a:t>if ((condition))</a:t>
            </a:r>
          </a:p>
          <a:p>
            <a:r>
              <a:rPr lang="en-US" dirty="0"/>
              <a:t>This performs arithmetic. As the result of the </a:t>
            </a:r>
            <a:r>
              <a:rPr lang="en-US" b="1" dirty="0"/>
              <a:t>arithmetic</a:t>
            </a:r>
            <a:r>
              <a:rPr lang="en-US" dirty="0"/>
              <a:t>, an exit code is set and the if statement acts accordingly. It returns an exit code of </a:t>
            </a:r>
            <a:r>
              <a:rPr lang="en-US" b="1" dirty="0"/>
              <a:t>zero (true) </a:t>
            </a:r>
            <a:r>
              <a:rPr lang="en-US" dirty="0"/>
              <a:t>if the result of the arithmetic calculation </a:t>
            </a:r>
            <a:r>
              <a:rPr lang="en-US" b="1" dirty="0"/>
              <a:t>is nonzero</a:t>
            </a:r>
            <a:r>
              <a:rPr lang="en-US" dirty="0"/>
              <a:t>. Like [[...]], this form is not POSIX and therefore not portable.</a:t>
            </a:r>
          </a:p>
          <a:p>
            <a:endParaRPr lang="en-US" dirty="0"/>
          </a:p>
          <a:p>
            <a:r>
              <a:rPr lang="en-US" b="1" dirty="0"/>
              <a:t>if (command)</a:t>
            </a:r>
          </a:p>
          <a:p>
            <a:r>
              <a:rPr lang="en-US" dirty="0"/>
              <a:t>This runs command in a subshell. When command completes, it sets an exit code and the if statement acts accordingly.</a:t>
            </a:r>
          </a:p>
          <a:p>
            <a:r>
              <a:rPr lang="en-US" dirty="0"/>
              <a:t>A typical reason for using a subshell like this is to limit side-effects of command if command required variable assignments or other changes to the shell's environment. Such changes do not remain after the subshell completes. </a:t>
            </a:r>
          </a:p>
          <a:p>
            <a:endParaRPr lang="en-US" b="1" dirty="0"/>
          </a:p>
          <a:p>
            <a:r>
              <a:rPr lang="en-US" b="1" dirty="0"/>
              <a:t>if command</a:t>
            </a:r>
          </a:p>
          <a:p>
            <a:r>
              <a:rPr lang="en-US" dirty="0"/>
              <a:t>command is executed and the if statement acts according to its exit code.</a:t>
            </a: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52</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Lexicographical order as &gt; is for strings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[ 9 \&gt; 10 ]; echo $? </a:t>
            </a:r>
            <a:r>
              <a:rPr lang="en-US" dirty="0">
                <a:sym typeface="Wingdings" pitchFamily="2" charset="2"/>
              </a:rPr>
              <a:t> yes  0</a:t>
            </a: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[ 9 \&lt; 10 ]; echo $? </a:t>
            </a:r>
            <a:r>
              <a:rPr lang="en-US" dirty="0">
                <a:sym typeface="Wingdings" pitchFamily="2" charset="2"/>
              </a:rPr>
              <a:t> no  1</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arithmetical order as -</a:t>
            </a:r>
            <a:r>
              <a:rPr lang="en-US" dirty="0" err="1"/>
              <a:t>lt</a:t>
            </a:r>
            <a:r>
              <a:rPr lang="en-US" dirty="0"/>
              <a:t> is for integers</a:t>
            </a:r>
          </a:p>
          <a:p>
            <a:r>
              <a:rPr lang="en-US" dirty="0"/>
              <a:t>[ 9 -</a:t>
            </a:r>
            <a:r>
              <a:rPr lang="en-US" dirty="0" err="1"/>
              <a:t>lt</a:t>
            </a:r>
            <a:r>
              <a:rPr lang="en-US" dirty="0"/>
              <a:t> 10 ]; echo $? </a:t>
            </a:r>
            <a:r>
              <a:rPr lang="en-US" dirty="0">
                <a:sym typeface="Wingdings" pitchFamily="2" charset="2"/>
              </a:rPr>
              <a:t> yes  0</a:t>
            </a:r>
            <a:endParaRPr lang="en-US" dirty="0"/>
          </a:p>
          <a:p>
            <a:r>
              <a:rPr lang="en-US" dirty="0"/>
              <a:t>[ 9 –</a:t>
            </a:r>
            <a:r>
              <a:rPr lang="en-US" dirty="0" err="1"/>
              <a:t>gt</a:t>
            </a:r>
            <a:r>
              <a:rPr lang="en-US" dirty="0"/>
              <a:t> 10 ]; echo $? </a:t>
            </a:r>
            <a:r>
              <a:rPr lang="en-US" dirty="0">
                <a:sym typeface="Wingdings" pitchFamily="2" charset="2"/>
              </a:rPr>
              <a:t> no  1</a:t>
            </a:r>
            <a:endParaRPr lang="en-US" dirty="0"/>
          </a:p>
          <a:p>
            <a:endParaRPr lang="en-US" dirty="0"/>
          </a:p>
          <a:p>
            <a:r>
              <a:rPr lang="en-US" dirty="0"/>
              <a:t>Lexicographical order as &gt; is for strings</a:t>
            </a:r>
          </a:p>
          <a:p>
            <a:r>
              <a:rPr lang="en-US" dirty="0"/>
              <a:t>[[ 9 &gt; 10 ]]; echo $? </a:t>
            </a:r>
            <a:r>
              <a:rPr lang="en-US" dirty="0">
                <a:sym typeface="Wingdings" pitchFamily="2" charset="2"/>
              </a:rPr>
              <a:t> yes  0</a:t>
            </a:r>
            <a:endParaRPr lang="en-US" dirty="0"/>
          </a:p>
          <a:p>
            <a:r>
              <a:rPr lang="en-US" dirty="0"/>
              <a:t>[[ 9 &lt; 10 ]]; echo $? </a:t>
            </a:r>
            <a:r>
              <a:rPr lang="en-US" dirty="0">
                <a:sym typeface="Wingdings" pitchFamily="2" charset="2"/>
              </a:rPr>
              <a:t> no  1</a:t>
            </a:r>
          </a:p>
          <a:p>
            <a:endParaRPr lang="en-US" dirty="0">
              <a:sym typeface="Wingdings" pitchFamily="2" charset="2"/>
            </a:endParaRPr>
          </a:p>
          <a:p>
            <a:r>
              <a:rPr lang="en-US" dirty="0"/>
              <a:t>arithmetical order as -</a:t>
            </a:r>
            <a:r>
              <a:rPr lang="en-US" dirty="0" err="1"/>
              <a:t>lt</a:t>
            </a:r>
            <a:r>
              <a:rPr lang="en-US" dirty="0"/>
              <a:t> is for integers</a:t>
            </a:r>
          </a:p>
          <a:p>
            <a:r>
              <a:rPr lang="en-US" dirty="0"/>
              <a:t>[[ 9 -</a:t>
            </a:r>
            <a:r>
              <a:rPr lang="en-US" dirty="0" err="1"/>
              <a:t>gt</a:t>
            </a:r>
            <a:r>
              <a:rPr lang="en-US" dirty="0"/>
              <a:t> 10 ]]; echo $? </a:t>
            </a:r>
            <a:r>
              <a:rPr lang="en-US" dirty="0">
                <a:sym typeface="Wingdings" pitchFamily="2" charset="2"/>
              </a:rPr>
              <a:t> no  1</a:t>
            </a:r>
            <a:endParaRPr lang="en-US" dirty="0"/>
          </a:p>
          <a:p>
            <a:r>
              <a:rPr lang="en-US" dirty="0"/>
              <a:t>[[ 9 -</a:t>
            </a:r>
            <a:r>
              <a:rPr lang="en-US" dirty="0" err="1"/>
              <a:t>lt</a:t>
            </a:r>
            <a:r>
              <a:rPr lang="en-US" dirty="0"/>
              <a:t> 10 ]]; echo $? </a:t>
            </a:r>
            <a:r>
              <a:rPr lang="en-US" dirty="0">
                <a:sym typeface="Wingdings" pitchFamily="2" charset="2"/>
              </a:rPr>
              <a:t> yes  0</a:t>
            </a:r>
          </a:p>
          <a:p>
            <a:endParaRPr lang="en-US" dirty="0">
              <a:sym typeface="Wingdings" pitchFamily="2" charset="2"/>
            </a:endParaRPr>
          </a:p>
          <a:p>
            <a:r>
              <a:rPr lang="en-US" dirty="0" err="1">
                <a:sym typeface="Wingdings" pitchFamily="2" charset="2"/>
              </a:rPr>
              <a:t>Airthemtical</a:t>
            </a:r>
            <a:r>
              <a:rPr lang="en-US" dirty="0">
                <a:sym typeface="Wingdings" pitchFamily="2" charset="2"/>
              </a:rPr>
              <a:t> order, it does not work with -</a:t>
            </a:r>
            <a:r>
              <a:rPr lang="en-US" dirty="0" err="1">
                <a:sym typeface="Wingdings" pitchFamily="2" charset="2"/>
              </a:rPr>
              <a:t>lt</a:t>
            </a:r>
            <a:endParaRPr lang="en-US" dirty="0">
              <a:sym typeface="Wingdings" pitchFamily="2" charset="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ym typeface="Wingdings" pitchFamily="2" charset="2"/>
              </a:rPr>
              <a:t>(( 9 &gt; 10 )) </a:t>
            </a:r>
            <a:r>
              <a:rPr lang="en-US" dirty="0"/>
              <a:t>echo $? </a:t>
            </a:r>
            <a:r>
              <a:rPr lang="en-US" dirty="0">
                <a:sym typeface="Wingdings" pitchFamily="2" charset="2"/>
              </a:rPr>
              <a:t> no  1</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ym typeface="Wingdings" pitchFamily="2" charset="2"/>
              </a:rPr>
              <a:t>(( 9 &lt; 10 ))</a:t>
            </a:r>
            <a:r>
              <a:rPr lang="en-US" dirty="0"/>
              <a:t> echo $? </a:t>
            </a:r>
            <a:r>
              <a:rPr lang="en-US" dirty="0">
                <a:sym typeface="Wingdings" pitchFamily="2" charset="2"/>
              </a:rPr>
              <a:t> yes  0</a:t>
            </a:r>
            <a:endParaRPr lang="en-US" dirty="0"/>
          </a:p>
          <a:p>
            <a:endParaRPr lang="en-US" dirty="0">
              <a:sym typeface="Wingdings" pitchFamily="2" charset="2"/>
            </a:endParaRPr>
          </a:p>
          <a:p>
            <a:endParaRPr lang="en-US" dirty="0">
              <a:sym typeface="Wingdings" pitchFamily="2" charset="2"/>
            </a:endParaRPr>
          </a:p>
          <a:p>
            <a:r>
              <a:rPr lang="en-US" dirty="0">
                <a:sym typeface="Wingdings" pitchFamily="2" charset="2"/>
              </a:rPr>
              <a:t>String comparison : True if string A sorts after string B lexicographically (f &gt; a)  Yes  0 (in asci sort order)</a:t>
            </a:r>
          </a:p>
          <a:p>
            <a:r>
              <a:rPr lang="en-US" dirty="0">
                <a:sym typeface="Wingdings" pitchFamily="2" charset="2"/>
              </a:rPr>
              <a:t>Comparison letter by latter, if left is higher  true, if lower false</a:t>
            </a:r>
            <a:endParaRPr lang="en-US" dirty="0"/>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53</a:t>
            </a:fld>
            <a:endParaRPr lang="fr-FR"/>
          </a:p>
        </p:txBody>
      </p:sp>
    </p:spTree>
    <p:extLst>
      <p:ext uri="{BB962C8B-B14F-4D97-AF65-F5344CB8AC3E}">
        <p14:creationId xmlns:p14="http://schemas.microsoft.com/office/powerpoint/2010/main" val="36967936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54</a:t>
            </a:fld>
            <a:endParaRPr lang="fr-FR"/>
          </a:p>
        </p:txBody>
      </p:sp>
    </p:spTree>
    <p:extLst>
      <p:ext uri="{BB962C8B-B14F-4D97-AF65-F5344CB8AC3E}">
        <p14:creationId xmlns:p14="http://schemas.microsoft.com/office/powerpoint/2010/main" val="38765482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55</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56</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57</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58</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then</a:t>
            </a:r>
            <a:r>
              <a:rPr lang="en-US" dirty="0"/>
              <a:t> clause is executed if the exit code of commands1 is </a:t>
            </a:r>
            <a:r>
              <a:rPr lang="en-US" b="1" dirty="0"/>
              <a:t>zero</a:t>
            </a:r>
            <a:r>
              <a:rPr lang="en-US" dirty="0"/>
              <a:t>. If the exit code is nonzero, then the else clause is executed.</a:t>
            </a:r>
          </a:p>
          <a:p>
            <a:r>
              <a:rPr lang="en-US" dirty="0"/>
              <a:t> commands1 can simple or complex. It can, for example, be a sequence of one or more pipelines separated by one of the operators ;, &amp;, &amp;&amp;, or ||. The if conditions shown below are just special cases of commands1:</a:t>
            </a:r>
          </a:p>
          <a:p>
            <a:endParaRPr lang="en-US" dirty="0"/>
          </a:p>
          <a:p>
            <a:r>
              <a:rPr lang="en-US" b="1" dirty="0"/>
              <a:t>if [ condition ]</a:t>
            </a:r>
          </a:p>
          <a:p>
            <a:r>
              <a:rPr lang="en-US" dirty="0"/>
              <a:t>This is the traditional shell test command. It is available on all POSIX shells. The test command sets an exit code and the if statement acts accordingly. Typical tests are whether a file exists or one number is equal to another.</a:t>
            </a:r>
          </a:p>
          <a:p>
            <a:endParaRPr lang="en-US" dirty="0"/>
          </a:p>
          <a:p>
            <a:r>
              <a:rPr lang="en-US" b="1" dirty="0"/>
              <a:t>if [[ condition ]]</a:t>
            </a:r>
          </a:p>
          <a:p>
            <a:r>
              <a:rPr lang="en-US" dirty="0"/>
              <a:t>This is a new upgraded variation on test that bash supports. This test command also sets an exit code and the if statement acts accordingly. Among its extended features, it can test whether a </a:t>
            </a:r>
            <a:r>
              <a:rPr lang="en-US" b="1" dirty="0"/>
              <a:t>string matches a regular expression</a:t>
            </a:r>
            <a:r>
              <a:rPr lang="en-US" dirty="0"/>
              <a:t>.</a:t>
            </a:r>
          </a:p>
          <a:p>
            <a:endParaRPr lang="en-US" dirty="0"/>
          </a:p>
          <a:p>
            <a:r>
              <a:rPr lang="en-US" b="1" dirty="0"/>
              <a:t>if ((condition))</a:t>
            </a:r>
          </a:p>
          <a:p>
            <a:r>
              <a:rPr lang="en-US" dirty="0"/>
              <a:t>This performs arithmetic. As the result of the </a:t>
            </a:r>
            <a:r>
              <a:rPr lang="en-US" b="1" dirty="0"/>
              <a:t>arithmetic</a:t>
            </a:r>
            <a:r>
              <a:rPr lang="en-US" dirty="0"/>
              <a:t>, an exit code is set and the if statement acts accordingly. It returns an exit code of </a:t>
            </a:r>
            <a:r>
              <a:rPr lang="en-US" b="1" dirty="0"/>
              <a:t>zero (true) </a:t>
            </a:r>
            <a:r>
              <a:rPr lang="en-US" dirty="0"/>
              <a:t>if the result of the arithmetic calculation </a:t>
            </a:r>
            <a:r>
              <a:rPr lang="en-US" b="1" dirty="0"/>
              <a:t>is nonzero</a:t>
            </a:r>
            <a:r>
              <a:rPr lang="en-US" dirty="0"/>
              <a:t>. Like [[...]], this form is not POSIX and therefore not portable.</a:t>
            </a:r>
          </a:p>
          <a:p>
            <a:endParaRPr lang="en-US" dirty="0"/>
          </a:p>
          <a:p>
            <a:r>
              <a:rPr lang="en-US" b="1" dirty="0"/>
              <a:t>if (command)</a:t>
            </a:r>
          </a:p>
          <a:p>
            <a:r>
              <a:rPr lang="en-US" dirty="0"/>
              <a:t>This runs command in a subshell. When command completes, it sets an exit code and the if statement acts accordingly.</a:t>
            </a:r>
          </a:p>
          <a:p>
            <a:r>
              <a:rPr lang="en-US" dirty="0"/>
              <a:t>A typical reason for using a subshell like this is to limit side-effects of command if command required variable assignments or other changes to the shell's environment. Such changes do not remain after the subshell completes. </a:t>
            </a:r>
          </a:p>
          <a:p>
            <a:endParaRPr lang="en-US" b="1" dirty="0"/>
          </a:p>
          <a:p>
            <a:r>
              <a:rPr lang="en-US" b="1" dirty="0"/>
              <a:t>if command</a:t>
            </a:r>
          </a:p>
          <a:p>
            <a:r>
              <a:rPr lang="en-US" dirty="0"/>
              <a:t>command is executed and the if statement acts according to its exit code.</a:t>
            </a:r>
          </a:p>
        </p:txBody>
      </p:sp>
      <p:sp>
        <p:nvSpPr>
          <p:cNvPr id="4" name="Slide Number Placeholder 3"/>
          <p:cNvSpPr>
            <a:spLocks noGrp="1"/>
          </p:cNvSpPr>
          <p:nvPr>
            <p:ph type="sldNum" sz="quarter" idx="10"/>
          </p:nvPr>
        </p:nvSpPr>
        <p:spPr/>
        <p:txBody>
          <a:bodyPr/>
          <a:lstStyle/>
          <a:p>
            <a:fld id="{B4E1F8BA-42AC-4F4D-A3C8-1DE9704DC2C9}" type="slidenum">
              <a:rPr lang="fr-FR" smtClean="0"/>
              <a:pPr/>
              <a:t>59</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chemeClr val="tx1"/>
                </a:solidFill>
                <a:latin typeface="Arial" charset="0"/>
              </a:rPr>
              <a:t>Reads a filename given by the user</a:t>
            </a:r>
          </a:p>
          <a:p>
            <a:r>
              <a:rPr lang="en-GB" dirty="0">
                <a:solidFill>
                  <a:schemeClr val="tx1"/>
                </a:solidFill>
                <a:latin typeface="Arial" charset="0"/>
              </a:rPr>
              <a:t>Checks if it is writable</a:t>
            </a:r>
          </a:p>
          <a:p>
            <a:r>
              <a:rPr lang="en-GB" dirty="0">
                <a:solidFill>
                  <a:schemeClr val="tx1"/>
                </a:solidFill>
                <a:latin typeface="Arial" charset="0"/>
              </a:rPr>
              <a:t>Checks if it is readable</a:t>
            </a:r>
          </a:p>
          <a:p>
            <a:r>
              <a:rPr lang="en-GB" dirty="0">
                <a:solidFill>
                  <a:schemeClr val="tx1"/>
                </a:solidFill>
                <a:latin typeface="Arial" charset="0"/>
              </a:rPr>
              <a:t>Exit 1 : stops the execution</a:t>
            </a:r>
          </a:p>
        </p:txBody>
      </p:sp>
      <p:sp>
        <p:nvSpPr>
          <p:cNvPr id="4" name="Slide Number Placeholder 3"/>
          <p:cNvSpPr>
            <a:spLocks noGrp="1"/>
          </p:cNvSpPr>
          <p:nvPr>
            <p:ph type="sldNum" sz="quarter" idx="10"/>
          </p:nvPr>
        </p:nvSpPr>
        <p:spPr/>
        <p:txBody>
          <a:bodyPr/>
          <a:lstStyle/>
          <a:p>
            <a:fld id="{B4E1F8BA-42AC-4F4D-A3C8-1DE9704DC2C9}" type="slidenum">
              <a:rPr lang="fr-FR" smtClean="0"/>
              <a:pPr/>
              <a:t>60</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chemeClr val="tx1"/>
                </a:solidFill>
                <a:latin typeface="Arial" charset="0"/>
              </a:rPr>
              <a:t>Makes the difference between two files passed as arguments. Result is stored to file </a:t>
            </a:r>
            <a:r>
              <a:rPr lang="en-GB" dirty="0" err="1">
                <a:solidFill>
                  <a:schemeClr val="tx1"/>
                </a:solidFill>
                <a:latin typeface="Arial" charset="0"/>
              </a:rPr>
              <a:t>diff.out</a:t>
            </a:r>
            <a:endParaRPr lang="en-GB" dirty="0">
              <a:solidFill>
                <a:schemeClr val="tx1"/>
              </a:solidFill>
              <a:latin typeface="Arial" charset="0"/>
            </a:endParaRPr>
          </a:p>
          <a:p>
            <a:r>
              <a:rPr lang="en-GB" dirty="0">
                <a:solidFill>
                  <a:schemeClr val="tx1"/>
                </a:solidFill>
                <a:latin typeface="Arial" charset="0"/>
              </a:rPr>
              <a:t>Checks if the size of the file is not zero</a:t>
            </a:r>
          </a:p>
          <a:p>
            <a:r>
              <a:rPr lang="en-GB" dirty="0">
                <a:solidFill>
                  <a:schemeClr val="tx1"/>
                </a:solidFill>
                <a:latin typeface="Arial" charset="0"/>
              </a:rPr>
              <a:t>Otherwise, it shows the differences</a:t>
            </a:r>
          </a:p>
          <a:p>
            <a:r>
              <a:rPr lang="en-GB" dirty="0">
                <a:solidFill>
                  <a:schemeClr val="tx1"/>
                </a:solidFill>
                <a:latin typeface="Arial" charset="0"/>
              </a:rPr>
              <a:t>The file is removed</a:t>
            </a:r>
          </a:p>
        </p:txBody>
      </p:sp>
      <p:sp>
        <p:nvSpPr>
          <p:cNvPr id="4" name="Slide Number Placeholder 3"/>
          <p:cNvSpPr>
            <a:spLocks noGrp="1"/>
          </p:cNvSpPr>
          <p:nvPr>
            <p:ph type="sldNum" sz="quarter" idx="10"/>
          </p:nvPr>
        </p:nvSpPr>
        <p:spPr/>
        <p:txBody>
          <a:bodyPr/>
          <a:lstStyle/>
          <a:p>
            <a:fld id="{B4E1F8BA-42AC-4F4D-A3C8-1DE9704DC2C9}" type="slidenum">
              <a:rPr lang="fr-FR" smtClean="0"/>
              <a:pPr/>
              <a:t>61</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62</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chemeClr val="tx1"/>
                </a:solidFill>
                <a:latin typeface="Arial" charset="0"/>
              </a:rPr>
              <a:t>Reads a command from the user. If it equals to:</a:t>
            </a:r>
          </a:p>
          <a:p>
            <a:pPr lvl="1"/>
            <a:r>
              <a:rPr lang="en-GB" sz="2400" dirty="0">
                <a:solidFill>
                  <a:schemeClr val="tx1"/>
                </a:solidFill>
                <a:latin typeface="Arial" charset="0"/>
              </a:rPr>
              <a:t>all, it displays all files</a:t>
            </a:r>
          </a:p>
          <a:p>
            <a:pPr lvl="1"/>
            <a:r>
              <a:rPr lang="en-GB" sz="2400" dirty="0">
                <a:solidFill>
                  <a:schemeClr val="tx1"/>
                </a:solidFill>
                <a:latin typeface="Arial" charset="0"/>
              </a:rPr>
              <a:t>list: it displays the non-hidden files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63</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64</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indent="-228600" algn="l" defTabSz="914400" rtl="0" eaLnBrk="0" fontAlgn="base" latinLnBrk="0" hangingPunct="0">
              <a:lnSpc>
                <a:spcPct val="100000"/>
              </a:lnSpc>
              <a:spcBef>
                <a:spcPct val="30000"/>
              </a:spcBef>
              <a:spcAft>
                <a:spcPct val="0"/>
              </a:spcAft>
              <a:buClrTx/>
              <a:buSzTx/>
              <a:buFontTx/>
              <a:buAutoNum type="arabicPeriod"/>
              <a:tabLst/>
              <a:defRPr/>
            </a:pPr>
            <a:r>
              <a:rPr lang="en-GB" dirty="0">
                <a:solidFill>
                  <a:schemeClr val="tx1"/>
                </a:solidFill>
                <a:latin typeface="Arial" charset="0"/>
              </a:rPr>
              <a:t>Prints the integers to </a:t>
            </a:r>
            <a:r>
              <a:rPr lang="en-GB" dirty="0" err="1">
                <a:solidFill>
                  <a:schemeClr val="tx1"/>
                </a:solidFill>
                <a:latin typeface="Courier"/>
                <a:cs typeface="Courier"/>
              </a:rPr>
              <a:t>stdout</a:t>
            </a:r>
            <a:r>
              <a:rPr lang="en-GB" dirty="0">
                <a:solidFill>
                  <a:schemeClr val="tx1"/>
                </a:solidFill>
                <a:latin typeface="Courier"/>
                <a:cs typeface="Courier"/>
              </a:rPr>
              <a:t> </a:t>
            </a:r>
            <a:r>
              <a:rPr lang="en-GB" dirty="0">
                <a:solidFill>
                  <a:schemeClr val="tx1"/>
                </a:solidFill>
                <a:latin typeface="Arial" charset="0"/>
              </a:rPr>
              <a:t>and the result is passed to </a:t>
            </a:r>
            <a:r>
              <a:rPr lang="en-GB" dirty="0">
                <a:solidFill>
                  <a:schemeClr val="tx1"/>
                </a:solidFill>
                <a:latin typeface="Courier"/>
                <a:cs typeface="Courier"/>
              </a:rPr>
              <a:t>sort</a:t>
            </a:r>
            <a:r>
              <a:rPr lang="en-GB" dirty="0">
                <a:solidFill>
                  <a:schemeClr val="tx1"/>
                </a:solidFill>
                <a:latin typeface="Arial" charset="0"/>
              </a:rPr>
              <a:t> command, where –n is for numeric sort</a:t>
            </a:r>
          </a:p>
          <a:p>
            <a:pPr marL="228600" marR="0" indent="-228600" algn="l" defTabSz="914400" rtl="0" eaLnBrk="0" fontAlgn="base" latinLnBrk="0" hangingPunct="0">
              <a:lnSpc>
                <a:spcPct val="100000"/>
              </a:lnSpc>
              <a:spcBef>
                <a:spcPct val="30000"/>
              </a:spcBef>
              <a:spcAft>
                <a:spcPct val="0"/>
              </a:spcAft>
              <a:buClrTx/>
              <a:buSzTx/>
              <a:buFontTx/>
              <a:buAutoNum type="arabicPeriod"/>
              <a:tabLst/>
              <a:defRPr/>
            </a:pPr>
            <a:r>
              <a:rPr lang="en-GB" dirty="0">
                <a:solidFill>
                  <a:schemeClr val="tx1"/>
                </a:solidFill>
                <a:latin typeface="Arial" charset="0"/>
              </a:rPr>
              <a:t>Copies three files of the current directory to the folder passed as argument </a:t>
            </a:r>
            <a:r>
              <a:rPr lang="en-GB" b="1" dirty="0">
                <a:solidFill>
                  <a:schemeClr val="tx1"/>
                </a:solidFill>
                <a:latin typeface="Courier"/>
                <a:cs typeface="Courier"/>
              </a:rPr>
              <a:t>$1</a:t>
            </a:r>
          </a:p>
          <a:p>
            <a:pPr marL="228600" marR="0" indent="-228600" algn="l" defTabSz="914400" rtl="0" eaLnBrk="0" fontAlgn="base" latinLnBrk="0" hangingPunct="0">
              <a:lnSpc>
                <a:spcPct val="100000"/>
              </a:lnSpc>
              <a:spcBef>
                <a:spcPct val="30000"/>
              </a:spcBef>
              <a:spcAft>
                <a:spcPct val="0"/>
              </a:spcAft>
              <a:buClrTx/>
              <a:buSzTx/>
              <a:buFontTx/>
              <a:buAutoNum type="arabicPeriod"/>
              <a:tabLst/>
              <a:defRPr/>
            </a:pPr>
            <a:endParaRPr lang="en-GB" dirty="0">
              <a:solidFill>
                <a:schemeClr val="tx1"/>
              </a:solidFill>
              <a:latin typeface="Arial" charset="0"/>
            </a:endParaRPr>
          </a:p>
          <a:p>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65</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66</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chemeClr val="tx1"/>
                </a:solidFill>
                <a:latin typeface="Arial" charset="0"/>
              </a:rPr>
              <a:t>1.Print the values 1-9</a:t>
            </a:r>
          </a:p>
          <a:p>
            <a:pPr marL="0" marR="0" indent="0" algn="l" defTabSz="914400" rtl="0" eaLnBrk="0" fontAlgn="base" latinLnBrk="0" hangingPunct="0">
              <a:lnSpc>
                <a:spcPct val="100000"/>
              </a:lnSpc>
              <a:spcBef>
                <a:spcPct val="30000"/>
              </a:spcBef>
              <a:spcAft>
                <a:spcPct val="0"/>
              </a:spcAft>
              <a:buClrTx/>
              <a:buSzTx/>
              <a:buFontTx/>
              <a:buNone/>
              <a:tabLst/>
              <a:defRPr/>
            </a:pPr>
            <a:r>
              <a:rPr lang="en-GB" dirty="0">
                <a:solidFill>
                  <a:schemeClr val="tx1"/>
                </a:solidFill>
                <a:latin typeface="Arial" charset="0"/>
                <a:cs typeface="Courier"/>
              </a:rPr>
              <a:t>2. </a:t>
            </a:r>
            <a:r>
              <a:rPr lang="en-GB" dirty="0">
                <a:solidFill>
                  <a:schemeClr val="tx1"/>
                </a:solidFill>
                <a:latin typeface="Arial" charset="0"/>
              </a:rPr>
              <a:t>Infinite loop of printing</a:t>
            </a:r>
          </a:p>
          <a:p>
            <a:endParaRPr lang="en-GB" dirty="0">
              <a:latin typeface="Courier"/>
              <a:cs typeface="Courier"/>
            </a:endParaRPr>
          </a:p>
        </p:txBody>
      </p:sp>
      <p:sp>
        <p:nvSpPr>
          <p:cNvPr id="4" name="Slide Number Placeholder 3"/>
          <p:cNvSpPr>
            <a:spLocks noGrp="1"/>
          </p:cNvSpPr>
          <p:nvPr>
            <p:ph type="sldNum" sz="quarter" idx="10"/>
          </p:nvPr>
        </p:nvSpPr>
        <p:spPr/>
        <p:txBody>
          <a:bodyPr/>
          <a:lstStyle/>
          <a:p>
            <a:fld id="{B4E1F8BA-42AC-4F4D-A3C8-1DE9704DC2C9}" type="slidenum">
              <a:rPr lang="fr-FR" smtClean="0"/>
              <a:pPr/>
              <a:t>67</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68</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chemeClr val="tx1"/>
                </a:solidFill>
                <a:latin typeface="Arial" charset="0"/>
              </a:rPr>
              <a:t>Same as while but</a:t>
            </a:r>
            <a:r>
              <a:rPr lang="en-GB" baseline="0" dirty="0">
                <a:solidFill>
                  <a:schemeClr val="tx1"/>
                </a:solidFill>
                <a:latin typeface="Arial" charset="0"/>
              </a:rPr>
              <a:t> implemented with until!</a:t>
            </a:r>
            <a:endParaRPr lang="en-GB" dirty="0">
              <a:solidFill>
                <a:schemeClr val="tx1"/>
              </a:solidFill>
              <a:latin typeface="Arial" charset="0"/>
            </a:endParaRPr>
          </a:p>
        </p:txBody>
      </p:sp>
      <p:sp>
        <p:nvSpPr>
          <p:cNvPr id="4" name="Slide Number Placeholder 3"/>
          <p:cNvSpPr>
            <a:spLocks noGrp="1"/>
          </p:cNvSpPr>
          <p:nvPr>
            <p:ph type="sldNum" sz="quarter" idx="10"/>
          </p:nvPr>
        </p:nvSpPr>
        <p:spPr/>
        <p:txBody>
          <a:bodyPr/>
          <a:lstStyle/>
          <a:p>
            <a:fld id="{B4E1F8BA-42AC-4F4D-A3C8-1DE9704DC2C9}" type="slidenum">
              <a:rPr lang="fr-FR" smtClean="0"/>
              <a:pPr/>
              <a:t>69</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Echo –n do not print the new line character that exist by default</a:t>
            </a:r>
          </a:p>
        </p:txBody>
      </p:sp>
      <p:sp>
        <p:nvSpPr>
          <p:cNvPr id="4" name="Slide Number Placeholder 3"/>
          <p:cNvSpPr>
            <a:spLocks noGrp="1"/>
          </p:cNvSpPr>
          <p:nvPr>
            <p:ph type="sldNum" sz="quarter" idx="5"/>
          </p:nvPr>
        </p:nvSpPr>
        <p:spPr/>
        <p:txBody>
          <a:bodyPr/>
          <a:lstStyle/>
          <a:p>
            <a:fld id="{B4E1F8BA-42AC-4F4D-A3C8-1DE9704DC2C9}" type="slidenum">
              <a:rPr lang="fr-FR" smtClean="0"/>
              <a:pPr/>
              <a:t>71</a:t>
            </a:fld>
            <a:endParaRPr lang="fr-FR"/>
          </a:p>
        </p:txBody>
      </p:sp>
    </p:spTree>
    <p:extLst>
      <p:ext uri="{BB962C8B-B14F-4D97-AF65-F5344CB8AC3E}">
        <p14:creationId xmlns:p14="http://schemas.microsoft.com/office/powerpoint/2010/main" val="40099564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the users</a:t>
            </a:r>
          </a:p>
        </p:txBody>
      </p:sp>
      <p:sp>
        <p:nvSpPr>
          <p:cNvPr id="4" name="Slide Number Placeholder 3"/>
          <p:cNvSpPr>
            <a:spLocks noGrp="1"/>
          </p:cNvSpPr>
          <p:nvPr>
            <p:ph type="sldNum" sz="quarter" idx="10"/>
          </p:nvPr>
        </p:nvSpPr>
        <p:spPr/>
        <p:txBody>
          <a:bodyPr/>
          <a:lstStyle/>
          <a:p>
            <a:fld id="{B4E1F8BA-42AC-4F4D-A3C8-1DE9704DC2C9}" type="slidenum">
              <a:rPr lang="fr-FR" smtClean="0"/>
              <a:pPr/>
              <a:t>73</a:t>
            </a:fld>
            <a:endParaRPr lang="fr-FR"/>
          </a:p>
        </p:txBody>
      </p:sp>
    </p:spTree>
    <p:extLst>
      <p:ext uri="{BB962C8B-B14F-4D97-AF65-F5344CB8AC3E}">
        <p14:creationId xmlns:p14="http://schemas.microsoft.com/office/powerpoint/2010/main" val="1009899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 outside does nothing because inside</a:t>
            </a:r>
            <a:r>
              <a:rPr lang="en-US" baseline="0" dirty="0"/>
              <a:t> is a local variable</a:t>
            </a:r>
          </a:p>
          <a:p>
            <a:r>
              <a:rPr lang="en-US" baseline="0" dirty="0"/>
              <a:t> change the script by removing local so it will be printed</a:t>
            </a:r>
            <a:endParaRPr lang="en-US" dirty="0"/>
          </a:p>
        </p:txBody>
      </p:sp>
      <p:sp>
        <p:nvSpPr>
          <p:cNvPr id="4" name="Slide Number Placeholder 3"/>
          <p:cNvSpPr>
            <a:spLocks noGrp="1"/>
          </p:cNvSpPr>
          <p:nvPr>
            <p:ph type="sldNum" sz="quarter" idx="10"/>
          </p:nvPr>
        </p:nvSpPr>
        <p:spPr/>
        <p:txBody>
          <a:bodyPr/>
          <a:lstStyle/>
          <a:p>
            <a:fld id="{B4E1F8BA-42AC-4F4D-A3C8-1DE9704DC2C9}" type="slidenum">
              <a:rPr lang="fr-FR" smtClean="0"/>
              <a:pPr/>
              <a:t>74</a:t>
            </a:fld>
            <a:endParaRPr lang="fr-FR"/>
          </a:p>
        </p:txBody>
      </p:sp>
    </p:spTree>
    <p:extLst>
      <p:ext uri="{BB962C8B-B14F-4D97-AF65-F5344CB8AC3E}">
        <p14:creationId xmlns:p14="http://schemas.microsoft.com/office/powerpoint/2010/main" val="100989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lvl1pPr algn="ctr">
              <a:defRPr/>
            </a:lvl1pPr>
          </a:lstStyle>
          <a:p>
            <a:r>
              <a:rPr lang="fr-FR"/>
              <a:t>Modifiez le style du titre</a:t>
            </a:r>
            <a:endParaRPr lang="en-US"/>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endParaRPr lang="en-US"/>
          </a:p>
        </p:txBody>
      </p:sp>
      <p:sp>
        <p:nvSpPr>
          <p:cNvPr id="4" name="Espace réservé du pied de page 3"/>
          <p:cNvSpPr>
            <a:spLocks noGrp="1"/>
          </p:cNvSpPr>
          <p:nvPr>
            <p:ph type="ftr" sz="quarter" idx="10"/>
          </p:nvPr>
        </p:nvSpPr>
        <p:spPr/>
        <p:txBody>
          <a:bodyPr/>
          <a:lstStyle>
            <a:lvl1pPr>
              <a:defRPr>
                <a:ea typeface="ＭＳ Ｐゴシック" charset="0"/>
              </a:defRPr>
            </a:lvl1pPr>
          </a:lstStyle>
          <a:p>
            <a:r>
              <a:rPr lang="fr-FR" dirty="0"/>
              <a:t>L3 Info – ARCSYS</a:t>
            </a:r>
          </a:p>
        </p:txBody>
      </p:sp>
      <p:sp>
        <p:nvSpPr>
          <p:cNvPr id="5" name="Espace réservé du numéro de diapositive 4"/>
          <p:cNvSpPr>
            <a:spLocks noGrp="1"/>
          </p:cNvSpPr>
          <p:nvPr>
            <p:ph type="sldNum" sz="quarter" idx="11"/>
          </p:nvPr>
        </p:nvSpPr>
        <p:spPr/>
        <p:txBody>
          <a:bodyPr/>
          <a:lstStyle>
            <a:lvl3pPr lvl="2">
              <a:defRPr/>
            </a:lvl3pPr>
          </a:lstStyle>
          <a:p>
            <a:pPr lvl="2"/>
            <a:fld id="{CA38BD18-D798-534D-9B89-0B66A0BD44A9}" type="slidenum">
              <a:rPr lang="fr-FR"/>
              <a:pPr lvl="2"/>
              <a:t>‹N°›</a:t>
            </a:fld>
            <a:endParaRPr lang="fr-FR"/>
          </a:p>
        </p:txBody>
      </p:sp>
    </p:spTree>
    <p:extLst>
      <p:ext uri="{BB962C8B-B14F-4D97-AF65-F5344CB8AC3E}">
        <p14:creationId xmlns:p14="http://schemas.microsoft.com/office/powerpoint/2010/main" val="395052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pied de page 3"/>
          <p:cNvSpPr>
            <a:spLocks noGrp="1"/>
          </p:cNvSpPr>
          <p:nvPr>
            <p:ph type="ftr" sz="quarter" idx="10"/>
          </p:nvPr>
        </p:nvSpPr>
        <p:spPr/>
        <p:txBody>
          <a:bodyPr/>
          <a:lstStyle>
            <a:lvl1pPr>
              <a:defRPr>
                <a:ea typeface="ＭＳ Ｐゴシック" charset="0"/>
              </a:defRPr>
            </a:lvl1pPr>
          </a:lstStyle>
          <a:p>
            <a:r>
              <a:rPr lang="fr-FR" dirty="0"/>
              <a:t>L3R&amp;I–ARCSYS/L3Info-ARC2</a:t>
            </a:r>
          </a:p>
        </p:txBody>
      </p:sp>
      <p:sp>
        <p:nvSpPr>
          <p:cNvPr id="5" name="Espace réservé du numéro de diapositive 4"/>
          <p:cNvSpPr>
            <a:spLocks noGrp="1"/>
          </p:cNvSpPr>
          <p:nvPr>
            <p:ph type="sldNum" sz="quarter" idx="11"/>
          </p:nvPr>
        </p:nvSpPr>
        <p:spPr/>
        <p:txBody>
          <a:bodyPr/>
          <a:lstStyle>
            <a:lvl3pPr lvl="2">
              <a:defRPr/>
            </a:lvl3pPr>
          </a:lstStyle>
          <a:p>
            <a:pPr lvl="2"/>
            <a:fld id="{28BEB0BA-EEE4-5F45-9179-3BC54B76BCCF}" type="slidenum">
              <a:rPr lang="fr-FR"/>
              <a:pPr lvl="2"/>
              <a:t>‹N°›</a:t>
            </a:fld>
            <a:endParaRPr lang="fr-FR"/>
          </a:p>
        </p:txBody>
      </p:sp>
    </p:spTree>
    <p:extLst>
      <p:ext uri="{BB962C8B-B14F-4D97-AF65-F5344CB8AC3E}">
        <p14:creationId xmlns:p14="http://schemas.microsoft.com/office/powerpoint/2010/main" val="830027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US"/>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5" name="Rectangle 4"/>
          <p:cNvSpPr>
            <a:spLocks noGrp="1" noChangeArrowheads="1"/>
          </p:cNvSpPr>
          <p:nvPr>
            <p:ph type="sldNum" sz="quarter" idx="11"/>
          </p:nvPr>
        </p:nvSpPr>
        <p:spPr>
          <a:ln/>
        </p:spPr>
        <p:txBody>
          <a:bodyPr/>
          <a:lstStyle>
            <a:lvl3pPr lvl="2">
              <a:defRPr/>
            </a:lvl3pPr>
          </a:lstStyle>
          <a:p>
            <a:pPr lvl="2"/>
            <a:fld id="{3E774EF3-E5C1-9947-94FD-7ED4E25DF744}" type="slidenum">
              <a:rPr lang="fr-FR"/>
              <a:pPr lvl="2"/>
              <a:t>‹N°›</a:t>
            </a:fld>
            <a:endParaRPr lang="fr-FR"/>
          </a:p>
        </p:txBody>
      </p:sp>
    </p:spTree>
    <p:extLst>
      <p:ext uri="{BB962C8B-B14F-4D97-AF65-F5344CB8AC3E}">
        <p14:creationId xmlns:p14="http://schemas.microsoft.com/office/powerpoint/2010/main" val="3836302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p:nvPr>
        </p:nvSpPr>
        <p:spPr>
          <a:xfrm>
            <a:off x="457200" y="914400"/>
            <a:ext cx="4054475"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664075" y="914400"/>
            <a:ext cx="4054475"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6" name="Rectangle 4"/>
          <p:cNvSpPr>
            <a:spLocks noGrp="1" noChangeArrowheads="1"/>
          </p:cNvSpPr>
          <p:nvPr>
            <p:ph type="sldNum" sz="quarter" idx="11"/>
          </p:nvPr>
        </p:nvSpPr>
        <p:spPr>
          <a:ln/>
        </p:spPr>
        <p:txBody>
          <a:bodyPr/>
          <a:lstStyle>
            <a:lvl3pPr lvl="2">
              <a:defRPr/>
            </a:lvl3pPr>
          </a:lstStyle>
          <a:p>
            <a:pPr lvl="2"/>
            <a:fld id="{C42D0CE1-2123-814B-AF4A-593A8946C394}" type="slidenum">
              <a:rPr lang="fr-FR"/>
              <a:pPr lvl="2"/>
              <a:t>‹N°›</a:t>
            </a:fld>
            <a:endParaRPr lang="fr-FR"/>
          </a:p>
        </p:txBody>
      </p:sp>
    </p:spTree>
    <p:extLst>
      <p:ext uri="{BB962C8B-B14F-4D97-AF65-F5344CB8AC3E}">
        <p14:creationId xmlns:p14="http://schemas.microsoft.com/office/powerpoint/2010/main" val="1653265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en-US"/>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8" name="Rectangle 4"/>
          <p:cNvSpPr>
            <a:spLocks noGrp="1" noChangeArrowheads="1"/>
          </p:cNvSpPr>
          <p:nvPr>
            <p:ph type="sldNum" sz="quarter" idx="11"/>
          </p:nvPr>
        </p:nvSpPr>
        <p:spPr>
          <a:ln/>
        </p:spPr>
        <p:txBody>
          <a:bodyPr/>
          <a:lstStyle>
            <a:lvl3pPr lvl="2">
              <a:defRPr/>
            </a:lvl3pPr>
          </a:lstStyle>
          <a:p>
            <a:pPr lvl="2"/>
            <a:fld id="{D368282F-3455-474C-BCD6-6333CCA985B1}" type="slidenum">
              <a:rPr lang="fr-FR"/>
              <a:pPr lvl="2"/>
              <a:t>‹N°›</a:t>
            </a:fld>
            <a:endParaRPr lang="fr-FR"/>
          </a:p>
        </p:txBody>
      </p:sp>
    </p:spTree>
    <p:extLst>
      <p:ext uri="{BB962C8B-B14F-4D97-AF65-F5344CB8AC3E}">
        <p14:creationId xmlns:p14="http://schemas.microsoft.com/office/powerpoint/2010/main" val="4104502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4" name="Rectangle 4"/>
          <p:cNvSpPr>
            <a:spLocks noGrp="1" noChangeArrowheads="1"/>
          </p:cNvSpPr>
          <p:nvPr>
            <p:ph type="sldNum" sz="quarter" idx="11"/>
          </p:nvPr>
        </p:nvSpPr>
        <p:spPr>
          <a:ln/>
        </p:spPr>
        <p:txBody>
          <a:bodyPr/>
          <a:lstStyle>
            <a:lvl3pPr lvl="2">
              <a:defRPr/>
            </a:lvl3pPr>
          </a:lstStyle>
          <a:p>
            <a:pPr lvl="2"/>
            <a:fld id="{FC95157D-BEDD-8742-A6E7-50239084E47D}" type="slidenum">
              <a:rPr lang="fr-FR"/>
              <a:pPr lvl="2"/>
              <a:t>‹N°›</a:t>
            </a:fld>
            <a:endParaRPr lang="fr-FR"/>
          </a:p>
        </p:txBody>
      </p:sp>
    </p:spTree>
    <p:extLst>
      <p:ext uri="{BB962C8B-B14F-4D97-AF65-F5344CB8AC3E}">
        <p14:creationId xmlns:p14="http://schemas.microsoft.com/office/powerpoint/2010/main" val="4148885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3" name="Rectangle 4"/>
          <p:cNvSpPr>
            <a:spLocks noGrp="1" noChangeArrowheads="1"/>
          </p:cNvSpPr>
          <p:nvPr>
            <p:ph type="sldNum" sz="quarter" idx="11"/>
          </p:nvPr>
        </p:nvSpPr>
        <p:spPr>
          <a:ln/>
        </p:spPr>
        <p:txBody>
          <a:bodyPr/>
          <a:lstStyle>
            <a:lvl3pPr lvl="2">
              <a:defRPr/>
            </a:lvl3pPr>
          </a:lstStyle>
          <a:p>
            <a:pPr lvl="2"/>
            <a:fld id="{727894EC-6C46-9F44-A76B-25ED247F1F1D}" type="slidenum">
              <a:rPr lang="fr-FR"/>
              <a:pPr lvl="2"/>
              <a:t>‹N°›</a:t>
            </a:fld>
            <a:endParaRPr lang="fr-FR"/>
          </a:p>
        </p:txBody>
      </p:sp>
    </p:spTree>
    <p:extLst>
      <p:ext uri="{BB962C8B-B14F-4D97-AF65-F5344CB8AC3E}">
        <p14:creationId xmlns:p14="http://schemas.microsoft.com/office/powerpoint/2010/main" val="1797970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a:t>Modifiez le style du titre</a:t>
            </a:r>
            <a:endParaRPr lang="en-US"/>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6" name="Rectangle 4"/>
          <p:cNvSpPr>
            <a:spLocks noGrp="1" noChangeArrowheads="1"/>
          </p:cNvSpPr>
          <p:nvPr>
            <p:ph type="sldNum" sz="quarter" idx="11"/>
          </p:nvPr>
        </p:nvSpPr>
        <p:spPr>
          <a:ln/>
        </p:spPr>
        <p:txBody>
          <a:bodyPr/>
          <a:lstStyle>
            <a:lvl3pPr lvl="2">
              <a:defRPr/>
            </a:lvl3pPr>
          </a:lstStyle>
          <a:p>
            <a:pPr lvl="2"/>
            <a:fld id="{785B45ED-D439-C14C-910A-9C7162D5B3CF}" type="slidenum">
              <a:rPr lang="fr-FR"/>
              <a:pPr lvl="2"/>
              <a:t>‹N°›</a:t>
            </a:fld>
            <a:endParaRPr lang="fr-FR"/>
          </a:p>
        </p:txBody>
      </p:sp>
    </p:spTree>
    <p:extLst>
      <p:ext uri="{BB962C8B-B14F-4D97-AF65-F5344CB8AC3E}">
        <p14:creationId xmlns:p14="http://schemas.microsoft.com/office/powerpoint/2010/main" val="1055627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6" name="Rectangle 4"/>
          <p:cNvSpPr>
            <a:spLocks noGrp="1" noChangeArrowheads="1"/>
          </p:cNvSpPr>
          <p:nvPr>
            <p:ph type="sldNum" sz="quarter" idx="11"/>
          </p:nvPr>
        </p:nvSpPr>
        <p:spPr>
          <a:ln/>
        </p:spPr>
        <p:txBody>
          <a:bodyPr/>
          <a:lstStyle>
            <a:lvl3pPr lvl="2">
              <a:defRPr/>
            </a:lvl3pPr>
          </a:lstStyle>
          <a:p>
            <a:pPr lvl="2"/>
            <a:fld id="{D0463F5A-E913-544D-A518-8145CC7103A2}" type="slidenum">
              <a:rPr lang="fr-FR"/>
              <a:pPr lvl="2"/>
              <a:t>‹N°›</a:t>
            </a:fld>
            <a:endParaRPr lang="fr-FR"/>
          </a:p>
        </p:txBody>
      </p:sp>
    </p:spTree>
    <p:extLst>
      <p:ext uri="{BB962C8B-B14F-4D97-AF65-F5344CB8AC3E}">
        <p14:creationId xmlns:p14="http://schemas.microsoft.com/office/powerpoint/2010/main" val="3841298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5" name="Rectangle 4"/>
          <p:cNvSpPr>
            <a:spLocks noGrp="1" noChangeArrowheads="1"/>
          </p:cNvSpPr>
          <p:nvPr>
            <p:ph type="sldNum" sz="quarter" idx="11"/>
          </p:nvPr>
        </p:nvSpPr>
        <p:spPr>
          <a:ln/>
        </p:spPr>
        <p:txBody>
          <a:bodyPr/>
          <a:lstStyle>
            <a:lvl3pPr lvl="2">
              <a:defRPr/>
            </a:lvl3pPr>
          </a:lstStyle>
          <a:p>
            <a:pPr lvl="2"/>
            <a:fld id="{FA077D25-1380-2842-B79B-713DA2B8138B}" type="slidenum">
              <a:rPr lang="fr-FR"/>
              <a:pPr lvl="2"/>
              <a:t>‹N°›</a:t>
            </a:fld>
            <a:endParaRPr lang="fr-FR"/>
          </a:p>
        </p:txBody>
      </p:sp>
    </p:spTree>
    <p:extLst>
      <p:ext uri="{BB962C8B-B14F-4D97-AF65-F5344CB8AC3E}">
        <p14:creationId xmlns:p14="http://schemas.microsoft.com/office/powerpoint/2010/main" val="4012626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15113" y="152400"/>
            <a:ext cx="2103437" cy="6019800"/>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304800" y="152400"/>
            <a:ext cx="6157913" cy="60198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5" name="Rectangle 4"/>
          <p:cNvSpPr>
            <a:spLocks noGrp="1" noChangeArrowheads="1"/>
          </p:cNvSpPr>
          <p:nvPr>
            <p:ph type="sldNum" sz="quarter" idx="11"/>
          </p:nvPr>
        </p:nvSpPr>
        <p:spPr>
          <a:ln/>
        </p:spPr>
        <p:txBody>
          <a:bodyPr/>
          <a:lstStyle>
            <a:lvl3pPr lvl="2">
              <a:defRPr/>
            </a:lvl3pPr>
          </a:lstStyle>
          <a:p>
            <a:pPr lvl="2"/>
            <a:fld id="{D3C5E950-4BE6-EB49-86D7-C3A8A1B3C51F}" type="slidenum">
              <a:rPr lang="fr-FR"/>
              <a:pPr lvl="2"/>
              <a:t>‹N°›</a:t>
            </a:fld>
            <a:endParaRPr lang="fr-FR"/>
          </a:p>
        </p:txBody>
      </p:sp>
    </p:spTree>
    <p:extLst>
      <p:ext uri="{BB962C8B-B14F-4D97-AF65-F5344CB8AC3E}">
        <p14:creationId xmlns:p14="http://schemas.microsoft.com/office/powerpoint/2010/main" val="4294433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304800" y="152400"/>
            <a:ext cx="7772400" cy="533400"/>
          </a:xfrm>
        </p:spPr>
        <p:txBody>
          <a:bodyPr/>
          <a:lstStyle/>
          <a:p>
            <a:r>
              <a:rPr lang="fr-FR"/>
              <a:t>Modifiez le style du titre</a:t>
            </a:r>
            <a:endParaRPr lang="en-US"/>
          </a:p>
        </p:txBody>
      </p:sp>
      <p:sp>
        <p:nvSpPr>
          <p:cNvPr id="3" name="Espace réservé du texte 2"/>
          <p:cNvSpPr>
            <a:spLocks noGrp="1"/>
          </p:cNvSpPr>
          <p:nvPr>
            <p:ph type="body" sz="half" idx="1"/>
          </p:nvPr>
        </p:nvSpPr>
        <p:spPr>
          <a:xfrm>
            <a:off x="457200" y="914400"/>
            <a:ext cx="4054475" cy="5257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664075" y="914400"/>
            <a:ext cx="4054475" cy="5257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6" name="Rectangle 4"/>
          <p:cNvSpPr>
            <a:spLocks noGrp="1" noChangeArrowheads="1"/>
          </p:cNvSpPr>
          <p:nvPr>
            <p:ph type="sldNum" sz="quarter" idx="11"/>
          </p:nvPr>
        </p:nvSpPr>
        <p:spPr>
          <a:ln/>
        </p:spPr>
        <p:txBody>
          <a:bodyPr/>
          <a:lstStyle>
            <a:lvl3pPr lvl="2">
              <a:defRPr/>
            </a:lvl3pPr>
          </a:lstStyle>
          <a:p>
            <a:pPr lvl="2"/>
            <a:fld id="{E4FB2761-C727-EF42-A217-0A71038DF1A9}" type="slidenum">
              <a:rPr lang="fr-FR"/>
              <a:pPr lvl="2"/>
              <a:t>‹N°›</a:t>
            </a:fld>
            <a:endParaRPr lang="fr-FR"/>
          </a:p>
        </p:txBody>
      </p:sp>
    </p:spTree>
    <p:extLst>
      <p:ext uri="{BB962C8B-B14F-4D97-AF65-F5344CB8AC3E}">
        <p14:creationId xmlns:p14="http://schemas.microsoft.com/office/powerpoint/2010/main" val="12874882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304800" y="152400"/>
            <a:ext cx="7772400" cy="533400"/>
          </a:xfrm>
        </p:spPr>
        <p:txBody>
          <a:bodyPr/>
          <a:lstStyle/>
          <a:p>
            <a:r>
              <a:rPr lang="fr-FR"/>
              <a:t>Modifiez le style du titre</a:t>
            </a:r>
            <a:endParaRPr lang="en-US"/>
          </a:p>
        </p:txBody>
      </p:sp>
      <p:sp>
        <p:nvSpPr>
          <p:cNvPr id="3" name="Espace réservé du texte 2"/>
          <p:cNvSpPr>
            <a:spLocks noGrp="1"/>
          </p:cNvSpPr>
          <p:nvPr>
            <p:ph type="body" sz="half" idx="1"/>
          </p:nvPr>
        </p:nvSpPr>
        <p:spPr>
          <a:xfrm>
            <a:off x="457200" y="914400"/>
            <a:ext cx="4054475" cy="5257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quarter" idx="2"/>
          </p:nvPr>
        </p:nvSpPr>
        <p:spPr>
          <a:xfrm>
            <a:off x="4664075" y="914400"/>
            <a:ext cx="4054475" cy="25527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contenu 4"/>
          <p:cNvSpPr>
            <a:spLocks noGrp="1"/>
          </p:cNvSpPr>
          <p:nvPr>
            <p:ph sz="quarter" idx="3"/>
          </p:nvPr>
        </p:nvSpPr>
        <p:spPr>
          <a:xfrm>
            <a:off x="4664075" y="3619500"/>
            <a:ext cx="4054475" cy="25527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Rectangle 3"/>
          <p:cNvSpPr>
            <a:spLocks noGrp="1" noChangeArrowheads="1"/>
          </p:cNvSpPr>
          <p:nvPr>
            <p:ph type="ftr" sz="quarter" idx="10"/>
          </p:nvPr>
        </p:nvSpPr>
        <p:spPr>
          <a:ln/>
        </p:spPr>
        <p:txBody>
          <a:bodyPr/>
          <a:lstStyle>
            <a:lvl1pPr>
              <a:defRPr/>
            </a:lvl1pPr>
          </a:lstStyle>
          <a:p>
            <a:pPr>
              <a:defRPr/>
            </a:pPr>
            <a:r>
              <a:rPr lang="fr-FR" dirty="0"/>
              <a:t>L3Info - ARC2</a:t>
            </a:r>
          </a:p>
        </p:txBody>
      </p:sp>
      <p:sp>
        <p:nvSpPr>
          <p:cNvPr id="7" name="Rectangle 4"/>
          <p:cNvSpPr>
            <a:spLocks noGrp="1" noChangeArrowheads="1"/>
          </p:cNvSpPr>
          <p:nvPr>
            <p:ph type="sldNum" sz="quarter" idx="11"/>
          </p:nvPr>
        </p:nvSpPr>
        <p:spPr>
          <a:ln/>
        </p:spPr>
        <p:txBody>
          <a:bodyPr/>
          <a:lstStyle>
            <a:lvl3pPr lvl="2">
              <a:defRPr/>
            </a:lvl3pPr>
          </a:lstStyle>
          <a:p>
            <a:pPr lvl="2"/>
            <a:fld id="{BEC507FD-B07A-F442-8813-F7DE140A1B64}" type="slidenum">
              <a:rPr lang="fr-FR"/>
              <a:pPr lvl="2"/>
              <a:t>‹N°›</a:t>
            </a:fld>
            <a:endParaRPr lang="fr-FR"/>
          </a:p>
        </p:txBody>
      </p:sp>
    </p:spTree>
    <p:extLst>
      <p:ext uri="{BB962C8B-B14F-4D97-AF65-F5344CB8AC3E}">
        <p14:creationId xmlns:p14="http://schemas.microsoft.com/office/powerpoint/2010/main" val="3605036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endParaRPr lang="en-US"/>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a:p>
        </p:txBody>
      </p:sp>
      <p:sp>
        <p:nvSpPr>
          <p:cNvPr id="4" name="Espace réservé de la date 3"/>
          <p:cNvSpPr>
            <a:spLocks noGrp="1"/>
          </p:cNvSpPr>
          <p:nvPr>
            <p:ph type="dt" sz="half" idx="10"/>
          </p:nvPr>
        </p:nvSpPr>
        <p:spPr/>
        <p:txBody>
          <a:bodyPr/>
          <a:lstStyle>
            <a:lvl1pPr>
              <a:defRPr/>
            </a:lvl1pPr>
          </a:lstStyle>
          <a:p>
            <a:fld id="{50D6E0A6-7E03-9643-B122-B1594F3D766E}" type="datetimeFigureOut">
              <a:rPr lang="en-US"/>
              <a:pPr/>
              <a:t>9/25/2023</a:t>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CF829AC0-0BDF-1D49-B938-F7B5BF9DF18E}" type="slidenum">
              <a:rPr lang="en-US"/>
              <a:pPr/>
              <a:t>‹N°›</a:t>
            </a:fld>
            <a:endParaRPr lang="en-US"/>
          </a:p>
        </p:txBody>
      </p:sp>
    </p:spTree>
    <p:extLst>
      <p:ext uri="{BB962C8B-B14F-4D97-AF65-F5344CB8AC3E}">
        <p14:creationId xmlns:p14="http://schemas.microsoft.com/office/powerpoint/2010/main" val="1048780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lvl1pPr>
              <a:defRPr/>
            </a:lvl1pPr>
          </a:lstStyle>
          <a:p>
            <a:fld id="{9E96D771-1DEC-D04C-9850-57DD09633CB6}" type="datetimeFigureOut">
              <a:rPr lang="en-US"/>
              <a:pPr/>
              <a:t>9/25/2023</a:t>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477DA547-AA4F-6E4D-B9E8-819232868B88}" type="slidenum">
              <a:rPr lang="en-US"/>
              <a:pPr/>
              <a:t>‹N°›</a:t>
            </a:fld>
            <a:endParaRPr lang="en-US"/>
          </a:p>
        </p:txBody>
      </p:sp>
    </p:spTree>
    <p:extLst>
      <p:ext uri="{BB962C8B-B14F-4D97-AF65-F5344CB8AC3E}">
        <p14:creationId xmlns:p14="http://schemas.microsoft.com/office/powerpoint/2010/main" val="6601448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US"/>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lvl1pPr>
          </a:lstStyle>
          <a:p>
            <a:fld id="{ECF83084-D87B-2545-8E8F-C0DFA794576E}" type="datetimeFigureOut">
              <a:rPr lang="en-US"/>
              <a:pPr/>
              <a:t>9/25/2023</a:t>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02FFB5A7-CC74-544B-8272-4F01AE294B49}" type="slidenum">
              <a:rPr lang="en-US"/>
              <a:pPr/>
              <a:t>‹N°›</a:t>
            </a:fld>
            <a:endParaRPr lang="en-US"/>
          </a:p>
        </p:txBody>
      </p:sp>
    </p:spTree>
    <p:extLst>
      <p:ext uri="{BB962C8B-B14F-4D97-AF65-F5344CB8AC3E}">
        <p14:creationId xmlns:p14="http://schemas.microsoft.com/office/powerpoint/2010/main" val="21292669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3"/>
          <p:cNvSpPr>
            <a:spLocks noGrp="1"/>
          </p:cNvSpPr>
          <p:nvPr>
            <p:ph type="dt" sz="half" idx="10"/>
          </p:nvPr>
        </p:nvSpPr>
        <p:spPr/>
        <p:txBody>
          <a:bodyPr/>
          <a:lstStyle>
            <a:lvl1pPr>
              <a:defRPr/>
            </a:lvl1pPr>
          </a:lstStyle>
          <a:p>
            <a:fld id="{C0A69613-4798-D341-B2F3-724BE2791C0B}" type="datetimeFigureOut">
              <a:rPr lang="en-US"/>
              <a:pPr/>
              <a:t>9/25/2023</a:t>
            </a:fld>
            <a:endParaRPr lang="en-US"/>
          </a:p>
        </p:txBody>
      </p:sp>
      <p:sp>
        <p:nvSpPr>
          <p:cNvPr id="6" name="Espace réservé du pied de page 4"/>
          <p:cNvSpPr>
            <a:spLocks noGrp="1"/>
          </p:cNvSpPr>
          <p:nvPr>
            <p:ph type="ftr" sz="quarter" idx="11"/>
          </p:nvPr>
        </p:nvSpPr>
        <p:spPr/>
        <p:txBody>
          <a:bodyPr/>
          <a:lstStyle>
            <a:lvl1pPr>
              <a:defRPr/>
            </a:lvl1pPr>
          </a:lstStyle>
          <a:p>
            <a:pPr>
              <a:defRPr/>
            </a:pPr>
            <a:endParaRPr lang="en-US"/>
          </a:p>
        </p:txBody>
      </p:sp>
      <p:sp>
        <p:nvSpPr>
          <p:cNvPr id="7" name="Espace réservé du numéro de diapositive 5"/>
          <p:cNvSpPr>
            <a:spLocks noGrp="1"/>
          </p:cNvSpPr>
          <p:nvPr>
            <p:ph type="sldNum" sz="quarter" idx="12"/>
          </p:nvPr>
        </p:nvSpPr>
        <p:spPr/>
        <p:txBody>
          <a:bodyPr/>
          <a:lstStyle>
            <a:lvl1pPr>
              <a:defRPr/>
            </a:lvl1pPr>
          </a:lstStyle>
          <a:p>
            <a:fld id="{34FE8FD7-01FB-6047-91F3-A8DC4EAC9DAA}" type="slidenum">
              <a:rPr lang="en-US"/>
              <a:pPr/>
              <a:t>‹N°›</a:t>
            </a:fld>
            <a:endParaRPr lang="en-US"/>
          </a:p>
        </p:txBody>
      </p:sp>
    </p:spTree>
    <p:extLst>
      <p:ext uri="{BB962C8B-B14F-4D97-AF65-F5344CB8AC3E}">
        <p14:creationId xmlns:p14="http://schemas.microsoft.com/office/powerpoint/2010/main" val="4091113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endParaRPr lang="en-US"/>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3"/>
          <p:cNvSpPr>
            <a:spLocks noGrp="1"/>
          </p:cNvSpPr>
          <p:nvPr>
            <p:ph type="dt" sz="half" idx="10"/>
          </p:nvPr>
        </p:nvSpPr>
        <p:spPr/>
        <p:txBody>
          <a:bodyPr/>
          <a:lstStyle>
            <a:lvl1pPr>
              <a:defRPr/>
            </a:lvl1pPr>
          </a:lstStyle>
          <a:p>
            <a:fld id="{EEE24EC2-FDA0-DB45-8A80-298D598D3EDA}" type="datetimeFigureOut">
              <a:rPr lang="en-US"/>
              <a:pPr/>
              <a:t>9/25/2023</a:t>
            </a:fld>
            <a:endParaRPr lang="en-US"/>
          </a:p>
        </p:txBody>
      </p:sp>
      <p:sp>
        <p:nvSpPr>
          <p:cNvPr id="8" name="Espace réservé du pied de page 4"/>
          <p:cNvSpPr>
            <a:spLocks noGrp="1"/>
          </p:cNvSpPr>
          <p:nvPr>
            <p:ph type="ftr" sz="quarter" idx="11"/>
          </p:nvPr>
        </p:nvSpPr>
        <p:spPr/>
        <p:txBody>
          <a:bodyPr/>
          <a:lstStyle>
            <a:lvl1pPr>
              <a:defRPr/>
            </a:lvl1pPr>
          </a:lstStyle>
          <a:p>
            <a:pPr>
              <a:defRPr/>
            </a:pPr>
            <a:endParaRPr lang="en-US"/>
          </a:p>
        </p:txBody>
      </p:sp>
      <p:sp>
        <p:nvSpPr>
          <p:cNvPr id="9" name="Espace réservé du numéro de diapositive 5"/>
          <p:cNvSpPr>
            <a:spLocks noGrp="1"/>
          </p:cNvSpPr>
          <p:nvPr>
            <p:ph type="sldNum" sz="quarter" idx="12"/>
          </p:nvPr>
        </p:nvSpPr>
        <p:spPr/>
        <p:txBody>
          <a:bodyPr/>
          <a:lstStyle>
            <a:lvl1pPr>
              <a:defRPr/>
            </a:lvl1pPr>
          </a:lstStyle>
          <a:p>
            <a:fld id="{43216B5A-6C24-3243-8012-2A20830DC083}" type="slidenum">
              <a:rPr lang="en-US"/>
              <a:pPr/>
              <a:t>‹N°›</a:t>
            </a:fld>
            <a:endParaRPr lang="en-US"/>
          </a:p>
        </p:txBody>
      </p:sp>
    </p:spTree>
    <p:extLst>
      <p:ext uri="{BB962C8B-B14F-4D97-AF65-F5344CB8AC3E}">
        <p14:creationId xmlns:p14="http://schemas.microsoft.com/office/powerpoint/2010/main" val="766624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e la date 3"/>
          <p:cNvSpPr>
            <a:spLocks noGrp="1"/>
          </p:cNvSpPr>
          <p:nvPr>
            <p:ph type="dt" sz="half" idx="10"/>
          </p:nvPr>
        </p:nvSpPr>
        <p:spPr/>
        <p:txBody>
          <a:bodyPr/>
          <a:lstStyle>
            <a:lvl1pPr>
              <a:defRPr/>
            </a:lvl1pPr>
          </a:lstStyle>
          <a:p>
            <a:fld id="{BA6B1265-9658-E340-AB67-6B26F6BAC30A}" type="datetimeFigureOut">
              <a:rPr lang="en-US"/>
              <a:pPr/>
              <a:t>9/25/2023</a:t>
            </a:fld>
            <a:endParaRPr lang="en-US"/>
          </a:p>
        </p:txBody>
      </p:sp>
      <p:sp>
        <p:nvSpPr>
          <p:cNvPr id="4" name="Espace réservé du pied de page 4"/>
          <p:cNvSpPr>
            <a:spLocks noGrp="1"/>
          </p:cNvSpPr>
          <p:nvPr>
            <p:ph type="ftr" sz="quarter" idx="11"/>
          </p:nvPr>
        </p:nvSpPr>
        <p:spPr/>
        <p:txBody>
          <a:bodyPr/>
          <a:lstStyle>
            <a:lvl1pPr>
              <a:defRPr/>
            </a:lvl1pPr>
          </a:lstStyle>
          <a:p>
            <a:pPr>
              <a:defRPr/>
            </a:pPr>
            <a:endParaRPr lang="en-US"/>
          </a:p>
        </p:txBody>
      </p:sp>
      <p:sp>
        <p:nvSpPr>
          <p:cNvPr id="5" name="Espace réservé du numéro de diapositive 5"/>
          <p:cNvSpPr>
            <a:spLocks noGrp="1"/>
          </p:cNvSpPr>
          <p:nvPr>
            <p:ph type="sldNum" sz="quarter" idx="12"/>
          </p:nvPr>
        </p:nvSpPr>
        <p:spPr/>
        <p:txBody>
          <a:bodyPr/>
          <a:lstStyle>
            <a:lvl1pPr>
              <a:defRPr/>
            </a:lvl1pPr>
          </a:lstStyle>
          <a:p>
            <a:fld id="{D51139FF-F582-7E4E-A88B-3ECDC8AAB745}" type="slidenum">
              <a:rPr lang="en-US"/>
              <a:pPr/>
              <a:t>‹N°›</a:t>
            </a:fld>
            <a:endParaRPr lang="en-US"/>
          </a:p>
        </p:txBody>
      </p:sp>
    </p:spTree>
    <p:extLst>
      <p:ext uri="{BB962C8B-B14F-4D97-AF65-F5344CB8AC3E}">
        <p14:creationId xmlns:p14="http://schemas.microsoft.com/office/powerpoint/2010/main" val="7653798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fld id="{4192B714-ACBF-8149-AA1B-9AE1DA7A42B0}" type="datetimeFigureOut">
              <a:rPr lang="en-US"/>
              <a:pPr/>
              <a:t>9/25/2023</a:t>
            </a:fld>
            <a:endParaRPr lang="en-US"/>
          </a:p>
        </p:txBody>
      </p:sp>
      <p:sp>
        <p:nvSpPr>
          <p:cNvPr id="3" name="Espace réservé du pied de page 4"/>
          <p:cNvSpPr>
            <a:spLocks noGrp="1"/>
          </p:cNvSpPr>
          <p:nvPr>
            <p:ph type="ftr" sz="quarter" idx="11"/>
          </p:nvPr>
        </p:nvSpPr>
        <p:spPr/>
        <p:txBody>
          <a:bodyPr/>
          <a:lstStyle>
            <a:lvl1pPr>
              <a:defRPr/>
            </a:lvl1pPr>
          </a:lstStyle>
          <a:p>
            <a:pPr>
              <a:defRPr/>
            </a:pPr>
            <a:endParaRPr lang="en-US"/>
          </a:p>
        </p:txBody>
      </p:sp>
      <p:sp>
        <p:nvSpPr>
          <p:cNvPr id="4" name="Espace réservé du numéro de diapositive 5"/>
          <p:cNvSpPr>
            <a:spLocks noGrp="1"/>
          </p:cNvSpPr>
          <p:nvPr>
            <p:ph type="sldNum" sz="quarter" idx="12"/>
          </p:nvPr>
        </p:nvSpPr>
        <p:spPr/>
        <p:txBody>
          <a:bodyPr/>
          <a:lstStyle>
            <a:lvl1pPr>
              <a:defRPr/>
            </a:lvl1pPr>
          </a:lstStyle>
          <a:p>
            <a:fld id="{A56F0691-4F01-E740-8155-005A50D59D17}" type="slidenum">
              <a:rPr lang="en-US"/>
              <a:pPr/>
              <a:t>‹N°›</a:t>
            </a:fld>
            <a:endParaRPr lang="en-US"/>
          </a:p>
        </p:txBody>
      </p:sp>
    </p:spTree>
    <p:extLst>
      <p:ext uri="{BB962C8B-B14F-4D97-AF65-F5344CB8AC3E}">
        <p14:creationId xmlns:p14="http://schemas.microsoft.com/office/powerpoint/2010/main" val="1130183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endParaRPr lang="en-US"/>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fld id="{9213C23E-5389-6E4F-885D-7EDC88F1556A}" type="datetimeFigureOut">
              <a:rPr lang="en-US"/>
              <a:pPr/>
              <a:t>9/25/2023</a:t>
            </a:fld>
            <a:endParaRPr lang="en-US"/>
          </a:p>
        </p:txBody>
      </p:sp>
      <p:sp>
        <p:nvSpPr>
          <p:cNvPr id="6" name="Espace réservé du pied de page 4"/>
          <p:cNvSpPr>
            <a:spLocks noGrp="1"/>
          </p:cNvSpPr>
          <p:nvPr>
            <p:ph type="ftr" sz="quarter" idx="11"/>
          </p:nvPr>
        </p:nvSpPr>
        <p:spPr/>
        <p:txBody>
          <a:bodyPr/>
          <a:lstStyle>
            <a:lvl1pPr>
              <a:defRPr/>
            </a:lvl1pPr>
          </a:lstStyle>
          <a:p>
            <a:pPr>
              <a:defRPr/>
            </a:pPr>
            <a:endParaRPr lang="en-US"/>
          </a:p>
        </p:txBody>
      </p:sp>
      <p:sp>
        <p:nvSpPr>
          <p:cNvPr id="7" name="Espace réservé du numéro de diapositive 5"/>
          <p:cNvSpPr>
            <a:spLocks noGrp="1"/>
          </p:cNvSpPr>
          <p:nvPr>
            <p:ph type="sldNum" sz="quarter" idx="12"/>
          </p:nvPr>
        </p:nvSpPr>
        <p:spPr/>
        <p:txBody>
          <a:bodyPr/>
          <a:lstStyle>
            <a:lvl1pPr>
              <a:defRPr/>
            </a:lvl1pPr>
          </a:lstStyle>
          <a:p>
            <a:fld id="{45ADC215-532A-C149-8BA5-DC08A4E0256E}" type="slidenum">
              <a:rPr lang="en-US"/>
              <a:pPr/>
              <a:t>‹N°›</a:t>
            </a:fld>
            <a:endParaRPr lang="en-US"/>
          </a:p>
        </p:txBody>
      </p:sp>
    </p:spTree>
    <p:extLst>
      <p:ext uri="{BB962C8B-B14F-4D97-AF65-F5344CB8AC3E}">
        <p14:creationId xmlns:p14="http://schemas.microsoft.com/office/powerpoint/2010/main" val="736961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fld id="{2687159B-683E-824E-878A-7E16ED9F12FE}" type="datetimeFigureOut">
              <a:rPr lang="en-US"/>
              <a:pPr/>
              <a:t>9/25/2023</a:t>
            </a:fld>
            <a:endParaRPr lang="en-US"/>
          </a:p>
        </p:txBody>
      </p:sp>
      <p:sp>
        <p:nvSpPr>
          <p:cNvPr id="6" name="Espace réservé du pied de page 4"/>
          <p:cNvSpPr>
            <a:spLocks noGrp="1"/>
          </p:cNvSpPr>
          <p:nvPr>
            <p:ph type="ftr" sz="quarter" idx="11"/>
          </p:nvPr>
        </p:nvSpPr>
        <p:spPr/>
        <p:txBody>
          <a:bodyPr/>
          <a:lstStyle>
            <a:lvl1pPr>
              <a:defRPr/>
            </a:lvl1pPr>
          </a:lstStyle>
          <a:p>
            <a:pPr>
              <a:defRPr/>
            </a:pPr>
            <a:endParaRPr lang="en-US"/>
          </a:p>
        </p:txBody>
      </p:sp>
      <p:sp>
        <p:nvSpPr>
          <p:cNvPr id="7" name="Espace réservé du numéro de diapositive 5"/>
          <p:cNvSpPr>
            <a:spLocks noGrp="1"/>
          </p:cNvSpPr>
          <p:nvPr>
            <p:ph type="sldNum" sz="quarter" idx="12"/>
          </p:nvPr>
        </p:nvSpPr>
        <p:spPr/>
        <p:txBody>
          <a:bodyPr/>
          <a:lstStyle>
            <a:lvl1pPr>
              <a:defRPr/>
            </a:lvl1pPr>
          </a:lstStyle>
          <a:p>
            <a:fld id="{FBCBA679-7A7F-AC4E-B107-217FE90787D2}" type="slidenum">
              <a:rPr lang="en-US"/>
              <a:pPr/>
              <a:t>‹N°›</a:t>
            </a:fld>
            <a:endParaRPr lang="en-US"/>
          </a:p>
        </p:txBody>
      </p:sp>
    </p:spTree>
    <p:extLst>
      <p:ext uri="{BB962C8B-B14F-4D97-AF65-F5344CB8AC3E}">
        <p14:creationId xmlns:p14="http://schemas.microsoft.com/office/powerpoint/2010/main" val="2196428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lvl1pPr>
              <a:defRPr/>
            </a:lvl1pPr>
          </a:lstStyle>
          <a:p>
            <a:fld id="{76AB4631-698C-0045-86A9-E85B8D0AEAD9}" type="datetimeFigureOut">
              <a:rPr lang="en-US"/>
              <a:pPr/>
              <a:t>9/25/2023</a:t>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D3FB07FF-AFC7-3E46-8DD2-ACF8BB5D852E}" type="slidenum">
              <a:rPr lang="en-US"/>
              <a:pPr/>
              <a:t>‹N°›</a:t>
            </a:fld>
            <a:endParaRPr lang="en-US"/>
          </a:p>
        </p:txBody>
      </p:sp>
    </p:spTree>
    <p:extLst>
      <p:ext uri="{BB962C8B-B14F-4D97-AF65-F5344CB8AC3E}">
        <p14:creationId xmlns:p14="http://schemas.microsoft.com/office/powerpoint/2010/main" val="4074692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lvl1pPr>
              <a:defRPr/>
            </a:lvl1pPr>
          </a:lstStyle>
          <a:p>
            <a:fld id="{CD9F744F-A4BF-8346-BDC9-EF7FC1323B21}" type="datetimeFigureOut">
              <a:rPr lang="en-US"/>
              <a:pPr/>
              <a:t>9/25/2023</a:t>
            </a:fld>
            <a:endParaRPr lang="en-US"/>
          </a:p>
        </p:txBody>
      </p:sp>
      <p:sp>
        <p:nvSpPr>
          <p:cNvPr id="5" name="Espace réservé du pied de page 4"/>
          <p:cNvSpPr>
            <a:spLocks noGrp="1"/>
          </p:cNvSpPr>
          <p:nvPr>
            <p:ph type="ftr" sz="quarter" idx="11"/>
          </p:nvPr>
        </p:nvSpPr>
        <p:spPr/>
        <p:txBody>
          <a:bodyPr/>
          <a:lstStyle>
            <a:lvl1pPr>
              <a:defRPr/>
            </a:lvl1pPr>
          </a:lstStyle>
          <a:p>
            <a:pPr>
              <a:defRPr/>
            </a:pPr>
            <a:endParaRPr lang="en-US"/>
          </a:p>
        </p:txBody>
      </p:sp>
      <p:sp>
        <p:nvSpPr>
          <p:cNvPr id="6" name="Espace réservé du numéro de diapositive 5"/>
          <p:cNvSpPr>
            <a:spLocks noGrp="1"/>
          </p:cNvSpPr>
          <p:nvPr>
            <p:ph type="sldNum" sz="quarter" idx="12"/>
          </p:nvPr>
        </p:nvSpPr>
        <p:spPr/>
        <p:txBody>
          <a:bodyPr/>
          <a:lstStyle>
            <a:lvl1pPr>
              <a:defRPr/>
            </a:lvl1pPr>
          </a:lstStyle>
          <a:p>
            <a:fld id="{9CDDCA8E-D198-AF49-B55C-7966A8C8E1EC}" type="slidenum">
              <a:rPr lang="en-US"/>
              <a:pPr/>
              <a:t>‹N°›</a:t>
            </a:fld>
            <a:endParaRPr lang="en-US"/>
          </a:p>
        </p:txBody>
      </p:sp>
    </p:spTree>
    <p:extLst>
      <p:ext uri="{BB962C8B-B14F-4D97-AF65-F5344CB8AC3E}">
        <p14:creationId xmlns:p14="http://schemas.microsoft.com/office/powerpoint/2010/main" val="32240543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5867400" cy="6858000"/>
            <a:chOff x="0" y="0"/>
            <a:chExt cx="3696" cy="4320"/>
          </a:xfrm>
        </p:grpSpPr>
        <p:sp>
          <p:nvSpPr>
            <p:cNvPr id="5" name="Rectangle 3"/>
            <p:cNvSpPr>
              <a:spLocks noChangeArrowheads="1"/>
            </p:cNvSpPr>
            <p:nvPr/>
          </p:nvSpPr>
          <p:spPr bwMode="auto">
            <a:xfrm>
              <a:off x="0" y="0"/>
              <a:ext cx="2880" cy="4320"/>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eaLnBrk="1" hangingPunct="1">
                <a:spcBef>
                  <a:spcPct val="0"/>
                </a:spcBef>
                <a:buClrTx/>
                <a:buSzTx/>
                <a:buFontTx/>
                <a:buNone/>
                <a:defRPr/>
              </a:pPr>
              <a:endParaRPr kumimoji="1" lang="en-GB" altLang="en-US" sz="2400">
                <a:solidFill>
                  <a:schemeClr val="tx1"/>
                </a:solidFill>
                <a:latin typeface="Times New Roman" pitchFamily="18" charset="0"/>
                <a:ea typeface="+mn-ea"/>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eaLnBrk="1" hangingPunct="1">
                <a:spcBef>
                  <a:spcPct val="0"/>
                </a:spcBef>
                <a:buClrTx/>
                <a:buSzTx/>
                <a:buFontTx/>
                <a:buNone/>
                <a:defRPr/>
              </a:pPr>
              <a:endParaRPr kumimoji="1" lang="en-GB" altLang="en-US" sz="2400">
                <a:solidFill>
                  <a:schemeClr val="tx1"/>
                </a:solidFill>
                <a:latin typeface="Times New Roman" pitchFamily="18" charset="0"/>
                <a:ea typeface="+mn-ea"/>
              </a:endParaRPr>
            </a:p>
          </p:txBody>
        </p:sp>
      </p:grpSp>
      <p:grpSp>
        <p:nvGrpSpPr>
          <p:cNvPr id="7" name="Group 5"/>
          <p:cNvGrpSpPr>
            <a:grpSpLocks/>
          </p:cNvGrpSpPr>
          <p:nvPr/>
        </p:nvGrpSpPr>
        <p:grpSpPr bwMode="auto">
          <a:xfrm>
            <a:off x="3632200" y="4889500"/>
            <a:ext cx="4876800" cy="319088"/>
            <a:chOff x="2288" y="3080"/>
            <a:chExt cx="3072" cy="201"/>
          </a:xfrm>
        </p:grpSpPr>
        <p:sp>
          <p:nvSpPr>
            <p:cNvPr id="8" name="AutoShape 6"/>
            <p:cNvSpPr>
              <a:spLocks noChangeArrowheads="1"/>
            </p:cNvSpPr>
            <p:nvPr/>
          </p:nvSpPr>
          <p:spPr bwMode="auto">
            <a:xfrm flipH="1">
              <a:off x="2288" y="3080"/>
              <a:ext cx="2914" cy="200"/>
            </a:xfrm>
            <a:prstGeom prst="roundRect">
              <a:avLst>
                <a:gd name="adj" fmla="val 0"/>
              </a:avLst>
            </a:prstGeom>
            <a:solidFill>
              <a:schemeClr va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sp>
          <p:nvSpPr>
            <p:cNvPr id="9" name="AutoShape 7"/>
            <p:cNvSpPr>
              <a:spLocks noChangeArrowheads="1"/>
            </p:cNvSpPr>
            <p:nvPr/>
          </p:nvSpPr>
          <p:spPr bwMode="auto">
            <a:xfrm>
              <a:off x="5196" y="3080"/>
              <a:ext cx="164" cy="201"/>
            </a:xfrm>
            <a:prstGeom prst="flowChartDelay">
              <a:avLst/>
            </a:prstGeom>
            <a:solidFill>
              <a:schemeClr va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grpSp>
      <p:sp>
        <p:nvSpPr>
          <p:cNvPr id="535560" name="Rectangle 8"/>
          <p:cNvSpPr>
            <a:spLocks noGrp="1" noChangeArrowheads="1"/>
          </p:cNvSpPr>
          <p:nvPr>
            <p:ph type="subTitle" idx="1"/>
          </p:nvPr>
        </p:nvSpPr>
        <p:spPr>
          <a:xfrm>
            <a:off x="4673600" y="2927350"/>
            <a:ext cx="4013200" cy="1822450"/>
          </a:xfrm>
        </p:spPr>
        <p:txBody>
          <a:bodyPr anchor="b"/>
          <a:lstStyle>
            <a:lvl1pPr marL="0" indent="0">
              <a:buFont typeface="Wingdings" pitchFamily="2" charset="2"/>
              <a:buNone/>
              <a:defRPr>
                <a:solidFill>
                  <a:schemeClr val="tx2"/>
                </a:solidFill>
              </a:defRPr>
            </a:lvl1pPr>
          </a:lstStyle>
          <a:p>
            <a:pPr lvl="0"/>
            <a:r>
              <a:rPr lang="fr-FR" noProof="0"/>
              <a:t>Cliquez pour modifier le style des sous-titres du masque</a:t>
            </a:r>
          </a:p>
        </p:txBody>
      </p:sp>
      <p:sp>
        <p:nvSpPr>
          <p:cNvPr id="535564"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pPr lvl="0"/>
            <a:r>
              <a:rPr lang="fr-FR" noProof="0"/>
              <a:t>Cliquez pour modifier le style du titre</a:t>
            </a:r>
          </a:p>
        </p:txBody>
      </p:sp>
      <p:sp>
        <p:nvSpPr>
          <p:cNvPr id="10" name="Rectangle 9"/>
          <p:cNvSpPr>
            <a:spLocks noGrp="1" noChangeArrowheads="1"/>
          </p:cNvSpPr>
          <p:nvPr>
            <p:ph type="dt" sz="quarter" idx="10"/>
          </p:nvPr>
        </p:nvSpPr>
        <p:spPr/>
        <p:txBody>
          <a:bodyPr/>
          <a:lstStyle>
            <a:lvl1pPr>
              <a:defRPr>
                <a:solidFill>
                  <a:schemeClr val="bg1"/>
                </a:solidFill>
              </a:defRPr>
            </a:lvl1pPr>
          </a:lstStyle>
          <a:p>
            <a:pPr>
              <a:defRPr/>
            </a:pPr>
            <a:endParaRPr lang="fr-FR"/>
          </a:p>
        </p:txBody>
      </p:sp>
      <p:sp>
        <p:nvSpPr>
          <p:cNvPr id="11" name="Rectangle 10"/>
          <p:cNvSpPr>
            <a:spLocks noGrp="1" noChangeArrowheads="1"/>
          </p:cNvSpPr>
          <p:nvPr>
            <p:ph type="ftr" sz="quarter" idx="11"/>
          </p:nvPr>
        </p:nvSpPr>
        <p:spPr/>
        <p:txBody>
          <a:bodyPr/>
          <a:lstStyle>
            <a:lvl1pPr algn="r">
              <a:defRPr/>
            </a:lvl1pPr>
          </a:lstStyle>
          <a:p>
            <a:pPr>
              <a:defRPr/>
            </a:pPr>
            <a:endParaRPr lang="fr-FR"/>
          </a:p>
        </p:txBody>
      </p:sp>
      <p:sp>
        <p:nvSpPr>
          <p:cNvPr id="12" name="Rectangle 11"/>
          <p:cNvSpPr>
            <a:spLocks noGrp="1" noChangeArrowheads="1"/>
          </p:cNvSpPr>
          <p:nvPr>
            <p:ph type="sldNum" sz="quarter" idx="12"/>
          </p:nvPr>
        </p:nvSpPr>
        <p:spPr>
          <a:xfrm>
            <a:off x="76200" y="6248400"/>
            <a:ext cx="587375" cy="488950"/>
          </a:xfrm>
        </p:spPr>
        <p:txBody>
          <a:bodyPr anchorCtr="0"/>
          <a:lstStyle>
            <a:lvl1pPr>
              <a:defRPr/>
            </a:lvl1pPr>
          </a:lstStyle>
          <a:p>
            <a:fld id="{AD49E8A2-2A82-7B43-BA81-67F909C48401}" type="slidenum">
              <a:rPr lang="fr-FR"/>
              <a:pPr/>
              <a:t>‹N°›</a:t>
            </a:fld>
            <a:endParaRPr lang="fr-FR"/>
          </a:p>
        </p:txBody>
      </p:sp>
    </p:spTree>
    <p:extLst>
      <p:ext uri="{BB962C8B-B14F-4D97-AF65-F5344CB8AC3E}">
        <p14:creationId xmlns:p14="http://schemas.microsoft.com/office/powerpoint/2010/main" val="30191511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fr-FR"/>
          </a:p>
        </p:txBody>
      </p:sp>
      <p:sp>
        <p:nvSpPr>
          <p:cNvPr id="5" name="Rectangle 12"/>
          <p:cNvSpPr>
            <a:spLocks noGrp="1" noChangeArrowheads="1"/>
          </p:cNvSpPr>
          <p:nvPr>
            <p:ph type="ftr" sz="quarter" idx="11"/>
          </p:nvPr>
        </p:nvSpPr>
        <p:spPr>
          <a:ln/>
        </p:spPr>
        <p:txBody>
          <a:bodyPr/>
          <a:lstStyle>
            <a:lvl1pPr>
              <a:defRPr/>
            </a:lvl1pPr>
          </a:lstStyle>
          <a:p>
            <a:pPr>
              <a:defRPr/>
            </a:pPr>
            <a:endParaRPr lang="fr-FR"/>
          </a:p>
        </p:txBody>
      </p:sp>
      <p:sp>
        <p:nvSpPr>
          <p:cNvPr id="6" name="Rectangle 13"/>
          <p:cNvSpPr>
            <a:spLocks noGrp="1" noChangeArrowheads="1"/>
          </p:cNvSpPr>
          <p:nvPr>
            <p:ph type="sldNum" sz="quarter" idx="12"/>
          </p:nvPr>
        </p:nvSpPr>
        <p:spPr>
          <a:ln/>
        </p:spPr>
        <p:txBody>
          <a:bodyPr/>
          <a:lstStyle>
            <a:lvl1pPr>
              <a:defRPr/>
            </a:lvl1pPr>
          </a:lstStyle>
          <a:p>
            <a:fld id="{F14FC8E9-CE98-E749-AE4F-C557F5F21765}" type="slidenum">
              <a:rPr lang="fr-FR"/>
              <a:pPr/>
              <a:t>‹N°›</a:t>
            </a:fld>
            <a:endParaRPr lang="fr-FR"/>
          </a:p>
        </p:txBody>
      </p:sp>
    </p:spTree>
    <p:extLst>
      <p:ext uri="{BB962C8B-B14F-4D97-AF65-F5344CB8AC3E}">
        <p14:creationId xmlns:p14="http://schemas.microsoft.com/office/powerpoint/2010/main" val="33263813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US"/>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Rectangle 11"/>
          <p:cNvSpPr>
            <a:spLocks noGrp="1" noChangeArrowheads="1"/>
          </p:cNvSpPr>
          <p:nvPr>
            <p:ph type="dt" sz="half" idx="10"/>
          </p:nvPr>
        </p:nvSpPr>
        <p:spPr>
          <a:ln/>
        </p:spPr>
        <p:txBody>
          <a:bodyPr/>
          <a:lstStyle>
            <a:lvl1pPr>
              <a:defRPr/>
            </a:lvl1pPr>
          </a:lstStyle>
          <a:p>
            <a:pPr>
              <a:defRPr/>
            </a:pPr>
            <a:endParaRPr lang="fr-FR"/>
          </a:p>
        </p:txBody>
      </p:sp>
      <p:sp>
        <p:nvSpPr>
          <p:cNvPr id="5" name="Rectangle 12"/>
          <p:cNvSpPr>
            <a:spLocks noGrp="1" noChangeArrowheads="1"/>
          </p:cNvSpPr>
          <p:nvPr>
            <p:ph type="ftr" sz="quarter" idx="11"/>
          </p:nvPr>
        </p:nvSpPr>
        <p:spPr>
          <a:ln/>
        </p:spPr>
        <p:txBody>
          <a:bodyPr/>
          <a:lstStyle>
            <a:lvl1pPr>
              <a:defRPr/>
            </a:lvl1pPr>
          </a:lstStyle>
          <a:p>
            <a:pPr>
              <a:defRPr/>
            </a:pPr>
            <a:endParaRPr lang="fr-FR"/>
          </a:p>
        </p:txBody>
      </p:sp>
      <p:sp>
        <p:nvSpPr>
          <p:cNvPr id="6" name="Rectangle 13"/>
          <p:cNvSpPr>
            <a:spLocks noGrp="1" noChangeArrowheads="1"/>
          </p:cNvSpPr>
          <p:nvPr>
            <p:ph type="sldNum" sz="quarter" idx="12"/>
          </p:nvPr>
        </p:nvSpPr>
        <p:spPr>
          <a:ln/>
        </p:spPr>
        <p:txBody>
          <a:bodyPr/>
          <a:lstStyle>
            <a:lvl1pPr>
              <a:defRPr/>
            </a:lvl1pPr>
          </a:lstStyle>
          <a:p>
            <a:fld id="{F3DA2C21-717B-EA49-BCB0-D5EA71619B58}" type="slidenum">
              <a:rPr lang="fr-FR"/>
              <a:pPr/>
              <a:t>‹N°›</a:t>
            </a:fld>
            <a:endParaRPr lang="fr-FR"/>
          </a:p>
        </p:txBody>
      </p:sp>
    </p:spTree>
    <p:extLst>
      <p:ext uri="{BB962C8B-B14F-4D97-AF65-F5344CB8AC3E}">
        <p14:creationId xmlns:p14="http://schemas.microsoft.com/office/powerpoint/2010/main" val="33095072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p:nvPr>
        </p:nvSpPr>
        <p:spPr>
          <a:xfrm>
            <a:off x="838200" y="2362200"/>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760913" y="2362200"/>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Rectangle 11"/>
          <p:cNvSpPr>
            <a:spLocks noGrp="1" noChangeArrowheads="1"/>
          </p:cNvSpPr>
          <p:nvPr>
            <p:ph type="dt" sz="half" idx="10"/>
          </p:nvPr>
        </p:nvSpPr>
        <p:spPr>
          <a:ln/>
        </p:spPr>
        <p:txBody>
          <a:bodyPr/>
          <a:lstStyle>
            <a:lvl1pPr>
              <a:defRPr/>
            </a:lvl1pPr>
          </a:lstStyle>
          <a:p>
            <a:pPr>
              <a:defRPr/>
            </a:pPr>
            <a:endParaRPr lang="fr-FR"/>
          </a:p>
        </p:txBody>
      </p:sp>
      <p:sp>
        <p:nvSpPr>
          <p:cNvPr id="6" name="Rectangle 12"/>
          <p:cNvSpPr>
            <a:spLocks noGrp="1" noChangeArrowheads="1"/>
          </p:cNvSpPr>
          <p:nvPr>
            <p:ph type="ftr" sz="quarter" idx="11"/>
          </p:nvPr>
        </p:nvSpPr>
        <p:spPr>
          <a:ln/>
        </p:spPr>
        <p:txBody>
          <a:bodyPr/>
          <a:lstStyle>
            <a:lvl1pPr>
              <a:defRPr/>
            </a:lvl1pPr>
          </a:lstStyle>
          <a:p>
            <a:pPr>
              <a:defRPr/>
            </a:pPr>
            <a:endParaRPr lang="fr-FR"/>
          </a:p>
        </p:txBody>
      </p:sp>
      <p:sp>
        <p:nvSpPr>
          <p:cNvPr id="7" name="Rectangle 13"/>
          <p:cNvSpPr>
            <a:spLocks noGrp="1" noChangeArrowheads="1"/>
          </p:cNvSpPr>
          <p:nvPr>
            <p:ph type="sldNum" sz="quarter" idx="12"/>
          </p:nvPr>
        </p:nvSpPr>
        <p:spPr>
          <a:ln/>
        </p:spPr>
        <p:txBody>
          <a:bodyPr/>
          <a:lstStyle>
            <a:lvl1pPr>
              <a:defRPr/>
            </a:lvl1pPr>
          </a:lstStyle>
          <a:p>
            <a:fld id="{C610EC4E-EE35-C047-9F98-1371F8059A21}" type="slidenum">
              <a:rPr lang="fr-FR"/>
              <a:pPr/>
              <a:t>‹N°›</a:t>
            </a:fld>
            <a:endParaRPr lang="fr-FR"/>
          </a:p>
        </p:txBody>
      </p:sp>
    </p:spTree>
    <p:extLst>
      <p:ext uri="{BB962C8B-B14F-4D97-AF65-F5344CB8AC3E}">
        <p14:creationId xmlns:p14="http://schemas.microsoft.com/office/powerpoint/2010/main" val="31695670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en-US"/>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Rectangle 11"/>
          <p:cNvSpPr>
            <a:spLocks noGrp="1" noChangeArrowheads="1"/>
          </p:cNvSpPr>
          <p:nvPr>
            <p:ph type="dt" sz="half" idx="10"/>
          </p:nvPr>
        </p:nvSpPr>
        <p:spPr>
          <a:ln/>
        </p:spPr>
        <p:txBody>
          <a:bodyPr/>
          <a:lstStyle>
            <a:lvl1pPr>
              <a:defRPr/>
            </a:lvl1pPr>
          </a:lstStyle>
          <a:p>
            <a:pPr>
              <a:defRPr/>
            </a:pPr>
            <a:endParaRPr lang="fr-FR"/>
          </a:p>
        </p:txBody>
      </p:sp>
      <p:sp>
        <p:nvSpPr>
          <p:cNvPr id="8" name="Rectangle 12"/>
          <p:cNvSpPr>
            <a:spLocks noGrp="1" noChangeArrowheads="1"/>
          </p:cNvSpPr>
          <p:nvPr>
            <p:ph type="ftr" sz="quarter" idx="11"/>
          </p:nvPr>
        </p:nvSpPr>
        <p:spPr>
          <a:ln/>
        </p:spPr>
        <p:txBody>
          <a:bodyPr/>
          <a:lstStyle>
            <a:lvl1pPr>
              <a:defRPr/>
            </a:lvl1pPr>
          </a:lstStyle>
          <a:p>
            <a:pPr>
              <a:defRPr/>
            </a:pPr>
            <a:endParaRPr lang="fr-FR"/>
          </a:p>
        </p:txBody>
      </p:sp>
      <p:sp>
        <p:nvSpPr>
          <p:cNvPr id="9" name="Rectangle 13"/>
          <p:cNvSpPr>
            <a:spLocks noGrp="1" noChangeArrowheads="1"/>
          </p:cNvSpPr>
          <p:nvPr>
            <p:ph type="sldNum" sz="quarter" idx="12"/>
          </p:nvPr>
        </p:nvSpPr>
        <p:spPr>
          <a:ln/>
        </p:spPr>
        <p:txBody>
          <a:bodyPr/>
          <a:lstStyle>
            <a:lvl1pPr>
              <a:defRPr/>
            </a:lvl1pPr>
          </a:lstStyle>
          <a:p>
            <a:fld id="{4155590F-C747-9441-B5B8-8BF11ED4D7DF}" type="slidenum">
              <a:rPr lang="fr-FR"/>
              <a:pPr/>
              <a:t>‹N°›</a:t>
            </a:fld>
            <a:endParaRPr lang="fr-FR"/>
          </a:p>
        </p:txBody>
      </p:sp>
    </p:spTree>
    <p:extLst>
      <p:ext uri="{BB962C8B-B14F-4D97-AF65-F5344CB8AC3E}">
        <p14:creationId xmlns:p14="http://schemas.microsoft.com/office/powerpoint/2010/main" val="2356908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Rectangle 11"/>
          <p:cNvSpPr>
            <a:spLocks noGrp="1" noChangeArrowheads="1"/>
          </p:cNvSpPr>
          <p:nvPr>
            <p:ph type="dt" sz="half" idx="10"/>
          </p:nvPr>
        </p:nvSpPr>
        <p:spPr>
          <a:ln/>
        </p:spPr>
        <p:txBody>
          <a:bodyPr/>
          <a:lstStyle>
            <a:lvl1pPr>
              <a:defRPr/>
            </a:lvl1pPr>
          </a:lstStyle>
          <a:p>
            <a:pPr>
              <a:defRPr/>
            </a:pPr>
            <a:endParaRPr lang="fr-FR"/>
          </a:p>
        </p:txBody>
      </p:sp>
      <p:sp>
        <p:nvSpPr>
          <p:cNvPr id="4" name="Rectangle 12"/>
          <p:cNvSpPr>
            <a:spLocks noGrp="1" noChangeArrowheads="1"/>
          </p:cNvSpPr>
          <p:nvPr>
            <p:ph type="ftr" sz="quarter" idx="11"/>
          </p:nvPr>
        </p:nvSpPr>
        <p:spPr>
          <a:ln/>
        </p:spPr>
        <p:txBody>
          <a:bodyPr/>
          <a:lstStyle>
            <a:lvl1pPr>
              <a:defRPr/>
            </a:lvl1pPr>
          </a:lstStyle>
          <a:p>
            <a:pPr>
              <a:defRPr/>
            </a:pPr>
            <a:endParaRPr lang="fr-FR"/>
          </a:p>
        </p:txBody>
      </p:sp>
      <p:sp>
        <p:nvSpPr>
          <p:cNvPr id="5" name="Rectangle 13"/>
          <p:cNvSpPr>
            <a:spLocks noGrp="1" noChangeArrowheads="1"/>
          </p:cNvSpPr>
          <p:nvPr>
            <p:ph type="sldNum" sz="quarter" idx="12"/>
          </p:nvPr>
        </p:nvSpPr>
        <p:spPr>
          <a:ln/>
        </p:spPr>
        <p:txBody>
          <a:bodyPr/>
          <a:lstStyle>
            <a:lvl1pPr>
              <a:defRPr/>
            </a:lvl1pPr>
          </a:lstStyle>
          <a:p>
            <a:fld id="{6F562F5A-EA7A-0141-838B-4883AF1D3239}" type="slidenum">
              <a:rPr lang="fr-FR"/>
              <a:pPr/>
              <a:t>‹N°›</a:t>
            </a:fld>
            <a:endParaRPr lang="fr-FR"/>
          </a:p>
        </p:txBody>
      </p:sp>
    </p:spTree>
    <p:extLst>
      <p:ext uri="{BB962C8B-B14F-4D97-AF65-F5344CB8AC3E}">
        <p14:creationId xmlns:p14="http://schemas.microsoft.com/office/powerpoint/2010/main" val="1148661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fr-FR"/>
          </a:p>
        </p:txBody>
      </p:sp>
      <p:sp>
        <p:nvSpPr>
          <p:cNvPr id="3" name="Rectangle 12"/>
          <p:cNvSpPr>
            <a:spLocks noGrp="1" noChangeArrowheads="1"/>
          </p:cNvSpPr>
          <p:nvPr>
            <p:ph type="ftr" sz="quarter" idx="11"/>
          </p:nvPr>
        </p:nvSpPr>
        <p:spPr>
          <a:ln/>
        </p:spPr>
        <p:txBody>
          <a:bodyPr/>
          <a:lstStyle>
            <a:lvl1pPr>
              <a:defRPr/>
            </a:lvl1pPr>
          </a:lstStyle>
          <a:p>
            <a:pPr>
              <a:defRPr/>
            </a:pPr>
            <a:endParaRPr lang="fr-FR"/>
          </a:p>
        </p:txBody>
      </p:sp>
      <p:sp>
        <p:nvSpPr>
          <p:cNvPr id="4" name="Rectangle 13"/>
          <p:cNvSpPr>
            <a:spLocks noGrp="1" noChangeArrowheads="1"/>
          </p:cNvSpPr>
          <p:nvPr>
            <p:ph type="sldNum" sz="quarter" idx="12"/>
          </p:nvPr>
        </p:nvSpPr>
        <p:spPr>
          <a:ln/>
        </p:spPr>
        <p:txBody>
          <a:bodyPr/>
          <a:lstStyle>
            <a:lvl1pPr>
              <a:defRPr/>
            </a:lvl1pPr>
          </a:lstStyle>
          <a:p>
            <a:fld id="{AF505768-23CE-3C4F-921A-DD84EC280084}" type="slidenum">
              <a:rPr lang="fr-FR"/>
              <a:pPr/>
              <a:t>‹N°›</a:t>
            </a:fld>
            <a:endParaRPr lang="fr-FR"/>
          </a:p>
        </p:txBody>
      </p:sp>
    </p:spTree>
    <p:extLst>
      <p:ext uri="{BB962C8B-B14F-4D97-AF65-F5344CB8AC3E}">
        <p14:creationId xmlns:p14="http://schemas.microsoft.com/office/powerpoint/2010/main" val="40272657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a:t>Modifiez le style du titre</a:t>
            </a:r>
            <a:endParaRPr lang="en-US"/>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11"/>
          <p:cNvSpPr>
            <a:spLocks noGrp="1" noChangeArrowheads="1"/>
          </p:cNvSpPr>
          <p:nvPr>
            <p:ph type="dt" sz="half" idx="10"/>
          </p:nvPr>
        </p:nvSpPr>
        <p:spPr>
          <a:ln/>
        </p:spPr>
        <p:txBody>
          <a:bodyPr/>
          <a:lstStyle>
            <a:lvl1pPr>
              <a:defRPr/>
            </a:lvl1pPr>
          </a:lstStyle>
          <a:p>
            <a:pPr>
              <a:defRPr/>
            </a:pPr>
            <a:endParaRPr lang="fr-FR"/>
          </a:p>
        </p:txBody>
      </p:sp>
      <p:sp>
        <p:nvSpPr>
          <p:cNvPr id="6" name="Rectangle 12"/>
          <p:cNvSpPr>
            <a:spLocks noGrp="1" noChangeArrowheads="1"/>
          </p:cNvSpPr>
          <p:nvPr>
            <p:ph type="ftr" sz="quarter" idx="11"/>
          </p:nvPr>
        </p:nvSpPr>
        <p:spPr>
          <a:ln/>
        </p:spPr>
        <p:txBody>
          <a:bodyPr/>
          <a:lstStyle>
            <a:lvl1pPr>
              <a:defRPr/>
            </a:lvl1pPr>
          </a:lstStyle>
          <a:p>
            <a:pPr>
              <a:defRPr/>
            </a:pPr>
            <a:endParaRPr lang="fr-FR"/>
          </a:p>
        </p:txBody>
      </p:sp>
      <p:sp>
        <p:nvSpPr>
          <p:cNvPr id="7" name="Rectangle 13"/>
          <p:cNvSpPr>
            <a:spLocks noGrp="1" noChangeArrowheads="1"/>
          </p:cNvSpPr>
          <p:nvPr>
            <p:ph type="sldNum" sz="quarter" idx="12"/>
          </p:nvPr>
        </p:nvSpPr>
        <p:spPr>
          <a:ln/>
        </p:spPr>
        <p:txBody>
          <a:bodyPr/>
          <a:lstStyle>
            <a:lvl1pPr>
              <a:defRPr/>
            </a:lvl1pPr>
          </a:lstStyle>
          <a:p>
            <a:fld id="{2E627622-34AE-8942-B2FF-1A554E759B0A}" type="slidenum">
              <a:rPr lang="fr-FR"/>
              <a:pPr/>
              <a:t>‹N°›</a:t>
            </a:fld>
            <a:endParaRPr lang="fr-FR"/>
          </a:p>
        </p:txBody>
      </p:sp>
    </p:spTree>
    <p:extLst>
      <p:ext uri="{BB962C8B-B14F-4D97-AF65-F5344CB8AC3E}">
        <p14:creationId xmlns:p14="http://schemas.microsoft.com/office/powerpoint/2010/main" val="23300043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a:t>Modifiez le style du titre</a:t>
            </a:r>
            <a:endParaRPr lang="en-US"/>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11"/>
          <p:cNvSpPr>
            <a:spLocks noGrp="1" noChangeArrowheads="1"/>
          </p:cNvSpPr>
          <p:nvPr>
            <p:ph type="dt" sz="half" idx="10"/>
          </p:nvPr>
        </p:nvSpPr>
        <p:spPr>
          <a:ln/>
        </p:spPr>
        <p:txBody>
          <a:bodyPr/>
          <a:lstStyle>
            <a:lvl1pPr>
              <a:defRPr/>
            </a:lvl1pPr>
          </a:lstStyle>
          <a:p>
            <a:pPr>
              <a:defRPr/>
            </a:pPr>
            <a:endParaRPr lang="fr-FR"/>
          </a:p>
        </p:txBody>
      </p:sp>
      <p:sp>
        <p:nvSpPr>
          <p:cNvPr id="6" name="Rectangle 12"/>
          <p:cNvSpPr>
            <a:spLocks noGrp="1" noChangeArrowheads="1"/>
          </p:cNvSpPr>
          <p:nvPr>
            <p:ph type="ftr" sz="quarter" idx="11"/>
          </p:nvPr>
        </p:nvSpPr>
        <p:spPr>
          <a:ln/>
        </p:spPr>
        <p:txBody>
          <a:bodyPr/>
          <a:lstStyle>
            <a:lvl1pPr>
              <a:defRPr/>
            </a:lvl1pPr>
          </a:lstStyle>
          <a:p>
            <a:pPr>
              <a:defRPr/>
            </a:pPr>
            <a:endParaRPr lang="fr-FR"/>
          </a:p>
        </p:txBody>
      </p:sp>
      <p:sp>
        <p:nvSpPr>
          <p:cNvPr id="7" name="Rectangle 13"/>
          <p:cNvSpPr>
            <a:spLocks noGrp="1" noChangeArrowheads="1"/>
          </p:cNvSpPr>
          <p:nvPr>
            <p:ph type="sldNum" sz="quarter" idx="12"/>
          </p:nvPr>
        </p:nvSpPr>
        <p:spPr>
          <a:ln/>
        </p:spPr>
        <p:txBody>
          <a:bodyPr/>
          <a:lstStyle>
            <a:lvl1pPr>
              <a:defRPr/>
            </a:lvl1pPr>
          </a:lstStyle>
          <a:p>
            <a:fld id="{F6D24310-F2A9-9C46-89F2-75A2512C81F8}" type="slidenum">
              <a:rPr lang="fr-FR"/>
              <a:pPr/>
              <a:t>‹N°›</a:t>
            </a:fld>
            <a:endParaRPr lang="fr-FR"/>
          </a:p>
        </p:txBody>
      </p:sp>
    </p:spTree>
    <p:extLst>
      <p:ext uri="{BB962C8B-B14F-4D97-AF65-F5344CB8AC3E}">
        <p14:creationId xmlns:p14="http://schemas.microsoft.com/office/powerpoint/2010/main" val="226367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fr-FR"/>
          </a:p>
        </p:txBody>
      </p:sp>
      <p:sp>
        <p:nvSpPr>
          <p:cNvPr id="5" name="Rectangle 12"/>
          <p:cNvSpPr>
            <a:spLocks noGrp="1" noChangeArrowheads="1"/>
          </p:cNvSpPr>
          <p:nvPr>
            <p:ph type="ftr" sz="quarter" idx="11"/>
          </p:nvPr>
        </p:nvSpPr>
        <p:spPr>
          <a:ln/>
        </p:spPr>
        <p:txBody>
          <a:bodyPr/>
          <a:lstStyle>
            <a:lvl1pPr>
              <a:defRPr/>
            </a:lvl1pPr>
          </a:lstStyle>
          <a:p>
            <a:pPr>
              <a:defRPr/>
            </a:pPr>
            <a:endParaRPr lang="fr-FR"/>
          </a:p>
        </p:txBody>
      </p:sp>
      <p:sp>
        <p:nvSpPr>
          <p:cNvPr id="6" name="Rectangle 13"/>
          <p:cNvSpPr>
            <a:spLocks noGrp="1" noChangeArrowheads="1"/>
          </p:cNvSpPr>
          <p:nvPr>
            <p:ph type="sldNum" sz="quarter" idx="12"/>
          </p:nvPr>
        </p:nvSpPr>
        <p:spPr>
          <a:ln/>
        </p:spPr>
        <p:txBody>
          <a:bodyPr/>
          <a:lstStyle>
            <a:lvl1pPr>
              <a:defRPr/>
            </a:lvl1pPr>
          </a:lstStyle>
          <a:p>
            <a:fld id="{A8788FF4-34FB-1249-9028-D320382708C7}" type="slidenum">
              <a:rPr lang="fr-FR"/>
              <a:pPr/>
              <a:t>‹N°›</a:t>
            </a:fld>
            <a:endParaRPr lang="fr-FR"/>
          </a:p>
        </p:txBody>
      </p:sp>
    </p:spTree>
    <p:extLst>
      <p:ext uri="{BB962C8B-B14F-4D97-AF65-F5344CB8AC3E}">
        <p14:creationId xmlns:p14="http://schemas.microsoft.com/office/powerpoint/2010/main" val="40811586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05600" y="762000"/>
            <a:ext cx="1981200" cy="5324475"/>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762000" y="762000"/>
            <a:ext cx="5791200" cy="532447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fr-FR"/>
          </a:p>
        </p:txBody>
      </p:sp>
      <p:sp>
        <p:nvSpPr>
          <p:cNvPr id="5" name="Rectangle 12"/>
          <p:cNvSpPr>
            <a:spLocks noGrp="1" noChangeArrowheads="1"/>
          </p:cNvSpPr>
          <p:nvPr>
            <p:ph type="ftr" sz="quarter" idx="11"/>
          </p:nvPr>
        </p:nvSpPr>
        <p:spPr>
          <a:ln/>
        </p:spPr>
        <p:txBody>
          <a:bodyPr/>
          <a:lstStyle>
            <a:lvl1pPr>
              <a:defRPr/>
            </a:lvl1pPr>
          </a:lstStyle>
          <a:p>
            <a:pPr>
              <a:defRPr/>
            </a:pPr>
            <a:endParaRPr lang="fr-FR"/>
          </a:p>
        </p:txBody>
      </p:sp>
      <p:sp>
        <p:nvSpPr>
          <p:cNvPr id="6" name="Rectangle 13"/>
          <p:cNvSpPr>
            <a:spLocks noGrp="1" noChangeArrowheads="1"/>
          </p:cNvSpPr>
          <p:nvPr>
            <p:ph type="sldNum" sz="quarter" idx="12"/>
          </p:nvPr>
        </p:nvSpPr>
        <p:spPr>
          <a:ln/>
        </p:spPr>
        <p:txBody>
          <a:bodyPr/>
          <a:lstStyle>
            <a:lvl1pPr>
              <a:defRPr/>
            </a:lvl1pPr>
          </a:lstStyle>
          <a:p>
            <a:fld id="{15C925F8-BDA7-5F4E-9AC0-E145D47AE9C6}" type="slidenum">
              <a:rPr lang="fr-FR"/>
              <a:pPr/>
              <a:t>‹N°›</a:t>
            </a:fld>
            <a:endParaRPr lang="fr-FR"/>
          </a:p>
        </p:txBody>
      </p:sp>
    </p:spTree>
    <p:extLst>
      <p:ext uri="{BB962C8B-B14F-4D97-AF65-F5344CB8AC3E}">
        <p14:creationId xmlns:p14="http://schemas.microsoft.com/office/powerpoint/2010/main" val="2724009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ftr" sz="quarter" idx="3"/>
          </p:nvPr>
        </p:nvSpPr>
        <p:spPr bwMode="auto">
          <a:xfrm>
            <a:off x="3124200" y="6400800"/>
            <a:ext cx="28956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spcBef>
                <a:spcPct val="0"/>
              </a:spcBef>
              <a:buClrTx/>
              <a:buSzTx/>
              <a:buFontTx/>
              <a:buNone/>
              <a:defRPr sz="1800" b="1">
                <a:solidFill>
                  <a:srgbClr val="000208"/>
                </a:solidFill>
                <a:ea typeface="+mn-ea"/>
                <a:cs typeface="Arial" charset="0"/>
              </a:defRPr>
            </a:lvl1pPr>
          </a:lstStyle>
          <a:p>
            <a:pPr>
              <a:defRPr/>
            </a:pPr>
            <a:r>
              <a:rPr lang="fr-FR" dirty="0"/>
              <a:t>L3Info - ARC2</a:t>
            </a:r>
          </a:p>
        </p:txBody>
      </p:sp>
      <p:sp>
        <p:nvSpPr>
          <p:cNvPr id="1028" name="Rectangle 4"/>
          <p:cNvSpPr>
            <a:spLocks noGrp="1" noChangeArrowheads="1"/>
          </p:cNvSpPr>
          <p:nvPr>
            <p:ph type="sldNum" sz="quarter" idx="4"/>
          </p:nvPr>
        </p:nvSpPr>
        <p:spPr bwMode="auto">
          <a:xfrm>
            <a:off x="6336196" y="6400800"/>
            <a:ext cx="1511188"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3pPr lvl="2" algn="r">
              <a:spcBef>
                <a:spcPct val="0"/>
              </a:spcBef>
              <a:buClrTx/>
              <a:buSzTx/>
              <a:buFontTx/>
              <a:buNone/>
              <a:defRPr sz="1400">
                <a:solidFill>
                  <a:srgbClr val="000208"/>
                </a:solidFill>
                <a:latin typeface="Times New Roman" charset="0"/>
              </a:defRPr>
            </a:lvl3pPr>
          </a:lstStyle>
          <a:p>
            <a:pPr lvl="2"/>
            <a:fld id="{F69A22CF-7763-DA45-8E98-D5D81C05D40E}" type="slidenum">
              <a:rPr lang="fr-FR" smtClean="0"/>
              <a:pPr lvl="2"/>
              <a:t>‹N°›</a:t>
            </a:fld>
            <a:endParaRPr lang="fr-FR" dirty="0"/>
          </a:p>
        </p:txBody>
      </p:sp>
      <p:sp>
        <p:nvSpPr>
          <p:cNvPr id="2" name="Line 5"/>
          <p:cNvSpPr>
            <a:spLocks noChangeShapeType="1"/>
          </p:cNvSpPr>
          <p:nvPr/>
        </p:nvSpPr>
        <p:spPr bwMode="auto">
          <a:xfrm>
            <a:off x="0" y="685800"/>
            <a:ext cx="7696200" cy="0"/>
          </a:xfrm>
          <a:prstGeom prst="line">
            <a:avLst/>
          </a:prstGeom>
          <a:noFill/>
          <a:ln w="28575">
            <a:solidFill>
              <a:srgbClr val="730B03"/>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fr-FR"/>
          </a:p>
        </p:txBody>
      </p:sp>
      <p:sp>
        <p:nvSpPr>
          <p:cNvPr id="1029" name="Rectangle 6"/>
          <p:cNvSpPr>
            <a:spLocks noGrp="1" noChangeArrowheads="1"/>
          </p:cNvSpPr>
          <p:nvPr>
            <p:ph type="title"/>
          </p:nvPr>
        </p:nvSpPr>
        <p:spPr bwMode="auto">
          <a:xfrm>
            <a:off x="304800" y="152400"/>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p>
            <a:pPr lvl="0"/>
            <a:r>
              <a:rPr lang="fr-FR"/>
              <a:t>Cliquez pour modifier le</a:t>
            </a:r>
          </a:p>
        </p:txBody>
      </p:sp>
      <p:sp>
        <p:nvSpPr>
          <p:cNvPr id="1030" name="Rectangle 7"/>
          <p:cNvSpPr>
            <a:spLocks noGrp="1" noChangeArrowheads="1"/>
          </p:cNvSpPr>
          <p:nvPr>
            <p:ph type="body" idx="1"/>
          </p:nvPr>
        </p:nvSpPr>
        <p:spPr bwMode="auto">
          <a:xfrm>
            <a:off x="457200" y="914400"/>
            <a:ext cx="8261350" cy="525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p>
            <a:pPr lvl="0"/>
            <a:r>
              <a:rPr lang="fr-FR" dirty="0"/>
              <a:t>Cliquez pour modifier les styles de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1031" name="Picture 15"/>
          <p:cNvPicPr>
            <a:picLocks noChangeAspect="1" noChangeArrowheads="1"/>
          </p:cNvPicPr>
          <p:nvPr userDrawn="1"/>
        </p:nvPicPr>
        <p:blipFill>
          <a:blip r:embed="rId15" cstate="email">
            <a:extLst>
              <a:ext uri="{28A0092B-C50C-407E-A947-70E740481C1C}">
                <a14:useLocalDpi xmlns:a14="http://schemas.microsoft.com/office/drawing/2010/main" val="0"/>
              </a:ext>
            </a:extLst>
          </a:blip>
          <a:srcRect/>
          <a:stretch>
            <a:fillRect/>
          </a:stretch>
        </p:blipFill>
        <p:spPr bwMode="auto">
          <a:xfrm>
            <a:off x="7239000" y="152400"/>
            <a:ext cx="1676400" cy="684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Sld>
  <p:clrMap bg1="lt1" tx1="dk1" bg2="lt2" tx2="dk2" accent1="accent1" accent2="accent2" accent3="accent3" accent4="accent4" accent5="accent5" accent6="accent6" hlink="hlink" folHlink="folHlink"/>
  <p:sldLayoutIdLst>
    <p:sldLayoutId id="2147483759" r:id="rId1"/>
    <p:sldLayoutId id="2147483760"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Lst>
  <p:hf hdr="0" dt="0"/>
  <p:txStyles>
    <p:title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p:titleStyle>
    <p:bodyStyle>
      <a:lvl1pPr marL="363538" indent="-363538" algn="l" rtl="0" eaLnBrk="0" fontAlgn="base" hangingPunct="0">
        <a:spcBef>
          <a:spcPct val="20000"/>
        </a:spcBef>
        <a:spcAft>
          <a:spcPct val="0"/>
        </a:spcAft>
        <a:buClr>
          <a:schemeClr val="bg2"/>
        </a:buClr>
        <a:buFont typeface="Monotype Sorts" charset="0"/>
        <a:buBlip>
          <a:blip r:embed="rId16"/>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17"/>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18"/>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fr-FR"/>
              <a:t>Modifiez le style du titre</a:t>
            </a:r>
            <a:endParaRPr lang="en-US"/>
          </a:p>
        </p:txBody>
      </p:sp>
      <p:sp>
        <p:nvSpPr>
          <p:cNvPr id="2051"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fld id="{500C9A84-E95E-E74F-BEE3-A84D0E621150}" type="datetimeFigureOut">
              <a:rPr lang="en-US"/>
              <a:pPr/>
              <a:t>9/25/2023</a:t>
            </a:fld>
            <a:endParaRPr lang="en-US"/>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buFont typeface="Monotype Sorts" pitchFamily="2" charset="2"/>
              <a:buNone/>
              <a:defRPr sz="1200">
                <a:solidFill>
                  <a:schemeClr val="tx1">
                    <a:tint val="75000"/>
                  </a:schemeClr>
                </a:solidFill>
                <a:ea typeface="+mn-ea"/>
              </a:defRPr>
            </a:lvl1pPr>
          </a:lstStyle>
          <a:p>
            <a:pPr>
              <a:defRPr/>
            </a:pPr>
            <a:endParaRPr lang="en-US"/>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FE4E8B71-4F0B-6542-919C-2A19F27CD69B}" type="slidenum">
              <a:rPr lang="en-US"/>
              <a:pPr/>
              <a:t>‹N°›</a:t>
            </a:fld>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charset="0"/>
        </a:defRPr>
      </a:lvl2pPr>
      <a:lvl3pPr algn="ctr" rtl="0" eaLnBrk="0" fontAlgn="base" hangingPunct="0">
        <a:spcBef>
          <a:spcPct val="0"/>
        </a:spcBef>
        <a:spcAft>
          <a:spcPct val="0"/>
        </a:spcAft>
        <a:defRPr sz="4400">
          <a:solidFill>
            <a:schemeClr val="tx1"/>
          </a:solidFill>
          <a:latin typeface="Calibri" pitchFamily="34" charset="0"/>
          <a:ea typeface="ＭＳ Ｐゴシック" charset="0"/>
        </a:defRPr>
      </a:lvl3pPr>
      <a:lvl4pPr algn="ctr" rtl="0" eaLnBrk="0" fontAlgn="base" hangingPunct="0">
        <a:spcBef>
          <a:spcPct val="0"/>
        </a:spcBef>
        <a:spcAft>
          <a:spcPct val="0"/>
        </a:spcAft>
        <a:defRPr sz="4400">
          <a:solidFill>
            <a:schemeClr val="tx1"/>
          </a:solidFill>
          <a:latin typeface="Calibri" pitchFamily="34" charset="0"/>
          <a:ea typeface="ＭＳ Ｐゴシック" charset="0"/>
        </a:defRPr>
      </a:lvl4pPr>
      <a:lvl5pPr algn="ctr" rtl="0" eaLnBrk="0" fontAlgn="base" hangingPunct="0">
        <a:spcBef>
          <a:spcPct val="0"/>
        </a:spcBef>
        <a:spcAft>
          <a:spcPct val="0"/>
        </a:spcAft>
        <a:defRPr sz="4400">
          <a:solidFill>
            <a:schemeClr val="tx1"/>
          </a:solidFill>
          <a:latin typeface="Calibri" pitchFamily="34" charset="0"/>
          <a:ea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0" y="0"/>
            <a:ext cx="7620000" cy="6858000"/>
            <a:chOff x="0" y="0"/>
            <a:chExt cx="4800" cy="4320"/>
          </a:xfrm>
        </p:grpSpPr>
        <p:grpSp>
          <p:nvGrpSpPr>
            <p:cNvPr id="3080" name="Group 3"/>
            <p:cNvGrpSpPr>
              <a:grpSpLocks/>
            </p:cNvGrpSpPr>
            <p:nvPr userDrawn="1"/>
          </p:nvGrpSpPr>
          <p:grpSpPr bwMode="auto">
            <a:xfrm>
              <a:off x="0" y="0"/>
              <a:ext cx="2016" cy="4320"/>
              <a:chOff x="0" y="0"/>
              <a:chExt cx="2016" cy="4320"/>
            </a:xfrm>
          </p:grpSpPr>
          <p:sp>
            <p:nvSpPr>
              <p:cNvPr id="3084" name="Rectangle 4"/>
              <p:cNvSpPr>
                <a:spLocks noChangeArrowheads="1"/>
              </p:cNvSpPr>
              <p:nvPr userDrawn="1"/>
            </p:nvSpPr>
            <p:spPr bwMode="auto">
              <a:xfrm>
                <a:off x="0" y="0"/>
                <a:ext cx="480" cy="4320"/>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sp>
            <p:nvSpPr>
              <p:cNvPr id="3085" name="Freeform 5"/>
              <p:cNvSpPr>
                <a:spLocks/>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xmlns=""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fr-FR"/>
              </a:p>
            </p:txBody>
          </p:sp>
        </p:grpSp>
        <p:grpSp>
          <p:nvGrpSpPr>
            <p:cNvPr id="3081" name="Group 6"/>
            <p:cNvGrpSpPr>
              <a:grpSpLocks/>
            </p:cNvGrpSpPr>
            <p:nvPr/>
          </p:nvGrpSpPr>
          <p:grpSpPr bwMode="auto">
            <a:xfrm>
              <a:off x="144" y="1248"/>
              <a:ext cx="4656" cy="201"/>
              <a:chOff x="144" y="1248"/>
              <a:chExt cx="4656" cy="201"/>
            </a:xfrm>
          </p:grpSpPr>
          <p:sp>
            <p:nvSpPr>
              <p:cNvPr id="3082" name="AutoShape 7"/>
              <p:cNvSpPr>
                <a:spLocks noChangeArrowheads="1"/>
              </p:cNvSpPr>
              <p:nvPr/>
            </p:nvSpPr>
            <p:spPr bwMode="auto">
              <a:xfrm>
                <a:off x="384" y="1248"/>
                <a:ext cx="4416" cy="200"/>
              </a:xfrm>
              <a:prstGeom prst="roundRect">
                <a:avLst>
                  <a:gd name="adj" fmla="val 0"/>
                </a:avLst>
              </a:prstGeom>
              <a:solidFill>
                <a:schemeClr val="hlink"/>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sp>
            <p:nvSpPr>
              <p:cNvPr id="3083" name="AutoShape 8"/>
              <p:cNvSpPr>
                <a:spLocks noChangeArrowheads="1"/>
              </p:cNvSpPr>
              <p:nvPr/>
            </p:nvSpPr>
            <p:spPr bwMode="auto">
              <a:xfrm flipH="1">
                <a:off x="144" y="1248"/>
                <a:ext cx="248" cy="201"/>
              </a:xfrm>
              <a:prstGeom prst="flowChartDelay">
                <a:avLst/>
              </a:prstGeom>
              <a:solidFill>
                <a:schemeClr va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800">
                    <a:solidFill>
                      <a:srgbClr val="010507"/>
                    </a:solidFill>
                    <a:latin typeface="Arial" charset="0"/>
                  </a:defRPr>
                </a:lvl1pPr>
                <a:lvl2pPr marL="742950" indent="-285750">
                  <a:defRPr sz="800">
                    <a:solidFill>
                      <a:srgbClr val="010507"/>
                    </a:solidFill>
                    <a:latin typeface="Arial" charset="0"/>
                  </a:defRPr>
                </a:lvl2pPr>
                <a:lvl3pPr marL="1143000" indent="-228600">
                  <a:defRPr sz="800">
                    <a:solidFill>
                      <a:srgbClr val="010507"/>
                    </a:solidFill>
                    <a:latin typeface="Arial" charset="0"/>
                  </a:defRPr>
                </a:lvl3pPr>
                <a:lvl4pPr marL="1600200" indent="-228600">
                  <a:defRPr sz="800">
                    <a:solidFill>
                      <a:srgbClr val="010507"/>
                    </a:solidFill>
                    <a:latin typeface="Arial" charset="0"/>
                  </a:defRPr>
                </a:lvl4pPr>
                <a:lvl5pPr marL="2057400" indent="-228600">
                  <a:defRPr sz="800">
                    <a:solidFill>
                      <a:srgbClr val="010507"/>
                    </a:solidFill>
                    <a:latin typeface="Arial" charset="0"/>
                  </a:defRPr>
                </a:lvl5pPr>
                <a:lvl6pPr marL="25146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6pPr>
                <a:lvl7pPr marL="29718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7pPr>
                <a:lvl8pPr marL="34290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8pPr>
                <a:lvl9pPr marL="3886200" indent="-228600" algn="ctr" eaLnBrk="0" fontAlgn="base" hangingPunct="0">
                  <a:spcBef>
                    <a:spcPct val="20000"/>
                  </a:spcBef>
                  <a:spcAft>
                    <a:spcPct val="0"/>
                  </a:spcAft>
                  <a:buClr>
                    <a:schemeClr val="bg2"/>
                  </a:buClr>
                  <a:buSzPct val="75000"/>
                  <a:buFont typeface="Monotype Sorts" pitchFamily="2" charset="2"/>
                  <a:defRPr sz="800">
                    <a:solidFill>
                      <a:srgbClr val="010507"/>
                    </a:solidFill>
                    <a:latin typeface="Arial" charset="0"/>
                  </a:defRPr>
                </a:lvl9pPr>
              </a:lstStyle>
              <a:p>
                <a:pPr>
                  <a:buFont typeface="Monotype Sorts" pitchFamily="2" charset="2"/>
                  <a:buNone/>
                  <a:defRPr/>
                </a:pPr>
                <a:endParaRPr lang="en-US" altLang="en-US">
                  <a:ea typeface="+mn-ea"/>
                </a:endParaRPr>
              </a:p>
            </p:txBody>
          </p:sp>
        </p:grpSp>
      </p:grpSp>
      <p:sp>
        <p:nvSpPr>
          <p:cNvPr id="3075" name="AutoShape 9"/>
          <p:cNvSpPr>
            <a:spLocks noGrp="1" noChangeArrowheads="1"/>
          </p:cNvSpPr>
          <p:nvPr>
            <p:ph type="title"/>
          </p:nvPr>
        </p:nvSpPr>
        <p:spPr bwMode="auto">
          <a:xfrm>
            <a:off x="762000" y="762000"/>
            <a:ext cx="7924800" cy="1143000"/>
          </a:xfrm>
          <a:prstGeom prst="roundRect">
            <a:avLst>
              <a:gd name="adj" fmla="val 21667"/>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fr-FR"/>
              <a:t>Cliquez pour modifier le style du titre</a:t>
            </a:r>
          </a:p>
        </p:txBody>
      </p:sp>
      <p:sp>
        <p:nvSpPr>
          <p:cNvPr id="3076" name="Rectangle 10"/>
          <p:cNvSpPr>
            <a:spLocks noGrp="1" noChangeArrowheads="1"/>
          </p:cNvSpPr>
          <p:nvPr>
            <p:ph type="body" idx="1"/>
          </p:nvPr>
        </p:nvSpPr>
        <p:spPr bwMode="auto">
          <a:xfrm>
            <a:off x="838200" y="2362200"/>
            <a:ext cx="7693025" cy="3724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34539" name="Rectangle 11"/>
          <p:cNvSpPr>
            <a:spLocks noGrp="1" noChangeArrowheads="1"/>
          </p:cNvSpPr>
          <p:nvPr>
            <p:ph type="dt" sz="half" idx="2"/>
          </p:nvPr>
        </p:nvSpPr>
        <p:spPr bwMode="auto">
          <a:xfrm>
            <a:off x="2438400" y="6248400"/>
            <a:ext cx="2130425" cy="474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400">
                <a:solidFill>
                  <a:schemeClr val="tx1"/>
                </a:solidFill>
                <a:ea typeface="+mn-ea"/>
              </a:defRPr>
            </a:lvl1pPr>
          </a:lstStyle>
          <a:p>
            <a:pPr>
              <a:defRPr/>
            </a:pPr>
            <a:endParaRPr lang="fr-FR"/>
          </a:p>
        </p:txBody>
      </p:sp>
      <p:sp>
        <p:nvSpPr>
          <p:cNvPr id="534540" name="Rectangle 12"/>
          <p:cNvSpPr>
            <a:spLocks noGrp="1" noChangeArrowheads="1"/>
          </p:cNvSpPr>
          <p:nvPr>
            <p:ph type="ftr" sz="quarter" idx="3"/>
          </p:nvPr>
        </p:nvSpPr>
        <p:spPr bwMode="auto">
          <a:xfrm>
            <a:off x="5791200" y="6248400"/>
            <a:ext cx="2897188" cy="474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400">
                <a:solidFill>
                  <a:schemeClr val="tx1"/>
                </a:solidFill>
                <a:ea typeface="+mn-ea"/>
              </a:defRPr>
            </a:lvl1pPr>
          </a:lstStyle>
          <a:p>
            <a:pPr>
              <a:defRPr/>
            </a:pPr>
            <a:endParaRPr lang="fr-FR"/>
          </a:p>
        </p:txBody>
      </p:sp>
      <p:sp>
        <p:nvSpPr>
          <p:cNvPr id="534541" name="Rectangle 13"/>
          <p:cNvSpPr>
            <a:spLocks noGrp="1" noChangeArrowheads="1"/>
          </p:cNvSpPr>
          <p:nvPr>
            <p:ph type="sldNum" sz="quarter" idx="4"/>
          </p:nvPr>
        </p:nvSpPr>
        <p:spPr bwMode="auto">
          <a:xfrm>
            <a:off x="84138" y="6242050"/>
            <a:ext cx="587375" cy="488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bodyPr>
          <a:lstStyle>
            <a:lvl1pPr algn="l" eaLnBrk="1" hangingPunct="1">
              <a:spcBef>
                <a:spcPct val="0"/>
              </a:spcBef>
              <a:buClrTx/>
              <a:buSzTx/>
              <a:buFontTx/>
              <a:buNone/>
              <a:defRPr sz="2600" b="1">
                <a:solidFill>
                  <a:schemeClr val="bg1"/>
                </a:solidFill>
              </a:defRPr>
            </a:lvl1pPr>
          </a:lstStyle>
          <a:p>
            <a:fld id="{264356B5-DC53-A34E-89F3-96436E855D76}" type="slidenum">
              <a:rPr lang="fr-FR"/>
              <a:pPr/>
              <a:t>‹N°›</a:t>
            </a:fld>
            <a:endParaRPr lang="fr-FR"/>
          </a:p>
        </p:txBody>
      </p:sp>
    </p:spTree>
  </p:cSld>
  <p:clrMap bg1="lt1" tx1="dk1" bg2="lt2" tx2="dk2" accent1="accent1" accent2="accent2" accent3="accent3" accent4="accent4" accent5="accent5" accent6="accent6" hlink="hlink" folHlink="folHlink"/>
  <p:sldLayoutIdLst>
    <p:sldLayoutId id="2147483761"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ftr="0" dt="0"/>
  <p:txStyles>
    <p:titleStyle>
      <a:lvl1pPr algn="l" rtl="0" eaLnBrk="0" fontAlgn="base" hangingPunct="0">
        <a:lnSpc>
          <a:spcPct val="90000"/>
        </a:lnSpc>
        <a:spcBef>
          <a:spcPct val="0"/>
        </a:spcBef>
        <a:spcAft>
          <a:spcPct val="0"/>
        </a:spcAft>
        <a:defRPr sz="3600" b="1">
          <a:solidFill>
            <a:schemeClr val="tx2"/>
          </a:solidFill>
          <a:latin typeface="+mj-lt"/>
          <a:ea typeface="ＭＳ Ｐゴシック" charset="0"/>
          <a:cs typeface="+mj-cs"/>
        </a:defRPr>
      </a:lvl1pPr>
      <a:lvl2pPr algn="l" rtl="0" eaLnBrk="0" fontAlgn="base" hangingPunct="0">
        <a:lnSpc>
          <a:spcPct val="90000"/>
        </a:lnSpc>
        <a:spcBef>
          <a:spcPct val="0"/>
        </a:spcBef>
        <a:spcAft>
          <a:spcPct val="0"/>
        </a:spcAft>
        <a:defRPr sz="3600" b="1">
          <a:solidFill>
            <a:schemeClr val="tx2"/>
          </a:solidFill>
          <a:latin typeface="Arial" charset="0"/>
          <a:ea typeface="ＭＳ Ｐゴシック" charset="0"/>
        </a:defRPr>
      </a:lvl2pPr>
      <a:lvl3pPr algn="l" rtl="0" eaLnBrk="0" fontAlgn="base" hangingPunct="0">
        <a:lnSpc>
          <a:spcPct val="90000"/>
        </a:lnSpc>
        <a:spcBef>
          <a:spcPct val="0"/>
        </a:spcBef>
        <a:spcAft>
          <a:spcPct val="0"/>
        </a:spcAft>
        <a:defRPr sz="3600" b="1">
          <a:solidFill>
            <a:schemeClr val="tx2"/>
          </a:solidFill>
          <a:latin typeface="Arial" charset="0"/>
          <a:ea typeface="ＭＳ Ｐゴシック" charset="0"/>
        </a:defRPr>
      </a:lvl3pPr>
      <a:lvl4pPr algn="l" rtl="0" eaLnBrk="0" fontAlgn="base" hangingPunct="0">
        <a:lnSpc>
          <a:spcPct val="90000"/>
        </a:lnSpc>
        <a:spcBef>
          <a:spcPct val="0"/>
        </a:spcBef>
        <a:spcAft>
          <a:spcPct val="0"/>
        </a:spcAft>
        <a:defRPr sz="3600" b="1">
          <a:solidFill>
            <a:schemeClr val="tx2"/>
          </a:solidFill>
          <a:latin typeface="Arial" charset="0"/>
          <a:ea typeface="ＭＳ Ｐゴシック" charset="0"/>
        </a:defRPr>
      </a:lvl4pPr>
      <a:lvl5pPr algn="l" rtl="0" eaLnBrk="0" fontAlgn="base" hangingPunct="0">
        <a:lnSpc>
          <a:spcPct val="90000"/>
        </a:lnSpc>
        <a:spcBef>
          <a:spcPct val="0"/>
        </a:spcBef>
        <a:spcAft>
          <a:spcPct val="0"/>
        </a:spcAft>
        <a:defRPr sz="3600" b="1">
          <a:solidFill>
            <a:schemeClr val="tx2"/>
          </a:solidFill>
          <a:latin typeface="Arial" charset="0"/>
          <a:ea typeface="ＭＳ Ｐゴシック" charset="0"/>
        </a:defRPr>
      </a:lvl5pPr>
      <a:lvl6pPr marL="457200" algn="l" rtl="0" fontAlgn="base">
        <a:lnSpc>
          <a:spcPct val="90000"/>
        </a:lnSpc>
        <a:spcBef>
          <a:spcPct val="0"/>
        </a:spcBef>
        <a:spcAft>
          <a:spcPct val="0"/>
        </a:spcAft>
        <a:defRPr sz="3600" b="1">
          <a:solidFill>
            <a:schemeClr val="tx2"/>
          </a:solidFill>
          <a:latin typeface="Arial" charset="0"/>
        </a:defRPr>
      </a:lvl6pPr>
      <a:lvl7pPr marL="914400" algn="l" rtl="0" fontAlgn="base">
        <a:lnSpc>
          <a:spcPct val="90000"/>
        </a:lnSpc>
        <a:spcBef>
          <a:spcPct val="0"/>
        </a:spcBef>
        <a:spcAft>
          <a:spcPct val="0"/>
        </a:spcAft>
        <a:defRPr sz="3600" b="1">
          <a:solidFill>
            <a:schemeClr val="tx2"/>
          </a:solidFill>
          <a:latin typeface="Arial" charset="0"/>
        </a:defRPr>
      </a:lvl7pPr>
      <a:lvl8pPr marL="1371600" algn="l" rtl="0" fontAlgn="base">
        <a:lnSpc>
          <a:spcPct val="90000"/>
        </a:lnSpc>
        <a:spcBef>
          <a:spcPct val="0"/>
        </a:spcBef>
        <a:spcAft>
          <a:spcPct val="0"/>
        </a:spcAft>
        <a:defRPr sz="3600" b="1">
          <a:solidFill>
            <a:schemeClr val="tx2"/>
          </a:solidFill>
          <a:latin typeface="Arial" charset="0"/>
        </a:defRPr>
      </a:lvl8pPr>
      <a:lvl9pPr marL="1828800" algn="l" rtl="0" fontAlgn="base">
        <a:lnSpc>
          <a:spcPct val="90000"/>
        </a:lnSpc>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SzPct val="75000"/>
        <a:buFont typeface="Wingdings" charset="0"/>
        <a:buChar char="l"/>
        <a:defRPr sz="28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lr>
          <a:schemeClr val="tx1"/>
        </a:buClr>
        <a:buSzPct val="75000"/>
        <a:buFont typeface="Wingdings" charset="0"/>
        <a:buChar char="l"/>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lr>
          <a:schemeClr val="tx1"/>
        </a:buClr>
        <a:buSzPct val="80000"/>
        <a:buChar char="–"/>
        <a:defRPr>
          <a:solidFill>
            <a:schemeClr val="tx1"/>
          </a:solidFill>
          <a:latin typeface="+mn-lt"/>
          <a:ea typeface="ＭＳ Ｐゴシック" charset="0"/>
        </a:defRPr>
      </a:lvl4pPr>
      <a:lvl5pPr marL="2057400" indent="-228600" algn="l" rtl="0" eaLnBrk="0" fontAlgn="base" hangingPunct="0">
        <a:spcBef>
          <a:spcPct val="20000"/>
        </a:spcBef>
        <a:spcAft>
          <a:spcPct val="0"/>
        </a:spcAft>
        <a:buClr>
          <a:schemeClr val="tx1"/>
        </a:buClr>
        <a:buSzPct val="65000"/>
        <a:buFont typeface="Wingdings" charset="0"/>
        <a:buChar char="l"/>
        <a:defRPr>
          <a:solidFill>
            <a:schemeClr val="tx1"/>
          </a:solidFill>
          <a:latin typeface="+mn-lt"/>
          <a:ea typeface="ＭＳ Ｐゴシック" charset="0"/>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bakayoko.ibrahima1@ufhb.edu.ci"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hyperlink" Target="https://tldp.org/LDP/abs/html/escapingsection.html#ESCP"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1</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err="1">
                <a:latin typeface="Arial" charset="0"/>
              </a:rPr>
              <a:t>Partie</a:t>
            </a:r>
            <a:r>
              <a:rPr lang="en-GB" dirty="0">
                <a:latin typeface="Arial" charset="0"/>
              </a:rPr>
              <a:t>  A:</a:t>
            </a:r>
            <a:br>
              <a:rPr lang="en-GB" dirty="0">
                <a:latin typeface="Arial" charset="0"/>
              </a:rPr>
            </a:br>
            <a:r>
              <a:rPr lang="en-GB" dirty="0">
                <a:latin typeface="Arial" charset="0"/>
              </a:rPr>
              <a:t>Script Shell et Linux</a:t>
            </a:r>
          </a:p>
        </p:txBody>
      </p:sp>
      <p:sp>
        <p:nvSpPr>
          <p:cNvPr id="5"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2" name="Espace réservé du pied de page 3">
            <a:extLst>
              <a:ext uri="{FF2B5EF4-FFF2-40B4-BE49-F238E27FC236}">
                <a16:creationId xmlns:a16="http://schemas.microsoft.com/office/drawing/2014/main" id="{C01A798C-2393-72F9-452C-85CD77B8E7F6}"/>
              </a:ext>
            </a:extLst>
          </p:cNvPr>
          <p:cNvSpPr txBox="1">
            <a:spLocks/>
          </p:cNvSpPr>
          <p:nvPr/>
        </p:nvSpPr>
        <p:spPr bwMode="auto">
          <a:xfrm>
            <a:off x="2015716" y="4212601"/>
            <a:ext cx="5292588" cy="1260140"/>
          </a:xfrm>
          <a:prstGeom prst="rect">
            <a:avLst/>
          </a:prstGeom>
          <a:noFill/>
          <a:ln>
            <a:noFill/>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ctr" rtl="0" eaLnBrk="0" fontAlgn="base" hangingPunct="0">
              <a:spcBef>
                <a:spcPct val="0"/>
              </a:spcBef>
              <a:spcAft>
                <a:spcPct val="0"/>
              </a:spcAft>
              <a:buClrTx/>
              <a:buSzTx/>
              <a:buFontTx/>
              <a:buNone/>
              <a:defRPr sz="800" b="1" kern="1200">
                <a:solidFill>
                  <a:srgbClr val="010507"/>
                </a:solidFill>
                <a:latin typeface="Arial" charset="0"/>
                <a:ea typeface="ＭＳ Ｐゴシック" charset="0"/>
                <a:cs typeface="Arial" charset="0"/>
              </a:defRPr>
            </a:lvl1pPr>
            <a:lvl2pPr marL="742950" indent="-28575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2pPr>
            <a:lvl3pPr marL="11430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3pPr>
            <a:lvl4pPr marL="16002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4pPr>
            <a:lvl5pPr marL="2057400" indent="-228600" algn="ctr" rtl="0" eaLnBrk="0" fontAlgn="base"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5pPr>
            <a:lvl6pPr marL="25146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6pPr>
            <a:lvl7pPr marL="29718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7pPr>
            <a:lvl8pPr marL="34290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8pPr>
            <a:lvl9pPr marL="3886200" indent="-228600" algn="ctr" defTabSz="457200" rtl="0" eaLnBrk="0" fontAlgn="base" latinLnBrk="0" hangingPunct="0">
              <a:spcBef>
                <a:spcPct val="20000"/>
              </a:spcBef>
              <a:spcAft>
                <a:spcPct val="0"/>
              </a:spcAft>
              <a:buClr>
                <a:schemeClr val="bg2"/>
              </a:buClr>
              <a:buSzPct val="75000"/>
              <a:buFont typeface="Monotype Sorts" charset="0"/>
              <a:defRPr sz="800" kern="1200">
                <a:solidFill>
                  <a:srgbClr val="010507"/>
                </a:solidFill>
                <a:latin typeface="Arial" charset="0"/>
                <a:ea typeface="ＭＳ Ｐゴシック" charset="0"/>
                <a:cs typeface="+mn-cs"/>
              </a:defRPr>
            </a:lvl9pPr>
          </a:lstStyle>
          <a:p>
            <a:r>
              <a:rPr lang="fr-FR" sz="1500" dirty="0">
                <a:solidFill>
                  <a:srgbClr val="000208"/>
                </a:solidFill>
              </a:rPr>
              <a:t>BAKAYOKO Ibrahima</a:t>
            </a:r>
          </a:p>
          <a:p>
            <a:r>
              <a:rPr lang="fr-FR" sz="1500" dirty="0">
                <a:solidFill>
                  <a:srgbClr val="000208"/>
                </a:solidFill>
              </a:rPr>
              <a:t>Enseignant-Chercheur </a:t>
            </a:r>
          </a:p>
          <a:p>
            <a:r>
              <a:rPr lang="fr-FR" sz="1500" dirty="0">
                <a:solidFill>
                  <a:srgbClr val="000208"/>
                </a:solidFill>
              </a:rPr>
              <a:t>UFR MI</a:t>
            </a:r>
          </a:p>
          <a:p>
            <a:r>
              <a:rPr lang="fr-FR" sz="1500" dirty="0">
                <a:solidFill>
                  <a:srgbClr val="000208"/>
                </a:solidFill>
                <a:hlinkClick r:id="rId2"/>
              </a:rPr>
              <a:t>bakayoko.ibrahima1@ufhb.edu.ci</a:t>
            </a:r>
            <a:endParaRPr lang="fr-FR" sz="1500" dirty="0">
              <a:solidFill>
                <a:srgbClr val="000208"/>
              </a:solidFill>
            </a:endParaRPr>
          </a:p>
          <a:p>
            <a:endParaRPr lang="fr-FR" sz="1500" dirty="0">
              <a:solidFill>
                <a:srgbClr val="000208"/>
              </a:solidFill>
            </a:endParaRPr>
          </a:p>
        </p:txBody>
      </p:sp>
    </p:spTree>
    <p:extLst>
      <p:ext uri="{BB962C8B-B14F-4D97-AF65-F5344CB8AC3E}">
        <p14:creationId xmlns:p14="http://schemas.microsoft.com/office/powerpoint/2010/main" val="352734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fr-FR" sz="2800" dirty="0">
                <a:latin typeface="Arial" charset="0"/>
              </a:rPr>
              <a:t>Système d’exploitation</a:t>
            </a:r>
          </a:p>
        </p:txBody>
      </p:sp>
      <p:sp>
        <p:nvSpPr>
          <p:cNvPr id="19" name="Rectangle 3"/>
          <p:cNvSpPr txBox="1">
            <a:spLocks noChangeArrowheads="1"/>
          </p:cNvSpPr>
          <p:nvPr/>
        </p:nvSpPr>
        <p:spPr bwMode="auto">
          <a:xfrm>
            <a:off x="304800" y="764704"/>
            <a:ext cx="8695692" cy="57246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150000"/>
              </a:lnSpc>
            </a:pPr>
            <a:r>
              <a:rPr lang="en-GB" dirty="0">
                <a:latin typeface="Arial" charset="0"/>
              </a:rPr>
              <a:t>Gère  :</a:t>
            </a:r>
          </a:p>
          <a:p>
            <a:pPr lvl="1">
              <a:lnSpc>
                <a:spcPct val="150000"/>
              </a:lnSpc>
            </a:pPr>
            <a:r>
              <a:rPr lang="en-GB" dirty="0">
                <a:latin typeface="Arial" charset="0"/>
              </a:rPr>
              <a:t>Processus : création, exécution, terminaison, …</a:t>
            </a:r>
          </a:p>
          <a:p>
            <a:pPr lvl="1">
              <a:lnSpc>
                <a:spcPct val="150000"/>
              </a:lnSpc>
            </a:pPr>
            <a:r>
              <a:rPr lang="fr-FR" dirty="0">
                <a:latin typeface="Arial" charset="0"/>
              </a:rPr>
              <a:t>Mémoire : isolation, pagination, mémoire virtuelle, …</a:t>
            </a:r>
          </a:p>
          <a:p>
            <a:pPr lvl="1">
              <a:lnSpc>
                <a:spcPct val="150000"/>
              </a:lnSpc>
            </a:pPr>
            <a:r>
              <a:rPr lang="en-GB" dirty="0">
                <a:latin typeface="Arial" charset="0"/>
              </a:rPr>
              <a:t>Fichiers : création, accès, autorisations, …</a:t>
            </a:r>
          </a:p>
          <a:p>
            <a:pPr lvl="1">
              <a:lnSpc>
                <a:spcPct val="150000"/>
              </a:lnSpc>
            </a:pPr>
            <a:r>
              <a:rPr lang="en-GB" dirty="0">
                <a:latin typeface="Arial" charset="0"/>
              </a:rPr>
              <a:t>Périphériques : utilisation, interface commune, …</a:t>
            </a:r>
          </a:p>
          <a:p>
            <a:pPr>
              <a:lnSpc>
                <a:spcPct val="150000"/>
              </a:lnSpc>
            </a:pPr>
            <a:r>
              <a:rPr lang="fr-FR" dirty="0">
                <a:latin typeface="Arial" charset="0"/>
              </a:rPr>
              <a:t>Fournit une abstraction de couche supérieure pour interagir avec les périphériques matériels</a:t>
            </a:r>
          </a:p>
          <a:p>
            <a:pPr>
              <a:lnSpc>
                <a:spcPct val="150000"/>
              </a:lnSpc>
            </a:pPr>
            <a:r>
              <a:rPr lang="en-GB" dirty="0">
                <a:latin typeface="Arial" charset="0"/>
              </a:rPr>
              <a:t>Appels système</a:t>
            </a:r>
          </a:p>
          <a:p>
            <a:pPr>
              <a:lnSpc>
                <a:spcPct val="150000"/>
              </a:lnSpc>
            </a:pPr>
            <a:r>
              <a:rPr lang="fr-FR" dirty="0">
                <a:latin typeface="Arial" charset="0"/>
              </a:rPr>
              <a:t>Mise au point : Utilisation du système d'exploitation</a:t>
            </a:r>
          </a:p>
          <a:p>
            <a:pPr lvl="1">
              <a:lnSpc>
                <a:spcPct val="150000"/>
              </a:lnSpc>
            </a:pPr>
            <a:r>
              <a:rPr lang="en-GB" dirty="0">
                <a:latin typeface="Arial" charset="0"/>
              </a:rPr>
              <a:t>Linux</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202436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fr-FR" sz="2800" dirty="0">
                <a:latin typeface="Arial" charset="0"/>
              </a:rPr>
              <a:t>Linux</a:t>
            </a:r>
          </a:p>
        </p:txBody>
      </p:sp>
      <p:sp>
        <p:nvSpPr>
          <p:cNvPr id="19" name="Rectangle 3"/>
          <p:cNvSpPr txBox="1">
            <a:spLocks noChangeArrowheads="1"/>
          </p:cNvSpPr>
          <p:nvPr/>
        </p:nvSpPr>
        <p:spPr bwMode="auto">
          <a:xfrm>
            <a:off x="304800" y="836712"/>
            <a:ext cx="8686800" cy="5364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charset="0"/>
              </a:rPr>
              <a:t>Premier prototype en 1991 (posté sur '</a:t>
            </a:r>
            <a:r>
              <a:rPr lang="fr-FR" dirty="0" err="1">
                <a:latin typeface="Arial" charset="0"/>
              </a:rPr>
              <a:t>comp.os.minix</a:t>
            </a:r>
            <a:r>
              <a:rPr lang="fr-FR" dirty="0">
                <a:latin typeface="Arial" charset="0"/>
              </a:rPr>
              <a:t>') </a:t>
            </a:r>
            <a:r>
              <a:rPr lang="en-GB" dirty="0">
                <a:latin typeface="Arial" charset="0"/>
              </a:rPr>
              <a:t>:</a:t>
            </a:r>
          </a:p>
          <a:p>
            <a:pPr lvl="1"/>
            <a:r>
              <a:rPr lang="fr-FR" dirty="0">
                <a:latin typeface="Arial" charset="0"/>
              </a:rPr>
              <a:t>Linus </a:t>
            </a:r>
            <a:r>
              <a:rPr lang="fr-FR" dirty="0" err="1">
                <a:latin typeface="Arial" charset="0"/>
              </a:rPr>
              <a:t>Torvalds</a:t>
            </a:r>
            <a:r>
              <a:rPr lang="fr-FR" dirty="0">
                <a:latin typeface="Arial" charset="0"/>
              </a:rPr>
              <a:t> (étudiant finlandais - 21 ans) :</a:t>
            </a:r>
          </a:p>
          <a:p>
            <a:pPr marL="542925" lvl="1" indent="0">
              <a:buNone/>
            </a:pPr>
            <a:r>
              <a:rPr lang="en-GB" i="1" dirty="0">
                <a:latin typeface="Times New Roman"/>
                <a:cs typeface="Times New Roman"/>
              </a:rPr>
              <a:t>“</a:t>
            </a:r>
            <a:r>
              <a:rPr lang="fr-FR" i="1" dirty="0">
                <a:latin typeface="Times New Roman"/>
                <a:cs typeface="Times New Roman"/>
              </a:rPr>
              <a:t>Bonjour à tous ceux qui utilisent </a:t>
            </a:r>
            <a:r>
              <a:rPr lang="fr-FR" i="1" dirty="0" err="1">
                <a:latin typeface="Times New Roman"/>
                <a:cs typeface="Times New Roman"/>
              </a:rPr>
              <a:t>Minix</a:t>
            </a:r>
            <a:r>
              <a:rPr lang="fr-FR" i="1" dirty="0">
                <a:latin typeface="Times New Roman"/>
                <a:cs typeface="Times New Roman"/>
              </a:rPr>
              <a:t> -</a:t>
            </a:r>
          </a:p>
          <a:p>
            <a:pPr marL="542925" lvl="1" indent="0">
              <a:buNone/>
            </a:pPr>
            <a:r>
              <a:rPr lang="fr-FR" i="1" dirty="0">
                <a:latin typeface="Times New Roman"/>
                <a:cs typeface="Times New Roman"/>
              </a:rPr>
              <a:t>Je suis en train de créer un système d'exploitation (gratuit) (juste un passe-temps, ne sera pas grand et professionnel comme GNU) pour les clones AT 386 (486)</a:t>
            </a:r>
            <a:r>
              <a:rPr lang="en-GB" i="1" dirty="0">
                <a:latin typeface="Times New Roman"/>
                <a:cs typeface="Times New Roman"/>
              </a:rPr>
              <a:t>…”</a:t>
            </a:r>
          </a:p>
          <a:p>
            <a:pPr marL="542925" lvl="1" indent="0">
              <a:buNone/>
            </a:pPr>
            <a:endParaRPr lang="en-GB" i="1" dirty="0">
              <a:latin typeface="Times New Roman"/>
              <a:cs typeface="Times New Roman"/>
            </a:endParaRPr>
          </a:p>
          <a:p>
            <a:pPr>
              <a:lnSpc>
                <a:spcPct val="150000"/>
              </a:lnSpc>
            </a:pPr>
            <a:r>
              <a:rPr lang="en-GB" dirty="0" err="1">
                <a:latin typeface="Arial" charset="0"/>
              </a:rPr>
              <a:t>Dénomination</a:t>
            </a:r>
            <a:r>
              <a:rPr lang="en-GB" dirty="0">
                <a:latin typeface="Arial" charset="0"/>
              </a:rPr>
              <a:t> : </a:t>
            </a:r>
          </a:p>
          <a:p>
            <a:pPr lvl="1">
              <a:lnSpc>
                <a:spcPct val="150000"/>
              </a:lnSpc>
            </a:pPr>
            <a:r>
              <a:rPr lang="en-GB" dirty="0">
                <a:latin typeface="Arial" charset="0"/>
              </a:rPr>
              <a:t>Linus : “</a:t>
            </a:r>
            <a:r>
              <a:rPr lang="en-GB" dirty="0" err="1">
                <a:latin typeface="Arial" charset="0"/>
              </a:rPr>
              <a:t>Freax</a:t>
            </a:r>
            <a:r>
              <a:rPr lang="en-GB" dirty="0">
                <a:latin typeface="Arial" charset="0"/>
              </a:rPr>
              <a:t>” </a:t>
            </a:r>
            <a:r>
              <a:rPr lang="en-GB" dirty="0">
                <a:latin typeface="Arial" charset="0"/>
                <a:sym typeface="Wingdings"/>
              </a:rPr>
              <a:t></a:t>
            </a:r>
            <a:r>
              <a:rPr lang="en-GB" dirty="0">
                <a:latin typeface="Arial" charset="0"/>
              </a:rPr>
              <a:t> “Free”, “Freak”, “x” (from Unix)</a:t>
            </a:r>
          </a:p>
          <a:p>
            <a:pPr lvl="1">
              <a:lnSpc>
                <a:spcPct val="150000"/>
              </a:lnSpc>
            </a:pPr>
            <a:r>
              <a:rPr lang="en-GB" dirty="0">
                <a:latin typeface="Arial" charset="0"/>
              </a:rPr>
              <a:t>Ari </a:t>
            </a:r>
            <a:r>
              <a:rPr lang="en-GB" dirty="0" err="1">
                <a:latin typeface="Arial" charset="0"/>
              </a:rPr>
              <a:t>Lemmke</a:t>
            </a:r>
            <a:r>
              <a:rPr lang="en-GB" dirty="0">
                <a:latin typeface="Arial" charset="0"/>
              </a:rPr>
              <a:t> (</a:t>
            </a:r>
            <a:r>
              <a:rPr lang="en-GB" dirty="0" err="1">
                <a:latin typeface="Arial" charset="0"/>
              </a:rPr>
              <a:t>administrateur</a:t>
            </a:r>
            <a:r>
              <a:rPr lang="en-GB" dirty="0">
                <a:latin typeface="Arial" charset="0"/>
              </a:rPr>
              <a:t> de </a:t>
            </a:r>
            <a:r>
              <a:rPr lang="en-GB" dirty="0" err="1">
                <a:latin typeface="Arial" charset="0"/>
              </a:rPr>
              <a:t>serveur</a:t>
            </a:r>
            <a:r>
              <a:rPr lang="en-GB" dirty="0">
                <a:latin typeface="Arial" charset="0"/>
              </a:rPr>
              <a:t> ) : </a:t>
            </a:r>
            <a:r>
              <a:rPr lang="en-GB" dirty="0" err="1">
                <a:latin typeface="Arial" charset="0"/>
              </a:rPr>
              <a:t>Renommé</a:t>
            </a:r>
            <a:r>
              <a:rPr lang="en-GB" dirty="0">
                <a:latin typeface="Arial" charset="0"/>
              </a:rPr>
              <a:t> "Linux"</a:t>
            </a:r>
          </a:p>
          <a:p>
            <a:pPr>
              <a:lnSpc>
                <a:spcPct val="150000"/>
              </a:lnSpc>
            </a:pPr>
            <a:r>
              <a:rPr lang="fr-FR" dirty="0">
                <a:latin typeface="Arial" charset="0"/>
              </a:rPr>
              <a:t>Système d'exploitation libre et open source</a:t>
            </a:r>
            <a:endParaRPr lang="en-GB" dirty="0">
              <a:latin typeface="Arial" charset="0"/>
            </a:endParaRPr>
          </a:p>
          <a:p>
            <a:pPr lvl="1">
              <a:lnSpc>
                <a:spcPct val="150000"/>
              </a:lnSpc>
            </a:pPr>
            <a:r>
              <a:rPr lang="en-GB" dirty="0">
                <a:latin typeface="Arial" charset="0"/>
              </a:rPr>
              <a:t>&gt; 18.000.000 </a:t>
            </a:r>
            <a:r>
              <a:rPr lang="en-GB" dirty="0" err="1">
                <a:latin typeface="Arial" charset="0"/>
              </a:rPr>
              <a:t>lignes</a:t>
            </a:r>
            <a:r>
              <a:rPr lang="en-GB" dirty="0">
                <a:latin typeface="Arial" charset="0"/>
              </a:rPr>
              <a:t> de code source</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193329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Quelques différences avec Windows</a:t>
            </a:r>
          </a:p>
        </p:txBody>
      </p:sp>
      <p:sp>
        <p:nvSpPr>
          <p:cNvPr id="19" name="Rectangle 3"/>
          <p:cNvSpPr txBox="1">
            <a:spLocks noChangeArrowheads="1"/>
          </p:cNvSpPr>
          <p:nvPr/>
        </p:nvSpPr>
        <p:spPr bwMode="auto">
          <a:xfrm>
            <a:off x="457200" y="908720"/>
            <a:ext cx="8435280" cy="48965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150000"/>
              </a:lnSpc>
            </a:pPr>
            <a:r>
              <a:rPr lang="en-GB" dirty="0">
                <a:latin typeface="Arial" charset="0"/>
              </a:rPr>
              <a:t>Ce n’est pas : C:/, D:/ etc.</a:t>
            </a:r>
          </a:p>
          <a:p>
            <a:pPr lvl="1">
              <a:lnSpc>
                <a:spcPct val="150000"/>
              </a:lnSpc>
            </a:pPr>
            <a:r>
              <a:rPr lang="en-GB" dirty="0">
                <a:latin typeface="Arial" charset="0"/>
              </a:rPr>
              <a:t>Une racine commune root :   </a:t>
            </a:r>
            <a:r>
              <a:rPr lang="en-GB" dirty="0">
                <a:solidFill>
                  <a:srgbClr val="0000FF"/>
                </a:solidFill>
                <a:latin typeface="Arial" charset="0"/>
              </a:rPr>
              <a:t>/</a:t>
            </a:r>
          </a:p>
          <a:p>
            <a:pPr lvl="1">
              <a:lnSpc>
                <a:spcPct val="150000"/>
              </a:lnSpc>
            </a:pPr>
            <a:r>
              <a:rPr lang="en-GB" dirty="0">
                <a:latin typeface="Arial" charset="0"/>
              </a:rPr>
              <a:t>Les Périphériques sont des sous-</a:t>
            </a:r>
            <a:r>
              <a:rPr lang="en-GB" dirty="0" err="1">
                <a:latin typeface="Arial" charset="0"/>
              </a:rPr>
              <a:t>répertoires</a:t>
            </a:r>
            <a:r>
              <a:rPr lang="en-GB" dirty="0">
                <a:latin typeface="Arial" charset="0"/>
              </a:rPr>
              <a:t> : </a:t>
            </a:r>
            <a:r>
              <a:rPr lang="en-GB" dirty="0">
                <a:solidFill>
                  <a:srgbClr val="0000FF"/>
                </a:solidFill>
                <a:latin typeface="Arial" charset="0"/>
              </a:rPr>
              <a:t>/mnt/cdrom</a:t>
            </a:r>
          </a:p>
          <a:p>
            <a:pPr>
              <a:lnSpc>
                <a:spcPct val="150000"/>
              </a:lnSpc>
            </a:pPr>
            <a:r>
              <a:rPr lang="en-GB" dirty="0">
                <a:latin typeface="Arial" charset="0"/>
              </a:rPr>
              <a:t>Compte utilisateur :</a:t>
            </a:r>
          </a:p>
          <a:p>
            <a:pPr lvl="1">
              <a:lnSpc>
                <a:spcPct val="150000"/>
              </a:lnSpc>
            </a:pPr>
            <a:r>
              <a:rPr lang="en-GB" dirty="0">
                <a:latin typeface="Arial" charset="0"/>
              </a:rPr>
              <a:t>Espace disque privé </a:t>
            </a:r>
            <a:r>
              <a:rPr lang="en-GB" dirty="0">
                <a:solidFill>
                  <a:srgbClr val="0000FF"/>
                </a:solidFill>
                <a:latin typeface="Arial" charset="0"/>
              </a:rPr>
              <a:t>: /private/student/5/25/2363415 </a:t>
            </a:r>
            <a:r>
              <a:rPr lang="en-GB" dirty="0" err="1">
                <a:latin typeface="Arial" charset="0"/>
              </a:rPr>
              <a:t>ou</a:t>
            </a:r>
            <a:r>
              <a:rPr lang="en-GB" dirty="0">
                <a:latin typeface="Arial" charset="0"/>
              </a:rPr>
              <a:t> </a:t>
            </a:r>
            <a:r>
              <a:rPr lang="en-GB" dirty="0">
                <a:solidFill>
                  <a:srgbClr val="0000FF"/>
                </a:solidFill>
                <a:latin typeface="Arial" charset="0"/>
              </a:rPr>
              <a:t>~/2363415</a:t>
            </a:r>
          </a:p>
          <a:p>
            <a:pPr lvl="1">
              <a:lnSpc>
                <a:spcPct val="150000"/>
              </a:lnSpc>
            </a:pPr>
            <a:r>
              <a:rPr lang="en-GB" dirty="0">
                <a:solidFill>
                  <a:srgbClr val="000000"/>
                </a:solidFill>
                <a:latin typeface="Arial" charset="0"/>
                <a:cs typeface="Times New Roman"/>
              </a:rPr>
              <a:t>Appartient à un groupe</a:t>
            </a:r>
            <a:endParaRPr lang="en-GB" dirty="0">
              <a:solidFill>
                <a:srgbClr val="000000"/>
              </a:solidFill>
              <a:latin typeface="Times New Roman"/>
              <a:cs typeface="Times New Roman"/>
            </a:endParaRPr>
          </a:p>
          <a:p>
            <a:pPr>
              <a:lnSpc>
                <a:spcPct val="150000"/>
              </a:lnSpc>
            </a:pPr>
            <a:r>
              <a:rPr lang="fr-FR" dirty="0">
                <a:latin typeface="Arial" charset="0"/>
              </a:rPr>
              <a:t>Répertoires et fichiers : Droits d'accès</a:t>
            </a:r>
            <a:endParaRPr lang="en-GB" dirty="0">
              <a:latin typeface="Arial" charset="0"/>
            </a:endParaRPr>
          </a:p>
          <a:p>
            <a:pPr>
              <a:lnSpc>
                <a:spcPct val="150000"/>
              </a:lnSpc>
            </a:pPr>
            <a:r>
              <a:rPr lang="en-GB" dirty="0">
                <a:latin typeface="Arial" charset="0"/>
              </a:rPr>
              <a:t>Système d'interface : Shell</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271332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xEl>
                                              <p:charRg st="266" end="29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fr-FR" sz="2800" dirty="0">
                <a:latin typeface="Arial" charset="0"/>
              </a:rPr>
              <a:t>Interagir avec le système : Le Shell</a:t>
            </a:r>
            <a:endParaRPr lang="en-US" sz="2800" dirty="0">
              <a:latin typeface="Arial" charset="0"/>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pic>
        <p:nvPicPr>
          <p:cNvPr id="2" name="Picture 1" descr="Screenshot 2018-09-06 16.00.08.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87624" y="1592796"/>
            <a:ext cx="6734820" cy="4187750"/>
          </a:xfrm>
          <a:prstGeom prst="rect">
            <a:avLst/>
          </a:prstGeom>
        </p:spPr>
      </p:pic>
    </p:spTree>
    <p:extLst>
      <p:ext uri="{BB962C8B-B14F-4D97-AF65-F5344CB8AC3E}">
        <p14:creationId xmlns:p14="http://schemas.microsoft.com/office/powerpoint/2010/main" val="525209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Shell                                                      1/2</a:t>
            </a:r>
          </a:p>
        </p:txBody>
      </p:sp>
      <p:sp>
        <p:nvSpPr>
          <p:cNvPr id="19" name="Rectangle 3"/>
          <p:cNvSpPr txBox="1">
            <a:spLocks noChangeArrowheads="1"/>
          </p:cNvSpPr>
          <p:nvPr/>
        </p:nvSpPr>
        <p:spPr bwMode="auto">
          <a:xfrm>
            <a:off x="228600" y="1301801"/>
            <a:ext cx="8686800" cy="37084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150000"/>
              </a:lnSpc>
            </a:pPr>
            <a:r>
              <a:rPr lang="fr-FR" dirty="0">
                <a:latin typeface="Arial" charset="0"/>
              </a:rPr>
              <a:t>Interface en ligne de commande </a:t>
            </a:r>
            <a:r>
              <a:rPr lang="en-GB" dirty="0">
                <a:latin typeface="Arial" charset="0"/>
              </a:rPr>
              <a:t>(CLI)</a:t>
            </a:r>
          </a:p>
          <a:p>
            <a:pPr lvl="1">
              <a:lnSpc>
                <a:spcPct val="150000"/>
              </a:lnSpc>
            </a:pPr>
            <a:r>
              <a:rPr lang="fr-FR" dirty="0">
                <a:latin typeface="Arial" charset="0"/>
              </a:rPr>
              <a:t>Entrée : Les commandes que vous souhaitez exécuter (utilisation du clavier</a:t>
            </a:r>
            <a:r>
              <a:rPr lang="en-GB" dirty="0">
                <a:latin typeface="Arial" charset="0"/>
              </a:rPr>
              <a:t>)</a:t>
            </a:r>
          </a:p>
          <a:p>
            <a:pPr lvl="1">
              <a:lnSpc>
                <a:spcPct val="150000"/>
              </a:lnSpc>
            </a:pPr>
            <a:r>
              <a:rPr lang="fr-FR" dirty="0">
                <a:latin typeface="Arial" charset="0"/>
              </a:rPr>
              <a:t>Sortie : Le Shell transmet les commandes au système d'exploitation, qui les exécute et fournit le résultat (généralement à l'écran</a:t>
            </a:r>
            <a:r>
              <a:rPr lang="en-GB" dirty="0">
                <a:latin typeface="Arial" charset="0"/>
              </a:rPr>
              <a:t>)</a:t>
            </a:r>
          </a:p>
          <a:p>
            <a:pPr lvl="1">
              <a:lnSpc>
                <a:spcPct val="150000"/>
              </a:lnSpc>
            </a:pPr>
            <a:r>
              <a:rPr lang="en-GB" dirty="0">
                <a:latin typeface="Arial" charset="0"/>
              </a:rPr>
              <a:t>Scripts : Combinaison de commande</a:t>
            </a:r>
            <a:r>
              <a:rPr lang="en-GB" sz="2000" dirty="0">
                <a:latin typeface="Arial" charset="0"/>
              </a:rPr>
              <a:t>s </a:t>
            </a:r>
          </a:p>
          <a:p>
            <a:pPr lvl="1">
              <a:lnSpc>
                <a:spcPct val="150000"/>
              </a:lnSpc>
            </a:pPr>
            <a:r>
              <a:rPr lang="en-GB" dirty="0">
                <a:latin typeface="Arial" charset="0"/>
              </a:rPr>
              <a:t>Variables</a:t>
            </a:r>
          </a:p>
          <a:p>
            <a:pPr marL="542925" lvl="1" indent="0">
              <a:lnSpc>
                <a:spcPct val="150000"/>
              </a:lnSpc>
              <a:buNone/>
            </a:pPr>
            <a:endParaRPr lang="en-GB" sz="1200" dirty="0">
              <a:latin typeface="Arial" charset="0"/>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4215740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Shell                                                      2/2</a:t>
            </a:r>
          </a:p>
        </p:txBody>
      </p:sp>
      <p:sp>
        <p:nvSpPr>
          <p:cNvPr id="19" name="Rectangle 3"/>
          <p:cNvSpPr txBox="1">
            <a:spLocks noChangeArrowheads="1"/>
          </p:cNvSpPr>
          <p:nvPr/>
        </p:nvSpPr>
        <p:spPr bwMode="auto">
          <a:xfrm>
            <a:off x="143508" y="1087258"/>
            <a:ext cx="8859768" cy="468348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208"/>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a:lnSpc>
                <a:spcPct val="150000"/>
              </a:lnSpc>
            </a:pPr>
            <a:r>
              <a:rPr lang="fr-FR" dirty="0">
                <a:latin typeface="Arial" charset="0"/>
              </a:rPr>
              <a:t>Interaction avec le Shell : Émulateurs de terminal</a:t>
            </a:r>
            <a:endParaRPr lang="en-GB" dirty="0">
              <a:latin typeface="Arial" charset="0"/>
            </a:endParaRPr>
          </a:p>
          <a:p>
            <a:pPr lvl="1">
              <a:lnSpc>
                <a:spcPct val="150000"/>
              </a:lnSpc>
            </a:pPr>
            <a:r>
              <a:rPr lang="en-GB" dirty="0" err="1">
                <a:latin typeface="Arial" charset="0"/>
              </a:rPr>
              <a:t>Konsole</a:t>
            </a:r>
            <a:r>
              <a:rPr lang="en-GB" dirty="0">
                <a:latin typeface="Arial" charset="0"/>
              </a:rPr>
              <a:t>, </a:t>
            </a:r>
            <a:r>
              <a:rPr lang="en-GB" dirty="0" err="1">
                <a:latin typeface="Arial" charset="0"/>
              </a:rPr>
              <a:t>Xterm</a:t>
            </a:r>
            <a:r>
              <a:rPr lang="en-GB" dirty="0">
                <a:latin typeface="Arial" charset="0"/>
              </a:rPr>
              <a:t>, Gnome-terminal…</a:t>
            </a:r>
          </a:p>
          <a:p>
            <a:pPr lvl="1">
              <a:lnSpc>
                <a:spcPct val="150000"/>
              </a:lnSpc>
            </a:pPr>
            <a:endParaRPr lang="en-GB" sz="1200" dirty="0">
              <a:latin typeface="Arial" charset="0"/>
            </a:endParaRPr>
          </a:p>
          <a:p>
            <a:pPr>
              <a:lnSpc>
                <a:spcPct val="150000"/>
              </a:lnSpc>
            </a:pPr>
            <a:r>
              <a:rPr lang="en-GB" dirty="0" err="1">
                <a:latin typeface="Arial" charset="0"/>
              </a:rPr>
              <a:t>Plusieurs</a:t>
            </a:r>
            <a:r>
              <a:rPr lang="en-GB" dirty="0">
                <a:latin typeface="Arial" charset="0"/>
              </a:rPr>
              <a:t> shells sont </a:t>
            </a:r>
            <a:r>
              <a:rPr lang="en-GB" dirty="0" err="1">
                <a:latin typeface="Arial" charset="0"/>
              </a:rPr>
              <a:t>disponibles</a:t>
            </a:r>
            <a:endParaRPr lang="en-GB" dirty="0">
              <a:latin typeface="Arial" charset="0"/>
            </a:endParaRPr>
          </a:p>
          <a:p>
            <a:pPr lvl="1">
              <a:lnSpc>
                <a:spcPct val="150000"/>
              </a:lnSpc>
            </a:pPr>
            <a:r>
              <a:rPr lang="en-US" b="1" dirty="0" err="1">
                <a:latin typeface="Courier"/>
                <a:cs typeface="Courier"/>
              </a:rPr>
              <a:t>sh</a:t>
            </a:r>
            <a:r>
              <a:rPr lang="en-US" b="1" dirty="0">
                <a:latin typeface="Courier"/>
                <a:cs typeface="Courier"/>
              </a:rPr>
              <a:t>(shell </a:t>
            </a:r>
            <a:r>
              <a:rPr lang="en-US" b="1" dirty="0" err="1">
                <a:latin typeface="Courier"/>
                <a:cs typeface="Courier"/>
              </a:rPr>
              <a:t>Bourne</a:t>
            </a:r>
            <a:r>
              <a:rPr lang="en-US" b="1" dirty="0">
                <a:latin typeface="Courier"/>
                <a:cs typeface="Courier"/>
              </a:rPr>
              <a:t>), bash(shell </a:t>
            </a:r>
            <a:r>
              <a:rPr lang="en-US" b="1" dirty="0" err="1">
                <a:latin typeface="Courier"/>
                <a:cs typeface="Courier"/>
              </a:rPr>
              <a:t>Bourne</a:t>
            </a:r>
            <a:r>
              <a:rPr lang="en-US" b="1" dirty="0">
                <a:latin typeface="Courier"/>
                <a:cs typeface="Courier"/>
              </a:rPr>
              <a:t>), </a:t>
            </a:r>
            <a:r>
              <a:rPr lang="en-US" b="1" dirty="0" err="1">
                <a:latin typeface="Courier"/>
                <a:cs typeface="Courier"/>
              </a:rPr>
              <a:t>csh</a:t>
            </a:r>
            <a:r>
              <a:rPr lang="en-US" b="1" dirty="0">
                <a:latin typeface="Courier"/>
                <a:cs typeface="Courier"/>
              </a:rPr>
              <a:t>, </a:t>
            </a:r>
            <a:r>
              <a:rPr lang="en-US" b="1" dirty="0" err="1">
                <a:latin typeface="Courier"/>
                <a:cs typeface="Courier"/>
              </a:rPr>
              <a:t>zsh</a:t>
            </a:r>
            <a:r>
              <a:rPr lang="en-US" b="1" dirty="0">
                <a:latin typeface="Courier"/>
                <a:cs typeface="Courier"/>
              </a:rPr>
              <a:t>, </a:t>
            </a:r>
            <a:r>
              <a:rPr lang="en-US" b="1" dirty="0" err="1">
                <a:latin typeface="Courier"/>
                <a:cs typeface="Courier"/>
              </a:rPr>
              <a:t>ksh</a:t>
            </a:r>
            <a:r>
              <a:rPr lang="en-GB" dirty="0">
                <a:latin typeface="Arial" charset="0"/>
              </a:rPr>
              <a:t>…</a:t>
            </a:r>
            <a:endParaRPr lang="en-GB" sz="1050" dirty="0">
              <a:solidFill>
                <a:schemeClr val="tx1"/>
              </a:solidFill>
              <a:latin typeface="Arial" charset="0"/>
            </a:endParaRPr>
          </a:p>
          <a:p>
            <a:pPr>
              <a:lnSpc>
                <a:spcPct val="150000"/>
              </a:lnSpc>
            </a:pPr>
            <a:r>
              <a:rPr lang="fr-FR" dirty="0">
                <a:latin typeface="Arial" charset="0"/>
              </a:rPr>
              <a:t>Chaque utilisateur a un Shell pré-sélectionné</a:t>
            </a:r>
            <a:endParaRPr lang="en-GB" dirty="0">
              <a:latin typeface="Arial" charset="0"/>
            </a:endParaRPr>
          </a:p>
          <a:p>
            <a:pPr lvl="1">
              <a:lnSpc>
                <a:spcPct val="150000"/>
              </a:lnSpc>
            </a:pPr>
            <a:r>
              <a:rPr lang="fr-FR" dirty="0">
                <a:latin typeface="Arial" charset="0"/>
              </a:rPr>
              <a:t>Sélection dans le fichier </a:t>
            </a:r>
            <a:r>
              <a:rPr lang="en-GB" dirty="0">
                <a:latin typeface="Arial" charset="0"/>
              </a:rPr>
              <a:t>:</a:t>
            </a:r>
            <a:r>
              <a:rPr lang="en-GB" i="1" dirty="0">
                <a:latin typeface="Arial" charset="0"/>
              </a:rPr>
              <a:t> </a:t>
            </a:r>
            <a:r>
              <a:rPr lang="en-GB" dirty="0">
                <a:solidFill>
                  <a:srgbClr val="0000FF"/>
                </a:solidFill>
                <a:latin typeface="Arial" charset="0"/>
              </a:rPr>
              <a:t>/etc/passwd</a:t>
            </a:r>
          </a:p>
          <a:p>
            <a:pPr lvl="1">
              <a:lnSpc>
                <a:spcPct val="150000"/>
              </a:lnSpc>
            </a:pPr>
            <a:r>
              <a:rPr lang="fr-FR" dirty="0">
                <a:solidFill>
                  <a:schemeClr val="tx1"/>
                </a:solidFill>
                <a:latin typeface="Arial" charset="0"/>
              </a:rPr>
              <a:t>Commande pour changer le Shell </a:t>
            </a:r>
            <a:r>
              <a:rPr lang="en-GB" dirty="0">
                <a:solidFill>
                  <a:schemeClr val="tx1"/>
                </a:solidFill>
                <a:latin typeface="Arial" charset="0"/>
              </a:rPr>
              <a:t>: </a:t>
            </a:r>
            <a:r>
              <a:rPr lang="en-GB" b="1" dirty="0" err="1">
                <a:solidFill>
                  <a:schemeClr val="tx1"/>
                </a:solidFill>
                <a:latin typeface="Courier"/>
                <a:cs typeface="Courier"/>
              </a:rPr>
              <a:t>chsh</a:t>
            </a:r>
            <a:endParaRPr lang="en-GB" b="1" dirty="0">
              <a:solidFill>
                <a:schemeClr val="tx1"/>
              </a:solidFill>
              <a:latin typeface="Courier"/>
              <a:cs typeface="Courier"/>
            </a:endParaRPr>
          </a:p>
          <a:p>
            <a:pPr marL="542925" lvl="1" indent="0">
              <a:lnSpc>
                <a:spcPct val="150000"/>
              </a:lnSpc>
              <a:buNone/>
            </a:pPr>
            <a:endParaRPr lang="en-GB" sz="1200" dirty="0">
              <a:latin typeface="Arial" charset="0"/>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2960304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8</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Répertoires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251520" y="980728"/>
            <a:ext cx="8686800" cy="5364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Répertoire personnel ($HOME)</a:t>
            </a:r>
          </a:p>
          <a:p>
            <a:pPr lvl="1"/>
            <a:r>
              <a:rPr lang="fr-FR" dirty="0">
                <a:solidFill>
                  <a:srgbClr val="000000"/>
                </a:solidFill>
                <a:latin typeface="Arial" charset="0"/>
              </a:rPr>
              <a:t>Chaque utilisateur a un répertoire personnel lié à son nom</a:t>
            </a:r>
            <a:endParaRPr lang="en-GB" dirty="0">
              <a:solidFill>
                <a:srgbClr val="000000"/>
              </a:solidFill>
              <a:latin typeface="Arial" charset="0"/>
            </a:endParaRPr>
          </a:p>
          <a:p>
            <a:pPr lvl="1"/>
            <a:r>
              <a:rPr lang="en-GB" dirty="0">
                <a:solidFill>
                  <a:srgbClr val="000000"/>
                </a:solidFill>
                <a:latin typeface="Arial" charset="0"/>
              </a:rPr>
              <a:t>Nom : </a:t>
            </a:r>
            <a:r>
              <a:rPr lang="en-GB" dirty="0">
                <a:solidFill>
                  <a:srgbClr val="0000FF"/>
                </a:solidFill>
                <a:latin typeface="Arial" charset="0"/>
              </a:rPr>
              <a:t>2363415 </a:t>
            </a:r>
          </a:p>
          <a:p>
            <a:pPr lvl="1"/>
            <a:r>
              <a:rPr lang="en-GB" dirty="0">
                <a:solidFill>
                  <a:srgbClr val="000000"/>
                </a:solidFill>
                <a:latin typeface="Arial" charset="0"/>
              </a:rPr>
              <a:t>Répertoire Home : </a:t>
            </a:r>
            <a:r>
              <a:rPr lang="en-GB" dirty="0">
                <a:solidFill>
                  <a:srgbClr val="0000FF"/>
                </a:solidFill>
                <a:latin typeface="Arial" charset="0"/>
              </a:rPr>
              <a:t>/private/student/5/25/2363415 </a:t>
            </a:r>
            <a:r>
              <a:rPr lang="en-GB" dirty="0" err="1">
                <a:latin typeface="Arial" charset="0"/>
              </a:rPr>
              <a:t>ou</a:t>
            </a:r>
            <a:r>
              <a:rPr lang="en-GB" dirty="0">
                <a:latin typeface="Arial" charset="0"/>
              </a:rPr>
              <a:t> </a:t>
            </a:r>
            <a:r>
              <a:rPr lang="en-GB" dirty="0">
                <a:solidFill>
                  <a:srgbClr val="0000FF"/>
                </a:solidFill>
                <a:latin typeface="Arial" charset="0"/>
              </a:rPr>
              <a:t>~/2363415</a:t>
            </a:r>
          </a:p>
          <a:p>
            <a:pPr lvl="1"/>
            <a:endParaRPr lang="en-GB" dirty="0">
              <a:latin typeface="Arial" charset="0"/>
            </a:endParaRPr>
          </a:p>
          <a:p>
            <a:r>
              <a:rPr lang="en-GB" dirty="0">
                <a:latin typeface="Arial" charset="0"/>
                <a:sym typeface="Wingdings"/>
              </a:rPr>
              <a:t>Répertoire de travail ($PWD)</a:t>
            </a:r>
          </a:p>
          <a:p>
            <a:pPr lvl="1"/>
            <a:r>
              <a:rPr lang="en-GB" dirty="0">
                <a:latin typeface="Arial" charset="0"/>
                <a:sym typeface="Wingdings"/>
              </a:rPr>
              <a:t>Répertoire courant</a:t>
            </a:r>
          </a:p>
          <a:p>
            <a:pPr lvl="1"/>
            <a:r>
              <a:rPr lang="en-GB" dirty="0">
                <a:latin typeface="Arial" charset="0"/>
                <a:sym typeface="Wingdings"/>
              </a:rPr>
              <a:t>Lorsque vous êtes connecté :</a:t>
            </a:r>
            <a:r>
              <a:rPr lang="fr-FR" dirty="0">
                <a:latin typeface="Arial" charset="0"/>
                <a:sym typeface="Wingdings"/>
              </a:rPr>
              <a:t> Répertoire de travail = Répertoire personnel</a:t>
            </a:r>
            <a:endParaRPr lang="en-GB" dirty="0">
              <a:latin typeface="Arial" charset="0"/>
            </a:endParaRPr>
          </a:p>
          <a:p>
            <a:pPr marL="542925" lvl="1" indent="0">
              <a:buNone/>
            </a:pPr>
            <a:endParaRPr lang="en-GB" sz="2000" b="1" dirty="0">
              <a:solidFill>
                <a:srgbClr val="000000"/>
              </a:solidFill>
              <a:latin typeface="Courier"/>
              <a:cs typeface="Courier"/>
            </a:endParaRPr>
          </a:p>
          <a:p>
            <a:r>
              <a:rPr lang="en-GB" dirty="0">
                <a:solidFill>
                  <a:srgbClr val="000000"/>
                </a:solidFill>
                <a:cs typeface="Courier"/>
              </a:rPr>
              <a:t>Répertoire courant : </a:t>
            </a:r>
            <a:r>
              <a:rPr lang="en-GB" dirty="0">
                <a:solidFill>
                  <a:srgbClr val="000000"/>
                </a:solidFill>
                <a:latin typeface="Courier"/>
                <a:cs typeface="Courier"/>
              </a:rPr>
              <a:t>.</a:t>
            </a:r>
          </a:p>
          <a:p>
            <a:r>
              <a:rPr lang="en-GB" dirty="0">
                <a:solidFill>
                  <a:srgbClr val="000000"/>
                </a:solidFill>
                <a:cs typeface="Courier"/>
              </a:rPr>
              <a:t>Répertoire parent : </a:t>
            </a:r>
            <a:r>
              <a:rPr lang="en-GB" dirty="0">
                <a:solidFill>
                  <a:srgbClr val="000000"/>
                </a:solidFill>
                <a:latin typeface="Courier"/>
                <a:cs typeface="Courier"/>
              </a:rPr>
              <a:t>..</a:t>
            </a:r>
          </a:p>
          <a:p>
            <a:r>
              <a:rPr lang="en-GB" dirty="0">
                <a:solidFill>
                  <a:srgbClr val="000000"/>
                </a:solidFill>
                <a:cs typeface="Courier"/>
              </a:rPr>
              <a:t>Répertoire Root  : </a:t>
            </a:r>
            <a:r>
              <a:rPr lang="en-GB" dirty="0">
                <a:solidFill>
                  <a:srgbClr val="000000"/>
                </a:solidFill>
                <a:latin typeface="Courier"/>
                <a:cs typeface="Courier"/>
              </a:rPr>
              <a:t>/</a:t>
            </a:r>
          </a:p>
          <a:p>
            <a:r>
              <a:rPr lang="en-GB" dirty="0">
                <a:solidFill>
                  <a:srgbClr val="000000"/>
                </a:solidFill>
                <a:cs typeface="Courier"/>
              </a:rPr>
              <a:t>Répertoire personnel de l’utilisateur : </a:t>
            </a:r>
            <a:r>
              <a:rPr lang="en-GB" dirty="0">
                <a:solidFill>
                  <a:srgbClr val="000000"/>
                </a:solidFill>
                <a:latin typeface="Courier"/>
                <a:cs typeface="Courier"/>
              </a:rPr>
              <a:t>~</a:t>
            </a:r>
          </a:p>
          <a:p>
            <a:endParaRPr lang="en-GB" dirty="0">
              <a:solidFill>
                <a:srgbClr val="000000"/>
              </a:solidFill>
              <a:latin typeface="Courier"/>
              <a:cs typeface="Courier"/>
            </a:endParaRPr>
          </a:p>
          <a:p>
            <a:endParaRPr lang="en-GB" sz="2400" dirty="0">
              <a:solidFill>
                <a:srgbClr val="000000"/>
              </a:solidFill>
              <a:cs typeface="Courier"/>
            </a:endParaRPr>
          </a:p>
        </p:txBody>
      </p:sp>
    </p:spTree>
    <p:extLst>
      <p:ext uri="{BB962C8B-B14F-4D97-AF65-F5344CB8AC3E}">
        <p14:creationId xmlns:p14="http://schemas.microsoft.com/office/powerpoint/2010/main" val="75411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9</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Chemins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471284" cy="41764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Absolu </a:t>
            </a:r>
          </a:p>
          <a:p>
            <a:pPr lvl="1"/>
            <a:r>
              <a:rPr lang="en-GB" dirty="0">
                <a:latin typeface="Arial" charset="0"/>
              </a:rPr>
              <a:t>From root directory  </a:t>
            </a:r>
            <a:r>
              <a:rPr lang="en-GB" dirty="0">
                <a:solidFill>
                  <a:srgbClr val="0000FF"/>
                </a:solidFill>
                <a:latin typeface="Arial" charset="0"/>
              </a:rPr>
              <a:t>/ </a:t>
            </a:r>
            <a:r>
              <a:rPr lang="en-GB" dirty="0">
                <a:solidFill>
                  <a:schemeClr val="tx1"/>
                </a:solidFill>
                <a:latin typeface="Arial" charset="0"/>
              </a:rPr>
              <a:t>:</a:t>
            </a:r>
            <a:r>
              <a:rPr lang="en-GB" dirty="0">
                <a:latin typeface="Arial" charset="0"/>
              </a:rPr>
              <a:t> </a:t>
            </a:r>
            <a:r>
              <a:rPr lang="en-GB" dirty="0">
                <a:solidFill>
                  <a:srgbClr val="0000FF"/>
                </a:solidFill>
                <a:latin typeface="Arial" charset="0"/>
              </a:rPr>
              <a:t>/private/student/5/25/2363415</a:t>
            </a:r>
          </a:p>
          <a:p>
            <a:pPr lvl="1"/>
            <a:endParaRPr lang="en-GB" dirty="0">
              <a:solidFill>
                <a:schemeClr val="tx1"/>
              </a:solidFill>
              <a:latin typeface="Arial" charset="0"/>
            </a:endParaRPr>
          </a:p>
          <a:p>
            <a:r>
              <a:rPr lang="en-GB" dirty="0">
                <a:solidFill>
                  <a:schemeClr val="tx1"/>
                </a:solidFill>
                <a:latin typeface="Arial" charset="0"/>
              </a:rPr>
              <a:t>Relatif </a:t>
            </a:r>
          </a:p>
          <a:p>
            <a:pPr lvl="1"/>
            <a:r>
              <a:rPr lang="fr-FR" dirty="0">
                <a:solidFill>
                  <a:schemeClr val="tx1"/>
                </a:solidFill>
                <a:latin typeface="Arial" charset="0"/>
              </a:rPr>
              <a:t>À partir du répertoire de travail </a:t>
            </a:r>
            <a:r>
              <a:rPr lang="en-GB" dirty="0">
                <a:solidFill>
                  <a:schemeClr val="tx1"/>
                </a:solidFill>
                <a:latin typeface="Arial" charset="0"/>
              </a:rPr>
              <a:t>: </a:t>
            </a:r>
          </a:p>
          <a:p>
            <a:pPr lvl="2"/>
            <a:r>
              <a:rPr lang="fr-FR" sz="2000" dirty="0">
                <a:solidFill>
                  <a:schemeClr val="tx1"/>
                </a:solidFill>
                <a:latin typeface="Arial" charset="0"/>
              </a:rPr>
              <a:t>Supposons le répertoire de travail suivant </a:t>
            </a:r>
            <a:r>
              <a:rPr lang="en-GB" sz="2000" dirty="0">
                <a:solidFill>
                  <a:schemeClr val="tx1"/>
                </a:solidFill>
                <a:latin typeface="Arial" charset="0"/>
              </a:rPr>
              <a:t>: </a:t>
            </a:r>
          </a:p>
          <a:p>
            <a:pPr lvl="2" indent="0">
              <a:buNone/>
            </a:pPr>
            <a:r>
              <a:rPr lang="en-GB" sz="2000" dirty="0">
                <a:solidFill>
                  <a:srgbClr val="0000FF"/>
                </a:solidFill>
                <a:latin typeface="Arial" charset="0"/>
              </a:rPr>
              <a:t>/private/student/5/25/2363415</a:t>
            </a:r>
          </a:p>
          <a:p>
            <a:pPr lvl="2"/>
            <a:r>
              <a:rPr lang="fr-FR" sz="2000" dirty="0">
                <a:solidFill>
                  <a:schemeClr val="tx1"/>
                </a:solidFill>
                <a:latin typeface="Arial" charset="0"/>
              </a:rPr>
              <a:t>Vous pouvez accéder à un fichier dans un autre répertoire</a:t>
            </a:r>
            <a:r>
              <a:rPr lang="en-GB" sz="2000" dirty="0">
                <a:solidFill>
                  <a:schemeClr val="tx1"/>
                </a:solidFill>
                <a:latin typeface="Arial" charset="0"/>
              </a:rPr>
              <a:t> </a:t>
            </a:r>
            <a:r>
              <a:rPr lang="en-GB" sz="2000" dirty="0">
                <a:solidFill>
                  <a:srgbClr val="0000FF"/>
                </a:solidFill>
                <a:latin typeface="Arial" charset="0"/>
              </a:rPr>
              <a:t>/private/student/5/25/2363414</a:t>
            </a:r>
            <a:r>
              <a:rPr lang="en-GB" sz="2000" dirty="0">
                <a:solidFill>
                  <a:schemeClr val="tx1"/>
                </a:solidFill>
                <a:latin typeface="Arial" charset="0"/>
              </a:rPr>
              <a:t> par : </a:t>
            </a:r>
            <a:r>
              <a:rPr lang="en-GB" sz="2000" dirty="0">
                <a:solidFill>
                  <a:srgbClr val="0000FF"/>
                </a:solidFill>
                <a:latin typeface="Arial" charset="0"/>
              </a:rPr>
              <a:t> </a:t>
            </a:r>
          </a:p>
          <a:p>
            <a:pPr lvl="2" indent="0">
              <a:buNone/>
            </a:pPr>
            <a:r>
              <a:rPr lang="en-GB" sz="2000" dirty="0">
                <a:solidFill>
                  <a:srgbClr val="0000FF"/>
                </a:solidFill>
                <a:latin typeface="Arial" charset="0"/>
              </a:rPr>
              <a:t>../2363414</a:t>
            </a:r>
          </a:p>
          <a:p>
            <a:pPr marL="542925" lvl="1" indent="0">
              <a:buNone/>
            </a:pPr>
            <a:endParaRPr lang="en-GB" dirty="0">
              <a:latin typeface="Arial" charset="0"/>
            </a:endParaRPr>
          </a:p>
        </p:txBody>
      </p:sp>
    </p:spTree>
    <p:extLst>
      <p:ext uri="{BB962C8B-B14F-4D97-AF65-F5344CB8AC3E}">
        <p14:creationId xmlns:p14="http://schemas.microsoft.com/office/powerpoint/2010/main" val="2330205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10</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Caractères génériques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287524" y="908720"/>
            <a:ext cx="8686800" cy="49685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fr-FR" dirty="0">
                <a:latin typeface="Arial" charset="0"/>
              </a:rPr>
              <a:t>Caractères génériques spéciaux qui peuvent être utilisés en combinaison avec des commandes</a:t>
            </a:r>
          </a:p>
          <a:p>
            <a:pPr marL="0" indent="0">
              <a:buNone/>
            </a:pPr>
            <a:endParaRPr lang="en-GB" dirty="0">
              <a:latin typeface="Arial" charset="0"/>
            </a:endParaRPr>
          </a:p>
          <a:p>
            <a:r>
              <a:rPr lang="fr-FR" dirty="0">
                <a:latin typeface="Arial" charset="0"/>
              </a:rPr>
              <a:t>Un seul et unique caractère : ?</a:t>
            </a:r>
            <a:r>
              <a:rPr lang="en-GB" dirty="0">
                <a:solidFill>
                  <a:srgbClr val="000000"/>
                </a:solidFill>
                <a:latin typeface="Courier"/>
                <a:cs typeface="Courier"/>
              </a:rPr>
              <a:t> </a:t>
            </a:r>
          </a:p>
          <a:p>
            <a:pPr lvl="1"/>
            <a:r>
              <a:rPr lang="en-GB" sz="2000" dirty="0">
                <a:solidFill>
                  <a:schemeClr val="tx1"/>
                </a:solidFill>
              </a:rPr>
              <a:t>Ex </a:t>
            </a:r>
            <a:r>
              <a:rPr lang="en-GB" sz="2000" dirty="0">
                <a:solidFill>
                  <a:schemeClr val="tx1"/>
                </a:solidFill>
                <a:cs typeface="Courier"/>
              </a:rPr>
              <a:t>:</a:t>
            </a:r>
            <a:r>
              <a:rPr lang="en-GB" sz="2000" b="1" dirty="0">
                <a:solidFill>
                  <a:schemeClr val="tx1"/>
                </a:solidFill>
                <a:cs typeface="Courier"/>
              </a:rPr>
              <a:t> </a:t>
            </a:r>
            <a:r>
              <a:rPr lang="en-GB" b="1" dirty="0">
                <a:solidFill>
                  <a:schemeClr val="tx1"/>
                </a:solidFill>
                <a:latin typeface="Courier"/>
                <a:cs typeface="Courier"/>
              </a:rPr>
              <a:t>ls /etc/</a:t>
            </a:r>
            <a:r>
              <a:rPr lang="en-GB" b="1" dirty="0" err="1">
                <a:solidFill>
                  <a:schemeClr val="tx1"/>
                </a:solidFill>
                <a:latin typeface="Courier"/>
                <a:cs typeface="Courier"/>
              </a:rPr>
              <a:t>rc</a:t>
            </a:r>
            <a:r>
              <a:rPr lang="en-GB" b="1" dirty="0">
                <a:solidFill>
                  <a:schemeClr val="tx1"/>
                </a:solidFill>
                <a:latin typeface="Courier"/>
                <a:cs typeface="Courier"/>
              </a:rPr>
              <a:t>????</a:t>
            </a:r>
            <a:endParaRPr lang="en-GB" sz="2000" b="1" dirty="0">
              <a:solidFill>
                <a:schemeClr val="tx1"/>
              </a:solidFill>
              <a:latin typeface="Courier"/>
              <a:cs typeface="Courier"/>
            </a:endParaRPr>
          </a:p>
          <a:p>
            <a:pPr marL="542925" lvl="1" indent="0">
              <a:buNone/>
            </a:pPr>
            <a:endParaRPr lang="en-GB" dirty="0">
              <a:latin typeface="Arial" charset="0"/>
            </a:endParaRPr>
          </a:p>
          <a:p>
            <a:pPr marL="363538" lvl="1" indent="-363538">
              <a:buSzPct val="75000"/>
              <a:buBlip>
                <a:blip r:embed="rId3"/>
              </a:buBlip>
            </a:pPr>
            <a:r>
              <a:rPr lang="fr-FR" sz="2400" dirty="0">
                <a:latin typeface="Arial" charset="0"/>
                <a:sym typeface="Wingdings"/>
              </a:rPr>
              <a:t>De 0 à plusieurs caractères </a:t>
            </a:r>
            <a:r>
              <a:rPr lang="en-GB" sz="2400" dirty="0">
                <a:latin typeface="Arial" charset="0"/>
                <a:sym typeface="Wingdings"/>
              </a:rPr>
              <a:t>: </a:t>
            </a:r>
            <a:r>
              <a:rPr lang="en-GB" sz="2400" b="1" dirty="0">
                <a:solidFill>
                  <a:srgbClr val="000000"/>
                </a:solidFill>
                <a:latin typeface="Courier"/>
                <a:cs typeface="Courier"/>
                <a:sym typeface="Wingdings"/>
              </a:rPr>
              <a:t>*</a:t>
            </a:r>
            <a:endParaRPr lang="en-GB" sz="2400" dirty="0">
              <a:latin typeface="Arial" charset="0"/>
              <a:sym typeface="Wingdings"/>
            </a:endParaRPr>
          </a:p>
          <a:p>
            <a:pPr lvl="1"/>
            <a:r>
              <a:rPr lang="en-GB" sz="2000" dirty="0">
                <a:solidFill>
                  <a:srgbClr val="000000"/>
                </a:solidFill>
                <a:latin typeface="Arial" charset="0"/>
              </a:rPr>
              <a:t>Ex: </a:t>
            </a:r>
            <a:r>
              <a:rPr lang="en-GB" b="1" dirty="0">
                <a:solidFill>
                  <a:srgbClr val="000000"/>
                </a:solidFill>
                <a:latin typeface="Courier"/>
                <a:cs typeface="Courier"/>
              </a:rPr>
              <a:t>ls</a:t>
            </a:r>
            <a:r>
              <a:rPr lang="en-GB" sz="2000" b="1" dirty="0">
                <a:solidFill>
                  <a:srgbClr val="000000"/>
                </a:solidFill>
                <a:latin typeface="Courier"/>
                <a:cs typeface="Courier"/>
              </a:rPr>
              <a:t> /etc/</a:t>
            </a:r>
            <a:r>
              <a:rPr lang="en-GB" sz="2000" b="1" dirty="0" err="1">
                <a:solidFill>
                  <a:srgbClr val="000000"/>
                </a:solidFill>
                <a:latin typeface="Courier"/>
                <a:cs typeface="Courier"/>
              </a:rPr>
              <a:t>rc</a:t>
            </a:r>
            <a:r>
              <a:rPr lang="en-GB" sz="2000" b="1" dirty="0">
                <a:solidFill>
                  <a:srgbClr val="000000"/>
                </a:solidFill>
                <a:latin typeface="Courier"/>
                <a:cs typeface="Courier"/>
              </a:rPr>
              <a:t>*</a:t>
            </a:r>
          </a:p>
          <a:p>
            <a:pPr lvl="1"/>
            <a:endParaRPr lang="en-GB" dirty="0">
              <a:latin typeface="Arial" charset="0"/>
            </a:endParaRPr>
          </a:p>
          <a:p>
            <a:pPr marL="363538" lvl="1" indent="-363538">
              <a:buSzPct val="75000"/>
              <a:buBlip>
                <a:blip r:embed="rId3"/>
              </a:buBlip>
            </a:pPr>
            <a:r>
              <a:rPr lang="en-GB" sz="2400" dirty="0">
                <a:latin typeface="Arial" charset="0"/>
                <a:sym typeface="Wingdings"/>
              </a:rPr>
              <a:t>Caractères </a:t>
            </a:r>
            <a:r>
              <a:rPr lang="en-GB" sz="2400" dirty="0" err="1">
                <a:latin typeface="Arial" charset="0"/>
                <a:sym typeface="Wingdings"/>
              </a:rPr>
              <a:t>spécifiques</a:t>
            </a:r>
            <a:r>
              <a:rPr lang="en-GB" sz="2400" dirty="0">
                <a:latin typeface="Arial" charset="0"/>
                <a:sym typeface="Wingdings"/>
              </a:rPr>
              <a:t> : </a:t>
            </a:r>
            <a:r>
              <a:rPr lang="en-GB" sz="2400" b="1" dirty="0">
                <a:solidFill>
                  <a:srgbClr val="000000"/>
                </a:solidFill>
                <a:latin typeface="Courier"/>
                <a:cs typeface="Courier"/>
                <a:sym typeface="Wingdings"/>
              </a:rPr>
              <a:t>[…]</a:t>
            </a:r>
            <a:endParaRPr lang="en-GB" sz="2400" dirty="0">
              <a:latin typeface="Arial" charset="0"/>
              <a:sym typeface="Wingdings"/>
            </a:endParaRPr>
          </a:p>
          <a:p>
            <a:pPr lvl="1"/>
            <a:r>
              <a:rPr lang="en-GB" dirty="0">
                <a:solidFill>
                  <a:srgbClr val="000000"/>
                </a:solidFill>
                <a:latin typeface="Arial" charset="0"/>
              </a:rPr>
              <a:t>Ex : </a:t>
            </a:r>
            <a:r>
              <a:rPr lang="en-GB" b="1" dirty="0">
                <a:solidFill>
                  <a:srgbClr val="000000"/>
                </a:solidFill>
                <a:latin typeface="Courier"/>
                <a:cs typeface="Courier"/>
              </a:rPr>
              <a:t>ls [</a:t>
            </a:r>
            <a:r>
              <a:rPr lang="en-GB" b="1" dirty="0" err="1">
                <a:solidFill>
                  <a:srgbClr val="000000"/>
                </a:solidFill>
                <a:latin typeface="Courier"/>
                <a:cs typeface="Courier"/>
              </a:rPr>
              <a:t>abc</a:t>
            </a:r>
            <a:r>
              <a:rPr lang="en-GB" b="1" dirty="0">
                <a:solidFill>
                  <a:srgbClr val="000000"/>
                </a:solidFill>
                <a:latin typeface="Courier"/>
                <a:cs typeface="Courier"/>
              </a:rPr>
              <a:t>]</a:t>
            </a:r>
            <a:r>
              <a:rPr lang="en-GB" b="1" dirty="0" err="1">
                <a:solidFill>
                  <a:srgbClr val="000000"/>
                </a:solidFill>
                <a:latin typeface="Courier"/>
                <a:cs typeface="Courier"/>
              </a:rPr>
              <a:t>oo.c</a:t>
            </a:r>
            <a:endParaRPr lang="en-GB" b="1" dirty="0">
              <a:solidFill>
                <a:srgbClr val="000000"/>
              </a:solidFill>
              <a:latin typeface="Courier"/>
              <a:cs typeface="Courier"/>
            </a:endParaRPr>
          </a:p>
          <a:p>
            <a:pPr marL="542925" lvl="1" indent="0">
              <a:buNone/>
            </a:pPr>
            <a:r>
              <a:rPr lang="en-GB" b="1" dirty="0" err="1">
                <a:solidFill>
                  <a:srgbClr val="000000"/>
                </a:solidFill>
                <a:latin typeface="Courier"/>
                <a:cs typeface="Courier"/>
              </a:rPr>
              <a:t>aoo.c</a:t>
            </a:r>
            <a:r>
              <a:rPr lang="en-GB" b="1" dirty="0">
                <a:solidFill>
                  <a:srgbClr val="000000"/>
                </a:solidFill>
                <a:latin typeface="Courier"/>
                <a:cs typeface="Courier"/>
              </a:rPr>
              <a:t>, </a:t>
            </a:r>
            <a:r>
              <a:rPr lang="en-GB" b="1" dirty="0" err="1">
                <a:solidFill>
                  <a:srgbClr val="000000"/>
                </a:solidFill>
                <a:latin typeface="Courier"/>
                <a:cs typeface="Courier"/>
              </a:rPr>
              <a:t>boo.c</a:t>
            </a:r>
            <a:r>
              <a:rPr lang="en-GB" b="1" dirty="0">
                <a:solidFill>
                  <a:srgbClr val="000000"/>
                </a:solidFill>
                <a:latin typeface="Courier"/>
                <a:cs typeface="Courier"/>
              </a:rPr>
              <a:t>, </a:t>
            </a:r>
            <a:r>
              <a:rPr lang="en-GB" b="1" dirty="0" err="1">
                <a:solidFill>
                  <a:srgbClr val="000000"/>
                </a:solidFill>
                <a:latin typeface="Courier"/>
                <a:cs typeface="Courier"/>
              </a:rPr>
              <a:t>coo.c</a:t>
            </a:r>
            <a:endParaRPr lang="en-GB" b="1" dirty="0">
              <a:solidFill>
                <a:srgbClr val="000000"/>
              </a:solidFill>
              <a:latin typeface="Courier"/>
              <a:cs typeface="Courier"/>
            </a:endParaRPr>
          </a:p>
          <a:p>
            <a:pPr marL="0" indent="0">
              <a:buNone/>
            </a:pPr>
            <a:endParaRPr lang="en-GB" dirty="0">
              <a:latin typeface="Arial" charset="0"/>
            </a:endParaRPr>
          </a:p>
        </p:txBody>
      </p:sp>
    </p:spTree>
    <p:extLst>
      <p:ext uri="{BB962C8B-B14F-4D97-AF65-F5344CB8AC3E}">
        <p14:creationId xmlns:p14="http://schemas.microsoft.com/office/powerpoint/2010/main" val="211230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8543292" cy="533400"/>
          </a:xfrm>
        </p:spPr>
        <p:txBody>
          <a:bodyPr/>
          <a:lstStyle/>
          <a:p>
            <a:r>
              <a:rPr lang="fr-FR" sz="2600" dirty="0"/>
              <a:t>Comment les traiter comme normaux (par le Shell)</a:t>
            </a:r>
            <a:endParaRPr lang="en-US" sz="2600" dirty="0"/>
          </a:p>
        </p:txBody>
      </p:sp>
      <p:sp>
        <p:nvSpPr>
          <p:cNvPr id="3" name="Content Placeholder 2"/>
          <p:cNvSpPr>
            <a:spLocks noGrp="1"/>
          </p:cNvSpPr>
          <p:nvPr>
            <p:ph idx="1"/>
          </p:nvPr>
        </p:nvSpPr>
        <p:spPr>
          <a:xfrm>
            <a:off x="107504" y="914400"/>
            <a:ext cx="8892988" cy="5394920"/>
          </a:xfrm>
        </p:spPr>
        <p:txBody>
          <a:bodyPr/>
          <a:lstStyle/>
          <a:p>
            <a:pPr>
              <a:lnSpc>
                <a:spcPct val="150000"/>
              </a:lnSpc>
            </a:pPr>
            <a:r>
              <a:rPr lang="fr-FR" dirty="0">
                <a:solidFill>
                  <a:srgbClr val="000000"/>
                </a:solidFill>
                <a:ea typeface="DejaVu Sans"/>
                <a:cs typeface="Courier"/>
              </a:rPr>
              <a:t>Préserver la valeur littérale du caractère suivant  :</a:t>
            </a:r>
            <a:r>
              <a:rPr lang="en-US" dirty="0">
                <a:solidFill>
                  <a:srgbClr val="000000"/>
                </a:solidFill>
                <a:ea typeface="DejaVu Sans"/>
                <a:cs typeface="Courier"/>
              </a:rPr>
              <a:t>	</a:t>
            </a:r>
            <a:r>
              <a:rPr lang="en-US" b="1" dirty="0">
                <a:solidFill>
                  <a:srgbClr val="000000"/>
                </a:solidFill>
                <a:latin typeface="Courier"/>
                <a:ea typeface="Courier New"/>
                <a:cs typeface="Courier"/>
              </a:rPr>
              <a:t>\</a:t>
            </a:r>
          </a:p>
          <a:p>
            <a:pPr>
              <a:lnSpc>
                <a:spcPct val="150000"/>
              </a:lnSpc>
            </a:pPr>
            <a:r>
              <a:rPr lang="fr-FR" dirty="0">
                <a:solidFill>
                  <a:srgbClr val="000000"/>
                </a:solidFill>
                <a:ea typeface="DejaVu Sans"/>
                <a:cs typeface="Courier"/>
              </a:rPr>
              <a:t>Préserver la valeur littérale d'une séquence de caractères : </a:t>
            </a:r>
            <a:r>
              <a:rPr lang="en-US" b="1" dirty="0">
                <a:solidFill>
                  <a:srgbClr val="000000"/>
                </a:solidFill>
                <a:latin typeface="Courier"/>
                <a:ea typeface="Courier New"/>
                <a:cs typeface="Courier"/>
              </a:rPr>
              <a:t>‘…’</a:t>
            </a:r>
            <a:r>
              <a:rPr lang="en-US" b="1" dirty="0">
                <a:solidFill>
                  <a:srgbClr val="000000"/>
                </a:solidFill>
                <a:ea typeface="Courier New"/>
                <a:cs typeface="Courier New"/>
              </a:rPr>
              <a:t> (guillemets simples) </a:t>
            </a:r>
            <a:endParaRPr lang="en-US" b="1" dirty="0">
              <a:solidFill>
                <a:srgbClr val="000000"/>
              </a:solidFill>
              <a:latin typeface="Courier"/>
              <a:ea typeface="Courier New"/>
              <a:cs typeface="Courier"/>
            </a:endParaRPr>
          </a:p>
          <a:p>
            <a:pPr>
              <a:lnSpc>
                <a:spcPct val="150000"/>
              </a:lnSpc>
            </a:pPr>
            <a:r>
              <a:rPr lang="fr-FR" dirty="0">
                <a:solidFill>
                  <a:srgbClr val="000000"/>
                </a:solidFill>
                <a:latin typeface="Arial" charset="0"/>
              </a:rPr>
              <a:t>Comme précédemment, sauf pour les caractères $ et ` : </a:t>
            </a:r>
          </a:p>
          <a:p>
            <a:pPr marL="0" indent="0" algn="r">
              <a:lnSpc>
                <a:spcPct val="150000"/>
              </a:lnSpc>
              <a:buNone/>
            </a:pPr>
            <a:r>
              <a:rPr lang="fr-FR" b="1" dirty="0">
                <a:solidFill>
                  <a:srgbClr val="000000"/>
                </a:solidFill>
                <a:latin typeface="Arial" charset="0"/>
              </a:rPr>
              <a:t>"..." (guillemets doubles</a:t>
            </a:r>
            <a:r>
              <a:rPr lang="en-US" b="1" dirty="0">
                <a:solidFill>
                  <a:srgbClr val="000000"/>
                </a:solidFill>
                <a:ea typeface="Courier New"/>
                <a:cs typeface="Courier New"/>
              </a:rPr>
              <a:t>) </a:t>
            </a:r>
            <a:endParaRPr lang="en-US" b="1" dirty="0">
              <a:solidFill>
                <a:srgbClr val="000000"/>
              </a:solidFill>
              <a:latin typeface="Courier"/>
              <a:ea typeface="DejaVu Sans"/>
              <a:cs typeface="Courier"/>
            </a:endParaRPr>
          </a:p>
          <a:p>
            <a:pPr>
              <a:lnSpc>
                <a:spcPct val="150000"/>
              </a:lnSpc>
            </a:pPr>
            <a:r>
              <a:rPr lang="fr-FR" dirty="0">
                <a:solidFill>
                  <a:srgbClr val="000000"/>
                </a:solidFill>
                <a:ea typeface="DejaVu Sans"/>
                <a:cs typeface="Courier"/>
              </a:rPr>
              <a:t>Remplacement de commande : Exécution de la commande et remplacement par ce qu'elle a produit en sortie</a:t>
            </a:r>
            <a:r>
              <a:rPr lang="en-US" b="1" dirty="0">
                <a:solidFill>
                  <a:srgbClr val="000000"/>
                </a:solidFill>
                <a:latin typeface="Courier New"/>
                <a:ea typeface="Courier New"/>
                <a:cs typeface="Courier New"/>
              </a:rPr>
              <a:t>		  </a:t>
            </a:r>
          </a:p>
          <a:p>
            <a:pPr marL="0" indent="0" algn="r">
              <a:lnSpc>
                <a:spcPct val="150000"/>
              </a:lnSpc>
              <a:buNone/>
            </a:pPr>
            <a:r>
              <a:rPr lang="en-US" b="1" dirty="0">
                <a:solidFill>
                  <a:srgbClr val="000000"/>
                </a:solidFill>
                <a:latin typeface="Courier New"/>
                <a:ea typeface="Courier New"/>
                <a:cs typeface="Courier New"/>
              </a:rPr>
              <a:t>				`command` </a:t>
            </a:r>
            <a:r>
              <a:rPr lang="en-US" dirty="0">
                <a:solidFill>
                  <a:srgbClr val="000000"/>
                </a:solidFill>
                <a:ea typeface="Courier New"/>
                <a:cs typeface="Courier New"/>
              </a:rPr>
              <a:t>(guillemets inversés)</a:t>
            </a:r>
          </a:p>
          <a:p>
            <a:pPr marL="0" indent="0" algn="r">
              <a:lnSpc>
                <a:spcPct val="150000"/>
              </a:lnSpc>
              <a:buNone/>
            </a:pPr>
            <a:r>
              <a:rPr lang="en-US" b="1" dirty="0">
                <a:solidFill>
                  <a:srgbClr val="000000"/>
                </a:solidFill>
                <a:latin typeface="Courier New"/>
                <a:ea typeface="Courier New"/>
                <a:cs typeface="Courier New"/>
              </a:rPr>
              <a:t>				 $(command)</a:t>
            </a:r>
            <a:endParaRPr lang="en-US" b="1" dirty="0">
              <a:solidFill>
                <a:srgbClr val="000000"/>
              </a:solidFill>
              <a:latin typeface="Courier"/>
              <a:ea typeface="Courier New"/>
              <a:cs typeface="Courier"/>
            </a:endParaRP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11</a:t>
            </a:fld>
            <a:endParaRPr lang="fr-FR"/>
          </a:p>
        </p:txBody>
      </p:sp>
      <p:sp>
        <p:nvSpPr>
          <p:cNvPr id="6"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208062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12</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Information utile</a:t>
            </a:r>
          </a:p>
        </p:txBody>
      </p:sp>
      <p:sp>
        <p:nvSpPr>
          <p:cNvPr id="19" name="Rectangle 3"/>
          <p:cNvSpPr txBox="1">
            <a:spLocks noChangeArrowheads="1"/>
          </p:cNvSpPr>
          <p:nvPr/>
        </p:nvSpPr>
        <p:spPr bwMode="auto">
          <a:xfrm>
            <a:off x="304800" y="800708"/>
            <a:ext cx="8695692" cy="56000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Touche Tab : </a:t>
            </a:r>
          </a:p>
          <a:p>
            <a:pPr lvl="1"/>
            <a:r>
              <a:rPr lang="fr-FR" dirty="0">
                <a:latin typeface="Arial" charset="0"/>
              </a:rPr>
              <a:t>Une fois : remplit automatiquement le mot que vous avez commencé à taper, s'il existe</a:t>
            </a:r>
          </a:p>
          <a:p>
            <a:pPr lvl="1"/>
            <a:r>
              <a:rPr lang="fr-FR" dirty="0">
                <a:latin typeface="Arial" charset="0"/>
              </a:rPr>
              <a:t>Deux fois : Affiche tous les mots existants qui commencent par les lettres que vous avez tapées</a:t>
            </a:r>
            <a:r>
              <a:rPr lang="en-GB" dirty="0">
                <a:latin typeface="Arial" charset="0"/>
              </a:rPr>
              <a:t>, s’ils existent</a:t>
            </a:r>
            <a:endParaRPr lang="en-GB" sz="1200" dirty="0">
              <a:latin typeface="Arial" charset="0"/>
            </a:endParaRPr>
          </a:p>
          <a:p>
            <a:r>
              <a:rPr lang="fr-FR" dirty="0">
                <a:latin typeface="Arial" charset="0"/>
              </a:rPr>
              <a:t>Commande </a:t>
            </a:r>
            <a:r>
              <a:rPr lang="fr-FR" b="1" dirty="0">
                <a:latin typeface="Arial" charset="0"/>
              </a:rPr>
              <a:t>clear</a:t>
            </a:r>
            <a:r>
              <a:rPr lang="fr-FR" dirty="0">
                <a:latin typeface="Arial" charset="0"/>
              </a:rPr>
              <a:t> : Nettoie l'écran dans le Shell</a:t>
            </a:r>
            <a:endParaRPr lang="en-GB" dirty="0">
              <a:solidFill>
                <a:schemeClr val="tx1"/>
              </a:solidFill>
              <a:latin typeface="Arial" charset="0"/>
            </a:endParaRPr>
          </a:p>
          <a:p>
            <a:r>
              <a:rPr lang="fr-FR" dirty="0">
                <a:solidFill>
                  <a:schemeClr val="tx1"/>
                </a:solidFill>
                <a:latin typeface="Arial" charset="0"/>
              </a:rPr>
              <a:t>Touche flèche vers le haut : Affiche la commande précédente</a:t>
            </a:r>
            <a:endParaRPr lang="en-GB" dirty="0">
              <a:solidFill>
                <a:schemeClr val="tx1"/>
              </a:solidFill>
              <a:latin typeface="Arial" charset="0"/>
            </a:endParaRPr>
          </a:p>
          <a:p>
            <a:r>
              <a:rPr lang="fr-FR" b="1" dirty="0">
                <a:latin typeface="Courier"/>
                <a:cs typeface="Courier"/>
              </a:rPr>
              <a:t>Commande history : </a:t>
            </a:r>
            <a:r>
              <a:rPr lang="fr-FR" sz="2000" dirty="0">
                <a:latin typeface="Arial" charset="0"/>
              </a:rPr>
              <a:t>Affiche toutes les commandes</a:t>
            </a:r>
            <a:endParaRPr lang="en-GB" sz="2000" dirty="0">
              <a:latin typeface="Arial" charset="0"/>
            </a:endParaRPr>
          </a:p>
          <a:p>
            <a:r>
              <a:rPr lang="en-GB" b="1" dirty="0">
                <a:latin typeface="Courier New"/>
                <a:cs typeface="Courier New"/>
              </a:rPr>
              <a:t>!!:</a:t>
            </a:r>
            <a:r>
              <a:rPr lang="en-GB" dirty="0">
                <a:latin typeface="Arial" charset="0"/>
              </a:rPr>
              <a:t> Exécute la commande précédente</a:t>
            </a:r>
            <a:endParaRPr lang="en-GB" dirty="0">
              <a:solidFill>
                <a:schemeClr val="tx1"/>
              </a:solidFill>
              <a:latin typeface="Arial" charset="0"/>
            </a:endParaRPr>
          </a:p>
          <a:p>
            <a:r>
              <a:rPr lang="fr-FR" dirty="0">
                <a:solidFill>
                  <a:schemeClr val="tx1"/>
                </a:solidFill>
                <a:latin typeface="Arial" charset="0"/>
              </a:rPr>
              <a:t>N'utilisez pas de caractères spéciaux dans les noms de fichiers, y compris l'espace et le tiret </a:t>
            </a:r>
            <a:r>
              <a:rPr lang="en-GB" dirty="0">
                <a:solidFill>
                  <a:schemeClr val="tx1"/>
                </a:solidFill>
                <a:latin typeface="Arial" charset="0"/>
              </a:rPr>
              <a:t>(-).</a:t>
            </a:r>
          </a:p>
          <a:p>
            <a:r>
              <a:rPr lang="fr-FR" dirty="0">
                <a:solidFill>
                  <a:schemeClr val="tx1"/>
                </a:solidFill>
                <a:latin typeface="Arial" charset="0"/>
              </a:rPr>
              <a:t>Définissez la langue par défaut en ANGLAIS, la traduction en français n'est pas complète... (LANG=EN)"</a:t>
            </a:r>
            <a:endParaRPr lang="en-GB" dirty="0">
              <a:solidFill>
                <a:schemeClr val="tx1"/>
              </a:solidFill>
              <a:latin typeface="Arial" charset="0"/>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388721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Line 2"/>
          <p:cNvSpPr/>
          <p:nvPr/>
        </p:nvSpPr>
        <p:spPr>
          <a:xfrm>
            <a:off x="6191796" y="4078440"/>
            <a:ext cx="330120" cy="1440"/>
          </a:xfrm>
          <a:prstGeom prst="line">
            <a:avLst/>
          </a:prstGeom>
          <a:ln w="38160">
            <a:solidFill>
              <a:srgbClr val="000208"/>
            </a:solidFill>
            <a:miter/>
            <a:tailEnd type="triangle" w="med" len="med"/>
          </a:ln>
        </p:spPr>
        <p:txBody>
          <a:bodyPr/>
          <a:lstStyle/>
          <a:p>
            <a:endParaRPr lang="fr-FR"/>
          </a:p>
        </p:txBody>
      </p:sp>
      <p:sp>
        <p:nvSpPr>
          <p:cNvPr id="170" name="Line 4"/>
          <p:cNvSpPr/>
          <p:nvPr/>
        </p:nvSpPr>
        <p:spPr>
          <a:xfrm>
            <a:off x="4407263" y="4903920"/>
            <a:ext cx="12600" cy="393480"/>
          </a:xfrm>
          <a:prstGeom prst="line">
            <a:avLst/>
          </a:prstGeom>
          <a:ln w="38160">
            <a:solidFill>
              <a:srgbClr val="000208"/>
            </a:solidFill>
            <a:miter/>
            <a:tailEnd type="triangle" w="med" len="med"/>
          </a:ln>
        </p:spPr>
        <p:txBody>
          <a:bodyPr/>
          <a:lstStyle/>
          <a:p>
            <a:endParaRPr lang="fr-FR"/>
          </a:p>
        </p:txBody>
      </p:sp>
      <p:sp>
        <p:nvSpPr>
          <p:cNvPr id="171" name="Line 5"/>
          <p:cNvSpPr/>
          <p:nvPr/>
        </p:nvSpPr>
        <p:spPr>
          <a:xfrm>
            <a:off x="3351992" y="2276640"/>
            <a:ext cx="12600" cy="660240"/>
          </a:xfrm>
          <a:prstGeom prst="line">
            <a:avLst/>
          </a:prstGeom>
          <a:ln w="19080">
            <a:solidFill>
              <a:srgbClr val="000208"/>
            </a:solidFill>
            <a:miter/>
            <a:tailEnd type="triangle" w="med" len="med"/>
          </a:ln>
        </p:spPr>
        <p:txBody>
          <a:bodyPr/>
          <a:lstStyle/>
          <a:p>
            <a:endParaRPr lang="fr-FR"/>
          </a:p>
        </p:txBody>
      </p:sp>
      <p:sp>
        <p:nvSpPr>
          <p:cNvPr id="172" name="Line 6"/>
          <p:cNvSpPr/>
          <p:nvPr/>
        </p:nvSpPr>
        <p:spPr>
          <a:xfrm>
            <a:off x="4674272" y="2290680"/>
            <a:ext cx="12600" cy="660600"/>
          </a:xfrm>
          <a:prstGeom prst="line">
            <a:avLst/>
          </a:prstGeom>
          <a:ln w="19080">
            <a:solidFill>
              <a:srgbClr val="000208"/>
            </a:solidFill>
            <a:miter/>
            <a:tailEnd type="triangle" w="med" len="med"/>
          </a:ln>
        </p:spPr>
        <p:txBody>
          <a:bodyPr/>
          <a:lstStyle/>
          <a:p>
            <a:endParaRPr lang="fr-FR"/>
          </a:p>
        </p:txBody>
      </p:sp>
      <p:sp>
        <p:nvSpPr>
          <p:cNvPr id="173" name="CustomShape 7"/>
          <p:cNvSpPr/>
          <p:nvPr/>
        </p:nvSpPr>
        <p:spPr>
          <a:xfrm>
            <a:off x="95008" y="1353946"/>
            <a:ext cx="4363928" cy="824333"/>
          </a:xfrm>
          <a:prstGeom prst="rect">
            <a:avLst/>
          </a:prstGeom>
          <a:solidFill>
            <a:srgbClr val="FFFFFF"/>
          </a:solidFill>
        </p:spPr>
        <p:txBody>
          <a:bodyPr lIns="92160" tIns="46080" rIns="92160" bIns="46080"/>
          <a:lstStyle/>
          <a:p>
            <a:pPr algn="just">
              <a:lnSpc>
                <a:spcPct val="100000"/>
              </a:lnSpc>
              <a:buClr>
                <a:srgbClr val="FF9933"/>
              </a:buClr>
              <a:buSzPct val="100000"/>
            </a:pPr>
            <a:r>
              <a:rPr lang="fr-FR" sz="2000" dirty="0">
                <a:latin typeface="Arial"/>
              </a:rPr>
              <a:t>Les arguments d'une commande sont les paramètres passés lors de son appel.</a:t>
            </a:r>
            <a:endParaRPr lang="en-GB" dirty="0"/>
          </a:p>
        </p:txBody>
      </p:sp>
      <p:grpSp>
        <p:nvGrpSpPr>
          <p:cNvPr id="3" name="Group 2"/>
          <p:cNvGrpSpPr/>
          <p:nvPr/>
        </p:nvGrpSpPr>
        <p:grpSpPr>
          <a:xfrm>
            <a:off x="-1" y="3429000"/>
            <a:ext cx="2717383" cy="1548172"/>
            <a:chOff x="0" y="3429000"/>
            <a:chExt cx="2427374" cy="1007280"/>
          </a:xfrm>
        </p:grpSpPr>
        <p:sp>
          <p:nvSpPr>
            <p:cNvPr id="167" name="Line 1"/>
            <p:cNvSpPr/>
            <p:nvPr/>
          </p:nvSpPr>
          <p:spPr>
            <a:xfrm>
              <a:off x="2106495" y="3932640"/>
              <a:ext cx="320879" cy="1440"/>
            </a:xfrm>
            <a:prstGeom prst="line">
              <a:avLst/>
            </a:prstGeom>
            <a:ln w="38160">
              <a:solidFill>
                <a:srgbClr val="000208"/>
              </a:solidFill>
              <a:miter/>
              <a:tailEnd type="triangle" w="med" len="med"/>
            </a:ln>
          </p:spPr>
          <p:txBody>
            <a:bodyPr/>
            <a:lstStyle/>
            <a:p>
              <a:endParaRPr lang="fr-FR"/>
            </a:p>
          </p:txBody>
        </p:sp>
        <p:sp>
          <p:nvSpPr>
            <p:cNvPr id="174" name="CustomShape 8"/>
            <p:cNvSpPr/>
            <p:nvPr/>
          </p:nvSpPr>
          <p:spPr>
            <a:xfrm>
              <a:off x="0" y="3429000"/>
              <a:ext cx="2090046" cy="1007280"/>
            </a:xfrm>
            <a:prstGeom prst="rect">
              <a:avLst/>
            </a:prstGeom>
          </p:spPr>
          <p:txBody>
            <a:bodyPr lIns="92160" tIns="46080" rIns="92160" bIns="46080"/>
            <a:lstStyle/>
            <a:p>
              <a:pPr algn="just">
                <a:lnSpc>
                  <a:spcPct val="100000"/>
                </a:lnSpc>
                <a:buClr>
                  <a:srgbClr val="FF9933"/>
                </a:buClr>
                <a:buSzPct val="100000"/>
              </a:pPr>
              <a:r>
                <a:rPr lang="fr-FR" sz="2000" dirty="0">
                  <a:solidFill>
                    <a:srgbClr val="010507"/>
                  </a:solidFill>
                  <a:latin typeface="Arial"/>
                </a:rPr>
                <a:t>L'entrée standard est lue depuis le clavier </a:t>
              </a:r>
              <a:r>
                <a:rPr lang="en-GB" sz="2000" dirty="0">
                  <a:latin typeface="Arial"/>
                </a:rPr>
                <a:t>– </a:t>
              </a:r>
            </a:p>
            <a:p>
              <a:pPr algn="just">
                <a:lnSpc>
                  <a:spcPct val="100000"/>
                </a:lnSpc>
                <a:buClr>
                  <a:srgbClr val="FF9933"/>
                </a:buClr>
                <a:buSzPct val="100000"/>
              </a:pPr>
              <a:r>
                <a:rPr lang="en-GB" sz="2000" dirty="0">
                  <a:latin typeface="Arial"/>
                </a:rPr>
                <a:t>Le numéro 0 est  </a:t>
              </a:r>
              <a:r>
                <a:rPr lang="en-GB" sz="2000" dirty="0">
                  <a:latin typeface="Courier"/>
                  <a:cs typeface="Courier"/>
                </a:rPr>
                <a:t>stdin</a:t>
              </a:r>
            </a:p>
            <a:p>
              <a:pPr algn="just">
                <a:lnSpc>
                  <a:spcPct val="100000"/>
                </a:lnSpc>
                <a:buClr>
                  <a:srgbClr val="FF9933"/>
                </a:buClr>
                <a:buSzPct val="100000"/>
              </a:pPr>
              <a:r>
                <a:rPr lang="en-GB" sz="2000" dirty="0">
                  <a:latin typeface="Arial"/>
                </a:rPr>
                <a:t>- </a:t>
              </a:r>
              <a:r>
                <a:rPr lang="en-GB" sz="2000" dirty="0">
                  <a:latin typeface="Arial" panose="020B0604020202020204" pitchFamily="34" charset="0"/>
                  <a:cs typeface="Arial" panose="020B0604020202020204" pitchFamily="34" charset="0"/>
                </a:rPr>
                <a:t>Raccourci :</a:t>
              </a:r>
              <a:r>
                <a:rPr lang="en-GB" sz="2000" dirty="0">
                  <a:latin typeface="Courier"/>
                  <a:cs typeface="Courier"/>
                </a:rPr>
                <a:t> -</a:t>
              </a:r>
              <a:endParaRPr lang="en-GB" dirty="0"/>
            </a:p>
          </p:txBody>
        </p:sp>
      </p:grpSp>
      <p:sp>
        <p:nvSpPr>
          <p:cNvPr id="175" name="CustomShape 9"/>
          <p:cNvSpPr/>
          <p:nvPr/>
        </p:nvSpPr>
        <p:spPr>
          <a:xfrm>
            <a:off x="6408204" y="3880996"/>
            <a:ext cx="2794852" cy="1312200"/>
          </a:xfrm>
          <a:prstGeom prst="rect">
            <a:avLst/>
          </a:prstGeom>
        </p:spPr>
        <p:txBody>
          <a:bodyPr lIns="92160" tIns="46080" rIns="92160" bIns="46080"/>
          <a:lstStyle/>
          <a:p>
            <a:pPr algn="just">
              <a:lnSpc>
                <a:spcPct val="100000"/>
              </a:lnSpc>
              <a:buSzPct val="25000"/>
            </a:pPr>
            <a:r>
              <a:rPr lang="fr-FR" sz="2000" dirty="0">
                <a:latin typeface="Arial"/>
              </a:rPr>
              <a:t>La sortie standard est imprimée à l'écran</a:t>
            </a:r>
            <a:r>
              <a:rPr lang="en-GB" sz="2000" dirty="0">
                <a:solidFill>
                  <a:srgbClr val="010507"/>
                </a:solidFill>
                <a:latin typeface="Arial"/>
              </a:rPr>
              <a:t> </a:t>
            </a:r>
          </a:p>
          <a:p>
            <a:pPr algn="just">
              <a:lnSpc>
                <a:spcPct val="100000"/>
              </a:lnSpc>
              <a:buSzPct val="25000"/>
            </a:pPr>
            <a:r>
              <a:rPr lang="en-GB" sz="2000" dirty="0">
                <a:solidFill>
                  <a:srgbClr val="010507"/>
                </a:solidFill>
                <a:latin typeface="Arial"/>
              </a:rPr>
              <a:t>- </a:t>
            </a:r>
            <a:r>
              <a:rPr lang="en-GB" sz="2000" dirty="0">
                <a:latin typeface="Arial"/>
              </a:rPr>
              <a:t>Le numéro 1 </a:t>
            </a:r>
            <a:r>
              <a:rPr lang="en-GB" sz="2000" dirty="0" err="1">
                <a:latin typeface="Courier"/>
                <a:cs typeface="Courier"/>
              </a:rPr>
              <a:t>stdout</a:t>
            </a:r>
            <a:endParaRPr lang="en-GB" sz="2000" dirty="0"/>
          </a:p>
        </p:txBody>
      </p:sp>
      <p:sp>
        <p:nvSpPr>
          <p:cNvPr id="176" name="CustomShape 10"/>
          <p:cNvSpPr/>
          <p:nvPr/>
        </p:nvSpPr>
        <p:spPr>
          <a:xfrm>
            <a:off x="2135048" y="5250191"/>
            <a:ext cx="6819840" cy="915120"/>
          </a:xfrm>
          <a:prstGeom prst="rect">
            <a:avLst/>
          </a:prstGeom>
        </p:spPr>
        <p:txBody>
          <a:bodyPr lIns="92160" tIns="0" rIns="92160" bIns="0"/>
          <a:lstStyle/>
          <a:p>
            <a:pPr algn="just">
              <a:lnSpc>
                <a:spcPct val="100000"/>
              </a:lnSpc>
              <a:buSzPct val="25000"/>
            </a:pPr>
            <a:r>
              <a:rPr lang="fr-FR" sz="2000" dirty="0">
                <a:latin typeface="Arial"/>
              </a:rPr>
              <a:t>Par défaut, les erreurs standard sont imprimées à l'écran et sont utilisées par les commandes pour afficher les messages d'erreur</a:t>
            </a:r>
            <a:r>
              <a:rPr lang="en-GB" sz="2000" dirty="0">
                <a:latin typeface="Arial"/>
              </a:rPr>
              <a:t>s</a:t>
            </a:r>
          </a:p>
          <a:p>
            <a:pPr algn="just">
              <a:buSzPct val="25000"/>
            </a:pPr>
            <a:r>
              <a:rPr lang="en-GB" sz="2000" dirty="0">
                <a:latin typeface="Arial"/>
              </a:rPr>
              <a:t>- (Le numéro 2 est  </a:t>
            </a:r>
            <a:r>
              <a:rPr lang="en-GB" sz="2000" dirty="0">
                <a:latin typeface="Courier"/>
                <a:cs typeface="Courier"/>
              </a:rPr>
              <a:t>stderr</a:t>
            </a:r>
            <a:r>
              <a:rPr lang="en-GB" sz="2000" dirty="0">
                <a:latin typeface="Arial"/>
              </a:rPr>
              <a:t>)</a:t>
            </a:r>
            <a:endParaRPr lang="en-GB" sz="2000" dirty="0"/>
          </a:p>
        </p:txBody>
      </p:sp>
      <p:sp>
        <p:nvSpPr>
          <p:cNvPr id="177" name="CustomShape 11"/>
          <p:cNvSpPr/>
          <p:nvPr/>
        </p:nvSpPr>
        <p:spPr>
          <a:xfrm>
            <a:off x="2741916" y="2935440"/>
            <a:ext cx="3434040" cy="1965240"/>
          </a:xfrm>
          <a:prstGeom prst="rect">
            <a:avLst/>
          </a:prstGeom>
          <a:solidFill>
            <a:srgbClr val="EAEAEA"/>
          </a:solidFill>
          <a:ln w="6480">
            <a:solidFill>
              <a:srgbClr val="000208"/>
            </a:solidFill>
            <a:miter/>
          </a:ln>
        </p:spPr>
        <p:txBody>
          <a:bodyPr wrap="none" lIns="92160" tIns="46080" rIns="92160" bIns="46080" anchor="ctr"/>
          <a:lstStyle/>
          <a:p>
            <a:pPr algn="ctr">
              <a:lnSpc>
                <a:spcPct val="100000"/>
              </a:lnSpc>
              <a:buSzPct val="25000"/>
            </a:pPr>
            <a:r>
              <a:rPr lang="fr-FR" sz="2000" b="1" dirty="0">
                <a:latin typeface="Courier"/>
                <a:cs typeface="Courier"/>
              </a:rPr>
              <a:t>c</a:t>
            </a:r>
            <a:r>
              <a:rPr lang="fr-FR" sz="2000" b="1" dirty="0">
                <a:solidFill>
                  <a:srgbClr val="010507"/>
                </a:solidFill>
                <a:latin typeface="Courier"/>
                <a:cs typeface="Courier"/>
              </a:rPr>
              <a:t>ommande</a:t>
            </a:r>
            <a:endParaRPr sz="2000" b="1" dirty="0">
              <a:latin typeface="Courier"/>
              <a:cs typeface="Courier"/>
            </a:endParaRPr>
          </a:p>
        </p:txBody>
      </p:sp>
      <p:sp>
        <p:nvSpPr>
          <p:cNvPr id="178" name="CustomShape 12"/>
          <p:cNvSpPr/>
          <p:nvPr/>
        </p:nvSpPr>
        <p:spPr>
          <a:xfrm>
            <a:off x="5544968" y="3825044"/>
            <a:ext cx="621268" cy="6690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std</a:t>
            </a:r>
            <a:endParaRPr lang="fr-FR" sz="2000" dirty="0">
              <a:latin typeface="Courier"/>
              <a:cs typeface="Courier"/>
            </a:endParaRPr>
          </a:p>
          <a:p>
            <a:pPr algn="ctr">
              <a:lnSpc>
                <a:spcPct val="100000"/>
              </a:lnSpc>
              <a:buSzPct val="25000"/>
            </a:pPr>
            <a:r>
              <a:rPr lang="fr-FR" sz="2000" dirty="0">
                <a:latin typeface="Courier"/>
                <a:cs typeface="Courier"/>
              </a:rPr>
              <a:t>out</a:t>
            </a:r>
            <a:endParaRPr sz="2000" dirty="0">
              <a:latin typeface="Courier"/>
              <a:cs typeface="Courier"/>
            </a:endParaRPr>
          </a:p>
        </p:txBody>
      </p:sp>
      <p:sp>
        <p:nvSpPr>
          <p:cNvPr id="179" name="CustomShape 13"/>
          <p:cNvSpPr/>
          <p:nvPr/>
        </p:nvSpPr>
        <p:spPr>
          <a:xfrm>
            <a:off x="3924788" y="4489560"/>
            <a:ext cx="1080120" cy="4032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solidFill>
                  <a:srgbClr val="010507"/>
                </a:solidFill>
                <a:latin typeface="Courier"/>
                <a:cs typeface="Courier"/>
              </a:rPr>
              <a:t>stderr</a:t>
            </a:r>
            <a:endParaRPr sz="2000" dirty="0">
              <a:latin typeface="Courier"/>
              <a:cs typeface="Courier"/>
            </a:endParaRPr>
          </a:p>
        </p:txBody>
      </p:sp>
      <p:sp>
        <p:nvSpPr>
          <p:cNvPr id="180" name="CustomShape 14"/>
          <p:cNvSpPr/>
          <p:nvPr/>
        </p:nvSpPr>
        <p:spPr>
          <a:xfrm>
            <a:off x="2951436" y="2941560"/>
            <a:ext cx="649316" cy="379428"/>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a:solidFill>
                  <a:srgbClr val="010507"/>
                </a:solidFill>
                <a:latin typeface="Courier"/>
                <a:cs typeface="Courier"/>
              </a:rPr>
              <a:t>arg1</a:t>
            </a:r>
            <a:endParaRPr sz="2000" dirty="0">
              <a:latin typeface="Courier"/>
              <a:cs typeface="Courier"/>
            </a:endParaRPr>
          </a:p>
        </p:txBody>
      </p:sp>
      <p:sp>
        <p:nvSpPr>
          <p:cNvPr id="181" name="CustomShape 15"/>
          <p:cNvSpPr/>
          <p:nvPr/>
        </p:nvSpPr>
        <p:spPr>
          <a:xfrm>
            <a:off x="4223316" y="2943360"/>
            <a:ext cx="673580" cy="377628"/>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solidFill>
                  <a:srgbClr val="010507"/>
                </a:solidFill>
                <a:latin typeface="Courier"/>
                <a:cs typeface="Courier"/>
              </a:rPr>
              <a:t>argn</a:t>
            </a:r>
            <a:endParaRPr sz="2000" dirty="0">
              <a:latin typeface="Courier"/>
              <a:cs typeface="Courier"/>
            </a:endParaRPr>
          </a:p>
        </p:txBody>
      </p:sp>
      <p:sp>
        <p:nvSpPr>
          <p:cNvPr id="182" name="Line 16"/>
          <p:cNvSpPr/>
          <p:nvPr/>
        </p:nvSpPr>
        <p:spPr>
          <a:xfrm>
            <a:off x="3700956" y="3098880"/>
            <a:ext cx="380880" cy="1440"/>
          </a:xfrm>
          <a:prstGeom prst="line">
            <a:avLst/>
          </a:prstGeom>
          <a:ln w="19080">
            <a:solidFill>
              <a:srgbClr val="000208"/>
            </a:solidFill>
            <a:custDash>
              <a:ds d="212000" sp="159000"/>
            </a:custDash>
            <a:miter/>
          </a:ln>
        </p:spPr>
        <p:txBody>
          <a:bodyPr/>
          <a:lstStyle/>
          <a:p>
            <a:endParaRPr lang="fr-FR"/>
          </a:p>
        </p:txBody>
      </p:sp>
      <p:sp>
        <p:nvSpPr>
          <p:cNvPr id="183" name="CustomShape 17"/>
          <p:cNvSpPr/>
          <p:nvPr/>
        </p:nvSpPr>
        <p:spPr>
          <a:xfrm>
            <a:off x="2735795" y="3789040"/>
            <a:ext cx="965161" cy="663604"/>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a:t>
            </a:r>
            <a:r>
              <a:rPr lang="fr-FR" sz="2000" dirty="0" err="1">
                <a:solidFill>
                  <a:srgbClr val="010507"/>
                </a:solidFill>
                <a:latin typeface="Courier"/>
                <a:cs typeface="Courier"/>
              </a:rPr>
              <a:t>td</a:t>
            </a:r>
            <a:endParaRPr lang="fr-FR" sz="2000" dirty="0">
              <a:solidFill>
                <a:srgbClr val="010507"/>
              </a:solidFill>
              <a:latin typeface="Courier"/>
              <a:cs typeface="Courier"/>
            </a:endParaRPr>
          </a:p>
          <a:p>
            <a:pPr algn="ctr">
              <a:lnSpc>
                <a:spcPct val="100000"/>
              </a:lnSpc>
              <a:buSzPct val="25000"/>
            </a:pPr>
            <a:r>
              <a:rPr lang="fr-FR" sz="2000" dirty="0">
                <a:solidFill>
                  <a:srgbClr val="010507"/>
                </a:solidFill>
                <a:latin typeface="Courier"/>
                <a:cs typeface="Courier"/>
              </a:rPr>
              <a:t>in</a:t>
            </a:r>
            <a:endParaRPr sz="2000" dirty="0">
              <a:latin typeface="Courier"/>
              <a:cs typeface="Courier"/>
            </a:endParaRPr>
          </a:p>
        </p:txBody>
      </p:sp>
      <p:sp>
        <p:nvSpPr>
          <p:cNvPr id="184" name="CustomShape 18"/>
          <p:cNvSpPr/>
          <p:nvPr/>
        </p:nvSpPr>
        <p:spPr>
          <a:xfrm>
            <a:off x="5040912" y="2944800"/>
            <a:ext cx="1044116" cy="376188"/>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solidFill>
                  <a:srgbClr val="010507"/>
                </a:solidFill>
                <a:latin typeface="Courier"/>
                <a:cs typeface="Courier"/>
              </a:rPr>
              <a:t>status</a:t>
            </a:r>
            <a:endParaRPr sz="2000" dirty="0">
              <a:latin typeface="Courier"/>
              <a:cs typeface="Courier"/>
            </a:endParaRPr>
          </a:p>
        </p:txBody>
      </p:sp>
      <p:sp>
        <p:nvSpPr>
          <p:cNvPr id="185" name="Line 19"/>
          <p:cNvSpPr/>
          <p:nvPr/>
        </p:nvSpPr>
        <p:spPr>
          <a:xfrm flipV="1">
            <a:off x="5895032" y="2213392"/>
            <a:ext cx="0" cy="742568"/>
          </a:xfrm>
          <a:prstGeom prst="line">
            <a:avLst/>
          </a:prstGeom>
          <a:ln w="28440">
            <a:solidFill>
              <a:srgbClr val="000208"/>
            </a:solidFill>
            <a:miter/>
            <a:tailEnd type="triangle" w="med" len="med"/>
          </a:ln>
        </p:spPr>
        <p:txBody>
          <a:bodyPr/>
          <a:lstStyle/>
          <a:p>
            <a:endParaRPr lang="fr-FR"/>
          </a:p>
        </p:txBody>
      </p:sp>
      <p:sp>
        <p:nvSpPr>
          <p:cNvPr id="186" name="CustomShape 20"/>
          <p:cNvSpPr/>
          <p:nvPr/>
        </p:nvSpPr>
        <p:spPr>
          <a:xfrm>
            <a:off x="4499992" y="1088740"/>
            <a:ext cx="4608513" cy="1338532"/>
          </a:xfrm>
          <a:prstGeom prst="rect">
            <a:avLst/>
          </a:prstGeom>
        </p:spPr>
        <p:txBody>
          <a:bodyPr lIns="92160" tIns="46080" rIns="92160" bIns="46080"/>
          <a:lstStyle/>
          <a:p>
            <a:pPr algn="just">
              <a:lnSpc>
                <a:spcPct val="100000"/>
              </a:lnSpc>
              <a:buClr>
                <a:srgbClr val="FF9933"/>
              </a:buClr>
              <a:buSzPct val="100000"/>
            </a:pPr>
            <a:r>
              <a:rPr lang="fr-FR" sz="2000" dirty="0">
                <a:latin typeface="Arial"/>
              </a:rPr>
              <a:t>Le statut de sortie est la valeur renvoyée après l'exécution de la commande pour informer si l'exécution s'est déroulée normalement ou non.</a:t>
            </a:r>
            <a:endParaRPr lang="en-GB" dirty="0"/>
          </a:p>
        </p:txBody>
      </p:sp>
      <p:sp>
        <p:nvSpPr>
          <p:cNvPr id="23" name="Rectangle 2"/>
          <p:cNvSpPr>
            <a:spLocks noGrp="1" noChangeArrowheads="1"/>
          </p:cNvSpPr>
          <p:nvPr>
            <p:ph type="title"/>
          </p:nvPr>
        </p:nvSpPr>
        <p:spPr>
          <a:xfrm>
            <a:off x="304800" y="159296"/>
            <a:ext cx="7772400" cy="533400"/>
          </a:xfrm>
        </p:spPr>
        <p:txBody>
          <a:bodyPr/>
          <a:lstStyle/>
          <a:p>
            <a:r>
              <a:rPr lang="en-US" sz="2800" dirty="0">
                <a:latin typeface="Arial" charset="0"/>
              </a:rPr>
              <a:t>Structure d’une commande</a:t>
            </a:r>
          </a:p>
        </p:txBody>
      </p:sp>
      <p:sp>
        <p:nvSpPr>
          <p:cNvPr id="2" name="Rectangle 1"/>
          <p:cNvSpPr/>
          <p:nvPr/>
        </p:nvSpPr>
        <p:spPr>
          <a:xfrm>
            <a:off x="1727684" y="728700"/>
            <a:ext cx="4968552" cy="461665"/>
          </a:xfrm>
          <a:prstGeom prst="rect">
            <a:avLst/>
          </a:prstGeom>
        </p:spPr>
        <p:txBody>
          <a:bodyPr wrap="square">
            <a:spAutoFit/>
          </a:bodyPr>
          <a:lstStyle/>
          <a:p>
            <a:r>
              <a:rPr lang="en-GB" sz="2400" b="1" dirty="0">
                <a:latin typeface="Courier"/>
                <a:ea typeface="Courier New"/>
                <a:cs typeface="Courier"/>
              </a:rPr>
              <a:t>commande arg1 arg2 … </a:t>
            </a:r>
            <a:r>
              <a:rPr lang="en-GB" sz="2400" b="1" dirty="0" err="1">
                <a:latin typeface="Courier"/>
                <a:ea typeface="Courier New"/>
                <a:cs typeface="Courier"/>
              </a:rPr>
              <a:t>argn</a:t>
            </a:r>
            <a:endParaRPr lang="en-GB" sz="2400" dirty="0">
              <a:latin typeface="Courier"/>
              <a:cs typeface="Courier"/>
            </a:endParaRPr>
          </a:p>
        </p:txBody>
      </p:sp>
      <p:sp>
        <p:nvSpPr>
          <p:cNvPr id="24"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271752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170" grpId="0" animBg="1"/>
      <p:bldP spid="171" grpId="0" animBg="1"/>
      <p:bldP spid="172" grpId="0" animBg="1"/>
      <p:bldP spid="173" grpId="0" animBg="1"/>
      <p:bldP spid="175" grpId="0"/>
      <p:bldP spid="176" grpId="0"/>
      <p:bldP spid="177" grpId="0" animBg="1"/>
      <p:bldP spid="178" grpId="0" animBg="1"/>
      <p:bldP spid="179" grpId="0" animBg="1"/>
      <p:bldP spid="180" grpId="0" animBg="1"/>
      <p:bldP spid="181" grpId="0" animBg="1"/>
      <p:bldP spid="183" grpId="0" animBg="1"/>
      <p:bldP spid="184" grpId="0" animBg="1"/>
      <p:bldP spid="185" grpId="0" animBg="1"/>
      <p:bldP spid="186"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14</a:t>
            </a:fld>
            <a:endParaRPr lang="fr-FR" sz="1400" dirty="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Commandes Shell</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54920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Gestion des répertoires</a:t>
            </a:r>
          </a:p>
          <a:p>
            <a:r>
              <a:rPr lang="en-GB" dirty="0">
                <a:latin typeface="Arial" charset="0"/>
              </a:rPr>
              <a:t>Gestion des fichiers</a:t>
            </a:r>
          </a:p>
          <a:p>
            <a:r>
              <a:rPr lang="en-GB" dirty="0">
                <a:latin typeface="Arial" charset="0"/>
              </a:rPr>
              <a:t>Redirections</a:t>
            </a:r>
          </a:p>
          <a:p>
            <a:r>
              <a:rPr lang="en-GB" dirty="0">
                <a:latin typeface="Arial" charset="0"/>
              </a:rPr>
              <a:t>Gestion des processus</a:t>
            </a:r>
          </a:p>
          <a:p>
            <a:r>
              <a:rPr lang="en-GB" dirty="0">
                <a:latin typeface="Arial" charset="0"/>
              </a:rPr>
              <a:t>Programmation Shell : Scripts</a:t>
            </a:r>
          </a:p>
          <a:p>
            <a:pPr marL="0" indent="0">
              <a:buNone/>
            </a:pPr>
            <a:endParaRPr lang="en-GB" dirty="0">
              <a:latin typeface="Arial" charset="0"/>
            </a:endParaRPr>
          </a:p>
          <a:p>
            <a:r>
              <a:rPr lang="fr-FR" dirty="0">
                <a:latin typeface="Arial" charset="0"/>
              </a:rPr>
              <a:t>Ce cours NE fournit PAS une liste exhaustive des commandes et une description complète des commandes</a:t>
            </a:r>
            <a:r>
              <a:rPr lang="en-GB" dirty="0">
                <a:solidFill>
                  <a:srgbClr val="FF0000"/>
                </a:solidFill>
                <a:latin typeface="Arial" charset="0"/>
              </a:rPr>
              <a:t> </a:t>
            </a:r>
            <a:r>
              <a:rPr lang="en-GB" dirty="0">
                <a:solidFill>
                  <a:srgbClr val="FF0000"/>
                </a:solidFill>
                <a:latin typeface="Arial" charset="0"/>
                <a:sym typeface="Wingdings"/>
              </a:rPr>
              <a:t> </a:t>
            </a:r>
            <a:r>
              <a:rPr lang="en-GB" sz="2800" dirty="0">
                <a:solidFill>
                  <a:srgbClr val="FF0000"/>
                </a:solidFill>
                <a:latin typeface="Arial" charset="0"/>
              </a:rPr>
              <a:t>Utilisez : </a:t>
            </a:r>
          </a:p>
          <a:p>
            <a:pPr marL="0" indent="0">
              <a:buNone/>
            </a:pPr>
            <a:r>
              <a:rPr lang="en-GB" sz="2800" dirty="0">
                <a:solidFill>
                  <a:srgbClr val="FF0000"/>
                </a:solidFill>
                <a:latin typeface="Arial" charset="0"/>
              </a:rPr>
              <a:t>		- La documentation</a:t>
            </a:r>
          </a:p>
          <a:p>
            <a:pPr marL="0" indent="0">
              <a:buNone/>
            </a:pPr>
            <a:r>
              <a:rPr lang="en-GB" sz="2800" dirty="0">
                <a:solidFill>
                  <a:srgbClr val="FF0000"/>
                </a:solidFill>
                <a:latin typeface="Arial" charset="0"/>
              </a:rPr>
              <a:t>		- La commande </a:t>
            </a:r>
            <a:r>
              <a:rPr lang="en-GB" sz="2800" b="1" dirty="0">
                <a:solidFill>
                  <a:srgbClr val="FF0000"/>
                </a:solidFill>
                <a:latin typeface="Courier"/>
                <a:cs typeface="Courier"/>
              </a:rPr>
              <a:t>man </a:t>
            </a:r>
            <a:r>
              <a:rPr lang="en-GB" sz="2800" b="1" dirty="0" err="1">
                <a:solidFill>
                  <a:srgbClr val="FF0000"/>
                </a:solidFill>
                <a:latin typeface="Courier"/>
                <a:cs typeface="Courier"/>
              </a:rPr>
              <a:t>ou</a:t>
            </a:r>
            <a:r>
              <a:rPr lang="en-GB" sz="2800" dirty="0">
                <a:solidFill>
                  <a:srgbClr val="FF0000"/>
                </a:solidFill>
                <a:cs typeface="Courier"/>
              </a:rPr>
              <a:t> </a:t>
            </a:r>
            <a:r>
              <a:rPr lang="en-GB" sz="2800" b="1" dirty="0">
                <a:solidFill>
                  <a:srgbClr val="FF0000"/>
                </a:solidFill>
                <a:latin typeface="Courier"/>
                <a:cs typeface="Courier"/>
              </a:rPr>
              <a:t>info</a:t>
            </a:r>
            <a:endParaRPr lang="en-GB" sz="2800" dirty="0">
              <a:solidFill>
                <a:srgbClr val="FF0000"/>
              </a:solidFill>
              <a:latin typeface="Arial" charset="0"/>
            </a:endParaRPr>
          </a:p>
          <a:p>
            <a:pPr marL="0" indent="0">
              <a:buNone/>
            </a:pPr>
            <a:r>
              <a:rPr lang="en-GB" sz="2800" dirty="0">
                <a:solidFill>
                  <a:srgbClr val="FF0000"/>
                </a:solidFill>
                <a:latin typeface="Arial" charset="0"/>
              </a:rPr>
              <a:t>		- La commande </a:t>
            </a:r>
            <a:r>
              <a:rPr lang="en-GB" sz="2800" b="1" dirty="0">
                <a:solidFill>
                  <a:srgbClr val="FF0000"/>
                </a:solidFill>
                <a:latin typeface="Courier"/>
                <a:cs typeface="Courier"/>
              </a:rPr>
              <a:t>apropos</a:t>
            </a:r>
            <a:endParaRPr lang="en-GB" sz="2800" dirty="0">
              <a:solidFill>
                <a:srgbClr val="FF0000"/>
              </a:solidFill>
              <a:latin typeface="Arial" charset="0"/>
            </a:endParaRPr>
          </a:p>
          <a:p>
            <a:pPr marL="0" indent="0">
              <a:buNone/>
            </a:pPr>
            <a:endParaRPr lang="en-GB" sz="2800" dirty="0">
              <a:solidFill>
                <a:srgbClr val="FF0000"/>
              </a:solidFill>
              <a:latin typeface="Arial" charset="0"/>
            </a:endParaRPr>
          </a:p>
        </p:txBody>
      </p:sp>
    </p:spTree>
    <p:extLst>
      <p:ext uri="{BB962C8B-B14F-4D97-AF65-F5344CB8AC3E}">
        <p14:creationId xmlns:p14="http://schemas.microsoft.com/office/powerpoint/2010/main" val="286192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
          <p:cNvSpPr>
            <a:spLocks noGrp="1" noChangeArrowheads="1"/>
          </p:cNvSpPr>
          <p:nvPr>
            <p:ph type="title"/>
          </p:nvPr>
        </p:nvSpPr>
        <p:spPr>
          <a:xfrm>
            <a:off x="304800" y="159296"/>
            <a:ext cx="7772400" cy="533400"/>
          </a:xfrm>
        </p:spPr>
        <p:txBody>
          <a:bodyPr/>
          <a:lstStyle/>
          <a:p>
            <a:r>
              <a:rPr lang="en-US" sz="2800" dirty="0">
                <a:latin typeface="Arial" charset="0"/>
              </a:rPr>
              <a:t>Directory management</a:t>
            </a:r>
          </a:p>
        </p:txBody>
      </p:sp>
      <p:sp>
        <p:nvSpPr>
          <p:cNvPr id="22" name="Rectangle 3"/>
          <p:cNvSpPr txBox="1">
            <a:spLocks noChangeArrowheads="1"/>
          </p:cNvSpPr>
          <p:nvPr/>
        </p:nvSpPr>
        <p:spPr bwMode="auto">
          <a:xfrm>
            <a:off x="457200" y="908720"/>
            <a:ext cx="8686800" cy="56166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solidFill>
                  <a:schemeClr val="tx1"/>
                </a:solidFill>
                <a:ea typeface="Courier New"/>
                <a:cs typeface="Courier"/>
              </a:rPr>
              <a:t>Print the full pathname of the working directory: </a:t>
            </a:r>
            <a:r>
              <a:rPr lang="en-US" b="1" dirty="0" err="1">
                <a:solidFill>
                  <a:schemeClr val="tx1"/>
                </a:solidFill>
                <a:latin typeface="Courier"/>
                <a:ea typeface="Courier New"/>
                <a:cs typeface="Courier"/>
              </a:rPr>
              <a:t>pwd</a:t>
            </a:r>
            <a:endParaRPr lang="en-US" b="1" dirty="0">
              <a:solidFill>
                <a:schemeClr val="tx1"/>
              </a:solidFill>
              <a:latin typeface="Courier"/>
              <a:ea typeface="Courier New"/>
              <a:cs typeface="Courier"/>
            </a:endParaRPr>
          </a:p>
          <a:p>
            <a:endParaRPr lang="en-US" sz="900" dirty="0">
              <a:solidFill>
                <a:schemeClr val="tx1"/>
              </a:solidFill>
              <a:ea typeface="Courier New"/>
              <a:cs typeface="Courier"/>
            </a:endParaRPr>
          </a:p>
          <a:p>
            <a:r>
              <a:rPr lang="en-US" dirty="0">
                <a:solidFill>
                  <a:schemeClr val="tx1"/>
                </a:solidFill>
                <a:ea typeface="Courier New"/>
                <a:cs typeface="Courier"/>
              </a:rPr>
              <a:t>Change directories: </a:t>
            </a:r>
            <a:r>
              <a:rPr lang="en-US" b="1" dirty="0">
                <a:solidFill>
                  <a:schemeClr val="tx1"/>
                </a:solidFill>
                <a:latin typeface="Courier"/>
                <a:ea typeface="Courier New"/>
                <a:cs typeface="Courier"/>
              </a:rPr>
              <a:t>cd</a:t>
            </a:r>
          </a:p>
          <a:p>
            <a:pPr lvl="1"/>
            <a:r>
              <a:rPr lang="en-US" b="1" dirty="0">
                <a:solidFill>
                  <a:schemeClr val="tx1"/>
                </a:solidFill>
                <a:latin typeface="Courier"/>
                <a:ea typeface="Courier New"/>
                <a:cs typeface="Courier"/>
              </a:rPr>
              <a:t>cd </a:t>
            </a:r>
            <a:r>
              <a:rPr lang="en-US" dirty="0">
                <a:solidFill>
                  <a:schemeClr val="tx1"/>
                </a:solidFill>
                <a:ea typeface="Courier New"/>
                <a:cs typeface="Courier"/>
              </a:rPr>
              <a:t>or</a:t>
            </a:r>
            <a:r>
              <a:rPr lang="en-US" b="1" dirty="0">
                <a:solidFill>
                  <a:schemeClr val="tx1"/>
                </a:solidFill>
                <a:latin typeface="Courier"/>
                <a:ea typeface="Courier New"/>
                <a:cs typeface="Courier"/>
              </a:rPr>
              <a:t> cd ~</a:t>
            </a:r>
            <a:r>
              <a:rPr lang="en-US" dirty="0">
                <a:solidFill>
                  <a:schemeClr val="tx1"/>
                </a:solidFill>
                <a:ea typeface="Courier New"/>
                <a:cs typeface="Courier"/>
              </a:rPr>
              <a:t>: Go to home directory</a:t>
            </a:r>
          </a:p>
          <a:p>
            <a:pPr lvl="1"/>
            <a:r>
              <a:rPr lang="en-US" b="1" dirty="0">
                <a:solidFill>
                  <a:schemeClr val="tx1"/>
                </a:solidFill>
                <a:latin typeface="Courier"/>
                <a:ea typeface="Courier New"/>
                <a:cs typeface="Courier"/>
              </a:rPr>
              <a:t>cd path</a:t>
            </a:r>
            <a:r>
              <a:rPr lang="en-US" dirty="0">
                <a:solidFill>
                  <a:schemeClr val="tx1"/>
                </a:solidFill>
                <a:ea typeface="Courier New"/>
                <a:cs typeface="Courier"/>
              </a:rPr>
              <a:t>: Go to directory indicated by </a:t>
            </a:r>
            <a:r>
              <a:rPr lang="en-US" b="1" dirty="0">
                <a:solidFill>
                  <a:schemeClr val="tx1"/>
                </a:solidFill>
                <a:latin typeface="Courier"/>
                <a:ea typeface="Courier New"/>
                <a:cs typeface="Courier"/>
              </a:rPr>
              <a:t>path</a:t>
            </a:r>
          </a:p>
          <a:p>
            <a:pPr marL="542925" lvl="1" indent="0">
              <a:buNone/>
            </a:pPr>
            <a:endParaRPr lang="en-US" sz="1100" b="1" dirty="0">
              <a:solidFill>
                <a:schemeClr val="tx1"/>
              </a:solidFill>
              <a:latin typeface="Courier"/>
              <a:ea typeface="Courier New"/>
              <a:cs typeface="Courier"/>
            </a:endParaRPr>
          </a:p>
          <a:p>
            <a:r>
              <a:rPr lang="en-US" dirty="0"/>
              <a:t>Creation/Delete directories</a:t>
            </a:r>
            <a:endParaRPr lang="en-US" dirty="0">
              <a:solidFill>
                <a:schemeClr val="tx1"/>
              </a:solidFill>
              <a:latin typeface="Courier"/>
              <a:ea typeface="Courier New"/>
              <a:cs typeface="Courier"/>
            </a:endParaRPr>
          </a:p>
          <a:p>
            <a:pPr lvl="1"/>
            <a:r>
              <a:rPr lang="en-US" b="1" dirty="0" err="1">
                <a:solidFill>
                  <a:schemeClr val="tx1"/>
                </a:solidFill>
                <a:latin typeface="Courier"/>
                <a:ea typeface="Courier New"/>
                <a:cs typeface="Courier"/>
              </a:rPr>
              <a:t>mkdir</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dirname</a:t>
            </a:r>
            <a:r>
              <a:rPr lang="en-US" dirty="0">
                <a:solidFill>
                  <a:schemeClr val="tx1"/>
                </a:solidFill>
                <a:ea typeface="Courier New"/>
                <a:cs typeface="Courier"/>
              </a:rPr>
              <a:t>: Creates a directory named </a:t>
            </a:r>
            <a:r>
              <a:rPr lang="en-US" b="1" dirty="0" err="1">
                <a:solidFill>
                  <a:schemeClr val="tx1"/>
                </a:solidFill>
                <a:latin typeface="Courier"/>
                <a:ea typeface="Courier New"/>
                <a:cs typeface="Courier"/>
              </a:rPr>
              <a:t>dirname</a:t>
            </a:r>
            <a:endParaRPr lang="en-US" dirty="0">
              <a:solidFill>
                <a:schemeClr val="tx1"/>
              </a:solidFill>
              <a:ea typeface="Courier New"/>
              <a:cs typeface="Courier"/>
            </a:endParaRPr>
          </a:p>
          <a:p>
            <a:pPr lvl="1"/>
            <a:r>
              <a:rPr lang="en-US" b="1" dirty="0" err="1">
                <a:solidFill>
                  <a:schemeClr val="tx1"/>
                </a:solidFill>
                <a:latin typeface="Courier"/>
                <a:ea typeface="Courier New"/>
                <a:cs typeface="Courier"/>
              </a:rPr>
              <a:t>rmdir</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dirname</a:t>
            </a:r>
            <a:r>
              <a:rPr lang="en-US" b="1" dirty="0">
                <a:solidFill>
                  <a:schemeClr val="tx1"/>
                </a:solidFill>
                <a:ea typeface="Courier New"/>
                <a:cs typeface="Courier"/>
              </a:rPr>
              <a:t>: </a:t>
            </a:r>
            <a:r>
              <a:rPr lang="en-US" dirty="0">
                <a:solidFill>
                  <a:schemeClr val="tx1"/>
                </a:solidFill>
                <a:ea typeface="Courier New"/>
                <a:cs typeface="Courier"/>
              </a:rPr>
              <a:t>Deletes the directory named </a:t>
            </a:r>
            <a:r>
              <a:rPr lang="en-US" b="1" dirty="0" err="1">
                <a:solidFill>
                  <a:schemeClr val="tx1"/>
                </a:solidFill>
                <a:latin typeface="Courier"/>
                <a:ea typeface="Courier New"/>
                <a:cs typeface="Courier"/>
              </a:rPr>
              <a:t>dirname</a:t>
            </a:r>
            <a:r>
              <a:rPr lang="en-US" dirty="0">
                <a:solidFill>
                  <a:schemeClr val="tx1"/>
                </a:solidFill>
                <a:ea typeface="Courier New"/>
                <a:cs typeface="Courier"/>
              </a:rPr>
              <a:t> (empty)</a:t>
            </a:r>
          </a:p>
          <a:p>
            <a:pPr lvl="1"/>
            <a:r>
              <a:rPr lang="en-US" b="1" dirty="0" err="1">
                <a:solidFill>
                  <a:schemeClr val="tx1"/>
                </a:solidFill>
                <a:latin typeface="Courier"/>
                <a:ea typeface="Courier New"/>
                <a:cs typeface="Courier"/>
              </a:rPr>
              <a:t>rm</a:t>
            </a:r>
            <a:r>
              <a:rPr lang="en-US" b="1" dirty="0">
                <a:solidFill>
                  <a:schemeClr val="tx1"/>
                </a:solidFill>
                <a:latin typeface="Courier"/>
                <a:ea typeface="Courier New"/>
                <a:cs typeface="Courier"/>
              </a:rPr>
              <a:t> -r </a:t>
            </a:r>
            <a:r>
              <a:rPr lang="en-US" b="1" dirty="0" err="1">
                <a:solidFill>
                  <a:schemeClr val="tx1"/>
                </a:solidFill>
                <a:latin typeface="Courier"/>
                <a:ea typeface="Courier New"/>
                <a:cs typeface="Courier"/>
              </a:rPr>
              <a:t>dirname</a:t>
            </a:r>
            <a:r>
              <a:rPr lang="en-US" dirty="0">
                <a:solidFill>
                  <a:schemeClr val="tx1"/>
                </a:solidFill>
                <a:ea typeface="Courier New"/>
                <a:cs typeface="Courier"/>
              </a:rPr>
              <a:t>: Deletes the directory named </a:t>
            </a:r>
            <a:r>
              <a:rPr lang="en-US" b="1" dirty="0" err="1">
                <a:solidFill>
                  <a:schemeClr val="tx1"/>
                </a:solidFill>
                <a:latin typeface="Courier"/>
                <a:ea typeface="Courier New"/>
                <a:cs typeface="Courier"/>
              </a:rPr>
              <a:t>dirname</a:t>
            </a:r>
            <a:r>
              <a:rPr lang="en-US" dirty="0">
                <a:solidFill>
                  <a:schemeClr val="tx1"/>
                </a:solidFill>
                <a:ea typeface="Courier New"/>
                <a:cs typeface="Courier"/>
              </a:rPr>
              <a:t> recursively (subdirectories) (not empty) </a:t>
            </a:r>
          </a:p>
          <a:p>
            <a:pPr lvl="1"/>
            <a:r>
              <a:rPr lang="en-US" b="1" dirty="0">
                <a:solidFill>
                  <a:srgbClr val="FF0000"/>
                </a:solidFill>
                <a:ea typeface="Courier New"/>
                <a:cs typeface="Courier"/>
              </a:rPr>
              <a:t>NO TRASHBIN !</a:t>
            </a:r>
          </a:p>
          <a:p>
            <a:pPr marL="542925" lvl="1" indent="0">
              <a:buNone/>
            </a:pPr>
            <a:endParaRPr lang="en-US" sz="1000" b="1" dirty="0">
              <a:solidFill>
                <a:srgbClr val="800000"/>
              </a:solidFill>
              <a:ea typeface="Courier New"/>
              <a:cs typeface="Courier"/>
            </a:endParaRPr>
          </a:p>
          <a:p>
            <a:r>
              <a:rPr lang="en-US" dirty="0">
                <a:solidFill>
                  <a:schemeClr val="tx1"/>
                </a:solidFill>
                <a:ea typeface="Courier New"/>
                <a:cs typeface="Courier"/>
              </a:rPr>
              <a:t>Rename: </a:t>
            </a:r>
            <a:r>
              <a:rPr lang="en-US" b="1" dirty="0">
                <a:solidFill>
                  <a:schemeClr val="tx1"/>
                </a:solidFill>
                <a:latin typeface="Courier"/>
                <a:ea typeface="Courier New"/>
                <a:cs typeface="Courier"/>
              </a:rPr>
              <a:t>mv </a:t>
            </a:r>
            <a:r>
              <a:rPr lang="en-US" b="1" dirty="0" err="1">
                <a:solidFill>
                  <a:schemeClr val="tx1"/>
                </a:solidFill>
                <a:latin typeface="Courier"/>
                <a:ea typeface="Courier New"/>
                <a:cs typeface="Courier"/>
              </a:rPr>
              <a:t>dirsource</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dirdest</a:t>
            </a:r>
            <a:endParaRPr lang="en-US" b="1" dirty="0">
              <a:solidFill>
                <a:schemeClr val="tx1"/>
              </a:solidFill>
              <a:latin typeface="Courier"/>
              <a:ea typeface="Courier New"/>
              <a:cs typeface="Courier"/>
            </a:endParaRPr>
          </a:p>
          <a:p>
            <a:endParaRPr lang="en-US" sz="800" b="1" dirty="0">
              <a:solidFill>
                <a:schemeClr val="tx1"/>
              </a:solidFill>
              <a:latin typeface="Courier"/>
              <a:ea typeface="Courier New"/>
              <a:cs typeface="Courier"/>
            </a:endParaRPr>
          </a:p>
          <a:p>
            <a:r>
              <a:rPr lang="en-US" dirty="0">
                <a:solidFill>
                  <a:schemeClr val="tx1"/>
                </a:solidFill>
                <a:ea typeface="Courier New"/>
                <a:cs typeface="Courier"/>
              </a:rPr>
              <a:t>Hierarchical copy (subdirectories): </a:t>
            </a:r>
            <a:r>
              <a:rPr lang="en-US" b="1" dirty="0" err="1">
                <a:solidFill>
                  <a:schemeClr val="tx1"/>
                </a:solidFill>
                <a:latin typeface="Courier"/>
                <a:ea typeface="Courier New"/>
                <a:cs typeface="Courier"/>
              </a:rPr>
              <a:t>cp</a:t>
            </a:r>
            <a:r>
              <a:rPr lang="en-US" b="1" dirty="0">
                <a:solidFill>
                  <a:schemeClr val="tx1"/>
                </a:solidFill>
                <a:latin typeface="Courier"/>
                <a:ea typeface="Courier New"/>
                <a:cs typeface="Courier"/>
              </a:rPr>
              <a:t> -r </a:t>
            </a:r>
            <a:r>
              <a:rPr lang="en-US" b="1" dirty="0" err="1">
                <a:solidFill>
                  <a:schemeClr val="tx1"/>
                </a:solidFill>
                <a:latin typeface="Courier"/>
                <a:ea typeface="Courier New"/>
                <a:cs typeface="Courier"/>
              </a:rPr>
              <a:t>dirsource</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dirdest</a:t>
            </a:r>
            <a:endParaRPr lang="en-US" dirty="0">
              <a:solidFill>
                <a:schemeClr val="tx1"/>
              </a:solidFill>
              <a:ea typeface="Courier New"/>
              <a:cs typeface="Courier"/>
            </a:endParaRPr>
          </a:p>
          <a:p>
            <a:pPr marL="542925" lvl="1" indent="0">
              <a:buNone/>
            </a:pPr>
            <a:endParaRPr lang="en-US" b="1" dirty="0">
              <a:solidFill>
                <a:schemeClr val="tx1"/>
              </a:solidFill>
              <a:latin typeface="Courier"/>
              <a:ea typeface="Courier New"/>
              <a:cs typeface="Courier"/>
            </a:endParaRPr>
          </a:p>
        </p:txBody>
      </p:sp>
      <p:sp>
        <p:nvSpPr>
          <p:cNvPr id="4"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5"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15</a:t>
            </a:fld>
            <a:endParaRPr lang="fr-FR" sz="1400" dirty="0">
              <a:solidFill>
                <a:srgbClr val="000208"/>
              </a:solidFill>
              <a:latin typeface="Times New Roman" charset="0"/>
            </a:endParaRPr>
          </a:p>
        </p:txBody>
      </p:sp>
    </p:spTree>
    <p:extLst>
      <p:ext uri="{BB962C8B-B14F-4D97-AF65-F5344CB8AC3E}">
        <p14:creationId xmlns:p14="http://schemas.microsoft.com/office/powerpoint/2010/main" val="255532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
          <p:cNvSpPr>
            <a:spLocks noGrp="1" noChangeArrowheads="1"/>
          </p:cNvSpPr>
          <p:nvPr>
            <p:ph type="title"/>
          </p:nvPr>
        </p:nvSpPr>
        <p:spPr>
          <a:xfrm>
            <a:off x="304800" y="159296"/>
            <a:ext cx="7772400" cy="533400"/>
          </a:xfrm>
        </p:spPr>
        <p:txBody>
          <a:bodyPr/>
          <a:lstStyle/>
          <a:p>
            <a:r>
              <a:rPr lang="en-US" sz="2800" dirty="0">
                <a:latin typeface="Arial" charset="0"/>
              </a:rPr>
              <a:t>Listing</a:t>
            </a:r>
          </a:p>
        </p:txBody>
      </p:sp>
      <p:sp>
        <p:nvSpPr>
          <p:cNvPr id="22" name="Rectangle 3"/>
          <p:cNvSpPr txBox="1">
            <a:spLocks noChangeArrowheads="1"/>
          </p:cNvSpPr>
          <p:nvPr/>
        </p:nvSpPr>
        <p:spPr bwMode="auto">
          <a:xfrm>
            <a:off x="457200" y="908720"/>
            <a:ext cx="8686800" cy="56166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b="1" dirty="0" err="1">
                <a:solidFill>
                  <a:schemeClr val="tx1"/>
                </a:solidFill>
                <a:latin typeface="Courier"/>
                <a:ea typeface="Courier New"/>
                <a:cs typeface="Courier"/>
              </a:rPr>
              <a:t>ls</a:t>
            </a:r>
            <a:r>
              <a:rPr lang="en-US" dirty="0">
                <a:solidFill>
                  <a:schemeClr val="tx1"/>
                </a:solidFill>
                <a:ea typeface="Courier New"/>
                <a:cs typeface="Courier"/>
              </a:rPr>
              <a:t>: Lists the files in the working directory</a:t>
            </a:r>
          </a:p>
          <a:p>
            <a:r>
              <a:rPr lang="en-US" b="1" dirty="0" err="1">
                <a:solidFill>
                  <a:schemeClr val="tx1"/>
                </a:solidFill>
                <a:latin typeface="Courier"/>
                <a:ea typeface="Courier New"/>
                <a:cs typeface="Courier"/>
              </a:rPr>
              <a:t>ls</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dirname</a:t>
            </a:r>
            <a:r>
              <a:rPr lang="en-US" dirty="0">
                <a:solidFill>
                  <a:schemeClr val="tx1"/>
                </a:solidFill>
                <a:ea typeface="Courier New"/>
                <a:cs typeface="Courier"/>
              </a:rPr>
              <a:t>: Lists the content of directory </a:t>
            </a:r>
            <a:r>
              <a:rPr lang="en-US" b="1" dirty="0" err="1">
                <a:solidFill>
                  <a:schemeClr val="tx1"/>
                </a:solidFill>
                <a:latin typeface="Courier"/>
                <a:ea typeface="Courier New"/>
                <a:cs typeface="Courier"/>
              </a:rPr>
              <a:t>dirname</a:t>
            </a:r>
            <a:endParaRPr lang="en-US" b="1" dirty="0">
              <a:solidFill>
                <a:schemeClr val="tx1"/>
              </a:solidFill>
              <a:latin typeface="Courier"/>
              <a:ea typeface="Courier New"/>
              <a:cs typeface="Courier"/>
            </a:endParaRPr>
          </a:p>
          <a:p>
            <a:endParaRPr lang="en-US" b="1" dirty="0">
              <a:solidFill>
                <a:schemeClr val="tx1"/>
              </a:solidFill>
              <a:latin typeface="Courier"/>
              <a:ea typeface="Courier New"/>
              <a:cs typeface="Courier"/>
            </a:endParaRPr>
          </a:p>
          <a:p>
            <a:endParaRPr lang="en-US" b="1" dirty="0">
              <a:solidFill>
                <a:schemeClr val="tx1"/>
              </a:solidFill>
              <a:latin typeface="Courier"/>
              <a:ea typeface="Courier New"/>
              <a:cs typeface="Courier"/>
            </a:endParaRPr>
          </a:p>
          <a:p>
            <a:r>
              <a:rPr lang="en-US" dirty="0">
                <a:solidFill>
                  <a:schemeClr val="tx1"/>
                </a:solidFill>
                <a:ea typeface="Courier New"/>
                <a:cs typeface="Courier"/>
              </a:rPr>
              <a:t>Some parameters passed as arguments:</a:t>
            </a:r>
            <a:r>
              <a:rPr lang="en-US" b="1" dirty="0">
                <a:solidFill>
                  <a:schemeClr val="tx1"/>
                </a:solidFill>
                <a:latin typeface="Courier"/>
                <a:ea typeface="Courier New"/>
                <a:cs typeface="Courier"/>
              </a:rPr>
              <a:t> </a:t>
            </a:r>
          </a:p>
          <a:p>
            <a:pPr lvl="1"/>
            <a:r>
              <a:rPr lang="en-US" b="1" dirty="0">
                <a:solidFill>
                  <a:schemeClr val="tx1"/>
                </a:solidFill>
                <a:latin typeface="Courier"/>
                <a:ea typeface="Courier New"/>
                <a:cs typeface="Courier"/>
              </a:rPr>
              <a:t>-l</a:t>
            </a:r>
            <a:r>
              <a:rPr lang="en-US" dirty="0">
                <a:solidFill>
                  <a:schemeClr val="tx1"/>
                </a:solidFill>
                <a:ea typeface="Courier New"/>
                <a:cs typeface="Courier"/>
              </a:rPr>
              <a:t>: Use a long listing format (details)</a:t>
            </a:r>
          </a:p>
          <a:p>
            <a:pPr lvl="1"/>
            <a:endParaRPr lang="en-US" sz="1600" b="1" dirty="0">
              <a:solidFill>
                <a:schemeClr val="tx1"/>
              </a:solidFill>
              <a:latin typeface="Courier"/>
              <a:ea typeface="Courier New"/>
              <a:cs typeface="Courier"/>
            </a:endParaRPr>
          </a:p>
          <a:p>
            <a:pPr lvl="1"/>
            <a:endParaRPr lang="en-US" sz="1600" b="1" dirty="0">
              <a:solidFill>
                <a:schemeClr val="tx1"/>
              </a:solidFill>
              <a:latin typeface="Courier"/>
              <a:ea typeface="Courier New"/>
              <a:cs typeface="Courier"/>
            </a:endParaRPr>
          </a:p>
          <a:p>
            <a:pPr lvl="1"/>
            <a:endParaRPr lang="en-US" sz="1600" b="1" dirty="0">
              <a:solidFill>
                <a:schemeClr val="tx1"/>
              </a:solidFill>
              <a:latin typeface="Courier"/>
              <a:ea typeface="Courier New"/>
              <a:cs typeface="Courier"/>
            </a:endParaRPr>
          </a:p>
          <a:p>
            <a:pPr marL="542925" lvl="1" indent="0">
              <a:buNone/>
            </a:pPr>
            <a:endParaRPr lang="en-US" sz="2400" b="1" dirty="0">
              <a:solidFill>
                <a:schemeClr val="tx1"/>
              </a:solidFill>
              <a:latin typeface="Courier"/>
              <a:ea typeface="Courier New"/>
              <a:cs typeface="Courier"/>
            </a:endParaRPr>
          </a:p>
          <a:p>
            <a:pPr lvl="1"/>
            <a:r>
              <a:rPr lang="en-US" sz="2000" b="1" dirty="0">
                <a:solidFill>
                  <a:schemeClr val="tx1"/>
                </a:solidFill>
                <a:latin typeface="Courier"/>
                <a:ea typeface="Courier New"/>
                <a:cs typeface="Courier"/>
              </a:rPr>
              <a:t>-a</a:t>
            </a:r>
            <a:r>
              <a:rPr lang="en-US" sz="2000" dirty="0">
                <a:solidFill>
                  <a:schemeClr val="tx1"/>
                </a:solidFill>
                <a:ea typeface="Courier New"/>
                <a:cs typeface="Courier"/>
              </a:rPr>
              <a:t>:</a:t>
            </a:r>
            <a:r>
              <a:rPr lang="en-US" sz="2000" b="1" dirty="0">
                <a:solidFill>
                  <a:schemeClr val="tx1"/>
                </a:solidFill>
                <a:latin typeface="Courier"/>
                <a:ea typeface="Courier New"/>
                <a:cs typeface="Courier"/>
              </a:rPr>
              <a:t> </a:t>
            </a:r>
            <a:r>
              <a:rPr lang="en-US" sz="2000" dirty="0">
                <a:solidFill>
                  <a:schemeClr val="tx1"/>
                </a:solidFill>
                <a:ea typeface="Courier New"/>
                <a:cs typeface="Courier"/>
              </a:rPr>
              <a:t>Not ignore entries starting with </a:t>
            </a:r>
            <a:r>
              <a:rPr lang="en-US" sz="2000" dirty="0">
                <a:solidFill>
                  <a:schemeClr val="tx1"/>
                </a:solidFill>
                <a:latin typeface="Courier"/>
                <a:ea typeface="Courier New"/>
                <a:cs typeface="Courier"/>
              </a:rPr>
              <a:t>.</a:t>
            </a:r>
            <a:r>
              <a:rPr lang="en-US" sz="2000" dirty="0">
                <a:solidFill>
                  <a:schemeClr val="tx1"/>
                </a:solidFill>
                <a:ea typeface="Courier New"/>
                <a:cs typeface="Courier"/>
              </a:rPr>
              <a:t> (hidden folders/files) </a:t>
            </a:r>
          </a:p>
          <a:p>
            <a:pPr lvl="2" indent="0">
              <a:buNone/>
            </a:pPr>
            <a:endParaRPr lang="en-US" sz="2000" dirty="0">
              <a:solidFill>
                <a:schemeClr val="tx1"/>
              </a:solidFill>
              <a:latin typeface="Courier"/>
              <a:ea typeface="Courier New"/>
              <a:cs typeface="Courier"/>
            </a:endParaRPr>
          </a:p>
          <a:p>
            <a:pPr lvl="2"/>
            <a:endParaRPr lang="en-US" dirty="0"/>
          </a:p>
          <a:p>
            <a:pPr lvl="1"/>
            <a:endParaRPr lang="en-US" dirty="0">
              <a:solidFill>
                <a:schemeClr val="tx1"/>
              </a:solidFill>
              <a:ea typeface="Courier New"/>
              <a:cs typeface="Courier"/>
            </a:endParaRPr>
          </a:p>
          <a:p>
            <a:pPr lvl="1"/>
            <a:endParaRPr lang="en-US" dirty="0"/>
          </a:p>
          <a:p>
            <a:pPr lvl="1"/>
            <a:endParaRPr lang="en-US" dirty="0">
              <a:latin typeface="Arial" charset="0"/>
              <a:sym typeface="Wingdings"/>
            </a:endParaRPr>
          </a:p>
          <a:p>
            <a:pPr lvl="1"/>
            <a:endParaRPr lang="en-US" sz="2000" b="1" dirty="0">
              <a:solidFill>
                <a:srgbClr val="000000"/>
              </a:solidFill>
              <a:latin typeface="Courier"/>
              <a:cs typeface="Courier"/>
            </a:endParaRPr>
          </a:p>
        </p:txBody>
      </p:sp>
      <p:pic>
        <p:nvPicPr>
          <p:cNvPr id="2" name="Picture 1" descr="ls.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83668" y="1916832"/>
            <a:ext cx="5206178" cy="619783"/>
          </a:xfrm>
          <a:prstGeom prst="rect">
            <a:avLst/>
          </a:prstGeom>
        </p:spPr>
      </p:pic>
      <p:pic>
        <p:nvPicPr>
          <p:cNvPr id="3" name="Picture 2" descr="ls-ll.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47664" y="3537012"/>
            <a:ext cx="5981229" cy="1232396"/>
          </a:xfrm>
          <a:prstGeom prst="rect">
            <a:avLst/>
          </a:prstGeom>
        </p:spPr>
      </p:pic>
      <p:pic>
        <p:nvPicPr>
          <p:cNvPr id="4" name="Picture 3" descr="ls-al.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75656" y="5193196"/>
            <a:ext cx="5502435" cy="1484784"/>
          </a:xfrm>
          <a:prstGeom prst="rect">
            <a:avLst/>
          </a:prstGeom>
        </p:spPr>
      </p:pic>
      <p:sp>
        <p:nvSpPr>
          <p:cNvPr id="7"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16</a:t>
            </a:fld>
            <a:endParaRPr lang="fr-FR" sz="1400" dirty="0">
              <a:solidFill>
                <a:srgbClr val="000208"/>
              </a:solidFill>
              <a:latin typeface="Times New Roman" charset="0"/>
            </a:endParaRPr>
          </a:p>
        </p:txBody>
      </p:sp>
    </p:spTree>
    <p:extLst>
      <p:ext uri="{BB962C8B-B14F-4D97-AF65-F5344CB8AC3E}">
        <p14:creationId xmlns:p14="http://schemas.microsoft.com/office/powerpoint/2010/main" val="51313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
          <p:cNvSpPr>
            <a:spLocks noGrp="1" noChangeArrowheads="1"/>
          </p:cNvSpPr>
          <p:nvPr>
            <p:ph type="title"/>
          </p:nvPr>
        </p:nvSpPr>
        <p:spPr>
          <a:xfrm>
            <a:off x="304800" y="159296"/>
            <a:ext cx="7772400" cy="533400"/>
          </a:xfrm>
        </p:spPr>
        <p:txBody>
          <a:bodyPr/>
          <a:lstStyle/>
          <a:p>
            <a:r>
              <a:rPr lang="en-US" sz="2800" dirty="0">
                <a:latin typeface="Arial" charset="0"/>
              </a:rPr>
              <a:t>File management</a:t>
            </a:r>
          </a:p>
        </p:txBody>
      </p:sp>
      <p:sp>
        <p:nvSpPr>
          <p:cNvPr id="22" name="Rectangle 3"/>
          <p:cNvSpPr txBox="1">
            <a:spLocks noChangeArrowheads="1"/>
          </p:cNvSpPr>
          <p:nvPr/>
        </p:nvSpPr>
        <p:spPr bwMode="auto">
          <a:xfrm>
            <a:off x="457200" y="908720"/>
            <a:ext cx="8686800" cy="56166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Create file by: </a:t>
            </a:r>
          </a:p>
          <a:p>
            <a:pPr lvl="1"/>
            <a:r>
              <a:rPr lang="en-US" dirty="0">
                <a:solidFill>
                  <a:schemeClr val="tx1"/>
                </a:solidFill>
                <a:ea typeface="Courier New"/>
                <a:cs typeface="Courier"/>
              </a:rPr>
              <a:t>Update access &amp; modification time: </a:t>
            </a:r>
            <a:r>
              <a:rPr lang="en-US" b="1" dirty="0">
                <a:solidFill>
                  <a:schemeClr val="tx1"/>
                </a:solidFill>
                <a:latin typeface="Courier"/>
                <a:ea typeface="Courier New"/>
                <a:cs typeface="Courier"/>
              </a:rPr>
              <a:t>touch filename</a:t>
            </a:r>
            <a:endParaRPr lang="en-US" dirty="0"/>
          </a:p>
          <a:p>
            <a:endParaRPr lang="en-US" sz="1000" dirty="0"/>
          </a:p>
          <a:p>
            <a:r>
              <a:rPr lang="en-US" dirty="0"/>
              <a:t>Delete file: </a:t>
            </a:r>
            <a:r>
              <a:rPr lang="en-US" b="1" dirty="0" err="1">
                <a:solidFill>
                  <a:schemeClr val="tx1"/>
                </a:solidFill>
                <a:latin typeface="Courier"/>
                <a:ea typeface="Courier New"/>
                <a:cs typeface="Courier"/>
              </a:rPr>
              <a:t>rm</a:t>
            </a:r>
            <a:r>
              <a:rPr lang="en-US" b="1" dirty="0">
                <a:solidFill>
                  <a:schemeClr val="tx1"/>
                </a:solidFill>
                <a:latin typeface="Courier"/>
                <a:ea typeface="Courier New"/>
                <a:cs typeface="Courier"/>
              </a:rPr>
              <a:t> filename</a:t>
            </a:r>
            <a:endParaRPr lang="en-US" dirty="0"/>
          </a:p>
          <a:p>
            <a:pPr marL="542925" lvl="1" indent="0">
              <a:buNone/>
            </a:pPr>
            <a:endParaRPr lang="en-US" sz="1000" dirty="0">
              <a:solidFill>
                <a:schemeClr val="tx1"/>
              </a:solidFill>
              <a:ea typeface="Courier New"/>
              <a:cs typeface="Courier"/>
            </a:endParaRPr>
          </a:p>
          <a:p>
            <a:r>
              <a:rPr lang="en-US" dirty="0">
                <a:solidFill>
                  <a:schemeClr val="tx1"/>
                </a:solidFill>
                <a:ea typeface="Courier New"/>
                <a:cs typeface="Courier"/>
              </a:rPr>
              <a:t>Rename: </a:t>
            </a:r>
            <a:r>
              <a:rPr lang="en-US" b="1" dirty="0">
                <a:solidFill>
                  <a:schemeClr val="tx1"/>
                </a:solidFill>
                <a:latin typeface="Courier"/>
                <a:ea typeface="Courier New"/>
                <a:cs typeface="Courier"/>
              </a:rPr>
              <a:t>mv </a:t>
            </a:r>
            <a:r>
              <a:rPr lang="en-US" b="1" dirty="0" err="1">
                <a:solidFill>
                  <a:schemeClr val="tx1"/>
                </a:solidFill>
                <a:latin typeface="Courier"/>
                <a:ea typeface="Courier New"/>
                <a:cs typeface="Courier"/>
              </a:rPr>
              <a:t>filesource</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filedest</a:t>
            </a:r>
            <a:endParaRPr lang="en-US" b="1" dirty="0">
              <a:solidFill>
                <a:schemeClr val="tx1"/>
              </a:solidFill>
              <a:latin typeface="Courier"/>
              <a:ea typeface="Courier New"/>
              <a:cs typeface="Courier"/>
            </a:endParaRPr>
          </a:p>
          <a:p>
            <a:endParaRPr lang="en-US" sz="1000" dirty="0">
              <a:solidFill>
                <a:schemeClr val="tx1"/>
              </a:solidFill>
              <a:ea typeface="Courier New"/>
              <a:cs typeface="Courier"/>
            </a:endParaRPr>
          </a:p>
          <a:p>
            <a:r>
              <a:rPr lang="en-US" dirty="0">
                <a:solidFill>
                  <a:schemeClr val="tx1"/>
                </a:solidFill>
                <a:ea typeface="Courier New"/>
                <a:cs typeface="Courier"/>
              </a:rPr>
              <a:t>Copy: </a:t>
            </a:r>
          </a:p>
          <a:p>
            <a:pPr lvl="1"/>
            <a:r>
              <a:rPr lang="en-US" b="1" dirty="0" err="1">
                <a:solidFill>
                  <a:schemeClr val="tx1"/>
                </a:solidFill>
                <a:latin typeface="Courier"/>
                <a:ea typeface="Courier New"/>
                <a:cs typeface="Courier"/>
              </a:rPr>
              <a:t>cp</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filesource</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filedest</a:t>
            </a:r>
            <a:endParaRPr lang="en-US" dirty="0">
              <a:solidFill>
                <a:schemeClr val="tx1"/>
              </a:solidFill>
              <a:ea typeface="Courier New"/>
              <a:cs typeface="Courier"/>
            </a:endParaRPr>
          </a:p>
          <a:p>
            <a:pPr lvl="1"/>
            <a:r>
              <a:rPr lang="en-US" b="1" dirty="0" err="1">
                <a:solidFill>
                  <a:schemeClr val="tx1"/>
                </a:solidFill>
                <a:latin typeface="Courier"/>
                <a:ea typeface="Courier New"/>
                <a:cs typeface="Courier"/>
              </a:rPr>
              <a:t>cp</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filesource</a:t>
            </a:r>
            <a:r>
              <a:rPr lang="en-US" b="1" dirty="0">
                <a:solidFill>
                  <a:schemeClr val="tx1"/>
                </a:solidFill>
                <a:latin typeface="Courier"/>
                <a:ea typeface="Courier New"/>
                <a:cs typeface="Courier"/>
              </a:rPr>
              <a:t> </a:t>
            </a:r>
            <a:r>
              <a:rPr lang="en-US" b="1" dirty="0" err="1">
                <a:solidFill>
                  <a:schemeClr val="tx1"/>
                </a:solidFill>
                <a:latin typeface="Courier"/>
                <a:ea typeface="Courier New"/>
                <a:cs typeface="Courier"/>
              </a:rPr>
              <a:t>dirdest</a:t>
            </a:r>
            <a:endParaRPr lang="en-US" dirty="0">
              <a:solidFill>
                <a:schemeClr val="tx1"/>
              </a:solidFill>
              <a:ea typeface="Courier New"/>
              <a:cs typeface="Courier"/>
            </a:endParaRPr>
          </a:p>
          <a:p>
            <a:pPr lvl="1"/>
            <a:endParaRPr lang="en-US" sz="1000" dirty="0">
              <a:solidFill>
                <a:schemeClr val="tx1"/>
              </a:solidFill>
              <a:ea typeface="Courier New"/>
              <a:cs typeface="Courier"/>
            </a:endParaRPr>
          </a:p>
          <a:p>
            <a:r>
              <a:rPr lang="en-US" dirty="0">
                <a:solidFill>
                  <a:schemeClr val="tx1"/>
                </a:solidFill>
                <a:ea typeface="Courier New"/>
                <a:cs typeface="Courier"/>
              </a:rPr>
              <a:t>Remove non-directory suffix part from a filename: </a:t>
            </a:r>
            <a:r>
              <a:rPr lang="en-US" b="1" dirty="0" err="1">
                <a:solidFill>
                  <a:schemeClr val="tx1"/>
                </a:solidFill>
                <a:latin typeface="Courier"/>
                <a:ea typeface="Courier New"/>
                <a:cs typeface="Courier"/>
              </a:rPr>
              <a:t>dirname</a:t>
            </a:r>
            <a:endParaRPr lang="en-US" b="1" dirty="0">
              <a:solidFill>
                <a:schemeClr val="tx1"/>
              </a:solidFill>
              <a:latin typeface="Courier"/>
              <a:ea typeface="Courier New"/>
              <a:cs typeface="Courier"/>
            </a:endParaRPr>
          </a:p>
          <a:p>
            <a:endParaRPr lang="en-US" sz="1000" b="1" dirty="0">
              <a:solidFill>
                <a:schemeClr val="tx1"/>
              </a:solidFill>
              <a:latin typeface="Courier"/>
              <a:ea typeface="Courier New"/>
              <a:cs typeface="Courier"/>
            </a:endParaRPr>
          </a:p>
          <a:p>
            <a:r>
              <a:rPr lang="en-US" dirty="0">
                <a:solidFill>
                  <a:schemeClr val="tx1"/>
                </a:solidFill>
                <a:ea typeface="Courier New"/>
                <a:cs typeface="Courier"/>
              </a:rPr>
              <a:t>Remove the directory part suffix from a filename: </a:t>
            </a:r>
            <a:r>
              <a:rPr lang="en-US" b="1" dirty="0" err="1">
                <a:solidFill>
                  <a:schemeClr val="tx1"/>
                </a:solidFill>
                <a:latin typeface="Courier"/>
                <a:ea typeface="Courier New"/>
                <a:cs typeface="Courier"/>
              </a:rPr>
              <a:t>basename</a:t>
            </a:r>
            <a:endParaRPr lang="en-US" b="1" dirty="0">
              <a:solidFill>
                <a:schemeClr val="tx1"/>
              </a:solidFill>
              <a:latin typeface="Courier"/>
              <a:ea typeface="Courier New"/>
              <a:cs typeface="Courier"/>
            </a:endParaRPr>
          </a:p>
          <a:p>
            <a:endParaRPr lang="en-GB" sz="1000" dirty="0">
              <a:latin typeface="Arial" charset="0"/>
            </a:endParaRPr>
          </a:p>
          <a:p>
            <a:r>
              <a:rPr lang="en-GB" dirty="0">
                <a:latin typeface="Arial" charset="0"/>
              </a:rPr>
              <a:t>Count the number of words of a file: </a:t>
            </a:r>
            <a:r>
              <a:rPr lang="en-GB" b="1" dirty="0" err="1">
                <a:latin typeface="Courier"/>
                <a:cs typeface="Courier"/>
              </a:rPr>
              <a:t>wc</a:t>
            </a:r>
            <a:r>
              <a:rPr lang="en-GB" b="1" dirty="0">
                <a:latin typeface="Courier"/>
                <a:cs typeface="Courier"/>
              </a:rPr>
              <a:t> –w filename</a:t>
            </a:r>
          </a:p>
          <a:p>
            <a:pPr marL="542925" lvl="1" indent="0">
              <a:buNone/>
            </a:pPr>
            <a:endParaRPr lang="en-US" dirty="0">
              <a:solidFill>
                <a:schemeClr val="tx1"/>
              </a:solidFill>
              <a:ea typeface="Courier New"/>
              <a:cs typeface="Courier"/>
            </a:endParaRPr>
          </a:p>
          <a:p>
            <a:pPr lvl="1"/>
            <a:endParaRPr lang="en-US" dirty="0">
              <a:solidFill>
                <a:schemeClr val="tx1"/>
              </a:solidFill>
              <a:ea typeface="Courier New"/>
              <a:cs typeface="Courier"/>
            </a:endParaRPr>
          </a:p>
          <a:p>
            <a:pPr lvl="1"/>
            <a:endParaRPr lang="en-US" dirty="0">
              <a:solidFill>
                <a:schemeClr val="tx1"/>
              </a:solidFill>
              <a:ea typeface="Courier New"/>
              <a:cs typeface="Courier"/>
            </a:endParaRPr>
          </a:p>
          <a:p>
            <a:pPr lvl="1"/>
            <a:endParaRPr lang="en-US" dirty="0"/>
          </a:p>
          <a:p>
            <a:pPr lvl="1"/>
            <a:endParaRPr lang="en-US" dirty="0">
              <a:latin typeface="Arial" charset="0"/>
              <a:sym typeface="Wingdings"/>
            </a:endParaRPr>
          </a:p>
          <a:p>
            <a:pPr lvl="1"/>
            <a:endParaRPr lang="en-US" sz="2000" b="1" dirty="0">
              <a:solidFill>
                <a:srgbClr val="000000"/>
              </a:solidFill>
              <a:latin typeface="Courier"/>
              <a:cs typeface="Courier"/>
            </a:endParaRP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17</a:t>
            </a:fld>
            <a:endParaRPr lang="fr-FR" sz="1400" dirty="0">
              <a:solidFill>
                <a:srgbClr val="000208"/>
              </a:solidFill>
              <a:latin typeface="Times New Roman" charset="0"/>
            </a:endParaRPr>
          </a:p>
        </p:txBody>
      </p:sp>
    </p:spTree>
    <p:extLst>
      <p:ext uri="{BB962C8B-B14F-4D97-AF65-F5344CB8AC3E}">
        <p14:creationId xmlns:p14="http://schemas.microsoft.com/office/powerpoint/2010/main" val="390590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
          <p:cNvSpPr>
            <a:spLocks noGrp="1" noChangeArrowheads="1"/>
          </p:cNvSpPr>
          <p:nvPr>
            <p:ph type="title"/>
          </p:nvPr>
        </p:nvSpPr>
        <p:spPr>
          <a:xfrm>
            <a:off x="304800" y="159296"/>
            <a:ext cx="7772400" cy="533400"/>
          </a:xfrm>
        </p:spPr>
        <p:txBody>
          <a:bodyPr/>
          <a:lstStyle/>
          <a:p>
            <a:r>
              <a:rPr lang="en-US" sz="2800" dirty="0">
                <a:latin typeface="Arial" charset="0"/>
              </a:rPr>
              <a:t>File management</a:t>
            </a:r>
          </a:p>
        </p:txBody>
      </p:sp>
      <p:sp>
        <p:nvSpPr>
          <p:cNvPr id="22" name="Rectangle 3"/>
          <p:cNvSpPr txBox="1">
            <a:spLocks noChangeArrowheads="1"/>
          </p:cNvSpPr>
          <p:nvPr/>
        </p:nvSpPr>
        <p:spPr bwMode="auto">
          <a:xfrm>
            <a:off x="97160" y="908720"/>
            <a:ext cx="9191364" cy="56166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t>Print the contents of a file</a:t>
            </a:r>
            <a:r>
              <a:rPr lang="en-US" dirty="0">
                <a:solidFill>
                  <a:schemeClr val="tx1"/>
                </a:solidFill>
                <a:ea typeface="Courier New"/>
                <a:cs typeface="Courier"/>
              </a:rPr>
              <a:t>:</a:t>
            </a:r>
          </a:p>
          <a:p>
            <a:pPr lvl="1"/>
            <a:r>
              <a:rPr lang="en-US" b="1" dirty="0">
                <a:solidFill>
                  <a:schemeClr val="tx1"/>
                </a:solidFill>
                <a:latin typeface="Courier"/>
                <a:ea typeface="Courier New"/>
                <a:cs typeface="Courier"/>
              </a:rPr>
              <a:t>more filename</a:t>
            </a:r>
            <a:r>
              <a:rPr lang="en-US" dirty="0">
                <a:solidFill>
                  <a:schemeClr val="tx1"/>
                </a:solidFill>
                <a:ea typeface="Courier New"/>
                <a:cs typeface="Courier"/>
              </a:rPr>
              <a:t>: Prints page by page the content of file </a:t>
            </a:r>
            <a:r>
              <a:rPr lang="en-US" b="1" dirty="0">
                <a:solidFill>
                  <a:schemeClr val="tx1"/>
                </a:solidFill>
                <a:latin typeface="Courier"/>
                <a:ea typeface="Courier New"/>
                <a:cs typeface="Courier"/>
              </a:rPr>
              <a:t>filename </a:t>
            </a:r>
            <a:r>
              <a:rPr lang="en-US" dirty="0">
                <a:solidFill>
                  <a:schemeClr val="tx1"/>
                </a:solidFill>
                <a:ea typeface="Courier New"/>
                <a:cs typeface="Courier"/>
              </a:rPr>
              <a:t>on the </a:t>
            </a:r>
            <a:r>
              <a:rPr lang="en-US" dirty="0" err="1">
                <a:solidFill>
                  <a:schemeClr val="tx1"/>
                </a:solidFill>
                <a:latin typeface="Courier"/>
                <a:ea typeface="Courier New"/>
                <a:cs typeface="Courier"/>
              </a:rPr>
              <a:t>stdout</a:t>
            </a:r>
            <a:r>
              <a:rPr lang="en-US" dirty="0">
                <a:solidFill>
                  <a:schemeClr val="tx1"/>
                </a:solidFill>
                <a:ea typeface="Courier New"/>
                <a:cs typeface="Courier"/>
              </a:rPr>
              <a:t> (Q: Exit from </a:t>
            </a:r>
            <a:r>
              <a:rPr lang="en-US" b="1" dirty="0">
                <a:solidFill>
                  <a:schemeClr val="tx1"/>
                </a:solidFill>
                <a:latin typeface="Courier"/>
                <a:ea typeface="Courier New"/>
                <a:cs typeface="Courier"/>
              </a:rPr>
              <a:t>more</a:t>
            </a:r>
            <a:r>
              <a:rPr lang="en-US" dirty="0">
                <a:solidFill>
                  <a:schemeClr val="tx1"/>
                </a:solidFill>
                <a:ea typeface="Courier New"/>
                <a:cs typeface="Courier"/>
              </a:rPr>
              <a:t>)</a:t>
            </a:r>
            <a:endParaRPr lang="en-US" b="1" dirty="0">
              <a:solidFill>
                <a:schemeClr val="tx1"/>
              </a:solidFill>
              <a:latin typeface="Courier"/>
              <a:ea typeface="Courier New"/>
              <a:cs typeface="Courier"/>
            </a:endParaRPr>
          </a:p>
          <a:p>
            <a:pPr lvl="1"/>
            <a:r>
              <a:rPr lang="en-US" b="1" dirty="0">
                <a:solidFill>
                  <a:schemeClr val="tx1"/>
                </a:solidFill>
                <a:latin typeface="Courier"/>
                <a:ea typeface="Courier New"/>
                <a:cs typeface="Courier"/>
              </a:rPr>
              <a:t>less filename</a:t>
            </a:r>
            <a:r>
              <a:rPr lang="en-US" dirty="0">
                <a:solidFill>
                  <a:schemeClr val="tx1"/>
                </a:solidFill>
                <a:ea typeface="Courier New"/>
                <a:cs typeface="Courier"/>
              </a:rPr>
              <a:t>: Similar to more, but it allows to go up/down to the  pages (Q: Exit from </a:t>
            </a:r>
            <a:r>
              <a:rPr lang="en-US" b="1" dirty="0">
                <a:solidFill>
                  <a:schemeClr val="tx1"/>
                </a:solidFill>
                <a:latin typeface="Courier"/>
                <a:ea typeface="Courier New"/>
                <a:cs typeface="Courier"/>
              </a:rPr>
              <a:t>less</a:t>
            </a:r>
            <a:r>
              <a:rPr lang="en-US" dirty="0">
                <a:solidFill>
                  <a:schemeClr val="tx1"/>
                </a:solidFill>
                <a:ea typeface="Courier New"/>
                <a:cs typeface="Courier"/>
              </a:rPr>
              <a:t>)</a:t>
            </a:r>
          </a:p>
          <a:p>
            <a:pPr lvl="2"/>
            <a:endParaRPr lang="en-US" dirty="0">
              <a:solidFill>
                <a:schemeClr val="tx1"/>
              </a:solidFill>
              <a:latin typeface="Courier"/>
              <a:ea typeface="Courier New"/>
              <a:cs typeface="Courier"/>
            </a:endParaRPr>
          </a:p>
          <a:p>
            <a:pPr lvl="1"/>
            <a:r>
              <a:rPr lang="en-US" b="1" dirty="0">
                <a:solidFill>
                  <a:schemeClr val="tx1"/>
                </a:solidFill>
                <a:latin typeface="Courier"/>
                <a:ea typeface="Courier New"/>
                <a:cs typeface="Courier"/>
              </a:rPr>
              <a:t>head –n 42 filename</a:t>
            </a:r>
            <a:r>
              <a:rPr lang="en-US" dirty="0">
                <a:solidFill>
                  <a:schemeClr val="tx1"/>
                </a:solidFill>
                <a:ea typeface="Courier New"/>
                <a:cs typeface="Courier"/>
              </a:rPr>
              <a:t>: Print the first 42 lines of </a:t>
            </a:r>
            <a:r>
              <a:rPr lang="en-US" b="1" dirty="0">
                <a:solidFill>
                  <a:schemeClr val="tx1"/>
                </a:solidFill>
                <a:latin typeface="Courier"/>
                <a:ea typeface="Courier New"/>
                <a:cs typeface="Courier"/>
              </a:rPr>
              <a:t>filename</a:t>
            </a:r>
            <a:endParaRPr lang="en-US" dirty="0">
              <a:solidFill>
                <a:schemeClr val="tx1"/>
              </a:solidFill>
              <a:ea typeface="Courier New"/>
              <a:cs typeface="Courier"/>
            </a:endParaRPr>
          </a:p>
          <a:p>
            <a:pPr lvl="1"/>
            <a:r>
              <a:rPr lang="en-US" b="1" dirty="0">
                <a:solidFill>
                  <a:schemeClr val="tx1"/>
                </a:solidFill>
                <a:latin typeface="Courier"/>
                <a:ea typeface="Courier New"/>
                <a:cs typeface="Courier"/>
              </a:rPr>
              <a:t>tail –n 42 filename</a:t>
            </a:r>
            <a:r>
              <a:rPr lang="en-US" dirty="0">
                <a:solidFill>
                  <a:schemeClr val="tx1"/>
                </a:solidFill>
                <a:ea typeface="Courier New"/>
                <a:cs typeface="Courier"/>
              </a:rPr>
              <a:t>: Print the last 42 lines of </a:t>
            </a:r>
            <a:r>
              <a:rPr lang="en-US" b="1" dirty="0">
                <a:solidFill>
                  <a:schemeClr val="tx1"/>
                </a:solidFill>
                <a:latin typeface="Courier"/>
                <a:ea typeface="Courier New"/>
                <a:cs typeface="Courier"/>
              </a:rPr>
              <a:t>filename</a:t>
            </a:r>
            <a:endParaRPr lang="en-US" dirty="0">
              <a:solidFill>
                <a:schemeClr val="tx1"/>
              </a:solidFill>
              <a:ea typeface="Courier New"/>
              <a:cs typeface="Courier"/>
            </a:endParaRPr>
          </a:p>
          <a:p>
            <a:endParaRPr lang="en-US" sz="1000" b="1" dirty="0">
              <a:solidFill>
                <a:schemeClr val="tx1"/>
              </a:solidFill>
              <a:latin typeface="Courier"/>
              <a:ea typeface="Courier New"/>
              <a:cs typeface="Courier"/>
            </a:endParaRPr>
          </a:p>
          <a:p>
            <a:r>
              <a:rPr lang="en-US" dirty="0">
                <a:solidFill>
                  <a:schemeClr val="tx1"/>
                </a:solidFill>
                <a:ea typeface="Courier New"/>
                <a:cs typeface="Courier"/>
              </a:rPr>
              <a:t>Concatenate files (create and view files): </a:t>
            </a:r>
          </a:p>
          <a:p>
            <a:pPr lvl="1"/>
            <a:r>
              <a:rPr lang="en-US" b="1" dirty="0">
                <a:solidFill>
                  <a:schemeClr val="tx1"/>
                </a:solidFill>
                <a:latin typeface="Courier"/>
                <a:ea typeface="Courier New"/>
                <a:cs typeface="Courier"/>
              </a:rPr>
              <a:t>cat filename1 … </a:t>
            </a:r>
            <a:r>
              <a:rPr lang="en-US" b="1" dirty="0" err="1">
                <a:solidFill>
                  <a:schemeClr val="tx1"/>
                </a:solidFill>
                <a:latin typeface="Courier"/>
                <a:ea typeface="Courier New"/>
                <a:cs typeface="Courier"/>
              </a:rPr>
              <a:t>filenameN</a:t>
            </a:r>
            <a:r>
              <a:rPr lang="en-US" b="1" dirty="0">
                <a:solidFill>
                  <a:schemeClr val="tx1"/>
                </a:solidFill>
                <a:latin typeface="Courier"/>
                <a:ea typeface="Courier New"/>
                <a:cs typeface="Courier"/>
              </a:rPr>
              <a:t> </a:t>
            </a:r>
            <a:r>
              <a:rPr lang="en-US" dirty="0">
                <a:solidFill>
                  <a:schemeClr val="tx1"/>
                </a:solidFill>
                <a:latin typeface="Courier"/>
                <a:ea typeface="Courier New"/>
                <a:cs typeface="Courier"/>
              </a:rPr>
              <a:t>(</a:t>
            </a:r>
            <a:r>
              <a:rPr lang="en-US" dirty="0">
                <a:solidFill>
                  <a:schemeClr val="tx1"/>
                </a:solidFill>
                <a:ea typeface="Courier New"/>
                <a:cs typeface="Courier"/>
              </a:rPr>
              <a:t>print context of files at </a:t>
            </a:r>
            <a:r>
              <a:rPr lang="en-US" dirty="0" err="1">
                <a:solidFill>
                  <a:schemeClr val="tx1"/>
                </a:solidFill>
                <a:latin typeface="Courier"/>
                <a:ea typeface="Courier New"/>
                <a:cs typeface="Courier"/>
              </a:rPr>
              <a:t>stdout</a:t>
            </a:r>
            <a:r>
              <a:rPr lang="en-US" dirty="0">
                <a:solidFill>
                  <a:schemeClr val="tx1"/>
                </a:solidFill>
                <a:latin typeface="Courier"/>
                <a:ea typeface="Courier New"/>
                <a:cs typeface="Courier"/>
              </a:rPr>
              <a:t>)</a:t>
            </a:r>
          </a:p>
          <a:p>
            <a:pPr lvl="1"/>
            <a:r>
              <a:rPr lang="en-US" b="1" dirty="0">
                <a:solidFill>
                  <a:schemeClr val="tx1"/>
                </a:solidFill>
                <a:latin typeface="Courier"/>
                <a:ea typeface="Courier New"/>
                <a:cs typeface="Courier"/>
              </a:rPr>
              <a:t>cat</a:t>
            </a:r>
            <a:r>
              <a:rPr lang="en-US" dirty="0">
                <a:solidFill>
                  <a:schemeClr val="tx1"/>
                </a:solidFill>
                <a:ea typeface="Courier New"/>
                <a:cs typeface="Courier"/>
              </a:rPr>
              <a:t>: Print at </a:t>
            </a:r>
            <a:r>
              <a:rPr lang="en-US" b="1" dirty="0" err="1">
                <a:solidFill>
                  <a:schemeClr val="tx1"/>
                </a:solidFill>
                <a:latin typeface="Courier"/>
                <a:ea typeface="Courier New"/>
                <a:cs typeface="Courier"/>
              </a:rPr>
              <a:t>stdout</a:t>
            </a:r>
            <a:r>
              <a:rPr lang="en-US" dirty="0">
                <a:solidFill>
                  <a:schemeClr val="tx1"/>
                </a:solidFill>
                <a:latin typeface="Courier"/>
                <a:ea typeface="Courier New"/>
                <a:cs typeface="Courier"/>
              </a:rPr>
              <a:t> </a:t>
            </a:r>
            <a:r>
              <a:rPr lang="en-US" dirty="0">
                <a:solidFill>
                  <a:schemeClr val="tx1"/>
                </a:solidFill>
                <a:ea typeface="Courier New"/>
                <a:cs typeface="Courier"/>
              </a:rPr>
              <a:t>whatever is tapped at </a:t>
            </a:r>
            <a:r>
              <a:rPr lang="en-US" b="1" dirty="0" err="1">
                <a:solidFill>
                  <a:schemeClr val="tx1"/>
                </a:solidFill>
                <a:latin typeface="Courier"/>
                <a:ea typeface="Courier New"/>
                <a:cs typeface="Courier"/>
              </a:rPr>
              <a:t>stdin</a:t>
            </a:r>
            <a:r>
              <a:rPr lang="en-US" dirty="0">
                <a:solidFill>
                  <a:schemeClr val="tx1"/>
                </a:solidFill>
                <a:latin typeface="Courier"/>
                <a:ea typeface="Courier New"/>
                <a:cs typeface="Courier"/>
              </a:rPr>
              <a:t> (</a:t>
            </a:r>
            <a:r>
              <a:rPr lang="en-US" b="1" dirty="0" err="1">
                <a:solidFill>
                  <a:schemeClr val="tx1"/>
                </a:solidFill>
                <a:latin typeface="Courier"/>
                <a:ea typeface="Courier New"/>
                <a:cs typeface="Courier"/>
              </a:rPr>
              <a:t>cntrl+D</a:t>
            </a:r>
            <a:r>
              <a:rPr lang="en-US" dirty="0">
                <a:solidFill>
                  <a:schemeClr val="tx1"/>
                </a:solidFill>
                <a:latin typeface="Courier"/>
                <a:ea typeface="Courier New"/>
                <a:cs typeface="Courier"/>
              </a:rPr>
              <a:t> </a:t>
            </a:r>
            <a:r>
              <a:rPr lang="en-US" dirty="0">
                <a:solidFill>
                  <a:schemeClr val="tx1"/>
                </a:solidFill>
                <a:ea typeface="Courier New"/>
                <a:cs typeface="Courier"/>
              </a:rPr>
              <a:t>indicates </a:t>
            </a:r>
            <a:r>
              <a:rPr lang="en-US" b="1" dirty="0">
                <a:solidFill>
                  <a:schemeClr val="tx1"/>
                </a:solidFill>
                <a:latin typeface="Courier"/>
                <a:ea typeface="Courier New"/>
                <a:cs typeface="Courier"/>
              </a:rPr>
              <a:t>EOF</a:t>
            </a:r>
            <a:r>
              <a:rPr lang="en-US" dirty="0">
                <a:solidFill>
                  <a:schemeClr val="tx1"/>
                </a:solidFill>
                <a:latin typeface="Courier"/>
                <a:ea typeface="Courier New"/>
                <a:cs typeface="Courier"/>
              </a:rPr>
              <a:t>)</a:t>
            </a:r>
          </a:p>
          <a:p>
            <a:pPr lvl="1"/>
            <a:r>
              <a:rPr lang="en-US" dirty="0">
                <a:solidFill>
                  <a:schemeClr val="tx1"/>
                </a:solidFill>
                <a:latin typeface="Courier"/>
                <a:ea typeface="Courier New"/>
                <a:cs typeface="Courier"/>
              </a:rPr>
              <a:t> - </a:t>
            </a:r>
            <a:r>
              <a:rPr lang="en-US" dirty="0">
                <a:solidFill>
                  <a:schemeClr val="tx1"/>
                </a:solidFill>
                <a:ea typeface="Courier New"/>
                <a:cs typeface="Courier"/>
              </a:rPr>
              <a:t>: Uses what is tapped with the keyboard instead of an existing file</a:t>
            </a:r>
          </a:p>
          <a:p>
            <a:pPr marL="542925" lvl="1" indent="0">
              <a:buNone/>
            </a:pPr>
            <a:endParaRPr lang="en-US" sz="1000" dirty="0">
              <a:solidFill>
                <a:schemeClr val="tx1"/>
              </a:solidFill>
              <a:latin typeface="Courier"/>
              <a:ea typeface="Courier New"/>
              <a:cs typeface="Courier"/>
            </a:endParaRPr>
          </a:p>
          <a:p>
            <a:r>
              <a:rPr lang="en-GB" dirty="0">
                <a:latin typeface="Arial" charset="0"/>
              </a:rPr>
              <a:t>Difference between two files: </a:t>
            </a:r>
          </a:p>
          <a:p>
            <a:pPr lvl="1"/>
            <a:r>
              <a:rPr lang="en-GB" b="1" dirty="0">
                <a:latin typeface="Courier"/>
                <a:cs typeface="Courier"/>
              </a:rPr>
              <a:t>diff filename1 filename2</a:t>
            </a:r>
          </a:p>
          <a:p>
            <a:pPr marL="542925" lvl="1" indent="0">
              <a:buNone/>
            </a:pPr>
            <a:endParaRPr lang="en-US" dirty="0">
              <a:solidFill>
                <a:schemeClr val="tx1"/>
              </a:solidFill>
              <a:ea typeface="Courier New"/>
              <a:cs typeface="Courier"/>
            </a:endParaRPr>
          </a:p>
          <a:p>
            <a:pPr lvl="1"/>
            <a:endParaRPr lang="en-US" dirty="0">
              <a:solidFill>
                <a:schemeClr val="tx1"/>
              </a:solidFill>
              <a:ea typeface="Courier New"/>
              <a:cs typeface="Courier"/>
            </a:endParaRPr>
          </a:p>
          <a:p>
            <a:pPr lvl="1"/>
            <a:endParaRPr lang="en-US" dirty="0">
              <a:solidFill>
                <a:schemeClr val="tx1"/>
              </a:solidFill>
              <a:ea typeface="Courier New"/>
              <a:cs typeface="Courier"/>
            </a:endParaRPr>
          </a:p>
          <a:p>
            <a:pPr lvl="1"/>
            <a:endParaRPr lang="en-US" dirty="0"/>
          </a:p>
          <a:p>
            <a:pPr lvl="1"/>
            <a:endParaRPr lang="en-US" dirty="0">
              <a:latin typeface="Arial" charset="0"/>
              <a:sym typeface="Wingdings"/>
            </a:endParaRPr>
          </a:p>
          <a:p>
            <a:pPr lvl="1"/>
            <a:endParaRPr lang="en-US" sz="2000" b="1" dirty="0">
              <a:solidFill>
                <a:srgbClr val="000000"/>
              </a:solidFill>
              <a:latin typeface="Courier"/>
              <a:cs typeface="Courier"/>
            </a:endParaRPr>
          </a:p>
        </p:txBody>
      </p:sp>
      <p:sp>
        <p:nvSpPr>
          <p:cNvPr id="4" name="Espace réservé du numéro de diapositive 4"/>
          <p:cNvSpPr>
            <a:spLocks noGrp="1"/>
          </p:cNvSpPr>
          <p:nvPr>
            <p:ph type="sldNum" sz="quarter" idx="11"/>
          </p:nvPr>
        </p:nvSpPr>
        <p:spPr>
          <a:xfrm>
            <a:off x="6336196" y="6400800"/>
            <a:ext cx="1511188"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18</a:t>
            </a:fld>
            <a:endParaRPr lang="fr-FR" sz="1400" dirty="0">
              <a:solidFill>
                <a:srgbClr val="000208"/>
              </a:solidFill>
              <a:latin typeface="Times New Roman" charset="0"/>
            </a:endParaRPr>
          </a:p>
        </p:txBody>
      </p:sp>
    </p:spTree>
    <p:extLst>
      <p:ext uri="{BB962C8B-B14F-4D97-AF65-F5344CB8AC3E}">
        <p14:creationId xmlns:p14="http://schemas.microsoft.com/office/powerpoint/2010/main" val="114034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19</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solidFill>
                  <a:srgbClr val="800000"/>
                </a:solidFill>
                <a:latin typeface="Arial" charset="0"/>
              </a:rPr>
              <a:t>File management: Links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363538" lvl="1" indent="-363538">
              <a:buSzPct val="75000"/>
              <a:buBlip>
                <a:blip r:embed="rId3"/>
              </a:buBlip>
            </a:pPr>
            <a:r>
              <a:rPr lang="en-GB" sz="2400" dirty="0">
                <a:latin typeface="Arial" charset="0"/>
                <a:sym typeface="Wingdings"/>
              </a:rPr>
              <a:t>Associate multiple filenames with a single file</a:t>
            </a:r>
          </a:p>
          <a:p>
            <a:pPr marL="363538" lvl="1" indent="-363538">
              <a:buSzPct val="75000"/>
              <a:buBlip>
                <a:blip r:embed="rId3"/>
              </a:buBlip>
            </a:pPr>
            <a:endParaRPr lang="en-GB" sz="2400" dirty="0">
              <a:latin typeface="Arial" charset="0"/>
              <a:sym typeface="Wingdings"/>
            </a:endParaRPr>
          </a:p>
          <a:p>
            <a:pPr marL="363538" lvl="1" indent="-363538">
              <a:buSzPct val="75000"/>
              <a:buBlip>
                <a:blip r:embed="rId3"/>
              </a:buBlip>
            </a:pPr>
            <a:r>
              <a:rPr lang="en-GB" sz="2400" dirty="0">
                <a:latin typeface="Arial" charset="0"/>
                <a:sym typeface="Wingdings"/>
              </a:rPr>
              <a:t>Hard: </a:t>
            </a:r>
            <a:r>
              <a:rPr lang="en-GB" sz="2400" b="1" dirty="0" err="1">
                <a:latin typeface="Courier"/>
                <a:cs typeface="Courier"/>
                <a:sym typeface="Wingdings"/>
              </a:rPr>
              <a:t>ln</a:t>
            </a:r>
            <a:r>
              <a:rPr lang="en-GB" sz="2400" b="1" dirty="0">
                <a:latin typeface="Courier"/>
                <a:cs typeface="Courier"/>
                <a:sym typeface="Wingdings"/>
              </a:rPr>
              <a:t> filename1 filename2 </a:t>
            </a:r>
            <a:r>
              <a:rPr lang="en-GB" sz="2400" dirty="0">
                <a:latin typeface="Arial" charset="0"/>
                <a:sym typeface="Wingdings"/>
              </a:rPr>
              <a:t> </a:t>
            </a:r>
          </a:p>
          <a:p>
            <a:pPr lvl="1"/>
            <a:r>
              <a:rPr lang="en-GB" dirty="0">
                <a:latin typeface="Arial" charset="0"/>
                <a:sym typeface="Wingdings"/>
              </a:rPr>
              <a:t>New filename (filename2) to access existing file (filename1)</a:t>
            </a:r>
          </a:p>
          <a:p>
            <a:pPr lvl="1"/>
            <a:r>
              <a:rPr lang="en-GB" dirty="0">
                <a:latin typeface="Arial" charset="0"/>
                <a:sym typeface="Wingdings"/>
              </a:rPr>
              <a:t>Cannot link directories</a:t>
            </a:r>
          </a:p>
          <a:p>
            <a:pPr lvl="1"/>
            <a:r>
              <a:rPr lang="en-GB" dirty="0">
                <a:latin typeface="Arial" charset="0"/>
                <a:sym typeface="Wingdings"/>
              </a:rPr>
              <a:t>Cannot across file system boundaries</a:t>
            </a:r>
          </a:p>
          <a:p>
            <a:pPr lvl="1"/>
            <a:r>
              <a:rPr lang="en-GB" dirty="0">
                <a:latin typeface="Arial" charset="0"/>
                <a:sym typeface="Wingdings"/>
              </a:rPr>
              <a:t>Source of link is removed: Link always refers to the source</a:t>
            </a:r>
          </a:p>
          <a:p>
            <a:endParaRPr lang="en-GB" dirty="0">
              <a:latin typeface="Arial" charset="0"/>
              <a:sym typeface="Wingdings"/>
            </a:endParaRPr>
          </a:p>
          <a:p>
            <a:pPr marL="363538" lvl="1" indent="-363538">
              <a:buSzPct val="75000"/>
              <a:buBlip>
                <a:blip r:embed="rId3"/>
              </a:buBlip>
            </a:pPr>
            <a:r>
              <a:rPr lang="en-GB" sz="2400" dirty="0">
                <a:latin typeface="Arial" charset="0"/>
                <a:sym typeface="Wingdings"/>
              </a:rPr>
              <a:t>Soft or Symbolic: </a:t>
            </a:r>
            <a:r>
              <a:rPr lang="en-GB" sz="2400" b="1" dirty="0" err="1">
                <a:latin typeface="Courier"/>
                <a:cs typeface="Courier"/>
                <a:sym typeface="Wingdings"/>
              </a:rPr>
              <a:t>ln</a:t>
            </a:r>
            <a:r>
              <a:rPr lang="en-GB" sz="2400" b="1" dirty="0">
                <a:latin typeface="Courier"/>
                <a:cs typeface="Courier"/>
                <a:sym typeface="Wingdings"/>
              </a:rPr>
              <a:t> –s filename1 filename2</a:t>
            </a:r>
            <a:endParaRPr lang="en-GB" sz="2400" dirty="0">
              <a:latin typeface="Arial" charset="0"/>
              <a:sym typeface="Wingdings"/>
            </a:endParaRPr>
          </a:p>
          <a:p>
            <a:pPr lvl="1"/>
            <a:r>
              <a:rPr lang="en-GB" dirty="0">
                <a:latin typeface="Arial" charset="0"/>
                <a:sym typeface="Wingdings"/>
              </a:rPr>
              <a:t>A symbolic path indicating the abstract location of another file</a:t>
            </a:r>
          </a:p>
          <a:p>
            <a:pPr lvl="1"/>
            <a:r>
              <a:rPr lang="en-GB" dirty="0">
                <a:latin typeface="Arial" charset="0"/>
                <a:sym typeface="Wingdings"/>
              </a:rPr>
              <a:t>Can link directories</a:t>
            </a:r>
          </a:p>
          <a:p>
            <a:pPr lvl="1"/>
            <a:r>
              <a:rPr lang="en-GB" dirty="0">
                <a:latin typeface="Arial" charset="0"/>
                <a:sym typeface="Wingdings"/>
              </a:rPr>
              <a:t>Can across file system boundaries</a:t>
            </a:r>
          </a:p>
          <a:p>
            <a:pPr lvl="1"/>
            <a:r>
              <a:rPr lang="en-GB" dirty="0">
                <a:latin typeface="Arial" charset="0"/>
                <a:sym typeface="Wingdings"/>
              </a:rPr>
              <a:t>Source of link is removed: Link not updated</a:t>
            </a:r>
          </a:p>
        </p:txBody>
      </p:sp>
    </p:spTree>
    <p:extLst>
      <p:ext uri="{BB962C8B-B14F-4D97-AF65-F5344CB8AC3E}">
        <p14:creationId xmlns:p14="http://schemas.microsoft.com/office/powerpoint/2010/main" val="40574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20</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Directory/File management: Examples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2"/>
          <p:cNvSpPr txBox="1">
            <a:spLocks noChangeArrowheads="1"/>
          </p:cNvSpPr>
          <p:nvPr/>
        </p:nvSpPr>
        <p:spPr bwMode="auto">
          <a:xfrm>
            <a:off x="2416224" y="2852936"/>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en-US" sz="4000" dirty="0">
                <a:latin typeface="Arial" charset="0"/>
              </a:rPr>
              <a:t>QCM !</a:t>
            </a:r>
          </a:p>
          <a:p>
            <a:r>
              <a:rPr lang="en-US" sz="4000" dirty="0">
                <a:latin typeface="Arial" charset="0"/>
              </a:rPr>
              <a:t>	(4 Q)</a:t>
            </a:r>
          </a:p>
        </p:txBody>
      </p:sp>
    </p:spTree>
    <p:extLst>
      <p:ext uri="{BB962C8B-B14F-4D97-AF65-F5344CB8AC3E}">
        <p14:creationId xmlns:p14="http://schemas.microsoft.com/office/powerpoint/2010/main" val="2896422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21</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Directory/File permissions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215516" y="3645024"/>
            <a:ext cx="3204356"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Who: </a:t>
            </a:r>
          </a:p>
          <a:p>
            <a:pPr lvl="1"/>
            <a:r>
              <a:rPr lang="en-GB" dirty="0">
                <a:latin typeface="Arial" charset="0"/>
              </a:rPr>
              <a:t>Owned by user (u)</a:t>
            </a:r>
          </a:p>
          <a:p>
            <a:pPr lvl="1"/>
            <a:r>
              <a:rPr lang="en-GB" dirty="0">
                <a:latin typeface="Arial" charset="0"/>
              </a:rPr>
              <a:t>Group (g)</a:t>
            </a:r>
          </a:p>
          <a:p>
            <a:pPr lvl="1"/>
            <a:r>
              <a:rPr lang="en-GB" dirty="0">
                <a:latin typeface="Arial" charset="0"/>
              </a:rPr>
              <a:t>Others (o)</a:t>
            </a:r>
          </a:p>
          <a:p>
            <a:pPr lvl="1"/>
            <a:r>
              <a:rPr lang="en-GB" dirty="0">
                <a:latin typeface="Arial" charset="0"/>
              </a:rPr>
              <a:t>Nothing (all)</a:t>
            </a:r>
          </a:p>
        </p:txBody>
      </p:sp>
      <p:sp>
        <p:nvSpPr>
          <p:cNvPr id="7" name="Rectangle 3"/>
          <p:cNvSpPr txBox="1">
            <a:spLocks noChangeArrowheads="1"/>
          </p:cNvSpPr>
          <p:nvPr/>
        </p:nvSpPr>
        <p:spPr bwMode="auto">
          <a:xfrm>
            <a:off x="5544108" y="3753036"/>
            <a:ext cx="4356484"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Permissions:</a:t>
            </a:r>
          </a:p>
          <a:p>
            <a:pPr lvl="1"/>
            <a:r>
              <a:rPr lang="en-GB" dirty="0">
                <a:latin typeface="Arial" charset="0"/>
              </a:rPr>
              <a:t>Read or List (r)</a:t>
            </a:r>
          </a:p>
          <a:p>
            <a:pPr lvl="1"/>
            <a:r>
              <a:rPr lang="en-GB" dirty="0">
                <a:latin typeface="Arial" charset="0"/>
              </a:rPr>
              <a:t>Write (w)</a:t>
            </a:r>
          </a:p>
          <a:p>
            <a:pPr lvl="1"/>
            <a:r>
              <a:rPr lang="en-GB" dirty="0">
                <a:latin typeface="Arial" charset="0"/>
              </a:rPr>
              <a:t>Execute or Access(x)</a:t>
            </a:r>
          </a:p>
        </p:txBody>
      </p:sp>
      <p:sp>
        <p:nvSpPr>
          <p:cNvPr id="8" name="Rectangle 3"/>
          <p:cNvSpPr txBox="1">
            <a:spLocks noChangeArrowheads="1"/>
          </p:cNvSpPr>
          <p:nvPr/>
        </p:nvSpPr>
        <p:spPr bwMode="auto">
          <a:xfrm>
            <a:off x="429580" y="2600908"/>
            <a:ext cx="8570912"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sym typeface="Wingdings"/>
              </a:rPr>
              <a:t>Change permissions: </a:t>
            </a:r>
            <a:r>
              <a:rPr lang="en-GB" b="1" dirty="0" err="1">
                <a:latin typeface="Courier"/>
                <a:cs typeface="Courier"/>
                <a:sym typeface="Wingdings"/>
              </a:rPr>
              <a:t>chmod</a:t>
            </a:r>
            <a:endParaRPr lang="en-GB" b="1" dirty="0">
              <a:latin typeface="Courier"/>
              <a:cs typeface="Courier"/>
              <a:sym typeface="Wingdings"/>
            </a:endParaRPr>
          </a:p>
          <a:p>
            <a:pPr marL="542925" lvl="1" indent="0">
              <a:buNone/>
            </a:pPr>
            <a:r>
              <a:rPr lang="en-GB" b="1" dirty="0" err="1">
                <a:latin typeface="Courier"/>
                <a:cs typeface="Courier"/>
                <a:sym typeface="Wingdings"/>
              </a:rPr>
              <a:t>chmod</a:t>
            </a:r>
            <a:r>
              <a:rPr lang="en-GB" b="1" dirty="0">
                <a:latin typeface="Courier"/>
                <a:cs typeface="Courier"/>
                <a:sym typeface="Wingdings"/>
              </a:rPr>
              <a:t> [who] op permissions [,op permissions ]* name</a:t>
            </a:r>
            <a:endParaRPr lang="en-GB" sz="2000" dirty="0">
              <a:latin typeface="Courier"/>
              <a:cs typeface="Courier"/>
              <a:sym typeface="Wingdings"/>
            </a:endParaRPr>
          </a:p>
        </p:txBody>
      </p:sp>
      <p:sp>
        <p:nvSpPr>
          <p:cNvPr id="2" name="Rectangle 1"/>
          <p:cNvSpPr/>
          <p:nvPr/>
        </p:nvSpPr>
        <p:spPr bwMode="auto">
          <a:xfrm>
            <a:off x="2483768" y="1131131"/>
            <a:ext cx="1116124" cy="54006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r>
              <a:rPr kumimoji="0" lang="en-US" sz="2400" b="0" i="0" u="none" strike="noStrike" cap="none" normalizeH="0" baseline="0" dirty="0">
                <a:ln>
                  <a:noFill/>
                </a:ln>
                <a:solidFill>
                  <a:srgbClr val="010507"/>
                </a:solidFill>
                <a:effectLst/>
                <a:latin typeface="Courier"/>
                <a:cs typeface="Courier"/>
              </a:rPr>
              <a:t>_</a:t>
            </a:r>
            <a:r>
              <a:rPr kumimoji="0" lang="en-US" sz="2400" b="0" i="0" u="none" strike="noStrike" cap="none" normalizeH="0" dirty="0">
                <a:ln>
                  <a:noFill/>
                </a:ln>
                <a:solidFill>
                  <a:srgbClr val="010507"/>
                </a:solidFill>
                <a:effectLst/>
                <a:latin typeface="Courier"/>
                <a:cs typeface="Courier"/>
              </a:rPr>
              <a:t> _ _</a:t>
            </a:r>
            <a:endParaRPr kumimoji="0" lang="en-US" sz="2400" b="0" i="0" u="none" strike="noStrike" cap="none" normalizeH="0" baseline="0" dirty="0">
              <a:ln>
                <a:noFill/>
              </a:ln>
              <a:solidFill>
                <a:srgbClr val="010507"/>
              </a:solidFill>
              <a:effectLst/>
              <a:latin typeface="Courier"/>
              <a:cs typeface="Courier"/>
            </a:endParaRPr>
          </a:p>
        </p:txBody>
      </p:sp>
      <p:sp>
        <p:nvSpPr>
          <p:cNvPr id="3" name="Rectangle 2"/>
          <p:cNvSpPr/>
          <p:nvPr/>
        </p:nvSpPr>
        <p:spPr>
          <a:xfrm>
            <a:off x="2519772" y="663079"/>
            <a:ext cx="1108146" cy="461665"/>
          </a:xfrm>
          <a:prstGeom prst="rect">
            <a:avLst/>
          </a:prstGeom>
        </p:spPr>
        <p:txBody>
          <a:bodyPr wrap="none">
            <a:spAutoFit/>
          </a:bodyPr>
          <a:lstStyle/>
          <a:p>
            <a:r>
              <a:rPr lang="en-US" sz="2400" dirty="0">
                <a:latin typeface="Courier"/>
                <a:cs typeface="Courier"/>
              </a:rPr>
              <a:t>r w x</a:t>
            </a:r>
          </a:p>
        </p:txBody>
      </p:sp>
      <p:sp>
        <p:nvSpPr>
          <p:cNvPr id="12" name="Rectangle 11"/>
          <p:cNvSpPr/>
          <p:nvPr/>
        </p:nvSpPr>
        <p:spPr bwMode="auto">
          <a:xfrm>
            <a:off x="3707904" y="1131131"/>
            <a:ext cx="1116124" cy="54006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r>
              <a:rPr kumimoji="0" lang="en-US" sz="2400" b="0" i="0" u="none" strike="noStrike" cap="none" normalizeH="0" baseline="0" dirty="0">
                <a:ln>
                  <a:noFill/>
                </a:ln>
                <a:solidFill>
                  <a:srgbClr val="010507"/>
                </a:solidFill>
                <a:effectLst/>
                <a:latin typeface="Courier"/>
                <a:cs typeface="Courier"/>
              </a:rPr>
              <a:t>_</a:t>
            </a:r>
            <a:r>
              <a:rPr kumimoji="0" lang="en-US" sz="2400" b="0" i="0" u="none" strike="noStrike" cap="none" normalizeH="0" dirty="0">
                <a:ln>
                  <a:noFill/>
                </a:ln>
                <a:solidFill>
                  <a:srgbClr val="010507"/>
                </a:solidFill>
                <a:effectLst/>
                <a:latin typeface="Courier"/>
                <a:cs typeface="Courier"/>
              </a:rPr>
              <a:t> _ _</a:t>
            </a:r>
            <a:endParaRPr kumimoji="0" lang="en-US" sz="2400" b="0" i="0" u="none" strike="noStrike" cap="none" normalizeH="0" baseline="0" dirty="0">
              <a:ln>
                <a:noFill/>
              </a:ln>
              <a:solidFill>
                <a:srgbClr val="010507"/>
              </a:solidFill>
              <a:effectLst/>
              <a:latin typeface="Courier"/>
              <a:cs typeface="Courier"/>
            </a:endParaRPr>
          </a:p>
        </p:txBody>
      </p:sp>
      <p:sp>
        <p:nvSpPr>
          <p:cNvPr id="13" name="Rectangle 12"/>
          <p:cNvSpPr/>
          <p:nvPr/>
        </p:nvSpPr>
        <p:spPr>
          <a:xfrm>
            <a:off x="3743908" y="663079"/>
            <a:ext cx="1108146" cy="461665"/>
          </a:xfrm>
          <a:prstGeom prst="rect">
            <a:avLst/>
          </a:prstGeom>
        </p:spPr>
        <p:txBody>
          <a:bodyPr wrap="none">
            <a:spAutoFit/>
          </a:bodyPr>
          <a:lstStyle/>
          <a:p>
            <a:r>
              <a:rPr lang="en-US" sz="2400" dirty="0">
                <a:latin typeface="Courier"/>
                <a:cs typeface="Courier"/>
              </a:rPr>
              <a:t>r w x</a:t>
            </a:r>
          </a:p>
        </p:txBody>
      </p:sp>
      <p:sp>
        <p:nvSpPr>
          <p:cNvPr id="14" name="Rectangle 13"/>
          <p:cNvSpPr/>
          <p:nvPr/>
        </p:nvSpPr>
        <p:spPr bwMode="auto">
          <a:xfrm>
            <a:off x="4932040" y="1131131"/>
            <a:ext cx="1116124" cy="54006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r>
              <a:rPr kumimoji="0" lang="en-US" sz="2400" b="0" i="0" u="none" strike="noStrike" cap="none" normalizeH="0" baseline="0" dirty="0">
                <a:ln>
                  <a:noFill/>
                </a:ln>
                <a:solidFill>
                  <a:srgbClr val="010507"/>
                </a:solidFill>
                <a:effectLst/>
                <a:latin typeface="Courier"/>
                <a:cs typeface="Courier"/>
              </a:rPr>
              <a:t>_</a:t>
            </a:r>
            <a:r>
              <a:rPr kumimoji="0" lang="en-US" sz="2400" b="0" i="0" u="none" strike="noStrike" cap="none" normalizeH="0" dirty="0">
                <a:ln>
                  <a:noFill/>
                </a:ln>
                <a:solidFill>
                  <a:srgbClr val="010507"/>
                </a:solidFill>
                <a:effectLst/>
                <a:latin typeface="Courier"/>
                <a:cs typeface="Courier"/>
              </a:rPr>
              <a:t> _ _</a:t>
            </a:r>
            <a:endParaRPr kumimoji="0" lang="en-US" sz="2400" b="0" i="0" u="none" strike="noStrike" cap="none" normalizeH="0" baseline="0" dirty="0">
              <a:ln>
                <a:noFill/>
              </a:ln>
              <a:solidFill>
                <a:srgbClr val="010507"/>
              </a:solidFill>
              <a:effectLst/>
              <a:latin typeface="Courier"/>
              <a:cs typeface="Courier"/>
            </a:endParaRPr>
          </a:p>
        </p:txBody>
      </p:sp>
      <p:sp>
        <p:nvSpPr>
          <p:cNvPr id="15" name="Rectangle 14"/>
          <p:cNvSpPr/>
          <p:nvPr/>
        </p:nvSpPr>
        <p:spPr>
          <a:xfrm>
            <a:off x="4968044" y="663079"/>
            <a:ext cx="1108146" cy="461665"/>
          </a:xfrm>
          <a:prstGeom prst="rect">
            <a:avLst/>
          </a:prstGeom>
        </p:spPr>
        <p:txBody>
          <a:bodyPr wrap="none">
            <a:spAutoFit/>
          </a:bodyPr>
          <a:lstStyle/>
          <a:p>
            <a:r>
              <a:rPr lang="en-US" sz="2400" dirty="0">
                <a:latin typeface="Courier"/>
                <a:cs typeface="Courier"/>
              </a:rPr>
              <a:t>r w x</a:t>
            </a:r>
          </a:p>
        </p:txBody>
      </p:sp>
      <p:sp>
        <p:nvSpPr>
          <p:cNvPr id="16" name="Rectangle 15"/>
          <p:cNvSpPr/>
          <p:nvPr/>
        </p:nvSpPr>
        <p:spPr>
          <a:xfrm>
            <a:off x="2251321" y="1635187"/>
            <a:ext cx="1636603" cy="830997"/>
          </a:xfrm>
          <a:prstGeom prst="rect">
            <a:avLst/>
          </a:prstGeom>
        </p:spPr>
        <p:txBody>
          <a:bodyPr wrap="square">
            <a:spAutoFit/>
          </a:bodyPr>
          <a:lstStyle/>
          <a:p>
            <a:r>
              <a:rPr lang="en-US" sz="2400" dirty="0">
                <a:latin typeface="Courier"/>
                <a:cs typeface="Courier"/>
              </a:rPr>
              <a:t>owned by user</a:t>
            </a:r>
          </a:p>
        </p:txBody>
      </p:sp>
      <p:sp>
        <p:nvSpPr>
          <p:cNvPr id="17" name="Rectangle 16"/>
          <p:cNvSpPr/>
          <p:nvPr/>
        </p:nvSpPr>
        <p:spPr>
          <a:xfrm>
            <a:off x="3743908" y="1599183"/>
            <a:ext cx="1108146" cy="461665"/>
          </a:xfrm>
          <a:prstGeom prst="rect">
            <a:avLst/>
          </a:prstGeom>
        </p:spPr>
        <p:txBody>
          <a:bodyPr wrap="none">
            <a:spAutoFit/>
          </a:bodyPr>
          <a:lstStyle/>
          <a:p>
            <a:r>
              <a:rPr lang="en-US" sz="2400" dirty="0">
                <a:latin typeface="Courier"/>
                <a:cs typeface="Courier"/>
              </a:rPr>
              <a:t>group</a:t>
            </a:r>
          </a:p>
        </p:txBody>
      </p:sp>
      <p:sp>
        <p:nvSpPr>
          <p:cNvPr id="18" name="Rectangle 17"/>
          <p:cNvSpPr/>
          <p:nvPr/>
        </p:nvSpPr>
        <p:spPr>
          <a:xfrm>
            <a:off x="4875696" y="1599183"/>
            <a:ext cx="1292842" cy="461665"/>
          </a:xfrm>
          <a:prstGeom prst="rect">
            <a:avLst/>
          </a:prstGeom>
        </p:spPr>
        <p:txBody>
          <a:bodyPr wrap="none">
            <a:spAutoFit/>
          </a:bodyPr>
          <a:lstStyle/>
          <a:p>
            <a:r>
              <a:rPr lang="en-US" sz="2400" dirty="0">
                <a:latin typeface="Courier"/>
                <a:cs typeface="Courier"/>
              </a:rPr>
              <a:t>others</a:t>
            </a:r>
          </a:p>
        </p:txBody>
      </p:sp>
      <p:sp>
        <p:nvSpPr>
          <p:cNvPr id="19" name="Rectangle 3"/>
          <p:cNvSpPr txBox="1">
            <a:spLocks noChangeArrowheads="1"/>
          </p:cNvSpPr>
          <p:nvPr/>
        </p:nvSpPr>
        <p:spPr bwMode="auto">
          <a:xfrm>
            <a:off x="3167844" y="3681028"/>
            <a:ext cx="4356484"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Op:</a:t>
            </a:r>
          </a:p>
          <a:p>
            <a:pPr lvl="1"/>
            <a:r>
              <a:rPr lang="en-GB" dirty="0">
                <a:latin typeface="Arial" charset="0"/>
              </a:rPr>
              <a:t>Add (+)</a:t>
            </a:r>
          </a:p>
          <a:p>
            <a:pPr lvl="1"/>
            <a:r>
              <a:rPr lang="en-GB" dirty="0">
                <a:latin typeface="Arial" charset="0"/>
              </a:rPr>
              <a:t>Remove (-)</a:t>
            </a:r>
          </a:p>
          <a:p>
            <a:pPr lvl="1"/>
            <a:r>
              <a:rPr lang="en-GB" dirty="0">
                <a:latin typeface="Arial" charset="0"/>
              </a:rPr>
              <a:t>Define (=)</a:t>
            </a:r>
          </a:p>
        </p:txBody>
      </p:sp>
    </p:spTree>
    <p:extLst>
      <p:ext uri="{BB962C8B-B14F-4D97-AF65-F5344CB8AC3E}">
        <p14:creationId xmlns:p14="http://schemas.microsoft.com/office/powerpoint/2010/main" val="4228667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22</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Directory/File permissions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8" name="Rectangle 3"/>
          <p:cNvSpPr txBox="1">
            <a:spLocks noChangeArrowheads="1"/>
          </p:cNvSpPr>
          <p:nvPr/>
        </p:nvSpPr>
        <p:spPr bwMode="auto">
          <a:xfrm>
            <a:off x="429580" y="2600908"/>
            <a:ext cx="8570912" cy="13321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sym typeface="Wingdings"/>
              </a:rPr>
              <a:t>Permissions can be given with numeric code per field</a:t>
            </a:r>
          </a:p>
          <a:p>
            <a:r>
              <a:rPr lang="en-GB" dirty="0">
                <a:latin typeface="Arial" charset="0"/>
                <a:sym typeface="Wingdings"/>
              </a:rPr>
              <a:t>In a field, you put 1 or 0 in each column to give or not the corresponding permission.</a:t>
            </a:r>
          </a:p>
        </p:txBody>
      </p:sp>
      <p:sp>
        <p:nvSpPr>
          <p:cNvPr id="2" name="Rectangle 1"/>
          <p:cNvSpPr/>
          <p:nvPr/>
        </p:nvSpPr>
        <p:spPr bwMode="auto">
          <a:xfrm>
            <a:off x="2483768" y="1131131"/>
            <a:ext cx="1116124" cy="54006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r>
              <a:rPr kumimoji="0" lang="en-US" sz="2400" b="0" i="0" u="none" strike="noStrike" cap="none" normalizeH="0" baseline="0" dirty="0">
                <a:ln>
                  <a:noFill/>
                </a:ln>
                <a:solidFill>
                  <a:srgbClr val="010507"/>
                </a:solidFill>
                <a:effectLst/>
                <a:latin typeface="Courier"/>
                <a:cs typeface="Courier"/>
              </a:rPr>
              <a:t>_</a:t>
            </a:r>
            <a:r>
              <a:rPr kumimoji="0" lang="en-US" sz="2400" b="0" i="0" u="none" strike="noStrike" cap="none" normalizeH="0" dirty="0">
                <a:ln>
                  <a:noFill/>
                </a:ln>
                <a:solidFill>
                  <a:srgbClr val="010507"/>
                </a:solidFill>
                <a:effectLst/>
                <a:latin typeface="Courier"/>
                <a:cs typeface="Courier"/>
              </a:rPr>
              <a:t> _ _</a:t>
            </a:r>
            <a:endParaRPr kumimoji="0" lang="en-US" sz="2400" b="0" i="0" u="none" strike="noStrike" cap="none" normalizeH="0" baseline="0" dirty="0">
              <a:ln>
                <a:noFill/>
              </a:ln>
              <a:solidFill>
                <a:srgbClr val="010507"/>
              </a:solidFill>
              <a:effectLst/>
              <a:latin typeface="Courier"/>
              <a:cs typeface="Courier"/>
            </a:endParaRPr>
          </a:p>
        </p:txBody>
      </p:sp>
      <p:sp>
        <p:nvSpPr>
          <p:cNvPr id="3" name="Rectangle 2"/>
          <p:cNvSpPr/>
          <p:nvPr/>
        </p:nvSpPr>
        <p:spPr>
          <a:xfrm>
            <a:off x="2519772" y="663079"/>
            <a:ext cx="1108146" cy="461665"/>
          </a:xfrm>
          <a:prstGeom prst="rect">
            <a:avLst/>
          </a:prstGeom>
        </p:spPr>
        <p:txBody>
          <a:bodyPr wrap="none">
            <a:spAutoFit/>
          </a:bodyPr>
          <a:lstStyle/>
          <a:p>
            <a:r>
              <a:rPr lang="en-US" sz="2400" dirty="0">
                <a:latin typeface="Courier"/>
                <a:cs typeface="Courier"/>
              </a:rPr>
              <a:t>r w x</a:t>
            </a:r>
          </a:p>
        </p:txBody>
      </p:sp>
      <p:sp>
        <p:nvSpPr>
          <p:cNvPr id="12" name="Rectangle 11"/>
          <p:cNvSpPr/>
          <p:nvPr/>
        </p:nvSpPr>
        <p:spPr bwMode="auto">
          <a:xfrm>
            <a:off x="3707904" y="1131131"/>
            <a:ext cx="1116124" cy="54006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r>
              <a:rPr kumimoji="0" lang="en-US" sz="2400" b="0" i="0" u="none" strike="noStrike" cap="none" normalizeH="0" baseline="0" dirty="0">
                <a:ln>
                  <a:noFill/>
                </a:ln>
                <a:solidFill>
                  <a:srgbClr val="010507"/>
                </a:solidFill>
                <a:effectLst/>
                <a:latin typeface="Courier"/>
                <a:cs typeface="Courier"/>
              </a:rPr>
              <a:t>_</a:t>
            </a:r>
            <a:r>
              <a:rPr kumimoji="0" lang="en-US" sz="2400" b="0" i="0" u="none" strike="noStrike" cap="none" normalizeH="0" dirty="0">
                <a:ln>
                  <a:noFill/>
                </a:ln>
                <a:solidFill>
                  <a:srgbClr val="010507"/>
                </a:solidFill>
                <a:effectLst/>
                <a:latin typeface="Courier"/>
                <a:cs typeface="Courier"/>
              </a:rPr>
              <a:t> _ _</a:t>
            </a:r>
            <a:endParaRPr kumimoji="0" lang="en-US" sz="2400" b="0" i="0" u="none" strike="noStrike" cap="none" normalizeH="0" baseline="0" dirty="0">
              <a:ln>
                <a:noFill/>
              </a:ln>
              <a:solidFill>
                <a:srgbClr val="010507"/>
              </a:solidFill>
              <a:effectLst/>
              <a:latin typeface="Courier"/>
              <a:cs typeface="Courier"/>
            </a:endParaRPr>
          </a:p>
        </p:txBody>
      </p:sp>
      <p:sp>
        <p:nvSpPr>
          <p:cNvPr id="13" name="Rectangle 12"/>
          <p:cNvSpPr/>
          <p:nvPr/>
        </p:nvSpPr>
        <p:spPr>
          <a:xfrm>
            <a:off x="3743908" y="663079"/>
            <a:ext cx="1108146" cy="461665"/>
          </a:xfrm>
          <a:prstGeom prst="rect">
            <a:avLst/>
          </a:prstGeom>
        </p:spPr>
        <p:txBody>
          <a:bodyPr wrap="none">
            <a:spAutoFit/>
          </a:bodyPr>
          <a:lstStyle/>
          <a:p>
            <a:r>
              <a:rPr lang="en-US" sz="2400" dirty="0">
                <a:latin typeface="Courier"/>
                <a:cs typeface="Courier"/>
              </a:rPr>
              <a:t>r w x</a:t>
            </a:r>
          </a:p>
        </p:txBody>
      </p:sp>
      <p:sp>
        <p:nvSpPr>
          <p:cNvPr id="14" name="Rectangle 13"/>
          <p:cNvSpPr/>
          <p:nvPr/>
        </p:nvSpPr>
        <p:spPr bwMode="auto">
          <a:xfrm>
            <a:off x="4932040" y="1131131"/>
            <a:ext cx="1116124" cy="54006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r>
              <a:rPr kumimoji="0" lang="en-US" sz="2400" b="0" i="0" u="none" strike="noStrike" cap="none" normalizeH="0" baseline="0" dirty="0">
                <a:ln>
                  <a:noFill/>
                </a:ln>
                <a:solidFill>
                  <a:srgbClr val="010507"/>
                </a:solidFill>
                <a:effectLst/>
                <a:latin typeface="Courier"/>
                <a:cs typeface="Courier"/>
              </a:rPr>
              <a:t>_</a:t>
            </a:r>
            <a:r>
              <a:rPr kumimoji="0" lang="en-US" sz="2400" b="0" i="0" u="none" strike="noStrike" cap="none" normalizeH="0" dirty="0">
                <a:ln>
                  <a:noFill/>
                </a:ln>
                <a:solidFill>
                  <a:srgbClr val="010507"/>
                </a:solidFill>
                <a:effectLst/>
                <a:latin typeface="Courier"/>
                <a:cs typeface="Courier"/>
              </a:rPr>
              <a:t> _ _</a:t>
            </a:r>
            <a:endParaRPr kumimoji="0" lang="en-US" sz="2400" b="0" i="0" u="none" strike="noStrike" cap="none" normalizeH="0" baseline="0" dirty="0">
              <a:ln>
                <a:noFill/>
              </a:ln>
              <a:solidFill>
                <a:srgbClr val="010507"/>
              </a:solidFill>
              <a:effectLst/>
              <a:latin typeface="Courier"/>
              <a:cs typeface="Courier"/>
            </a:endParaRPr>
          </a:p>
        </p:txBody>
      </p:sp>
      <p:sp>
        <p:nvSpPr>
          <p:cNvPr id="15" name="Rectangle 14"/>
          <p:cNvSpPr/>
          <p:nvPr/>
        </p:nvSpPr>
        <p:spPr>
          <a:xfrm>
            <a:off x="4968044" y="663079"/>
            <a:ext cx="1108146" cy="461665"/>
          </a:xfrm>
          <a:prstGeom prst="rect">
            <a:avLst/>
          </a:prstGeom>
        </p:spPr>
        <p:txBody>
          <a:bodyPr wrap="none">
            <a:spAutoFit/>
          </a:bodyPr>
          <a:lstStyle/>
          <a:p>
            <a:r>
              <a:rPr lang="en-US" sz="2400" dirty="0">
                <a:latin typeface="Courier"/>
                <a:cs typeface="Courier"/>
              </a:rPr>
              <a:t>r w x</a:t>
            </a:r>
          </a:p>
        </p:txBody>
      </p:sp>
      <p:sp>
        <p:nvSpPr>
          <p:cNvPr id="16" name="Rectangle 15"/>
          <p:cNvSpPr/>
          <p:nvPr/>
        </p:nvSpPr>
        <p:spPr>
          <a:xfrm>
            <a:off x="2251321" y="1635187"/>
            <a:ext cx="1636603" cy="830997"/>
          </a:xfrm>
          <a:prstGeom prst="rect">
            <a:avLst/>
          </a:prstGeom>
        </p:spPr>
        <p:txBody>
          <a:bodyPr wrap="square">
            <a:spAutoFit/>
          </a:bodyPr>
          <a:lstStyle/>
          <a:p>
            <a:r>
              <a:rPr lang="en-US" sz="2400" dirty="0">
                <a:latin typeface="Courier"/>
                <a:cs typeface="Courier"/>
              </a:rPr>
              <a:t>owned by user</a:t>
            </a:r>
          </a:p>
        </p:txBody>
      </p:sp>
      <p:sp>
        <p:nvSpPr>
          <p:cNvPr id="17" name="Rectangle 16"/>
          <p:cNvSpPr/>
          <p:nvPr/>
        </p:nvSpPr>
        <p:spPr>
          <a:xfrm>
            <a:off x="3743908" y="1599183"/>
            <a:ext cx="1108146" cy="461665"/>
          </a:xfrm>
          <a:prstGeom prst="rect">
            <a:avLst/>
          </a:prstGeom>
        </p:spPr>
        <p:txBody>
          <a:bodyPr wrap="none">
            <a:spAutoFit/>
          </a:bodyPr>
          <a:lstStyle/>
          <a:p>
            <a:r>
              <a:rPr lang="en-US" sz="2400" dirty="0">
                <a:latin typeface="Courier"/>
                <a:cs typeface="Courier"/>
              </a:rPr>
              <a:t>group</a:t>
            </a:r>
          </a:p>
        </p:txBody>
      </p:sp>
      <p:sp>
        <p:nvSpPr>
          <p:cNvPr id="18" name="Rectangle 17"/>
          <p:cNvSpPr/>
          <p:nvPr/>
        </p:nvSpPr>
        <p:spPr>
          <a:xfrm>
            <a:off x="4875696" y="1599183"/>
            <a:ext cx="1292842" cy="461665"/>
          </a:xfrm>
          <a:prstGeom prst="rect">
            <a:avLst/>
          </a:prstGeom>
        </p:spPr>
        <p:txBody>
          <a:bodyPr wrap="none">
            <a:spAutoFit/>
          </a:bodyPr>
          <a:lstStyle/>
          <a:p>
            <a:r>
              <a:rPr lang="en-US" sz="2400" dirty="0">
                <a:latin typeface="Courier"/>
                <a:cs typeface="Courier"/>
              </a:rPr>
              <a:t>others</a:t>
            </a:r>
          </a:p>
        </p:txBody>
      </p:sp>
      <p:grpSp>
        <p:nvGrpSpPr>
          <p:cNvPr id="4" name="Group 3">
            <a:extLst>
              <a:ext uri="{FF2B5EF4-FFF2-40B4-BE49-F238E27FC236}">
                <a16:creationId xmlns:a16="http://schemas.microsoft.com/office/drawing/2014/main" id="{9106650D-3C3E-464A-BA1D-6C6CD3563700}"/>
              </a:ext>
            </a:extLst>
          </p:cNvPr>
          <p:cNvGrpSpPr/>
          <p:nvPr/>
        </p:nvGrpSpPr>
        <p:grpSpPr>
          <a:xfrm>
            <a:off x="1223628" y="4060540"/>
            <a:ext cx="3917217" cy="1335053"/>
            <a:chOff x="2223295" y="4060540"/>
            <a:chExt cx="3917217" cy="1335053"/>
          </a:xfrm>
        </p:grpSpPr>
        <p:sp>
          <p:nvSpPr>
            <p:cNvPr id="20" name="Rectangle 19">
              <a:extLst>
                <a:ext uri="{FF2B5EF4-FFF2-40B4-BE49-F238E27FC236}">
                  <a16:creationId xmlns:a16="http://schemas.microsoft.com/office/drawing/2014/main" id="{29F3D94D-B7CF-C347-98C7-F10986AA7CB1}"/>
                </a:ext>
              </a:extLst>
            </p:cNvPr>
            <p:cNvSpPr/>
            <p:nvPr/>
          </p:nvSpPr>
          <p:spPr bwMode="auto">
            <a:xfrm>
              <a:off x="2455742" y="4060540"/>
              <a:ext cx="1116124" cy="54006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r>
                <a:rPr lang="en-US" sz="2400" dirty="0">
                  <a:latin typeface="Courier"/>
                  <a:cs typeface="Courier"/>
                </a:rPr>
                <a:t>1</a:t>
              </a:r>
              <a:r>
                <a:rPr kumimoji="0" lang="en-US" sz="2400" b="0" i="0" u="none" strike="noStrike" cap="none" normalizeH="0" dirty="0">
                  <a:ln>
                    <a:noFill/>
                  </a:ln>
                  <a:solidFill>
                    <a:srgbClr val="010507"/>
                  </a:solidFill>
                  <a:effectLst/>
                  <a:latin typeface="Courier"/>
                  <a:cs typeface="Courier"/>
                </a:rPr>
                <a:t> 1 1</a:t>
              </a:r>
              <a:endParaRPr kumimoji="0" lang="en-US" sz="2400" b="0" i="0" u="none" strike="noStrike" cap="none" normalizeH="0" baseline="0" dirty="0">
                <a:ln>
                  <a:noFill/>
                </a:ln>
                <a:solidFill>
                  <a:srgbClr val="010507"/>
                </a:solidFill>
                <a:effectLst/>
                <a:latin typeface="Courier"/>
                <a:cs typeface="Courier"/>
              </a:endParaRPr>
            </a:p>
          </p:txBody>
        </p:sp>
        <p:sp>
          <p:nvSpPr>
            <p:cNvPr id="22" name="Rectangle 21">
              <a:extLst>
                <a:ext uri="{FF2B5EF4-FFF2-40B4-BE49-F238E27FC236}">
                  <a16:creationId xmlns:a16="http://schemas.microsoft.com/office/drawing/2014/main" id="{9251007B-E9FA-3D4B-9FCC-955288C03CB1}"/>
                </a:ext>
              </a:extLst>
            </p:cNvPr>
            <p:cNvSpPr/>
            <p:nvPr/>
          </p:nvSpPr>
          <p:spPr bwMode="auto">
            <a:xfrm>
              <a:off x="3679878" y="4060540"/>
              <a:ext cx="1116124" cy="54006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r>
                <a:rPr kumimoji="0" lang="en-US" sz="2400" b="0" i="0" u="none" strike="noStrike" cap="none" normalizeH="0" baseline="0" dirty="0">
                  <a:ln>
                    <a:noFill/>
                  </a:ln>
                  <a:solidFill>
                    <a:srgbClr val="010507"/>
                  </a:solidFill>
                  <a:effectLst/>
                  <a:latin typeface="Courier"/>
                  <a:cs typeface="Courier"/>
                </a:rPr>
                <a:t>1</a:t>
              </a:r>
              <a:r>
                <a:rPr kumimoji="0" lang="en-US" sz="2400" b="0" i="0" u="none" strike="noStrike" cap="none" normalizeH="0" dirty="0">
                  <a:ln>
                    <a:noFill/>
                  </a:ln>
                  <a:solidFill>
                    <a:srgbClr val="010507"/>
                  </a:solidFill>
                  <a:effectLst/>
                  <a:latin typeface="Courier"/>
                  <a:cs typeface="Courier"/>
                </a:rPr>
                <a:t> 1 0</a:t>
              </a:r>
              <a:endParaRPr kumimoji="0" lang="en-US" sz="2400" b="0" i="0" u="none" strike="noStrike" cap="none" normalizeH="0" baseline="0" dirty="0">
                <a:ln>
                  <a:noFill/>
                </a:ln>
                <a:solidFill>
                  <a:srgbClr val="010507"/>
                </a:solidFill>
                <a:effectLst/>
                <a:latin typeface="Courier"/>
                <a:cs typeface="Courier"/>
              </a:endParaRPr>
            </a:p>
          </p:txBody>
        </p:sp>
        <p:sp>
          <p:nvSpPr>
            <p:cNvPr id="23" name="Rectangle 22">
              <a:extLst>
                <a:ext uri="{FF2B5EF4-FFF2-40B4-BE49-F238E27FC236}">
                  <a16:creationId xmlns:a16="http://schemas.microsoft.com/office/drawing/2014/main" id="{C3F64FBF-561E-2E46-9746-088DA42F013D}"/>
                </a:ext>
              </a:extLst>
            </p:cNvPr>
            <p:cNvSpPr/>
            <p:nvPr/>
          </p:nvSpPr>
          <p:spPr bwMode="auto">
            <a:xfrm>
              <a:off x="4904014" y="4060540"/>
              <a:ext cx="1116124" cy="540060"/>
            </a:xfrm>
            <a:prstGeom prst="rect">
              <a:avLst/>
            </a:pr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2075" tIns="46038" rIns="92075" bIns="46038" numCol="1" rtlCol="0" anchor="ctr" anchorCtr="0" compatLnSpc="1">
              <a:prstTxWarp prst="textNoShape">
                <a:avLst/>
              </a:prstTxWarp>
              <a:normAutofit/>
            </a:bodyPr>
            <a:lstStyle/>
            <a:p>
              <a: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pPr>
              <a:r>
                <a:rPr lang="en-US" sz="2400" dirty="0">
                  <a:latin typeface="Courier"/>
                  <a:cs typeface="Courier"/>
                </a:rPr>
                <a:t>1</a:t>
              </a:r>
              <a:r>
                <a:rPr kumimoji="0" lang="en-US" sz="2400" b="0" i="0" u="none" strike="noStrike" cap="none" normalizeH="0" dirty="0">
                  <a:ln>
                    <a:noFill/>
                  </a:ln>
                  <a:solidFill>
                    <a:srgbClr val="010507"/>
                  </a:solidFill>
                  <a:effectLst/>
                  <a:latin typeface="Courier"/>
                  <a:cs typeface="Courier"/>
                </a:rPr>
                <a:t> 0 0</a:t>
              </a:r>
              <a:endParaRPr kumimoji="0" lang="en-US" sz="2400" b="0" i="0" u="none" strike="noStrike" cap="none" normalizeH="0" baseline="0" dirty="0">
                <a:ln>
                  <a:noFill/>
                </a:ln>
                <a:solidFill>
                  <a:srgbClr val="010507"/>
                </a:solidFill>
                <a:effectLst/>
                <a:latin typeface="Courier"/>
                <a:cs typeface="Courier"/>
              </a:endParaRPr>
            </a:p>
          </p:txBody>
        </p:sp>
        <p:sp>
          <p:nvSpPr>
            <p:cNvPr id="24" name="Rectangle 23">
              <a:extLst>
                <a:ext uri="{FF2B5EF4-FFF2-40B4-BE49-F238E27FC236}">
                  <a16:creationId xmlns:a16="http://schemas.microsoft.com/office/drawing/2014/main" id="{C254E590-25DF-7843-A1C8-F982EEF64BC2}"/>
                </a:ext>
              </a:extLst>
            </p:cNvPr>
            <p:cNvSpPr/>
            <p:nvPr/>
          </p:nvSpPr>
          <p:spPr>
            <a:xfrm>
              <a:off x="2223295" y="4564596"/>
              <a:ext cx="1636603" cy="830997"/>
            </a:xfrm>
            <a:prstGeom prst="rect">
              <a:avLst/>
            </a:prstGeom>
          </p:spPr>
          <p:txBody>
            <a:bodyPr wrap="square">
              <a:spAutoFit/>
            </a:bodyPr>
            <a:lstStyle/>
            <a:p>
              <a:r>
                <a:rPr lang="en-US" sz="2400" dirty="0">
                  <a:latin typeface="Courier"/>
                  <a:cs typeface="Courier"/>
                </a:rPr>
                <a:t>owned by user</a:t>
              </a:r>
            </a:p>
          </p:txBody>
        </p:sp>
        <p:sp>
          <p:nvSpPr>
            <p:cNvPr id="25" name="Rectangle 24">
              <a:extLst>
                <a:ext uri="{FF2B5EF4-FFF2-40B4-BE49-F238E27FC236}">
                  <a16:creationId xmlns:a16="http://schemas.microsoft.com/office/drawing/2014/main" id="{6FFC34ED-BC8B-084D-A946-A8C7237BABF2}"/>
                </a:ext>
              </a:extLst>
            </p:cNvPr>
            <p:cNvSpPr/>
            <p:nvPr/>
          </p:nvSpPr>
          <p:spPr>
            <a:xfrm>
              <a:off x="3715882" y="4528592"/>
              <a:ext cx="1108146" cy="461665"/>
            </a:xfrm>
            <a:prstGeom prst="rect">
              <a:avLst/>
            </a:prstGeom>
          </p:spPr>
          <p:txBody>
            <a:bodyPr wrap="none">
              <a:spAutoFit/>
            </a:bodyPr>
            <a:lstStyle/>
            <a:p>
              <a:r>
                <a:rPr lang="en-US" sz="2400" dirty="0">
                  <a:latin typeface="Courier"/>
                  <a:cs typeface="Courier"/>
                </a:rPr>
                <a:t>group</a:t>
              </a:r>
            </a:p>
          </p:txBody>
        </p:sp>
        <p:sp>
          <p:nvSpPr>
            <p:cNvPr id="26" name="Rectangle 25">
              <a:extLst>
                <a:ext uri="{FF2B5EF4-FFF2-40B4-BE49-F238E27FC236}">
                  <a16:creationId xmlns:a16="http://schemas.microsoft.com/office/drawing/2014/main" id="{6670E7E8-4AFE-8744-AFDC-E0502A8BE763}"/>
                </a:ext>
              </a:extLst>
            </p:cNvPr>
            <p:cNvSpPr/>
            <p:nvPr/>
          </p:nvSpPr>
          <p:spPr>
            <a:xfrm>
              <a:off x="4847670" y="4528592"/>
              <a:ext cx="1292842" cy="461665"/>
            </a:xfrm>
            <a:prstGeom prst="rect">
              <a:avLst/>
            </a:prstGeom>
          </p:spPr>
          <p:txBody>
            <a:bodyPr wrap="none">
              <a:spAutoFit/>
            </a:bodyPr>
            <a:lstStyle/>
            <a:p>
              <a:r>
                <a:rPr lang="en-US" sz="2400" dirty="0">
                  <a:latin typeface="Courier"/>
                  <a:cs typeface="Courier"/>
                </a:rPr>
                <a:t>others</a:t>
              </a:r>
            </a:p>
          </p:txBody>
        </p:sp>
      </p:grpSp>
      <p:grpSp>
        <p:nvGrpSpPr>
          <p:cNvPr id="11" name="Group 10">
            <a:extLst>
              <a:ext uri="{FF2B5EF4-FFF2-40B4-BE49-F238E27FC236}">
                <a16:creationId xmlns:a16="http://schemas.microsoft.com/office/drawing/2014/main" id="{3A6101DA-F8A9-FC40-A74E-8E39329195AC}"/>
              </a:ext>
            </a:extLst>
          </p:cNvPr>
          <p:cNvGrpSpPr/>
          <p:nvPr/>
        </p:nvGrpSpPr>
        <p:grpSpPr>
          <a:xfrm>
            <a:off x="1556109" y="5553236"/>
            <a:ext cx="3365636" cy="677689"/>
            <a:chOff x="2555776" y="5553236"/>
            <a:chExt cx="3365636" cy="677689"/>
          </a:xfrm>
        </p:grpSpPr>
        <p:sp>
          <p:nvSpPr>
            <p:cNvPr id="27" name="Rectangle 26">
              <a:extLst>
                <a:ext uri="{FF2B5EF4-FFF2-40B4-BE49-F238E27FC236}">
                  <a16:creationId xmlns:a16="http://schemas.microsoft.com/office/drawing/2014/main" id="{E4DC5828-5358-D741-9954-84432FD1EB4A}"/>
                </a:ext>
              </a:extLst>
            </p:cNvPr>
            <p:cNvSpPr/>
            <p:nvPr/>
          </p:nvSpPr>
          <p:spPr>
            <a:xfrm>
              <a:off x="2555776" y="5769260"/>
              <a:ext cx="928698" cy="461665"/>
            </a:xfrm>
            <a:prstGeom prst="rect">
              <a:avLst/>
            </a:prstGeom>
          </p:spPr>
          <p:txBody>
            <a:bodyPr wrap="square">
              <a:spAutoFit/>
            </a:bodyPr>
            <a:lstStyle/>
            <a:p>
              <a:r>
                <a:rPr lang="en-US" sz="2400" dirty="0">
                  <a:latin typeface="Courier"/>
                  <a:cs typeface="Courier"/>
                </a:rPr>
                <a:t>7</a:t>
              </a:r>
            </a:p>
          </p:txBody>
        </p:sp>
        <p:sp>
          <p:nvSpPr>
            <p:cNvPr id="28" name="Rectangle 27">
              <a:extLst>
                <a:ext uri="{FF2B5EF4-FFF2-40B4-BE49-F238E27FC236}">
                  <a16:creationId xmlns:a16="http://schemas.microsoft.com/office/drawing/2014/main" id="{3348108F-6F8D-A54E-96E5-BFBC8BBA6CAA}"/>
                </a:ext>
              </a:extLst>
            </p:cNvPr>
            <p:cNvSpPr/>
            <p:nvPr/>
          </p:nvSpPr>
          <p:spPr>
            <a:xfrm>
              <a:off x="3823322" y="5769260"/>
              <a:ext cx="928698" cy="461665"/>
            </a:xfrm>
            <a:prstGeom prst="rect">
              <a:avLst/>
            </a:prstGeom>
          </p:spPr>
          <p:txBody>
            <a:bodyPr wrap="square">
              <a:spAutoFit/>
            </a:bodyPr>
            <a:lstStyle/>
            <a:p>
              <a:r>
                <a:rPr lang="en-US" sz="2400" dirty="0">
                  <a:latin typeface="Courier"/>
                  <a:cs typeface="Courier"/>
                </a:rPr>
                <a:t>6</a:t>
              </a:r>
            </a:p>
          </p:txBody>
        </p:sp>
        <p:sp>
          <p:nvSpPr>
            <p:cNvPr id="29" name="Rectangle 28">
              <a:extLst>
                <a:ext uri="{FF2B5EF4-FFF2-40B4-BE49-F238E27FC236}">
                  <a16:creationId xmlns:a16="http://schemas.microsoft.com/office/drawing/2014/main" id="{421DB1BD-8F68-E040-AD4F-3219DCAC4542}"/>
                </a:ext>
              </a:extLst>
            </p:cNvPr>
            <p:cNvSpPr/>
            <p:nvPr/>
          </p:nvSpPr>
          <p:spPr>
            <a:xfrm>
              <a:off x="4992714" y="5769260"/>
              <a:ext cx="928698" cy="461665"/>
            </a:xfrm>
            <a:prstGeom prst="rect">
              <a:avLst/>
            </a:prstGeom>
          </p:spPr>
          <p:txBody>
            <a:bodyPr wrap="square">
              <a:spAutoFit/>
            </a:bodyPr>
            <a:lstStyle/>
            <a:p>
              <a:r>
                <a:rPr lang="en-US" sz="2400" dirty="0">
                  <a:latin typeface="Courier"/>
                  <a:cs typeface="Courier"/>
                </a:rPr>
                <a:t>4</a:t>
              </a:r>
            </a:p>
          </p:txBody>
        </p:sp>
        <p:cxnSp>
          <p:nvCxnSpPr>
            <p:cNvPr id="9" name="Straight Arrow Connector 8">
              <a:extLst>
                <a:ext uri="{FF2B5EF4-FFF2-40B4-BE49-F238E27FC236}">
                  <a16:creationId xmlns:a16="http://schemas.microsoft.com/office/drawing/2014/main" id="{A3B09196-2FD6-E649-8C8F-BB14A3815611}"/>
                </a:ext>
              </a:extLst>
            </p:cNvPr>
            <p:cNvCxnSpPr>
              <a:cxnSpLocks/>
              <a:endCxn id="27" idx="0"/>
            </p:cNvCxnSpPr>
            <p:nvPr/>
          </p:nvCxnSpPr>
          <p:spPr bwMode="auto">
            <a:xfrm>
              <a:off x="3020125" y="5553236"/>
              <a:ext cx="0" cy="216024"/>
            </a:xfrm>
            <a:prstGeom prst="straightConnector1">
              <a:avLst/>
            </a:prstGeom>
            <a:noFill/>
            <a:ln w="6350" cap="flat" cmpd="sng" algn="ctr">
              <a:solidFill>
                <a:srgbClr val="000208"/>
              </a:solidFill>
              <a:prstDash val="solid"/>
              <a:round/>
              <a:headEnd type="none" w="lg" len="lg"/>
              <a:tailEnd type="triangle"/>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1" name="Straight Arrow Connector 30">
              <a:extLst>
                <a:ext uri="{FF2B5EF4-FFF2-40B4-BE49-F238E27FC236}">
                  <a16:creationId xmlns:a16="http://schemas.microsoft.com/office/drawing/2014/main" id="{198CFCF6-9794-7A4B-9007-C2A0D50A53EE}"/>
                </a:ext>
              </a:extLst>
            </p:cNvPr>
            <p:cNvCxnSpPr>
              <a:cxnSpLocks/>
            </p:cNvCxnSpPr>
            <p:nvPr/>
          </p:nvCxnSpPr>
          <p:spPr bwMode="auto">
            <a:xfrm>
              <a:off x="4265966" y="5553236"/>
              <a:ext cx="0" cy="216024"/>
            </a:xfrm>
            <a:prstGeom prst="straightConnector1">
              <a:avLst/>
            </a:prstGeom>
            <a:noFill/>
            <a:ln w="6350" cap="flat" cmpd="sng" algn="ctr">
              <a:solidFill>
                <a:srgbClr val="000208"/>
              </a:solidFill>
              <a:prstDash val="solid"/>
              <a:round/>
              <a:headEnd type="none" w="lg" len="lg"/>
              <a:tailEnd type="triangle"/>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32" name="Straight Arrow Connector 31">
              <a:extLst>
                <a:ext uri="{FF2B5EF4-FFF2-40B4-BE49-F238E27FC236}">
                  <a16:creationId xmlns:a16="http://schemas.microsoft.com/office/drawing/2014/main" id="{CD3A0F12-8878-E34D-AB23-4794C2707FE2}"/>
                </a:ext>
              </a:extLst>
            </p:cNvPr>
            <p:cNvCxnSpPr>
              <a:cxnSpLocks/>
            </p:cNvCxnSpPr>
            <p:nvPr/>
          </p:nvCxnSpPr>
          <p:spPr bwMode="auto">
            <a:xfrm>
              <a:off x="5455829" y="5553236"/>
              <a:ext cx="0" cy="216024"/>
            </a:xfrm>
            <a:prstGeom prst="straightConnector1">
              <a:avLst/>
            </a:prstGeom>
            <a:noFill/>
            <a:ln w="6350" cap="flat" cmpd="sng" algn="ctr">
              <a:solidFill>
                <a:srgbClr val="000208"/>
              </a:solidFill>
              <a:prstDash val="solid"/>
              <a:round/>
              <a:headEnd type="none" w="lg" len="lg"/>
              <a:tailEnd type="triangle"/>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grpSp>
      <p:sp>
        <p:nvSpPr>
          <p:cNvPr id="30" name="Rectangle 29">
            <a:extLst>
              <a:ext uri="{FF2B5EF4-FFF2-40B4-BE49-F238E27FC236}">
                <a16:creationId xmlns:a16="http://schemas.microsoft.com/office/drawing/2014/main" id="{8B291E58-C7A9-8648-B8D6-C731AE0D6565}"/>
              </a:ext>
            </a:extLst>
          </p:cNvPr>
          <p:cNvSpPr/>
          <p:nvPr/>
        </p:nvSpPr>
        <p:spPr>
          <a:xfrm>
            <a:off x="5478074" y="5661248"/>
            <a:ext cx="3502883" cy="461665"/>
          </a:xfrm>
          <a:prstGeom prst="rect">
            <a:avLst/>
          </a:prstGeom>
        </p:spPr>
        <p:txBody>
          <a:bodyPr wrap="none">
            <a:spAutoFit/>
          </a:bodyPr>
          <a:lstStyle/>
          <a:p>
            <a:r>
              <a:rPr lang="en-GB" sz="2400" b="1" dirty="0" err="1">
                <a:latin typeface="Courier"/>
                <a:cs typeface="Courier"/>
                <a:sym typeface="Wingdings"/>
              </a:rPr>
              <a:t>chmod</a:t>
            </a:r>
            <a:r>
              <a:rPr lang="en-GB" sz="2400" b="1" dirty="0">
                <a:latin typeface="Courier"/>
                <a:cs typeface="Courier"/>
                <a:sym typeface="Wingdings"/>
              </a:rPr>
              <a:t> 764 filename</a:t>
            </a:r>
            <a:endParaRPr lang="en-FR" sz="2400" dirty="0"/>
          </a:p>
        </p:txBody>
      </p:sp>
    </p:spTree>
    <p:extLst>
      <p:ext uri="{BB962C8B-B14F-4D97-AF65-F5344CB8AC3E}">
        <p14:creationId xmlns:p14="http://schemas.microsoft.com/office/powerpoint/2010/main" val="247075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23</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Directory/File permissions: Examples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2"/>
          <p:cNvSpPr txBox="1">
            <a:spLocks noChangeArrowheads="1"/>
          </p:cNvSpPr>
          <p:nvPr/>
        </p:nvSpPr>
        <p:spPr bwMode="auto">
          <a:xfrm>
            <a:off x="2416224" y="2852936"/>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en-US" sz="4000" dirty="0" err="1">
                <a:latin typeface="Arial" charset="0"/>
              </a:rPr>
              <a:t>Kahoot</a:t>
            </a:r>
            <a:r>
              <a:rPr lang="en-US" sz="4000" dirty="0">
                <a:latin typeface="Arial" charset="0"/>
              </a:rPr>
              <a:t> time !</a:t>
            </a:r>
          </a:p>
          <a:p>
            <a:r>
              <a:rPr lang="en-US" sz="4000" dirty="0">
                <a:latin typeface="Arial" charset="0"/>
              </a:rPr>
              <a:t>	(3 Q)</a:t>
            </a:r>
          </a:p>
        </p:txBody>
      </p:sp>
    </p:spTree>
    <p:extLst>
      <p:ext uri="{BB962C8B-B14F-4D97-AF65-F5344CB8AC3E}">
        <p14:creationId xmlns:p14="http://schemas.microsoft.com/office/powerpoint/2010/main" val="975102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solidFill>
                  <a:srgbClr val="800000"/>
                </a:solidFill>
                <a:latin typeface="Arial" charset="0"/>
              </a:rPr>
              <a:t>File management: Search files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56166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363538" lvl="1" indent="-363538">
              <a:buSzPct val="75000"/>
              <a:buBlip>
                <a:blip r:embed="rId3"/>
              </a:buBlip>
            </a:pPr>
            <a:r>
              <a:rPr lang="en-GB" sz="2400" dirty="0">
                <a:latin typeface="Arial" charset="0"/>
                <a:sym typeface="Wingdings"/>
              </a:rPr>
              <a:t>Search files based on criteria (print path): </a:t>
            </a:r>
          </a:p>
          <a:p>
            <a:pPr marL="0" lvl="1" indent="0">
              <a:buSzPct val="75000"/>
              <a:buNone/>
            </a:pPr>
            <a:r>
              <a:rPr lang="en-GB" sz="2400" b="1" dirty="0">
                <a:latin typeface="Courier"/>
                <a:cs typeface="Courier"/>
                <a:sym typeface="Wingdings"/>
              </a:rPr>
              <a:t>find directory [criteria]</a:t>
            </a:r>
          </a:p>
          <a:p>
            <a:pPr lvl="1"/>
            <a:r>
              <a:rPr lang="en-GB" dirty="0">
                <a:latin typeface="Arial" charset="0"/>
              </a:rPr>
              <a:t>The search is performed to directory (recursive to subdirectories)</a:t>
            </a:r>
          </a:p>
          <a:p>
            <a:pPr lvl="1"/>
            <a:r>
              <a:rPr lang="en-GB" dirty="0">
                <a:latin typeface="Arial" charset="0"/>
              </a:rPr>
              <a:t>Apply a command at the found files: </a:t>
            </a:r>
            <a:r>
              <a:rPr lang="en-GB" dirty="0">
                <a:cs typeface="Courier"/>
                <a:sym typeface="Wingdings"/>
              </a:rPr>
              <a:t>option </a:t>
            </a:r>
            <a:r>
              <a:rPr lang="en-GB" b="1" dirty="0">
                <a:latin typeface="Courier"/>
                <a:cs typeface="Courier"/>
                <a:sym typeface="Wingdings"/>
              </a:rPr>
              <a:t>–exec </a:t>
            </a:r>
            <a:r>
              <a:rPr lang="en-GB" b="1" dirty="0" err="1">
                <a:latin typeface="Courier"/>
                <a:cs typeface="Courier"/>
                <a:sym typeface="Wingdings"/>
              </a:rPr>
              <a:t>cmd</a:t>
            </a:r>
            <a:r>
              <a:rPr lang="en-GB" b="1" dirty="0">
                <a:latin typeface="Courier"/>
                <a:cs typeface="Courier"/>
                <a:sym typeface="Wingdings"/>
              </a:rPr>
              <a:t> {} \; </a:t>
            </a:r>
            <a:endParaRPr lang="en-GB" b="1" dirty="0">
              <a:latin typeface="Courier"/>
              <a:cs typeface="Courier"/>
            </a:endParaRPr>
          </a:p>
          <a:p>
            <a:pPr lvl="2"/>
            <a:r>
              <a:rPr lang="en-GB" sz="2000" dirty="0">
                <a:solidFill>
                  <a:srgbClr val="000000"/>
                </a:solidFill>
                <a:latin typeface="Arial" charset="0"/>
                <a:cs typeface="Courier"/>
              </a:rPr>
              <a:t>Apply the command </a:t>
            </a:r>
            <a:r>
              <a:rPr lang="en-GB" sz="2000" b="1" dirty="0" err="1">
                <a:latin typeface="Courier"/>
                <a:cs typeface="Courier"/>
              </a:rPr>
              <a:t>cmd</a:t>
            </a:r>
            <a:r>
              <a:rPr lang="en-GB" sz="2000" b="1" dirty="0">
                <a:latin typeface="Courier"/>
                <a:cs typeface="Courier"/>
              </a:rPr>
              <a:t> </a:t>
            </a:r>
            <a:r>
              <a:rPr lang="en-GB" sz="2000" dirty="0">
                <a:cs typeface="Courier"/>
              </a:rPr>
              <a:t>in each found file (it replaces the </a:t>
            </a:r>
            <a:r>
              <a:rPr lang="en-GB" sz="2000" b="1" dirty="0">
                <a:latin typeface="Courier"/>
                <a:cs typeface="Courier"/>
              </a:rPr>
              <a:t>{}</a:t>
            </a:r>
            <a:r>
              <a:rPr lang="en-GB" sz="2000" dirty="0">
                <a:cs typeface="Courier"/>
              </a:rPr>
              <a:t>)</a:t>
            </a:r>
          </a:p>
          <a:p>
            <a:pPr lvl="2"/>
            <a:r>
              <a:rPr lang="en-GB" sz="2000" dirty="0">
                <a:solidFill>
                  <a:srgbClr val="000000"/>
                </a:solidFill>
                <a:cs typeface="Courier"/>
              </a:rPr>
              <a:t>End of the command: </a:t>
            </a:r>
            <a:r>
              <a:rPr lang="en-GB" sz="2000" b="1" dirty="0">
                <a:solidFill>
                  <a:srgbClr val="000000"/>
                </a:solidFill>
                <a:latin typeface="Courier"/>
                <a:cs typeface="Courier"/>
              </a:rPr>
              <a:t>\;</a:t>
            </a:r>
            <a:endParaRPr lang="en-GB" dirty="0">
              <a:latin typeface="Arial" charset="0"/>
            </a:endParaRPr>
          </a:p>
          <a:p>
            <a:r>
              <a:rPr lang="en-GB" dirty="0">
                <a:latin typeface="Arial" charset="0"/>
              </a:rPr>
              <a:t>Some search criteria:</a:t>
            </a:r>
          </a:p>
          <a:p>
            <a:pPr lvl="1"/>
            <a:r>
              <a:rPr lang="en-GB" b="1" dirty="0">
                <a:latin typeface="Courier"/>
                <a:cs typeface="Courier"/>
              </a:rPr>
              <a:t>-name filename</a:t>
            </a:r>
            <a:r>
              <a:rPr lang="en-GB" dirty="0">
                <a:latin typeface="Arial" charset="0"/>
              </a:rPr>
              <a:t>: based on the filename (</a:t>
            </a:r>
            <a:r>
              <a:rPr lang="en-GB" b="1" dirty="0">
                <a:latin typeface="Courier"/>
                <a:cs typeface="Courier"/>
              </a:rPr>
              <a:t>-</a:t>
            </a:r>
            <a:r>
              <a:rPr lang="en-GB" b="1" dirty="0" err="1">
                <a:latin typeface="Courier"/>
                <a:cs typeface="Courier"/>
              </a:rPr>
              <a:t>iname</a:t>
            </a:r>
            <a:r>
              <a:rPr lang="en-GB" dirty="0">
                <a:latin typeface="Arial" charset="0"/>
              </a:rPr>
              <a:t>: ignore case)</a:t>
            </a:r>
          </a:p>
          <a:p>
            <a:pPr lvl="1"/>
            <a:r>
              <a:rPr lang="en-GB" b="1" dirty="0">
                <a:latin typeface="Courier"/>
                <a:cs typeface="Courier"/>
              </a:rPr>
              <a:t>-user username</a:t>
            </a:r>
            <a:r>
              <a:rPr lang="en-GB" dirty="0">
                <a:latin typeface="Arial" charset="0"/>
              </a:rPr>
              <a:t>: based on the user that owns </a:t>
            </a:r>
            <a:r>
              <a:rPr lang="en-GB">
                <a:latin typeface="Arial" charset="0"/>
              </a:rPr>
              <a:t>the file</a:t>
            </a:r>
            <a:endParaRPr lang="en-GB" dirty="0">
              <a:latin typeface="Arial" charset="0"/>
            </a:endParaRPr>
          </a:p>
          <a:p>
            <a:pPr lvl="1"/>
            <a:r>
              <a:rPr lang="en-GB" b="1" dirty="0">
                <a:latin typeface="Courier"/>
                <a:cs typeface="Courier"/>
              </a:rPr>
              <a:t>-size number[</a:t>
            </a:r>
            <a:r>
              <a:rPr lang="en-GB" b="1" dirty="0" err="1">
                <a:latin typeface="Courier"/>
                <a:cs typeface="Courier"/>
              </a:rPr>
              <a:t>c|k|M</a:t>
            </a:r>
            <a:r>
              <a:rPr lang="en-GB" b="1" dirty="0">
                <a:latin typeface="Courier"/>
                <a:cs typeface="Courier"/>
              </a:rPr>
              <a:t>]</a:t>
            </a:r>
            <a:r>
              <a:rPr lang="en-GB" dirty="0">
                <a:latin typeface="Arial" charset="0"/>
              </a:rPr>
              <a:t>: based on size [B, KB, MB]</a:t>
            </a:r>
          </a:p>
          <a:p>
            <a:pPr lvl="1"/>
            <a:r>
              <a:rPr lang="en-GB" sz="2000" b="1" dirty="0">
                <a:solidFill>
                  <a:srgbClr val="000000"/>
                </a:solidFill>
                <a:latin typeface="Courier"/>
                <a:cs typeface="Courier"/>
              </a:rPr>
              <a:t>-type [</a:t>
            </a:r>
            <a:r>
              <a:rPr lang="en-GB" sz="2000" b="1" dirty="0" err="1">
                <a:solidFill>
                  <a:srgbClr val="000000"/>
                </a:solidFill>
                <a:latin typeface="Courier"/>
                <a:cs typeface="Courier"/>
              </a:rPr>
              <a:t>d|f|l</a:t>
            </a:r>
            <a:r>
              <a:rPr lang="en-GB" sz="2000" b="1" dirty="0">
                <a:solidFill>
                  <a:srgbClr val="000000"/>
                </a:solidFill>
                <a:latin typeface="Courier"/>
                <a:cs typeface="Courier"/>
              </a:rPr>
              <a:t>]</a:t>
            </a:r>
            <a:r>
              <a:rPr lang="en-GB" sz="2000" dirty="0">
                <a:solidFill>
                  <a:srgbClr val="000000"/>
                </a:solidFill>
                <a:latin typeface="Arial" charset="0"/>
                <a:cs typeface="Courier"/>
              </a:rPr>
              <a:t>: based on the type [directory, file, link]</a:t>
            </a:r>
          </a:p>
          <a:p>
            <a:pPr lvl="1"/>
            <a:r>
              <a:rPr lang="en-GB" b="1" dirty="0">
                <a:solidFill>
                  <a:srgbClr val="000000"/>
                </a:solidFill>
                <a:latin typeface="Courier"/>
                <a:cs typeface="Courier"/>
              </a:rPr>
              <a:t>-</a:t>
            </a:r>
            <a:r>
              <a:rPr lang="en-GB" b="1" dirty="0" err="1">
                <a:solidFill>
                  <a:srgbClr val="000000"/>
                </a:solidFill>
                <a:latin typeface="Courier"/>
                <a:cs typeface="Courier"/>
              </a:rPr>
              <a:t>mtime</a:t>
            </a:r>
            <a:r>
              <a:rPr lang="en-GB" b="1" dirty="0">
                <a:solidFill>
                  <a:srgbClr val="000000"/>
                </a:solidFill>
                <a:latin typeface="Courier"/>
                <a:cs typeface="Courier"/>
              </a:rPr>
              <a:t> x</a:t>
            </a:r>
            <a:r>
              <a:rPr lang="en-GB" dirty="0">
                <a:solidFill>
                  <a:srgbClr val="000000"/>
                </a:solidFill>
                <a:latin typeface="Arial" charset="0"/>
                <a:cs typeface="Courier"/>
              </a:rPr>
              <a:t>: based on time of modification (less than x days)</a:t>
            </a:r>
          </a:p>
          <a:p>
            <a:pPr lvl="1"/>
            <a:r>
              <a:rPr lang="en-GB" sz="2000" dirty="0">
                <a:solidFill>
                  <a:srgbClr val="000000"/>
                </a:solidFill>
                <a:latin typeface="Arial" charset="0"/>
                <a:cs typeface="Courier"/>
              </a:rPr>
              <a:t>….</a:t>
            </a:r>
          </a:p>
          <a:p>
            <a:pPr lvl="1"/>
            <a:endParaRPr lang="en-GB" sz="800" dirty="0">
              <a:solidFill>
                <a:srgbClr val="000000"/>
              </a:solidFill>
              <a:latin typeface="Arial" charset="0"/>
              <a:cs typeface="Courier"/>
            </a:endParaRPr>
          </a:p>
          <a:p>
            <a:r>
              <a:rPr lang="en-GB" sz="2400" dirty="0">
                <a:solidFill>
                  <a:srgbClr val="000000"/>
                </a:solidFill>
                <a:latin typeface="Arial" charset="0"/>
                <a:cs typeface="Courier"/>
              </a:rPr>
              <a:t>Criteria can be combined: </a:t>
            </a:r>
            <a:r>
              <a:rPr lang="en-GB" b="1" dirty="0">
                <a:solidFill>
                  <a:srgbClr val="000000"/>
                </a:solidFill>
                <a:latin typeface="Courier"/>
                <a:cs typeface="Courier"/>
              </a:rPr>
              <a:t>-</a:t>
            </a:r>
            <a:r>
              <a:rPr lang="en-GB" sz="2400" b="1" dirty="0">
                <a:solidFill>
                  <a:srgbClr val="000000"/>
                </a:solidFill>
                <a:latin typeface="Courier"/>
                <a:cs typeface="Courier"/>
              </a:rPr>
              <a:t>o –a -not</a:t>
            </a:r>
            <a:endParaRPr lang="en-GB" sz="2000" b="1" dirty="0">
              <a:solidFill>
                <a:srgbClr val="000000"/>
              </a:solidFill>
              <a:latin typeface="Courier"/>
              <a:cs typeface="Courier"/>
            </a:endParaRPr>
          </a:p>
        </p:txBody>
      </p:sp>
    </p:spTree>
    <p:extLst>
      <p:ext uri="{BB962C8B-B14F-4D97-AF65-F5344CB8AC3E}">
        <p14:creationId xmlns:p14="http://schemas.microsoft.com/office/powerpoint/2010/main" val="406390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25</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solidFill>
                  <a:srgbClr val="800000"/>
                </a:solidFill>
                <a:latin typeface="Arial" charset="0"/>
              </a:rPr>
              <a:t>File management: Search files</a:t>
            </a:r>
            <a:endParaRPr lang="en-US" sz="2800" dirty="0">
              <a:latin typeface="Arial" charset="0"/>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2"/>
          <p:cNvSpPr txBox="1">
            <a:spLocks noChangeArrowheads="1"/>
          </p:cNvSpPr>
          <p:nvPr/>
        </p:nvSpPr>
        <p:spPr bwMode="auto">
          <a:xfrm>
            <a:off x="2416224" y="2852936"/>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en-US" sz="4000" dirty="0" err="1">
                <a:latin typeface="Arial" charset="0"/>
              </a:rPr>
              <a:t>Kahoot</a:t>
            </a:r>
            <a:r>
              <a:rPr lang="en-US" sz="4000" dirty="0">
                <a:latin typeface="Arial" charset="0"/>
              </a:rPr>
              <a:t> time !</a:t>
            </a:r>
          </a:p>
          <a:p>
            <a:r>
              <a:rPr lang="en-US" sz="4000" dirty="0">
                <a:latin typeface="Arial" charset="0"/>
              </a:rPr>
              <a:t>	(2 Q)</a:t>
            </a:r>
          </a:p>
        </p:txBody>
      </p:sp>
    </p:spTree>
    <p:extLst>
      <p:ext uri="{BB962C8B-B14F-4D97-AF65-F5344CB8AC3E}">
        <p14:creationId xmlns:p14="http://schemas.microsoft.com/office/powerpoint/2010/main" val="1994137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363538" lvl="1" indent="-363538">
              <a:buSzPct val="75000"/>
              <a:buBlip>
                <a:blip r:embed="rId3"/>
              </a:buBlip>
            </a:pPr>
            <a:r>
              <a:rPr lang="en-GB" sz="2400" b="1" dirty="0">
                <a:latin typeface="Courier"/>
                <a:cs typeface="Courier"/>
                <a:sym typeface="Wingdings"/>
              </a:rPr>
              <a:t>find /</a:t>
            </a:r>
            <a:r>
              <a:rPr lang="en-GB" sz="2400" b="1" dirty="0" err="1">
                <a:latin typeface="Courier"/>
                <a:cs typeface="Courier"/>
                <a:sym typeface="Wingdings"/>
              </a:rPr>
              <a:t>usr</a:t>
            </a:r>
            <a:r>
              <a:rPr lang="en-GB" sz="2400" b="1" dirty="0">
                <a:latin typeface="Courier"/>
                <a:cs typeface="Courier"/>
                <a:sym typeface="Wingdings"/>
              </a:rPr>
              <a:t> –name </a:t>
            </a:r>
            <a:r>
              <a:rPr lang="en-US" sz="2400" b="1" dirty="0">
                <a:solidFill>
                  <a:schemeClr val="tx1"/>
                </a:solidFill>
                <a:latin typeface="Courier New"/>
                <a:ea typeface="Courier New"/>
              </a:rPr>
              <a:t>"</a:t>
            </a:r>
            <a:r>
              <a:rPr lang="en-GB" sz="2400" b="1" dirty="0">
                <a:latin typeface="Courier"/>
                <a:cs typeface="Courier"/>
                <a:sym typeface="Wingdings"/>
              </a:rPr>
              <a:t>*.c</a:t>
            </a:r>
            <a:r>
              <a:rPr lang="en-US" sz="2400" b="1" dirty="0">
                <a:solidFill>
                  <a:schemeClr val="tx1"/>
                </a:solidFill>
                <a:latin typeface="Courier New"/>
                <a:ea typeface="Courier New"/>
              </a:rPr>
              <a:t>"</a:t>
            </a:r>
            <a:endParaRPr lang="en-GB" sz="2400" b="1" dirty="0">
              <a:latin typeface="Courier"/>
              <a:cs typeface="Courier"/>
              <a:sym typeface="Wingdings"/>
            </a:endParaRPr>
          </a:p>
          <a:p>
            <a:pPr marL="0" lvl="1" indent="0">
              <a:buSzPct val="75000"/>
              <a:buNone/>
            </a:pPr>
            <a:endParaRPr lang="en-GB" b="1" dirty="0">
              <a:latin typeface="Courier"/>
              <a:cs typeface="Courier"/>
            </a:endParaRPr>
          </a:p>
          <a:p>
            <a:r>
              <a:rPr lang="en-GB" b="1" dirty="0">
                <a:latin typeface="Courier"/>
                <a:cs typeface="Courier"/>
              </a:rPr>
              <a:t>find /</a:t>
            </a:r>
            <a:r>
              <a:rPr lang="en-GB" b="1" dirty="0" err="1">
                <a:latin typeface="Courier"/>
                <a:cs typeface="Courier"/>
              </a:rPr>
              <a:t>usr</a:t>
            </a:r>
            <a:r>
              <a:rPr lang="en-GB" b="1" dirty="0">
                <a:latin typeface="Courier"/>
                <a:cs typeface="Courier"/>
              </a:rPr>
              <a:t> –user </a:t>
            </a:r>
            <a:r>
              <a:rPr lang="en-GB" b="1" dirty="0" err="1">
                <a:latin typeface="Courier"/>
                <a:cs typeface="Courier"/>
              </a:rPr>
              <a:t>angeliki</a:t>
            </a:r>
            <a:endParaRPr lang="en-GB" b="1" dirty="0">
              <a:latin typeface="Courier"/>
              <a:cs typeface="Courier"/>
            </a:endParaRPr>
          </a:p>
          <a:p>
            <a:endParaRPr lang="en-GB" dirty="0">
              <a:latin typeface="Arial" charset="0"/>
            </a:endParaRPr>
          </a:p>
          <a:p>
            <a:r>
              <a:rPr lang="en-GB" b="1" dirty="0">
                <a:latin typeface="Courier"/>
                <a:cs typeface="Courier"/>
              </a:rPr>
              <a:t>find . –not \( -name </a:t>
            </a:r>
            <a:r>
              <a:rPr lang="en-US" b="1" dirty="0">
                <a:solidFill>
                  <a:schemeClr val="tx1"/>
                </a:solidFill>
                <a:latin typeface="Courier New"/>
                <a:ea typeface="Courier New"/>
              </a:rPr>
              <a:t>"</a:t>
            </a:r>
            <a:r>
              <a:rPr lang="en-GB" b="1" dirty="0">
                <a:latin typeface="Courier"/>
                <a:cs typeface="Courier"/>
              </a:rPr>
              <a:t>*.</a:t>
            </a:r>
            <a:r>
              <a:rPr lang="en-GB" b="1" dirty="0" err="1">
                <a:latin typeface="Courier"/>
                <a:cs typeface="Courier"/>
              </a:rPr>
              <a:t>obj</a:t>
            </a:r>
            <a:r>
              <a:rPr lang="en-US" b="1" dirty="0">
                <a:solidFill>
                  <a:schemeClr val="tx1"/>
                </a:solidFill>
                <a:latin typeface="Courier New"/>
                <a:ea typeface="Courier New"/>
              </a:rPr>
              <a:t>"</a:t>
            </a:r>
            <a:r>
              <a:rPr lang="en-GB" b="1" dirty="0">
                <a:latin typeface="Courier"/>
                <a:cs typeface="Courier"/>
              </a:rPr>
              <a:t> –o –name </a:t>
            </a:r>
            <a:r>
              <a:rPr lang="en-US" b="1" dirty="0">
                <a:solidFill>
                  <a:schemeClr val="tx1"/>
                </a:solidFill>
                <a:latin typeface="Courier New"/>
                <a:ea typeface="Courier New"/>
              </a:rPr>
              <a:t>"</a:t>
            </a:r>
            <a:r>
              <a:rPr lang="en-GB" b="1" dirty="0">
                <a:latin typeface="Courier"/>
                <a:cs typeface="Courier"/>
              </a:rPr>
              <a:t>*.map</a:t>
            </a:r>
            <a:r>
              <a:rPr lang="en-US" b="1" dirty="0">
                <a:solidFill>
                  <a:schemeClr val="tx1"/>
                </a:solidFill>
                <a:latin typeface="Courier New"/>
                <a:ea typeface="Courier New"/>
              </a:rPr>
              <a:t>"</a:t>
            </a:r>
            <a:r>
              <a:rPr lang="en-GB" b="1" dirty="0">
                <a:latin typeface="Courier"/>
                <a:cs typeface="Courier"/>
              </a:rPr>
              <a:t> \)</a:t>
            </a:r>
          </a:p>
          <a:p>
            <a:endParaRPr lang="en-GB" dirty="0">
              <a:latin typeface="Arial" charset="0"/>
            </a:endParaRPr>
          </a:p>
          <a:p>
            <a:r>
              <a:rPr lang="en-GB" b="1" dirty="0">
                <a:latin typeface="Courier"/>
                <a:cs typeface="Courier"/>
              </a:rPr>
              <a:t>find . \( -user </a:t>
            </a:r>
            <a:r>
              <a:rPr lang="en-GB" b="1" dirty="0" err="1">
                <a:latin typeface="Courier"/>
                <a:cs typeface="Courier"/>
              </a:rPr>
              <a:t>angeliki</a:t>
            </a:r>
            <a:r>
              <a:rPr lang="en-GB" b="1" dirty="0">
                <a:latin typeface="Courier"/>
                <a:cs typeface="Courier"/>
              </a:rPr>
              <a:t> -a –name </a:t>
            </a:r>
            <a:r>
              <a:rPr lang="en-US" b="1" dirty="0">
                <a:solidFill>
                  <a:schemeClr val="tx1"/>
                </a:solidFill>
                <a:latin typeface="Courier New"/>
                <a:ea typeface="Courier New"/>
              </a:rPr>
              <a:t>"</a:t>
            </a:r>
            <a:r>
              <a:rPr lang="en-GB" b="1" dirty="0">
                <a:latin typeface="Courier"/>
                <a:cs typeface="Courier"/>
              </a:rPr>
              <a:t>*.c</a:t>
            </a:r>
            <a:r>
              <a:rPr lang="en-US" b="1" dirty="0">
                <a:solidFill>
                  <a:schemeClr val="tx1"/>
                </a:solidFill>
                <a:latin typeface="Courier New"/>
                <a:ea typeface="Courier New"/>
              </a:rPr>
              <a:t>"</a:t>
            </a:r>
            <a:r>
              <a:rPr lang="en-GB" b="1" dirty="0">
                <a:latin typeface="Courier"/>
                <a:cs typeface="Courier"/>
              </a:rPr>
              <a:t> \)</a:t>
            </a:r>
          </a:p>
          <a:p>
            <a:endParaRPr lang="en-GB" dirty="0">
              <a:latin typeface="Arial" charset="0"/>
            </a:endParaRPr>
          </a:p>
          <a:p>
            <a:pPr marL="363538" lvl="1" indent="-363538">
              <a:buSzPct val="75000"/>
              <a:buBlip>
                <a:blip r:embed="rId3"/>
              </a:buBlip>
            </a:pPr>
            <a:r>
              <a:rPr lang="en-GB" sz="2400" b="1" dirty="0">
                <a:latin typeface="Courier"/>
                <a:cs typeface="Courier"/>
              </a:rPr>
              <a:t>find . –name </a:t>
            </a:r>
            <a:r>
              <a:rPr lang="en-US" sz="2400" b="1" dirty="0">
                <a:solidFill>
                  <a:schemeClr val="tx1"/>
                </a:solidFill>
                <a:latin typeface="Courier New"/>
                <a:ea typeface="Courier New"/>
              </a:rPr>
              <a:t>"</a:t>
            </a:r>
            <a:r>
              <a:rPr lang="en-GB" sz="2400" b="1" dirty="0">
                <a:latin typeface="Courier"/>
                <a:cs typeface="Courier"/>
              </a:rPr>
              <a:t>*.java</a:t>
            </a:r>
            <a:r>
              <a:rPr lang="en-US" sz="2400" b="1" dirty="0">
                <a:solidFill>
                  <a:schemeClr val="tx1"/>
                </a:solidFill>
                <a:latin typeface="Courier New"/>
                <a:ea typeface="Courier New"/>
              </a:rPr>
              <a:t>"</a:t>
            </a:r>
            <a:r>
              <a:rPr lang="en-GB" sz="2400" b="1" dirty="0">
                <a:latin typeface="Courier"/>
                <a:cs typeface="Courier"/>
              </a:rPr>
              <a:t> –exec </a:t>
            </a:r>
            <a:r>
              <a:rPr lang="en-GB" sz="2400" b="1" dirty="0" err="1">
                <a:latin typeface="Courier"/>
                <a:cs typeface="Courier"/>
              </a:rPr>
              <a:t>lpr</a:t>
            </a:r>
            <a:r>
              <a:rPr lang="en-GB" sz="2400" b="1" dirty="0">
                <a:latin typeface="Courier"/>
                <a:cs typeface="Courier"/>
              </a:rPr>
              <a:t> {} \;</a:t>
            </a:r>
            <a:endParaRPr lang="en-GB" sz="2400" dirty="0">
              <a:latin typeface="Arial" charset="0"/>
            </a:endParaRPr>
          </a:p>
        </p:txBody>
      </p:sp>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26</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solidFill>
                  <a:srgbClr val="800000"/>
                </a:solidFill>
                <a:latin typeface="Arial" charset="0"/>
              </a:rPr>
              <a:t>File management: Search files: Examples</a:t>
            </a:r>
          </a:p>
        </p:txBody>
      </p:sp>
      <p:sp>
        <p:nvSpPr>
          <p:cNvPr id="5"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336052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27</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solidFill>
                  <a:srgbClr val="800000"/>
                </a:solidFill>
                <a:latin typeface="Arial" charset="0"/>
              </a:rPr>
              <a:t>File management: Search in files</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363538" lvl="1" indent="-363538">
              <a:buSzPct val="75000"/>
              <a:buBlip>
                <a:blip r:embed="rId3"/>
              </a:buBlip>
            </a:pPr>
            <a:r>
              <a:rPr lang="en-GB" sz="2400" dirty="0">
                <a:latin typeface="Arial" charset="0"/>
              </a:rPr>
              <a:t>Print all lines of the files of the directory that contain a word:  </a:t>
            </a:r>
            <a:r>
              <a:rPr lang="en-GB" sz="2400" b="1" dirty="0" err="1">
                <a:solidFill>
                  <a:srgbClr val="000000"/>
                </a:solidFill>
                <a:latin typeface="Courier"/>
                <a:cs typeface="Courier"/>
              </a:rPr>
              <a:t>grep</a:t>
            </a:r>
            <a:r>
              <a:rPr lang="en-GB" sz="2400" dirty="0">
                <a:solidFill>
                  <a:srgbClr val="000000"/>
                </a:solidFill>
                <a:latin typeface="Courier"/>
                <a:cs typeface="Courier"/>
              </a:rPr>
              <a:t> </a:t>
            </a:r>
            <a:r>
              <a:rPr lang="en-GB" sz="2400" b="1" dirty="0">
                <a:solidFill>
                  <a:srgbClr val="000000"/>
                </a:solidFill>
                <a:latin typeface="Courier"/>
                <a:cs typeface="Courier"/>
              </a:rPr>
              <a:t>string directory</a:t>
            </a:r>
          </a:p>
          <a:p>
            <a:pPr lvl="1"/>
            <a:r>
              <a:rPr lang="en-GB" dirty="0">
                <a:latin typeface="Arial" charset="0"/>
              </a:rPr>
              <a:t>The string can be expressed as a regular expression</a:t>
            </a:r>
          </a:p>
          <a:p>
            <a:pPr lvl="2"/>
            <a:r>
              <a:rPr lang="en-GB" sz="2000" dirty="0"/>
              <a:t>Whatever character : </a:t>
            </a:r>
            <a:r>
              <a:rPr lang="en-GB" sz="2000" b="1" dirty="0"/>
              <a:t>.</a:t>
            </a:r>
          </a:p>
          <a:p>
            <a:pPr lvl="2"/>
            <a:r>
              <a:rPr lang="en-GB" sz="2000" dirty="0"/>
              <a:t>Repetition of pattern: * </a:t>
            </a:r>
          </a:p>
          <a:p>
            <a:pPr lvl="2"/>
            <a:r>
              <a:rPr lang="en-GB" sz="2000" dirty="0"/>
              <a:t>Interval of characters: </a:t>
            </a:r>
            <a:r>
              <a:rPr lang="en-GB" sz="2000" b="1" dirty="0">
                <a:latin typeface="Courier"/>
                <a:cs typeface="Courier"/>
              </a:rPr>
              <a:t>[</a:t>
            </a:r>
            <a:r>
              <a:rPr lang="en-GB" sz="2000" b="1" i="1" dirty="0">
                <a:latin typeface="Courier"/>
                <a:ea typeface="Times New Roman"/>
                <a:cs typeface="Courier"/>
              </a:rPr>
              <a:t>x</a:t>
            </a:r>
            <a:r>
              <a:rPr lang="en-GB" sz="2000" b="1" dirty="0">
                <a:latin typeface="Courier"/>
                <a:cs typeface="Courier"/>
              </a:rPr>
              <a:t>-</a:t>
            </a:r>
            <a:r>
              <a:rPr lang="en-GB" sz="2000" b="1" i="1" dirty="0">
                <a:latin typeface="Courier"/>
                <a:ea typeface="Times New Roman"/>
                <a:cs typeface="Courier"/>
              </a:rPr>
              <a:t>y</a:t>
            </a:r>
            <a:r>
              <a:rPr lang="en-GB" sz="2000" b="1" dirty="0">
                <a:latin typeface="Courier"/>
                <a:cs typeface="Courier"/>
              </a:rPr>
              <a:t>]</a:t>
            </a:r>
            <a:endParaRPr lang="en-GB" dirty="0">
              <a:latin typeface="Arial" charset="0"/>
            </a:endParaRPr>
          </a:p>
          <a:p>
            <a:pPr lvl="1"/>
            <a:r>
              <a:rPr lang="en-GB" dirty="0">
                <a:latin typeface="Arial" charset="0"/>
              </a:rPr>
              <a:t>Return value: </a:t>
            </a:r>
            <a:r>
              <a:rPr lang="en-GB" dirty="0">
                <a:latin typeface="Courier"/>
                <a:cs typeface="Courier"/>
              </a:rPr>
              <a:t>0</a:t>
            </a:r>
            <a:r>
              <a:rPr lang="en-GB" dirty="0">
                <a:latin typeface="Arial" charset="0"/>
              </a:rPr>
              <a:t> not found,  else</a:t>
            </a:r>
            <a:r>
              <a:rPr lang="en-GB" dirty="0">
                <a:latin typeface="Courier"/>
                <a:cs typeface="Courier"/>
              </a:rPr>
              <a:t> !=0</a:t>
            </a:r>
            <a:endParaRPr lang="en-GB" sz="1600" b="1" dirty="0">
              <a:latin typeface="Courier"/>
              <a:ea typeface="Courier New"/>
              <a:cs typeface="Courier"/>
            </a:endParaRPr>
          </a:p>
          <a:p>
            <a:endParaRPr lang="en-GB" sz="2000" b="1" dirty="0">
              <a:latin typeface="Courier New"/>
              <a:ea typeface="Courier New"/>
            </a:endParaRPr>
          </a:p>
          <a:p>
            <a:r>
              <a:rPr lang="en-GB" dirty="0">
                <a:ea typeface="Courier New"/>
              </a:rPr>
              <a:t>Examples:</a:t>
            </a:r>
          </a:p>
          <a:p>
            <a:pPr lvl="1"/>
            <a:r>
              <a:rPr lang="en-GB" b="1" dirty="0" err="1">
                <a:latin typeface="Courier New"/>
                <a:ea typeface="Courier New"/>
              </a:rPr>
              <a:t>grep</a:t>
            </a:r>
            <a:r>
              <a:rPr lang="en-GB" b="1" dirty="0">
                <a:latin typeface="Courier New"/>
                <a:ea typeface="Courier New"/>
              </a:rPr>
              <a:t> –r test ./</a:t>
            </a:r>
            <a:r>
              <a:rPr lang="en-GB" dirty="0"/>
              <a:t>  </a:t>
            </a:r>
          </a:p>
          <a:p>
            <a:endParaRPr lang="en-GB" sz="2000" b="1" dirty="0">
              <a:latin typeface="Courier New"/>
              <a:ea typeface="Courier New"/>
            </a:endParaRPr>
          </a:p>
          <a:p>
            <a:pPr lvl="1"/>
            <a:r>
              <a:rPr lang="en-GB" b="1" dirty="0" err="1">
                <a:latin typeface="Courier New"/>
                <a:ea typeface="Courier New"/>
              </a:rPr>
              <a:t>grep</a:t>
            </a:r>
            <a:r>
              <a:rPr lang="en-GB" b="1" dirty="0">
                <a:latin typeface="Courier New"/>
                <a:ea typeface="Courier New"/>
              </a:rPr>
              <a:t> </a:t>
            </a:r>
            <a:r>
              <a:rPr lang="en-US" b="1" dirty="0">
                <a:solidFill>
                  <a:schemeClr val="tx1"/>
                </a:solidFill>
                <a:latin typeface="Courier New"/>
                <a:ea typeface="Courier New"/>
              </a:rPr>
              <a:t>"</a:t>
            </a:r>
            <a:r>
              <a:rPr lang="en-GB" b="1" dirty="0">
                <a:latin typeface="Courier New"/>
                <a:ea typeface="Courier New"/>
              </a:rPr>
              <a:t>m.*t</a:t>
            </a:r>
            <a:r>
              <a:rPr lang="en-US" b="1" dirty="0">
                <a:solidFill>
                  <a:schemeClr val="tx1"/>
                </a:solidFill>
                <a:latin typeface="Courier New"/>
                <a:ea typeface="Courier New"/>
              </a:rPr>
              <a:t>"</a:t>
            </a:r>
            <a:r>
              <a:rPr lang="en-GB" b="1" dirty="0">
                <a:latin typeface="Courier New"/>
                <a:ea typeface="Courier New"/>
              </a:rPr>
              <a:t> filename</a:t>
            </a:r>
          </a:p>
          <a:p>
            <a:pPr lvl="1"/>
            <a:endParaRPr lang="en-GB" b="1" dirty="0">
              <a:latin typeface="Courier New"/>
              <a:ea typeface="Courier New"/>
            </a:endParaRPr>
          </a:p>
          <a:p>
            <a:pPr lvl="1"/>
            <a:r>
              <a:rPr lang="en-GB" b="1" dirty="0" err="1">
                <a:latin typeface="Courier New"/>
                <a:ea typeface="Courier New"/>
              </a:rPr>
              <a:t>grep</a:t>
            </a:r>
            <a:r>
              <a:rPr lang="en-GB" b="1" dirty="0">
                <a:latin typeface="Courier New"/>
                <a:ea typeface="Courier New"/>
              </a:rPr>
              <a:t> </a:t>
            </a:r>
            <a:r>
              <a:rPr lang="en-US" b="1" dirty="0">
                <a:solidFill>
                  <a:schemeClr val="tx1"/>
                </a:solidFill>
                <a:latin typeface="Courier New"/>
                <a:ea typeface="Courier New"/>
              </a:rPr>
              <a:t>"</a:t>
            </a:r>
            <a:r>
              <a:rPr lang="en-GB" b="1" dirty="0" err="1">
                <a:latin typeface="Courier New"/>
                <a:ea typeface="Courier New"/>
              </a:rPr>
              <a:t>toto</a:t>
            </a:r>
            <a:r>
              <a:rPr lang="en-GB" b="1" dirty="0">
                <a:latin typeface="Courier New"/>
                <a:ea typeface="Courier New"/>
              </a:rPr>
              <a:t>[1-3]</a:t>
            </a:r>
            <a:r>
              <a:rPr lang="en-US" b="1" dirty="0">
                <a:solidFill>
                  <a:schemeClr val="tx1"/>
                </a:solidFill>
                <a:latin typeface="Courier New"/>
                <a:ea typeface="Courier New"/>
              </a:rPr>
              <a:t>"</a:t>
            </a:r>
            <a:r>
              <a:rPr lang="en-GB" b="1" dirty="0">
                <a:latin typeface="Courier New"/>
                <a:ea typeface="Courier New"/>
              </a:rPr>
              <a:t> filename</a:t>
            </a:r>
            <a:endParaRPr lang="en-GB" dirty="0"/>
          </a:p>
        </p:txBody>
      </p:sp>
      <p:sp>
        <p:nvSpPr>
          <p:cNvPr id="5"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152294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
          <p:cNvSpPr>
            <a:spLocks noGrp="1" noChangeArrowheads="1"/>
          </p:cNvSpPr>
          <p:nvPr>
            <p:ph type="title"/>
          </p:nvPr>
        </p:nvSpPr>
        <p:spPr>
          <a:xfrm>
            <a:off x="304800" y="159296"/>
            <a:ext cx="7772400" cy="533400"/>
          </a:xfrm>
        </p:spPr>
        <p:txBody>
          <a:bodyPr/>
          <a:lstStyle/>
          <a:p>
            <a:r>
              <a:rPr lang="en-US" sz="2800" dirty="0">
                <a:latin typeface="Arial" charset="0"/>
              </a:rPr>
              <a:t>Redirections</a:t>
            </a:r>
          </a:p>
        </p:txBody>
      </p:sp>
      <p:sp>
        <p:nvSpPr>
          <p:cNvPr id="22" name="Rectangle 3"/>
          <p:cNvSpPr txBox="1">
            <a:spLocks noChangeArrowheads="1"/>
          </p:cNvSpPr>
          <p:nvPr/>
        </p:nvSpPr>
        <p:spPr bwMode="auto">
          <a:xfrm>
            <a:off x="215516" y="908720"/>
            <a:ext cx="8975340" cy="56166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Redirection of standard input (</a:t>
            </a:r>
            <a:r>
              <a:rPr lang="en-GB" b="1" dirty="0" err="1">
                <a:latin typeface="Courier"/>
                <a:cs typeface="Courier"/>
              </a:rPr>
              <a:t>stdin</a:t>
            </a:r>
            <a:r>
              <a:rPr lang="en-GB" dirty="0">
                <a:latin typeface="Arial" charset="0"/>
              </a:rPr>
              <a:t>): </a:t>
            </a:r>
          </a:p>
          <a:p>
            <a:pPr lvl="1"/>
            <a:r>
              <a:rPr lang="en-GB" dirty="0">
                <a:solidFill>
                  <a:srgbClr val="000000"/>
                </a:solidFill>
                <a:latin typeface="Arial" charset="0"/>
              </a:rPr>
              <a:t>Use the content of </a:t>
            </a:r>
            <a:r>
              <a:rPr lang="en-GB" i="1" dirty="0">
                <a:solidFill>
                  <a:srgbClr val="000000"/>
                </a:solidFill>
                <a:latin typeface="Arial" charset="0"/>
              </a:rPr>
              <a:t>a </a:t>
            </a:r>
            <a:r>
              <a:rPr lang="en-GB" b="1" i="1" dirty="0">
                <a:solidFill>
                  <a:srgbClr val="000000"/>
                </a:solidFill>
                <a:latin typeface="Arial" charset="0"/>
              </a:rPr>
              <a:t>file</a:t>
            </a:r>
            <a:r>
              <a:rPr lang="en-GB" i="1" dirty="0">
                <a:solidFill>
                  <a:srgbClr val="000000"/>
                </a:solidFill>
                <a:latin typeface="Arial" charset="0"/>
              </a:rPr>
              <a:t> </a:t>
            </a:r>
            <a:r>
              <a:rPr lang="en-GB" dirty="0">
                <a:solidFill>
                  <a:srgbClr val="000000"/>
                </a:solidFill>
                <a:latin typeface="Arial" charset="0"/>
              </a:rPr>
              <a:t>as input to a command (instead of keyboard)</a:t>
            </a:r>
          </a:p>
          <a:p>
            <a:pPr lvl="2"/>
            <a:r>
              <a:rPr lang="en-GB" sz="2000" b="1" dirty="0">
                <a:latin typeface="Courier"/>
                <a:ea typeface="Courier New"/>
                <a:cs typeface="Courier"/>
              </a:rPr>
              <a:t>command &lt; filename</a:t>
            </a:r>
            <a:r>
              <a:rPr lang="en-GB" sz="2000" dirty="0">
                <a:latin typeface="Courier"/>
                <a:cs typeface="Courier"/>
              </a:rPr>
              <a:t> </a:t>
            </a:r>
          </a:p>
          <a:p>
            <a:pPr lvl="1"/>
            <a:endParaRPr lang="en-GB" dirty="0">
              <a:latin typeface="Arial" charset="0"/>
            </a:endParaRPr>
          </a:p>
          <a:p>
            <a:r>
              <a:rPr lang="en-GB" dirty="0">
                <a:latin typeface="Arial" charset="0"/>
                <a:sym typeface="Wingdings"/>
              </a:rPr>
              <a:t>Redirection of standard output (</a:t>
            </a:r>
            <a:r>
              <a:rPr lang="en-GB" b="1" dirty="0" err="1">
                <a:latin typeface="Courier"/>
                <a:cs typeface="Courier"/>
                <a:sym typeface="Wingdings"/>
              </a:rPr>
              <a:t>stdout</a:t>
            </a:r>
            <a:r>
              <a:rPr lang="en-GB" dirty="0">
                <a:latin typeface="Arial" charset="0"/>
                <a:sym typeface="Wingdings"/>
              </a:rPr>
              <a:t>)</a:t>
            </a:r>
          </a:p>
          <a:p>
            <a:pPr lvl="1"/>
            <a:r>
              <a:rPr lang="en-GB" dirty="0">
                <a:latin typeface="Arial" charset="0"/>
                <a:sym typeface="Wingdings"/>
              </a:rPr>
              <a:t>Print the output of a command into </a:t>
            </a:r>
            <a:r>
              <a:rPr lang="en-GB" i="1" dirty="0">
                <a:latin typeface="Arial" charset="0"/>
                <a:sym typeface="Wingdings"/>
              </a:rPr>
              <a:t>a </a:t>
            </a:r>
            <a:r>
              <a:rPr lang="en-GB" b="1" i="1" dirty="0">
                <a:latin typeface="Arial" charset="0"/>
                <a:sym typeface="Wingdings"/>
              </a:rPr>
              <a:t>file</a:t>
            </a:r>
            <a:r>
              <a:rPr lang="en-GB" i="1" dirty="0">
                <a:latin typeface="Arial" charset="0"/>
                <a:sym typeface="Wingdings"/>
              </a:rPr>
              <a:t> </a:t>
            </a:r>
            <a:r>
              <a:rPr lang="en-GB" dirty="0">
                <a:latin typeface="Arial" charset="0"/>
                <a:sym typeface="Wingdings"/>
              </a:rPr>
              <a:t>(instead of screen)</a:t>
            </a:r>
          </a:p>
          <a:p>
            <a:pPr lvl="2"/>
            <a:r>
              <a:rPr lang="en-GB" sz="2000" b="1" dirty="0">
                <a:latin typeface="Courier"/>
                <a:ea typeface="Courier New"/>
                <a:cs typeface="Courier"/>
              </a:rPr>
              <a:t>command &gt; filename</a:t>
            </a:r>
            <a:r>
              <a:rPr lang="en-GB" sz="2000" dirty="0">
                <a:latin typeface="Courier"/>
                <a:cs typeface="Courier"/>
              </a:rPr>
              <a:t> </a:t>
            </a:r>
            <a:r>
              <a:rPr lang="en-GB" sz="2000" dirty="0"/>
              <a:t>(overwrite old content of file) </a:t>
            </a:r>
          </a:p>
          <a:p>
            <a:pPr lvl="2"/>
            <a:r>
              <a:rPr lang="en-GB" sz="2000" b="1" dirty="0">
                <a:latin typeface="Courier"/>
                <a:ea typeface="Courier New"/>
                <a:cs typeface="Courier"/>
              </a:rPr>
              <a:t>command &gt;&gt; filename</a:t>
            </a:r>
            <a:r>
              <a:rPr lang="en-GB" sz="2000" dirty="0">
                <a:latin typeface="Courier"/>
                <a:cs typeface="Courier"/>
              </a:rPr>
              <a:t> </a:t>
            </a:r>
            <a:r>
              <a:rPr lang="en-GB" sz="2000" dirty="0"/>
              <a:t>(append to the content of file)</a:t>
            </a:r>
          </a:p>
          <a:p>
            <a:pPr lvl="2"/>
            <a:endParaRPr lang="en-GB" sz="2000" dirty="0"/>
          </a:p>
          <a:p>
            <a:r>
              <a:rPr lang="en-GB" dirty="0"/>
              <a:t>Pipe: redirect standard output to standard input of </a:t>
            </a:r>
            <a:r>
              <a:rPr lang="en-GB" b="1" i="1" dirty="0"/>
              <a:t>commands</a:t>
            </a:r>
          </a:p>
          <a:p>
            <a:pPr lvl="1"/>
            <a:r>
              <a:rPr lang="en-GB" dirty="0"/>
              <a:t>Use the output of a </a:t>
            </a:r>
            <a:r>
              <a:rPr lang="en-GB" b="1" dirty="0"/>
              <a:t>command</a:t>
            </a:r>
            <a:r>
              <a:rPr lang="en-GB" dirty="0"/>
              <a:t> as input to another </a:t>
            </a:r>
            <a:r>
              <a:rPr lang="en-GB" b="1" dirty="0"/>
              <a:t>command</a:t>
            </a:r>
          </a:p>
          <a:p>
            <a:pPr lvl="1"/>
            <a:r>
              <a:rPr lang="en-GB" dirty="0"/>
              <a:t>A subshell is created to execute command_2</a:t>
            </a:r>
          </a:p>
          <a:p>
            <a:pPr lvl="2"/>
            <a:r>
              <a:rPr lang="en-GB" sz="2000" b="1" dirty="0">
                <a:latin typeface="Courier"/>
                <a:cs typeface="Courier"/>
              </a:rPr>
              <a:t>command_1 | command_2</a:t>
            </a:r>
          </a:p>
          <a:p>
            <a:pPr lvl="2"/>
            <a:endParaRPr lang="en-GB" dirty="0"/>
          </a:p>
          <a:p>
            <a:pPr lvl="1"/>
            <a:endParaRPr lang="en-GB" dirty="0">
              <a:latin typeface="Arial" charset="0"/>
              <a:sym typeface="Wingdings"/>
            </a:endParaRPr>
          </a:p>
          <a:p>
            <a:pPr lvl="1"/>
            <a:endParaRPr lang="en-GB" sz="2000" b="1" dirty="0">
              <a:solidFill>
                <a:srgbClr val="000000"/>
              </a:solidFill>
              <a:latin typeface="Courier"/>
              <a:cs typeface="Courier"/>
            </a:endParaRPr>
          </a:p>
        </p:txBody>
      </p:sp>
    </p:spTree>
    <p:extLst>
      <p:ext uri="{BB962C8B-B14F-4D97-AF65-F5344CB8AC3E}">
        <p14:creationId xmlns:p14="http://schemas.microsoft.com/office/powerpoint/2010/main" val="380669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3"/>
          <p:cNvSpPr txBox="1">
            <a:spLocks noChangeArrowheads="1"/>
          </p:cNvSpPr>
          <p:nvPr/>
        </p:nvSpPr>
        <p:spPr bwMode="auto">
          <a:xfrm>
            <a:off x="457200" y="908720"/>
            <a:ext cx="8975340" cy="56166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b="1" dirty="0">
                <a:latin typeface="Courier"/>
                <a:ea typeface="Courier New"/>
                <a:cs typeface="Courier"/>
              </a:rPr>
              <a:t>command</a:t>
            </a:r>
            <a:r>
              <a:rPr lang="en-GB" dirty="0">
                <a:latin typeface="Courier"/>
                <a:cs typeface="Courier"/>
              </a:rPr>
              <a:t> </a:t>
            </a:r>
            <a:endParaRPr lang="en-GB" sz="2000" dirty="0">
              <a:latin typeface="Courier"/>
              <a:cs typeface="Courier"/>
            </a:endParaRPr>
          </a:p>
          <a:p>
            <a:pPr lvl="1"/>
            <a:endParaRPr lang="en-GB" dirty="0">
              <a:latin typeface="Arial" charset="0"/>
            </a:endParaRPr>
          </a:p>
          <a:p>
            <a:endParaRPr lang="en-GB" dirty="0">
              <a:latin typeface="Arial" charset="0"/>
              <a:sym typeface="Wingdings"/>
            </a:endParaRPr>
          </a:p>
          <a:p>
            <a:endParaRPr lang="en-GB" dirty="0">
              <a:latin typeface="Arial" charset="0"/>
              <a:sym typeface="Wingdings"/>
            </a:endParaRPr>
          </a:p>
          <a:p>
            <a:r>
              <a:rPr lang="en-GB" b="1" dirty="0">
                <a:latin typeface="Courier"/>
                <a:ea typeface="Courier New"/>
                <a:cs typeface="Courier"/>
              </a:rPr>
              <a:t>command &gt; </a:t>
            </a:r>
            <a:r>
              <a:rPr lang="en-GB" b="1" dirty="0" err="1">
                <a:latin typeface="Courier"/>
                <a:ea typeface="Courier New"/>
                <a:cs typeface="Courier"/>
              </a:rPr>
              <a:t>res.txt</a:t>
            </a:r>
            <a:endParaRPr lang="en-GB" b="1" dirty="0">
              <a:latin typeface="Courier"/>
              <a:ea typeface="Courier New"/>
              <a:cs typeface="Courier"/>
            </a:endParaRPr>
          </a:p>
          <a:p>
            <a:endParaRPr lang="en-GB" b="1" dirty="0">
              <a:latin typeface="Courier"/>
              <a:ea typeface="Courier New"/>
              <a:cs typeface="Courier"/>
            </a:endParaRPr>
          </a:p>
          <a:p>
            <a:endParaRPr lang="en-GB" b="1" dirty="0">
              <a:latin typeface="Courier"/>
              <a:ea typeface="Courier New"/>
              <a:cs typeface="Courier"/>
            </a:endParaRPr>
          </a:p>
          <a:p>
            <a:endParaRPr lang="en-GB" dirty="0"/>
          </a:p>
          <a:p>
            <a:r>
              <a:rPr lang="en-GB" b="1" dirty="0">
                <a:latin typeface="Courier"/>
                <a:ea typeface="Courier New"/>
                <a:cs typeface="Courier"/>
              </a:rPr>
              <a:t>command &lt; </a:t>
            </a:r>
            <a:r>
              <a:rPr lang="en-GB" b="1" dirty="0" err="1">
                <a:latin typeface="Courier"/>
                <a:ea typeface="Courier New"/>
                <a:cs typeface="Courier"/>
              </a:rPr>
              <a:t>data.txt</a:t>
            </a:r>
            <a:endParaRPr lang="en-GB" dirty="0"/>
          </a:p>
          <a:p>
            <a:pPr lvl="1"/>
            <a:endParaRPr lang="en-GB" dirty="0">
              <a:latin typeface="Arial" charset="0"/>
              <a:sym typeface="Wingdings"/>
            </a:endParaRPr>
          </a:p>
          <a:p>
            <a:pPr lvl="1"/>
            <a:endParaRPr lang="en-GB" sz="2000" b="1" dirty="0">
              <a:solidFill>
                <a:srgbClr val="000000"/>
              </a:solidFill>
              <a:latin typeface="Courier"/>
              <a:cs typeface="Courier"/>
            </a:endParaRPr>
          </a:p>
        </p:txBody>
      </p:sp>
      <p:sp>
        <p:nvSpPr>
          <p:cNvPr id="23" name="Rectangle 2"/>
          <p:cNvSpPr>
            <a:spLocks noGrp="1" noChangeArrowheads="1"/>
          </p:cNvSpPr>
          <p:nvPr>
            <p:ph type="title"/>
          </p:nvPr>
        </p:nvSpPr>
        <p:spPr>
          <a:xfrm>
            <a:off x="304800" y="159296"/>
            <a:ext cx="7772400" cy="533400"/>
          </a:xfrm>
        </p:spPr>
        <p:txBody>
          <a:bodyPr/>
          <a:lstStyle/>
          <a:p>
            <a:r>
              <a:rPr lang="en-US" sz="2800" dirty="0">
                <a:latin typeface="Arial" charset="0"/>
              </a:rPr>
              <a:t>Redirections: Examples</a:t>
            </a:r>
          </a:p>
        </p:txBody>
      </p:sp>
      <p:grpSp>
        <p:nvGrpSpPr>
          <p:cNvPr id="44" name="Group 43"/>
          <p:cNvGrpSpPr/>
          <p:nvPr/>
        </p:nvGrpSpPr>
        <p:grpSpPr>
          <a:xfrm>
            <a:off x="1295636" y="1412776"/>
            <a:ext cx="6942340" cy="972108"/>
            <a:chOff x="1295636" y="1412776"/>
            <a:chExt cx="6942340" cy="972108"/>
          </a:xfrm>
        </p:grpSpPr>
        <p:sp>
          <p:nvSpPr>
            <p:cNvPr id="8" name="Line 8"/>
            <p:cNvSpPr/>
            <p:nvPr/>
          </p:nvSpPr>
          <p:spPr>
            <a:xfrm>
              <a:off x="2726484" y="1880828"/>
              <a:ext cx="425160" cy="0"/>
            </a:xfrm>
            <a:prstGeom prst="line">
              <a:avLst/>
            </a:prstGeom>
            <a:ln w="28440">
              <a:solidFill>
                <a:srgbClr val="000208"/>
              </a:solidFill>
              <a:miter/>
              <a:tailEnd type="triangle" w="med" len="med"/>
            </a:ln>
          </p:spPr>
          <p:txBody>
            <a:bodyPr/>
            <a:lstStyle/>
            <a:p>
              <a:endParaRPr lang="fr-FR"/>
            </a:p>
          </p:txBody>
        </p:sp>
        <p:sp>
          <p:nvSpPr>
            <p:cNvPr id="10" name="CustomShape 10"/>
            <p:cNvSpPr/>
            <p:nvPr/>
          </p:nvSpPr>
          <p:spPr>
            <a:xfrm>
              <a:off x="1295636" y="1484068"/>
              <a:ext cx="1433728" cy="756800"/>
            </a:xfrm>
            <a:prstGeom prst="rect">
              <a:avLst/>
            </a:prstGeom>
            <a:solidFill>
              <a:srgbClr val="FFFFFF"/>
            </a:solidFill>
            <a:ln w="6480">
              <a:solidFill>
                <a:srgbClr val="000208"/>
              </a:solidFill>
              <a:miter/>
            </a:ln>
          </p:spPr>
          <p:txBody>
            <a:bodyPr lIns="92160" tIns="46080" rIns="92160" bIns="46080" anchor="ctr"/>
            <a:lstStyle/>
            <a:p>
              <a:pPr algn="ctr">
                <a:lnSpc>
                  <a:spcPct val="100000"/>
                </a:lnSpc>
                <a:buSzPct val="25000"/>
              </a:pPr>
              <a:r>
                <a:rPr lang="fr-FR" sz="2000" dirty="0">
                  <a:solidFill>
                    <a:srgbClr val="010507"/>
                  </a:solidFill>
                  <a:latin typeface="Arial"/>
                </a:rPr>
                <a:t>Keyboard</a:t>
              </a:r>
              <a:endParaRPr sz="2000" dirty="0"/>
            </a:p>
          </p:txBody>
        </p:sp>
        <p:sp>
          <p:nvSpPr>
            <p:cNvPr id="12" name="CustomShape 11"/>
            <p:cNvSpPr/>
            <p:nvPr/>
          </p:nvSpPr>
          <p:spPr>
            <a:xfrm>
              <a:off x="3167844" y="1412776"/>
              <a:ext cx="3434040" cy="972108"/>
            </a:xfrm>
            <a:prstGeom prst="rect">
              <a:avLst/>
            </a:prstGeom>
            <a:solidFill>
              <a:srgbClr val="EAEAEA"/>
            </a:solidFill>
            <a:ln w="6480">
              <a:solidFill>
                <a:srgbClr val="000208"/>
              </a:solidFill>
              <a:miter/>
            </a:ln>
          </p:spPr>
          <p:txBody>
            <a:bodyPr wrap="none" lIns="92160" tIns="46080" rIns="92160" bIns="46080" anchor="ctr"/>
            <a:lstStyle/>
            <a:p>
              <a:pPr algn="ctr">
                <a:lnSpc>
                  <a:spcPct val="100000"/>
                </a:lnSpc>
                <a:buSzPct val="25000"/>
              </a:pPr>
              <a:r>
                <a:rPr lang="fr-FR" sz="2000" b="1" dirty="0" err="1">
                  <a:latin typeface="Courier"/>
                  <a:cs typeface="Courier"/>
                </a:rPr>
                <a:t>com</a:t>
              </a:r>
              <a:r>
                <a:rPr lang="en-US" sz="2000" b="1" dirty="0" err="1">
                  <a:latin typeface="Courier"/>
                  <a:cs typeface="Courier"/>
                </a:rPr>
                <a:t>mand</a:t>
              </a:r>
              <a:endParaRPr sz="2000" b="1" dirty="0">
                <a:latin typeface="Courier"/>
                <a:cs typeface="Courier"/>
              </a:endParaRPr>
            </a:p>
          </p:txBody>
        </p:sp>
        <p:sp>
          <p:nvSpPr>
            <p:cNvPr id="17" name="Line 8"/>
            <p:cNvSpPr/>
            <p:nvPr/>
          </p:nvSpPr>
          <p:spPr>
            <a:xfrm>
              <a:off x="6588224" y="1916832"/>
              <a:ext cx="425160" cy="0"/>
            </a:xfrm>
            <a:prstGeom prst="line">
              <a:avLst/>
            </a:prstGeom>
            <a:ln w="28440">
              <a:solidFill>
                <a:srgbClr val="000208"/>
              </a:solidFill>
              <a:miter/>
              <a:tailEnd type="triangle" w="med" len="med"/>
            </a:ln>
          </p:spPr>
          <p:txBody>
            <a:bodyPr/>
            <a:lstStyle/>
            <a:p>
              <a:endParaRPr lang="fr-FR"/>
            </a:p>
          </p:txBody>
        </p:sp>
        <p:sp>
          <p:nvSpPr>
            <p:cNvPr id="18" name="CustomShape 10"/>
            <p:cNvSpPr/>
            <p:nvPr/>
          </p:nvSpPr>
          <p:spPr>
            <a:xfrm>
              <a:off x="7020272" y="1556792"/>
              <a:ext cx="1217704" cy="756800"/>
            </a:xfrm>
            <a:prstGeom prst="rect">
              <a:avLst/>
            </a:prstGeom>
            <a:solidFill>
              <a:srgbClr val="FFFFFF"/>
            </a:solidFill>
            <a:ln w="6480">
              <a:solidFill>
                <a:srgbClr val="000208"/>
              </a:solidFill>
              <a:miter/>
            </a:ln>
          </p:spPr>
          <p:txBody>
            <a:bodyPr lIns="92160" tIns="46080" rIns="92160" bIns="46080" anchor="ctr"/>
            <a:lstStyle/>
            <a:p>
              <a:pPr algn="ctr">
                <a:lnSpc>
                  <a:spcPct val="100000"/>
                </a:lnSpc>
                <a:buSzPct val="25000"/>
              </a:pPr>
              <a:r>
                <a:rPr lang="fr-FR" sz="2000" dirty="0" err="1">
                  <a:solidFill>
                    <a:srgbClr val="010507"/>
                  </a:solidFill>
                  <a:latin typeface="Arial"/>
                </a:rPr>
                <a:t>Screen</a:t>
              </a:r>
              <a:endParaRPr sz="2000" dirty="0"/>
            </a:p>
          </p:txBody>
        </p:sp>
        <p:sp>
          <p:nvSpPr>
            <p:cNvPr id="35" name="CustomShape 12"/>
            <p:cNvSpPr/>
            <p:nvPr/>
          </p:nvSpPr>
          <p:spPr>
            <a:xfrm>
              <a:off x="5982444" y="1592796"/>
              <a:ext cx="621268" cy="6690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std</a:t>
              </a:r>
              <a:endParaRPr lang="fr-FR" sz="2000" dirty="0">
                <a:latin typeface="Courier"/>
                <a:cs typeface="Courier"/>
              </a:endParaRPr>
            </a:p>
            <a:p>
              <a:pPr algn="ctr">
                <a:lnSpc>
                  <a:spcPct val="100000"/>
                </a:lnSpc>
                <a:buSzPct val="25000"/>
              </a:pPr>
              <a:r>
                <a:rPr lang="fr-FR" sz="2000" dirty="0">
                  <a:latin typeface="Courier"/>
                  <a:cs typeface="Courier"/>
                </a:rPr>
                <a:t>out</a:t>
              </a:r>
              <a:endParaRPr sz="2000" dirty="0">
                <a:latin typeface="Courier"/>
                <a:cs typeface="Courier"/>
              </a:endParaRPr>
            </a:p>
          </p:txBody>
        </p:sp>
        <p:sp>
          <p:nvSpPr>
            <p:cNvPr id="36" name="CustomShape 17"/>
            <p:cNvSpPr/>
            <p:nvPr/>
          </p:nvSpPr>
          <p:spPr>
            <a:xfrm>
              <a:off x="3167844" y="1556792"/>
              <a:ext cx="612928" cy="663604"/>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a:t>
              </a:r>
              <a:r>
                <a:rPr lang="fr-FR" sz="2000" dirty="0" err="1">
                  <a:solidFill>
                    <a:srgbClr val="010507"/>
                  </a:solidFill>
                  <a:latin typeface="Courier"/>
                  <a:cs typeface="Courier"/>
                </a:rPr>
                <a:t>td</a:t>
              </a:r>
              <a:endParaRPr lang="fr-FR" sz="2000" dirty="0">
                <a:solidFill>
                  <a:srgbClr val="010507"/>
                </a:solidFill>
                <a:latin typeface="Courier"/>
                <a:cs typeface="Courier"/>
              </a:endParaRPr>
            </a:p>
            <a:p>
              <a:pPr algn="ctr">
                <a:lnSpc>
                  <a:spcPct val="100000"/>
                </a:lnSpc>
                <a:buSzPct val="25000"/>
              </a:pPr>
              <a:r>
                <a:rPr lang="fr-FR" sz="2000" dirty="0">
                  <a:solidFill>
                    <a:srgbClr val="010507"/>
                  </a:solidFill>
                  <a:latin typeface="Courier"/>
                  <a:cs typeface="Courier"/>
                </a:rPr>
                <a:t>in</a:t>
              </a:r>
              <a:endParaRPr sz="2000" dirty="0">
                <a:latin typeface="Courier"/>
                <a:cs typeface="Courier"/>
              </a:endParaRPr>
            </a:p>
          </p:txBody>
        </p:sp>
      </p:grpSp>
      <p:grpSp>
        <p:nvGrpSpPr>
          <p:cNvPr id="3" name="Group 2"/>
          <p:cNvGrpSpPr/>
          <p:nvPr/>
        </p:nvGrpSpPr>
        <p:grpSpPr>
          <a:xfrm>
            <a:off x="1259632" y="3212976"/>
            <a:ext cx="7092788" cy="1008112"/>
            <a:chOff x="1259632" y="3212976"/>
            <a:chExt cx="7092788" cy="1008112"/>
          </a:xfrm>
        </p:grpSpPr>
        <p:sp>
          <p:nvSpPr>
            <p:cNvPr id="7" name="CustomShape 6"/>
            <p:cNvSpPr/>
            <p:nvPr/>
          </p:nvSpPr>
          <p:spPr>
            <a:xfrm>
              <a:off x="6984268" y="3212976"/>
              <a:ext cx="1368152" cy="981828"/>
            </a:xfrm>
            <a:prstGeom prst="flowChartDocument">
              <a:avLst/>
            </a:prstGeom>
            <a:solidFill>
              <a:srgbClr val="FFFFFF"/>
            </a:solidFill>
            <a:ln w="6480">
              <a:solidFill>
                <a:srgbClr val="000208"/>
              </a:solidFill>
              <a:miter/>
            </a:ln>
          </p:spPr>
          <p:txBody>
            <a:bodyPr/>
            <a:lstStyle/>
            <a:p>
              <a:r>
                <a:rPr lang="en-US" sz="2000" b="1" dirty="0" err="1">
                  <a:latin typeface="Courier"/>
                  <a:cs typeface="Courier"/>
                </a:rPr>
                <a:t>res.txt</a:t>
              </a:r>
              <a:endParaRPr lang="en-US" sz="2000" b="1" dirty="0">
                <a:latin typeface="Courier"/>
                <a:cs typeface="Courier"/>
              </a:endParaRPr>
            </a:p>
          </p:txBody>
        </p:sp>
        <p:sp>
          <p:nvSpPr>
            <p:cNvPr id="19" name="Line 8"/>
            <p:cNvSpPr/>
            <p:nvPr/>
          </p:nvSpPr>
          <p:spPr>
            <a:xfrm>
              <a:off x="2690480" y="3681028"/>
              <a:ext cx="425160" cy="0"/>
            </a:xfrm>
            <a:prstGeom prst="line">
              <a:avLst/>
            </a:prstGeom>
            <a:ln w="28440">
              <a:solidFill>
                <a:srgbClr val="000208"/>
              </a:solidFill>
              <a:miter/>
              <a:tailEnd type="triangle" w="med" len="med"/>
            </a:ln>
          </p:spPr>
          <p:txBody>
            <a:bodyPr/>
            <a:lstStyle/>
            <a:p>
              <a:endParaRPr lang="fr-FR"/>
            </a:p>
          </p:txBody>
        </p:sp>
        <p:sp>
          <p:nvSpPr>
            <p:cNvPr id="20" name="CustomShape 10"/>
            <p:cNvSpPr/>
            <p:nvPr/>
          </p:nvSpPr>
          <p:spPr>
            <a:xfrm>
              <a:off x="1259632" y="3284268"/>
              <a:ext cx="1433728" cy="756800"/>
            </a:xfrm>
            <a:prstGeom prst="rect">
              <a:avLst/>
            </a:prstGeom>
            <a:solidFill>
              <a:srgbClr val="FFFFFF"/>
            </a:solidFill>
            <a:ln w="6480">
              <a:solidFill>
                <a:srgbClr val="000208"/>
              </a:solidFill>
              <a:miter/>
            </a:ln>
          </p:spPr>
          <p:txBody>
            <a:bodyPr lIns="92160" tIns="46080" rIns="92160" bIns="46080" anchor="ctr"/>
            <a:lstStyle/>
            <a:p>
              <a:pPr algn="ctr">
                <a:lnSpc>
                  <a:spcPct val="100000"/>
                </a:lnSpc>
                <a:buSzPct val="25000"/>
              </a:pPr>
              <a:r>
                <a:rPr lang="fr-FR" sz="2000" dirty="0">
                  <a:solidFill>
                    <a:srgbClr val="010507"/>
                  </a:solidFill>
                  <a:latin typeface="Arial"/>
                </a:rPr>
                <a:t>Keyboard</a:t>
              </a:r>
              <a:endParaRPr sz="2000" dirty="0"/>
            </a:p>
          </p:txBody>
        </p:sp>
        <p:sp>
          <p:nvSpPr>
            <p:cNvPr id="26" name="Line 8"/>
            <p:cNvSpPr/>
            <p:nvPr/>
          </p:nvSpPr>
          <p:spPr>
            <a:xfrm>
              <a:off x="6552220" y="3717032"/>
              <a:ext cx="425160" cy="0"/>
            </a:xfrm>
            <a:prstGeom prst="line">
              <a:avLst/>
            </a:prstGeom>
            <a:ln w="28440">
              <a:solidFill>
                <a:srgbClr val="000208"/>
              </a:solidFill>
              <a:miter/>
              <a:tailEnd type="triangle" w="med" len="med"/>
            </a:ln>
          </p:spPr>
          <p:txBody>
            <a:bodyPr/>
            <a:lstStyle/>
            <a:p>
              <a:endParaRPr lang="fr-FR"/>
            </a:p>
          </p:txBody>
        </p:sp>
        <p:sp>
          <p:nvSpPr>
            <p:cNvPr id="37" name="CustomShape 11"/>
            <p:cNvSpPr/>
            <p:nvPr/>
          </p:nvSpPr>
          <p:spPr>
            <a:xfrm>
              <a:off x="3095836" y="3248980"/>
              <a:ext cx="3434040" cy="972108"/>
            </a:xfrm>
            <a:prstGeom prst="rect">
              <a:avLst/>
            </a:prstGeom>
            <a:solidFill>
              <a:srgbClr val="EAEAEA"/>
            </a:solidFill>
            <a:ln w="6480">
              <a:solidFill>
                <a:srgbClr val="000208"/>
              </a:solidFill>
              <a:miter/>
            </a:ln>
          </p:spPr>
          <p:txBody>
            <a:bodyPr wrap="none" lIns="92160" tIns="46080" rIns="92160" bIns="46080" anchor="ctr"/>
            <a:lstStyle/>
            <a:p>
              <a:pPr algn="ctr">
                <a:lnSpc>
                  <a:spcPct val="100000"/>
                </a:lnSpc>
                <a:buSzPct val="25000"/>
              </a:pPr>
              <a:r>
                <a:rPr lang="fr-FR" sz="2000" b="1" dirty="0">
                  <a:latin typeface="Courier"/>
                  <a:cs typeface="Courier"/>
                </a:rPr>
                <a:t>command</a:t>
              </a:r>
              <a:endParaRPr sz="2000" b="1" dirty="0">
                <a:latin typeface="Courier"/>
                <a:cs typeface="Courier"/>
              </a:endParaRPr>
            </a:p>
          </p:txBody>
        </p:sp>
        <p:sp>
          <p:nvSpPr>
            <p:cNvPr id="38" name="CustomShape 12"/>
            <p:cNvSpPr/>
            <p:nvPr/>
          </p:nvSpPr>
          <p:spPr>
            <a:xfrm>
              <a:off x="5910436" y="3429000"/>
              <a:ext cx="621268" cy="6690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std</a:t>
              </a:r>
              <a:endParaRPr lang="fr-FR" sz="2000" dirty="0">
                <a:latin typeface="Courier"/>
                <a:cs typeface="Courier"/>
              </a:endParaRPr>
            </a:p>
            <a:p>
              <a:pPr algn="ctr">
                <a:lnSpc>
                  <a:spcPct val="100000"/>
                </a:lnSpc>
                <a:buSzPct val="25000"/>
              </a:pPr>
              <a:r>
                <a:rPr lang="fr-FR" sz="2000" dirty="0">
                  <a:latin typeface="Courier"/>
                  <a:cs typeface="Courier"/>
                </a:rPr>
                <a:t>out</a:t>
              </a:r>
              <a:endParaRPr sz="2000" dirty="0">
                <a:latin typeface="Courier"/>
                <a:cs typeface="Courier"/>
              </a:endParaRPr>
            </a:p>
          </p:txBody>
        </p:sp>
        <p:sp>
          <p:nvSpPr>
            <p:cNvPr id="39" name="CustomShape 17"/>
            <p:cNvSpPr/>
            <p:nvPr/>
          </p:nvSpPr>
          <p:spPr>
            <a:xfrm>
              <a:off x="3095836" y="3392996"/>
              <a:ext cx="612928" cy="663604"/>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a:t>
              </a:r>
              <a:r>
                <a:rPr lang="fr-FR" sz="2000" dirty="0" err="1">
                  <a:solidFill>
                    <a:srgbClr val="010507"/>
                  </a:solidFill>
                  <a:latin typeface="Courier"/>
                  <a:cs typeface="Courier"/>
                </a:rPr>
                <a:t>td</a:t>
              </a:r>
              <a:endParaRPr lang="fr-FR" sz="2000" dirty="0">
                <a:solidFill>
                  <a:srgbClr val="010507"/>
                </a:solidFill>
                <a:latin typeface="Courier"/>
                <a:cs typeface="Courier"/>
              </a:endParaRPr>
            </a:p>
            <a:p>
              <a:pPr algn="ctr">
                <a:lnSpc>
                  <a:spcPct val="100000"/>
                </a:lnSpc>
                <a:buSzPct val="25000"/>
              </a:pPr>
              <a:r>
                <a:rPr lang="fr-FR" sz="2000" dirty="0">
                  <a:solidFill>
                    <a:srgbClr val="010507"/>
                  </a:solidFill>
                  <a:latin typeface="Courier"/>
                  <a:cs typeface="Courier"/>
                </a:rPr>
                <a:t>in</a:t>
              </a:r>
              <a:endParaRPr sz="2000" dirty="0">
                <a:latin typeface="Courier"/>
                <a:cs typeface="Courier"/>
              </a:endParaRPr>
            </a:p>
          </p:txBody>
        </p:sp>
      </p:grpSp>
      <p:grpSp>
        <p:nvGrpSpPr>
          <p:cNvPr id="2" name="Group 1"/>
          <p:cNvGrpSpPr/>
          <p:nvPr/>
        </p:nvGrpSpPr>
        <p:grpSpPr>
          <a:xfrm>
            <a:off x="1187624" y="4941168"/>
            <a:ext cx="7302380" cy="1089840"/>
            <a:chOff x="1187624" y="4941168"/>
            <a:chExt cx="7302380" cy="1089840"/>
          </a:xfrm>
        </p:grpSpPr>
        <p:sp>
          <p:nvSpPr>
            <p:cNvPr id="28" name="CustomShape 6"/>
            <p:cNvSpPr/>
            <p:nvPr/>
          </p:nvSpPr>
          <p:spPr>
            <a:xfrm>
              <a:off x="1187624" y="5049180"/>
              <a:ext cx="1584176" cy="981828"/>
            </a:xfrm>
            <a:prstGeom prst="flowChartDocument">
              <a:avLst/>
            </a:prstGeom>
            <a:solidFill>
              <a:srgbClr val="FFFFFF"/>
            </a:solidFill>
            <a:ln w="6480">
              <a:solidFill>
                <a:srgbClr val="000208"/>
              </a:solidFill>
              <a:miter/>
            </a:ln>
          </p:spPr>
          <p:txBody>
            <a:bodyPr/>
            <a:lstStyle/>
            <a:p>
              <a:r>
                <a:rPr lang="en-US" sz="2000" b="1" dirty="0" err="1">
                  <a:latin typeface="Courier"/>
                  <a:cs typeface="Courier"/>
                </a:rPr>
                <a:t>data.txt</a:t>
              </a:r>
              <a:endParaRPr lang="en-US" sz="2000" b="1" dirty="0">
                <a:latin typeface="Courier"/>
                <a:cs typeface="Courier"/>
              </a:endParaRPr>
            </a:p>
          </p:txBody>
        </p:sp>
        <p:sp>
          <p:nvSpPr>
            <p:cNvPr id="29" name="Line 8"/>
            <p:cNvSpPr/>
            <p:nvPr/>
          </p:nvSpPr>
          <p:spPr>
            <a:xfrm>
              <a:off x="2762488" y="5445224"/>
              <a:ext cx="425160" cy="0"/>
            </a:xfrm>
            <a:prstGeom prst="line">
              <a:avLst/>
            </a:prstGeom>
            <a:ln w="28440">
              <a:solidFill>
                <a:srgbClr val="000208"/>
              </a:solidFill>
              <a:miter/>
              <a:tailEnd type="triangle" w="med" len="med"/>
            </a:ln>
          </p:spPr>
          <p:txBody>
            <a:bodyPr/>
            <a:lstStyle/>
            <a:p>
              <a:endParaRPr lang="fr-FR"/>
            </a:p>
          </p:txBody>
        </p:sp>
        <p:sp>
          <p:nvSpPr>
            <p:cNvPr id="30" name="CustomShape 10"/>
            <p:cNvSpPr/>
            <p:nvPr/>
          </p:nvSpPr>
          <p:spPr>
            <a:xfrm>
              <a:off x="7056276" y="5049180"/>
              <a:ext cx="1433728" cy="756800"/>
            </a:xfrm>
            <a:prstGeom prst="rect">
              <a:avLst/>
            </a:prstGeom>
            <a:solidFill>
              <a:srgbClr val="FFFFFF"/>
            </a:solidFill>
            <a:ln w="6480">
              <a:solidFill>
                <a:srgbClr val="000208"/>
              </a:solidFill>
              <a:miter/>
            </a:ln>
          </p:spPr>
          <p:txBody>
            <a:bodyPr lIns="92160" tIns="46080" rIns="92160" bIns="46080" anchor="ctr"/>
            <a:lstStyle/>
            <a:p>
              <a:pPr algn="ctr">
                <a:lnSpc>
                  <a:spcPct val="100000"/>
                </a:lnSpc>
                <a:buSzPct val="25000"/>
              </a:pPr>
              <a:r>
                <a:rPr lang="fr-FR" sz="2000" dirty="0" err="1">
                  <a:solidFill>
                    <a:srgbClr val="010507"/>
                  </a:solidFill>
                  <a:latin typeface="Arial"/>
                </a:rPr>
                <a:t>Screen</a:t>
              </a:r>
              <a:endParaRPr sz="2000" dirty="0"/>
            </a:p>
          </p:txBody>
        </p:sp>
        <p:sp>
          <p:nvSpPr>
            <p:cNvPr id="40" name="CustomShape 11"/>
            <p:cNvSpPr/>
            <p:nvPr/>
          </p:nvSpPr>
          <p:spPr>
            <a:xfrm>
              <a:off x="3167844" y="4941168"/>
              <a:ext cx="3434040" cy="972108"/>
            </a:xfrm>
            <a:prstGeom prst="rect">
              <a:avLst/>
            </a:prstGeom>
            <a:solidFill>
              <a:srgbClr val="EAEAEA"/>
            </a:solidFill>
            <a:ln w="6480">
              <a:solidFill>
                <a:srgbClr val="000208"/>
              </a:solidFill>
              <a:miter/>
            </a:ln>
          </p:spPr>
          <p:txBody>
            <a:bodyPr wrap="none" lIns="92160" tIns="46080" rIns="92160" bIns="46080" anchor="ctr"/>
            <a:lstStyle/>
            <a:p>
              <a:pPr algn="ctr">
                <a:lnSpc>
                  <a:spcPct val="100000"/>
                </a:lnSpc>
                <a:buSzPct val="25000"/>
              </a:pPr>
              <a:r>
                <a:rPr lang="fr-FR" sz="2000" b="1" dirty="0">
                  <a:latin typeface="Courier"/>
                  <a:cs typeface="Courier"/>
                </a:rPr>
                <a:t>command</a:t>
              </a:r>
              <a:endParaRPr sz="2000" b="1" dirty="0">
                <a:latin typeface="Courier"/>
                <a:cs typeface="Courier"/>
              </a:endParaRPr>
            </a:p>
          </p:txBody>
        </p:sp>
        <p:sp>
          <p:nvSpPr>
            <p:cNvPr id="41" name="CustomShape 12"/>
            <p:cNvSpPr/>
            <p:nvPr/>
          </p:nvSpPr>
          <p:spPr>
            <a:xfrm>
              <a:off x="5982444" y="5121188"/>
              <a:ext cx="621268" cy="6690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std</a:t>
              </a:r>
              <a:endParaRPr lang="fr-FR" sz="2000" dirty="0">
                <a:latin typeface="Courier"/>
                <a:cs typeface="Courier"/>
              </a:endParaRPr>
            </a:p>
            <a:p>
              <a:pPr algn="ctr">
                <a:lnSpc>
                  <a:spcPct val="100000"/>
                </a:lnSpc>
                <a:buSzPct val="25000"/>
              </a:pPr>
              <a:r>
                <a:rPr lang="fr-FR" sz="2000" dirty="0">
                  <a:latin typeface="Courier"/>
                  <a:cs typeface="Courier"/>
                </a:rPr>
                <a:t>out</a:t>
              </a:r>
              <a:endParaRPr sz="2000" dirty="0">
                <a:latin typeface="Courier"/>
                <a:cs typeface="Courier"/>
              </a:endParaRPr>
            </a:p>
          </p:txBody>
        </p:sp>
        <p:sp>
          <p:nvSpPr>
            <p:cNvPr id="42" name="CustomShape 17"/>
            <p:cNvSpPr/>
            <p:nvPr/>
          </p:nvSpPr>
          <p:spPr>
            <a:xfrm>
              <a:off x="3167844" y="5085184"/>
              <a:ext cx="612928" cy="663604"/>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a:t>
              </a:r>
              <a:r>
                <a:rPr lang="fr-FR" sz="2000" dirty="0" err="1">
                  <a:solidFill>
                    <a:srgbClr val="010507"/>
                  </a:solidFill>
                  <a:latin typeface="Courier"/>
                  <a:cs typeface="Courier"/>
                </a:rPr>
                <a:t>td</a:t>
              </a:r>
              <a:endParaRPr lang="fr-FR" sz="2000" dirty="0">
                <a:solidFill>
                  <a:srgbClr val="010507"/>
                </a:solidFill>
                <a:latin typeface="Courier"/>
                <a:cs typeface="Courier"/>
              </a:endParaRPr>
            </a:p>
            <a:p>
              <a:pPr algn="ctr">
                <a:lnSpc>
                  <a:spcPct val="100000"/>
                </a:lnSpc>
                <a:buSzPct val="25000"/>
              </a:pPr>
              <a:r>
                <a:rPr lang="fr-FR" sz="2000" dirty="0">
                  <a:solidFill>
                    <a:srgbClr val="010507"/>
                  </a:solidFill>
                  <a:latin typeface="Courier"/>
                  <a:cs typeface="Courier"/>
                </a:rPr>
                <a:t>in</a:t>
              </a:r>
              <a:endParaRPr sz="2000" dirty="0">
                <a:latin typeface="Courier"/>
                <a:cs typeface="Courier"/>
              </a:endParaRPr>
            </a:p>
          </p:txBody>
        </p:sp>
        <p:sp>
          <p:nvSpPr>
            <p:cNvPr id="43" name="Line 8"/>
            <p:cNvSpPr/>
            <p:nvPr/>
          </p:nvSpPr>
          <p:spPr>
            <a:xfrm>
              <a:off x="6624228" y="5445224"/>
              <a:ext cx="425160" cy="0"/>
            </a:xfrm>
            <a:prstGeom prst="line">
              <a:avLst/>
            </a:prstGeom>
            <a:ln w="28440">
              <a:solidFill>
                <a:srgbClr val="000208"/>
              </a:solidFill>
              <a:miter/>
              <a:tailEnd type="triangle" w="med" len="med"/>
            </a:ln>
          </p:spPr>
          <p:txBody>
            <a:bodyPr/>
            <a:lstStyle/>
            <a:p>
              <a:endParaRPr lang="fr-FR"/>
            </a:p>
          </p:txBody>
        </p:sp>
      </p:grpSp>
    </p:spTree>
    <p:extLst>
      <p:ext uri="{BB962C8B-B14F-4D97-AF65-F5344CB8AC3E}">
        <p14:creationId xmlns:p14="http://schemas.microsoft.com/office/powerpoint/2010/main" val="308046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23020" y="4761148"/>
            <a:ext cx="8820980" cy="1692188"/>
            <a:chOff x="323020" y="4761148"/>
            <a:chExt cx="8820980" cy="1692188"/>
          </a:xfrm>
        </p:grpSpPr>
        <p:grpSp>
          <p:nvGrpSpPr>
            <p:cNvPr id="75" name="Group 74"/>
            <p:cNvGrpSpPr/>
            <p:nvPr/>
          </p:nvGrpSpPr>
          <p:grpSpPr>
            <a:xfrm>
              <a:off x="323020" y="5363496"/>
              <a:ext cx="8820980" cy="1089840"/>
              <a:chOff x="143508" y="3320988"/>
              <a:chExt cx="8820980" cy="1089840"/>
            </a:xfrm>
          </p:grpSpPr>
          <p:sp>
            <p:nvSpPr>
              <p:cNvPr id="76" name="CustomShape 6"/>
              <p:cNvSpPr/>
              <p:nvPr/>
            </p:nvSpPr>
            <p:spPr>
              <a:xfrm>
                <a:off x="7596336" y="3392996"/>
                <a:ext cx="1368152" cy="981828"/>
              </a:xfrm>
              <a:prstGeom prst="flowChartDocument">
                <a:avLst/>
              </a:prstGeom>
              <a:solidFill>
                <a:srgbClr val="FFFFFF"/>
              </a:solidFill>
              <a:ln w="6480">
                <a:solidFill>
                  <a:srgbClr val="000208"/>
                </a:solidFill>
                <a:miter/>
              </a:ln>
            </p:spPr>
            <p:txBody>
              <a:bodyPr/>
              <a:lstStyle/>
              <a:p>
                <a:r>
                  <a:rPr lang="en-US" sz="2000" b="1" dirty="0" err="1">
                    <a:latin typeface="Courier"/>
                    <a:cs typeface="Courier"/>
                  </a:rPr>
                  <a:t>res.txt</a:t>
                </a:r>
                <a:endParaRPr lang="en-US" sz="2000" b="1" dirty="0">
                  <a:latin typeface="Courier"/>
                  <a:cs typeface="Courier"/>
                </a:endParaRPr>
              </a:p>
            </p:txBody>
          </p:sp>
          <p:sp>
            <p:nvSpPr>
              <p:cNvPr id="77" name="CustomShape 6"/>
              <p:cNvSpPr/>
              <p:nvPr/>
            </p:nvSpPr>
            <p:spPr>
              <a:xfrm>
                <a:off x="143508" y="3429000"/>
                <a:ext cx="1584176" cy="981828"/>
              </a:xfrm>
              <a:prstGeom prst="flowChartDocument">
                <a:avLst/>
              </a:prstGeom>
              <a:solidFill>
                <a:srgbClr val="FFFFFF"/>
              </a:solidFill>
              <a:ln w="6480">
                <a:solidFill>
                  <a:srgbClr val="000208"/>
                </a:solidFill>
                <a:miter/>
              </a:ln>
            </p:spPr>
            <p:txBody>
              <a:bodyPr/>
              <a:lstStyle/>
              <a:p>
                <a:r>
                  <a:rPr lang="en-US" sz="2000" b="1" dirty="0" err="1">
                    <a:latin typeface="Courier"/>
                    <a:cs typeface="Courier"/>
                  </a:rPr>
                  <a:t>data.txt</a:t>
                </a:r>
                <a:endParaRPr lang="en-US" sz="2000" b="1" dirty="0">
                  <a:latin typeface="Courier"/>
                  <a:cs typeface="Courier"/>
                </a:endParaRPr>
              </a:p>
            </p:txBody>
          </p:sp>
          <p:sp>
            <p:nvSpPr>
              <p:cNvPr id="78" name="Line 8"/>
              <p:cNvSpPr/>
              <p:nvPr/>
            </p:nvSpPr>
            <p:spPr>
              <a:xfrm>
                <a:off x="1718372" y="3825044"/>
                <a:ext cx="425160" cy="0"/>
              </a:xfrm>
              <a:prstGeom prst="line">
                <a:avLst/>
              </a:prstGeom>
              <a:ln w="28440">
                <a:solidFill>
                  <a:srgbClr val="000208"/>
                </a:solidFill>
                <a:miter/>
                <a:tailEnd type="triangle" w="med" len="med"/>
              </a:ln>
            </p:spPr>
            <p:txBody>
              <a:bodyPr/>
              <a:lstStyle/>
              <a:p>
                <a:endParaRPr lang="fr-FR"/>
              </a:p>
            </p:txBody>
          </p:sp>
          <p:sp>
            <p:nvSpPr>
              <p:cNvPr id="79" name="CustomShape 11"/>
              <p:cNvSpPr/>
              <p:nvPr/>
            </p:nvSpPr>
            <p:spPr>
              <a:xfrm>
                <a:off x="2123728" y="3320988"/>
                <a:ext cx="2304256" cy="972108"/>
              </a:xfrm>
              <a:prstGeom prst="rect">
                <a:avLst/>
              </a:prstGeom>
              <a:solidFill>
                <a:srgbClr val="EAEAEA"/>
              </a:solidFill>
              <a:ln w="6480">
                <a:solidFill>
                  <a:srgbClr val="000208"/>
                </a:solidFill>
                <a:miter/>
              </a:ln>
            </p:spPr>
            <p:txBody>
              <a:bodyPr wrap="none" lIns="92160" tIns="46080" rIns="92160" bIns="46080" anchor="ctr"/>
              <a:lstStyle/>
              <a:p>
                <a:pPr algn="ctr">
                  <a:lnSpc>
                    <a:spcPct val="100000"/>
                  </a:lnSpc>
                  <a:buSzPct val="25000"/>
                </a:pPr>
                <a:r>
                  <a:rPr lang="fr-FR" sz="2000" b="1" dirty="0">
                    <a:latin typeface="Courier"/>
                    <a:cs typeface="Courier"/>
                  </a:rPr>
                  <a:t>com_1</a:t>
                </a:r>
                <a:endParaRPr sz="2000" b="1" dirty="0">
                  <a:latin typeface="Courier"/>
                  <a:cs typeface="Courier"/>
                </a:endParaRPr>
              </a:p>
            </p:txBody>
          </p:sp>
          <p:sp>
            <p:nvSpPr>
              <p:cNvPr id="80" name="CustomShape 12"/>
              <p:cNvSpPr/>
              <p:nvPr/>
            </p:nvSpPr>
            <p:spPr>
              <a:xfrm>
                <a:off x="3806716" y="3501008"/>
                <a:ext cx="621268" cy="6690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std</a:t>
                </a:r>
                <a:endParaRPr lang="fr-FR" sz="2000" dirty="0">
                  <a:latin typeface="Courier"/>
                  <a:cs typeface="Courier"/>
                </a:endParaRPr>
              </a:p>
              <a:p>
                <a:pPr algn="ctr">
                  <a:lnSpc>
                    <a:spcPct val="100000"/>
                  </a:lnSpc>
                  <a:buSzPct val="25000"/>
                </a:pPr>
                <a:r>
                  <a:rPr lang="fr-FR" sz="2000" dirty="0">
                    <a:latin typeface="Courier"/>
                    <a:cs typeface="Courier"/>
                  </a:rPr>
                  <a:t>out</a:t>
                </a:r>
                <a:endParaRPr sz="2000" dirty="0">
                  <a:latin typeface="Courier"/>
                  <a:cs typeface="Courier"/>
                </a:endParaRPr>
              </a:p>
            </p:txBody>
          </p:sp>
          <p:sp>
            <p:nvSpPr>
              <p:cNvPr id="81" name="CustomShape 17"/>
              <p:cNvSpPr/>
              <p:nvPr/>
            </p:nvSpPr>
            <p:spPr>
              <a:xfrm>
                <a:off x="2123728" y="3465004"/>
                <a:ext cx="612928" cy="663604"/>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a:t>
                </a:r>
                <a:r>
                  <a:rPr lang="fr-FR" sz="2000" dirty="0" err="1">
                    <a:solidFill>
                      <a:srgbClr val="010507"/>
                    </a:solidFill>
                    <a:latin typeface="Courier"/>
                    <a:cs typeface="Courier"/>
                  </a:rPr>
                  <a:t>td</a:t>
                </a:r>
                <a:endParaRPr lang="fr-FR" sz="2000" dirty="0">
                  <a:solidFill>
                    <a:srgbClr val="010507"/>
                  </a:solidFill>
                  <a:latin typeface="Courier"/>
                  <a:cs typeface="Courier"/>
                </a:endParaRPr>
              </a:p>
              <a:p>
                <a:pPr algn="ctr">
                  <a:lnSpc>
                    <a:spcPct val="100000"/>
                  </a:lnSpc>
                  <a:buSzPct val="25000"/>
                </a:pPr>
                <a:r>
                  <a:rPr lang="fr-FR" sz="2000" dirty="0">
                    <a:solidFill>
                      <a:srgbClr val="010507"/>
                    </a:solidFill>
                    <a:latin typeface="Courier"/>
                    <a:cs typeface="Courier"/>
                  </a:rPr>
                  <a:t>in</a:t>
                </a:r>
                <a:endParaRPr sz="2000" dirty="0">
                  <a:latin typeface="Courier"/>
                  <a:cs typeface="Courier"/>
                </a:endParaRPr>
              </a:p>
            </p:txBody>
          </p:sp>
          <p:sp>
            <p:nvSpPr>
              <p:cNvPr id="82" name="Line 8"/>
              <p:cNvSpPr/>
              <p:nvPr/>
            </p:nvSpPr>
            <p:spPr>
              <a:xfrm>
                <a:off x="7164288" y="3825044"/>
                <a:ext cx="425160" cy="0"/>
              </a:xfrm>
              <a:prstGeom prst="line">
                <a:avLst/>
              </a:prstGeom>
              <a:ln w="28440">
                <a:solidFill>
                  <a:srgbClr val="000208"/>
                </a:solidFill>
                <a:miter/>
                <a:tailEnd type="triangle" w="med" len="med"/>
              </a:ln>
            </p:spPr>
            <p:txBody>
              <a:bodyPr/>
              <a:lstStyle/>
              <a:p>
                <a:endParaRPr lang="fr-FR"/>
              </a:p>
            </p:txBody>
          </p:sp>
          <p:sp>
            <p:nvSpPr>
              <p:cNvPr id="83" name="CustomShape 11"/>
              <p:cNvSpPr/>
              <p:nvPr/>
            </p:nvSpPr>
            <p:spPr>
              <a:xfrm>
                <a:off x="4896036" y="3320988"/>
                <a:ext cx="2304256" cy="972108"/>
              </a:xfrm>
              <a:prstGeom prst="rect">
                <a:avLst/>
              </a:prstGeom>
              <a:solidFill>
                <a:srgbClr val="EAEAEA"/>
              </a:solidFill>
              <a:ln w="6480">
                <a:solidFill>
                  <a:srgbClr val="000208"/>
                </a:solidFill>
                <a:miter/>
              </a:ln>
            </p:spPr>
            <p:txBody>
              <a:bodyPr wrap="none" lIns="92160" tIns="46080" rIns="92160" bIns="46080" anchor="ctr"/>
              <a:lstStyle/>
              <a:p>
                <a:pPr algn="ctr">
                  <a:lnSpc>
                    <a:spcPct val="100000"/>
                  </a:lnSpc>
                  <a:buSzPct val="25000"/>
                </a:pPr>
                <a:r>
                  <a:rPr lang="fr-FR" sz="2000" b="1" dirty="0">
                    <a:latin typeface="Courier"/>
                    <a:cs typeface="Courier"/>
                  </a:rPr>
                  <a:t>com_2</a:t>
                </a:r>
                <a:endParaRPr sz="2000" b="1" dirty="0">
                  <a:latin typeface="Courier"/>
                  <a:cs typeface="Courier"/>
                </a:endParaRPr>
              </a:p>
            </p:txBody>
          </p:sp>
          <p:sp>
            <p:nvSpPr>
              <p:cNvPr id="84" name="Line 8"/>
              <p:cNvSpPr/>
              <p:nvPr/>
            </p:nvSpPr>
            <p:spPr>
              <a:xfrm>
                <a:off x="4463988" y="3825044"/>
                <a:ext cx="425160" cy="0"/>
              </a:xfrm>
              <a:prstGeom prst="line">
                <a:avLst/>
              </a:prstGeom>
              <a:ln w="28440">
                <a:solidFill>
                  <a:srgbClr val="000208"/>
                </a:solidFill>
                <a:miter/>
                <a:tailEnd type="triangle" w="med" len="med"/>
              </a:ln>
            </p:spPr>
            <p:txBody>
              <a:bodyPr/>
              <a:lstStyle/>
              <a:p>
                <a:endParaRPr lang="fr-FR"/>
              </a:p>
            </p:txBody>
          </p:sp>
          <p:sp>
            <p:nvSpPr>
              <p:cNvPr id="85" name="CustomShape 12"/>
              <p:cNvSpPr/>
              <p:nvPr/>
            </p:nvSpPr>
            <p:spPr>
              <a:xfrm>
                <a:off x="6572736" y="3506032"/>
                <a:ext cx="621268" cy="6690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std</a:t>
                </a:r>
                <a:endParaRPr lang="fr-FR" sz="2000" dirty="0">
                  <a:latin typeface="Courier"/>
                  <a:cs typeface="Courier"/>
                </a:endParaRPr>
              </a:p>
              <a:p>
                <a:pPr algn="ctr">
                  <a:lnSpc>
                    <a:spcPct val="100000"/>
                  </a:lnSpc>
                  <a:buSzPct val="25000"/>
                </a:pPr>
                <a:r>
                  <a:rPr lang="fr-FR" sz="2000" dirty="0">
                    <a:latin typeface="Courier"/>
                    <a:cs typeface="Courier"/>
                  </a:rPr>
                  <a:t>out</a:t>
                </a:r>
                <a:endParaRPr sz="2000" dirty="0">
                  <a:latin typeface="Courier"/>
                  <a:cs typeface="Courier"/>
                </a:endParaRPr>
              </a:p>
            </p:txBody>
          </p:sp>
          <p:sp>
            <p:nvSpPr>
              <p:cNvPr id="86" name="CustomShape 17"/>
              <p:cNvSpPr/>
              <p:nvPr/>
            </p:nvSpPr>
            <p:spPr>
              <a:xfrm>
                <a:off x="4889748" y="3501008"/>
                <a:ext cx="612928" cy="663604"/>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a:t>
                </a:r>
                <a:r>
                  <a:rPr lang="fr-FR" sz="2000" dirty="0" err="1">
                    <a:solidFill>
                      <a:srgbClr val="010507"/>
                    </a:solidFill>
                    <a:latin typeface="Courier"/>
                    <a:cs typeface="Courier"/>
                  </a:rPr>
                  <a:t>td</a:t>
                </a:r>
                <a:endParaRPr lang="fr-FR" sz="2000" dirty="0">
                  <a:solidFill>
                    <a:srgbClr val="010507"/>
                  </a:solidFill>
                  <a:latin typeface="Courier"/>
                  <a:cs typeface="Courier"/>
                </a:endParaRPr>
              </a:p>
              <a:p>
                <a:pPr algn="ctr">
                  <a:lnSpc>
                    <a:spcPct val="100000"/>
                  </a:lnSpc>
                  <a:buSzPct val="25000"/>
                </a:pPr>
                <a:r>
                  <a:rPr lang="fr-FR" sz="2000" dirty="0">
                    <a:solidFill>
                      <a:srgbClr val="010507"/>
                    </a:solidFill>
                    <a:latin typeface="Courier"/>
                    <a:cs typeface="Courier"/>
                  </a:rPr>
                  <a:t>in</a:t>
                </a:r>
                <a:endParaRPr sz="2000" dirty="0">
                  <a:latin typeface="Courier"/>
                  <a:cs typeface="Courier"/>
                </a:endParaRPr>
              </a:p>
            </p:txBody>
          </p:sp>
        </p:grpSp>
        <p:grpSp>
          <p:nvGrpSpPr>
            <p:cNvPr id="2" name="Group 1"/>
            <p:cNvGrpSpPr/>
            <p:nvPr/>
          </p:nvGrpSpPr>
          <p:grpSpPr>
            <a:xfrm>
              <a:off x="2914572" y="4761148"/>
              <a:ext cx="3684112" cy="607388"/>
              <a:chOff x="2914572" y="4761148"/>
              <a:chExt cx="3684112" cy="607388"/>
            </a:xfrm>
          </p:grpSpPr>
          <p:sp>
            <p:nvSpPr>
              <p:cNvPr id="87" name="Line 5"/>
              <p:cNvSpPr/>
              <p:nvPr/>
            </p:nvSpPr>
            <p:spPr>
              <a:xfrm>
                <a:off x="3455876" y="4977172"/>
                <a:ext cx="4726" cy="381644"/>
              </a:xfrm>
              <a:prstGeom prst="line">
                <a:avLst/>
              </a:prstGeom>
              <a:ln w="19080">
                <a:solidFill>
                  <a:srgbClr val="000208"/>
                </a:solidFill>
                <a:miter/>
                <a:tailEnd type="triangle" w="med" len="med"/>
              </a:ln>
            </p:spPr>
            <p:txBody>
              <a:bodyPr/>
              <a:lstStyle/>
              <a:p>
                <a:endParaRPr lang="fr-FR"/>
              </a:p>
            </p:txBody>
          </p:sp>
          <p:sp>
            <p:nvSpPr>
              <p:cNvPr id="89" name="CustomShape 14"/>
              <p:cNvSpPr/>
              <p:nvPr/>
            </p:nvSpPr>
            <p:spPr>
              <a:xfrm>
                <a:off x="2914572" y="4761148"/>
                <a:ext cx="973352" cy="396044"/>
              </a:xfrm>
              <a:prstGeom prst="rect">
                <a:avLst/>
              </a:prstGeom>
              <a:solidFill>
                <a:srgbClr val="FFFFFF"/>
              </a:solidFill>
              <a:ln w="6480">
                <a:noFill/>
                <a:miter/>
              </a:ln>
            </p:spPr>
            <p:txBody>
              <a:bodyPr wrap="none" lIns="92160" tIns="46080" rIns="92160" bIns="46080" anchor="ctr"/>
              <a:lstStyle/>
              <a:p>
                <a:pPr algn="ctr">
                  <a:lnSpc>
                    <a:spcPct val="100000"/>
                  </a:lnSpc>
                  <a:buSzPct val="25000"/>
                </a:pPr>
                <a:r>
                  <a:rPr lang="fr-FR" sz="2000" b="1" dirty="0">
                    <a:latin typeface="Courier"/>
                    <a:cs typeface="Courier"/>
                  </a:rPr>
                  <a:t>f</a:t>
                </a:r>
                <a:r>
                  <a:rPr lang="fr-FR" sz="2000" b="1" dirty="0">
                    <a:solidFill>
                      <a:srgbClr val="010507"/>
                    </a:solidFill>
                    <a:latin typeface="Courier"/>
                    <a:cs typeface="Courier"/>
                  </a:rPr>
                  <a:t>1.txt</a:t>
                </a:r>
                <a:endParaRPr sz="2000" b="1" dirty="0">
                  <a:latin typeface="Courier"/>
                  <a:cs typeface="Courier"/>
                </a:endParaRPr>
              </a:p>
            </p:txBody>
          </p:sp>
          <p:sp>
            <p:nvSpPr>
              <p:cNvPr id="92" name="Line 5"/>
              <p:cNvSpPr/>
              <p:nvPr/>
            </p:nvSpPr>
            <p:spPr>
              <a:xfrm>
                <a:off x="6166636" y="4986892"/>
                <a:ext cx="4726" cy="381644"/>
              </a:xfrm>
              <a:prstGeom prst="line">
                <a:avLst/>
              </a:prstGeom>
              <a:ln w="19080">
                <a:solidFill>
                  <a:srgbClr val="000208"/>
                </a:solidFill>
                <a:miter/>
                <a:tailEnd type="triangle" w="med" len="med"/>
              </a:ln>
            </p:spPr>
            <p:txBody>
              <a:bodyPr/>
              <a:lstStyle/>
              <a:p>
                <a:endParaRPr lang="fr-FR"/>
              </a:p>
            </p:txBody>
          </p:sp>
          <p:sp>
            <p:nvSpPr>
              <p:cNvPr id="94" name="CustomShape 14"/>
              <p:cNvSpPr/>
              <p:nvPr/>
            </p:nvSpPr>
            <p:spPr>
              <a:xfrm>
                <a:off x="5625332" y="4770868"/>
                <a:ext cx="973352" cy="396044"/>
              </a:xfrm>
              <a:prstGeom prst="rect">
                <a:avLst/>
              </a:prstGeom>
              <a:solidFill>
                <a:srgbClr val="FFFFFF"/>
              </a:solidFill>
              <a:ln w="6480">
                <a:noFill/>
                <a:miter/>
              </a:ln>
            </p:spPr>
            <p:txBody>
              <a:bodyPr wrap="none" lIns="92160" tIns="46080" rIns="92160" bIns="46080" anchor="ctr"/>
              <a:lstStyle/>
              <a:p>
                <a:pPr algn="ctr">
                  <a:lnSpc>
                    <a:spcPct val="100000"/>
                  </a:lnSpc>
                  <a:buSzPct val="25000"/>
                </a:pPr>
                <a:r>
                  <a:rPr lang="fr-FR" sz="2000" b="1" dirty="0">
                    <a:latin typeface="Courier"/>
                    <a:cs typeface="Courier"/>
                  </a:rPr>
                  <a:t>b1</a:t>
                </a:r>
                <a:endParaRPr sz="2000" b="1" dirty="0">
                  <a:latin typeface="Courier"/>
                  <a:cs typeface="Courier"/>
                </a:endParaRPr>
              </a:p>
            </p:txBody>
          </p:sp>
        </p:grpSp>
      </p:grpSp>
      <p:sp>
        <p:nvSpPr>
          <p:cNvPr id="22" name="Rectangle 3"/>
          <p:cNvSpPr txBox="1">
            <a:spLocks noChangeArrowheads="1"/>
          </p:cNvSpPr>
          <p:nvPr/>
        </p:nvSpPr>
        <p:spPr bwMode="auto">
          <a:xfrm>
            <a:off x="457200" y="908720"/>
            <a:ext cx="8975340" cy="24482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b="1" dirty="0">
                <a:latin typeface="Courier"/>
                <a:ea typeface="Courier New"/>
                <a:cs typeface="Courier"/>
              </a:rPr>
              <a:t>command &lt; </a:t>
            </a:r>
            <a:r>
              <a:rPr lang="en-GB" b="1" dirty="0" err="1">
                <a:latin typeface="Courier"/>
                <a:ea typeface="Courier New"/>
                <a:cs typeface="Courier"/>
              </a:rPr>
              <a:t>data.txt</a:t>
            </a:r>
            <a:r>
              <a:rPr lang="en-GB" b="1" dirty="0">
                <a:latin typeface="Courier"/>
                <a:ea typeface="Courier New"/>
                <a:cs typeface="Courier"/>
              </a:rPr>
              <a:t> &gt; </a:t>
            </a:r>
            <a:r>
              <a:rPr lang="en-GB" b="1" dirty="0" err="1">
                <a:latin typeface="Courier"/>
                <a:ea typeface="Courier New"/>
                <a:cs typeface="Courier"/>
              </a:rPr>
              <a:t>res.txt</a:t>
            </a:r>
            <a:r>
              <a:rPr lang="en-GB" dirty="0">
                <a:latin typeface="Courier"/>
                <a:cs typeface="Courier"/>
              </a:rPr>
              <a:t> </a:t>
            </a:r>
            <a:endParaRPr lang="en-GB" sz="2000" dirty="0">
              <a:latin typeface="Courier"/>
              <a:cs typeface="Courier"/>
            </a:endParaRPr>
          </a:p>
          <a:p>
            <a:pPr lvl="1"/>
            <a:endParaRPr lang="en-GB" dirty="0">
              <a:latin typeface="Arial" charset="0"/>
            </a:endParaRPr>
          </a:p>
          <a:p>
            <a:endParaRPr lang="en-GB" dirty="0">
              <a:latin typeface="Arial" charset="0"/>
              <a:sym typeface="Wingdings"/>
            </a:endParaRPr>
          </a:p>
          <a:p>
            <a:endParaRPr lang="en-GB" dirty="0">
              <a:latin typeface="Arial" charset="0"/>
              <a:sym typeface="Wingdings"/>
            </a:endParaRPr>
          </a:p>
          <a:p>
            <a:r>
              <a:rPr lang="en-GB" b="1" dirty="0">
                <a:latin typeface="Courier"/>
                <a:ea typeface="Courier New"/>
                <a:cs typeface="Courier"/>
              </a:rPr>
              <a:t>com_1 &lt; </a:t>
            </a:r>
            <a:r>
              <a:rPr lang="en-GB" b="1" dirty="0" err="1">
                <a:latin typeface="Courier"/>
                <a:ea typeface="Courier New"/>
                <a:cs typeface="Courier"/>
              </a:rPr>
              <a:t>data.txt</a:t>
            </a:r>
            <a:r>
              <a:rPr lang="en-GB" b="1" dirty="0">
                <a:latin typeface="Courier"/>
                <a:ea typeface="Courier New"/>
                <a:cs typeface="Courier"/>
              </a:rPr>
              <a:t> | com_2 &gt; </a:t>
            </a:r>
            <a:r>
              <a:rPr lang="en-GB" b="1" dirty="0" err="1">
                <a:latin typeface="Courier"/>
                <a:ea typeface="Courier New"/>
                <a:cs typeface="Courier"/>
              </a:rPr>
              <a:t>res.txt</a:t>
            </a:r>
            <a:endParaRPr lang="en-GB" b="1" dirty="0">
              <a:latin typeface="Courier"/>
              <a:ea typeface="Courier New"/>
              <a:cs typeface="Courier"/>
            </a:endParaRPr>
          </a:p>
          <a:p>
            <a:endParaRPr lang="en-GB" b="1" dirty="0">
              <a:latin typeface="Courier"/>
              <a:ea typeface="Courier New"/>
              <a:cs typeface="Courier"/>
            </a:endParaRPr>
          </a:p>
          <a:p>
            <a:pPr marL="0" indent="0">
              <a:buNone/>
            </a:pPr>
            <a:endParaRPr lang="en-GB" b="1" dirty="0">
              <a:latin typeface="Courier"/>
              <a:ea typeface="Courier New"/>
              <a:cs typeface="Courier"/>
            </a:endParaRPr>
          </a:p>
          <a:p>
            <a:pPr marL="0" indent="0">
              <a:buNone/>
            </a:pPr>
            <a:endParaRPr lang="en-GB" sz="1600" b="1" dirty="0">
              <a:latin typeface="Courier"/>
              <a:ea typeface="Courier New"/>
              <a:cs typeface="Courier"/>
            </a:endParaRPr>
          </a:p>
          <a:p>
            <a:r>
              <a:rPr lang="en-GB" b="1" dirty="0">
                <a:latin typeface="Courier"/>
                <a:ea typeface="Courier New"/>
                <a:cs typeface="Courier"/>
              </a:rPr>
              <a:t>com_1 f1.txt &lt; </a:t>
            </a:r>
            <a:r>
              <a:rPr lang="en-GB" b="1" dirty="0" err="1">
                <a:latin typeface="Courier"/>
                <a:ea typeface="Courier New"/>
                <a:cs typeface="Courier"/>
              </a:rPr>
              <a:t>data.txt</a:t>
            </a:r>
            <a:r>
              <a:rPr lang="en-GB" b="1" dirty="0">
                <a:latin typeface="Courier"/>
                <a:ea typeface="Courier New"/>
                <a:cs typeface="Courier"/>
              </a:rPr>
              <a:t> | com_2 b1 &gt; </a:t>
            </a:r>
            <a:r>
              <a:rPr lang="en-GB" b="1" dirty="0" err="1">
                <a:latin typeface="Courier"/>
                <a:ea typeface="Courier New"/>
                <a:cs typeface="Courier"/>
              </a:rPr>
              <a:t>res.txt</a:t>
            </a:r>
            <a:endParaRPr lang="en-GB" b="1" dirty="0">
              <a:latin typeface="Courier"/>
              <a:ea typeface="Courier New"/>
              <a:cs typeface="Courier"/>
            </a:endParaRPr>
          </a:p>
        </p:txBody>
      </p:sp>
      <p:sp>
        <p:nvSpPr>
          <p:cNvPr id="23" name="Rectangle 2"/>
          <p:cNvSpPr>
            <a:spLocks noGrp="1" noChangeArrowheads="1"/>
          </p:cNvSpPr>
          <p:nvPr>
            <p:ph type="title"/>
          </p:nvPr>
        </p:nvSpPr>
        <p:spPr>
          <a:xfrm>
            <a:off x="304800" y="159296"/>
            <a:ext cx="7772400" cy="533400"/>
          </a:xfrm>
        </p:spPr>
        <p:txBody>
          <a:bodyPr/>
          <a:lstStyle/>
          <a:p>
            <a:r>
              <a:rPr lang="en-US" sz="2800" dirty="0">
                <a:latin typeface="Arial" charset="0"/>
              </a:rPr>
              <a:t>Redirections: Examples</a:t>
            </a:r>
          </a:p>
        </p:txBody>
      </p:sp>
      <p:grpSp>
        <p:nvGrpSpPr>
          <p:cNvPr id="3" name="Group 2"/>
          <p:cNvGrpSpPr/>
          <p:nvPr/>
        </p:nvGrpSpPr>
        <p:grpSpPr>
          <a:xfrm>
            <a:off x="863588" y="1448780"/>
            <a:ext cx="7236804" cy="1089840"/>
            <a:chOff x="863588" y="1448780"/>
            <a:chExt cx="7236804" cy="1089840"/>
          </a:xfrm>
        </p:grpSpPr>
        <p:sp>
          <p:nvSpPr>
            <p:cNvPr id="27" name="CustomShape 6"/>
            <p:cNvSpPr/>
            <p:nvPr/>
          </p:nvSpPr>
          <p:spPr>
            <a:xfrm>
              <a:off x="6732240" y="1520788"/>
              <a:ext cx="1368152" cy="981828"/>
            </a:xfrm>
            <a:prstGeom prst="flowChartDocument">
              <a:avLst/>
            </a:prstGeom>
            <a:solidFill>
              <a:srgbClr val="FFFFFF"/>
            </a:solidFill>
            <a:ln w="6480">
              <a:solidFill>
                <a:srgbClr val="000208"/>
              </a:solidFill>
              <a:miter/>
            </a:ln>
          </p:spPr>
          <p:txBody>
            <a:bodyPr/>
            <a:lstStyle/>
            <a:p>
              <a:r>
                <a:rPr lang="en-US" sz="2000" b="1" dirty="0" err="1">
                  <a:latin typeface="Courier"/>
                  <a:cs typeface="Courier"/>
                </a:rPr>
                <a:t>res.txt</a:t>
              </a:r>
              <a:endParaRPr lang="en-US" sz="2000" b="1" dirty="0">
                <a:latin typeface="Courier"/>
                <a:cs typeface="Courier"/>
              </a:endParaRPr>
            </a:p>
          </p:txBody>
        </p:sp>
        <p:grpSp>
          <p:nvGrpSpPr>
            <p:cNvPr id="54" name="Group 53"/>
            <p:cNvGrpSpPr/>
            <p:nvPr/>
          </p:nvGrpSpPr>
          <p:grpSpPr>
            <a:xfrm>
              <a:off x="863588" y="1448780"/>
              <a:ext cx="5861764" cy="1089840"/>
              <a:chOff x="1187624" y="4941168"/>
              <a:chExt cx="5861764" cy="1089840"/>
            </a:xfrm>
          </p:grpSpPr>
          <p:sp>
            <p:nvSpPr>
              <p:cNvPr id="55" name="CustomShape 6"/>
              <p:cNvSpPr/>
              <p:nvPr/>
            </p:nvSpPr>
            <p:spPr>
              <a:xfrm>
                <a:off x="1187624" y="5049180"/>
                <a:ext cx="1584176" cy="981828"/>
              </a:xfrm>
              <a:prstGeom prst="flowChartDocument">
                <a:avLst/>
              </a:prstGeom>
              <a:solidFill>
                <a:srgbClr val="FFFFFF"/>
              </a:solidFill>
              <a:ln w="6480">
                <a:solidFill>
                  <a:srgbClr val="000208"/>
                </a:solidFill>
                <a:miter/>
              </a:ln>
            </p:spPr>
            <p:txBody>
              <a:bodyPr/>
              <a:lstStyle/>
              <a:p>
                <a:r>
                  <a:rPr lang="en-US" sz="2000" b="1" dirty="0" err="1">
                    <a:latin typeface="Courier"/>
                    <a:cs typeface="Courier"/>
                  </a:rPr>
                  <a:t>data.txt</a:t>
                </a:r>
                <a:endParaRPr lang="en-US" sz="2000" b="1" dirty="0">
                  <a:latin typeface="Courier"/>
                  <a:cs typeface="Courier"/>
                </a:endParaRPr>
              </a:p>
            </p:txBody>
          </p:sp>
          <p:sp>
            <p:nvSpPr>
              <p:cNvPr id="56" name="Line 8"/>
              <p:cNvSpPr/>
              <p:nvPr/>
            </p:nvSpPr>
            <p:spPr>
              <a:xfrm>
                <a:off x="2762488" y="5445224"/>
                <a:ext cx="425160" cy="0"/>
              </a:xfrm>
              <a:prstGeom prst="line">
                <a:avLst/>
              </a:prstGeom>
              <a:ln w="28440">
                <a:solidFill>
                  <a:srgbClr val="000208"/>
                </a:solidFill>
                <a:miter/>
                <a:tailEnd type="triangle" w="med" len="med"/>
              </a:ln>
            </p:spPr>
            <p:txBody>
              <a:bodyPr/>
              <a:lstStyle/>
              <a:p>
                <a:endParaRPr lang="fr-FR"/>
              </a:p>
            </p:txBody>
          </p:sp>
          <p:sp>
            <p:nvSpPr>
              <p:cNvPr id="58" name="CustomShape 11"/>
              <p:cNvSpPr/>
              <p:nvPr/>
            </p:nvSpPr>
            <p:spPr>
              <a:xfrm>
                <a:off x="3167844" y="4941168"/>
                <a:ext cx="3434040" cy="972108"/>
              </a:xfrm>
              <a:prstGeom prst="rect">
                <a:avLst/>
              </a:prstGeom>
              <a:solidFill>
                <a:srgbClr val="EAEAEA"/>
              </a:solidFill>
              <a:ln w="6480">
                <a:solidFill>
                  <a:srgbClr val="000208"/>
                </a:solidFill>
                <a:miter/>
              </a:ln>
            </p:spPr>
            <p:txBody>
              <a:bodyPr wrap="none" lIns="92160" tIns="46080" rIns="92160" bIns="46080" anchor="ctr"/>
              <a:lstStyle/>
              <a:p>
                <a:pPr algn="ctr">
                  <a:lnSpc>
                    <a:spcPct val="100000"/>
                  </a:lnSpc>
                  <a:buSzPct val="25000"/>
                </a:pPr>
                <a:r>
                  <a:rPr lang="fr-FR" sz="2000" b="1" dirty="0">
                    <a:latin typeface="Courier"/>
                    <a:cs typeface="Courier"/>
                  </a:rPr>
                  <a:t>command</a:t>
                </a:r>
                <a:endParaRPr sz="2000" b="1" dirty="0">
                  <a:latin typeface="Courier"/>
                  <a:cs typeface="Courier"/>
                </a:endParaRPr>
              </a:p>
            </p:txBody>
          </p:sp>
          <p:sp>
            <p:nvSpPr>
              <p:cNvPr id="59" name="CustomShape 12"/>
              <p:cNvSpPr/>
              <p:nvPr/>
            </p:nvSpPr>
            <p:spPr>
              <a:xfrm>
                <a:off x="5982444" y="5121188"/>
                <a:ext cx="621268" cy="6690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std</a:t>
                </a:r>
                <a:endParaRPr lang="fr-FR" sz="2000" dirty="0">
                  <a:latin typeface="Courier"/>
                  <a:cs typeface="Courier"/>
                </a:endParaRPr>
              </a:p>
              <a:p>
                <a:pPr algn="ctr">
                  <a:lnSpc>
                    <a:spcPct val="100000"/>
                  </a:lnSpc>
                  <a:buSzPct val="25000"/>
                </a:pPr>
                <a:r>
                  <a:rPr lang="fr-FR" sz="2000" dirty="0">
                    <a:latin typeface="Courier"/>
                    <a:cs typeface="Courier"/>
                  </a:rPr>
                  <a:t>out</a:t>
                </a:r>
                <a:endParaRPr sz="2000" dirty="0">
                  <a:latin typeface="Courier"/>
                  <a:cs typeface="Courier"/>
                </a:endParaRPr>
              </a:p>
            </p:txBody>
          </p:sp>
          <p:sp>
            <p:nvSpPr>
              <p:cNvPr id="60" name="CustomShape 17"/>
              <p:cNvSpPr/>
              <p:nvPr/>
            </p:nvSpPr>
            <p:spPr>
              <a:xfrm>
                <a:off x="3167844" y="5085184"/>
                <a:ext cx="612928" cy="663604"/>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a:t>
                </a:r>
                <a:r>
                  <a:rPr lang="fr-FR" sz="2000" dirty="0" err="1">
                    <a:solidFill>
                      <a:srgbClr val="010507"/>
                    </a:solidFill>
                    <a:latin typeface="Courier"/>
                    <a:cs typeface="Courier"/>
                  </a:rPr>
                  <a:t>td</a:t>
                </a:r>
                <a:endParaRPr lang="fr-FR" sz="2000" dirty="0">
                  <a:solidFill>
                    <a:srgbClr val="010507"/>
                  </a:solidFill>
                  <a:latin typeface="Courier"/>
                  <a:cs typeface="Courier"/>
                </a:endParaRPr>
              </a:p>
              <a:p>
                <a:pPr algn="ctr">
                  <a:lnSpc>
                    <a:spcPct val="100000"/>
                  </a:lnSpc>
                  <a:buSzPct val="25000"/>
                </a:pPr>
                <a:r>
                  <a:rPr lang="fr-FR" sz="2000" dirty="0">
                    <a:solidFill>
                      <a:srgbClr val="010507"/>
                    </a:solidFill>
                    <a:latin typeface="Courier"/>
                    <a:cs typeface="Courier"/>
                  </a:rPr>
                  <a:t>in</a:t>
                </a:r>
                <a:endParaRPr sz="2000" dirty="0">
                  <a:latin typeface="Courier"/>
                  <a:cs typeface="Courier"/>
                </a:endParaRPr>
              </a:p>
            </p:txBody>
          </p:sp>
          <p:sp>
            <p:nvSpPr>
              <p:cNvPr id="61" name="Line 8"/>
              <p:cNvSpPr/>
              <p:nvPr/>
            </p:nvSpPr>
            <p:spPr>
              <a:xfrm>
                <a:off x="6624228" y="5445224"/>
                <a:ext cx="425160" cy="0"/>
              </a:xfrm>
              <a:prstGeom prst="line">
                <a:avLst/>
              </a:prstGeom>
              <a:ln w="28440">
                <a:solidFill>
                  <a:srgbClr val="000208"/>
                </a:solidFill>
                <a:miter/>
                <a:tailEnd type="triangle" w="med" len="med"/>
              </a:ln>
            </p:spPr>
            <p:txBody>
              <a:bodyPr/>
              <a:lstStyle/>
              <a:p>
                <a:endParaRPr lang="fr-FR"/>
              </a:p>
            </p:txBody>
          </p:sp>
        </p:grpSp>
      </p:grpSp>
      <p:grpSp>
        <p:nvGrpSpPr>
          <p:cNvPr id="4" name="Group 3"/>
          <p:cNvGrpSpPr/>
          <p:nvPr/>
        </p:nvGrpSpPr>
        <p:grpSpPr>
          <a:xfrm>
            <a:off x="143508" y="3140968"/>
            <a:ext cx="8820980" cy="1089840"/>
            <a:chOff x="143508" y="3320988"/>
            <a:chExt cx="8820980" cy="1089840"/>
          </a:xfrm>
        </p:grpSpPr>
        <p:sp>
          <p:nvSpPr>
            <p:cNvPr id="63" name="CustomShape 6"/>
            <p:cNvSpPr/>
            <p:nvPr/>
          </p:nvSpPr>
          <p:spPr>
            <a:xfrm>
              <a:off x="7596336" y="3392996"/>
              <a:ext cx="1368152" cy="981828"/>
            </a:xfrm>
            <a:prstGeom prst="flowChartDocument">
              <a:avLst/>
            </a:prstGeom>
            <a:solidFill>
              <a:srgbClr val="FFFFFF"/>
            </a:solidFill>
            <a:ln w="6480">
              <a:solidFill>
                <a:srgbClr val="000208"/>
              </a:solidFill>
              <a:miter/>
            </a:ln>
          </p:spPr>
          <p:txBody>
            <a:bodyPr/>
            <a:lstStyle/>
            <a:p>
              <a:r>
                <a:rPr lang="en-US" sz="2000" b="1" dirty="0" err="1">
                  <a:latin typeface="Courier"/>
                  <a:cs typeface="Courier"/>
                </a:rPr>
                <a:t>res.txt</a:t>
              </a:r>
              <a:endParaRPr lang="en-US" sz="2000" b="1" dirty="0">
                <a:latin typeface="Courier"/>
                <a:cs typeface="Courier"/>
              </a:endParaRPr>
            </a:p>
          </p:txBody>
        </p:sp>
        <p:sp>
          <p:nvSpPr>
            <p:cNvPr id="65" name="CustomShape 6"/>
            <p:cNvSpPr/>
            <p:nvPr/>
          </p:nvSpPr>
          <p:spPr>
            <a:xfrm>
              <a:off x="143508" y="3429000"/>
              <a:ext cx="1584176" cy="981828"/>
            </a:xfrm>
            <a:prstGeom prst="flowChartDocument">
              <a:avLst/>
            </a:prstGeom>
            <a:solidFill>
              <a:srgbClr val="FFFFFF"/>
            </a:solidFill>
            <a:ln w="6480">
              <a:solidFill>
                <a:srgbClr val="000208"/>
              </a:solidFill>
              <a:miter/>
            </a:ln>
          </p:spPr>
          <p:txBody>
            <a:bodyPr/>
            <a:lstStyle/>
            <a:p>
              <a:r>
                <a:rPr lang="en-US" sz="2000" b="1" dirty="0" err="1">
                  <a:latin typeface="Courier"/>
                  <a:cs typeface="Courier"/>
                </a:rPr>
                <a:t>data.txt</a:t>
              </a:r>
              <a:endParaRPr lang="en-US" sz="2000" b="1" dirty="0">
                <a:latin typeface="Courier"/>
                <a:cs typeface="Courier"/>
              </a:endParaRPr>
            </a:p>
          </p:txBody>
        </p:sp>
        <p:sp>
          <p:nvSpPr>
            <p:cNvPr id="66" name="Line 8"/>
            <p:cNvSpPr/>
            <p:nvPr/>
          </p:nvSpPr>
          <p:spPr>
            <a:xfrm>
              <a:off x="1718372" y="3825044"/>
              <a:ext cx="425160" cy="0"/>
            </a:xfrm>
            <a:prstGeom prst="line">
              <a:avLst/>
            </a:prstGeom>
            <a:ln w="28440">
              <a:solidFill>
                <a:srgbClr val="000208"/>
              </a:solidFill>
              <a:miter/>
              <a:tailEnd type="triangle" w="med" len="med"/>
            </a:ln>
          </p:spPr>
          <p:txBody>
            <a:bodyPr/>
            <a:lstStyle/>
            <a:p>
              <a:endParaRPr lang="fr-FR"/>
            </a:p>
          </p:txBody>
        </p:sp>
        <p:sp>
          <p:nvSpPr>
            <p:cNvPr id="67" name="CustomShape 11"/>
            <p:cNvSpPr/>
            <p:nvPr/>
          </p:nvSpPr>
          <p:spPr>
            <a:xfrm>
              <a:off x="2123728" y="3320988"/>
              <a:ext cx="2304256" cy="972108"/>
            </a:xfrm>
            <a:prstGeom prst="rect">
              <a:avLst/>
            </a:prstGeom>
            <a:solidFill>
              <a:srgbClr val="EAEAEA"/>
            </a:solidFill>
            <a:ln w="6480">
              <a:solidFill>
                <a:srgbClr val="000208"/>
              </a:solidFill>
              <a:miter/>
            </a:ln>
          </p:spPr>
          <p:txBody>
            <a:bodyPr wrap="none" lIns="92160" tIns="46080" rIns="92160" bIns="46080" anchor="ctr"/>
            <a:lstStyle/>
            <a:p>
              <a:pPr algn="ctr">
                <a:lnSpc>
                  <a:spcPct val="100000"/>
                </a:lnSpc>
                <a:buSzPct val="25000"/>
              </a:pPr>
              <a:r>
                <a:rPr lang="fr-FR" sz="2000" b="1" dirty="0">
                  <a:latin typeface="Courier"/>
                  <a:cs typeface="Courier"/>
                </a:rPr>
                <a:t>com_1</a:t>
              </a:r>
              <a:endParaRPr sz="2000" b="1" dirty="0">
                <a:latin typeface="Courier"/>
                <a:cs typeface="Courier"/>
              </a:endParaRPr>
            </a:p>
          </p:txBody>
        </p:sp>
        <p:sp>
          <p:nvSpPr>
            <p:cNvPr id="68" name="CustomShape 12"/>
            <p:cNvSpPr/>
            <p:nvPr/>
          </p:nvSpPr>
          <p:spPr>
            <a:xfrm>
              <a:off x="3806716" y="3501008"/>
              <a:ext cx="621268" cy="6690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std</a:t>
              </a:r>
              <a:endParaRPr lang="fr-FR" sz="2000" dirty="0">
                <a:latin typeface="Courier"/>
                <a:cs typeface="Courier"/>
              </a:endParaRPr>
            </a:p>
            <a:p>
              <a:pPr algn="ctr">
                <a:lnSpc>
                  <a:spcPct val="100000"/>
                </a:lnSpc>
                <a:buSzPct val="25000"/>
              </a:pPr>
              <a:r>
                <a:rPr lang="fr-FR" sz="2000" dirty="0">
                  <a:latin typeface="Courier"/>
                  <a:cs typeface="Courier"/>
                </a:rPr>
                <a:t>out</a:t>
              </a:r>
              <a:endParaRPr sz="2000" dirty="0">
                <a:latin typeface="Courier"/>
                <a:cs typeface="Courier"/>
              </a:endParaRPr>
            </a:p>
          </p:txBody>
        </p:sp>
        <p:sp>
          <p:nvSpPr>
            <p:cNvPr id="69" name="CustomShape 17"/>
            <p:cNvSpPr/>
            <p:nvPr/>
          </p:nvSpPr>
          <p:spPr>
            <a:xfrm>
              <a:off x="2123728" y="3465004"/>
              <a:ext cx="612928" cy="663604"/>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a:t>
              </a:r>
              <a:r>
                <a:rPr lang="fr-FR" sz="2000" dirty="0" err="1">
                  <a:solidFill>
                    <a:srgbClr val="010507"/>
                  </a:solidFill>
                  <a:latin typeface="Courier"/>
                  <a:cs typeface="Courier"/>
                </a:rPr>
                <a:t>td</a:t>
              </a:r>
              <a:endParaRPr lang="fr-FR" sz="2000" dirty="0">
                <a:solidFill>
                  <a:srgbClr val="010507"/>
                </a:solidFill>
                <a:latin typeface="Courier"/>
                <a:cs typeface="Courier"/>
              </a:endParaRPr>
            </a:p>
            <a:p>
              <a:pPr algn="ctr">
                <a:lnSpc>
                  <a:spcPct val="100000"/>
                </a:lnSpc>
                <a:buSzPct val="25000"/>
              </a:pPr>
              <a:r>
                <a:rPr lang="fr-FR" sz="2000" dirty="0">
                  <a:solidFill>
                    <a:srgbClr val="010507"/>
                  </a:solidFill>
                  <a:latin typeface="Courier"/>
                  <a:cs typeface="Courier"/>
                </a:rPr>
                <a:t>in</a:t>
              </a:r>
              <a:endParaRPr sz="2000" dirty="0">
                <a:latin typeface="Courier"/>
                <a:cs typeface="Courier"/>
              </a:endParaRPr>
            </a:p>
          </p:txBody>
        </p:sp>
        <p:sp>
          <p:nvSpPr>
            <p:cNvPr id="70" name="Line 8"/>
            <p:cNvSpPr/>
            <p:nvPr/>
          </p:nvSpPr>
          <p:spPr>
            <a:xfrm>
              <a:off x="7164288" y="3825044"/>
              <a:ext cx="425160" cy="0"/>
            </a:xfrm>
            <a:prstGeom prst="line">
              <a:avLst/>
            </a:prstGeom>
            <a:ln w="28440">
              <a:solidFill>
                <a:srgbClr val="000208"/>
              </a:solidFill>
              <a:miter/>
              <a:tailEnd type="triangle" w="med" len="med"/>
            </a:ln>
          </p:spPr>
          <p:txBody>
            <a:bodyPr/>
            <a:lstStyle/>
            <a:p>
              <a:endParaRPr lang="fr-FR"/>
            </a:p>
          </p:txBody>
        </p:sp>
        <p:sp>
          <p:nvSpPr>
            <p:cNvPr id="71" name="CustomShape 11"/>
            <p:cNvSpPr/>
            <p:nvPr/>
          </p:nvSpPr>
          <p:spPr>
            <a:xfrm>
              <a:off x="4896036" y="3320988"/>
              <a:ext cx="2304256" cy="972108"/>
            </a:xfrm>
            <a:prstGeom prst="rect">
              <a:avLst/>
            </a:prstGeom>
            <a:solidFill>
              <a:srgbClr val="EAEAEA"/>
            </a:solidFill>
            <a:ln w="6480">
              <a:solidFill>
                <a:srgbClr val="000208"/>
              </a:solidFill>
              <a:miter/>
            </a:ln>
          </p:spPr>
          <p:txBody>
            <a:bodyPr wrap="none" lIns="92160" tIns="46080" rIns="92160" bIns="46080" anchor="ctr"/>
            <a:lstStyle/>
            <a:p>
              <a:pPr algn="ctr">
                <a:lnSpc>
                  <a:spcPct val="100000"/>
                </a:lnSpc>
                <a:buSzPct val="25000"/>
              </a:pPr>
              <a:r>
                <a:rPr lang="fr-FR" sz="2000" b="1" dirty="0">
                  <a:latin typeface="Courier"/>
                  <a:cs typeface="Courier"/>
                </a:rPr>
                <a:t>com_2</a:t>
              </a:r>
              <a:endParaRPr sz="2000" b="1" dirty="0">
                <a:latin typeface="Courier"/>
                <a:cs typeface="Courier"/>
              </a:endParaRPr>
            </a:p>
          </p:txBody>
        </p:sp>
        <p:sp>
          <p:nvSpPr>
            <p:cNvPr id="72" name="Line 8"/>
            <p:cNvSpPr/>
            <p:nvPr/>
          </p:nvSpPr>
          <p:spPr>
            <a:xfrm>
              <a:off x="4463988" y="3825044"/>
              <a:ext cx="425160" cy="0"/>
            </a:xfrm>
            <a:prstGeom prst="line">
              <a:avLst/>
            </a:prstGeom>
            <a:ln w="28440">
              <a:solidFill>
                <a:srgbClr val="000208"/>
              </a:solidFill>
              <a:miter/>
              <a:tailEnd type="triangle" w="med" len="med"/>
            </a:ln>
          </p:spPr>
          <p:txBody>
            <a:bodyPr/>
            <a:lstStyle/>
            <a:p>
              <a:endParaRPr lang="fr-FR"/>
            </a:p>
          </p:txBody>
        </p:sp>
        <p:sp>
          <p:nvSpPr>
            <p:cNvPr id="73" name="CustomShape 12"/>
            <p:cNvSpPr/>
            <p:nvPr/>
          </p:nvSpPr>
          <p:spPr>
            <a:xfrm>
              <a:off x="6572736" y="3506032"/>
              <a:ext cx="621268" cy="669000"/>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std</a:t>
              </a:r>
              <a:endParaRPr lang="fr-FR" sz="2000" dirty="0">
                <a:latin typeface="Courier"/>
                <a:cs typeface="Courier"/>
              </a:endParaRPr>
            </a:p>
            <a:p>
              <a:pPr algn="ctr">
                <a:lnSpc>
                  <a:spcPct val="100000"/>
                </a:lnSpc>
                <a:buSzPct val="25000"/>
              </a:pPr>
              <a:r>
                <a:rPr lang="fr-FR" sz="2000" dirty="0">
                  <a:latin typeface="Courier"/>
                  <a:cs typeface="Courier"/>
                </a:rPr>
                <a:t>out</a:t>
              </a:r>
              <a:endParaRPr sz="2000" dirty="0">
                <a:latin typeface="Courier"/>
                <a:cs typeface="Courier"/>
              </a:endParaRPr>
            </a:p>
          </p:txBody>
        </p:sp>
        <p:sp>
          <p:nvSpPr>
            <p:cNvPr id="74" name="CustomShape 17"/>
            <p:cNvSpPr/>
            <p:nvPr/>
          </p:nvSpPr>
          <p:spPr>
            <a:xfrm>
              <a:off x="4889748" y="3501008"/>
              <a:ext cx="612928" cy="663604"/>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err="1">
                  <a:latin typeface="Courier"/>
                  <a:cs typeface="Courier"/>
                </a:rPr>
                <a:t>s</a:t>
              </a:r>
              <a:r>
                <a:rPr lang="fr-FR" sz="2000" dirty="0" err="1">
                  <a:solidFill>
                    <a:srgbClr val="010507"/>
                  </a:solidFill>
                  <a:latin typeface="Courier"/>
                  <a:cs typeface="Courier"/>
                </a:rPr>
                <a:t>td</a:t>
              </a:r>
              <a:endParaRPr lang="fr-FR" sz="2000" dirty="0">
                <a:solidFill>
                  <a:srgbClr val="010507"/>
                </a:solidFill>
                <a:latin typeface="Courier"/>
                <a:cs typeface="Courier"/>
              </a:endParaRPr>
            </a:p>
            <a:p>
              <a:pPr algn="ctr">
                <a:lnSpc>
                  <a:spcPct val="100000"/>
                </a:lnSpc>
                <a:buSzPct val="25000"/>
              </a:pPr>
              <a:r>
                <a:rPr lang="fr-FR" sz="2000" dirty="0">
                  <a:solidFill>
                    <a:srgbClr val="010507"/>
                  </a:solidFill>
                  <a:latin typeface="Courier"/>
                  <a:cs typeface="Courier"/>
                </a:rPr>
                <a:t>in</a:t>
              </a:r>
              <a:endParaRPr sz="2000" dirty="0">
                <a:latin typeface="Courier"/>
                <a:cs typeface="Courier"/>
              </a:endParaRPr>
            </a:p>
          </p:txBody>
        </p:sp>
      </p:grpSp>
      <p:sp>
        <p:nvSpPr>
          <p:cNvPr id="88" name="CustomShape 14"/>
          <p:cNvSpPr/>
          <p:nvPr/>
        </p:nvSpPr>
        <p:spPr>
          <a:xfrm>
            <a:off x="3203848" y="5363496"/>
            <a:ext cx="649316" cy="379428"/>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a:solidFill>
                  <a:srgbClr val="010507"/>
                </a:solidFill>
                <a:latin typeface="Courier"/>
                <a:cs typeface="Courier"/>
              </a:rPr>
              <a:t>arg1</a:t>
            </a:r>
            <a:endParaRPr sz="2000" dirty="0">
              <a:latin typeface="Courier"/>
              <a:cs typeface="Courier"/>
            </a:endParaRPr>
          </a:p>
        </p:txBody>
      </p:sp>
      <p:sp>
        <p:nvSpPr>
          <p:cNvPr id="93" name="CustomShape 14"/>
          <p:cNvSpPr/>
          <p:nvPr/>
        </p:nvSpPr>
        <p:spPr>
          <a:xfrm>
            <a:off x="5914608" y="5373216"/>
            <a:ext cx="649316" cy="379428"/>
          </a:xfrm>
          <a:prstGeom prst="rect">
            <a:avLst/>
          </a:prstGeom>
          <a:solidFill>
            <a:srgbClr val="FFFFFF"/>
          </a:solidFill>
          <a:ln w="6480">
            <a:solidFill>
              <a:srgbClr val="000208"/>
            </a:solidFill>
            <a:miter/>
          </a:ln>
        </p:spPr>
        <p:txBody>
          <a:bodyPr wrap="none" lIns="92160" tIns="46080" rIns="92160" bIns="46080" anchor="ctr"/>
          <a:lstStyle/>
          <a:p>
            <a:pPr algn="ctr">
              <a:lnSpc>
                <a:spcPct val="100000"/>
              </a:lnSpc>
              <a:buSzPct val="25000"/>
            </a:pPr>
            <a:r>
              <a:rPr lang="fr-FR" sz="2000" dirty="0">
                <a:solidFill>
                  <a:srgbClr val="010507"/>
                </a:solidFill>
                <a:latin typeface="Courier"/>
                <a:cs typeface="Courier"/>
              </a:rPr>
              <a:t>arg1</a:t>
            </a:r>
            <a:endParaRPr sz="2000" dirty="0">
              <a:latin typeface="Courier"/>
              <a:cs typeface="Courier"/>
            </a:endParaRPr>
          </a:p>
        </p:txBody>
      </p:sp>
    </p:spTree>
    <p:extLst>
      <p:ext uri="{BB962C8B-B14F-4D97-AF65-F5344CB8AC3E}">
        <p14:creationId xmlns:p14="http://schemas.microsoft.com/office/powerpoint/2010/main" val="349578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9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31</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Redirections: Examples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2"/>
          <p:cNvSpPr txBox="1">
            <a:spLocks noChangeArrowheads="1"/>
          </p:cNvSpPr>
          <p:nvPr/>
        </p:nvSpPr>
        <p:spPr bwMode="auto">
          <a:xfrm>
            <a:off x="2416224" y="2852936"/>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en-US" sz="4000" dirty="0" err="1">
                <a:latin typeface="Arial" charset="0"/>
              </a:rPr>
              <a:t>Kahoot</a:t>
            </a:r>
            <a:r>
              <a:rPr lang="en-US" sz="4000" dirty="0">
                <a:latin typeface="Arial" charset="0"/>
              </a:rPr>
              <a:t> time !</a:t>
            </a:r>
          </a:p>
          <a:p>
            <a:r>
              <a:rPr lang="en-US" sz="4000" dirty="0">
                <a:latin typeface="Arial" charset="0"/>
              </a:rPr>
              <a:t>	(3 Q)</a:t>
            </a:r>
          </a:p>
        </p:txBody>
      </p:sp>
    </p:spTree>
    <p:extLst>
      <p:ext uri="{BB962C8B-B14F-4D97-AF65-F5344CB8AC3E}">
        <p14:creationId xmlns:p14="http://schemas.microsoft.com/office/powerpoint/2010/main" val="2820409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32</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Command implementation</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7"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err="1">
                <a:latin typeface="Arial" charset="0"/>
              </a:rPr>
              <a:t>Builtin</a:t>
            </a:r>
            <a:endParaRPr lang="en-GB" dirty="0">
              <a:latin typeface="Arial" charset="0"/>
            </a:endParaRPr>
          </a:p>
          <a:p>
            <a:pPr lvl="1"/>
            <a:r>
              <a:rPr lang="en-GB" dirty="0">
                <a:latin typeface="Arial" charset="0"/>
              </a:rPr>
              <a:t>Implemented in the code of the shell</a:t>
            </a:r>
          </a:p>
          <a:p>
            <a:pPr lvl="1"/>
            <a:r>
              <a:rPr lang="en-GB" dirty="0">
                <a:latin typeface="Arial" charset="0"/>
              </a:rPr>
              <a:t>They affect the internal state of the shell (ex. </a:t>
            </a:r>
            <a:r>
              <a:rPr lang="en-GB" b="1" dirty="0">
                <a:latin typeface="Courier"/>
                <a:cs typeface="Courier"/>
              </a:rPr>
              <a:t>cd</a:t>
            </a:r>
            <a:r>
              <a:rPr lang="en-GB" dirty="0">
                <a:latin typeface="Arial" charset="0"/>
              </a:rPr>
              <a:t>)</a:t>
            </a:r>
          </a:p>
          <a:p>
            <a:pPr lvl="1"/>
            <a:endParaRPr lang="en-GB" dirty="0">
              <a:latin typeface="Arial" charset="0"/>
            </a:endParaRPr>
          </a:p>
          <a:p>
            <a:r>
              <a:rPr lang="en-GB" dirty="0">
                <a:solidFill>
                  <a:srgbClr val="000000"/>
                </a:solidFill>
                <a:latin typeface="Arial" charset="0"/>
              </a:rPr>
              <a:t>External</a:t>
            </a:r>
          </a:p>
          <a:p>
            <a:pPr lvl="1"/>
            <a:r>
              <a:rPr lang="en-GB" dirty="0">
                <a:solidFill>
                  <a:srgbClr val="000000"/>
                </a:solidFill>
                <a:latin typeface="Arial" charset="0"/>
              </a:rPr>
              <a:t>Implemented as a separate code</a:t>
            </a:r>
          </a:p>
          <a:p>
            <a:pPr lvl="1"/>
            <a:r>
              <a:rPr lang="en-GB" dirty="0">
                <a:solidFill>
                  <a:srgbClr val="000000"/>
                </a:solidFill>
                <a:latin typeface="Arial" charset="0"/>
              </a:rPr>
              <a:t>Shell interprets the command as a request to load and run the </a:t>
            </a:r>
            <a:r>
              <a:rPr lang="en-GB" dirty="0">
                <a:latin typeface="Arial" charset="0"/>
              </a:rPr>
              <a:t>program that implements the command</a:t>
            </a:r>
          </a:p>
          <a:p>
            <a:pPr lvl="1"/>
            <a:r>
              <a:rPr lang="en-GB" dirty="0">
                <a:latin typeface="Arial" charset="0"/>
              </a:rPr>
              <a:t>Stored in </a:t>
            </a:r>
            <a:r>
              <a:rPr lang="en-GB" dirty="0">
                <a:solidFill>
                  <a:srgbClr val="0000FF"/>
                </a:solidFill>
                <a:latin typeface="Arial" charset="0"/>
              </a:rPr>
              <a:t>/bin</a:t>
            </a:r>
          </a:p>
        </p:txBody>
      </p:sp>
    </p:spTree>
    <p:extLst>
      <p:ext uri="{BB962C8B-B14F-4D97-AF65-F5344CB8AC3E}">
        <p14:creationId xmlns:p14="http://schemas.microsoft.com/office/powerpoint/2010/main" val="90873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33</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err="1">
                <a:latin typeface="Arial" charset="0"/>
              </a:rPr>
              <a:t>Builtin</a:t>
            </a:r>
            <a:r>
              <a:rPr lang="en-US" sz="2800" dirty="0">
                <a:latin typeface="Arial" charset="0"/>
              </a:rPr>
              <a:t> Commands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graphicFrame>
        <p:nvGraphicFramePr>
          <p:cNvPr id="2" name="Table 1"/>
          <p:cNvGraphicFramePr>
            <a:graphicFrameLocks noGrp="1"/>
          </p:cNvGraphicFramePr>
          <p:nvPr>
            <p:extLst>
              <p:ext uri="{D42A27DB-BD31-4B8C-83A1-F6EECF244321}">
                <p14:modId xmlns:p14="http://schemas.microsoft.com/office/powerpoint/2010/main" val="359506854"/>
              </p:ext>
            </p:extLst>
          </p:nvPr>
        </p:nvGraphicFramePr>
        <p:xfrm>
          <a:off x="252029" y="1124746"/>
          <a:ext cx="8820471" cy="4068450"/>
        </p:xfrm>
        <a:graphic>
          <a:graphicData uri="http://schemas.openxmlformats.org/drawingml/2006/table">
            <a:tbl>
              <a:tblPr firstRow="1" bandRow="1">
                <a:tableStyleId>{5940675A-B579-460E-94D1-54222C63F5DA}</a:tableStyleId>
              </a:tblPr>
              <a:tblGrid>
                <a:gridCol w="1488688">
                  <a:extLst>
                    <a:ext uri="{9D8B030D-6E8A-4147-A177-3AD203B41FA5}">
                      <a16:colId xmlns:a16="http://schemas.microsoft.com/office/drawing/2014/main" val="20000"/>
                    </a:ext>
                  </a:extLst>
                </a:gridCol>
                <a:gridCol w="4235439">
                  <a:extLst>
                    <a:ext uri="{9D8B030D-6E8A-4147-A177-3AD203B41FA5}">
                      <a16:colId xmlns:a16="http://schemas.microsoft.com/office/drawing/2014/main" val="20001"/>
                    </a:ext>
                  </a:extLst>
                </a:gridCol>
                <a:gridCol w="3096344">
                  <a:extLst>
                    <a:ext uri="{9D8B030D-6E8A-4147-A177-3AD203B41FA5}">
                      <a16:colId xmlns:a16="http://schemas.microsoft.com/office/drawing/2014/main" val="20002"/>
                    </a:ext>
                  </a:extLst>
                </a:gridCol>
              </a:tblGrid>
              <a:tr h="406845">
                <a:tc>
                  <a:txBody>
                    <a:bodyPr/>
                    <a:lstStyle/>
                    <a:p>
                      <a:r>
                        <a:rPr lang="en-US" b="1" dirty="0">
                          <a:solidFill>
                            <a:srgbClr val="000000"/>
                          </a:solidFill>
                        </a:rPr>
                        <a:t>Command</a:t>
                      </a:r>
                    </a:p>
                  </a:txBody>
                  <a:tcPr>
                    <a:solidFill>
                      <a:schemeClr val="bg1">
                        <a:lumMod val="75000"/>
                      </a:schemeClr>
                    </a:solidFill>
                  </a:tcPr>
                </a:tc>
                <a:tc>
                  <a:txBody>
                    <a:bodyPr/>
                    <a:lstStyle/>
                    <a:p>
                      <a:r>
                        <a:rPr lang="en-US" b="1" dirty="0">
                          <a:solidFill>
                            <a:srgbClr val="000000"/>
                          </a:solidFill>
                        </a:rPr>
                        <a:t>Description</a:t>
                      </a:r>
                    </a:p>
                  </a:txBody>
                  <a:tcPr>
                    <a:solidFill>
                      <a:schemeClr val="bg1">
                        <a:lumMod val="75000"/>
                      </a:schemeClr>
                    </a:solidFill>
                  </a:tcPr>
                </a:tc>
                <a:tc>
                  <a:txBody>
                    <a:bodyPr/>
                    <a:lstStyle/>
                    <a:p>
                      <a:r>
                        <a:rPr lang="en-US" b="1" dirty="0">
                          <a:solidFill>
                            <a:srgbClr val="000000"/>
                          </a:solidFill>
                        </a:rPr>
                        <a:t>Example</a:t>
                      </a:r>
                    </a:p>
                  </a:txBody>
                  <a:tcPr>
                    <a:solidFill>
                      <a:schemeClr val="bg1">
                        <a:lumMod val="75000"/>
                      </a:schemeClr>
                    </a:solidFill>
                  </a:tcPr>
                </a:tc>
                <a:extLst>
                  <a:ext uri="{0D108BD9-81ED-4DB2-BD59-A6C34878D82A}">
                    <a16:rowId xmlns:a16="http://schemas.microsoft.com/office/drawing/2014/main" val="10000"/>
                  </a:ext>
                </a:extLst>
              </a:tr>
              <a:tr h="406845">
                <a:tc>
                  <a:txBody>
                    <a:bodyPr/>
                    <a:lstStyle/>
                    <a:p>
                      <a:r>
                        <a:rPr lang="en-US" b="1" dirty="0">
                          <a:solidFill>
                            <a:srgbClr val="000000"/>
                          </a:solidFill>
                          <a:latin typeface="Courier"/>
                          <a:cs typeface="Courier"/>
                        </a:rPr>
                        <a:t>cd</a:t>
                      </a:r>
                    </a:p>
                  </a:txBody>
                  <a:tcPr/>
                </a:tc>
                <a:tc>
                  <a:txBody>
                    <a:bodyPr/>
                    <a:lstStyle/>
                    <a:p>
                      <a:r>
                        <a:rPr lang="en-US" dirty="0">
                          <a:solidFill>
                            <a:srgbClr val="000000"/>
                          </a:solidFill>
                        </a:rPr>
                        <a:t>Change directory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ourier"/>
                          <a:cs typeface="Courier"/>
                        </a:rPr>
                        <a:t>cd</a:t>
                      </a:r>
                      <a:r>
                        <a:rPr lang="en-US" b="1" baseline="0" dirty="0">
                          <a:solidFill>
                            <a:srgbClr val="000000"/>
                          </a:solidFill>
                          <a:latin typeface="Courier"/>
                          <a:cs typeface="Courier"/>
                        </a:rPr>
                        <a:t> ..</a:t>
                      </a:r>
                      <a:endParaRPr lang="en-US" b="1" dirty="0">
                        <a:solidFill>
                          <a:srgbClr val="000000"/>
                        </a:solidFill>
                        <a:latin typeface="Courier"/>
                        <a:cs typeface="Courier"/>
                      </a:endParaRPr>
                    </a:p>
                  </a:txBody>
                  <a:tcPr/>
                </a:tc>
                <a:extLst>
                  <a:ext uri="{0D108BD9-81ED-4DB2-BD59-A6C34878D82A}">
                    <a16:rowId xmlns:a16="http://schemas.microsoft.com/office/drawing/2014/main" val="10001"/>
                  </a:ext>
                </a:extLst>
              </a:tr>
              <a:tr h="406845">
                <a:tc>
                  <a:txBody>
                    <a:bodyPr/>
                    <a:lstStyle/>
                    <a:p>
                      <a:r>
                        <a:rPr lang="en-US" b="1" dirty="0">
                          <a:solidFill>
                            <a:srgbClr val="000000"/>
                          </a:solidFill>
                          <a:latin typeface="Courier"/>
                          <a:cs typeface="Courier"/>
                        </a:rPr>
                        <a:t>declare</a:t>
                      </a:r>
                    </a:p>
                  </a:txBody>
                  <a:tcPr/>
                </a:tc>
                <a:tc>
                  <a:txBody>
                    <a:bodyPr/>
                    <a:lstStyle/>
                    <a:p>
                      <a:r>
                        <a:rPr lang="en-US" dirty="0">
                          <a:solidFill>
                            <a:srgbClr val="000000"/>
                          </a:solidFill>
                        </a:rPr>
                        <a:t>Define variable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ourier"/>
                          <a:cs typeface="Courier"/>
                        </a:rPr>
                        <a:t>declare </a:t>
                      </a:r>
                      <a:r>
                        <a:rPr lang="en-US" b="1" dirty="0" err="1">
                          <a:solidFill>
                            <a:srgbClr val="000000"/>
                          </a:solidFill>
                          <a:latin typeface="Courier"/>
                          <a:cs typeface="Courier"/>
                        </a:rPr>
                        <a:t>myvar</a:t>
                      </a:r>
                      <a:endParaRPr lang="en-US" b="1" dirty="0">
                        <a:solidFill>
                          <a:srgbClr val="000000"/>
                        </a:solidFill>
                        <a:latin typeface="Courier"/>
                        <a:cs typeface="Courier"/>
                      </a:endParaRPr>
                    </a:p>
                  </a:txBody>
                  <a:tcPr/>
                </a:tc>
                <a:extLst>
                  <a:ext uri="{0D108BD9-81ED-4DB2-BD59-A6C34878D82A}">
                    <a16:rowId xmlns:a16="http://schemas.microsoft.com/office/drawing/2014/main" val="10002"/>
                  </a:ext>
                </a:extLst>
              </a:tr>
              <a:tr h="406845">
                <a:tc>
                  <a:txBody>
                    <a:bodyPr/>
                    <a:lstStyle/>
                    <a:p>
                      <a:r>
                        <a:rPr lang="en-US" b="1" dirty="0">
                          <a:solidFill>
                            <a:srgbClr val="000000"/>
                          </a:solidFill>
                          <a:latin typeface="Courier"/>
                          <a:cs typeface="Courier"/>
                        </a:rPr>
                        <a:t>echo</a:t>
                      </a:r>
                    </a:p>
                  </a:txBody>
                  <a:tcPr/>
                </a:tc>
                <a:tc>
                  <a:txBody>
                    <a:bodyPr/>
                    <a:lstStyle/>
                    <a:p>
                      <a:r>
                        <a:rPr lang="en-US" dirty="0">
                          <a:solidFill>
                            <a:srgbClr val="000000"/>
                          </a:solidFill>
                        </a:rPr>
                        <a:t>Print </a:t>
                      </a:r>
                      <a:r>
                        <a:rPr lang="en-US" baseline="0" dirty="0">
                          <a:solidFill>
                            <a:srgbClr val="000000"/>
                          </a:solidFill>
                        </a:rPr>
                        <a:t>to standard output (</a:t>
                      </a:r>
                      <a:r>
                        <a:rPr lang="en-US" baseline="0" dirty="0" err="1">
                          <a:solidFill>
                            <a:srgbClr val="000000"/>
                          </a:solidFill>
                        </a:rPr>
                        <a:t>stdout</a:t>
                      </a:r>
                      <a:r>
                        <a:rPr lang="en-US" baseline="0" dirty="0">
                          <a:solidFill>
                            <a:srgbClr val="000000"/>
                          </a:solidFill>
                        </a:rPr>
                        <a:t>)</a:t>
                      </a:r>
                      <a:endParaRPr lang="en-US" dirty="0">
                        <a:solidFill>
                          <a:srgbClr val="0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ourier"/>
                          <a:cs typeface="Courier"/>
                        </a:rPr>
                        <a:t>echo hello</a:t>
                      </a:r>
                    </a:p>
                  </a:txBody>
                  <a:tcPr/>
                </a:tc>
                <a:extLst>
                  <a:ext uri="{0D108BD9-81ED-4DB2-BD59-A6C34878D82A}">
                    <a16:rowId xmlns:a16="http://schemas.microsoft.com/office/drawing/2014/main" val="10003"/>
                  </a:ext>
                </a:extLst>
              </a:tr>
              <a:tr h="406845">
                <a:tc>
                  <a:txBody>
                    <a:bodyPr/>
                    <a:lstStyle/>
                    <a:p>
                      <a:r>
                        <a:rPr lang="en-US" b="1" dirty="0">
                          <a:solidFill>
                            <a:srgbClr val="000000"/>
                          </a:solidFill>
                          <a:latin typeface="Courier"/>
                          <a:cs typeface="Courier"/>
                        </a:rPr>
                        <a:t>exec</a:t>
                      </a:r>
                    </a:p>
                  </a:txBody>
                  <a:tcPr/>
                </a:tc>
                <a:tc>
                  <a:txBody>
                    <a:bodyPr/>
                    <a:lstStyle/>
                    <a:p>
                      <a:r>
                        <a:rPr lang="en-US" dirty="0">
                          <a:solidFill>
                            <a:srgbClr val="000000"/>
                          </a:solidFill>
                        </a:rPr>
                        <a:t>Replace bash with another process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ourier"/>
                          <a:cs typeface="Courier"/>
                        </a:rPr>
                        <a:t>exec </a:t>
                      </a:r>
                      <a:r>
                        <a:rPr lang="en-US" b="1" dirty="0" err="1">
                          <a:solidFill>
                            <a:srgbClr val="000000"/>
                          </a:solidFill>
                          <a:latin typeface="Courier"/>
                          <a:cs typeface="Courier"/>
                        </a:rPr>
                        <a:t>ls</a:t>
                      </a:r>
                      <a:endParaRPr lang="en-US" b="1" dirty="0">
                        <a:solidFill>
                          <a:srgbClr val="000000"/>
                        </a:solidFill>
                        <a:latin typeface="Courier"/>
                        <a:cs typeface="Courier"/>
                      </a:endParaRPr>
                    </a:p>
                  </a:txBody>
                  <a:tcPr/>
                </a:tc>
                <a:extLst>
                  <a:ext uri="{0D108BD9-81ED-4DB2-BD59-A6C34878D82A}">
                    <a16:rowId xmlns:a16="http://schemas.microsoft.com/office/drawing/2014/main" val="10004"/>
                  </a:ext>
                </a:extLst>
              </a:tr>
              <a:tr h="406845">
                <a:tc>
                  <a:txBody>
                    <a:bodyPr/>
                    <a:lstStyle/>
                    <a:p>
                      <a:r>
                        <a:rPr lang="en-US" b="1" dirty="0">
                          <a:solidFill>
                            <a:srgbClr val="000000"/>
                          </a:solidFill>
                          <a:latin typeface="Courier"/>
                          <a:cs typeface="Courier"/>
                        </a:rPr>
                        <a:t>exit</a:t>
                      </a:r>
                    </a:p>
                  </a:txBody>
                  <a:tcPr/>
                </a:tc>
                <a:tc>
                  <a:txBody>
                    <a:bodyPr/>
                    <a:lstStyle/>
                    <a:p>
                      <a:r>
                        <a:rPr lang="en-US" dirty="0">
                          <a:solidFill>
                            <a:srgbClr val="000000"/>
                          </a:solidFill>
                        </a:rPr>
                        <a:t>Quit bash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ourier"/>
                          <a:cs typeface="Courier"/>
                        </a:rPr>
                        <a:t>exit</a:t>
                      </a:r>
                    </a:p>
                  </a:txBody>
                  <a:tcPr/>
                </a:tc>
                <a:extLst>
                  <a:ext uri="{0D108BD9-81ED-4DB2-BD59-A6C34878D82A}">
                    <a16:rowId xmlns:a16="http://schemas.microsoft.com/office/drawing/2014/main" val="10005"/>
                  </a:ext>
                </a:extLst>
              </a:tr>
              <a:tr h="406845">
                <a:tc>
                  <a:txBody>
                    <a:bodyPr/>
                    <a:lstStyle/>
                    <a:p>
                      <a:r>
                        <a:rPr lang="en-US" b="1" dirty="0">
                          <a:solidFill>
                            <a:srgbClr val="000000"/>
                          </a:solidFill>
                          <a:latin typeface="Courier"/>
                          <a:cs typeface="Courier"/>
                        </a:rPr>
                        <a:t>export</a:t>
                      </a:r>
                    </a:p>
                  </a:txBody>
                  <a:tcPr/>
                </a:tc>
                <a:tc>
                  <a:txBody>
                    <a:bodyPr/>
                    <a:lstStyle/>
                    <a:p>
                      <a:r>
                        <a:rPr lang="en-US" dirty="0">
                          <a:solidFill>
                            <a:srgbClr val="000000"/>
                          </a:solidFill>
                        </a:rPr>
                        <a:t>Define global</a:t>
                      </a:r>
                      <a:r>
                        <a:rPr lang="en-US" baseline="0" dirty="0">
                          <a:solidFill>
                            <a:srgbClr val="000000"/>
                          </a:solidFill>
                        </a:rPr>
                        <a:t> variable</a:t>
                      </a:r>
                      <a:endParaRPr lang="en-US" dirty="0">
                        <a:solidFill>
                          <a:srgbClr val="0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ourier"/>
                          <a:cs typeface="Courier"/>
                        </a:rPr>
                        <a:t>export </a:t>
                      </a:r>
                      <a:r>
                        <a:rPr lang="en-US" b="1" dirty="0" err="1">
                          <a:solidFill>
                            <a:srgbClr val="000000"/>
                          </a:solidFill>
                          <a:latin typeface="Courier"/>
                          <a:cs typeface="Courier"/>
                        </a:rPr>
                        <a:t>myvar</a:t>
                      </a:r>
                      <a:r>
                        <a:rPr lang="en-US" b="1" dirty="0">
                          <a:solidFill>
                            <a:srgbClr val="000000"/>
                          </a:solidFill>
                          <a:latin typeface="Courier"/>
                          <a:cs typeface="Courier"/>
                        </a:rPr>
                        <a:t>=1</a:t>
                      </a:r>
                    </a:p>
                  </a:txBody>
                  <a:tcPr/>
                </a:tc>
                <a:extLst>
                  <a:ext uri="{0D108BD9-81ED-4DB2-BD59-A6C34878D82A}">
                    <a16:rowId xmlns:a16="http://schemas.microsoft.com/office/drawing/2014/main" val="10006"/>
                  </a:ext>
                </a:extLst>
              </a:tr>
              <a:tr h="406845">
                <a:tc>
                  <a:txBody>
                    <a:bodyPr/>
                    <a:lstStyle/>
                    <a:p>
                      <a:r>
                        <a:rPr lang="en-US" b="1" dirty="0">
                          <a:solidFill>
                            <a:srgbClr val="000000"/>
                          </a:solidFill>
                          <a:latin typeface="Courier"/>
                          <a:cs typeface="Courier"/>
                        </a:rPr>
                        <a:t>history</a:t>
                      </a:r>
                    </a:p>
                  </a:txBody>
                  <a:tcPr/>
                </a:tc>
                <a:tc>
                  <a:txBody>
                    <a:bodyPr/>
                    <a:lstStyle/>
                    <a:p>
                      <a:r>
                        <a:rPr lang="en-US" dirty="0">
                          <a:solidFill>
                            <a:srgbClr val="000000"/>
                          </a:solidFill>
                        </a:rPr>
                        <a:t>Print </a:t>
                      </a:r>
                      <a:r>
                        <a:rPr lang="en-US" baseline="0" dirty="0">
                          <a:solidFill>
                            <a:srgbClr val="000000"/>
                          </a:solidFill>
                        </a:rPr>
                        <a:t>the history of commands</a:t>
                      </a:r>
                      <a:endParaRPr lang="en-US" dirty="0">
                        <a:solidFill>
                          <a:srgbClr val="00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ourier"/>
                          <a:cs typeface="Courier"/>
                        </a:rPr>
                        <a:t>history</a:t>
                      </a:r>
                    </a:p>
                  </a:txBody>
                  <a:tcPr/>
                </a:tc>
                <a:extLst>
                  <a:ext uri="{0D108BD9-81ED-4DB2-BD59-A6C34878D82A}">
                    <a16:rowId xmlns:a16="http://schemas.microsoft.com/office/drawing/2014/main" val="10007"/>
                  </a:ext>
                </a:extLst>
              </a:tr>
              <a:tr h="406845">
                <a:tc>
                  <a:txBody>
                    <a:bodyPr/>
                    <a:lstStyle/>
                    <a:p>
                      <a:r>
                        <a:rPr lang="en-US" b="1" dirty="0">
                          <a:solidFill>
                            <a:srgbClr val="000000"/>
                          </a:solidFill>
                          <a:latin typeface="Courier"/>
                          <a:cs typeface="Courier"/>
                        </a:rPr>
                        <a:t>kill</a:t>
                      </a:r>
                    </a:p>
                  </a:txBody>
                  <a:tcPr/>
                </a:tc>
                <a:tc>
                  <a:txBody>
                    <a:bodyPr/>
                    <a:lstStyle/>
                    <a:p>
                      <a:r>
                        <a:rPr lang="en-US" dirty="0">
                          <a:solidFill>
                            <a:srgbClr val="000000"/>
                          </a:solidFill>
                        </a:rPr>
                        <a:t>Send signal to a process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ourier"/>
                          <a:cs typeface="Courier"/>
                        </a:rPr>
                        <a:t>kill</a:t>
                      </a:r>
                      <a:r>
                        <a:rPr lang="en-US" b="1" baseline="0" dirty="0">
                          <a:solidFill>
                            <a:srgbClr val="000000"/>
                          </a:solidFill>
                          <a:latin typeface="Courier"/>
                          <a:cs typeface="Courier"/>
                        </a:rPr>
                        <a:t> 1121</a:t>
                      </a:r>
                      <a:endParaRPr lang="en-US" b="1" dirty="0">
                        <a:solidFill>
                          <a:srgbClr val="000000"/>
                        </a:solidFill>
                        <a:latin typeface="Courier"/>
                        <a:cs typeface="Courier"/>
                      </a:endParaRPr>
                    </a:p>
                  </a:txBody>
                  <a:tcPr/>
                </a:tc>
                <a:extLst>
                  <a:ext uri="{0D108BD9-81ED-4DB2-BD59-A6C34878D82A}">
                    <a16:rowId xmlns:a16="http://schemas.microsoft.com/office/drawing/2014/main" val="10008"/>
                  </a:ext>
                </a:extLst>
              </a:tr>
              <a:tr h="406845">
                <a:tc>
                  <a:txBody>
                    <a:bodyPr/>
                    <a:lstStyle/>
                    <a:p>
                      <a:r>
                        <a:rPr lang="en-US" b="1" dirty="0">
                          <a:solidFill>
                            <a:srgbClr val="000000"/>
                          </a:solidFill>
                          <a:latin typeface="Courier"/>
                          <a:cs typeface="Courier"/>
                        </a:rPr>
                        <a:t>let</a:t>
                      </a:r>
                    </a:p>
                  </a:txBody>
                  <a:tcPr/>
                </a:tc>
                <a:tc>
                  <a:txBody>
                    <a:bodyPr/>
                    <a:lstStyle/>
                    <a:p>
                      <a:r>
                        <a:rPr lang="en-US" dirty="0">
                          <a:solidFill>
                            <a:srgbClr val="000000"/>
                          </a:solidFill>
                        </a:rPr>
                        <a:t>Compute arithmetic operation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ourier"/>
                          <a:cs typeface="Courier"/>
                        </a:rPr>
                        <a:t>let </a:t>
                      </a:r>
                      <a:r>
                        <a:rPr lang="en-US" b="1" dirty="0" err="1">
                          <a:solidFill>
                            <a:srgbClr val="000000"/>
                          </a:solidFill>
                          <a:latin typeface="Courier"/>
                          <a:cs typeface="Courier"/>
                        </a:rPr>
                        <a:t>myvar</a:t>
                      </a:r>
                      <a:r>
                        <a:rPr lang="en-US" b="1" dirty="0">
                          <a:solidFill>
                            <a:srgbClr val="000000"/>
                          </a:solidFill>
                          <a:latin typeface="Courier"/>
                          <a:cs typeface="Courier"/>
                        </a:rPr>
                        <a:t>=3+5</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1647661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err="1">
                <a:latin typeface="Arial" charset="0"/>
              </a:rPr>
              <a:t>Builtin</a:t>
            </a:r>
            <a:r>
              <a:rPr lang="en-US" sz="2800" dirty="0">
                <a:latin typeface="Arial" charset="0"/>
              </a:rPr>
              <a:t> Commands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graphicFrame>
        <p:nvGraphicFramePr>
          <p:cNvPr id="2" name="Table 1"/>
          <p:cNvGraphicFramePr>
            <a:graphicFrameLocks noGrp="1"/>
          </p:cNvGraphicFramePr>
          <p:nvPr>
            <p:extLst>
              <p:ext uri="{D42A27DB-BD31-4B8C-83A1-F6EECF244321}">
                <p14:modId xmlns:p14="http://schemas.microsoft.com/office/powerpoint/2010/main" val="3202636150"/>
              </p:ext>
            </p:extLst>
          </p:nvPr>
        </p:nvGraphicFramePr>
        <p:xfrm>
          <a:off x="252030" y="1124744"/>
          <a:ext cx="8820470" cy="4176460"/>
        </p:xfrm>
        <a:graphic>
          <a:graphicData uri="http://schemas.openxmlformats.org/drawingml/2006/table">
            <a:tbl>
              <a:tblPr firstRow="1" bandRow="1">
                <a:tableStyleId>{5940675A-B579-460E-94D1-54222C63F5DA}</a:tableStyleId>
              </a:tblPr>
              <a:tblGrid>
                <a:gridCol w="1488688">
                  <a:extLst>
                    <a:ext uri="{9D8B030D-6E8A-4147-A177-3AD203B41FA5}">
                      <a16:colId xmlns:a16="http://schemas.microsoft.com/office/drawing/2014/main" val="20000"/>
                    </a:ext>
                  </a:extLst>
                </a:gridCol>
                <a:gridCol w="4199434">
                  <a:extLst>
                    <a:ext uri="{9D8B030D-6E8A-4147-A177-3AD203B41FA5}">
                      <a16:colId xmlns:a16="http://schemas.microsoft.com/office/drawing/2014/main" val="20001"/>
                    </a:ext>
                  </a:extLst>
                </a:gridCol>
                <a:gridCol w="3132348">
                  <a:extLst>
                    <a:ext uri="{9D8B030D-6E8A-4147-A177-3AD203B41FA5}">
                      <a16:colId xmlns:a16="http://schemas.microsoft.com/office/drawing/2014/main" val="20002"/>
                    </a:ext>
                  </a:extLst>
                </a:gridCol>
              </a:tblGrid>
              <a:tr h="417646">
                <a:tc>
                  <a:txBody>
                    <a:bodyPr/>
                    <a:lstStyle/>
                    <a:p>
                      <a:r>
                        <a:rPr lang="en-US" b="1" dirty="0"/>
                        <a:t>Command</a:t>
                      </a:r>
                    </a:p>
                  </a:txBody>
                  <a:tcPr>
                    <a:solidFill>
                      <a:schemeClr val="bg1">
                        <a:lumMod val="75000"/>
                      </a:schemeClr>
                    </a:solidFill>
                  </a:tcPr>
                </a:tc>
                <a:tc>
                  <a:txBody>
                    <a:bodyPr/>
                    <a:lstStyle/>
                    <a:p>
                      <a:r>
                        <a:rPr lang="en-US" b="1" dirty="0"/>
                        <a:t>Description</a:t>
                      </a:r>
                    </a:p>
                  </a:txBody>
                  <a:tcPr>
                    <a:solidFill>
                      <a:schemeClr val="bg1">
                        <a:lumMod val="75000"/>
                      </a:schemeClr>
                    </a:solidFill>
                  </a:tcPr>
                </a:tc>
                <a:tc>
                  <a:txBody>
                    <a:bodyPr/>
                    <a:lstStyle/>
                    <a:p>
                      <a:r>
                        <a:rPr lang="en-US" b="1" dirty="0"/>
                        <a:t>Example</a:t>
                      </a:r>
                    </a:p>
                  </a:txBody>
                  <a:tcPr>
                    <a:solidFill>
                      <a:schemeClr val="bg1">
                        <a:lumMod val="75000"/>
                      </a:schemeClr>
                    </a:solidFill>
                  </a:tcPr>
                </a:tc>
                <a:extLst>
                  <a:ext uri="{0D108BD9-81ED-4DB2-BD59-A6C34878D82A}">
                    <a16:rowId xmlns:a16="http://schemas.microsoft.com/office/drawing/2014/main" val="10000"/>
                  </a:ext>
                </a:extLst>
              </a:tr>
              <a:tr h="417646">
                <a:tc>
                  <a:txBody>
                    <a:bodyPr/>
                    <a:lstStyle/>
                    <a:p>
                      <a:r>
                        <a:rPr lang="en-US" b="1" dirty="0">
                          <a:latin typeface="Courier"/>
                          <a:cs typeface="Courier"/>
                        </a:rPr>
                        <a:t>local</a:t>
                      </a:r>
                    </a:p>
                  </a:txBody>
                  <a:tcPr/>
                </a:tc>
                <a:tc>
                  <a:txBody>
                    <a:bodyPr/>
                    <a:lstStyle/>
                    <a:p>
                      <a:r>
                        <a:rPr lang="en-US" dirty="0"/>
                        <a:t>Define local variable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latin typeface="Courier"/>
                          <a:cs typeface="Courier"/>
                        </a:rPr>
                        <a:t>local </a:t>
                      </a:r>
                      <a:r>
                        <a:rPr lang="en-US" b="1" dirty="0" err="1">
                          <a:latin typeface="Courier"/>
                          <a:cs typeface="Courier"/>
                        </a:rPr>
                        <a:t>myvar</a:t>
                      </a:r>
                      <a:r>
                        <a:rPr lang="en-US" b="1" dirty="0">
                          <a:latin typeface="Courier"/>
                          <a:cs typeface="Courier"/>
                        </a:rPr>
                        <a:t>=5</a:t>
                      </a:r>
                    </a:p>
                  </a:txBody>
                  <a:tcPr/>
                </a:tc>
                <a:extLst>
                  <a:ext uri="{0D108BD9-81ED-4DB2-BD59-A6C34878D82A}">
                    <a16:rowId xmlns:a16="http://schemas.microsoft.com/office/drawing/2014/main" val="10001"/>
                  </a:ext>
                </a:extLst>
              </a:tr>
              <a:tr h="417646">
                <a:tc>
                  <a:txBody>
                    <a:bodyPr/>
                    <a:lstStyle/>
                    <a:p>
                      <a:r>
                        <a:rPr lang="en-US" b="1" dirty="0" err="1">
                          <a:latin typeface="Courier"/>
                          <a:cs typeface="Courier"/>
                        </a:rPr>
                        <a:t>pwd</a:t>
                      </a:r>
                      <a:endParaRPr lang="en-US" b="1" dirty="0">
                        <a:latin typeface="Courier"/>
                        <a:cs typeface="Courier"/>
                      </a:endParaRPr>
                    </a:p>
                  </a:txBody>
                  <a:tcPr/>
                </a:tc>
                <a:tc>
                  <a:txBody>
                    <a:bodyPr/>
                    <a:lstStyle/>
                    <a:p>
                      <a:r>
                        <a:rPr lang="en-US" dirty="0"/>
                        <a:t>Print working directory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err="1">
                          <a:latin typeface="Courier"/>
                          <a:cs typeface="Courier"/>
                        </a:rPr>
                        <a:t>pwd</a:t>
                      </a:r>
                      <a:r>
                        <a:rPr lang="en-US" b="1" dirty="0">
                          <a:latin typeface="Courier"/>
                          <a:cs typeface="Courier"/>
                        </a:rPr>
                        <a:t> </a:t>
                      </a:r>
                    </a:p>
                  </a:txBody>
                  <a:tcPr/>
                </a:tc>
                <a:extLst>
                  <a:ext uri="{0D108BD9-81ED-4DB2-BD59-A6C34878D82A}">
                    <a16:rowId xmlns:a16="http://schemas.microsoft.com/office/drawing/2014/main" val="10002"/>
                  </a:ext>
                </a:extLst>
              </a:tr>
              <a:tr h="417646">
                <a:tc>
                  <a:txBody>
                    <a:bodyPr/>
                    <a:lstStyle/>
                    <a:p>
                      <a:r>
                        <a:rPr lang="en-US" b="1" dirty="0">
                          <a:latin typeface="Courier"/>
                          <a:cs typeface="Courier"/>
                        </a:rPr>
                        <a:t>read</a:t>
                      </a:r>
                    </a:p>
                  </a:txBody>
                  <a:tcPr/>
                </a:tc>
                <a:tc>
                  <a:txBody>
                    <a:bodyPr/>
                    <a:lstStyle/>
                    <a:p>
                      <a:r>
                        <a:rPr lang="en-US" dirty="0"/>
                        <a:t>Read from standard input (</a:t>
                      </a:r>
                      <a:r>
                        <a:rPr lang="en-US" b="1" dirty="0" err="1">
                          <a:latin typeface="Courier New"/>
                          <a:cs typeface="Courier New"/>
                        </a:rPr>
                        <a:t>stdin</a:t>
                      </a:r>
                      <a:r>
                        <a:rPr lang="en-US"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latin typeface="Courier"/>
                          <a:cs typeface="Courier"/>
                        </a:rPr>
                        <a:t>read </a:t>
                      </a:r>
                      <a:r>
                        <a:rPr lang="en-US" b="1" dirty="0" err="1">
                          <a:latin typeface="Courier"/>
                          <a:cs typeface="Courier"/>
                        </a:rPr>
                        <a:t>myvar</a:t>
                      </a:r>
                      <a:endParaRPr lang="en-US" b="1" dirty="0">
                        <a:latin typeface="Courier"/>
                        <a:cs typeface="Courier"/>
                      </a:endParaRPr>
                    </a:p>
                  </a:txBody>
                  <a:tcPr/>
                </a:tc>
                <a:extLst>
                  <a:ext uri="{0D108BD9-81ED-4DB2-BD59-A6C34878D82A}">
                    <a16:rowId xmlns:a16="http://schemas.microsoft.com/office/drawing/2014/main" val="10003"/>
                  </a:ext>
                </a:extLst>
              </a:tr>
              <a:tr h="417646">
                <a:tc>
                  <a:txBody>
                    <a:bodyPr/>
                    <a:lstStyle/>
                    <a:p>
                      <a:r>
                        <a:rPr lang="en-US" b="1" dirty="0" err="1">
                          <a:latin typeface="Courier"/>
                          <a:cs typeface="Courier"/>
                        </a:rPr>
                        <a:t>readonly</a:t>
                      </a:r>
                      <a:endParaRPr lang="en-US" b="1" dirty="0">
                        <a:latin typeface="Courier"/>
                        <a:cs typeface="Courier"/>
                      </a:endParaRPr>
                    </a:p>
                  </a:txBody>
                  <a:tcPr/>
                </a:tc>
                <a:tc>
                  <a:txBody>
                    <a:bodyPr/>
                    <a:lstStyle/>
                    <a:p>
                      <a:r>
                        <a:rPr lang="en-US" dirty="0"/>
                        <a:t>Locks a variable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err="1">
                          <a:latin typeface="Courier"/>
                          <a:cs typeface="Courier"/>
                        </a:rPr>
                        <a:t>readonly</a:t>
                      </a:r>
                      <a:r>
                        <a:rPr lang="en-US" b="1" dirty="0">
                          <a:latin typeface="Courier"/>
                          <a:cs typeface="Courier"/>
                        </a:rPr>
                        <a:t> </a:t>
                      </a:r>
                      <a:r>
                        <a:rPr lang="en-US" b="1" dirty="0" err="1">
                          <a:latin typeface="Courier"/>
                          <a:cs typeface="Courier"/>
                        </a:rPr>
                        <a:t>myvar</a:t>
                      </a:r>
                      <a:endParaRPr lang="en-US" b="1" dirty="0">
                        <a:latin typeface="Courier"/>
                        <a:cs typeface="Courier"/>
                      </a:endParaRPr>
                    </a:p>
                  </a:txBody>
                  <a:tcPr/>
                </a:tc>
                <a:extLst>
                  <a:ext uri="{0D108BD9-81ED-4DB2-BD59-A6C34878D82A}">
                    <a16:rowId xmlns:a16="http://schemas.microsoft.com/office/drawing/2014/main" val="10004"/>
                  </a:ext>
                </a:extLst>
              </a:tr>
              <a:tr h="417646">
                <a:tc>
                  <a:txBody>
                    <a:bodyPr/>
                    <a:lstStyle/>
                    <a:p>
                      <a:r>
                        <a:rPr lang="en-US" b="1" dirty="0">
                          <a:latin typeface="Courier"/>
                          <a:cs typeface="Courier"/>
                        </a:rPr>
                        <a:t>return</a:t>
                      </a:r>
                    </a:p>
                  </a:txBody>
                  <a:tcPr/>
                </a:tc>
                <a:tc>
                  <a:txBody>
                    <a:bodyPr/>
                    <a:lstStyle/>
                    <a:p>
                      <a:r>
                        <a:rPr lang="en-US" dirty="0"/>
                        <a:t>End of a function and return a value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latin typeface="Courier"/>
                          <a:cs typeface="Courier"/>
                        </a:rPr>
                        <a:t>return 1</a:t>
                      </a:r>
                    </a:p>
                  </a:txBody>
                  <a:tcPr/>
                </a:tc>
                <a:extLst>
                  <a:ext uri="{0D108BD9-81ED-4DB2-BD59-A6C34878D82A}">
                    <a16:rowId xmlns:a16="http://schemas.microsoft.com/office/drawing/2014/main" val="10005"/>
                  </a:ext>
                </a:extLst>
              </a:tr>
              <a:tr h="417646">
                <a:tc>
                  <a:txBody>
                    <a:bodyPr/>
                    <a:lstStyle/>
                    <a:p>
                      <a:r>
                        <a:rPr lang="en-US" b="1" dirty="0">
                          <a:latin typeface="Courier"/>
                          <a:cs typeface="Courier"/>
                        </a:rPr>
                        <a:t>set</a:t>
                      </a:r>
                    </a:p>
                  </a:txBody>
                  <a:tcPr/>
                </a:tc>
                <a:tc>
                  <a:txBody>
                    <a:bodyPr/>
                    <a:lstStyle/>
                    <a:p>
                      <a:r>
                        <a:rPr lang="en-US" dirty="0"/>
                        <a:t>Print variables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latin typeface="Courier"/>
                          <a:cs typeface="Courier"/>
                        </a:rPr>
                        <a:t>set</a:t>
                      </a:r>
                    </a:p>
                  </a:txBody>
                  <a:tcPr/>
                </a:tc>
                <a:extLst>
                  <a:ext uri="{0D108BD9-81ED-4DB2-BD59-A6C34878D82A}">
                    <a16:rowId xmlns:a16="http://schemas.microsoft.com/office/drawing/2014/main" val="10006"/>
                  </a:ext>
                </a:extLst>
              </a:tr>
              <a:tr h="417646">
                <a:tc>
                  <a:txBody>
                    <a:bodyPr/>
                    <a:lstStyle/>
                    <a:p>
                      <a:r>
                        <a:rPr lang="en-US" b="1" dirty="0">
                          <a:latin typeface="Courier"/>
                          <a:cs typeface="Courier"/>
                        </a:rPr>
                        <a:t>shift</a:t>
                      </a:r>
                    </a:p>
                  </a:txBody>
                  <a:tcPr/>
                </a:tc>
                <a:tc>
                  <a:txBody>
                    <a:bodyPr/>
                    <a:lstStyle/>
                    <a:p>
                      <a:r>
                        <a:rPr lang="en-US" dirty="0"/>
                        <a:t>Move parameters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latin typeface="Courier"/>
                          <a:cs typeface="Courier"/>
                        </a:rPr>
                        <a:t>shift 2</a:t>
                      </a:r>
                    </a:p>
                  </a:txBody>
                  <a:tcPr/>
                </a:tc>
                <a:extLst>
                  <a:ext uri="{0D108BD9-81ED-4DB2-BD59-A6C34878D82A}">
                    <a16:rowId xmlns:a16="http://schemas.microsoft.com/office/drawing/2014/main" val="10007"/>
                  </a:ext>
                </a:extLst>
              </a:tr>
              <a:tr h="417646">
                <a:tc>
                  <a:txBody>
                    <a:bodyPr/>
                    <a:lstStyle/>
                    <a:p>
                      <a:r>
                        <a:rPr lang="en-US" b="1" dirty="0">
                          <a:latin typeface="Courier"/>
                          <a:cs typeface="Courier"/>
                        </a:rPr>
                        <a:t>test</a:t>
                      </a:r>
                    </a:p>
                  </a:txBody>
                  <a:tcPr/>
                </a:tc>
                <a:tc>
                  <a:txBody>
                    <a:bodyPr/>
                    <a:lstStyle/>
                    <a:p>
                      <a:r>
                        <a:rPr lang="en-US" dirty="0"/>
                        <a:t>Test a condition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latin typeface="Courier"/>
                          <a:cs typeface="Courier"/>
                        </a:rPr>
                        <a:t>test –d temp</a:t>
                      </a:r>
                    </a:p>
                  </a:txBody>
                  <a:tcPr/>
                </a:tc>
                <a:extLst>
                  <a:ext uri="{0D108BD9-81ED-4DB2-BD59-A6C34878D82A}">
                    <a16:rowId xmlns:a16="http://schemas.microsoft.com/office/drawing/2014/main" val="10008"/>
                  </a:ext>
                </a:extLst>
              </a:tr>
              <a:tr h="417646">
                <a:tc>
                  <a:txBody>
                    <a:bodyPr/>
                    <a:lstStyle/>
                    <a:p>
                      <a:r>
                        <a:rPr lang="en-US" b="1" dirty="0">
                          <a:latin typeface="Courier"/>
                          <a:cs typeface="Courier"/>
                        </a:rPr>
                        <a:t>trap</a:t>
                      </a:r>
                    </a:p>
                  </a:txBody>
                  <a:tcPr/>
                </a:tc>
                <a:tc>
                  <a:txBody>
                    <a:bodyPr/>
                    <a:lstStyle/>
                    <a:p>
                      <a:r>
                        <a:rPr lang="en-US" dirty="0"/>
                        <a:t>Follow a signal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latin typeface="Courier"/>
                          <a:cs typeface="Courier"/>
                        </a:rPr>
                        <a:t>trap </a:t>
                      </a:r>
                      <a:r>
                        <a:rPr lang="en-US" b="1" dirty="0">
                          <a:solidFill>
                            <a:schemeClr val="tx1"/>
                          </a:solidFill>
                          <a:latin typeface="Courier New"/>
                          <a:ea typeface="Courier New"/>
                        </a:rPr>
                        <a:t>"</a:t>
                      </a:r>
                      <a:r>
                        <a:rPr lang="en-US" b="1" dirty="0">
                          <a:latin typeface="Courier"/>
                          <a:cs typeface="Courier"/>
                        </a:rPr>
                        <a:t>echo signal</a:t>
                      </a:r>
                      <a:r>
                        <a:rPr lang="en-US" b="1" dirty="0">
                          <a:solidFill>
                            <a:schemeClr val="tx1"/>
                          </a:solidFill>
                          <a:latin typeface="Courier New"/>
                          <a:ea typeface="Courier New"/>
                        </a:rPr>
                        <a:t>"</a:t>
                      </a:r>
                      <a:r>
                        <a:rPr lang="en-US" b="1" dirty="0">
                          <a:latin typeface="Courier"/>
                          <a:cs typeface="Courier"/>
                        </a:rPr>
                        <a:t> 3</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200717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35</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Process management: Execution</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Process: The running instance of a program, e.g.:</a:t>
            </a:r>
          </a:p>
          <a:p>
            <a:pPr lvl="1"/>
            <a:r>
              <a:rPr lang="en-GB" dirty="0">
                <a:latin typeface="Arial" charset="0"/>
              </a:rPr>
              <a:t>Execution of a command </a:t>
            </a:r>
          </a:p>
          <a:p>
            <a:pPr lvl="1"/>
            <a:r>
              <a:rPr lang="en-GB" dirty="0">
                <a:latin typeface="Arial" charset="0"/>
              </a:rPr>
              <a:t>Execution of your program</a:t>
            </a:r>
          </a:p>
          <a:p>
            <a:pPr lvl="1"/>
            <a:endParaRPr lang="en-GB" sz="2400" dirty="0">
              <a:latin typeface="Arial" charset="0"/>
            </a:endParaRPr>
          </a:p>
          <a:p>
            <a:pPr marL="363538" lvl="1" indent="-363538">
              <a:buSzPct val="75000"/>
              <a:buBlip>
                <a:blip r:embed="rId3"/>
              </a:buBlip>
            </a:pPr>
            <a:r>
              <a:rPr lang="en-GB" sz="2400" dirty="0">
                <a:latin typeface="Arial" charset="0"/>
              </a:rPr>
              <a:t>Foreground execution: Interactive processes</a:t>
            </a:r>
            <a:endParaRPr lang="en-GB" sz="2400" dirty="0">
              <a:solidFill>
                <a:srgbClr val="000000"/>
              </a:solidFill>
              <a:latin typeface="Courier"/>
              <a:cs typeface="Courier"/>
            </a:endParaRPr>
          </a:p>
          <a:p>
            <a:pPr lvl="1"/>
            <a:r>
              <a:rPr lang="en-GB" dirty="0">
                <a:latin typeface="Arial" charset="0"/>
              </a:rPr>
              <a:t>Connected to a shell terminal </a:t>
            </a:r>
          </a:p>
          <a:p>
            <a:pPr lvl="1"/>
            <a:r>
              <a:rPr lang="en-GB" dirty="0">
                <a:latin typeface="Arial" charset="0"/>
              </a:rPr>
              <a:t>User can send input</a:t>
            </a:r>
          </a:p>
          <a:p>
            <a:pPr marL="363538" lvl="1" indent="-363538">
              <a:buSzPct val="75000"/>
              <a:buBlip>
                <a:blip r:embed="rId3"/>
              </a:buBlip>
            </a:pPr>
            <a:endParaRPr lang="en-GB" sz="2400" dirty="0">
              <a:latin typeface="Arial" charset="0"/>
              <a:sym typeface="Wingdings"/>
            </a:endParaRPr>
          </a:p>
          <a:p>
            <a:pPr marL="363538" lvl="1" indent="-363538">
              <a:buSzPct val="75000"/>
              <a:buBlip>
                <a:blip r:embed="rId3"/>
              </a:buBlip>
            </a:pPr>
            <a:r>
              <a:rPr lang="en-GB" sz="2400" dirty="0">
                <a:latin typeface="Arial" charset="0"/>
                <a:sym typeface="Wingdings"/>
              </a:rPr>
              <a:t>Background execution: </a:t>
            </a:r>
            <a:r>
              <a:rPr lang="en-GB" sz="2400" dirty="0">
                <a:latin typeface="Arial" charset="0"/>
              </a:rPr>
              <a:t>Non-Interactive or automated processes</a:t>
            </a:r>
            <a:endParaRPr lang="en-GB" sz="2400" dirty="0">
              <a:latin typeface="Arial" charset="0"/>
              <a:sym typeface="Wingdings"/>
            </a:endParaRPr>
          </a:p>
          <a:p>
            <a:pPr lvl="1"/>
            <a:r>
              <a:rPr lang="en-GB" dirty="0">
                <a:latin typeface="Arial" charset="0"/>
                <a:sym typeface="Wingdings"/>
              </a:rPr>
              <a:t>Not connected to a terminal</a:t>
            </a:r>
          </a:p>
          <a:p>
            <a:pPr lvl="1"/>
            <a:r>
              <a:rPr lang="en-GB" dirty="0">
                <a:latin typeface="Arial" charset="0"/>
                <a:sym typeface="Wingdings"/>
              </a:rPr>
              <a:t>User cannot send input until the process is moved to the foreground</a:t>
            </a:r>
          </a:p>
          <a:p>
            <a:pPr marL="542925" lvl="1" indent="0">
              <a:buNone/>
            </a:pPr>
            <a:endParaRPr lang="en-GB" dirty="0">
              <a:latin typeface="Arial" charset="0"/>
            </a:endParaRPr>
          </a:p>
          <a:p>
            <a:pPr marL="0" indent="0">
              <a:buNone/>
            </a:pPr>
            <a:endParaRPr lang="en-GB" dirty="0">
              <a:latin typeface="Arial" charset="0"/>
            </a:endParaRPr>
          </a:p>
        </p:txBody>
      </p:sp>
    </p:spTree>
    <p:extLst>
      <p:ext uri="{BB962C8B-B14F-4D97-AF65-F5344CB8AC3E}">
        <p14:creationId xmlns:p14="http://schemas.microsoft.com/office/powerpoint/2010/main" val="2864159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36</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Process management: Changing grounds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sz="2400" dirty="0">
                <a:solidFill>
                  <a:srgbClr val="000000"/>
                </a:solidFill>
                <a:latin typeface="Arial" charset="0"/>
              </a:rPr>
              <a:t>Run in Background: </a:t>
            </a:r>
            <a:r>
              <a:rPr lang="en-GB" b="1" dirty="0">
                <a:solidFill>
                  <a:srgbClr val="000000"/>
                </a:solidFill>
                <a:latin typeface="Arial" charset="0"/>
              </a:rPr>
              <a:t>&amp;</a:t>
            </a:r>
            <a:r>
              <a:rPr lang="en-GB" sz="2400" dirty="0">
                <a:solidFill>
                  <a:srgbClr val="000000"/>
                </a:solidFill>
                <a:latin typeface="Arial" charset="0"/>
              </a:rPr>
              <a:t>:</a:t>
            </a:r>
          </a:p>
          <a:p>
            <a:pPr lvl="1"/>
            <a:r>
              <a:rPr lang="en-GB" dirty="0">
                <a:solidFill>
                  <a:srgbClr val="000000"/>
                </a:solidFill>
                <a:cs typeface="Courier"/>
              </a:rPr>
              <a:t>Ex: 	</a:t>
            </a:r>
            <a:r>
              <a:rPr lang="en-GB" b="1" dirty="0" err="1">
                <a:solidFill>
                  <a:srgbClr val="000000"/>
                </a:solidFill>
                <a:latin typeface="Courier"/>
                <a:cs typeface="Courier"/>
              </a:rPr>
              <a:t>gedit</a:t>
            </a:r>
            <a:r>
              <a:rPr lang="en-GB" sz="2000" b="1" dirty="0">
                <a:solidFill>
                  <a:srgbClr val="000000"/>
                </a:solidFill>
                <a:latin typeface="Courier"/>
                <a:cs typeface="Courier"/>
              </a:rPr>
              <a:t> &amp;</a:t>
            </a:r>
          </a:p>
          <a:p>
            <a:endParaRPr lang="en-GB" b="1" dirty="0">
              <a:solidFill>
                <a:srgbClr val="000000"/>
              </a:solidFill>
              <a:latin typeface="Courier"/>
              <a:cs typeface="Courier"/>
            </a:endParaRPr>
          </a:p>
          <a:p>
            <a:r>
              <a:rPr lang="en-GB" dirty="0">
                <a:solidFill>
                  <a:srgbClr val="000000"/>
                </a:solidFill>
                <a:cs typeface="Courier"/>
              </a:rPr>
              <a:t>From FG to BG:</a:t>
            </a:r>
          </a:p>
          <a:p>
            <a:pPr lvl="1"/>
            <a:r>
              <a:rPr lang="en-GB" dirty="0">
                <a:solidFill>
                  <a:srgbClr val="000000"/>
                </a:solidFill>
                <a:cs typeface="Courier"/>
              </a:rPr>
              <a:t>Ex: 	</a:t>
            </a:r>
            <a:r>
              <a:rPr lang="en-GB" b="1" dirty="0" err="1">
                <a:solidFill>
                  <a:srgbClr val="000000"/>
                </a:solidFill>
                <a:latin typeface="Courier"/>
                <a:cs typeface="Courier"/>
              </a:rPr>
              <a:t>gedit</a:t>
            </a:r>
            <a:endParaRPr lang="en-GB" sz="2000" b="1" dirty="0">
              <a:solidFill>
                <a:srgbClr val="000000"/>
              </a:solidFill>
              <a:latin typeface="Courier"/>
              <a:cs typeface="Courier"/>
            </a:endParaRPr>
          </a:p>
          <a:p>
            <a:pPr marL="542925" lvl="1" indent="0">
              <a:buNone/>
            </a:pPr>
            <a:r>
              <a:rPr lang="en-GB" b="1" dirty="0">
                <a:solidFill>
                  <a:srgbClr val="000000"/>
                </a:solidFill>
                <a:latin typeface="Courier"/>
                <a:cs typeface="Courier"/>
              </a:rPr>
              <a:t>		</a:t>
            </a:r>
            <a:r>
              <a:rPr lang="en-GB" b="1" dirty="0">
                <a:solidFill>
                  <a:srgbClr val="000000"/>
                </a:solidFill>
                <a:cs typeface="Courier"/>
              </a:rPr>
              <a:t>Press</a:t>
            </a:r>
            <a:r>
              <a:rPr lang="en-GB" sz="2000" b="1" dirty="0">
                <a:solidFill>
                  <a:srgbClr val="000000"/>
                </a:solidFill>
                <a:cs typeface="Courier"/>
              </a:rPr>
              <a:t> CTRL + Z </a:t>
            </a:r>
            <a:r>
              <a:rPr lang="en-GB" sz="2000" dirty="0">
                <a:solidFill>
                  <a:srgbClr val="000000"/>
                </a:solidFill>
                <a:cs typeface="Courier"/>
              </a:rPr>
              <a:t>(puts process in </a:t>
            </a:r>
            <a:r>
              <a:rPr lang="en-GB" sz="2000" dirty="0">
                <a:solidFill>
                  <a:srgbClr val="000000"/>
                </a:solidFill>
                <a:cs typeface="Courier"/>
                <a:sym typeface="Wingdings"/>
              </a:rPr>
              <a:t>idle state)</a:t>
            </a:r>
          </a:p>
          <a:p>
            <a:pPr marL="542925" lvl="1" indent="0">
              <a:buNone/>
            </a:pPr>
            <a:r>
              <a:rPr lang="en-GB" b="1" dirty="0">
                <a:solidFill>
                  <a:srgbClr val="000000"/>
                </a:solidFill>
                <a:cs typeface="Courier"/>
                <a:sym typeface="Wingdings"/>
              </a:rPr>
              <a:t>		</a:t>
            </a:r>
            <a:r>
              <a:rPr lang="en-GB" b="1" dirty="0" err="1">
                <a:solidFill>
                  <a:srgbClr val="000000"/>
                </a:solidFill>
                <a:latin typeface="Courier"/>
                <a:cs typeface="Courier"/>
                <a:sym typeface="Wingdings"/>
              </a:rPr>
              <a:t>bg</a:t>
            </a:r>
            <a:endParaRPr lang="en-GB" b="1" dirty="0">
              <a:solidFill>
                <a:srgbClr val="000000"/>
              </a:solidFill>
              <a:latin typeface="Courier"/>
              <a:cs typeface="Courier"/>
              <a:sym typeface="Wingdings"/>
            </a:endParaRPr>
          </a:p>
          <a:p>
            <a:pPr marL="542925" lvl="1" indent="0">
              <a:buNone/>
            </a:pPr>
            <a:endParaRPr lang="en-GB" sz="2000" b="1" dirty="0">
              <a:solidFill>
                <a:srgbClr val="000000"/>
              </a:solidFill>
              <a:latin typeface="Courier"/>
              <a:cs typeface="Courier"/>
              <a:sym typeface="Wingdings"/>
            </a:endParaRPr>
          </a:p>
          <a:p>
            <a:r>
              <a:rPr lang="en-GB" dirty="0">
                <a:solidFill>
                  <a:srgbClr val="000000"/>
                </a:solidFill>
                <a:cs typeface="Courier"/>
              </a:rPr>
              <a:t>From BG to FG:</a:t>
            </a:r>
          </a:p>
          <a:p>
            <a:pPr lvl="1"/>
            <a:r>
              <a:rPr lang="en-GB" dirty="0">
                <a:solidFill>
                  <a:srgbClr val="000000"/>
                </a:solidFill>
                <a:cs typeface="Courier"/>
              </a:rPr>
              <a:t>Ex: 	</a:t>
            </a:r>
            <a:r>
              <a:rPr lang="en-GB" b="1" dirty="0" err="1">
                <a:solidFill>
                  <a:srgbClr val="000000"/>
                </a:solidFill>
                <a:latin typeface="Courier"/>
                <a:cs typeface="Courier"/>
              </a:rPr>
              <a:t>fg</a:t>
            </a:r>
            <a:r>
              <a:rPr lang="en-GB" b="1" dirty="0">
                <a:solidFill>
                  <a:srgbClr val="000000"/>
                </a:solidFill>
                <a:latin typeface="Courier"/>
                <a:cs typeface="Courier"/>
              </a:rPr>
              <a:t> %</a:t>
            </a:r>
            <a:r>
              <a:rPr lang="en-GB" b="1" dirty="0" err="1">
                <a:solidFill>
                  <a:srgbClr val="000000"/>
                </a:solidFill>
                <a:latin typeface="Courier"/>
                <a:cs typeface="Courier"/>
              </a:rPr>
              <a:t>jobid</a:t>
            </a:r>
            <a:r>
              <a:rPr lang="en-GB" b="1" dirty="0">
                <a:solidFill>
                  <a:srgbClr val="000000"/>
                </a:solidFill>
                <a:latin typeface="Courier"/>
                <a:cs typeface="Courier"/>
              </a:rPr>
              <a:t> </a:t>
            </a:r>
          </a:p>
          <a:p>
            <a:pPr marL="542925" lvl="1" indent="0">
              <a:buNone/>
            </a:pPr>
            <a:r>
              <a:rPr lang="en-GB" dirty="0">
                <a:solidFill>
                  <a:srgbClr val="000000"/>
                </a:solidFill>
                <a:cs typeface="Courier"/>
              </a:rPr>
              <a:t>(</a:t>
            </a:r>
            <a:r>
              <a:rPr lang="en-GB" dirty="0" err="1">
                <a:solidFill>
                  <a:srgbClr val="000000"/>
                </a:solidFill>
                <a:cs typeface="Courier"/>
              </a:rPr>
              <a:t>jobid</a:t>
            </a:r>
            <a:r>
              <a:rPr lang="en-GB" dirty="0">
                <a:solidFill>
                  <a:srgbClr val="000000"/>
                </a:solidFill>
                <a:cs typeface="Courier"/>
              </a:rPr>
              <a:t> is not PID. It is a unique number given by the shell, e.g. when process goes to BG)</a:t>
            </a:r>
            <a:endParaRPr lang="en-GB" sz="2000" dirty="0">
              <a:solidFill>
                <a:srgbClr val="000000"/>
              </a:solidFill>
              <a:cs typeface="Courier"/>
            </a:endParaRPr>
          </a:p>
          <a:p>
            <a:pPr lvl="1"/>
            <a:endParaRPr lang="en-GB" dirty="0">
              <a:latin typeface="Arial" charset="0"/>
            </a:endParaRPr>
          </a:p>
          <a:p>
            <a:pPr marL="0" indent="0">
              <a:buNone/>
            </a:pPr>
            <a:endParaRPr lang="en-GB" dirty="0">
              <a:latin typeface="Arial" charset="0"/>
            </a:endParaRPr>
          </a:p>
        </p:txBody>
      </p:sp>
    </p:spTree>
    <p:extLst>
      <p:ext uri="{BB962C8B-B14F-4D97-AF65-F5344CB8AC3E}">
        <p14:creationId xmlns:p14="http://schemas.microsoft.com/office/powerpoint/2010/main" val="317145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37</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Process management</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Process: The running instance of a program, e.g.:</a:t>
            </a:r>
          </a:p>
          <a:p>
            <a:pPr lvl="1"/>
            <a:r>
              <a:rPr lang="en-GB" dirty="0">
                <a:latin typeface="Arial" charset="0"/>
              </a:rPr>
              <a:t>Execution of a command </a:t>
            </a:r>
          </a:p>
          <a:p>
            <a:pPr lvl="1"/>
            <a:r>
              <a:rPr lang="en-GB" dirty="0">
                <a:latin typeface="Arial" charset="0"/>
              </a:rPr>
              <a:t>Execution of your program</a:t>
            </a:r>
          </a:p>
          <a:p>
            <a:endParaRPr lang="en-GB" dirty="0">
              <a:latin typeface="Arial" charset="0"/>
            </a:endParaRPr>
          </a:p>
          <a:p>
            <a:r>
              <a:rPr lang="en-GB" dirty="0">
                <a:latin typeface="Arial" charset="0"/>
              </a:rPr>
              <a:t>Serial execution: ;</a:t>
            </a:r>
            <a:endParaRPr lang="en-GB" dirty="0">
              <a:solidFill>
                <a:srgbClr val="000000"/>
              </a:solidFill>
              <a:latin typeface="Courier"/>
              <a:cs typeface="Courier"/>
            </a:endParaRPr>
          </a:p>
          <a:p>
            <a:pPr lvl="1"/>
            <a:r>
              <a:rPr lang="en-GB" dirty="0">
                <a:latin typeface="Arial" charset="0"/>
              </a:rPr>
              <a:t>All commands are executed</a:t>
            </a:r>
          </a:p>
          <a:p>
            <a:pPr lvl="1"/>
            <a:r>
              <a:rPr lang="en-GB" dirty="0">
                <a:latin typeface="Arial" charset="0"/>
              </a:rPr>
              <a:t>New prompt when last command finishes</a:t>
            </a:r>
            <a:endParaRPr lang="en-GB" dirty="0">
              <a:solidFill>
                <a:srgbClr val="800000"/>
              </a:solidFill>
              <a:latin typeface="Arial" charset="0"/>
            </a:endParaRPr>
          </a:p>
          <a:p>
            <a:pPr lvl="1"/>
            <a:r>
              <a:rPr lang="en-GB" sz="2000" dirty="0">
                <a:solidFill>
                  <a:schemeClr val="tx1"/>
                </a:solidFill>
              </a:rPr>
              <a:t>Ex</a:t>
            </a:r>
            <a:r>
              <a:rPr lang="en-GB" sz="2000" dirty="0">
                <a:solidFill>
                  <a:schemeClr val="tx1"/>
                </a:solidFill>
                <a:cs typeface="Courier"/>
              </a:rPr>
              <a:t>:</a:t>
            </a:r>
            <a:r>
              <a:rPr lang="en-GB" sz="2000" b="1" dirty="0">
                <a:solidFill>
                  <a:schemeClr val="tx1"/>
                </a:solidFill>
                <a:cs typeface="Courier"/>
              </a:rPr>
              <a:t> </a:t>
            </a:r>
            <a:r>
              <a:rPr lang="en-GB" sz="2000" b="1" dirty="0">
                <a:solidFill>
                  <a:schemeClr val="tx1"/>
                </a:solidFill>
                <a:latin typeface="Courier"/>
                <a:cs typeface="Courier"/>
              </a:rPr>
              <a:t>who | sort ; date</a:t>
            </a:r>
          </a:p>
          <a:p>
            <a:pPr marL="542925" lvl="1" indent="0">
              <a:buNone/>
            </a:pPr>
            <a:endParaRPr lang="en-GB" dirty="0">
              <a:latin typeface="Arial" charset="0"/>
            </a:endParaRPr>
          </a:p>
          <a:p>
            <a:pPr marL="363538" lvl="1" indent="-363538">
              <a:buSzPct val="75000"/>
              <a:buBlip>
                <a:blip r:embed="rId3"/>
              </a:buBlip>
            </a:pPr>
            <a:r>
              <a:rPr lang="en-GB" sz="2400" dirty="0">
                <a:latin typeface="Arial" charset="0"/>
                <a:sym typeface="Wingdings"/>
              </a:rPr>
              <a:t>Parallel execution: </a:t>
            </a:r>
            <a:r>
              <a:rPr lang="en-GB" sz="2400" b="1" dirty="0">
                <a:solidFill>
                  <a:srgbClr val="000000"/>
                </a:solidFill>
                <a:latin typeface="Courier"/>
                <a:cs typeface="Courier"/>
              </a:rPr>
              <a:t>&amp;</a:t>
            </a:r>
            <a:endParaRPr lang="en-GB" sz="2400" dirty="0">
              <a:latin typeface="Arial" charset="0"/>
              <a:sym typeface="Wingdings"/>
            </a:endParaRPr>
          </a:p>
          <a:p>
            <a:pPr lvl="1"/>
            <a:r>
              <a:rPr lang="en-GB" dirty="0">
                <a:latin typeface="Arial" charset="0"/>
                <a:sym typeface="Wingdings"/>
              </a:rPr>
              <a:t>All commands are executed </a:t>
            </a:r>
          </a:p>
          <a:p>
            <a:pPr lvl="1"/>
            <a:r>
              <a:rPr lang="en-GB" dirty="0">
                <a:latin typeface="Arial" charset="0"/>
                <a:sym typeface="Wingdings"/>
              </a:rPr>
              <a:t>A new prompt is directly available (execution at the background) </a:t>
            </a:r>
          </a:p>
          <a:p>
            <a:pPr lvl="1"/>
            <a:r>
              <a:rPr lang="en-GB" sz="2000" dirty="0">
                <a:solidFill>
                  <a:srgbClr val="000000"/>
                </a:solidFill>
                <a:latin typeface="Arial" charset="0"/>
              </a:rPr>
              <a:t>Ex: </a:t>
            </a:r>
            <a:r>
              <a:rPr lang="en-GB" sz="2000" b="1" dirty="0" err="1">
                <a:solidFill>
                  <a:srgbClr val="000000"/>
                </a:solidFill>
                <a:latin typeface="Courier"/>
                <a:cs typeface="Courier"/>
              </a:rPr>
              <a:t>pr</a:t>
            </a:r>
            <a:r>
              <a:rPr lang="en-GB" sz="2000" b="1" dirty="0">
                <a:solidFill>
                  <a:srgbClr val="000000"/>
                </a:solidFill>
                <a:latin typeface="Courier"/>
                <a:cs typeface="Courier"/>
              </a:rPr>
              <a:t> junk | </a:t>
            </a:r>
            <a:r>
              <a:rPr lang="en-GB" sz="2000" b="1" dirty="0" err="1">
                <a:solidFill>
                  <a:srgbClr val="000000"/>
                </a:solidFill>
                <a:latin typeface="Courier"/>
                <a:cs typeface="Courier"/>
              </a:rPr>
              <a:t>lpr</a:t>
            </a:r>
            <a:r>
              <a:rPr lang="en-GB" sz="2000" b="1" dirty="0">
                <a:solidFill>
                  <a:srgbClr val="000000"/>
                </a:solidFill>
                <a:latin typeface="Courier"/>
                <a:cs typeface="Courier"/>
              </a:rPr>
              <a:t> &amp;</a:t>
            </a:r>
          </a:p>
          <a:p>
            <a:pPr lvl="1"/>
            <a:endParaRPr lang="en-GB" dirty="0">
              <a:latin typeface="Arial" charset="0"/>
            </a:endParaRPr>
          </a:p>
          <a:p>
            <a:pPr marL="0" indent="0">
              <a:buNone/>
            </a:pPr>
            <a:endParaRPr lang="en-GB" dirty="0">
              <a:latin typeface="Arial" charset="0"/>
            </a:endParaRPr>
          </a:p>
        </p:txBody>
      </p:sp>
    </p:spTree>
    <p:extLst>
      <p:ext uri="{BB962C8B-B14F-4D97-AF65-F5344CB8AC3E}">
        <p14:creationId xmlns:p14="http://schemas.microsoft.com/office/powerpoint/2010/main" val="65820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38</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Process management: Active processes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Print the catalogue of the running processes: </a:t>
            </a:r>
            <a:r>
              <a:rPr lang="en-GB" b="1" dirty="0" err="1">
                <a:solidFill>
                  <a:schemeClr val="tx1"/>
                </a:solidFill>
                <a:latin typeface="Courier"/>
                <a:cs typeface="Courier"/>
              </a:rPr>
              <a:t>ps</a:t>
            </a:r>
            <a:endParaRPr lang="en-GB" b="1" dirty="0">
              <a:solidFill>
                <a:schemeClr val="tx1"/>
              </a:solidFill>
              <a:latin typeface="Courier"/>
              <a:cs typeface="Courier"/>
            </a:endParaRPr>
          </a:p>
          <a:p>
            <a:pPr lvl="1"/>
            <a:r>
              <a:rPr lang="en-GB" b="1" dirty="0">
                <a:solidFill>
                  <a:schemeClr val="tx1"/>
                </a:solidFill>
                <a:latin typeface="Courier"/>
                <a:cs typeface="Courier"/>
              </a:rPr>
              <a:t>-a: </a:t>
            </a:r>
            <a:r>
              <a:rPr lang="en-GB" dirty="0"/>
              <a:t>Select all processes associated with a terminal.</a:t>
            </a:r>
          </a:p>
          <a:p>
            <a:pPr lvl="1"/>
            <a:r>
              <a:rPr lang="en-GB" b="1" dirty="0">
                <a:solidFill>
                  <a:schemeClr val="tx1"/>
                </a:solidFill>
                <a:latin typeface="Courier"/>
                <a:cs typeface="Courier"/>
              </a:rPr>
              <a:t>PID: </a:t>
            </a:r>
            <a:r>
              <a:rPr lang="en-GB" dirty="0">
                <a:solidFill>
                  <a:schemeClr val="tx1"/>
                </a:solidFill>
                <a:cs typeface="Courier"/>
              </a:rPr>
              <a:t>Unique identity of the process</a:t>
            </a:r>
          </a:p>
          <a:p>
            <a:pPr lvl="1"/>
            <a:r>
              <a:rPr lang="en-GB" b="1" dirty="0">
                <a:solidFill>
                  <a:schemeClr val="tx1"/>
                </a:solidFill>
                <a:latin typeface="Courier"/>
                <a:cs typeface="Courier"/>
              </a:rPr>
              <a:t>TTY: </a:t>
            </a:r>
            <a:r>
              <a:rPr lang="en-GB" dirty="0">
                <a:solidFill>
                  <a:schemeClr val="tx1"/>
                </a:solidFill>
                <a:cs typeface="Courier"/>
              </a:rPr>
              <a:t>Console created the process</a:t>
            </a:r>
          </a:p>
          <a:p>
            <a:pPr lvl="1"/>
            <a:r>
              <a:rPr lang="en-GB" b="1" dirty="0">
                <a:solidFill>
                  <a:schemeClr val="tx1"/>
                </a:solidFill>
                <a:latin typeface="Courier"/>
                <a:cs typeface="Courier"/>
              </a:rPr>
              <a:t>TIME: </a:t>
            </a:r>
            <a:r>
              <a:rPr lang="en-GB" dirty="0">
                <a:solidFill>
                  <a:schemeClr val="tx1"/>
                </a:solidFill>
                <a:cs typeface="Courier"/>
              </a:rPr>
              <a:t>Total execution time (sec)</a:t>
            </a:r>
          </a:p>
          <a:p>
            <a:pPr lvl="1"/>
            <a:r>
              <a:rPr lang="en-GB" b="1" dirty="0">
                <a:solidFill>
                  <a:schemeClr val="tx1"/>
                </a:solidFill>
                <a:latin typeface="Courier"/>
                <a:cs typeface="Courier"/>
              </a:rPr>
              <a:t>CMD: </a:t>
            </a:r>
            <a:r>
              <a:rPr lang="en-GB" dirty="0">
                <a:solidFill>
                  <a:schemeClr val="tx1"/>
                </a:solidFill>
                <a:cs typeface="Courier"/>
              </a:rPr>
              <a:t>Command executed</a:t>
            </a:r>
            <a:endParaRPr lang="en-GB" dirty="0">
              <a:solidFill>
                <a:schemeClr val="tx1"/>
              </a:solidFill>
            </a:endParaRPr>
          </a:p>
          <a:p>
            <a:pPr marL="0" indent="0">
              <a:buNone/>
            </a:pPr>
            <a:endParaRPr lang="en-GB" dirty="0">
              <a:latin typeface="Arial" charset="0"/>
            </a:endParaRPr>
          </a:p>
        </p:txBody>
      </p:sp>
      <p:pic>
        <p:nvPicPr>
          <p:cNvPr id="2" name="Picture 1" descr="ps.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39752" y="3789040"/>
            <a:ext cx="5201340" cy="2039292"/>
          </a:xfrm>
          <a:prstGeom prst="rect">
            <a:avLst/>
          </a:prstGeom>
        </p:spPr>
      </p:pic>
    </p:spTree>
    <p:extLst>
      <p:ext uri="{BB962C8B-B14F-4D97-AF65-F5344CB8AC3E}">
        <p14:creationId xmlns:p14="http://schemas.microsoft.com/office/powerpoint/2010/main" val="1469000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39</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Process management: Control execution</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8" name="Rectangle 3"/>
          <p:cNvSpPr txBox="1">
            <a:spLocks noChangeArrowheads="1"/>
          </p:cNvSpPr>
          <p:nvPr/>
        </p:nvSpPr>
        <p:spPr bwMode="auto">
          <a:xfrm>
            <a:off x="457200" y="872716"/>
            <a:ext cx="8686800" cy="54726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End a running process</a:t>
            </a:r>
            <a:endParaRPr lang="en-GB" sz="2000" dirty="0">
              <a:solidFill>
                <a:schemeClr val="tx1"/>
              </a:solidFill>
              <a:latin typeface="Arial" charset="0"/>
            </a:endParaRPr>
          </a:p>
          <a:p>
            <a:pPr lvl="1"/>
            <a:r>
              <a:rPr lang="en-GB" dirty="0">
                <a:solidFill>
                  <a:schemeClr val="tx1"/>
                </a:solidFill>
                <a:latin typeface="Arial" charset="0"/>
              </a:rPr>
              <a:t>Global method:</a:t>
            </a:r>
          </a:p>
          <a:p>
            <a:pPr lvl="2"/>
            <a:r>
              <a:rPr lang="en-GB" sz="2000" b="1" dirty="0">
                <a:solidFill>
                  <a:schemeClr val="tx1"/>
                </a:solidFill>
                <a:latin typeface="Courier"/>
                <a:cs typeface="Courier"/>
              </a:rPr>
              <a:t>kill PID</a:t>
            </a:r>
          </a:p>
          <a:p>
            <a:pPr lvl="1"/>
            <a:endParaRPr lang="en-GB" b="1" dirty="0">
              <a:solidFill>
                <a:schemeClr val="tx1"/>
              </a:solidFill>
              <a:latin typeface="Courier"/>
              <a:cs typeface="Courier"/>
            </a:endParaRPr>
          </a:p>
          <a:p>
            <a:pPr lvl="1"/>
            <a:r>
              <a:rPr lang="en-GB" dirty="0">
                <a:solidFill>
                  <a:schemeClr val="tx1"/>
                </a:solidFill>
                <a:cs typeface="Courier"/>
              </a:rPr>
              <a:t>Foreground execution in current shell (through SIGNALS)</a:t>
            </a:r>
            <a:endParaRPr lang="en-GB" b="1" dirty="0">
              <a:solidFill>
                <a:schemeClr val="tx1"/>
              </a:solidFill>
              <a:latin typeface="Courier"/>
              <a:cs typeface="Courier"/>
            </a:endParaRPr>
          </a:p>
          <a:p>
            <a:pPr lvl="2"/>
            <a:r>
              <a:rPr lang="en-GB" sz="2000" b="1" dirty="0">
                <a:solidFill>
                  <a:srgbClr val="000000"/>
                </a:solidFill>
                <a:cs typeface="Courier"/>
              </a:rPr>
              <a:t>CTRL </a:t>
            </a:r>
            <a:r>
              <a:rPr lang="en-GB" sz="2000" b="1" dirty="0">
                <a:solidFill>
                  <a:schemeClr val="tx1"/>
                </a:solidFill>
                <a:latin typeface="Courier"/>
                <a:cs typeface="Courier"/>
              </a:rPr>
              <a:t>+ C </a:t>
            </a:r>
            <a:r>
              <a:rPr lang="en-GB" sz="2000" dirty="0">
                <a:solidFill>
                  <a:schemeClr val="tx1"/>
                </a:solidFill>
                <a:cs typeface="Courier"/>
              </a:rPr>
              <a:t>(Interrupt)</a:t>
            </a:r>
          </a:p>
          <a:p>
            <a:pPr lvl="2"/>
            <a:r>
              <a:rPr lang="en-GB" sz="2000" b="1" dirty="0">
                <a:solidFill>
                  <a:srgbClr val="000000"/>
                </a:solidFill>
                <a:cs typeface="Courier"/>
              </a:rPr>
              <a:t>CTRL </a:t>
            </a:r>
            <a:r>
              <a:rPr lang="en-GB" sz="2000" b="1" dirty="0">
                <a:solidFill>
                  <a:schemeClr val="tx1"/>
                </a:solidFill>
                <a:latin typeface="Courier"/>
                <a:cs typeface="Courier"/>
              </a:rPr>
              <a:t>+ D </a:t>
            </a:r>
            <a:r>
              <a:rPr lang="en-GB" sz="2000" dirty="0">
                <a:solidFill>
                  <a:schemeClr val="tx1"/>
                </a:solidFill>
                <a:latin typeface="Courier"/>
                <a:cs typeface="Courier"/>
              </a:rPr>
              <a:t>(</a:t>
            </a:r>
            <a:r>
              <a:rPr lang="en-GB" sz="2000" b="1" dirty="0">
                <a:solidFill>
                  <a:schemeClr val="tx1"/>
                </a:solidFill>
                <a:latin typeface="Courier"/>
                <a:cs typeface="Courier"/>
              </a:rPr>
              <a:t>EOF</a:t>
            </a:r>
            <a:r>
              <a:rPr lang="en-GB" sz="2000" dirty="0">
                <a:solidFill>
                  <a:schemeClr val="tx1"/>
                </a:solidFill>
                <a:latin typeface="Courier"/>
                <a:cs typeface="Courier"/>
              </a:rPr>
              <a:t>)</a:t>
            </a:r>
            <a:endParaRPr lang="en-GB" sz="2000" dirty="0">
              <a:solidFill>
                <a:schemeClr val="tx1"/>
              </a:solidFill>
              <a:cs typeface="Courier"/>
            </a:endParaRPr>
          </a:p>
          <a:p>
            <a:pPr lvl="2"/>
            <a:r>
              <a:rPr lang="en-GB" sz="2000" b="1" dirty="0">
                <a:solidFill>
                  <a:srgbClr val="000000"/>
                </a:solidFill>
                <a:cs typeface="Courier"/>
              </a:rPr>
              <a:t>CTRL </a:t>
            </a:r>
            <a:r>
              <a:rPr lang="en-GB" sz="2000" b="1" dirty="0">
                <a:solidFill>
                  <a:schemeClr val="tx1"/>
                </a:solidFill>
                <a:latin typeface="Courier"/>
                <a:cs typeface="Courier"/>
              </a:rPr>
              <a:t>+ \ </a:t>
            </a:r>
            <a:r>
              <a:rPr lang="en-GB" sz="2000" dirty="0">
                <a:solidFill>
                  <a:schemeClr val="tx1"/>
                </a:solidFill>
                <a:cs typeface="Courier"/>
              </a:rPr>
              <a:t>(Quit)</a:t>
            </a:r>
          </a:p>
          <a:p>
            <a:pPr lvl="1"/>
            <a:endParaRPr lang="en-GB" dirty="0">
              <a:solidFill>
                <a:schemeClr val="tx1"/>
              </a:solidFill>
              <a:cs typeface="Courier"/>
            </a:endParaRPr>
          </a:p>
          <a:p>
            <a:r>
              <a:rPr lang="en-GB" dirty="0">
                <a:solidFill>
                  <a:schemeClr val="tx1"/>
                </a:solidFill>
                <a:cs typeface="Courier"/>
              </a:rPr>
              <a:t>Pause a process</a:t>
            </a:r>
          </a:p>
          <a:p>
            <a:pPr lvl="1"/>
            <a:r>
              <a:rPr lang="en-GB" b="1" dirty="0">
                <a:solidFill>
                  <a:srgbClr val="000000"/>
                </a:solidFill>
                <a:cs typeface="Courier"/>
              </a:rPr>
              <a:t>CTRL </a:t>
            </a:r>
            <a:r>
              <a:rPr lang="en-GB" b="1" dirty="0">
                <a:solidFill>
                  <a:schemeClr val="tx1"/>
                </a:solidFill>
                <a:latin typeface="Courier New"/>
                <a:cs typeface="Courier New"/>
              </a:rPr>
              <a:t>+ Z</a:t>
            </a:r>
          </a:p>
          <a:p>
            <a:pPr lvl="1"/>
            <a:endParaRPr lang="en-GB" b="1" dirty="0">
              <a:solidFill>
                <a:schemeClr val="tx1"/>
              </a:solidFill>
              <a:latin typeface="Courier New"/>
              <a:cs typeface="Courier New"/>
            </a:endParaRPr>
          </a:p>
          <a:p>
            <a:r>
              <a:rPr lang="en-GB" dirty="0">
                <a:solidFill>
                  <a:schemeClr val="tx1"/>
                </a:solidFill>
                <a:cs typeface="Courier"/>
              </a:rPr>
              <a:t>Resume</a:t>
            </a:r>
          </a:p>
          <a:p>
            <a:pPr lvl="1"/>
            <a:r>
              <a:rPr lang="en-GB" dirty="0">
                <a:solidFill>
                  <a:schemeClr val="tx1"/>
                </a:solidFill>
                <a:cs typeface="Courier"/>
              </a:rPr>
              <a:t>Foreground (</a:t>
            </a:r>
            <a:r>
              <a:rPr lang="en-GB" b="1" dirty="0" err="1">
                <a:solidFill>
                  <a:schemeClr val="tx1"/>
                </a:solidFill>
                <a:latin typeface="Courier New"/>
                <a:cs typeface="Courier New"/>
              </a:rPr>
              <a:t>fg</a:t>
            </a:r>
            <a:r>
              <a:rPr lang="en-GB" dirty="0">
                <a:solidFill>
                  <a:schemeClr val="tx1"/>
                </a:solidFill>
                <a:cs typeface="Courier"/>
              </a:rPr>
              <a:t>)</a:t>
            </a:r>
          </a:p>
          <a:p>
            <a:pPr lvl="1"/>
            <a:r>
              <a:rPr lang="en-GB" dirty="0">
                <a:solidFill>
                  <a:schemeClr val="tx1"/>
                </a:solidFill>
                <a:cs typeface="Courier"/>
              </a:rPr>
              <a:t>Background (</a:t>
            </a:r>
            <a:r>
              <a:rPr lang="en-GB" b="1" dirty="0" err="1">
                <a:solidFill>
                  <a:schemeClr val="tx1"/>
                </a:solidFill>
                <a:latin typeface="Courier New"/>
                <a:cs typeface="Courier New"/>
              </a:rPr>
              <a:t>bg</a:t>
            </a:r>
            <a:r>
              <a:rPr lang="en-GB" dirty="0">
                <a:solidFill>
                  <a:schemeClr val="tx1"/>
                </a:solidFill>
                <a:cs typeface="Courier"/>
              </a:rPr>
              <a:t>)</a:t>
            </a:r>
          </a:p>
          <a:p>
            <a:pPr lvl="2" indent="0">
              <a:buNone/>
            </a:pPr>
            <a:endParaRPr lang="en-GB" dirty="0">
              <a:solidFill>
                <a:schemeClr val="tx1"/>
              </a:solidFill>
              <a:cs typeface="Courier"/>
            </a:endParaRPr>
          </a:p>
        </p:txBody>
      </p:sp>
    </p:spTree>
    <p:extLst>
      <p:ext uri="{BB962C8B-B14F-4D97-AF65-F5344CB8AC3E}">
        <p14:creationId xmlns:p14="http://schemas.microsoft.com/office/powerpoint/2010/main" val="25375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3" end="1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40</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Shell Variables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620688"/>
            <a:ext cx="9083352"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Initial values: defined in system and user configuration file</a:t>
            </a:r>
          </a:p>
          <a:p>
            <a:endParaRPr lang="en-GB" sz="1000" dirty="0">
              <a:latin typeface="Arial" charset="0"/>
            </a:endParaRPr>
          </a:p>
          <a:p>
            <a:pPr marL="363538" lvl="1" indent="-363538">
              <a:buSzPct val="75000"/>
              <a:buBlip>
                <a:blip r:embed="rId3"/>
              </a:buBlip>
            </a:pPr>
            <a:r>
              <a:rPr lang="en-GB" sz="2400" dirty="0">
                <a:latin typeface="Arial" charset="0"/>
              </a:rPr>
              <a:t>Use uppercase by convention</a:t>
            </a:r>
          </a:p>
          <a:p>
            <a:pPr marL="363538" lvl="1" indent="-363538">
              <a:buSzPct val="75000"/>
              <a:buBlip>
                <a:blip r:embed="rId3"/>
              </a:buBlip>
            </a:pPr>
            <a:endParaRPr lang="en-GB" sz="1000" dirty="0">
              <a:latin typeface="Arial" charset="0"/>
            </a:endParaRPr>
          </a:p>
          <a:p>
            <a:r>
              <a:rPr lang="en-GB" dirty="0">
                <a:latin typeface="Arial" charset="0"/>
              </a:rPr>
              <a:t>Definition of variables b</a:t>
            </a:r>
            <a:r>
              <a:rPr lang="en-GB" dirty="0">
                <a:solidFill>
                  <a:schemeClr val="tx1"/>
                </a:solidFill>
                <a:cs typeface="Courier"/>
              </a:rPr>
              <a:t>ased on the type (bash shell)</a:t>
            </a:r>
          </a:p>
          <a:p>
            <a:pPr lvl="1"/>
            <a:r>
              <a:rPr lang="en-GB" dirty="0">
                <a:solidFill>
                  <a:schemeClr val="tx1"/>
                </a:solidFill>
                <a:cs typeface="Courier"/>
              </a:rPr>
              <a:t>String variables: </a:t>
            </a:r>
            <a:r>
              <a:rPr lang="en-GB" b="1" dirty="0">
                <a:solidFill>
                  <a:schemeClr val="tx1"/>
                </a:solidFill>
                <a:latin typeface="Courier"/>
                <a:cs typeface="Courier"/>
              </a:rPr>
              <a:t>MYVAR=</a:t>
            </a:r>
            <a:r>
              <a:rPr lang="en-US" b="1" dirty="0">
                <a:solidFill>
                  <a:schemeClr val="tx1"/>
                </a:solidFill>
                <a:latin typeface="Courier New"/>
                <a:ea typeface="Courier New"/>
              </a:rPr>
              <a:t>"</a:t>
            </a:r>
            <a:r>
              <a:rPr lang="en-GB" b="1" dirty="0">
                <a:solidFill>
                  <a:schemeClr val="tx1"/>
                </a:solidFill>
                <a:latin typeface="Courier"/>
                <a:cs typeface="Courier"/>
              </a:rPr>
              <a:t>value</a:t>
            </a:r>
            <a:r>
              <a:rPr lang="en-US" b="1" dirty="0">
                <a:solidFill>
                  <a:schemeClr val="tx1"/>
                </a:solidFill>
                <a:latin typeface="Courier New"/>
                <a:ea typeface="Courier New"/>
              </a:rPr>
              <a:t>"</a:t>
            </a:r>
            <a:r>
              <a:rPr lang="en-GB" b="1" dirty="0">
                <a:solidFill>
                  <a:schemeClr val="tx1"/>
                </a:solidFill>
                <a:latin typeface="Courier"/>
                <a:cs typeface="Courier"/>
              </a:rPr>
              <a:t> </a:t>
            </a:r>
            <a:r>
              <a:rPr lang="en-GB" b="1" dirty="0">
                <a:solidFill>
                  <a:srgbClr val="FF0000"/>
                </a:solidFill>
                <a:latin typeface="Courier"/>
                <a:cs typeface="Courier"/>
              </a:rPr>
              <a:t>(NO SPACES around =)</a:t>
            </a:r>
          </a:p>
          <a:p>
            <a:pPr lvl="1"/>
            <a:r>
              <a:rPr lang="en-GB" dirty="0">
                <a:solidFill>
                  <a:schemeClr val="tx1"/>
                </a:solidFill>
                <a:cs typeface="Courier"/>
              </a:rPr>
              <a:t>Integer variables: </a:t>
            </a:r>
            <a:r>
              <a:rPr lang="en-GB" b="1" dirty="0">
                <a:solidFill>
                  <a:schemeClr val="tx1"/>
                </a:solidFill>
                <a:latin typeface="Courier"/>
                <a:cs typeface="Courier"/>
              </a:rPr>
              <a:t>declare –</a:t>
            </a:r>
            <a:r>
              <a:rPr lang="en-GB" b="1" dirty="0" err="1">
                <a:solidFill>
                  <a:schemeClr val="tx1"/>
                </a:solidFill>
                <a:latin typeface="Courier"/>
                <a:cs typeface="Courier"/>
              </a:rPr>
              <a:t>i</a:t>
            </a:r>
            <a:r>
              <a:rPr lang="en-GB" b="1" dirty="0">
                <a:solidFill>
                  <a:schemeClr val="tx1"/>
                </a:solidFill>
                <a:latin typeface="Courier"/>
                <a:cs typeface="Courier"/>
              </a:rPr>
              <a:t> MYVAR</a:t>
            </a:r>
          </a:p>
          <a:p>
            <a:pPr lvl="1"/>
            <a:r>
              <a:rPr lang="en-GB" dirty="0">
                <a:solidFill>
                  <a:schemeClr val="tx1"/>
                </a:solidFill>
                <a:cs typeface="Courier"/>
              </a:rPr>
              <a:t>Constant variables: </a:t>
            </a:r>
            <a:r>
              <a:rPr lang="en-GB" b="1" dirty="0" err="1">
                <a:solidFill>
                  <a:schemeClr val="tx1"/>
                </a:solidFill>
                <a:latin typeface="Courier"/>
                <a:cs typeface="Courier"/>
              </a:rPr>
              <a:t>readonly</a:t>
            </a:r>
            <a:r>
              <a:rPr lang="en-GB" b="1" dirty="0">
                <a:solidFill>
                  <a:schemeClr val="tx1"/>
                </a:solidFill>
                <a:latin typeface="Courier"/>
                <a:cs typeface="Courier"/>
              </a:rPr>
              <a:t> DATA=value</a:t>
            </a:r>
          </a:p>
          <a:p>
            <a:pPr lvl="1"/>
            <a:r>
              <a:rPr lang="en-GB" dirty="0">
                <a:solidFill>
                  <a:schemeClr val="tx1"/>
                </a:solidFill>
                <a:cs typeface="Courier"/>
              </a:rPr>
              <a:t>Array variables: </a:t>
            </a:r>
            <a:r>
              <a:rPr lang="en-GB" b="1" dirty="0">
                <a:solidFill>
                  <a:schemeClr val="tx1"/>
                </a:solidFill>
                <a:latin typeface="Courier"/>
                <a:cs typeface="Courier"/>
              </a:rPr>
              <a:t>declare –a MYARRAY MYARRAY[0]=</a:t>
            </a:r>
            <a:r>
              <a:rPr lang="en-US" b="1" dirty="0">
                <a:solidFill>
                  <a:schemeClr val="tx1"/>
                </a:solidFill>
                <a:latin typeface="Courier New"/>
                <a:ea typeface="Courier New"/>
              </a:rPr>
              <a:t>"</a:t>
            </a:r>
            <a:r>
              <a:rPr lang="en-GB" b="1" dirty="0">
                <a:solidFill>
                  <a:schemeClr val="tx1"/>
                </a:solidFill>
                <a:latin typeface="Courier"/>
                <a:cs typeface="Courier"/>
              </a:rPr>
              <a:t>one</a:t>
            </a:r>
            <a:r>
              <a:rPr lang="en-US" b="1" dirty="0">
                <a:solidFill>
                  <a:schemeClr val="tx1"/>
                </a:solidFill>
                <a:latin typeface="Courier New"/>
                <a:ea typeface="Courier New"/>
              </a:rPr>
              <a:t>"</a:t>
            </a:r>
            <a:r>
              <a:rPr lang="en-GB" b="1" dirty="0">
                <a:solidFill>
                  <a:schemeClr val="tx1"/>
                </a:solidFill>
                <a:latin typeface="Courier"/>
                <a:cs typeface="Courier"/>
              </a:rPr>
              <a:t>; MYARRAY[1]=5	</a:t>
            </a:r>
          </a:p>
          <a:p>
            <a:pPr lvl="1"/>
            <a:endParaRPr lang="en-GB" sz="1000" dirty="0">
              <a:solidFill>
                <a:schemeClr val="tx1"/>
              </a:solidFill>
              <a:latin typeface="Arial" charset="0"/>
            </a:endParaRPr>
          </a:p>
          <a:p>
            <a:r>
              <a:rPr lang="en-GB" dirty="0">
                <a:solidFill>
                  <a:schemeClr val="tx1"/>
                </a:solidFill>
                <a:latin typeface="Arial" charset="0"/>
              </a:rPr>
              <a:t>Use of variables: </a:t>
            </a:r>
            <a:r>
              <a:rPr lang="en-GB" b="1" dirty="0">
                <a:solidFill>
                  <a:schemeClr val="tx1"/>
                </a:solidFill>
                <a:latin typeface="Courier"/>
                <a:cs typeface="Courier"/>
              </a:rPr>
              <a:t>$</a:t>
            </a:r>
          </a:p>
          <a:p>
            <a:pPr lvl="1"/>
            <a:r>
              <a:rPr lang="en-GB" dirty="0">
                <a:solidFill>
                  <a:schemeClr val="tx1"/>
                </a:solidFill>
                <a:cs typeface="Courier"/>
              </a:rPr>
              <a:t>E.g.</a:t>
            </a:r>
            <a:r>
              <a:rPr lang="en-GB" b="1" dirty="0">
                <a:solidFill>
                  <a:schemeClr val="tx1"/>
                </a:solidFill>
                <a:latin typeface="Courier"/>
                <a:cs typeface="Courier"/>
              </a:rPr>
              <a:t> $MYVAR</a:t>
            </a:r>
          </a:p>
          <a:p>
            <a:endParaRPr lang="en-GB" sz="1000" b="1" dirty="0">
              <a:solidFill>
                <a:schemeClr val="tx1"/>
              </a:solidFill>
              <a:latin typeface="Courier"/>
              <a:cs typeface="Courier"/>
            </a:endParaRPr>
          </a:p>
          <a:p>
            <a:r>
              <a:rPr lang="en-GB" dirty="0">
                <a:solidFill>
                  <a:schemeClr val="tx1"/>
                </a:solidFill>
                <a:latin typeface="Arial" charset="0"/>
              </a:rPr>
              <a:t>Lifetime of variables:</a:t>
            </a:r>
          </a:p>
          <a:p>
            <a:pPr lvl="1"/>
            <a:r>
              <a:rPr lang="en-GB" dirty="0">
                <a:solidFill>
                  <a:schemeClr val="tx1"/>
                </a:solidFill>
                <a:latin typeface="Arial" charset="0"/>
              </a:rPr>
              <a:t>End of session – termination of shell</a:t>
            </a:r>
          </a:p>
          <a:p>
            <a:pPr lvl="1"/>
            <a:r>
              <a:rPr lang="en-GB" dirty="0">
                <a:solidFill>
                  <a:schemeClr val="tx1"/>
                </a:solidFill>
                <a:latin typeface="Arial" charset="0"/>
              </a:rPr>
              <a:t>Deleted by user: </a:t>
            </a:r>
            <a:r>
              <a:rPr lang="en-GB" b="1" dirty="0">
                <a:latin typeface="Courier"/>
                <a:cs typeface="Courier"/>
              </a:rPr>
              <a:t>unset VARNAME</a:t>
            </a:r>
            <a:endParaRPr lang="en-GB" dirty="0">
              <a:solidFill>
                <a:schemeClr val="tx1"/>
              </a:solidFill>
              <a:latin typeface="Arial" charset="0"/>
            </a:endParaRPr>
          </a:p>
          <a:p>
            <a:pPr marL="542925" lvl="1" indent="0">
              <a:buNone/>
            </a:pPr>
            <a:endParaRPr lang="en-GB" dirty="0">
              <a:latin typeface="Arial" charset="0"/>
            </a:endParaRPr>
          </a:p>
        </p:txBody>
      </p:sp>
    </p:spTree>
    <p:extLst>
      <p:ext uri="{BB962C8B-B14F-4D97-AF65-F5344CB8AC3E}">
        <p14:creationId xmlns:p14="http://schemas.microsoft.com/office/powerpoint/2010/main" val="107272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41</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Shell Variables: Scope</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31540" y="1196752"/>
            <a:ext cx="8388932" cy="48245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latin typeface="Arial" charset="0"/>
              </a:rPr>
              <a:t>Global: Public variable seen by all subshells</a:t>
            </a:r>
          </a:p>
          <a:p>
            <a:pPr lvl="1"/>
            <a:r>
              <a:rPr lang="en-GB" dirty="0">
                <a:solidFill>
                  <a:schemeClr val="tx1"/>
                </a:solidFill>
                <a:latin typeface="Arial" charset="0"/>
              </a:rPr>
              <a:t>Set export attitude for the variable: </a:t>
            </a:r>
            <a:r>
              <a:rPr lang="en-GB" b="1" dirty="0">
                <a:solidFill>
                  <a:schemeClr val="tx1"/>
                </a:solidFill>
                <a:latin typeface="Courier"/>
                <a:cs typeface="Courier"/>
              </a:rPr>
              <a:t>export</a:t>
            </a:r>
            <a:endParaRPr lang="en-GB" dirty="0">
              <a:solidFill>
                <a:schemeClr val="tx1"/>
              </a:solidFill>
              <a:latin typeface="Arial" charset="0"/>
            </a:endParaRPr>
          </a:p>
          <a:p>
            <a:pPr lvl="1"/>
            <a:r>
              <a:rPr lang="en-GB" dirty="0">
                <a:solidFill>
                  <a:schemeClr val="tx1"/>
                </a:solidFill>
                <a:latin typeface="Arial" charset="0"/>
              </a:rPr>
              <a:t>Print global variables:  </a:t>
            </a:r>
            <a:r>
              <a:rPr lang="en-GB" b="1" dirty="0" err="1">
                <a:solidFill>
                  <a:schemeClr val="tx1"/>
                </a:solidFill>
                <a:latin typeface="Courier"/>
                <a:cs typeface="Courier"/>
              </a:rPr>
              <a:t>env</a:t>
            </a:r>
            <a:r>
              <a:rPr lang="en-GB" b="1" dirty="0">
                <a:solidFill>
                  <a:schemeClr val="tx1"/>
                </a:solidFill>
                <a:latin typeface="Courier"/>
                <a:cs typeface="Courier"/>
              </a:rPr>
              <a:t>, </a:t>
            </a:r>
            <a:r>
              <a:rPr lang="en-GB" b="1" dirty="0" err="1">
                <a:solidFill>
                  <a:schemeClr val="tx1"/>
                </a:solidFill>
                <a:latin typeface="Courier"/>
                <a:cs typeface="Courier"/>
              </a:rPr>
              <a:t>printenv</a:t>
            </a:r>
            <a:endParaRPr lang="en-GB" b="1" dirty="0">
              <a:solidFill>
                <a:schemeClr val="tx1"/>
              </a:solidFill>
              <a:latin typeface="Courier"/>
              <a:cs typeface="Courier"/>
            </a:endParaRPr>
          </a:p>
          <a:p>
            <a:pPr lvl="1"/>
            <a:endParaRPr lang="en-GB" dirty="0">
              <a:solidFill>
                <a:schemeClr val="tx1"/>
              </a:solidFill>
              <a:latin typeface="Arial" charset="0"/>
            </a:endParaRPr>
          </a:p>
          <a:p>
            <a:r>
              <a:rPr lang="en-GB" dirty="0">
                <a:solidFill>
                  <a:schemeClr val="tx1"/>
                </a:solidFill>
                <a:latin typeface="Arial" charset="0"/>
              </a:rPr>
              <a:t>Local variables: Seen by current shell</a:t>
            </a:r>
          </a:p>
          <a:p>
            <a:pPr lvl="1"/>
            <a:r>
              <a:rPr lang="en-GB" dirty="0">
                <a:solidFill>
                  <a:schemeClr val="tx1"/>
                </a:solidFill>
                <a:latin typeface="Arial" charset="0"/>
              </a:rPr>
              <a:t>Print list of local and global variables: </a:t>
            </a:r>
            <a:r>
              <a:rPr lang="en-GB" b="1" dirty="0">
                <a:solidFill>
                  <a:schemeClr val="tx1"/>
                </a:solidFill>
                <a:latin typeface="Courier"/>
                <a:cs typeface="Courier"/>
              </a:rPr>
              <a:t>set</a:t>
            </a:r>
          </a:p>
          <a:p>
            <a:pPr marL="542925" lvl="1" indent="0">
              <a:buNone/>
            </a:pPr>
            <a:endParaRPr lang="en-GB" b="1" dirty="0">
              <a:solidFill>
                <a:schemeClr val="tx1"/>
              </a:solidFill>
              <a:latin typeface="Courier"/>
              <a:cs typeface="Courier"/>
            </a:endParaRPr>
          </a:p>
        </p:txBody>
      </p:sp>
    </p:spTree>
    <p:extLst>
      <p:ext uri="{BB962C8B-B14F-4D97-AF65-F5344CB8AC3E}">
        <p14:creationId xmlns:p14="http://schemas.microsoft.com/office/powerpoint/2010/main" val="43046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42</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Shell Variables: Scope example</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pic>
        <p:nvPicPr>
          <p:cNvPr id="3" name="Picture 2" descr="var.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525" y="709244"/>
            <a:ext cx="5747783" cy="6032124"/>
          </a:xfrm>
          <a:prstGeom prst="rect">
            <a:avLst/>
          </a:prstGeom>
        </p:spPr>
      </p:pic>
    </p:spTree>
    <p:extLst>
      <p:ext uri="{BB962C8B-B14F-4D97-AF65-F5344CB8AC3E}">
        <p14:creationId xmlns:p14="http://schemas.microsoft.com/office/powerpoint/2010/main" val="2703784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43</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p:txBody>
          <a:bodyPr/>
          <a:lstStyle/>
          <a:p>
            <a:r>
              <a:rPr lang="en-US" sz="2800" dirty="0">
                <a:latin typeface="Arial" charset="0"/>
              </a:rPr>
              <a:t>Predefined shell variables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graphicFrame>
        <p:nvGraphicFramePr>
          <p:cNvPr id="2" name="Table 1"/>
          <p:cNvGraphicFramePr>
            <a:graphicFrameLocks noGrp="1"/>
          </p:cNvGraphicFramePr>
          <p:nvPr>
            <p:extLst>
              <p:ext uri="{D42A27DB-BD31-4B8C-83A1-F6EECF244321}">
                <p14:modId xmlns:p14="http://schemas.microsoft.com/office/powerpoint/2010/main" val="1557151351"/>
              </p:ext>
            </p:extLst>
          </p:nvPr>
        </p:nvGraphicFramePr>
        <p:xfrm>
          <a:off x="252029" y="1124746"/>
          <a:ext cx="8460431" cy="4068450"/>
        </p:xfrm>
        <a:graphic>
          <a:graphicData uri="http://schemas.openxmlformats.org/drawingml/2006/table">
            <a:tbl>
              <a:tblPr firstRow="1" bandRow="1">
                <a:tableStyleId>{5940675A-B579-460E-94D1-54222C63F5DA}</a:tableStyleId>
              </a:tblPr>
              <a:tblGrid>
                <a:gridCol w="2200325">
                  <a:extLst>
                    <a:ext uri="{9D8B030D-6E8A-4147-A177-3AD203B41FA5}">
                      <a16:colId xmlns:a16="http://schemas.microsoft.com/office/drawing/2014/main" val="20000"/>
                    </a:ext>
                  </a:extLst>
                </a:gridCol>
                <a:gridCol w="6260106">
                  <a:extLst>
                    <a:ext uri="{9D8B030D-6E8A-4147-A177-3AD203B41FA5}">
                      <a16:colId xmlns:a16="http://schemas.microsoft.com/office/drawing/2014/main" val="20001"/>
                    </a:ext>
                  </a:extLst>
                </a:gridCol>
              </a:tblGrid>
              <a:tr h="406845">
                <a:tc>
                  <a:txBody>
                    <a:bodyPr/>
                    <a:lstStyle/>
                    <a:p>
                      <a:r>
                        <a:rPr lang="en-US" b="1" dirty="0">
                          <a:solidFill>
                            <a:srgbClr val="000000"/>
                          </a:solidFill>
                        </a:rPr>
                        <a:t>Variable</a:t>
                      </a:r>
                    </a:p>
                  </a:txBody>
                  <a:tcPr>
                    <a:solidFill>
                      <a:schemeClr val="bg1">
                        <a:lumMod val="75000"/>
                      </a:schemeClr>
                    </a:solidFill>
                  </a:tcPr>
                </a:tc>
                <a:tc>
                  <a:txBody>
                    <a:bodyPr/>
                    <a:lstStyle/>
                    <a:p>
                      <a:r>
                        <a:rPr lang="en-US" b="1" dirty="0">
                          <a:solidFill>
                            <a:srgbClr val="000000"/>
                          </a:solidFill>
                        </a:rPr>
                        <a:t>Description</a:t>
                      </a:r>
                    </a:p>
                  </a:txBody>
                  <a:tcPr>
                    <a:solidFill>
                      <a:schemeClr val="bg1">
                        <a:lumMod val="75000"/>
                      </a:schemeClr>
                    </a:solidFill>
                  </a:tcPr>
                </a:tc>
                <a:extLst>
                  <a:ext uri="{0D108BD9-81ED-4DB2-BD59-A6C34878D82A}">
                    <a16:rowId xmlns:a16="http://schemas.microsoft.com/office/drawing/2014/main" val="10000"/>
                  </a:ext>
                </a:extLst>
              </a:tr>
              <a:tr h="406845">
                <a:tc>
                  <a:txBody>
                    <a:bodyPr/>
                    <a:lstStyle/>
                    <a:p>
                      <a:r>
                        <a:rPr lang="en-US" b="1" dirty="0">
                          <a:solidFill>
                            <a:srgbClr val="000000"/>
                          </a:solidFill>
                          <a:latin typeface="Courier"/>
                          <a:cs typeface="Courier"/>
                        </a:rPr>
                        <a:t>USER</a:t>
                      </a:r>
                    </a:p>
                  </a:txBody>
                  <a:tcPr/>
                </a:tc>
                <a:tc>
                  <a:txBody>
                    <a:bodyPr/>
                    <a:lstStyle/>
                    <a:p>
                      <a:r>
                        <a:rPr lang="en-US" dirty="0">
                          <a:solidFill>
                            <a:srgbClr val="000000"/>
                          </a:solidFill>
                        </a:rPr>
                        <a:t>Name of user account</a:t>
                      </a:r>
                    </a:p>
                  </a:txBody>
                  <a:tcPr/>
                </a:tc>
                <a:extLst>
                  <a:ext uri="{0D108BD9-81ED-4DB2-BD59-A6C34878D82A}">
                    <a16:rowId xmlns:a16="http://schemas.microsoft.com/office/drawing/2014/main" val="10001"/>
                  </a:ext>
                </a:extLst>
              </a:tr>
              <a:tr h="406845">
                <a:tc>
                  <a:txBody>
                    <a:bodyPr/>
                    <a:lstStyle/>
                    <a:p>
                      <a:r>
                        <a:rPr lang="en-US" b="1" dirty="0">
                          <a:solidFill>
                            <a:srgbClr val="000000"/>
                          </a:solidFill>
                          <a:latin typeface="Courier"/>
                          <a:cs typeface="Courier"/>
                        </a:rPr>
                        <a:t>HOME</a:t>
                      </a:r>
                    </a:p>
                  </a:txBody>
                  <a:tcPr/>
                </a:tc>
                <a:tc>
                  <a:txBody>
                    <a:bodyPr/>
                    <a:lstStyle/>
                    <a:p>
                      <a:r>
                        <a:rPr lang="en-US" dirty="0">
                          <a:solidFill>
                            <a:srgbClr val="000000"/>
                          </a:solidFill>
                        </a:rPr>
                        <a:t>Personal folder of user</a:t>
                      </a:r>
                    </a:p>
                  </a:txBody>
                  <a:tcPr/>
                </a:tc>
                <a:extLst>
                  <a:ext uri="{0D108BD9-81ED-4DB2-BD59-A6C34878D82A}">
                    <a16:rowId xmlns:a16="http://schemas.microsoft.com/office/drawing/2014/main" val="10002"/>
                  </a:ext>
                </a:extLst>
              </a:tr>
              <a:tr h="406845">
                <a:tc>
                  <a:txBody>
                    <a:bodyPr/>
                    <a:lstStyle/>
                    <a:p>
                      <a:r>
                        <a:rPr lang="en-US" b="1" dirty="0">
                          <a:solidFill>
                            <a:srgbClr val="000000"/>
                          </a:solidFill>
                          <a:latin typeface="Courier"/>
                          <a:cs typeface="Courier"/>
                        </a:rPr>
                        <a:t>TERM</a:t>
                      </a:r>
                    </a:p>
                  </a:txBody>
                  <a:tcPr/>
                </a:tc>
                <a:tc>
                  <a:txBody>
                    <a:bodyPr/>
                    <a:lstStyle/>
                    <a:p>
                      <a:r>
                        <a:rPr lang="en-US" dirty="0">
                          <a:solidFill>
                            <a:srgbClr val="000000"/>
                          </a:solidFill>
                        </a:rPr>
                        <a:t>Type of terminal</a:t>
                      </a:r>
                    </a:p>
                  </a:txBody>
                  <a:tcPr/>
                </a:tc>
                <a:extLst>
                  <a:ext uri="{0D108BD9-81ED-4DB2-BD59-A6C34878D82A}">
                    <a16:rowId xmlns:a16="http://schemas.microsoft.com/office/drawing/2014/main" val="10003"/>
                  </a:ext>
                </a:extLst>
              </a:tr>
              <a:tr h="406845">
                <a:tc>
                  <a:txBody>
                    <a:bodyPr/>
                    <a:lstStyle/>
                    <a:p>
                      <a:r>
                        <a:rPr lang="en-US" b="1" dirty="0">
                          <a:solidFill>
                            <a:srgbClr val="000000"/>
                          </a:solidFill>
                          <a:latin typeface="Courier"/>
                          <a:cs typeface="Courier"/>
                        </a:rPr>
                        <a:t>SHELL</a:t>
                      </a:r>
                    </a:p>
                  </a:txBody>
                  <a:tcPr/>
                </a:tc>
                <a:tc>
                  <a:txBody>
                    <a:bodyPr/>
                    <a:lstStyle/>
                    <a:p>
                      <a:r>
                        <a:rPr lang="en-US" dirty="0">
                          <a:solidFill>
                            <a:srgbClr val="000000"/>
                          </a:solidFill>
                        </a:rPr>
                        <a:t>Name of shell</a:t>
                      </a:r>
                    </a:p>
                  </a:txBody>
                  <a:tcPr/>
                </a:tc>
                <a:extLst>
                  <a:ext uri="{0D108BD9-81ED-4DB2-BD59-A6C34878D82A}">
                    <a16:rowId xmlns:a16="http://schemas.microsoft.com/office/drawing/2014/main" val="10004"/>
                  </a:ext>
                </a:extLst>
              </a:tr>
              <a:tr h="406845">
                <a:tc>
                  <a:txBody>
                    <a:bodyPr/>
                    <a:lstStyle/>
                    <a:p>
                      <a:r>
                        <a:rPr lang="en-US" b="1" dirty="0">
                          <a:solidFill>
                            <a:srgbClr val="000000"/>
                          </a:solidFill>
                          <a:latin typeface="Courier"/>
                          <a:cs typeface="Courier"/>
                        </a:rPr>
                        <a:t>PATH</a:t>
                      </a:r>
                    </a:p>
                  </a:txBody>
                  <a:tcPr/>
                </a:tc>
                <a:tc>
                  <a:txBody>
                    <a:bodyPr/>
                    <a:lstStyle/>
                    <a:p>
                      <a:r>
                        <a:rPr lang="en-US" dirty="0">
                          <a:solidFill>
                            <a:srgbClr val="000000"/>
                          </a:solidFill>
                        </a:rPr>
                        <a:t>List of directories with executable commands</a:t>
                      </a:r>
                    </a:p>
                  </a:txBody>
                  <a:tcPr/>
                </a:tc>
                <a:extLst>
                  <a:ext uri="{0D108BD9-81ED-4DB2-BD59-A6C34878D82A}">
                    <a16:rowId xmlns:a16="http://schemas.microsoft.com/office/drawing/2014/main" val="10005"/>
                  </a:ext>
                </a:extLst>
              </a:tr>
              <a:tr h="406845">
                <a:tc>
                  <a:txBody>
                    <a:bodyPr/>
                    <a:lstStyle/>
                    <a:p>
                      <a:r>
                        <a:rPr lang="en-US" b="1" dirty="0">
                          <a:solidFill>
                            <a:srgbClr val="000000"/>
                          </a:solidFill>
                          <a:latin typeface="Courier"/>
                          <a:cs typeface="Courier"/>
                        </a:rPr>
                        <a:t>MANPATH</a:t>
                      </a:r>
                    </a:p>
                  </a:txBody>
                  <a:tcPr/>
                </a:tc>
                <a:tc>
                  <a:txBody>
                    <a:bodyPr/>
                    <a:lstStyle/>
                    <a:p>
                      <a:r>
                        <a:rPr lang="en-US" dirty="0">
                          <a:solidFill>
                            <a:srgbClr val="000000"/>
                          </a:solidFill>
                        </a:rPr>
                        <a:t>List of directories with help information</a:t>
                      </a:r>
                      <a:r>
                        <a:rPr lang="en-US" baseline="0" dirty="0">
                          <a:solidFill>
                            <a:srgbClr val="000000"/>
                          </a:solidFill>
                        </a:rPr>
                        <a:t> for the commands</a:t>
                      </a:r>
                      <a:endParaRPr lang="en-US" dirty="0">
                        <a:solidFill>
                          <a:srgbClr val="000000"/>
                        </a:solidFill>
                      </a:endParaRPr>
                    </a:p>
                  </a:txBody>
                  <a:tcPr/>
                </a:tc>
                <a:extLst>
                  <a:ext uri="{0D108BD9-81ED-4DB2-BD59-A6C34878D82A}">
                    <a16:rowId xmlns:a16="http://schemas.microsoft.com/office/drawing/2014/main" val="10006"/>
                  </a:ext>
                </a:extLst>
              </a:tr>
              <a:tr h="406845">
                <a:tc>
                  <a:txBody>
                    <a:bodyPr/>
                    <a:lstStyle/>
                    <a:p>
                      <a:r>
                        <a:rPr lang="en-US" b="1" dirty="0">
                          <a:solidFill>
                            <a:srgbClr val="000000"/>
                          </a:solidFill>
                          <a:latin typeface="Courier"/>
                          <a:cs typeface="Courier"/>
                        </a:rPr>
                        <a:t>PWD</a:t>
                      </a:r>
                    </a:p>
                  </a:txBody>
                  <a:tcPr/>
                </a:tc>
                <a:tc>
                  <a:txBody>
                    <a:bodyPr/>
                    <a:lstStyle/>
                    <a:p>
                      <a:r>
                        <a:rPr lang="en-US" dirty="0">
                          <a:solidFill>
                            <a:srgbClr val="000000"/>
                          </a:solidFill>
                        </a:rPr>
                        <a:t>Current directory</a:t>
                      </a:r>
                    </a:p>
                  </a:txBody>
                  <a:tcPr/>
                </a:tc>
                <a:extLst>
                  <a:ext uri="{0D108BD9-81ED-4DB2-BD59-A6C34878D82A}">
                    <a16:rowId xmlns:a16="http://schemas.microsoft.com/office/drawing/2014/main" val="10007"/>
                  </a:ext>
                </a:extLst>
              </a:tr>
              <a:tr h="406845">
                <a:tc>
                  <a:txBody>
                    <a:bodyPr/>
                    <a:lstStyle/>
                    <a:p>
                      <a:r>
                        <a:rPr lang="en-US" b="1" dirty="0">
                          <a:solidFill>
                            <a:srgbClr val="000000"/>
                          </a:solidFill>
                          <a:latin typeface="Courier"/>
                          <a:cs typeface="Courier"/>
                        </a:rPr>
                        <a:t>OLDPWD</a:t>
                      </a:r>
                    </a:p>
                  </a:txBody>
                  <a:tcPr/>
                </a:tc>
                <a:tc>
                  <a:txBody>
                    <a:bodyPr/>
                    <a:lstStyle/>
                    <a:p>
                      <a:r>
                        <a:rPr lang="en-US" dirty="0">
                          <a:solidFill>
                            <a:srgbClr val="000000"/>
                          </a:solidFill>
                        </a:rPr>
                        <a:t>Previous current directory</a:t>
                      </a:r>
                    </a:p>
                  </a:txBody>
                  <a:tcPr/>
                </a:tc>
                <a:extLst>
                  <a:ext uri="{0D108BD9-81ED-4DB2-BD59-A6C34878D82A}">
                    <a16:rowId xmlns:a16="http://schemas.microsoft.com/office/drawing/2014/main" val="10008"/>
                  </a:ext>
                </a:extLst>
              </a:tr>
              <a:tr h="406845">
                <a:tc>
                  <a:txBody>
                    <a:bodyPr/>
                    <a:lstStyle/>
                    <a:p>
                      <a:r>
                        <a:rPr lang="en-US" b="1" dirty="0">
                          <a:solidFill>
                            <a:srgbClr val="000000"/>
                          </a:solidFill>
                          <a:latin typeface="Courier"/>
                          <a:cs typeface="Courier"/>
                        </a:rPr>
                        <a:t>HOSTNAME</a:t>
                      </a:r>
                    </a:p>
                  </a:txBody>
                  <a:tcPr/>
                </a:tc>
                <a:tc>
                  <a:txBody>
                    <a:bodyPr/>
                    <a:lstStyle/>
                    <a:p>
                      <a:r>
                        <a:rPr lang="en-US" dirty="0">
                          <a:solidFill>
                            <a:srgbClr val="000000"/>
                          </a:solidFill>
                        </a:rPr>
                        <a:t>Name of system</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799822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Scripts: Structure</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Program consisting of commands:</a:t>
            </a:r>
          </a:p>
          <a:p>
            <a:pPr lvl="1"/>
            <a:r>
              <a:rPr lang="en-GB" dirty="0">
                <a:solidFill>
                  <a:schemeClr val="tx1"/>
                </a:solidFill>
                <a:latin typeface="Arial" charset="0"/>
              </a:rPr>
              <a:t>Use an editor: </a:t>
            </a:r>
          </a:p>
          <a:p>
            <a:pPr lvl="2"/>
            <a:r>
              <a:rPr lang="en-GB" sz="2000" b="1" dirty="0">
                <a:solidFill>
                  <a:schemeClr val="tx1"/>
                </a:solidFill>
                <a:latin typeface="Courier"/>
                <a:cs typeface="Courier"/>
              </a:rPr>
              <a:t>vi (vim), </a:t>
            </a:r>
            <a:r>
              <a:rPr lang="en-GB" sz="2000" b="1" dirty="0" err="1">
                <a:solidFill>
                  <a:schemeClr val="tx1"/>
                </a:solidFill>
                <a:latin typeface="Courier"/>
                <a:cs typeface="Courier"/>
              </a:rPr>
              <a:t>emacs</a:t>
            </a:r>
            <a:r>
              <a:rPr lang="en-GB" sz="2000" b="1" dirty="0">
                <a:solidFill>
                  <a:schemeClr val="tx1"/>
                </a:solidFill>
                <a:latin typeface="Courier"/>
                <a:cs typeface="Courier"/>
              </a:rPr>
              <a:t>, sublime, </a:t>
            </a:r>
            <a:r>
              <a:rPr lang="en-GB" sz="2000" b="1" dirty="0" err="1">
                <a:solidFill>
                  <a:schemeClr val="tx1"/>
                </a:solidFill>
                <a:latin typeface="Courier"/>
                <a:cs typeface="Courier"/>
              </a:rPr>
              <a:t>gedit</a:t>
            </a:r>
            <a:r>
              <a:rPr lang="en-GB" sz="2000" b="1" dirty="0">
                <a:solidFill>
                  <a:schemeClr val="tx1"/>
                </a:solidFill>
                <a:latin typeface="Courier"/>
                <a:cs typeface="Courier"/>
              </a:rPr>
              <a:t>, …</a:t>
            </a:r>
          </a:p>
          <a:p>
            <a:pPr lvl="1"/>
            <a:r>
              <a:rPr lang="en-GB" dirty="0">
                <a:solidFill>
                  <a:schemeClr val="tx1"/>
                </a:solidFill>
                <a:latin typeface="Arial" charset="0"/>
              </a:rPr>
              <a:t>1</a:t>
            </a:r>
            <a:r>
              <a:rPr lang="en-GB" baseline="30000" dirty="0">
                <a:solidFill>
                  <a:schemeClr val="tx1"/>
                </a:solidFill>
                <a:latin typeface="Arial" charset="0"/>
              </a:rPr>
              <a:t>st</a:t>
            </a:r>
            <a:r>
              <a:rPr lang="en-GB" dirty="0">
                <a:solidFill>
                  <a:schemeClr val="tx1"/>
                </a:solidFill>
                <a:latin typeface="Arial" charset="0"/>
              </a:rPr>
              <a:t> line defines the shell to be used: </a:t>
            </a:r>
          </a:p>
          <a:p>
            <a:pPr lvl="2"/>
            <a:r>
              <a:rPr lang="en-GB" sz="2000" b="1" dirty="0">
                <a:solidFill>
                  <a:schemeClr val="tx1"/>
                </a:solidFill>
                <a:latin typeface="Courier"/>
                <a:cs typeface="Courier"/>
              </a:rPr>
              <a:t>#!/bin/bash </a:t>
            </a:r>
            <a:r>
              <a:rPr lang="en-GB" sz="2000" dirty="0">
                <a:solidFill>
                  <a:schemeClr val="tx1"/>
                </a:solidFill>
                <a:cs typeface="Courier"/>
              </a:rPr>
              <a:t>(for bash shell)</a:t>
            </a:r>
          </a:p>
          <a:p>
            <a:pPr lvl="1"/>
            <a:r>
              <a:rPr lang="en-GB" dirty="0">
                <a:solidFill>
                  <a:schemeClr val="tx1"/>
                </a:solidFill>
                <a:cs typeface="Courier"/>
              </a:rPr>
              <a:t>Write </a:t>
            </a:r>
            <a:r>
              <a:rPr lang="en-GB" b="1" dirty="0">
                <a:solidFill>
                  <a:schemeClr val="tx1"/>
                </a:solidFill>
                <a:latin typeface="Courier"/>
                <a:cs typeface="Courier"/>
              </a:rPr>
              <a:t>program commands</a:t>
            </a:r>
          </a:p>
          <a:p>
            <a:pPr lvl="1"/>
            <a:r>
              <a:rPr lang="en-US" dirty="0">
                <a:solidFill>
                  <a:srgbClr val="000000"/>
                </a:solidFill>
                <a:ea typeface="Courier New"/>
                <a:cs typeface="Courier"/>
              </a:rPr>
              <a:t>Commands can be separated by: </a:t>
            </a:r>
          </a:p>
          <a:p>
            <a:pPr lvl="2"/>
            <a:r>
              <a:rPr lang="en-US" sz="2000" dirty="0">
                <a:solidFill>
                  <a:srgbClr val="000000"/>
                </a:solidFill>
                <a:ea typeface="Courier New"/>
                <a:cs typeface="Courier"/>
              </a:rPr>
              <a:t>a new line</a:t>
            </a:r>
          </a:p>
          <a:p>
            <a:pPr lvl="2"/>
            <a:r>
              <a:rPr lang="en-US" sz="2000" dirty="0">
                <a:solidFill>
                  <a:srgbClr val="000000"/>
                </a:solidFill>
                <a:ea typeface="Courier New"/>
                <a:cs typeface="Courier"/>
              </a:rPr>
              <a:t>Semicolon:</a:t>
            </a:r>
            <a:r>
              <a:rPr lang="en-US" sz="2000" b="1" dirty="0">
                <a:solidFill>
                  <a:srgbClr val="000000"/>
                </a:solidFill>
                <a:latin typeface="Courier"/>
                <a:ea typeface="Courier New"/>
                <a:cs typeface="Courier"/>
              </a:rPr>
              <a:t> ;</a:t>
            </a:r>
          </a:p>
          <a:p>
            <a:pPr lvl="1"/>
            <a:r>
              <a:rPr lang="en-US" dirty="0">
                <a:solidFill>
                  <a:srgbClr val="000000"/>
                </a:solidFill>
                <a:ea typeface="Courier New"/>
                <a:cs typeface="Courier"/>
              </a:rPr>
              <a:t>Split a command to 2 or more lines:</a:t>
            </a:r>
            <a:r>
              <a:rPr lang="en-US" b="1" dirty="0">
                <a:solidFill>
                  <a:srgbClr val="000000"/>
                </a:solidFill>
                <a:latin typeface="Courier"/>
                <a:ea typeface="Courier New"/>
                <a:cs typeface="Courier"/>
              </a:rPr>
              <a:t> \ </a:t>
            </a:r>
            <a:r>
              <a:rPr lang="en-US" dirty="0">
                <a:solidFill>
                  <a:srgbClr val="000000"/>
                </a:solidFill>
                <a:ea typeface="Courier New"/>
                <a:cs typeface="Courier"/>
              </a:rPr>
              <a:t>(backslash)</a:t>
            </a:r>
            <a:endParaRPr lang="en-GB" dirty="0">
              <a:solidFill>
                <a:schemeClr val="tx1"/>
              </a:solidFill>
              <a:cs typeface="Courier"/>
            </a:endParaRPr>
          </a:p>
          <a:p>
            <a:pPr lvl="1"/>
            <a:r>
              <a:rPr lang="en-US" dirty="0">
                <a:solidFill>
                  <a:srgbClr val="000000"/>
                </a:solidFill>
                <a:ea typeface="Courier New"/>
                <a:cs typeface="Courier"/>
              </a:rPr>
              <a:t>For comments:</a:t>
            </a:r>
            <a:r>
              <a:rPr lang="en-US" b="1" dirty="0">
                <a:solidFill>
                  <a:srgbClr val="000000"/>
                </a:solidFill>
                <a:latin typeface="Courier"/>
                <a:ea typeface="Courier New"/>
                <a:cs typeface="Courier"/>
              </a:rPr>
              <a:t> #</a:t>
            </a:r>
          </a:p>
          <a:p>
            <a:pPr lvl="1"/>
            <a:r>
              <a:rPr lang="en-GB" dirty="0">
                <a:solidFill>
                  <a:schemeClr val="tx1"/>
                </a:solidFill>
                <a:latin typeface="Arial" charset="0"/>
              </a:rPr>
              <a:t>Save file with extension </a:t>
            </a:r>
            <a:r>
              <a:rPr lang="en-GB" b="1" dirty="0">
                <a:solidFill>
                  <a:schemeClr val="tx1"/>
                </a:solidFill>
                <a:latin typeface="Courier"/>
                <a:cs typeface="Courier"/>
              </a:rPr>
              <a:t>.</a:t>
            </a:r>
            <a:r>
              <a:rPr lang="en-GB" b="1" dirty="0" err="1">
                <a:solidFill>
                  <a:schemeClr val="tx1"/>
                </a:solidFill>
                <a:latin typeface="Courier"/>
                <a:cs typeface="Courier"/>
              </a:rPr>
              <a:t>sh</a:t>
            </a:r>
            <a:endParaRPr lang="en-GB" b="1" dirty="0">
              <a:solidFill>
                <a:schemeClr val="tx1"/>
              </a:solidFill>
              <a:latin typeface="Courier"/>
              <a:cs typeface="Courier"/>
            </a:endParaRPr>
          </a:p>
          <a:p>
            <a:pPr marL="542925" lvl="1" indent="0">
              <a:buNone/>
            </a:pPr>
            <a:endParaRPr lang="en-GB" b="1" dirty="0">
              <a:solidFill>
                <a:schemeClr val="tx1"/>
              </a:solidFill>
              <a:latin typeface="Courier"/>
              <a:cs typeface="Courier"/>
            </a:endParaRPr>
          </a:p>
          <a:p>
            <a:r>
              <a:rPr lang="en-GB" dirty="0">
                <a:solidFill>
                  <a:schemeClr val="tx1"/>
                </a:solidFill>
                <a:cs typeface="Courier"/>
              </a:rPr>
              <a:t>The script lines (commands) are interpreted and NOT compiled</a:t>
            </a:r>
          </a:p>
        </p:txBody>
      </p:sp>
    </p:spTree>
    <p:extLst>
      <p:ext uri="{BB962C8B-B14F-4D97-AF65-F5344CB8AC3E}">
        <p14:creationId xmlns:p14="http://schemas.microsoft.com/office/powerpoint/2010/main" val="822522359"/>
      </p:ext>
    </p:extLst>
  </p:cSld>
  <p:clrMapOvr>
    <a:masterClrMapping/>
  </p:clrMapOvr>
  <mc:AlternateContent xmlns:mc="http://schemas.openxmlformats.org/markup-compatibility/2006" xmlns:p14="http://schemas.microsoft.com/office/powerpoint/2010/main">
    <mc:Choice Requires="p14">
      <p:transition spd="slow" p14:dur="2000" advTm="19640"/>
    </mc:Choice>
    <mc:Fallback xmlns="">
      <p:transition spd="slow" advTm="196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45</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Scripts: Execution</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cs typeface="Courier"/>
              </a:rPr>
              <a:t>No need for permissions:</a:t>
            </a:r>
          </a:p>
          <a:p>
            <a:pPr marL="93663" indent="0">
              <a:buNone/>
            </a:pPr>
            <a:r>
              <a:rPr lang="en-GB" b="1" dirty="0">
                <a:latin typeface="Courier"/>
                <a:cs typeface="Courier"/>
              </a:rPr>
              <a:t>bash </a:t>
            </a:r>
            <a:r>
              <a:rPr lang="en-GB" b="1" dirty="0" err="1">
                <a:latin typeface="Courier"/>
                <a:cs typeface="Courier"/>
              </a:rPr>
              <a:t>path_to_script</a:t>
            </a:r>
            <a:r>
              <a:rPr lang="en-GB" b="1" dirty="0">
                <a:latin typeface="Courier"/>
                <a:cs typeface="Courier"/>
              </a:rPr>
              <a:t>/</a:t>
            </a:r>
            <a:r>
              <a:rPr lang="en-GB" b="1" dirty="0" err="1">
                <a:latin typeface="Courier"/>
                <a:cs typeface="Courier"/>
              </a:rPr>
              <a:t>myscript.sh</a:t>
            </a:r>
            <a:endParaRPr lang="en-GB" b="1" dirty="0">
              <a:latin typeface="Courier"/>
              <a:cs typeface="Courier"/>
            </a:endParaRPr>
          </a:p>
          <a:p>
            <a:pPr lvl="1"/>
            <a:r>
              <a:rPr lang="en-GB" b="1" dirty="0">
                <a:latin typeface="Courier"/>
                <a:cs typeface="Courier"/>
              </a:rPr>
              <a:t>bash</a:t>
            </a:r>
            <a:r>
              <a:rPr lang="en-GB" dirty="0"/>
              <a:t> command  is executed</a:t>
            </a:r>
          </a:p>
          <a:p>
            <a:pPr lvl="1"/>
            <a:r>
              <a:rPr lang="en-GB" b="1" dirty="0">
                <a:latin typeface="Courier"/>
                <a:cs typeface="Courier"/>
              </a:rPr>
              <a:t>./</a:t>
            </a:r>
            <a:r>
              <a:rPr lang="en-GB" b="1" dirty="0" err="1">
                <a:latin typeface="Courier"/>
                <a:cs typeface="Courier"/>
              </a:rPr>
              <a:t>script.sh</a:t>
            </a:r>
            <a:r>
              <a:rPr lang="en-GB" b="1" dirty="0">
                <a:latin typeface="Courier"/>
                <a:cs typeface="Courier"/>
              </a:rPr>
              <a:t> </a:t>
            </a:r>
            <a:r>
              <a:rPr lang="en-GB" dirty="0"/>
              <a:t>is the command-line argument.</a:t>
            </a:r>
          </a:p>
          <a:p>
            <a:pPr marL="93663" indent="0">
              <a:buNone/>
            </a:pPr>
            <a:endParaRPr lang="en-GB" dirty="0">
              <a:cs typeface="Courier"/>
            </a:endParaRPr>
          </a:p>
          <a:p>
            <a:r>
              <a:rPr lang="en-GB" dirty="0">
                <a:latin typeface="Arial" charset="0"/>
              </a:rPr>
              <a:t>Provide </a:t>
            </a:r>
            <a:r>
              <a:rPr lang="en-GB" dirty="0" err="1">
                <a:latin typeface="Arial" charset="0"/>
              </a:rPr>
              <a:t>eXecute</a:t>
            </a:r>
            <a:r>
              <a:rPr lang="en-GB" dirty="0">
                <a:latin typeface="Arial" charset="0"/>
              </a:rPr>
              <a:t> permissions and execute: </a:t>
            </a:r>
          </a:p>
          <a:p>
            <a:pPr marL="93663" indent="0">
              <a:buNone/>
            </a:pPr>
            <a:r>
              <a:rPr lang="en-GB" b="1" dirty="0" err="1">
                <a:latin typeface="Courier"/>
                <a:cs typeface="Courier"/>
              </a:rPr>
              <a:t>chmod</a:t>
            </a:r>
            <a:r>
              <a:rPr lang="en-GB" b="1" dirty="0">
                <a:latin typeface="Courier"/>
                <a:cs typeface="Courier"/>
              </a:rPr>
              <a:t> +x </a:t>
            </a:r>
            <a:r>
              <a:rPr lang="en-GB" b="1" dirty="0" err="1">
                <a:latin typeface="Courier"/>
                <a:cs typeface="Courier"/>
              </a:rPr>
              <a:t>myscript.sh</a:t>
            </a:r>
            <a:r>
              <a:rPr lang="en-GB" b="1" dirty="0">
                <a:latin typeface="Courier"/>
                <a:cs typeface="Courier"/>
              </a:rPr>
              <a:t> </a:t>
            </a:r>
          </a:p>
          <a:p>
            <a:pPr marL="93663" indent="0">
              <a:buNone/>
            </a:pPr>
            <a:r>
              <a:rPr lang="en-GB" b="1" dirty="0">
                <a:latin typeface="Courier"/>
                <a:cs typeface="Courier"/>
              </a:rPr>
              <a:t>./</a:t>
            </a:r>
            <a:r>
              <a:rPr lang="en-GB" b="1" dirty="0" err="1">
                <a:latin typeface="Courier"/>
                <a:cs typeface="Courier"/>
              </a:rPr>
              <a:t>myscript.sh</a:t>
            </a:r>
            <a:endParaRPr lang="en-GB" b="1" dirty="0">
              <a:latin typeface="Courier"/>
              <a:cs typeface="Courier"/>
            </a:endParaRPr>
          </a:p>
          <a:p>
            <a:pPr lvl="1"/>
            <a:r>
              <a:rPr lang="en-GB" dirty="0">
                <a:cs typeface="Courier"/>
              </a:rPr>
              <a:t>S</a:t>
            </a:r>
            <a:r>
              <a:rPr lang="en-GB" dirty="0"/>
              <a:t>hell forks itself and uses a system call (e.g. </a:t>
            </a:r>
            <a:r>
              <a:rPr lang="en-GB" b="1" dirty="0" err="1">
                <a:latin typeface="Courier"/>
                <a:cs typeface="Courier"/>
              </a:rPr>
              <a:t>execve</a:t>
            </a:r>
            <a:r>
              <a:rPr lang="en-GB" dirty="0"/>
              <a:t>) to make the OS execute the file in the forked process. </a:t>
            </a:r>
          </a:p>
          <a:p>
            <a:pPr lvl="1"/>
            <a:r>
              <a:rPr lang="en-GB" dirty="0"/>
              <a:t>OS checks the file's permissions </a:t>
            </a:r>
          </a:p>
          <a:p>
            <a:pPr lvl="1"/>
            <a:r>
              <a:rPr lang="en-GB" dirty="0"/>
              <a:t>Program loader looks at the file to find how to execute it</a:t>
            </a:r>
          </a:p>
          <a:p>
            <a:pPr marL="542925" lvl="1" indent="0">
              <a:buNone/>
            </a:pPr>
            <a:r>
              <a:rPr lang="en-GB" dirty="0"/>
              <a:t> (</a:t>
            </a:r>
            <a:r>
              <a:rPr lang="en-GB" b="1" dirty="0">
                <a:latin typeface="Courier"/>
                <a:cs typeface="Courier"/>
              </a:rPr>
              <a:t>#! </a:t>
            </a:r>
            <a:r>
              <a:rPr lang="en-GB" dirty="0"/>
              <a:t>for scripts and then which interpreter to use: </a:t>
            </a:r>
            <a:r>
              <a:rPr lang="en-GB" b="1" dirty="0">
                <a:latin typeface="Courier"/>
                <a:cs typeface="Courier"/>
              </a:rPr>
              <a:t>/bin/bash</a:t>
            </a:r>
            <a:r>
              <a:rPr lang="en-GB" dirty="0"/>
              <a:t>). </a:t>
            </a:r>
          </a:p>
          <a:p>
            <a:r>
              <a:rPr lang="en-GB" dirty="0">
                <a:cs typeface="Courier"/>
              </a:rPr>
              <a:t>New process: attention to the variables and functions</a:t>
            </a:r>
          </a:p>
        </p:txBody>
      </p:sp>
    </p:spTree>
    <p:extLst>
      <p:ext uri="{BB962C8B-B14F-4D97-AF65-F5344CB8AC3E}">
        <p14:creationId xmlns:p14="http://schemas.microsoft.com/office/powerpoint/2010/main" val="1716884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46</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Command-line arguments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508" y="908720"/>
            <a:ext cx="933538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Arguments can be passed along with the script execution:</a:t>
            </a:r>
          </a:p>
          <a:p>
            <a:pPr lvl="1"/>
            <a:r>
              <a:rPr lang="en-GB" b="1" dirty="0">
                <a:latin typeface="Courier"/>
                <a:cs typeface="Courier"/>
              </a:rPr>
              <a:t>./</a:t>
            </a:r>
            <a:r>
              <a:rPr lang="en-GB" b="1" dirty="0" err="1">
                <a:latin typeface="Courier"/>
                <a:cs typeface="Courier"/>
              </a:rPr>
              <a:t>myscript.sh</a:t>
            </a:r>
            <a:r>
              <a:rPr lang="en-GB" b="1" dirty="0">
                <a:latin typeface="Courier"/>
                <a:cs typeface="Courier"/>
              </a:rPr>
              <a:t> arg1 … </a:t>
            </a:r>
            <a:r>
              <a:rPr lang="en-GB" b="1" dirty="0" err="1">
                <a:latin typeface="Courier"/>
                <a:cs typeface="Courier"/>
              </a:rPr>
              <a:t>argN</a:t>
            </a:r>
            <a:endParaRPr lang="en-GB" b="1" dirty="0">
              <a:latin typeface="Courier"/>
              <a:cs typeface="Courier"/>
            </a:endParaRPr>
          </a:p>
          <a:p>
            <a:pPr lvl="1"/>
            <a:endParaRPr lang="en-GB" sz="1400" dirty="0">
              <a:latin typeface="Arial" charset="0"/>
            </a:endParaRPr>
          </a:p>
          <a:p>
            <a:r>
              <a:rPr lang="en-GB" dirty="0">
                <a:latin typeface="Arial" charset="0"/>
              </a:rPr>
              <a:t>The arguments are seen as specific variables in the script code:</a:t>
            </a:r>
          </a:p>
          <a:p>
            <a:pPr lvl="1"/>
            <a:r>
              <a:rPr lang="en-GB" b="1" dirty="0">
                <a:latin typeface="Courier"/>
                <a:cs typeface="Courier"/>
              </a:rPr>
              <a:t>$0</a:t>
            </a:r>
            <a:r>
              <a:rPr lang="en-GB" dirty="0">
                <a:cs typeface="Courier"/>
              </a:rPr>
              <a:t>:</a:t>
            </a:r>
            <a:r>
              <a:rPr lang="en-GB" dirty="0">
                <a:latin typeface="Arial" charset="0"/>
              </a:rPr>
              <a:t> Name of the script</a:t>
            </a:r>
          </a:p>
          <a:p>
            <a:pPr lvl="1"/>
            <a:r>
              <a:rPr lang="en-GB" b="1" dirty="0">
                <a:latin typeface="Courier"/>
                <a:cs typeface="Courier"/>
              </a:rPr>
              <a:t>$1</a:t>
            </a:r>
            <a:r>
              <a:rPr lang="en-GB" dirty="0">
                <a:cs typeface="Courier"/>
              </a:rPr>
              <a:t>:</a:t>
            </a:r>
            <a:r>
              <a:rPr lang="en-GB" dirty="0">
                <a:latin typeface="Arial" charset="0"/>
              </a:rPr>
              <a:t> 1</a:t>
            </a:r>
            <a:r>
              <a:rPr lang="en-GB" baseline="30000" dirty="0">
                <a:latin typeface="Arial" charset="0"/>
              </a:rPr>
              <a:t>st</a:t>
            </a:r>
            <a:r>
              <a:rPr lang="en-GB" dirty="0">
                <a:latin typeface="Arial" charset="0"/>
              </a:rPr>
              <a:t> argument</a:t>
            </a:r>
          </a:p>
          <a:p>
            <a:pPr lvl="1"/>
            <a:r>
              <a:rPr lang="en-GB" b="1" dirty="0">
                <a:latin typeface="Courier"/>
                <a:cs typeface="Courier"/>
              </a:rPr>
              <a:t>$N</a:t>
            </a:r>
            <a:r>
              <a:rPr lang="en-GB" dirty="0">
                <a:cs typeface="Courier"/>
              </a:rPr>
              <a:t>:</a:t>
            </a:r>
            <a:r>
              <a:rPr lang="en-GB" dirty="0">
                <a:latin typeface="Arial" charset="0"/>
              </a:rPr>
              <a:t> N</a:t>
            </a:r>
            <a:r>
              <a:rPr lang="en-GB" baseline="30000" dirty="0">
                <a:latin typeface="Arial" charset="0"/>
              </a:rPr>
              <a:t>th</a:t>
            </a:r>
            <a:r>
              <a:rPr lang="en-GB" dirty="0">
                <a:latin typeface="Arial" charset="0"/>
              </a:rPr>
              <a:t> argument</a:t>
            </a:r>
          </a:p>
          <a:p>
            <a:pPr lvl="1"/>
            <a:r>
              <a:rPr lang="en-GB" b="1" dirty="0">
                <a:latin typeface="Courier"/>
                <a:cs typeface="Courier"/>
              </a:rPr>
              <a:t>$#</a:t>
            </a:r>
            <a:r>
              <a:rPr lang="en-GB" dirty="0">
                <a:cs typeface="Courier"/>
              </a:rPr>
              <a:t>:</a:t>
            </a:r>
            <a:r>
              <a:rPr lang="en-GB" dirty="0">
                <a:latin typeface="Arial" charset="0"/>
              </a:rPr>
              <a:t> Number of arguments</a:t>
            </a:r>
          </a:p>
          <a:p>
            <a:pPr lvl="1"/>
            <a:r>
              <a:rPr lang="en-GB" b="1" dirty="0">
                <a:latin typeface="Courier"/>
                <a:cs typeface="Courier"/>
              </a:rPr>
              <a:t>$*</a:t>
            </a:r>
            <a:r>
              <a:rPr lang="en-GB" dirty="0">
                <a:cs typeface="Courier"/>
              </a:rPr>
              <a:t>: All the arguments passed to the script, as a string</a:t>
            </a:r>
          </a:p>
          <a:p>
            <a:pPr lvl="1"/>
            <a:r>
              <a:rPr lang="en-GB" b="1" dirty="0">
                <a:latin typeface="Courier"/>
                <a:cs typeface="Courier"/>
              </a:rPr>
              <a:t>$@</a:t>
            </a:r>
            <a:r>
              <a:rPr lang="en-GB" dirty="0">
                <a:cs typeface="Courier"/>
              </a:rPr>
              <a:t>: </a:t>
            </a:r>
            <a:r>
              <a:rPr lang="en-GB" dirty="0"/>
              <a:t>Behaves like $* except that when the arguments are quoted, they are broken up properly if there are spaces in them</a:t>
            </a:r>
          </a:p>
          <a:p>
            <a:pPr lvl="1"/>
            <a:endParaRPr lang="en-GB" sz="1000" dirty="0">
              <a:latin typeface="Arial" charset="0"/>
            </a:endParaRPr>
          </a:p>
          <a:p>
            <a:r>
              <a:rPr lang="en-GB" dirty="0"/>
              <a:t>Maximum length of arguments is defined by operating system and measured in Kilobytes.</a:t>
            </a:r>
          </a:p>
          <a:p>
            <a:pPr lvl="1"/>
            <a:r>
              <a:rPr lang="en-GB" b="1" dirty="0" err="1">
                <a:latin typeface="Courier"/>
                <a:cs typeface="Courier"/>
              </a:rPr>
              <a:t>getconf</a:t>
            </a:r>
            <a:r>
              <a:rPr lang="en-GB" b="1" dirty="0">
                <a:latin typeface="Courier"/>
                <a:cs typeface="Courier"/>
              </a:rPr>
              <a:t> ARG_MAX</a:t>
            </a:r>
          </a:p>
        </p:txBody>
      </p:sp>
    </p:spTree>
    <p:extLst>
      <p:ext uri="{BB962C8B-B14F-4D97-AF65-F5344CB8AC3E}">
        <p14:creationId xmlns:p14="http://schemas.microsoft.com/office/powerpoint/2010/main" val="178060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Variables</a:t>
            </a:r>
          </a:p>
        </p:txBody>
      </p:sp>
      <p:sp>
        <p:nvSpPr>
          <p:cNvPr id="3" name="Content Placeholder 2"/>
          <p:cNvSpPr>
            <a:spLocks noGrp="1"/>
          </p:cNvSpPr>
          <p:nvPr>
            <p:ph idx="1"/>
          </p:nvPr>
        </p:nvSpPr>
        <p:spPr/>
        <p:txBody>
          <a:bodyPr/>
          <a:lstStyle/>
          <a:p>
            <a:r>
              <a:rPr lang="en-US" dirty="0"/>
              <a:t>Initialization: </a:t>
            </a:r>
            <a:r>
              <a:rPr lang="en-US" b="1" dirty="0" err="1">
                <a:latin typeface="Courier"/>
                <a:cs typeface="Courier"/>
              </a:rPr>
              <a:t>nomvar</a:t>
            </a:r>
            <a:r>
              <a:rPr lang="en-US" b="1" dirty="0">
                <a:latin typeface="Courier"/>
                <a:cs typeface="Courier"/>
              </a:rPr>
              <a:t>=</a:t>
            </a:r>
            <a:r>
              <a:rPr lang="en-US" b="1" dirty="0" err="1">
                <a:latin typeface="Courier"/>
                <a:cs typeface="Courier"/>
              </a:rPr>
              <a:t>expresion</a:t>
            </a:r>
            <a:endParaRPr lang="en-US" b="1" dirty="0">
              <a:latin typeface="Courier"/>
              <a:cs typeface="Courier"/>
            </a:endParaRPr>
          </a:p>
          <a:p>
            <a:pPr lvl="1"/>
            <a:r>
              <a:rPr lang="en-US" b="1" dirty="0">
                <a:solidFill>
                  <a:srgbClr val="FF0000"/>
                </a:solidFill>
                <a:cs typeface="Courier"/>
              </a:rPr>
              <a:t>ATTENTION! No space around </a:t>
            </a:r>
            <a:r>
              <a:rPr lang="en-US" b="1" dirty="0">
                <a:solidFill>
                  <a:srgbClr val="FF0000"/>
                </a:solidFill>
                <a:latin typeface="Courier"/>
                <a:cs typeface="Courier"/>
              </a:rPr>
              <a:t>=</a:t>
            </a:r>
          </a:p>
          <a:p>
            <a:pPr lvl="1"/>
            <a:r>
              <a:rPr lang="en-US" b="1" dirty="0">
                <a:solidFill>
                  <a:schemeClr val="tx1"/>
                </a:solidFill>
                <a:latin typeface="Courier"/>
                <a:cs typeface="Courier"/>
              </a:rPr>
              <a:t>expression: </a:t>
            </a:r>
          </a:p>
          <a:p>
            <a:pPr lvl="2"/>
            <a:r>
              <a:rPr lang="en-US" dirty="0">
                <a:solidFill>
                  <a:schemeClr val="tx1"/>
                </a:solidFill>
                <a:cs typeface="Courier"/>
              </a:rPr>
              <a:t>Value</a:t>
            </a:r>
          </a:p>
          <a:p>
            <a:pPr lvl="2"/>
            <a:r>
              <a:rPr lang="en-US" dirty="0">
                <a:solidFill>
                  <a:schemeClr val="tx1"/>
                </a:solidFill>
                <a:cs typeface="Courier"/>
              </a:rPr>
              <a:t>Reference to a variable</a:t>
            </a:r>
          </a:p>
          <a:p>
            <a:pPr lvl="2"/>
            <a:r>
              <a:rPr lang="en-US" b="1" dirty="0">
                <a:solidFill>
                  <a:schemeClr val="tx1"/>
                </a:solidFill>
                <a:latin typeface="Courier New"/>
                <a:cs typeface="Courier New"/>
              </a:rPr>
              <a:t>`command` </a:t>
            </a:r>
            <a:r>
              <a:rPr lang="en-US" dirty="0">
                <a:solidFill>
                  <a:schemeClr val="tx1"/>
                </a:solidFill>
                <a:cs typeface="Courier"/>
              </a:rPr>
              <a:t>(replaced with the result to the </a:t>
            </a:r>
            <a:r>
              <a:rPr lang="en-US" dirty="0" err="1">
                <a:solidFill>
                  <a:schemeClr val="tx1"/>
                </a:solidFill>
                <a:latin typeface="Courier"/>
                <a:cs typeface="Courier"/>
              </a:rPr>
              <a:t>stdout</a:t>
            </a:r>
            <a:r>
              <a:rPr lang="en-US" dirty="0">
                <a:solidFill>
                  <a:schemeClr val="tx1"/>
                </a:solidFill>
                <a:cs typeface="Courier"/>
              </a:rPr>
              <a:t>)</a:t>
            </a:r>
          </a:p>
          <a:p>
            <a:pPr lvl="2" indent="0">
              <a:buNone/>
            </a:pPr>
            <a:endParaRPr lang="en-US" dirty="0">
              <a:solidFill>
                <a:schemeClr val="tx1"/>
              </a:solidFill>
              <a:cs typeface="Courier"/>
            </a:endParaRPr>
          </a:p>
          <a:p>
            <a:r>
              <a:rPr lang="en-US" dirty="0">
                <a:solidFill>
                  <a:schemeClr val="tx1"/>
                </a:solidFill>
                <a:cs typeface="Courier"/>
              </a:rPr>
              <a:t>Use: </a:t>
            </a:r>
            <a:r>
              <a:rPr lang="en-US" b="1" dirty="0">
                <a:solidFill>
                  <a:schemeClr val="tx1"/>
                </a:solidFill>
                <a:latin typeface="Courier"/>
                <a:cs typeface="Courier"/>
              </a:rPr>
              <a:t>$</a:t>
            </a:r>
            <a:r>
              <a:rPr lang="en-US" b="1" dirty="0" err="1">
                <a:solidFill>
                  <a:schemeClr val="tx1"/>
                </a:solidFill>
                <a:latin typeface="Courier"/>
                <a:cs typeface="Courier"/>
              </a:rPr>
              <a:t>nomvar</a:t>
            </a:r>
            <a:endParaRPr lang="en-US" b="1" dirty="0">
              <a:solidFill>
                <a:schemeClr val="tx1"/>
              </a:solidFill>
              <a:latin typeface="Courier"/>
              <a:cs typeface="Courier"/>
            </a:endParaRPr>
          </a:p>
          <a:p>
            <a:pPr lvl="1"/>
            <a:r>
              <a:rPr lang="en-US" dirty="0">
                <a:solidFill>
                  <a:schemeClr val="tx1"/>
                </a:solidFill>
                <a:cs typeface="Courier"/>
              </a:rPr>
              <a:t>Print current directory</a:t>
            </a:r>
          </a:p>
          <a:p>
            <a:pPr marL="542925" lvl="1" indent="0">
              <a:buNone/>
            </a:pPr>
            <a:r>
              <a:rPr lang="en-US" b="1" dirty="0">
                <a:solidFill>
                  <a:schemeClr val="tx1"/>
                </a:solidFill>
                <a:latin typeface="Courier New"/>
                <a:cs typeface="Courier New"/>
              </a:rPr>
              <a:t>y=`</a:t>
            </a:r>
            <a:r>
              <a:rPr lang="en-US" b="1" dirty="0" err="1">
                <a:solidFill>
                  <a:schemeClr val="tx1"/>
                </a:solidFill>
                <a:latin typeface="Courier New"/>
                <a:cs typeface="Courier New"/>
              </a:rPr>
              <a:t>pwd</a:t>
            </a:r>
            <a:r>
              <a:rPr lang="en-US" b="1" dirty="0">
                <a:solidFill>
                  <a:schemeClr val="tx1"/>
                </a:solidFill>
                <a:latin typeface="Courier New"/>
                <a:cs typeface="Courier New"/>
              </a:rPr>
              <a:t>`</a:t>
            </a:r>
          </a:p>
          <a:p>
            <a:pPr marL="542925" lvl="1" indent="0">
              <a:buNone/>
            </a:pPr>
            <a:r>
              <a:rPr lang="en-US" b="1" dirty="0">
                <a:solidFill>
                  <a:schemeClr val="tx1"/>
                </a:solidFill>
                <a:latin typeface="Courier"/>
                <a:cs typeface="Courier"/>
              </a:rPr>
              <a:t>echo $y</a:t>
            </a:r>
          </a:p>
          <a:p>
            <a:pPr lvl="1"/>
            <a:r>
              <a:rPr lang="en-US" dirty="0">
                <a:solidFill>
                  <a:schemeClr val="tx1"/>
                </a:solidFill>
                <a:cs typeface="Courier"/>
              </a:rPr>
              <a:t>Print the first two arguments of a script</a:t>
            </a:r>
          </a:p>
          <a:p>
            <a:pPr marL="542925" lvl="1" indent="0">
              <a:buNone/>
            </a:pPr>
            <a:r>
              <a:rPr lang="en-US" b="1" dirty="0">
                <a:solidFill>
                  <a:schemeClr val="tx1"/>
                </a:solidFill>
                <a:latin typeface="Courier"/>
                <a:cs typeface="Courier"/>
              </a:rPr>
              <a:t>y=</a:t>
            </a:r>
            <a:r>
              <a:rPr lang="en-US" b="1" dirty="0">
                <a:solidFill>
                  <a:schemeClr val="tx1"/>
                </a:solidFill>
                <a:latin typeface="Courier New"/>
                <a:ea typeface="Courier New"/>
              </a:rPr>
              <a:t>"</a:t>
            </a:r>
            <a:r>
              <a:rPr lang="en-US" b="1" dirty="0">
                <a:solidFill>
                  <a:schemeClr val="tx1"/>
                </a:solidFill>
                <a:latin typeface="Courier"/>
                <a:cs typeface="Courier"/>
              </a:rPr>
              <a:t>$1 and $2</a:t>
            </a:r>
            <a:r>
              <a:rPr lang="en-US" b="1" dirty="0">
                <a:solidFill>
                  <a:schemeClr val="tx1"/>
                </a:solidFill>
                <a:latin typeface="Courier New"/>
                <a:ea typeface="Courier New"/>
              </a:rPr>
              <a:t>"</a:t>
            </a:r>
            <a:endParaRPr lang="en-US" b="1" dirty="0">
              <a:solidFill>
                <a:schemeClr val="tx1"/>
              </a:solidFill>
              <a:latin typeface="Courier"/>
              <a:cs typeface="Courier"/>
            </a:endParaRPr>
          </a:p>
          <a:p>
            <a:pPr marL="542925" lvl="1" indent="0">
              <a:buNone/>
            </a:pPr>
            <a:r>
              <a:rPr lang="en-US" b="1" dirty="0">
                <a:solidFill>
                  <a:schemeClr val="tx1"/>
                </a:solidFill>
                <a:latin typeface="Courier"/>
                <a:cs typeface="Courier"/>
              </a:rPr>
              <a:t>echo $y</a:t>
            </a:r>
          </a:p>
          <a:p>
            <a:pPr marL="542925" lvl="1" indent="0">
              <a:buNone/>
            </a:pPr>
            <a:endParaRPr lang="en-US" dirty="0">
              <a:solidFill>
                <a:schemeClr val="tx1"/>
              </a:solidFill>
              <a:cs typeface="Courier"/>
            </a:endParaRPr>
          </a:p>
          <a:p>
            <a:pPr lvl="1"/>
            <a:endParaRPr lang="en-US" b="1" dirty="0">
              <a:solidFill>
                <a:schemeClr val="tx1"/>
              </a:solidFill>
              <a:latin typeface="Courier"/>
              <a:cs typeface="Courier"/>
            </a:endParaRPr>
          </a:p>
          <a:p>
            <a:pPr lvl="1"/>
            <a:endParaRPr lang="en-US" b="1" dirty="0">
              <a:solidFill>
                <a:schemeClr val="tx1"/>
              </a:solidFill>
              <a:cs typeface="Courier"/>
            </a:endParaRPr>
          </a:p>
          <a:p>
            <a:pPr lvl="1"/>
            <a:endParaRPr lang="en-US" dirty="0"/>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47</a:t>
            </a:fld>
            <a:endParaRPr lang="fr-FR"/>
          </a:p>
        </p:txBody>
      </p:sp>
      <p:sp>
        <p:nvSpPr>
          <p:cNvPr id="6" name="Espace réservé du pied de page 3"/>
          <p:cNvSpPr>
            <a:spLocks noGrp="1"/>
          </p:cNvSpPr>
          <p:nvPr>
            <p:ph type="ftr" sz="quarter" idx="10"/>
          </p:nvPr>
        </p:nvSpPr>
        <p:spPr>
          <a:xfrm>
            <a:off x="3124200" y="6381328"/>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1611094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48</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Read input</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We can ask the user to provide some value(s) to the variables</a:t>
            </a:r>
          </a:p>
          <a:p>
            <a:pPr lvl="1"/>
            <a:r>
              <a:rPr lang="en-GB" b="1" dirty="0">
                <a:latin typeface="Courier"/>
                <a:cs typeface="Courier"/>
              </a:rPr>
              <a:t>read var-name1 var-name2 … </a:t>
            </a:r>
            <a:r>
              <a:rPr lang="en-GB" b="1" dirty="0" err="1">
                <a:latin typeface="Courier"/>
                <a:cs typeface="Courier"/>
              </a:rPr>
              <a:t>var-nameN</a:t>
            </a:r>
            <a:endParaRPr lang="en-GB" b="1" dirty="0">
              <a:latin typeface="Courier"/>
              <a:cs typeface="Courier"/>
            </a:endParaRPr>
          </a:p>
          <a:p>
            <a:pPr lvl="1"/>
            <a:r>
              <a:rPr lang="en-GB" dirty="0">
                <a:latin typeface="Arial" charset="0"/>
              </a:rPr>
              <a:t>Reads a line from the </a:t>
            </a:r>
            <a:r>
              <a:rPr lang="en-GB" b="1" dirty="0" err="1">
                <a:latin typeface="Courier"/>
                <a:cs typeface="Courier"/>
              </a:rPr>
              <a:t>stin</a:t>
            </a:r>
            <a:r>
              <a:rPr lang="en-GB" dirty="0">
                <a:latin typeface="Arial" charset="0"/>
              </a:rPr>
              <a:t> and affects the first value to </a:t>
            </a:r>
            <a:r>
              <a:rPr lang="en-GB" b="1" dirty="0">
                <a:latin typeface="Courier"/>
                <a:cs typeface="Courier"/>
              </a:rPr>
              <a:t>var-name1</a:t>
            </a:r>
            <a:r>
              <a:rPr lang="en-GB" dirty="0">
                <a:latin typeface="Arial" charset="0"/>
              </a:rPr>
              <a:t>, the second value to </a:t>
            </a:r>
            <a:r>
              <a:rPr lang="en-GB" b="1" dirty="0">
                <a:latin typeface="Courier"/>
                <a:cs typeface="Courier"/>
              </a:rPr>
              <a:t>var-name2</a:t>
            </a:r>
            <a:r>
              <a:rPr lang="en-GB" dirty="0">
                <a:latin typeface="Arial" charset="0"/>
              </a:rPr>
              <a:t>, etc.</a:t>
            </a:r>
          </a:p>
          <a:p>
            <a:pPr lvl="1"/>
            <a:r>
              <a:rPr lang="en-GB" dirty="0">
                <a:latin typeface="Arial" charset="0"/>
              </a:rPr>
              <a:t>Returns 0, if the read was successful</a:t>
            </a:r>
          </a:p>
          <a:p>
            <a:pPr lvl="1"/>
            <a:endParaRPr lang="en-GB" dirty="0">
              <a:latin typeface="Arial" charset="0"/>
            </a:endParaRPr>
          </a:p>
          <a:p>
            <a:r>
              <a:rPr lang="en-GB" dirty="0">
                <a:latin typeface="Arial" charset="0"/>
              </a:rPr>
              <a:t>We can print a message to the user:</a:t>
            </a:r>
          </a:p>
          <a:p>
            <a:pPr lvl="1"/>
            <a:r>
              <a:rPr lang="en-GB" b="1" dirty="0">
                <a:latin typeface="Courier"/>
                <a:cs typeface="Courier"/>
              </a:rPr>
              <a:t>read –p </a:t>
            </a:r>
            <a:r>
              <a:rPr lang="en-US" b="1" dirty="0">
                <a:solidFill>
                  <a:schemeClr val="tx1"/>
                </a:solidFill>
                <a:latin typeface="Courier New"/>
                <a:ea typeface="Courier New"/>
              </a:rPr>
              <a:t>"</a:t>
            </a:r>
            <a:r>
              <a:rPr lang="en-GB" b="1" dirty="0">
                <a:latin typeface="Courier"/>
                <a:cs typeface="Courier"/>
              </a:rPr>
              <a:t>Enter value:</a:t>
            </a:r>
            <a:r>
              <a:rPr lang="en-US" b="1" dirty="0">
                <a:solidFill>
                  <a:schemeClr val="tx1"/>
                </a:solidFill>
                <a:latin typeface="Courier New"/>
                <a:ea typeface="Courier New"/>
              </a:rPr>
              <a:t>"</a:t>
            </a:r>
            <a:r>
              <a:rPr lang="en-GB" b="1" dirty="0">
                <a:latin typeface="Courier"/>
                <a:cs typeface="Courier"/>
              </a:rPr>
              <a:t> </a:t>
            </a:r>
            <a:r>
              <a:rPr lang="en-GB" b="1" dirty="0" err="1">
                <a:latin typeface="Courier"/>
                <a:cs typeface="Courier"/>
              </a:rPr>
              <a:t>var</a:t>
            </a:r>
            <a:endParaRPr lang="en-GB" b="1" dirty="0">
              <a:latin typeface="Courier"/>
              <a:cs typeface="Courier"/>
            </a:endParaRPr>
          </a:p>
          <a:p>
            <a:pPr lvl="1"/>
            <a:endParaRPr lang="en-GB" b="1" dirty="0">
              <a:latin typeface="Courier"/>
              <a:cs typeface="Courier"/>
            </a:endParaRPr>
          </a:p>
          <a:p>
            <a:r>
              <a:rPr lang="en-GB" dirty="0">
                <a:cs typeface="Courier"/>
              </a:rPr>
              <a:t>If variable is not specified, then the default is used:</a:t>
            </a:r>
            <a:r>
              <a:rPr lang="en-GB" b="1" dirty="0">
                <a:latin typeface="Courier"/>
                <a:cs typeface="Courier"/>
              </a:rPr>
              <a:t> </a:t>
            </a:r>
          </a:p>
          <a:p>
            <a:pPr lvl="1"/>
            <a:r>
              <a:rPr lang="en-GB" b="1" dirty="0">
                <a:latin typeface="Courier"/>
                <a:cs typeface="Courier"/>
              </a:rPr>
              <a:t>$REPLY</a:t>
            </a:r>
          </a:p>
        </p:txBody>
      </p:sp>
    </p:spTree>
    <p:extLst>
      <p:ext uri="{BB962C8B-B14F-4D97-AF65-F5344CB8AC3E}">
        <p14:creationId xmlns:p14="http://schemas.microsoft.com/office/powerpoint/2010/main" val="2572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49</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Print to output</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cs typeface="Courier"/>
              </a:rPr>
              <a:t>Basic print to </a:t>
            </a:r>
            <a:r>
              <a:rPr lang="en-GB" dirty="0" err="1">
                <a:solidFill>
                  <a:schemeClr val="tx1"/>
                </a:solidFill>
                <a:latin typeface="Courier"/>
                <a:cs typeface="Courier"/>
              </a:rPr>
              <a:t>stdout</a:t>
            </a:r>
            <a:r>
              <a:rPr lang="en-GB" dirty="0">
                <a:solidFill>
                  <a:schemeClr val="tx1"/>
                </a:solidFill>
                <a:cs typeface="Courier"/>
              </a:rPr>
              <a:t>: </a:t>
            </a:r>
            <a:r>
              <a:rPr lang="en-GB" b="1" dirty="0">
                <a:solidFill>
                  <a:schemeClr val="tx1"/>
                </a:solidFill>
                <a:latin typeface="Courier"/>
                <a:cs typeface="Courier"/>
              </a:rPr>
              <a:t>echo</a:t>
            </a:r>
          </a:p>
          <a:p>
            <a:pPr lvl="1"/>
            <a:r>
              <a:rPr lang="en-GB" dirty="0">
                <a:solidFill>
                  <a:schemeClr val="tx1"/>
                </a:solidFill>
                <a:cs typeface="Courier"/>
              </a:rPr>
              <a:t>Strings</a:t>
            </a:r>
          </a:p>
          <a:p>
            <a:pPr lvl="1"/>
            <a:r>
              <a:rPr lang="en-GB" dirty="0">
                <a:solidFill>
                  <a:schemeClr val="tx1"/>
                </a:solidFill>
                <a:cs typeface="Courier"/>
              </a:rPr>
              <a:t>Variables</a:t>
            </a:r>
          </a:p>
          <a:p>
            <a:pPr lvl="1"/>
            <a:r>
              <a:rPr lang="en-GB" dirty="0">
                <a:solidFill>
                  <a:schemeClr val="tx1"/>
                </a:solidFill>
                <a:cs typeface="Courier"/>
              </a:rPr>
              <a:t>Wildcards characters</a:t>
            </a:r>
          </a:p>
          <a:p>
            <a:pPr lvl="1"/>
            <a:r>
              <a:rPr lang="en-GB" dirty="0">
                <a:solidFill>
                  <a:schemeClr val="tx1"/>
                </a:solidFill>
                <a:cs typeface="Courier"/>
              </a:rPr>
              <a:t>Can have several lines</a:t>
            </a:r>
          </a:p>
          <a:p>
            <a:pPr lvl="1"/>
            <a:endParaRPr lang="en-GB" b="1" dirty="0">
              <a:solidFill>
                <a:schemeClr val="tx1"/>
              </a:solidFill>
              <a:latin typeface="Courier"/>
              <a:cs typeface="Courier"/>
            </a:endParaRPr>
          </a:p>
          <a:p>
            <a:pPr marL="0" indent="0">
              <a:buNone/>
            </a:pPr>
            <a:endParaRPr lang="en-GB" dirty="0">
              <a:latin typeface="Arial" charset="0"/>
            </a:endParaRPr>
          </a:p>
        </p:txBody>
      </p:sp>
      <p:pic>
        <p:nvPicPr>
          <p:cNvPr id="2" name="Picture 1" descr="echo1.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5446" y="3032956"/>
            <a:ext cx="8685046" cy="3240360"/>
          </a:xfrm>
          <a:prstGeom prst="rect">
            <a:avLst/>
          </a:prstGeom>
        </p:spPr>
      </p:pic>
    </p:spTree>
    <p:extLst>
      <p:ext uri="{BB962C8B-B14F-4D97-AF65-F5344CB8AC3E}">
        <p14:creationId xmlns:p14="http://schemas.microsoft.com/office/powerpoint/2010/main" val="9707543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50</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Arithmetic operations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No need to define the variables as integers</a:t>
            </a:r>
          </a:p>
          <a:p>
            <a:r>
              <a:rPr lang="en-GB" dirty="0">
                <a:solidFill>
                  <a:schemeClr val="tx1"/>
                </a:solidFill>
                <a:latin typeface="Arial" charset="0"/>
              </a:rPr>
              <a:t>Arithmetic operations with integers</a:t>
            </a:r>
          </a:p>
          <a:p>
            <a:pPr lvl="1"/>
            <a:r>
              <a:rPr lang="en-GB" b="1" dirty="0">
                <a:solidFill>
                  <a:schemeClr val="tx1"/>
                </a:solidFill>
                <a:latin typeface="Courier"/>
                <a:cs typeface="Courier"/>
              </a:rPr>
              <a:t>$((…))</a:t>
            </a:r>
            <a:r>
              <a:rPr lang="en-GB" dirty="0">
                <a:solidFill>
                  <a:schemeClr val="tx1"/>
                </a:solidFill>
                <a:cs typeface="Courier"/>
              </a:rPr>
              <a:t>: Portability among shells</a:t>
            </a:r>
          </a:p>
          <a:p>
            <a:pPr lvl="1"/>
            <a:r>
              <a:rPr lang="en-GB" b="1" dirty="0">
                <a:solidFill>
                  <a:schemeClr val="tx1"/>
                </a:solidFill>
                <a:latin typeface="Courier"/>
                <a:cs typeface="Courier"/>
              </a:rPr>
              <a:t>((…))</a:t>
            </a:r>
          </a:p>
          <a:p>
            <a:pPr lvl="1"/>
            <a:endParaRPr lang="en-GB" b="1" dirty="0">
              <a:solidFill>
                <a:schemeClr val="tx1"/>
              </a:solidFill>
              <a:latin typeface="Courier"/>
              <a:cs typeface="Courier"/>
            </a:endParaRPr>
          </a:p>
          <a:p>
            <a:pPr lvl="1"/>
            <a:endParaRPr lang="en-GB" b="1" dirty="0">
              <a:solidFill>
                <a:schemeClr val="tx1"/>
              </a:solidFill>
              <a:latin typeface="Courier"/>
              <a:cs typeface="Courier"/>
            </a:endParaRPr>
          </a:p>
          <a:p>
            <a:pPr lvl="1"/>
            <a:endParaRPr lang="en-GB" b="1" dirty="0">
              <a:solidFill>
                <a:schemeClr val="tx1"/>
              </a:solidFill>
              <a:latin typeface="Courier"/>
              <a:cs typeface="Courier"/>
            </a:endParaRPr>
          </a:p>
          <a:p>
            <a:pPr marL="542925" lvl="1" indent="0">
              <a:buNone/>
            </a:pPr>
            <a:endParaRPr lang="en-GB" b="1" dirty="0">
              <a:solidFill>
                <a:schemeClr val="tx1"/>
              </a:solidFill>
              <a:latin typeface="Courier"/>
              <a:cs typeface="Courier"/>
            </a:endParaRPr>
          </a:p>
          <a:p>
            <a:pPr lvl="1"/>
            <a:endParaRPr lang="en-GB" b="1" dirty="0">
              <a:solidFill>
                <a:schemeClr val="tx1"/>
              </a:solidFill>
              <a:latin typeface="Courier"/>
              <a:cs typeface="Courier"/>
            </a:endParaRPr>
          </a:p>
          <a:p>
            <a:pPr marL="542925" lvl="1" indent="0">
              <a:buNone/>
            </a:pPr>
            <a:endParaRPr lang="en-GB" b="1" dirty="0">
              <a:solidFill>
                <a:srgbClr val="FF0000"/>
              </a:solidFill>
              <a:latin typeface="Courier"/>
              <a:cs typeface="Courier"/>
            </a:endParaRPr>
          </a:p>
          <a:p>
            <a:pPr lvl="1"/>
            <a:endParaRPr lang="en-GB" b="1" dirty="0">
              <a:solidFill>
                <a:srgbClr val="FF0000"/>
              </a:solidFill>
              <a:latin typeface="Courier"/>
              <a:cs typeface="Courier"/>
            </a:endParaRPr>
          </a:p>
        </p:txBody>
      </p:sp>
      <p:pic>
        <p:nvPicPr>
          <p:cNvPr id="5" name="Picture 4">
            <a:extLst>
              <a:ext uri="{FF2B5EF4-FFF2-40B4-BE49-F238E27FC236}">
                <a16:creationId xmlns:a16="http://schemas.microsoft.com/office/drawing/2014/main" id="{ECF91907-0C46-F847-829B-1B59DCAE1543}"/>
              </a:ext>
            </a:extLst>
          </p:cNvPr>
          <p:cNvPicPr>
            <a:picLocks noChangeAspect="1"/>
          </p:cNvPicPr>
          <p:nvPr/>
        </p:nvPicPr>
        <p:blipFill rotWithShape="1">
          <a:blip r:embed="rId6">
            <a:extLst>
              <a:ext uri="{28A0092B-C50C-407E-A947-70E740481C1C}">
                <a14:useLocalDpi xmlns:a14="http://schemas.microsoft.com/office/drawing/2010/main" val="0"/>
              </a:ext>
            </a:extLst>
          </a:blip>
          <a:srcRect l="5057" t="5380" r="46850" b="55041"/>
          <a:stretch/>
        </p:blipFill>
        <p:spPr>
          <a:xfrm>
            <a:off x="924055" y="2883732"/>
            <a:ext cx="6636277" cy="3361596"/>
          </a:xfrm>
          <a:prstGeom prst="rect">
            <a:avLst/>
          </a:prstGeom>
        </p:spPr>
      </p:pic>
    </p:spTree>
    <p:extLst>
      <p:ext uri="{BB962C8B-B14F-4D97-AF65-F5344CB8AC3E}">
        <p14:creationId xmlns:p14="http://schemas.microsoft.com/office/powerpoint/2010/main" val="42463768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51</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Arithmetic operations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Arithmetic operations with integers</a:t>
            </a:r>
          </a:p>
          <a:p>
            <a:pPr lvl="1"/>
            <a:r>
              <a:rPr lang="en-GB" b="1" dirty="0">
                <a:solidFill>
                  <a:schemeClr val="tx1"/>
                </a:solidFill>
                <a:latin typeface="Courier"/>
                <a:cs typeface="Courier"/>
              </a:rPr>
              <a:t>let </a:t>
            </a:r>
            <a:r>
              <a:rPr lang="en-GB" dirty="0">
                <a:solidFill>
                  <a:schemeClr val="tx1"/>
                </a:solidFill>
                <a:cs typeface="Courier"/>
              </a:rPr>
              <a:t>(without spaces as it is an initialisation)</a:t>
            </a:r>
            <a:endParaRPr lang="en-GB" b="1" dirty="0">
              <a:solidFill>
                <a:schemeClr val="tx1"/>
              </a:solidFill>
              <a:latin typeface="Courier"/>
              <a:cs typeface="Courier"/>
            </a:endParaRPr>
          </a:p>
          <a:p>
            <a:pPr lvl="1"/>
            <a:r>
              <a:rPr lang="en-GB" b="1" dirty="0" err="1">
                <a:solidFill>
                  <a:schemeClr val="tx1"/>
                </a:solidFill>
                <a:latin typeface="Courier"/>
                <a:cs typeface="Courier"/>
              </a:rPr>
              <a:t>expr</a:t>
            </a:r>
            <a:r>
              <a:rPr lang="en-GB" b="1" dirty="0">
                <a:solidFill>
                  <a:schemeClr val="tx1"/>
                </a:solidFill>
                <a:latin typeface="Courier"/>
                <a:cs typeface="Courier"/>
              </a:rPr>
              <a:t> </a:t>
            </a:r>
            <a:r>
              <a:rPr lang="en-GB" dirty="0">
                <a:solidFill>
                  <a:schemeClr val="tx1"/>
                </a:solidFill>
                <a:cs typeface="Courier"/>
              </a:rPr>
              <a:t>(with spaces in arguments)</a:t>
            </a:r>
          </a:p>
          <a:p>
            <a:pPr lvl="1"/>
            <a:endParaRPr lang="en-GB" b="1" dirty="0">
              <a:solidFill>
                <a:srgbClr val="FF0000"/>
              </a:solidFill>
              <a:latin typeface="Courier"/>
              <a:cs typeface="Courier"/>
            </a:endParaRPr>
          </a:p>
          <a:p>
            <a:pPr lvl="1"/>
            <a:endParaRPr lang="en-GB" b="1" dirty="0">
              <a:solidFill>
                <a:srgbClr val="FF0000"/>
              </a:solidFill>
              <a:latin typeface="Courier"/>
              <a:cs typeface="Courier"/>
            </a:endParaRPr>
          </a:p>
        </p:txBody>
      </p:sp>
      <p:pic>
        <p:nvPicPr>
          <p:cNvPr id="8" name="Picture 7">
            <a:extLst>
              <a:ext uri="{FF2B5EF4-FFF2-40B4-BE49-F238E27FC236}">
                <a16:creationId xmlns:a16="http://schemas.microsoft.com/office/drawing/2014/main" id="{9A30E1F2-850C-5748-9E4C-BF5012F8701F}"/>
              </a:ext>
            </a:extLst>
          </p:cNvPr>
          <p:cNvPicPr>
            <a:picLocks noChangeAspect="1"/>
          </p:cNvPicPr>
          <p:nvPr/>
        </p:nvPicPr>
        <p:blipFill rotWithShape="1">
          <a:blip r:embed="rId6">
            <a:extLst>
              <a:ext uri="{28A0092B-C50C-407E-A947-70E740481C1C}">
                <a14:useLocalDpi xmlns:a14="http://schemas.microsoft.com/office/drawing/2010/main" val="0"/>
              </a:ext>
            </a:extLst>
          </a:blip>
          <a:srcRect l="3334" t="6205" r="42124" b="57508"/>
          <a:stretch/>
        </p:blipFill>
        <p:spPr>
          <a:xfrm>
            <a:off x="745552" y="2721597"/>
            <a:ext cx="7652896" cy="3204356"/>
          </a:xfrm>
          <a:prstGeom prst="rect">
            <a:avLst/>
          </a:prstGeom>
        </p:spPr>
      </p:pic>
    </p:spTree>
    <p:extLst>
      <p:ext uri="{BB962C8B-B14F-4D97-AF65-F5344CB8AC3E}">
        <p14:creationId xmlns:p14="http://schemas.microsoft.com/office/powerpoint/2010/main" val="18829075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52</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solidFill>
                  <a:srgbClr val="800000"/>
                </a:solidFill>
                <a:latin typeface="Arial" charset="0"/>
              </a:rPr>
              <a:t>Condition expressions: </a:t>
            </a:r>
            <a:r>
              <a:rPr lang="en-US" sz="2800" dirty="0">
                <a:solidFill>
                  <a:srgbClr val="800000"/>
                </a:solidFill>
                <a:latin typeface="Courier"/>
                <a:cs typeface="Courier"/>
              </a:rPr>
              <a:t>test</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cs typeface="Courier"/>
              </a:rPr>
              <a:t>A condition expression is:</a:t>
            </a:r>
          </a:p>
          <a:p>
            <a:pPr lvl="1"/>
            <a:r>
              <a:rPr lang="en-GB" dirty="0">
                <a:solidFill>
                  <a:schemeClr val="tx1"/>
                </a:solidFill>
                <a:cs typeface="Courier"/>
              </a:rPr>
              <a:t>a set of commands that are executed</a:t>
            </a:r>
          </a:p>
          <a:p>
            <a:pPr marL="542925" lvl="1" indent="0">
              <a:buNone/>
            </a:pPr>
            <a:r>
              <a:rPr lang="en-GB" sz="1000" dirty="0">
                <a:solidFill>
                  <a:schemeClr val="tx1"/>
                </a:solidFill>
                <a:cs typeface="Courier"/>
              </a:rPr>
              <a:t> </a:t>
            </a:r>
          </a:p>
          <a:p>
            <a:r>
              <a:rPr lang="en-GB" dirty="0">
                <a:solidFill>
                  <a:schemeClr val="tx1"/>
                </a:solidFill>
                <a:latin typeface="Arial" charset="0"/>
              </a:rPr>
              <a:t>The</a:t>
            </a:r>
            <a:r>
              <a:rPr lang="en-GB" b="1" dirty="0">
                <a:solidFill>
                  <a:schemeClr val="tx1"/>
                </a:solidFill>
                <a:latin typeface="Courier"/>
                <a:cs typeface="Courier"/>
              </a:rPr>
              <a:t> test</a:t>
            </a:r>
            <a:r>
              <a:rPr lang="en-GB" dirty="0">
                <a:solidFill>
                  <a:schemeClr val="tx1"/>
                </a:solidFill>
                <a:latin typeface="Arial" charset="0"/>
              </a:rPr>
              <a:t> command exits with the exit status determined by the </a:t>
            </a:r>
            <a:r>
              <a:rPr lang="en-GB" b="1" dirty="0" err="1">
                <a:solidFill>
                  <a:schemeClr val="tx1"/>
                </a:solidFill>
                <a:latin typeface="Courier"/>
                <a:cs typeface="Courier"/>
              </a:rPr>
              <a:t>condition_expression</a:t>
            </a:r>
            <a:endParaRPr lang="en-GB" b="1" dirty="0">
              <a:solidFill>
                <a:schemeClr val="tx1"/>
              </a:solidFill>
              <a:latin typeface="Courier"/>
              <a:cs typeface="Courier"/>
            </a:endParaRPr>
          </a:p>
          <a:p>
            <a:pPr lvl="1"/>
            <a:r>
              <a:rPr lang="en-GB" b="1" dirty="0">
                <a:solidFill>
                  <a:schemeClr val="tx1"/>
                </a:solidFill>
                <a:latin typeface="Courier"/>
                <a:cs typeface="Courier"/>
              </a:rPr>
              <a:t>test </a:t>
            </a:r>
            <a:r>
              <a:rPr lang="en-GB" b="1" dirty="0" err="1">
                <a:solidFill>
                  <a:schemeClr val="tx1"/>
                </a:solidFill>
                <a:latin typeface="Courier"/>
                <a:cs typeface="Courier"/>
              </a:rPr>
              <a:t>condition_expression</a:t>
            </a:r>
            <a:endParaRPr lang="en-GB" b="1" dirty="0">
              <a:solidFill>
                <a:schemeClr val="tx1"/>
              </a:solidFill>
              <a:latin typeface="Courier"/>
              <a:cs typeface="Courier"/>
            </a:endParaRPr>
          </a:p>
          <a:p>
            <a:pPr lvl="1"/>
            <a:r>
              <a:rPr lang="en-GB" b="1" dirty="0">
                <a:solidFill>
                  <a:schemeClr val="tx1"/>
                </a:solidFill>
                <a:latin typeface="Courier"/>
                <a:cs typeface="Courier"/>
              </a:rPr>
              <a:t>[ </a:t>
            </a:r>
            <a:r>
              <a:rPr lang="en-GB" b="1" dirty="0" err="1">
                <a:solidFill>
                  <a:schemeClr val="tx1"/>
                </a:solidFill>
                <a:latin typeface="Courier"/>
                <a:cs typeface="Courier"/>
              </a:rPr>
              <a:t>condition_expression</a:t>
            </a:r>
            <a:r>
              <a:rPr lang="en-GB" b="1" dirty="0">
                <a:solidFill>
                  <a:schemeClr val="tx1"/>
                </a:solidFill>
                <a:latin typeface="Courier"/>
                <a:cs typeface="Courier"/>
              </a:rPr>
              <a:t> ]</a:t>
            </a:r>
            <a:endParaRPr lang="en-GB" b="1" dirty="0">
              <a:solidFill>
                <a:srgbClr val="FF0000"/>
              </a:solidFill>
              <a:latin typeface="Arial" charset="0"/>
            </a:endParaRPr>
          </a:p>
          <a:p>
            <a:pPr lvl="1"/>
            <a:r>
              <a:rPr lang="en-GB" b="1" dirty="0">
                <a:solidFill>
                  <a:schemeClr val="tx1"/>
                </a:solidFill>
                <a:latin typeface="Courier"/>
                <a:cs typeface="Courier"/>
              </a:rPr>
              <a:t>[[ </a:t>
            </a:r>
            <a:r>
              <a:rPr lang="en-GB" b="1" dirty="0" err="1">
                <a:solidFill>
                  <a:schemeClr val="tx1"/>
                </a:solidFill>
                <a:latin typeface="Courier"/>
                <a:cs typeface="Courier"/>
              </a:rPr>
              <a:t>condition_expression</a:t>
            </a:r>
            <a:r>
              <a:rPr lang="en-GB" b="1" dirty="0">
                <a:solidFill>
                  <a:schemeClr val="tx1"/>
                </a:solidFill>
                <a:latin typeface="Courier"/>
                <a:cs typeface="Courier"/>
              </a:rPr>
              <a:t> ]]</a:t>
            </a:r>
          </a:p>
          <a:p>
            <a:pPr marL="542925" lvl="1" indent="0">
              <a:buNone/>
            </a:pPr>
            <a:r>
              <a:rPr lang="en-GB" dirty="0">
                <a:solidFill>
                  <a:schemeClr val="tx1"/>
                </a:solidFill>
                <a:cs typeface="Courier"/>
              </a:rPr>
              <a:t>Similar to single brackets, but more powerful</a:t>
            </a:r>
          </a:p>
          <a:p>
            <a:pPr marL="542925" lvl="1" indent="0">
              <a:buNone/>
            </a:pPr>
            <a:endParaRPr lang="en-GB" b="1" dirty="0">
              <a:solidFill>
                <a:schemeClr val="tx1"/>
              </a:solidFill>
              <a:latin typeface="Courier"/>
              <a:cs typeface="Courier"/>
            </a:endParaRPr>
          </a:p>
          <a:p>
            <a:pPr lvl="1"/>
            <a:r>
              <a:rPr lang="en-GB" b="1" dirty="0">
                <a:solidFill>
                  <a:schemeClr val="tx1"/>
                </a:solidFill>
                <a:latin typeface="Courier"/>
                <a:cs typeface="Courier"/>
              </a:rPr>
              <a:t>(( </a:t>
            </a:r>
            <a:r>
              <a:rPr lang="en-GB" b="1" dirty="0">
                <a:solidFill>
                  <a:srgbClr val="FF0000"/>
                </a:solidFill>
                <a:latin typeface="Courier"/>
                <a:cs typeface="Courier"/>
              </a:rPr>
              <a:t>arithmetic</a:t>
            </a:r>
            <a:r>
              <a:rPr lang="en-GB" b="1" dirty="0">
                <a:solidFill>
                  <a:schemeClr val="tx1"/>
                </a:solidFill>
                <a:latin typeface="Courier"/>
                <a:cs typeface="Courier"/>
              </a:rPr>
              <a:t> </a:t>
            </a:r>
            <a:r>
              <a:rPr lang="en-GB" b="1" dirty="0" err="1">
                <a:solidFill>
                  <a:schemeClr val="tx1"/>
                </a:solidFill>
                <a:latin typeface="Courier"/>
                <a:cs typeface="Courier"/>
              </a:rPr>
              <a:t>condition_expression</a:t>
            </a:r>
            <a:r>
              <a:rPr lang="en-GB" b="1" dirty="0">
                <a:solidFill>
                  <a:schemeClr val="tx1"/>
                </a:solidFill>
                <a:latin typeface="Courier"/>
                <a:cs typeface="Courier"/>
              </a:rPr>
              <a:t> ))</a:t>
            </a:r>
          </a:p>
          <a:p>
            <a:pPr lvl="1"/>
            <a:r>
              <a:rPr lang="en-GB" b="1" dirty="0">
                <a:solidFill>
                  <a:schemeClr val="tx1"/>
                </a:solidFill>
                <a:latin typeface="Courier"/>
                <a:cs typeface="Courier"/>
              </a:rPr>
              <a:t>( command )</a:t>
            </a:r>
          </a:p>
          <a:p>
            <a:pPr lvl="1"/>
            <a:endParaRPr lang="en-GB" b="1" dirty="0">
              <a:solidFill>
                <a:schemeClr val="tx1"/>
              </a:solidFill>
              <a:latin typeface="Courier"/>
              <a:cs typeface="Courier"/>
            </a:endParaRPr>
          </a:p>
          <a:p>
            <a:pPr marL="542925" lvl="1" indent="0">
              <a:buNone/>
            </a:pPr>
            <a:endParaRPr lang="en-GB" dirty="0">
              <a:solidFill>
                <a:schemeClr val="tx1"/>
              </a:solidFill>
              <a:cs typeface="Courier"/>
            </a:endParaRPr>
          </a:p>
          <a:p>
            <a:pPr marL="542925" lvl="1" indent="0">
              <a:buNone/>
            </a:pPr>
            <a:endParaRPr lang="en-GB" dirty="0">
              <a:solidFill>
                <a:schemeClr val="tx1"/>
              </a:solidFill>
              <a:latin typeface="Arial" charset="0"/>
            </a:endParaRPr>
          </a:p>
        </p:txBody>
      </p:sp>
      <p:sp>
        <p:nvSpPr>
          <p:cNvPr id="2" name="Rectangle 1"/>
          <p:cNvSpPr/>
          <p:nvPr/>
        </p:nvSpPr>
        <p:spPr>
          <a:xfrm>
            <a:off x="5184069" y="2924944"/>
            <a:ext cx="3312368" cy="707886"/>
          </a:xfrm>
          <a:prstGeom prst="rect">
            <a:avLst/>
          </a:prstGeom>
        </p:spPr>
        <p:txBody>
          <a:bodyPr wrap="square">
            <a:spAutoFit/>
          </a:bodyPr>
          <a:lstStyle/>
          <a:p>
            <a:pPr lvl="1"/>
            <a:r>
              <a:rPr lang="en-GB" sz="2000" b="1" dirty="0">
                <a:solidFill>
                  <a:srgbClr val="FF0000"/>
                </a:solidFill>
              </a:rPr>
              <a:t>SPACES ARE REQUIRED !!</a:t>
            </a:r>
            <a:endParaRPr lang="en-GB" sz="2000" b="1" dirty="0">
              <a:solidFill>
                <a:schemeClr val="tx1"/>
              </a:solidFill>
              <a:latin typeface="Courier"/>
              <a:cs typeface="Courier"/>
            </a:endParaRPr>
          </a:p>
        </p:txBody>
      </p:sp>
    </p:spTree>
    <p:extLst>
      <p:ext uri="{BB962C8B-B14F-4D97-AF65-F5344CB8AC3E}">
        <p14:creationId xmlns:p14="http://schemas.microsoft.com/office/powerpoint/2010/main" val="183776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53</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mn-lt"/>
              </a:rPr>
              <a:t>Condition expressions: </a:t>
            </a:r>
            <a:r>
              <a:rPr lang="en-US" sz="2800" dirty="0">
                <a:latin typeface="Courier" pitchFamily="2" charset="0"/>
                <a:cs typeface="Courier"/>
              </a:rPr>
              <a:t>test</a:t>
            </a:r>
            <a:r>
              <a:rPr lang="en-US" sz="2800" dirty="0">
                <a:latin typeface="+mn-lt"/>
                <a:cs typeface="Courier"/>
              </a:rPr>
              <a:t> </a:t>
            </a:r>
            <a:r>
              <a:rPr lang="en-US" sz="2800" dirty="0">
                <a:solidFill>
                  <a:srgbClr val="800000"/>
                </a:solidFill>
                <a:latin typeface="+mn-lt"/>
                <a:cs typeface="Courier"/>
              </a:rPr>
              <a:t>operators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graphicFrame>
        <p:nvGraphicFramePr>
          <p:cNvPr id="7" name="Table 6"/>
          <p:cNvGraphicFramePr>
            <a:graphicFrameLocks noGrp="1"/>
          </p:cNvGraphicFramePr>
          <p:nvPr>
            <p:extLst>
              <p:ext uri="{D42A27DB-BD31-4B8C-83A1-F6EECF244321}">
                <p14:modId xmlns:p14="http://schemas.microsoft.com/office/powerpoint/2010/main" val="4148125294"/>
              </p:ext>
            </p:extLst>
          </p:nvPr>
        </p:nvGraphicFramePr>
        <p:xfrm>
          <a:off x="252029" y="765499"/>
          <a:ext cx="8460431" cy="5673440"/>
        </p:xfrm>
        <a:graphic>
          <a:graphicData uri="http://schemas.openxmlformats.org/drawingml/2006/table">
            <a:tbl>
              <a:tblPr firstRow="1" bandRow="1">
                <a:tableStyleId>{5940675A-B579-460E-94D1-54222C63F5DA}</a:tableStyleId>
              </a:tblPr>
              <a:tblGrid>
                <a:gridCol w="2200325">
                  <a:extLst>
                    <a:ext uri="{9D8B030D-6E8A-4147-A177-3AD203B41FA5}">
                      <a16:colId xmlns:a16="http://schemas.microsoft.com/office/drawing/2014/main" val="20000"/>
                    </a:ext>
                  </a:extLst>
                </a:gridCol>
                <a:gridCol w="6260106">
                  <a:extLst>
                    <a:ext uri="{9D8B030D-6E8A-4147-A177-3AD203B41FA5}">
                      <a16:colId xmlns:a16="http://schemas.microsoft.com/office/drawing/2014/main" val="20001"/>
                    </a:ext>
                  </a:extLst>
                </a:gridCol>
              </a:tblGrid>
              <a:tr h="369595">
                <a:tc>
                  <a:txBody>
                    <a:bodyPr/>
                    <a:lstStyle/>
                    <a:p>
                      <a:pPr>
                        <a:lnSpc>
                          <a:spcPts val="1560"/>
                        </a:lnSpc>
                      </a:pPr>
                      <a:r>
                        <a:rPr lang="en-US" b="1" dirty="0">
                          <a:solidFill>
                            <a:srgbClr val="000000"/>
                          </a:solidFill>
                        </a:rPr>
                        <a:t>Operator</a:t>
                      </a:r>
                    </a:p>
                  </a:txBody>
                  <a:tcPr>
                    <a:solidFill>
                      <a:schemeClr val="bg1">
                        <a:lumMod val="75000"/>
                      </a:schemeClr>
                    </a:solidFill>
                  </a:tcPr>
                </a:tc>
                <a:tc>
                  <a:txBody>
                    <a:bodyPr/>
                    <a:lstStyle/>
                    <a:p>
                      <a:pPr>
                        <a:lnSpc>
                          <a:spcPts val="1560"/>
                        </a:lnSpc>
                      </a:pPr>
                      <a:r>
                        <a:rPr lang="en-US" b="1" dirty="0">
                          <a:solidFill>
                            <a:srgbClr val="000000"/>
                          </a:solidFill>
                        </a:rPr>
                        <a:t>Description</a:t>
                      </a:r>
                    </a:p>
                  </a:txBody>
                  <a:tcPr>
                    <a:solidFill>
                      <a:schemeClr val="bg1">
                        <a:lumMod val="75000"/>
                      </a:schemeClr>
                    </a:solidFill>
                  </a:tcPr>
                </a:tc>
                <a:extLst>
                  <a:ext uri="{0D108BD9-81ED-4DB2-BD59-A6C34878D82A}">
                    <a16:rowId xmlns:a16="http://schemas.microsoft.com/office/drawing/2014/main" val="10000"/>
                  </a:ext>
                </a:extLst>
              </a:tr>
              <a:tr h="460972">
                <a:tc>
                  <a:txBody>
                    <a:bodyPr/>
                    <a:lstStyle/>
                    <a:p>
                      <a:pPr>
                        <a:lnSpc>
                          <a:spcPts val="1560"/>
                        </a:lnSpc>
                      </a:pPr>
                      <a:r>
                        <a:rPr lang="en-US" b="1" dirty="0">
                          <a:solidFill>
                            <a:srgbClr val="000000"/>
                          </a:solidFill>
                          <a:latin typeface="Courier"/>
                          <a:cs typeface="Courier"/>
                        </a:rPr>
                        <a:t>-</a:t>
                      </a:r>
                      <a:r>
                        <a:rPr lang="en-US" b="1" dirty="0" err="1">
                          <a:solidFill>
                            <a:srgbClr val="000000"/>
                          </a:solidFill>
                          <a:latin typeface="Courier"/>
                          <a:cs typeface="Courier"/>
                        </a:rPr>
                        <a:t>gt</a:t>
                      </a:r>
                      <a:r>
                        <a:rPr lang="en-US" b="1" dirty="0">
                          <a:solidFill>
                            <a:srgbClr val="000000"/>
                          </a:solidFill>
                          <a:latin typeface="Courier"/>
                          <a:cs typeface="Courier"/>
                        </a:rPr>
                        <a:t> </a:t>
                      </a:r>
                      <a:r>
                        <a:rPr lang="en-US" b="0" dirty="0">
                          <a:solidFill>
                            <a:srgbClr val="000000"/>
                          </a:solidFill>
                          <a:latin typeface="+mn-lt"/>
                          <a:cs typeface="Courier"/>
                        </a:rPr>
                        <a:t>or  </a:t>
                      </a:r>
                      <a:r>
                        <a:rPr lang="en-US" b="1" dirty="0">
                          <a:solidFill>
                            <a:srgbClr val="000000"/>
                          </a:solidFill>
                          <a:latin typeface="Courier"/>
                          <a:cs typeface="Courier"/>
                        </a:rPr>
                        <a:t>&gt;</a:t>
                      </a:r>
                    </a:p>
                  </a:txBody>
                  <a:tcPr/>
                </a:tc>
                <a:tc>
                  <a:txBody>
                    <a:bodyPr/>
                    <a:lstStyle/>
                    <a:p>
                      <a:pPr>
                        <a:lnSpc>
                          <a:spcPts val="1560"/>
                        </a:lnSpc>
                      </a:pPr>
                      <a:r>
                        <a:rPr lang="en-US" dirty="0">
                          <a:solidFill>
                            <a:srgbClr val="000000"/>
                          </a:solidFill>
                        </a:rPr>
                        <a:t>Greater than (</a:t>
                      </a:r>
                      <a:r>
                        <a:rPr lang="en-US" b="1" dirty="0">
                          <a:solidFill>
                            <a:srgbClr val="FF0000"/>
                          </a:solidFill>
                        </a:rPr>
                        <a:t>-</a:t>
                      </a:r>
                      <a:r>
                        <a:rPr lang="en-US" b="1" dirty="0" err="1">
                          <a:solidFill>
                            <a:srgbClr val="FF0000"/>
                          </a:solidFill>
                        </a:rPr>
                        <a:t>gt</a:t>
                      </a:r>
                      <a:r>
                        <a:rPr lang="en-US" b="1" dirty="0">
                          <a:solidFill>
                            <a:srgbClr val="FF0000"/>
                          </a:solidFill>
                        </a:rPr>
                        <a:t> </a:t>
                      </a:r>
                      <a:r>
                        <a:rPr lang="en-US" dirty="0">
                          <a:solidFill>
                            <a:srgbClr val="FF0000"/>
                          </a:solidFill>
                        </a:rPr>
                        <a:t>for integers and</a:t>
                      </a:r>
                      <a:r>
                        <a:rPr lang="en-US" baseline="0" dirty="0">
                          <a:solidFill>
                            <a:srgbClr val="FF0000"/>
                          </a:solidFill>
                        </a:rPr>
                        <a:t> </a:t>
                      </a:r>
                      <a:r>
                        <a:rPr lang="en-US" b="1" baseline="0" dirty="0">
                          <a:solidFill>
                            <a:srgbClr val="FF0000"/>
                          </a:solidFill>
                        </a:rPr>
                        <a:t>&gt;</a:t>
                      </a:r>
                      <a:r>
                        <a:rPr lang="en-US" baseline="0" dirty="0">
                          <a:solidFill>
                            <a:srgbClr val="FF0000"/>
                          </a:solidFill>
                        </a:rPr>
                        <a:t> for </a:t>
                      </a:r>
                      <a:r>
                        <a:rPr lang="en-US" dirty="0">
                          <a:solidFill>
                            <a:srgbClr val="FF0000"/>
                          </a:solidFill>
                        </a:rPr>
                        <a:t>strings, </a:t>
                      </a:r>
                      <a:r>
                        <a:rPr lang="en-GB" u="none" dirty="0">
                          <a:solidFill>
                            <a:srgbClr val="FF0000"/>
                          </a:solidFill>
                        </a:rPr>
                        <a:t>"&lt;" needs to be </a:t>
                      </a:r>
                      <a:r>
                        <a:rPr lang="en-GB" u="none" dirty="0">
                          <a:solidFill>
                            <a:srgbClr val="FF0000"/>
                          </a:solidFill>
                          <a:hlinkClick r:id="rId3">
                            <a:extLst>
                              <a:ext uri="{A12FA001-AC4F-418D-AE19-62706E023703}">
                                <ahyp:hlinkClr xmlns:ahyp="http://schemas.microsoft.com/office/drawing/2018/hyperlinkcolor" val="tx"/>
                              </a:ext>
                            </a:extLst>
                          </a:hlinkClick>
                        </a:rPr>
                        <a:t>escaped</a:t>
                      </a:r>
                      <a:r>
                        <a:rPr lang="en-GB" u="none" dirty="0">
                          <a:solidFill>
                            <a:srgbClr val="FF0000"/>
                          </a:solidFill>
                        </a:rPr>
                        <a:t> (use \) within a </a:t>
                      </a:r>
                      <a:r>
                        <a:rPr lang="en-GB" b="1" u="none" dirty="0">
                          <a:solidFill>
                            <a:srgbClr val="FF0000"/>
                          </a:solidFill>
                        </a:rPr>
                        <a:t>[ ]</a:t>
                      </a:r>
                      <a:r>
                        <a:rPr lang="en-GB" u="none" dirty="0">
                          <a:solidFill>
                            <a:srgbClr val="FF0000"/>
                          </a:solidFill>
                        </a:rPr>
                        <a:t> construct.</a:t>
                      </a:r>
                      <a:r>
                        <a:rPr lang="en-GB" u="none" dirty="0">
                          <a:solidFill>
                            <a:schemeClr val="tx1"/>
                          </a:solidFill>
                        </a:rPr>
                        <a:t>)</a:t>
                      </a:r>
                      <a:endParaRPr lang="en-US" u="none" dirty="0">
                        <a:solidFill>
                          <a:schemeClr val="tx1"/>
                        </a:solidFill>
                      </a:endParaRPr>
                    </a:p>
                  </a:txBody>
                  <a:tcPr/>
                </a:tc>
                <a:extLst>
                  <a:ext uri="{0D108BD9-81ED-4DB2-BD59-A6C34878D82A}">
                    <a16:rowId xmlns:a16="http://schemas.microsoft.com/office/drawing/2014/main" val="10001"/>
                  </a:ext>
                </a:extLst>
              </a:tr>
              <a:tr h="369595">
                <a:tc>
                  <a:txBody>
                    <a:bodyPr/>
                    <a:lstStyle/>
                    <a:p>
                      <a:pPr>
                        <a:lnSpc>
                          <a:spcPts val="1560"/>
                        </a:lnSpc>
                      </a:pPr>
                      <a:r>
                        <a:rPr lang="en-US" b="1" dirty="0">
                          <a:solidFill>
                            <a:srgbClr val="000000"/>
                          </a:solidFill>
                          <a:latin typeface="Courier"/>
                          <a:cs typeface="Courier"/>
                        </a:rPr>
                        <a:t>-</a:t>
                      </a:r>
                      <a:r>
                        <a:rPr lang="en-US" b="1" dirty="0" err="1">
                          <a:solidFill>
                            <a:srgbClr val="000000"/>
                          </a:solidFill>
                          <a:latin typeface="Courier"/>
                          <a:cs typeface="Courier"/>
                        </a:rPr>
                        <a:t>ge</a:t>
                      </a:r>
                      <a:r>
                        <a:rPr lang="en-US" b="1" dirty="0">
                          <a:solidFill>
                            <a:srgbClr val="000000"/>
                          </a:solidFill>
                          <a:latin typeface="Courier"/>
                          <a:cs typeface="Courier"/>
                        </a:rPr>
                        <a:t> </a:t>
                      </a:r>
                    </a:p>
                  </a:txBody>
                  <a:tcPr/>
                </a:tc>
                <a:tc>
                  <a:txBody>
                    <a:bodyPr/>
                    <a:lstStyle/>
                    <a:p>
                      <a:pPr>
                        <a:lnSpc>
                          <a:spcPts val="1560"/>
                        </a:lnSpc>
                      </a:pPr>
                      <a:r>
                        <a:rPr lang="en-US" dirty="0">
                          <a:solidFill>
                            <a:srgbClr val="000000"/>
                          </a:solidFill>
                        </a:rPr>
                        <a:t>Greater than or equal (</a:t>
                      </a:r>
                      <a:r>
                        <a:rPr lang="en-US" dirty="0">
                          <a:solidFill>
                            <a:srgbClr val="FF0000"/>
                          </a:solidFill>
                        </a:rPr>
                        <a:t>combine !</a:t>
                      </a:r>
                      <a:r>
                        <a:rPr lang="en-US" baseline="0" dirty="0">
                          <a:solidFill>
                            <a:srgbClr val="FF0000"/>
                          </a:solidFill>
                        </a:rPr>
                        <a:t> and </a:t>
                      </a:r>
                      <a:r>
                        <a:rPr lang="en-US" b="1" baseline="0" dirty="0">
                          <a:solidFill>
                            <a:srgbClr val="FF0000"/>
                          </a:solidFill>
                        </a:rPr>
                        <a:t>&lt;</a:t>
                      </a:r>
                      <a:r>
                        <a:rPr lang="en-US" baseline="0" dirty="0">
                          <a:solidFill>
                            <a:srgbClr val="FF0000"/>
                          </a:solidFill>
                        </a:rPr>
                        <a:t> for </a:t>
                      </a:r>
                      <a:r>
                        <a:rPr lang="en-US" dirty="0">
                          <a:solidFill>
                            <a:srgbClr val="FF0000"/>
                          </a:solidFill>
                        </a:rPr>
                        <a:t>strings</a:t>
                      </a:r>
                      <a:r>
                        <a:rPr lang="en-US" dirty="0">
                          <a:solidFill>
                            <a:srgbClr val="000000"/>
                          </a:solidFill>
                        </a:rPr>
                        <a:t>)</a:t>
                      </a:r>
                    </a:p>
                  </a:txBody>
                  <a:tcPr/>
                </a:tc>
                <a:extLst>
                  <a:ext uri="{0D108BD9-81ED-4DB2-BD59-A6C34878D82A}">
                    <a16:rowId xmlns:a16="http://schemas.microsoft.com/office/drawing/2014/main" val="10002"/>
                  </a:ext>
                </a:extLst>
              </a:tr>
              <a:tr h="369595">
                <a:tc>
                  <a:txBody>
                    <a:bodyPr/>
                    <a:lstStyle/>
                    <a:p>
                      <a:pPr>
                        <a:lnSpc>
                          <a:spcPts val="1560"/>
                        </a:lnSpc>
                      </a:pPr>
                      <a:r>
                        <a:rPr lang="en-US" b="1" dirty="0">
                          <a:solidFill>
                            <a:srgbClr val="000000"/>
                          </a:solidFill>
                          <a:latin typeface="Courier"/>
                          <a:cs typeface="Courier"/>
                        </a:rPr>
                        <a:t>-</a:t>
                      </a:r>
                      <a:r>
                        <a:rPr lang="en-US" b="1" dirty="0" err="1">
                          <a:solidFill>
                            <a:srgbClr val="000000"/>
                          </a:solidFill>
                          <a:latin typeface="Courier"/>
                          <a:cs typeface="Courier"/>
                        </a:rPr>
                        <a:t>lt</a:t>
                      </a:r>
                      <a:r>
                        <a:rPr lang="en-US" b="1" dirty="0">
                          <a:solidFill>
                            <a:srgbClr val="000000"/>
                          </a:solidFill>
                          <a:latin typeface="Courier"/>
                          <a:cs typeface="Courier"/>
                        </a:rPr>
                        <a:t> </a:t>
                      </a:r>
                      <a:r>
                        <a:rPr lang="en-US" b="0" dirty="0">
                          <a:solidFill>
                            <a:srgbClr val="000000"/>
                          </a:solidFill>
                          <a:latin typeface="+mn-lt"/>
                          <a:cs typeface="Courier"/>
                        </a:rPr>
                        <a:t>or  </a:t>
                      </a:r>
                      <a:r>
                        <a:rPr lang="en-US" b="1" dirty="0">
                          <a:solidFill>
                            <a:srgbClr val="000000"/>
                          </a:solidFill>
                          <a:latin typeface="Courier"/>
                          <a:cs typeface="Courier"/>
                        </a:rPr>
                        <a:t>&lt;</a:t>
                      </a:r>
                    </a:p>
                  </a:txBody>
                  <a:tcPr/>
                </a:tc>
                <a:tc>
                  <a:txBody>
                    <a:bodyPr/>
                    <a:lstStyle/>
                    <a:p>
                      <a:pPr>
                        <a:lnSpc>
                          <a:spcPts val="1560"/>
                        </a:lnSpc>
                      </a:pPr>
                      <a:r>
                        <a:rPr lang="en-US" dirty="0">
                          <a:solidFill>
                            <a:srgbClr val="000000"/>
                          </a:solidFill>
                        </a:rPr>
                        <a:t>Less than (</a:t>
                      </a:r>
                      <a:r>
                        <a:rPr lang="en-US" b="1" dirty="0">
                          <a:solidFill>
                            <a:srgbClr val="FF0000"/>
                          </a:solidFill>
                        </a:rPr>
                        <a:t>-</a:t>
                      </a:r>
                      <a:r>
                        <a:rPr lang="en-US" b="1" dirty="0" err="1">
                          <a:solidFill>
                            <a:srgbClr val="FF0000"/>
                          </a:solidFill>
                        </a:rPr>
                        <a:t>lt</a:t>
                      </a:r>
                      <a:r>
                        <a:rPr lang="en-US" b="1" dirty="0">
                          <a:solidFill>
                            <a:srgbClr val="FF0000"/>
                          </a:solidFill>
                        </a:rPr>
                        <a:t> </a:t>
                      </a:r>
                      <a:r>
                        <a:rPr lang="en-US" dirty="0">
                          <a:solidFill>
                            <a:srgbClr val="FF0000"/>
                          </a:solidFill>
                        </a:rPr>
                        <a:t>for integers and</a:t>
                      </a:r>
                      <a:r>
                        <a:rPr lang="en-US" baseline="0" dirty="0">
                          <a:solidFill>
                            <a:srgbClr val="FF0000"/>
                          </a:solidFill>
                        </a:rPr>
                        <a:t> </a:t>
                      </a:r>
                      <a:r>
                        <a:rPr lang="en-US" b="1" baseline="0" dirty="0">
                          <a:solidFill>
                            <a:srgbClr val="FF0000"/>
                          </a:solidFill>
                        </a:rPr>
                        <a:t>&lt;</a:t>
                      </a:r>
                      <a:r>
                        <a:rPr lang="en-US" baseline="0" dirty="0">
                          <a:solidFill>
                            <a:srgbClr val="FF0000"/>
                          </a:solidFill>
                        </a:rPr>
                        <a:t> for </a:t>
                      </a:r>
                      <a:r>
                        <a:rPr lang="en-US" dirty="0">
                          <a:solidFill>
                            <a:srgbClr val="FF0000"/>
                          </a:solidFill>
                        </a:rPr>
                        <a:t>strings</a:t>
                      </a:r>
                      <a:r>
                        <a:rPr lang="en-US" dirty="0">
                          <a:solidFill>
                            <a:srgbClr val="000000"/>
                          </a:solidFill>
                        </a:rPr>
                        <a:t>)</a:t>
                      </a:r>
                    </a:p>
                  </a:txBody>
                  <a:tcPr/>
                </a:tc>
                <a:extLst>
                  <a:ext uri="{0D108BD9-81ED-4DB2-BD59-A6C34878D82A}">
                    <a16:rowId xmlns:a16="http://schemas.microsoft.com/office/drawing/2014/main" val="10003"/>
                  </a:ext>
                </a:extLst>
              </a:tr>
              <a:tr h="369595">
                <a:tc>
                  <a:txBody>
                    <a:bodyPr/>
                    <a:lstStyle/>
                    <a:p>
                      <a:pPr>
                        <a:lnSpc>
                          <a:spcPts val="1560"/>
                        </a:lnSpc>
                      </a:pPr>
                      <a:r>
                        <a:rPr lang="en-US" b="1" dirty="0">
                          <a:solidFill>
                            <a:srgbClr val="000000"/>
                          </a:solidFill>
                          <a:latin typeface="Courier"/>
                          <a:cs typeface="Courier"/>
                        </a:rPr>
                        <a:t>-le</a:t>
                      </a:r>
                    </a:p>
                  </a:txBody>
                  <a:tcPr/>
                </a:tc>
                <a:tc>
                  <a:txBody>
                    <a:bodyPr/>
                    <a:lstStyle/>
                    <a:p>
                      <a:pPr>
                        <a:lnSpc>
                          <a:spcPts val="1560"/>
                        </a:lnSpc>
                      </a:pPr>
                      <a:r>
                        <a:rPr lang="en-US" dirty="0">
                          <a:solidFill>
                            <a:srgbClr val="000000"/>
                          </a:solidFill>
                        </a:rPr>
                        <a:t>Less than or equal (</a:t>
                      </a:r>
                      <a:r>
                        <a:rPr lang="en-US" dirty="0">
                          <a:solidFill>
                            <a:srgbClr val="FF0000"/>
                          </a:solidFill>
                        </a:rPr>
                        <a:t>combine !</a:t>
                      </a:r>
                      <a:r>
                        <a:rPr lang="en-US" baseline="0" dirty="0">
                          <a:solidFill>
                            <a:srgbClr val="FF0000"/>
                          </a:solidFill>
                        </a:rPr>
                        <a:t> and </a:t>
                      </a:r>
                      <a:r>
                        <a:rPr lang="en-US" b="1" baseline="0" dirty="0">
                          <a:solidFill>
                            <a:srgbClr val="FF0000"/>
                          </a:solidFill>
                        </a:rPr>
                        <a:t>&gt;</a:t>
                      </a:r>
                      <a:r>
                        <a:rPr lang="en-US" baseline="0" dirty="0">
                          <a:solidFill>
                            <a:srgbClr val="FF0000"/>
                          </a:solidFill>
                        </a:rPr>
                        <a:t> for </a:t>
                      </a:r>
                      <a:r>
                        <a:rPr lang="en-US" dirty="0">
                          <a:solidFill>
                            <a:srgbClr val="FF0000"/>
                          </a:solidFill>
                        </a:rPr>
                        <a:t>strings</a:t>
                      </a:r>
                      <a:r>
                        <a:rPr lang="en-US" dirty="0">
                          <a:solidFill>
                            <a:srgbClr val="000000"/>
                          </a:solidFill>
                        </a:rPr>
                        <a:t>)</a:t>
                      </a:r>
                    </a:p>
                  </a:txBody>
                  <a:tcPr/>
                </a:tc>
                <a:extLst>
                  <a:ext uri="{0D108BD9-81ED-4DB2-BD59-A6C34878D82A}">
                    <a16:rowId xmlns:a16="http://schemas.microsoft.com/office/drawing/2014/main" val="10004"/>
                  </a:ext>
                </a:extLst>
              </a:tr>
              <a:tr h="369595">
                <a:tc>
                  <a:txBody>
                    <a:bodyPr/>
                    <a:lstStyle/>
                    <a:p>
                      <a:pPr>
                        <a:lnSpc>
                          <a:spcPts val="1560"/>
                        </a:lnSpc>
                      </a:pPr>
                      <a:r>
                        <a:rPr lang="en-US" b="1" dirty="0">
                          <a:solidFill>
                            <a:srgbClr val="000000"/>
                          </a:solidFill>
                          <a:latin typeface="Courier"/>
                          <a:cs typeface="Courier"/>
                        </a:rPr>
                        <a:t>-</a:t>
                      </a:r>
                      <a:r>
                        <a:rPr lang="en-US" b="1" dirty="0" err="1">
                          <a:solidFill>
                            <a:srgbClr val="000000"/>
                          </a:solidFill>
                          <a:latin typeface="Courier"/>
                          <a:cs typeface="Courier"/>
                        </a:rPr>
                        <a:t>eq</a:t>
                      </a:r>
                      <a:r>
                        <a:rPr lang="en-US" b="1" dirty="0">
                          <a:solidFill>
                            <a:srgbClr val="000000"/>
                          </a:solidFill>
                          <a:latin typeface="Courier"/>
                          <a:cs typeface="Courier"/>
                        </a:rPr>
                        <a:t> </a:t>
                      </a:r>
                      <a:r>
                        <a:rPr lang="en-US" b="0" dirty="0">
                          <a:solidFill>
                            <a:srgbClr val="000000"/>
                          </a:solidFill>
                          <a:latin typeface="+mn-lt"/>
                          <a:cs typeface="Courier"/>
                        </a:rPr>
                        <a:t>or  </a:t>
                      </a:r>
                      <a:r>
                        <a:rPr lang="en-US" b="1" dirty="0">
                          <a:solidFill>
                            <a:srgbClr val="000000"/>
                          </a:solidFill>
                          <a:latin typeface="Courier"/>
                          <a:cs typeface="Courier"/>
                        </a:rPr>
                        <a:t>=</a:t>
                      </a:r>
                    </a:p>
                  </a:txBody>
                  <a:tcPr/>
                </a:tc>
                <a:tc>
                  <a:txBody>
                    <a:bodyPr/>
                    <a:lstStyle/>
                    <a:p>
                      <a:pPr>
                        <a:lnSpc>
                          <a:spcPts val="1560"/>
                        </a:lnSpc>
                      </a:pPr>
                      <a:r>
                        <a:rPr lang="en-US" dirty="0">
                          <a:solidFill>
                            <a:srgbClr val="000000"/>
                          </a:solidFill>
                        </a:rPr>
                        <a:t>Equal (</a:t>
                      </a:r>
                      <a:r>
                        <a:rPr lang="en-US" b="1" dirty="0">
                          <a:solidFill>
                            <a:srgbClr val="FF0000"/>
                          </a:solidFill>
                        </a:rPr>
                        <a:t>-</a:t>
                      </a:r>
                      <a:r>
                        <a:rPr lang="en-US" b="1" dirty="0" err="1">
                          <a:solidFill>
                            <a:srgbClr val="FF0000"/>
                          </a:solidFill>
                        </a:rPr>
                        <a:t>eq</a:t>
                      </a:r>
                      <a:r>
                        <a:rPr lang="en-US" b="1" dirty="0">
                          <a:solidFill>
                            <a:srgbClr val="FF0000"/>
                          </a:solidFill>
                        </a:rPr>
                        <a:t> </a:t>
                      </a:r>
                      <a:r>
                        <a:rPr lang="en-US" dirty="0">
                          <a:solidFill>
                            <a:srgbClr val="FF0000"/>
                          </a:solidFill>
                        </a:rPr>
                        <a:t>for integers and</a:t>
                      </a:r>
                      <a:r>
                        <a:rPr lang="en-US" baseline="0" dirty="0">
                          <a:solidFill>
                            <a:srgbClr val="FF0000"/>
                          </a:solidFill>
                        </a:rPr>
                        <a:t> </a:t>
                      </a:r>
                      <a:r>
                        <a:rPr lang="en-US" b="1" baseline="0" dirty="0">
                          <a:solidFill>
                            <a:srgbClr val="FF0000"/>
                          </a:solidFill>
                        </a:rPr>
                        <a:t>=</a:t>
                      </a:r>
                      <a:r>
                        <a:rPr lang="en-US" baseline="0" dirty="0">
                          <a:solidFill>
                            <a:srgbClr val="FF0000"/>
                          </a:solidFill>
                        </a:rPr>
                        <a:t> for </a:t>
                      </a:r>
                      <a:r>
                        <a:rPr lang="en-US" dirty="0">
                          <a:solidFill>
                            <a:srgbClr val="FF0000"/>
                          </a:solidFill>
                        </a:rPr>
                        <a:t>strings</a:t>
                      </a:r>
                      <a:r>
                        <a:rPr lang="en-US" dirty="0">
                          <a:solidFill>
                            <a:srgbClr val="000000"/>
                          </a:solidFill>
                        </a:rPr>
                        <a:t>)</a:t>
                      </a:r>
                    </a:p>
                  </a:txBody>
                  <a:tcPr/>
                </a:tc>
                <a:extLst>
                  <a:ext uri="{0D108BD9-81ED-4DB2-BD59-A6C34878D82A}">
                    <a16:rowId xmlns:a16="http://schemas.microsoft.com/office/drawing/2014/main" val="10005"/>
                  </a:ext>
                </a:extLst>
              </a:tr>
              <a:tr h="369595">
                <a:tc>
                  <a:txBody>
                    <a:bodyPr/>
                    <a:lstStyle/>
                    <a:p>
                      <a:pPr>
                        <a:lnSpc>
                          <a:spcPts val="1560"/>
                        </a:lnSpc>
                      </a:pPr>
                      <a:r>
                        <a:rPr lang="en-US" b="1" dirty="0">
                          <a:solidFill>
                            <a:srgbClr val="000000"/>
                          </a:solidFill>
                          <a:latin typeface="Courier"/>
                          <a:cs typeface="Courier"/>
                        </a:rPr>
                        <a:t>-ne </a:t>
                      </a:r>
                      <a:r>
                        <a:rPr lang="en-US" b="0" dirty="0">
                          <a:solidFill>
                            <a:srgbClr val="000000"/>
                          </a:solidFill>
                          <a:latin typeface="+mn-lt"/>
                          <a:cs typeface="Courier"/>
                        </a:rPr>
                        <a:t>or </a:t>
                      </a:r>
                      <a:r>
                        <a:rPr lang="en-US" b="1" dirty="0">
                          <a:solidFill>
                            <a:srgbClr val="000000"/>
                          </a:solidFill>
                          <a:latin typeface="Courier"/>
                          <a:cs typeface="Courier"/>
                        </a:rPr>
                        <a:t>!=</a:t>
                      </a:r>
                    </a:p>
                  </a:txBody>
                  <a:tcPr/>
                </a:tc>
                <a:tc>
                  <a:txBody>
                    <a:bodyPr/>
                    <a:lstStyle/>
                    <a:p>
                      <a:pPr>
                        <a:lnSpc>
                          <a:spcPts val="1560"/>
                        </a:lnSpc>
                      </a:pPr>
                      <a:r>
                        <a:rPr lang="en-US" dirty="0">
                          <a:solidFill>
                            <a:srgbClr val="000000"/>
                          </a:solidFill>
                        </a:rPr>
                        <a:t>Not equal (</a:t>
                      </a:r>
                      <a:r>
                        <a:rPr lang="en-US" b="1" dirty="0">
                          <a:solidFill>
                            <a:srgbClr val="FF0000"/>
                          </a:solidFill>
                        </a:rPr>
                        <a:t>-ne </a:t>
                      </a:r>
                      <a:r>
                        <a:rPr lang="en-US" dirty="0">
                          <a:solidFill>
                            <a:srgbClr val="FF0000"/>
                          </a:solidFill>
                        </a:rPr>
                        <a:t>for integers and</a:t>
                      </a:r>
                      <a:r>
                        <a:rPr lang="en-US" baseline="0" dirty="0">
                          <a:solidFill>
                            <a:srgbClr val="FF0000"/>
                          </a:solidFill>
                        </a:rPr>
                        <a:t> </a:t>
                      </a:r>
                      <a:r>
                        <a:rPr lang="en-US" b="1" baseline="0" dirty="0">
                          <a:solidFill>
                            <a:srgbClr val="FF0000"/>
                          </a:solidFill>
                        </a:rPr>
                        <a:t>!=</a:t>
                      </a:r>
                      <a:r>
                        <a:rPr lang="en-US" baseline="0" dirty="0">
                          <a:solidFill>
                            <a:srgbClr val="FF0000"/>
                          </a:solidFill>
                        </a:rPr>
                        <a:t> for </a:t>
                      </a:r>
                      <a:r>
                        <a:rPr lang="en-US" dirty="0">
                          <a:solidFill>
                            <a:srgbClr val="FF0000"/>
                          </a:solidFill>
                        </a:rPr>
                        <a:t>strings</a:t>
                      </a:r>
                      <a:r>
                        <a:rPr lang="en-US" dirty="0">
                          <a:solidFill>
                            <a:srgbClr val="000000"/>
                          </a:solidFill>
                        </a:rPr>
                        <a:t>)</a:t>
                      </a:r>
                    </a:p>
                  </a:txBody>
                  <a:tcPr/>
                </a:tc>
                <a:extLst>
                  <a:ext uri="{0D108BD9-81ED-4DB2-BD59-A6C34878D82A}">
                    <a16:rowId xmlns:a16="http://schemas.microsoft.com/office/drawing/2014/main" val="10006"/>
                  </a:ext>
                </a:extLst>
              </a:tr>
              <a:tr h="369595">
                <a:tc>
                  <a:txBody>
                    <a:bodyPr/>
                    <a:lstStyle/>
                    <a:p>
                      <a:pPr>
                        <a:lnSpc>
                          <a:spcPts val="1560"/>
                        </a:lnSpc>
                      </a:pPr>
                      <a:r>
                        <a:rPr lang="en-US" b="1" dirty="0">
                          <a:solidFill>
                            <a:srgbClr val="000000"/>
                          </a:solidFill>
                          <a:latin typeface="Courier"/>
                          <a:cs typeface="Courier"/>
                        </a:rPr>
                        <a:t>-n</a:t>
                      </a:r>
                      <a:r>
                        <a:rPr lang="en-US" b="1" baseline="0" dirty="0">
                          <a:solidFill>
                            <a:srgbClr val="000000"/>
                          </a:solidFill>
                          <a:latin typeface="Courier"/>
                          <a:cs typeface="Courier"/>
                        </a:rPr>
                        <a:t> </a:t>
                      </a:r>
                      <a:r>
                        <a:rPr lang="en-US" b="1" baseline="0" dirty="0" err="1">
                          <a:solidFill>
                            <a:srgbClr val="000000"/>
                          </a:solidFill>
                          <a:latin typeface="Courier"/>
                          <a:cs typeface="Courier"/>
                        </a:rPr>
                        <a:t>str</a:t>
                      </a:r>
                      <a:endParaRPr lang="en-US" b="1" dirty="0">
                        <a:solidFill>
                          <a:srgbClr val="000000"/>
                        </a:solidFill>
                        <a:latin typeface="Courier"/>
                        <a:cs typeface="Courier"/>
                      </a:endParaRPr>
                    </a:p>
                  </a:txBody>
                  <a:tcPr/>
                </a:tc>
                <a:tc>
                  <a:txBody>
                    <a:bodyPr/>
                    <a:lstStyle/>
                    <a:p>
                      <a:pPr>
                        <a:lnSpc>
                          <a:spcPts val="1560"/>
                        </a:lnSpc>
                      </a:pPr>
                      <a:r>
                        <a:rPr lang="en-US" dirty="0">
                          <a:solidFill>
                            <a:srgbClr val="000000"/>
                          </a:solidFill>
                        </a:rPr>
                        <a:t>Non-zero</a:t>
                      </a:r>
                      <a:r>
                        <a:rPr lang="en-US" baseline="0" dirty="0">
                          <a:solidFill>
                            <a:srgbClr val="000000"/>
                          </a:solidFill>
                        </a:rPr>
                        <a:t> </a:t>
                      </a:r>
                      <a:r>
                        <a:rPr lang="en-US" dirty="0">
                          <a:solidFill>
                            <a:srgbClr val="000000"/>
                          </a:solidFill>
                        </a:rPr>
                        <a:t>size string</a:t>
                      </a:r>
                    </a:p>
                  </a:txBody>
                  <a:tcPr/>
                </a:tc>
                <a:extLst>
                  <a:ext uri="{0D108BD9-81ED-4DB2-BD59-A6C34878D82A}">
                    <a16:rowId xmlns:a16="http://schemas.microsoft.com/office/drawing/2014/main" val="10007"/>
                  </a:ext>
                </a:extLst>
              </a:tr>
              <a:tr h="369595">
                <a:tc>
                  <a:txBody>
                    <a:bodyPr/>
                    <a:lstStyle/>
                    <a:p>
                      <a:pPr>
                        <a:lnSpc>
                          <a:spcPts val="1560"/>
                        </a:lnSpc>
                      </a:pPr>
                      <a:r>
                        <a:rPr lang="en-US" b="1" dirty="0">
                          <a:solidFill>
                            <a:srgbClr val="000000"/>
                          </a:solidFill>
                          <a:latin typeface="Courier"/>
                          <a:cs typeface="Courier"/>
                        </a:rPr>
                        <a:t>-z</a:t>
                      </a:r>
                      <a:r>
                        <a:rPr lang="en-US" b="1" baseline="0" dirty="0">
                          <a:solidFill>
                            <a:srgbClr val="000000"/>
                          </a:solidFill>
                          <a:latin typeface="Courier"/>
                          <a:cs typeface="Courier"/>
                        </a:rPr>
                        <a:t> </a:t>
                      </a:r>
                      <a:r>
                        <a:rPr lang="en-US" b="1" baseline="0" dirty="0" err="1">
                          <a:solidFill>
                            <a:srgbClr val="000000"/>
                          </a:solidFill>
                          <a:latin typeface="Courier"/>
                          <a:cs typeface="Courier"/>
                        </a:rPr>
                        <a:t>str</a:t>
                      </a:r>
                      <a:endParaRPr lang="en-US" b="1" dirty="0">
                        <a:solidFill>
                          <a:srgbClr val="000000"/>
                        </a:solidFill>
                        <a:latin typeface="Courier"/>
                        <a:cs typeface="Courier"/>
                      </a:endParaRPr>
                    </a:p>
                  </a:txBody>
                  <a:tcPr/>
                </a:tc>
                <a:tc>
                  <a:txBody>
                    <a:bodyPr/>
                    <a:lstStyle/>
                    <a:p>
                      <a:pPr>
                        <a:lnSpc>
                          <a:spcPts val="1560"/>
                        </a:lnSpc>
                      </a:pPr>
                      <a:r>
                        <a:rPr lang="en-US" baseline="0" dirty="0">
                          <a:solidFill>
                            <a:srgbClr val="000000"/>
                          </a:solidFill>
                        </a:rPr>
                        <a:t>Zero size string</a:t>
                      </a:r>
                      <a:endParaRPr lang="en-US" dirty="0">
                        <a:solidFill>
                          <a:srgbClr val="000000"/>
                        </a:solidFill>
                      </a:endParaRPr>
                    </a:p>
                  </a:txBody>
                  <a:tcPr/>
                </a:tc>
                <a:extLst>
                  <a:ext uri="{0D108BD9-81ED-4DB2-BD59-A6C34878D82A}">
                    <a16:rowId xmlns:a16="http://schemas.microsoft.com/office/drawing/2014/main" val="10008"/>
                  </a:ext>
                </a:extLst>
              </a:tr>
              <a:tr h="369595">
                <a:tc>
                  <a:txBody>
                    <a:bodyPr/>
                    <a:lstStyle/>
                    <a:p>
                      <a:pPr>
                        <a:lnSpc>
                          <a:spcPts val="1560"/>
                        </a:lnSpc>
                      </a:pPr>
                      <a:r>
                        <a:rPr lang="en-US" b="1" dirty="0">
                          <a:solidFill>
                            <a:srgbClr val="000000"/>
                          </a:solidFill>
                          <a:latin typeface="Courier"/>
                          <a:cs typeface="Courier"/>
                        </a:rPr>
                        <a:t>-d</a:t>
                      </a:r>
                      <a:r>
                        <a:rPr lang="en-US" b="1" baseline="0" dirty="0">
                          <a:solidFill>
                            <a:srgbClr val="000000"/>
                          </a:solidFill>
                          <a:latin typeface="Courier"/>
                          <a:cs typeface="Courier"/>
                        </a:rPr>
                        <a:t> </a:t>
                      </a:r>
                      <a:r>
                        <a:rPr lang="en-US" b="1" baseline="0" dirty="0" err="1">
                          <a:solidFill>
                            <a:srgbClr val="000000"/>
                          </a:solidFill>
                          <a:latin typeface="Courier"/>
                          <a:cs typeface="Courier"/>
                        </a:rPr>
                        <a:t>dirname</a:t>
                      </a:r>
                      <a:endParaRPr lang="en-US" b="1" dirty="0">
                        <a:solidFill>
                          <a:srgbClr val="000000"/>
                        </a:solidFill>
                        <a:latin typeface="Courier"/>
                        <a:cs typeface="Courier"/>
                      </a:endParaRPr>
                    </a:p>
                  </a:txBody>
                  <a:tcPr/>
                </a:tc>
                <a:tc>
                  <a:txBody>
                    <a:bodyPr/>
                    <a:lstStyle/>
                    <a:p>
                      <a:pPr>
                        <a:lnSpc>
                          <a:spcPts val="1560"/>
                        </a:lnSpc>
                      </a:pPr>
                      <a:r>
                        <a:rPr lang="en-US" b="1" baseline="0" dirty="0" err="1">
                          <a:solidFill>
                            <a:srgbClr val="000000"/>
                          </a:solidFill>
                          <a:latin typeface="Courier"/>
                          <a:cs typeface="Courier"/>
                        </a:rPr>
                        <a:t>dirname</a:t>
                      </a:r>
                      <a:r>
                        <a:rPr lang="en-US" b="1" baseline="0" dirty="0">
                          <a:solidFill>
                            <a:srgbClr val="000000"/>
                          </a:solidFill>
                          <a:latin typeface="Courier"/>
                          <a:cs typeface="Courier"/>
                        </a:rPr>
                        <a:t> </a:t>
                      </a:r>
                      <a:r>
                        <a:rPr lang="en-US" dirty="0">
                          <a:solidFill>
                            <a:srgbClr val="000000"/>
                          </a:solidFill>
                        </a:rPr>
                        <a:t>is a directory</a:t>
                      </a:r>
                    </a:p>
                  </a:txBody>
                  <a:tcPr/>
                </a:tc>
                <a:extLst>
                  <a:ext uri="{0D108BD9-81ED-4DB2-BD59-A6C34878D82A}">
                    <a16:rowId xmlns:a16="http://schemas.microsoft.com/office/drawing/2014/main" val="10009"/>
                  </a:ext>
                </a:extLst>
              </a:tr>
              <a:tr h="369595">
                <a:tc>
                  <a:txBody>
                    <a:bodyPr/>
                    <a:lstStyle/>
                    <a:p>
                      <a:pPr>
                        <a:lnSpc>
                          <a:spcPts val="1560"/>
                        </a:lnSpc>
                      </a:pPr>
                      <a:r>
                        <a:rPr lang="en-US" b="1" dirty="0">
                          <a:solidFill>
                            <a:srgbClr val="000000"/>
                          </a:solidFill>
                          <a:latin typeface="Courier"/>
                          <a:cs typeface="Courier"/>
                        </a:rPr>
                        <a:t>-s filename</a:t>
                      </a:r>
                    </a:p>
                  </a:txBody>
                  <a:tcPr/>
                </a:tc>
                <a:tc>
                  <a:txBody>
                    <a:bodyPr/>
                    <a:lstStyle/>
                    <a:p>
                      <a:pPr>
                        <a:lnSpc>
                          <a:spcPts val="1560"/>
                        </a:lnSpc>
                      </a:pPr>
                      <a:r>
                        <a:rPr lang="en-US" b="1" baseline="0" dirty="0">
                          <a:solidFill>
                            <a:srgbClr val="000000"/>
                          </a:solidFill>
                          <a:latin typeface="Courier"/>
                          <a:cs typeface="Courier"/>
                        </a:rPr>
                        <a:t>file</a:t>
                      </a:r>
                      <a:r>
                        <a:rPr lang="en-US" b="1" dirty="0">
                          <a:solidFill>
                            <a:srgbClr val="000000"/>
                          </a:solidFill>
                          <a:latin typeface="Courier"/>
                          <a:cs typeface="Courier"/>
                        </a:rPr>
                        <a:t>name</a:t>
                      </a:r>
                      <a:r>
                        <a:rPr lang="en-US" b="1" baseline="0" dirty="0">
                          <a:solidFill>
                            <a:srgbClr val="000000"/>
                          </a:solidFill>
                          <a:latin typeface="Courier"/>
                          <a:cs typeface="Courier"/>
                        </a:rPr>
                        <a:t> </a:t>
                      </a:r>
                      <a:r>
                        <a:rPr lang="en-US" b="0" baseline="0" dirty="0">
                          <a:solidFill>
                            <a:srgbClr val="000000"/>
                          </a:solidFill>
                          <a:latin typeface="+mn-lt"/>
                          <a:cs typeface="Courier"/>
                        </a:rPr>
                        <a:t>size is not </a:t>
                      </a:r>
                      <a:r>
                        <a:rPr lang="en-US" b="0" dirty="0">
                          <a:solidFill>
                            <a:srgbClr val="000000"/>
                          </a:solidFill>
                          <a:latin typeface="+mn-lt"/>
                        </a:rPr>
                        <a:t>zero</a:t>
                      </a:r>
                    </a:p>
                  </a:txBody>
                  <a:tcPr/>
                </a:tc>
                <a:extLst>
                  <a:ext uri="{0D108BD9-81ED-4DB2-BD59-A6C34878D82A}">
                    <a16:rowId xmlns:a16="http://schemas.microsoft.com/office/drawing/2014/main" val="10010"/>
                  </a:ext>
                </a:extLst>
              </a:tr>
              <a:tr h="369595">
                <a:tc>
                  <a:txBody>
                    <a:bodyPr/>
                    <a:lstStyle/>
                    <a:p>
                      <a:pPr>
                        <a:lnSpc>
                          <a:spcPts val="1560"/>
                        </a:lnSpc>
                      </a:pPr>
                      <a:r>
                        <a:rPr lang="en-US" b="1" dirty="0">
                          <a:solidFill>
                            <a:srgbClr val="000000"/>
                          </a:solidFill>
                          <a:latin typeface="Courier"/>
                          <a:cs typeface="Courier"/>
                        </a:rPr>
                        <a:t>-f filename</a:t>
                      </a:r>
                    </a:p>
                  </a:txBody>
                  <a:tcPr/>
                </a:tc>
                <a:tc>
                  <a:txBody>
                    <a:bodyPr/>
                    <a:lstStyle/>
                    <a:p>
                      <a:pPr>
                        <a:lnSpc>
                          <a:spcPts val="1560"/>
                        </a:lnSpc>
                      </a:pPr>
                      <a:r>
                        <a:rPr lang="en-US" b="1" baseline="0" dirty="0">
                          <a:solidFill>
                            <a:srgbClr val="000000"/>
                          </a:solidFill>
                          <a:latin typeface="Courier"/>
                          <a:cs typeface="Courier"/>
                        </a:rPr>
                        <a:t>file</a:t>
                      </a:r>
                      <a:r>
                        <a:rPr lang="en-US" b="1" dirty="0">
                          <a:solidFill>
                            <a:srgbClr val="000000"/>
                          </a:solidFill>
                          <a:latin typeface="Courier"/>
                          <a:cs typeface="Courier"/>
                        </a:rPr>
                        <a:t>name</a:t>
                      </a:r>
                      <a:r>
                        <a:rPr lang="en-US" b="1" baseline="0" dirty="0">
                          <a:solidFill>
                            <a:srgbClr val="000000"/>
                          </a:solidFill>
                          <a:latin typeface="Courier"/>
                          <a:cs typeface="Courier"/>
                        </a:rPr>
                        <a:t> </a:t>
                      </a:r>
                      <a:r>
                        <a:rPr lang="en-US" dirty="0">
                          <a:solidFill>
                            <a:srgbClr val="000000"/>
                          </a:solidFill>
                        </a:rPr>
                        <a:t>exists</a:t>
                      </a:r>
                    </a:p>
                  </a:txBody>
                  <a:tcPr/>
                </a:tc>
                <a:extLst>
                  <a:ext uri="{0D108BD9-81ED-4DB2-BD59-A6C34878D82A}">
                    <a16:rowId xmlns:a16="http://schemas.microsoft.com/office/drawing/2014/main" val="10011"/>
                  </a:ext>
                </a:extLst>
              </a:tr>
              <a:tr h="369595">
                <a:tc>
                  <a:txBody>
                    <a:bodyPr/>
                    <a:lstStyle/>
                    <a:p>
                      <a:pPr>
                        <a:lnSpc>
                          <a:spcPts val="1560"/>
                        </a:lnSpc>
                      </a:pPr>
                      <a:r>
                        <a:rPr lang="en-US" b="1" dirty="0">
                          <a:solidFill>
                            <a:srgbClr val="000000"/>
                          </a:solidFill>
                          <a:latin typeface="Courier"/>
                          <a:cs typeface="Courier"/>
                        </a:rPr>
                        <a:t>-r</a:t>
                      </a:r>
                      <a:r>
                        <a:rPr lang="en-US" b="1" baseline="0" dirty="0">
                          <a:solidFill>
                            <a:srgbClr val="000000"/>
                          </a:solidFill>
                          <a:latin typeface="Courier"/>
                          <a:cs typeface="Courier"/>
                        </a:rPr>
                        <a:t> file</a:t>
                      </a:r>
                      <a:r>
                        <a:rPr lang="en-US" b="1" dirty="0">
                          <a:solidFill>
                            <a:srgbClr val="000000"/>
                          </a:solidFill>
                          <a:latin typeface="Courier"/>
                          <a:cs typeface="Courier"/>
                        </a:rPr>
                        <a:t>name</a:t>
                      </a:r>
                    </a:p>
                  </a:txBody>
                  <a:tcPr/>
                </a:tc>
                <a:tc>
                  <a:txBody>
                    <a:bodyPr/>
                    <a:lstStyle/>
                    <a:p>
                      <a:pPr marL="0" marR="0" indent="0" algn="l" defTabSz="914400" rtl="0" eaLnBrk="1" fontAlgn="auto" latinLnBrk="0" hangingPunct="1">
                        <a:lnSpc>
                          <a:spcPts val="1560"/>
                        </a:lnSpc>
                        <a:spcBef>
                          <a:spcPts val="0"/>
                        </a:spcBef>
                        <a:spcAft>
                          <a:spcPts val="0"/>
                        </a:spcAft>
                        <a:buClrTx/>
                        <a:buSzTx/>
                        <a:buFontTx/>
                        <a:buNone/>
                        <a:tabLst/>
                        <a:defRPr/>
                      </a:pPr>
                      <a:r>
                        <a:rPr lang="en-US" b="1" baseline="0" dirty="0">
                          <a:solidFill>
                            <a:srgbClr val="000000"/>
                          </a:solidFill>
                          <a:latin typeface="Courier"/>
                          <a:cs typeface="Courier"/>
                        </a:rPr>
                        <a:t>file</a:t>
                      </a:r>
                      <a:r>
                        <a:rPr lang="en-US" b="1" dirty="0">
                          <a:solidFill>
                            <a:srgbClr val="000000"/>
                          </a:solidFill>
                          <a:latin typeface="Courier"/>
                          <a:cs typeface="Courier"/>
                        </a:rPr>
                        <a:t>name</a:t>
                      </a:r>
                      <a:r>
                        <a:rPr lang="en-US" b="1" baseline="0" dirty="0">
                          <a:solidFill>
                            <a:srgbClr val="000000"/>
                          </a:solidFill>
                          <a:latin typeface="Courier"/>
                          <a:cs typeface="Courier"/>
                        </a:rPr>
                        <a:t> </a:t>
                      </a:r>
                      <a:r>
                        <a:rPr lang="en-US" dirty="0">
                          <a:solidFill>
                            <a:srgbClr val="000000"/>
                          </a:solidFill>
                        </a:rPr>
                        <a:t>exists</a:t>
                      </a:r>
                      <a:r>
                        <a:rPr lang="en-US" baseline="0" dirty="0">
                          <a:solidFill>
                            <a:srgbClr val="000000"/>
                          </a:solidFill>
                        </a:rPr>
                        <a:t> and we have read access</a:t>
                      </a:r>
                      <a:endParaRPr lang="en-US" dirty="0">
                        <a:solidFill>
                          <a:srgbClr val="000000"/>
                        </a:solidFill>
                      </a:endParaRPr>
                    </a:p>
                  </a:txBody>
                  <a:tcPr/>
                </a:tc>
                <a:extLst>
                  <a:ext uri="{0D108BD9-81ED-4DB2-BD59-A6C34878D82A}">
                    <a16:rowId xmlns:a16="http://schemas.microsoft.com/office/drawing/2014/main" val="10012"/>
                  </a:ext>
                </a:extLst>
              </a:tr>
              <a:tr h="369595">
                <a:tc>
                  <a:txBody>
                    <a:bodyPr/>
                    <a:lstStyle/>
                    <a:p>
                      <a:pPr>
                        <a:lnSpc>
                          <a:spcPts val="1560"/>
                        </a:lnSpc>
                      </a:pPr>
                      <a:r>
                        <a:rPr lang="en-US" b="1" dirty="0">
                          <a:solidFill>
                            <a:srgbClr val="000000"/>
                          </a:solidFill>
                          <a:latin typeface="Courier"/>
                          <a:cs typeface="Courier"/>
                        </a:rPr>
                        <a:t>-w filename</a:t>
                      </a:r>
                    </a:p>
                  </a:txBody>
                  <a:tcPr/>
                </a:tc>
                <a:tc>
                  <a:txBody>
                    <a:bodyPr/>
                    <a:lstStyle/>
                    <a:p>
                      <a:pPr marL="0" marR="0" indent="0" algn="l" defTabSz="914400" rtl="0" eaLnBrk="1" fontAlgn="auto" latinLnBrk="0" hangingPunct="1">
                        <a:lnSpc>
                          <a:spcPts val="1560"/>
                        </a:lnSpc>
                        <a:spcBef>
                          <a:spcPts val="0"/>
                        </a:spcBef>
                        <a:spcAft>
                          <a:spcPts val="0"/>
                        </a:spcAft>
                        <a:buClrTx/>
                        <a:buSzTx/>
                        <a:buFontTx/>
                        <a:buNone/>
                        <a:tabLst/>
                        <a:defRPr/>
                      </a:pPr>
                      <a:r>
                        <a:rPr lang="en-US" b="1" baseline="0" dirty="0">
                          <a:solidFill>
                            <a:srgbClr val="000000"/>
                          </a:solidFill>
                          <a:latin typeface="Courier"/>
                          <a:cs typeface="Courier"/>
                        </a:rPr>
                        <a:t>file</a:t>
                      </a:r>
                      <a:r>
                        <a:rPr lang="en-US" b="1" dirty="0">
                          <a:solidFill>
                            <a:srgbClr val="000000"/>
                          </a:solidFill>
                          <a:latin typeface="Courier"/>
                          <a:cs typeface="Courier"/>
                        </a:rPr>
                        <a:t>name</a:t>
                      </a:r>
                      <a:r>
                        <a:rPr lang="en-US" b="1" baseline="0" dirty="0">
                          <a:solidFill>
                            <a:srgbClr val="000000"/>
                          </a:solidFill>
                          <a:latin typeface="Courier"/>
                          <a:cs typeface="Courier"/>
                        </a:rPr>
                        <a:t> </a:t>
                      </a:r>
                      <a:r>
                        <a:rPr lang="en-US" dirty="0">
                          <a:solidFill>
                            <a:srgbClr val="000000"/>
                          </a:solidFill>
                        </a:rPr>
                        <a:t>exists</a:t>
                      </a:r>
                      <a:r>
                        <a:rPr lang="en-US" baseline="0" dirty="0">
                          <a:solidFill>
                            <a:srgbClr val="000000"/>
                          </a:solidFill>
                        </a:rPr>
                        <a:t> and we have write access</a:t>
                      </a:r>
                      <a:endParaRPr lang="en-US" dirty="0">
                        <a:solidFill>
                          <a:srgbClr val="000000"/>
                        </a:solidFill>
                      </a:endParaRPr>
                    </a:p>
                  </a:txBody>
                  <a:tcPr/>
                </a:tc>
                <a:extLst>
                  <a:ext uri="{0D108BD9-81ED-4DB2-BD59-A6C34878D82A}">
                    <a16:rowId xmlns:a16="http://schemas.microsoft.com/office/drawing/2014/main" val="10013"/>
                  </a:ext>
                </a:extLst>
              </a:tr>
              <a:tr h="369595">
                <a:tc>
                  <a:txBody>
                    <a:bodyPr/>
                    <a:lstStyle/>
                    <a:p>
                      <a:pPr>
                        <a:lnSpc>
                          <a:spcPts val="1560"/>
                        </a:lnSpc>
                      </a:pPr>
                      <a:r>
                        <a:rPr lang="en-US" b="1" dirty="0">
                          <a:solidFill>
                            <a:srgbClr val="000000"/>
                          </a:solidFill>
                          <a:latin typeface="Courier"/>
                          <a:cs typeface="Courier"/>
                        </a:rPr>
                        <a:t>-x filename</a:t>
                      </a:r>
                    </a:p>
                  </a:txBody>
                  <a:tcPr>
                    <a:solidFill>
                      <a:schemeClr val="bg1"/>
                    </a:solidFill>
                  </a:tcPr>
                </a:tc>
                <a:tc>
                  <a:txBody>
                    <a:bodyPr/>
                    <a:lstStyle/>
                    <a:p>
                      <a:pPr marL="0" marR="0" indent="0" algn="l" defTabSz="914400" rtl="0" eaLnBrk="1" fontAlgn="auto" latinLnBrk="0" hangingPunct="1">
                        <a:lnSpc>
                          <a:spcPts val="1560"/>
                        </a:lnSpc>
                        <a:spcBef>
                          <a:spcPts val="0"/>
                        </a:spcBef>
                        <a:spcAft>
                          <a:spcPts val="0"/>
                        </a:spcAft>
                        <a:buClrTx/>
                        <a:buSzTx/>
                        <a:buFontTx/>
                        <a:buNone/>
                        <a:tabLst/>
                        <a:defRPr/>
                      </a:pPr>
                      <a:r>
                        <a:rPr lang="en-US" b="1" baseline="0" dirty="0">
                          <a:solidFill>
                            <a:srgbClr val="000000"/>
                          </a:solidFill>
                          <a:latin typeface="Courier"/>
                          <a:cs typeface="Courier"/>
                        </a:rPr>
                        <a:t>file</a:t>
                      </a:r>
                      <a:r>
                        <a:rPr lang="en-US" b="1" dirty="0">
                          <a:solidFill>
                            <a:srgbClr val="000000"/>
                          </a:solidFill>
                          <a:latin typeface="Courier"/>
                          <a:cs typeface="Courier"/>
                        </a:rPr>
                        <a:t>name</a:t>
                      </a:r>
                      <a:r>
                        <a:rPr lang="en-US" b="1" baseline="0" dirty="0">
                          <a:solidFill>
                            <a:srgbClr val="000000"/>
                          </a:solidFill>
                          <a:latin typeface="Courier"/>
                          <a:cs typeface="Courier"/>
                        </a:rPr>
                        <a:t> </a:t>
                      </a:r>
                      <a:r>
                        <a:rPr lang="en-US" dirty="0">
                          <a:solidFill>
                            <a:srgbClr val="000000"/>
                          </a:solidFill>
                        </a:rPr>
                        <a:t>exists</a:t>
                      </a:r>
                      <a:r>
                        <a:rPr lang="en-US" baseline="0" dirty="0">
                          <a:solidFill>
                            <a:srgbClr val="000000"/>
                          </a:solidFill>
                        </a:rPr>
                        <a:t> and we have execute access</a:t>
                      </a:r>
                      <a:endParaRPr lang="en-US" dirty="0">
                        <a:solidFill>
                          <a:srgbClr val="000000"/>
                        </a:solidFill>
                      </a:endParaRPr>
                    </a:p>
                  </a:txBody>
                  <a:tcPr>
                    <a:solidFill>
                      <a:schemeClr val="bg1"/>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815293266"/>
      </p:ext>
    </p:extLst>
  </p:cSld>
  <p:clrMapOvr>
    <a:masterClrMapping/>
  </p:clrMapOvr>
  <mc:AlternateContent xmlns:mc="http://schemas.openxmlformats.org/markup-compatibility/2006" xmlns:p14="http://schemas.microsoft.com/office/powerpoint/2010/main">
    <mc:Choice Requires="p14">
      <p:transition spd="slow" p14:dur="2000" advTm="137111"/>
    </mc:Choice>
    <mc:Fallback xmlns="">
      <p:transition spd="slow" advTm="137111"/>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Exit status</a:t>
            </a:r>
            <a:endParaRPr lang="en-US" sz="2800" dirty="0">
              <a:latin typeface="Courier"/>
              <a:cs typeface="Courier"/>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5"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Syntax</a:t>
            </a:r>
          </a:p>
          <a:p>
            <a:pPr marL="542925" lvl="1" indent="0">
              <a:buNone/>
            </a:pPr>
            <a:r>
              <a:rPr lang="en-GB" b="1" dirty="0">
                <a:latin typeface="Courier"/>
                <a:ea typeface="Courier New"/>
                <a:cs typeface="Courier"/>
              </a:rPr>
              <a:t>$?</a:t>
            </a:r>
          </a:p>
          <a:p>
            <a:pPr marL="0" indent="0">
              <a:buNone/>
            </a:pPr>
            <a:endParaRPr lang="en-GB" sz="1000" dirty="0">
              <a:solidFill>
                <a:schemeClr val="tx1"/>
              </a:solidFill>
              <a:latin typeface="Arial" charset="0"/>
            </a:endParaRPr>
          </a:p>
          <a:p>
            <a:r>
              <a:rPr lang="en-GB" dirty="0">
                <a:solidFill>
                  <a:schemeClr val="tx1"/>
                </a:solidFill>
                <a:latin typeface="Arial" charset="0"/>
              </a:rPr>
              <a:t>Function</a:t>
            </a:r>
          </a:p>
          <a:p>
            <a:pPr lvl="1"/>
            <a:r>
              <a:rPr lang="en-GB" dirty="0">
                <a:solidFill>
                  <a:schemeClr val="tx1"/>
                </a:solidFill>
                <a:latin typeface="Arial" charset="0"/>
              </a:rPr>
              <a:t>If the command ends correctly (</a:t>
            </a:r>
            <a:r>
              <a:rPr lang="en-GB" dirty="0">
                <a:solidFill>
                  <a:srgbClr val="FF0000"/>
                </a:solidFill>
                <a:latin typeface="Arial" charset="0"/>
              </a:rPr>
              <a:t>TRUE</a:t>
            </a:r>
            <a:r>
              <a:rPr lang="en-GB" dirty="0">
                <a:solidFill>
                  <a:schemeClr val="tx1"/>
                </a:solidFill>
                <a:latin typeface="Arial" charset="0"/>
              </a:rPr>
              <a:t>): exits with </a:t>
            </a:r>
            <a:r>
              <a:rPr lang="en-GB" dirty="0">
                <a:solidFill>
                  <a:srgbClr val="FF0000"/>
                </a:solidFill>
                <a:latin typeface="Arial" charset="0"/>
              </a:rPr>
              <a:t>value 0 </a:t>
            </a:r>
            <a:r>
              <a:rPr lang="en-GB" dirty="0">
                <a:solidFill>
                  <a:schemeClr val="tx1"/>
                </a:solidFill>
                <a:latin typeface="Arial" charset="0"/>
              </a:rPr>
              <a:t>(</a:t>
            </a:r>
            <a:r>
              <a:rPr lang="en-GB" b="1" dirty="0">
                <a:solidFill>
                  <a:schemeClr val="tx1"/>
                </a:solidFill>
                <a:latin typeface="Courier New"/>
                <a:cs typeface="Courier New"/>
              </a:rPr>
              <a:t>exit 0</a:t>
            </a:r>
            <a:r>
              <a:rPr lang="en-GB" dirty="0">
                <a:solidFill>
                  <a:schemeClr val="tx1"/>
                </a:solidFill>
                <a:latin typeface="Arial" charset="0"/>
              </a:rPr>
              <a:t>)</a:t>
            </a:r>
          </a:p>
          <a:p>
            <a:pPr lvl="1"/>
            <a:r>
              <a:rPr lang="en-GB" dirty="0">
                <a:solidFill>
                  <a:schemeClr val="tx1"/>
                </a:solidFill>
                <a:latin typeface="Arial" charset="0"/>
              </a:rPr>
              <a:t>If there was an error (</a:t>
            </a:r>
            <a:r>
              <a:rPr lang="en-GB" dirty="0">
                <a:solidFill>
                  <a:srgbClr val="FF0000"/>
                </a:solidFill>
                <a:latin typeface="Arial" charset="0"/>
              </a:rPr>
              <a:t>FALSE</a:t>
            </a:r>
            <a:r>
              <a:rPr lang="en-GB" dirty="0">
                <a:solidFill>
                  <a:schemeClr val="tx1"/>
                </a:solidFill>
                <a:latin typeface="Arial" charset="0"/>
              </a:rPr>
              <a:t>): exits with value </a:t>
            </a:r>
            <a:r>
              <a:rPr lang="en-GB" dirty="0">
                <a:solidFill>
                  <a:srgbClr val="FF0000"/>
                </a:solidFill>
                <a:latin typeface="Arial" charset="0"/>
              </a:rPr>
              <a:t>1</a:t>
            </a:r>
            <a:r>
              <a:rPr lang="en-GB" dirty="0">
                <a:solidFill>
                  <a:schemeClr val="tx1"/>
                </a:solidFill>
                <a:latin typeface="Arial" charset="0"/>
              </a:rPr>
              <a:t> (</a:t>
            </a:r>
            <a:r>
              <a:rPr lang="en-GB" b="1" dirty="0">
                <a:solidFill>
                  <a:schemeClr val="tx1"/>
                </a:solidFill>
                <a:latin typeface="Courier New"/>
                <a:cs typeface="Courier New"/>
              </a:rPr>
              <a:t>exit 1</a:t>
            </a:r>
            <a:r>
              <a:rPr lang="en-GB" dirty="0">
                <a:solidFill>
                  <a:schemeClr val="tx1"/>
                </a:solidFill>
                <a:latin typeface="Arial" charset="0"/>
              </a:rPr>
              <a:t>)</a:t>
            </a:r>
          </a:p>
          <a:p>
            <a:pPr lvl="1"/>
            <a:endParaRPr lang="en-GB" dirty="0"/>
          </a:p>
          <a:p>
            <a:pPr lvl="1"/>
            <a:endParaRPr lang="en-GB" dirty="0"/>
          </a:p>
          <a:p>
            <a:pPr lvl="1"/>
            <a:endParaRPr lang="en-GB" dirty="0"/>
          </a:p>
          <a:p>
            <a:pPr lvl="1"/>
            <a:endParaRPr lang="en-GB" dirty="0"/>
          </a:p>
          <a:p>
            <a:pPr marL="542925" lvl="1" indent="0">
              <a:buNone/>
            </a:pPr>
            <a:endParaRPr lang="en-GB" dirty="0"/>
          </a:p>
          <a:p>
            <a:r>
              <a:rPr lang="en-GB" dirty="0"/>
              <a:t>Commands that do nothing except return an exit status of:</a:t>
            </a:r>
          </a:p>
          <a:p>
            <a:pPr lvl="1"/>
            <a:r>
              <a:rPr lang="en-GB" b="1" dirty="0">
                <a:latin typeface="Courier New"/>
                <a:cs typeface="Courier New"/>
              </a:rPr>
              <a:t>true: </a:t>
            </a:r>
            <a:r>
              <a:rPr lang="en-GB" dirty="0"/>
              <a:t>Return an exit status of zero </a:t>
            </a:r>
          </a:p>
          <a:p>
            <a:pPr lvl="1"/>
            <a:r>
              <a:rPr lang="en-GB" b="1" dirty="0">
                <a:latin typeface="Courier New"/>
                <a:cs typeface="Courier New"/>
              </a:rPr>
              <a:t>false: </a:t>
            </a:r>
            <a:r>
              <a:rPr lang="en-GB" dirty="0"/>
              <a:t>Return an exit status of one</a:t>
            </a:r>
            <a:r>
              <a:rPr lang="en-GB" b="1" dirty="0">
                <a:latin typeface="Courier New"/>
                <a:cs typeface="Courier New"/>
              </a:rPr>
              <a:t> </a:t>
            </a:r>
            <a:endParaRPr lang="en-GB" dirty="0">
              <a:solidFill>
                <a:schemeClr val="tx1"/>
              </a:solidFill>
              <a:latin typeface="Arial" charset="0"/>
            </a:endParaRPr>
          </a:p>
          <a:p>
            <a:pPr lvl="1"/>
            <a:endParaRPr lang="en-GB" dirty="0">
              <a:solidFill>
                <a:schemeClr val="tx1"/>
              </a:solidFill>
              <a:latin typeface="Arial" charset="0"/>
            </a:endParaRPr>
          </a:p>
          <a:p>
            <a:pPr lvl="1"/>
            <a:endParaRPr lang="en-GB" dirty="0">
              <a:solidFill>
                <a:schemeClr val="tx1"/>
              </a:solidFill>
              <a:latin typeface="Arial" charset="0"/>
            </a:endParaRPr>
          </a:p>
          <a:p>
            <a:pPr lvl="1"/>
            <a:endParaRPr lang="en-GB" dirty="0">
              <a:solidFill>
                <a:schemeClr val="tx1"/>
              </a:solidFill>
              <a:latin typeface="Arial" charset="0"/>
            </a:endParaRPr>
          </a:p>
        </p:txBody>
      </p:sp>
      <p:sp>
        <p:nvSpPr>
          <p:cNvPr id="6" name="TextBox 5"/>
          <p:cNvSpPr txBox="1"/>
          <p:nvPr/>
        </p:nvSpPr>
        <p:spPr>
          <a:xfrm>
            <a:off x="1943708" y="3284984"/>
            <a:ext cx="5652628" cy="1508105"/>
          </a:xfrm>
          <a:prstGeom prst="rect">
            <a:avLst/>
          </a:prstGeom>
          <a:solidFill>
            <a:srgbClr val="000000"/>
          </a:solidFill>
        </p:spPr>
        <p:txBody>
          <a:bodyPr wrap="square" rtlCol="0">
            <a:spAutoFit/>
          </a:bodyPr>
          <a:lstStyle/>
          <a:p>
            <a:pPr algn="l"/>
            <a:r>
              <a:rPr lang="en-US" sz="2000" dirty="0">
                <a:solidFill>
                  <a:srgbClr val="FFFFFF"/>
                </a:solidFill>
                <a:latin typeface="Courier"/>
                <a:cs typeface="Courier"/>
              </a:rPr>
              <a:t>$ true ; echo $?</a:t>
            </a:r>
          </a:p>
          <a:p>
            <a:pPr algn="l"/>
            <a:r>
              <a:rPr lang="en-US" sz="2000" dirty="0">
                <a:solidFill>
                  <a:srgbClr val="FFFFFF"/>
                </a:solidFill>
                <a:latin typeface="Courier"/>
                <a:cs typeface="Courier"/>
              </a:rPr>
              <a:t>$ 0</a:t>
            </a:r>
          </a:p>
          <a:p>
            <a:pPr algn="l"/>
            <a:r>
              <a:rPr lang="en-US" sz="2000" dirty="0">
                <a:solidFill>
                  <a:srgbClr val="FFFFFF"/>
                </a:solidFill>
                <a:latin typeface="Courier"/>
                <a:cs typeface="Courier"/>
              </a:rPr>
              <a:t>$ false ; echo $?</a:t>
            </a:r>
          </a:p>
          <a:p>
            <a:pPr algn="l"/>
            <a:r>
              <a:rPr lang="en-US" sz="2000" dirty="0">
                <a:solidFill>
                  <a:srgbClr val="FFFFFF"/>
                </a:solidFill>
                <a:latin typeface="Courier"/>
                <a:cs typeface="Courier"/>
              </a:rPr>
              <a:t>$ 1</a:t>
            </a:r>
          </a:p>
        </p:txBody>
      </p:sp>
      <p:sp>
        <p:nvSpPr>
          <p:cNvPr id="7" name="Rectangle 6"/>
          <p:cNvSpPr/>
          <p:nvPr/>
        </p:nvSpPr>
        <p:spPr>
          <a:xfrm>
            <a:off x="5112060" y="1448780"/>
            <a:ext cx="3312368" cy="400110"/>
          </a:xfrm>
          <a:prstGeom prst="rect">
            <a:avLst/>
          </a:prstGeom>
        </p:spPr>
        <p:txBody>
          <a:bodyPr wrap="square">
            <a:spAutoFit/>
          </a:bodyPr>
          <a:lstStyle/>
          <a:p>
            <a:pPr lvl="1"/>
            <a:r>
              <a:rPr lang="en-GB" sz="2000" b="1" dirty="0">
                <a:solidFill>
                  <a:srgbClr val="FF0000"/>
                </a:solidFill>
              </a:rPr>
              <a:t>ATTENTION !!</a:t>
            </a:r>
            <a:endParaRPr lang="en-GB" sz="2000" b="1" dirty="0">
              <a:solidFill>
                <a:schemeClr val="tx1"/>
              </a:solidFill>
              <a:latin typeface="Courier"/>
              <a:cs typeface="Courier"/>
            </a:endParaRPr>
          </a:p>
        </p:txBody>
      </p:sp>
    </p:spTree>
    <p:extLst>
      <p:ext uri="{BB962C8B-B14F-4D97-AF65-F5344CB8AC3E}">
        <p14:creationId xmlns:p14="http://schemas.microsoft.com/office/powerpoint/2010/main" val="31901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3" end="1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55</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Arithmetic operations</a:t>
            </a:r>
            <a:endParaRPr lang="en-US" sz="2800" dirty="0">
              <a:latin typeface="Courier"/>
              <a:cs typeface="Courier"/>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2"/>
          <p:cNvSpPr txBox="1">
            <a:spLocks noChangeArrowheads="1"/>
          </p:cNvSpPr>
          <p:nvPr/>
        </p:nvSpPr>
        <p:spPr bwMode="auto">
          <a:xfrm>
            <a:off x="2416224" y="2852936"/>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en-US" sz="4000" dirty="0" err="1">
                <a:latin typeface="Arial" charset="0"/>
              </a:rPr>
              <a:t>Kahoot</a:t>
            </a:r>
            <a:r>
              <a:rPr lang="en-US" sz="4000" dirty="0">
                <a:latin typeface="Arial" charset="0"/>
              </a:rPr>
              <a:t> time !</a:t>
            </a:r>
          </a:p>
          <a:p>
            <a:r>
              <a:rPr lang="en-US" sz="4000" dirty="0">
                <a:latin typeface="Arial" charset="0"/>
              </a:rPr>
              <a:t>	(4 Q)</a:t>
            </a:r>
          </a:p>
        </p:txBody>
      </p:sp>
    </p:spTree>
    <p:extLst>
      <p:ext uri="{BB962C8B-B14F-4D97-AF65-F5344CB8AC3E}">
        <p14:creationId xmlns:p14="http://schemas.microsoft.com/office/powerpoint/2010/main" val="2466551200"/>
      </p:ext>
    </p:extLst>
  </p:cSld>
  <p:clrMapOvr>
    <a:masterClrMapping/>
  </p:clrMapOvr>
  <mc:AlternateContent xmlns:mc="http://schemas.openxmlformats.org/markup-compatibility/2006" xmlns:p14="http://schemas.microsoft.com/office/powerpoint/2010/main">
    <mc:Choice Requires="p14">
      <p:transition spd="slow" p14:dur="2000" advTm="7572"/>
    </mc:Choice>
    <mc:Fallback xmlns="">
      <p:transition spd="slow" advTm="7572"/>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56</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Boolean control operators</a:t>
            </a:r>
            <a:endParaRPr lang="en-US" sz="2800" dirty="0">
              <a:latin typeface="Courier"/>
              <a:cs typeface="Courier"/>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8"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4"/>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5"/>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6"/>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363538" lvl="1" indent="-363538">
              <a:buSzPct val="75000"/>
              <a:buBlip>
                <a:blip r:embed="rId4"/>
              </a:buBlip>
            </a:pPr>
            <a:r>
              <a:rPr lang="en-GB" sz="2400" dirty="0">
                <a:solidFill>
                  <a:schemeClr val="tx1"/>
                </a:solidFill>
                <a:latin typeface="Arial" charset="0"/>
              </a:rPr>
              <a:t>Syntax (AND): </a:t>
            </a:r>
            <a:r>
              <a:rPr lang="en-GB" sz="2400" b="1" dirty="0">
                <a:solidFill>
                  <a:schemeClr val="tx1"/>
                </a:solidFill>
                <a:latin typeface="Courier"/>
                <a:cs typeface="Courier"/>
              </a:rPr>
              <a:t>-a </a:t>
            </a:r>
            <a:r>
              <a:rPr lang="en-GB" sz="2400" dirty="0">
                <a:solidFill>
                  <a:schemeClr val="tx1"/>
                </a:solidFill>
                <a:cs typeface="Courier"/>
              </a:rPr>
              <a:t>or</a:t>
            </a:r>
            <a:r>
              <a:rPr lang="en-GB" sz="2400" b="1" dirty="0">
                <a:solidFill>
                  <a:schemeClr val="tx1"/>
                </a:solidFill>
                <a:latin typeface="Courier"/>
                <a:cs typeface="Courier"/>
              </a:rPr>
              <a:t> &amp;&amp;</a:t>
            </a:r>
            <a:endParaRPr lang="en-GB" sz="2400" dirty="0">
              <a:solidFill>
                <a:schemeClr val="tx1"/>
              </a:solidFill>
              <a:latin typeface="Arial" charset="0"/>
            </a:endParaRPr>
          </a:p>
          <a:p>
            <a:pPr marL="0" indent="0">
              <a:buNone/>
            </a:pPr>
            <a:r>
              <a:rPr lang="en-GB" b="1" dirty="0">
                <a:latin typeface="Courier New"/>
                <a:cs typeface="Courier New"/>
              </a:rPr>
              <a:t>command1 &amp;&amp; command2 </a:t>
            </a:r>
          </a:p>
          <a:p>
            <a:r>
              <a:rPr lang="en-GB" dirty="0"/>
              <a:t>Function: </a:t>
            </a:r>
          </a:p>
          <a:p>
            <a:pPr lvl="1"/>
            <a:r>
              <a:rPr lang="en-GB" dirty="0"/>
              <a:t>command2 is executed </a:t>
            </a:r>
            <a:r>
              <a:rPr lang="en-GB" b="1" dirty="0"/>
              <a:t>if, </a:t>
            </a:r>
            <a:r>
              <a:rPr lang="en-GB" b="1" i="1" dirty="0"/>
              <a:t>and only if</a:t>
            </a:r>
            <a:r>
              <a:rPr lang="en-GB" b="1" dirty="0"/>
              <a:t>, </a:t>
            </a:r>
            <a:r>
              <a:rPr lang="en-GB" dirty="0"/>
              <a:t>command1 returns an exit status of </a:t>
            </a:r>
            <a:r>
              <a:rPr lang="en-GB" b="1" dirty="0"/>
              <a:t>zero</a:t>
            </a:r>
            <a:r>
              <a:rPr lang="en-GB" dirty="0"/>
              <a:t> (TRUE).</a:t>
            </a:r>
          </a:p>
          <a:p>
            <a:endParaRPr lang="en-GB" sz="1050" dirty="0"/>
          </a:p>
          <a:p>
            <a:pPr marL="363538" lvl="1" indent="-363538">
              <a:buSzPct val="75000"/>
              <a:buBlip>
                <a:blip r:embed="rId4"/>
              </a:buBlip>
            </a:pPr>
            <a:r>
              <a:rPr lang="en-GB" sz="2400" dirty="0">
                <a:solidFill>
                  <a:schemeClr val="tx1"/>
                </a:solidFill>
                <a:latin typeface="Arial" charset="0"/>
              </a:rPr>
              <a:t>Syntax (OR): </a:t>
            </a:r>
            <a:r>
              <a:rPr lang="en-GB" sz="2400" b="1" dirty="0">
                <a:solidFill>
                  <a:schemeClr val="tx1"/>
                </a:solidFill>
                <a:latin typeface="Courier"/>
                <a:cs typeface="Courier"/>
              </a:rPr>
              <a:t>-o </a:t>
            </a:r>
            <a:r>
              <a:rPr lang="en-GB" sz="2400" dirty="0">
                <a:solidFill>
                  <a:schemeClr val="tx1"/>
                </a:solidFill>
                <a:cs typeface="Courier"/>
              </a:rPr>
              <a:t>or </a:t>
            </a:r>
            <a:r>
              <a:rPr lang="en-GB" sz="2400" b="1" dirty="0">
                <a:solidFill>
                  <a:schemeClr val="tx1"/>
                </a:solidFill>
                <a:latin typeface="Courier"/>
                <a:cs typeface="Courier"/>
              </a:rPr>
              <a:t>||</a:t>
            </a:r>
            <a:endParaRPr lang="en-GB" sz="2400" dirty="0">
              <a:solidFill>
                <a:schemeClr val="tx1"/>
              </a:solidFill>
              <a:latin typeface="Arial" charset="0"/>
            </a:endParaRPr>
          </a:p>
          <a:p>
            <a:pPr marL="0" indent="0">
              <a:buNone/>
            </a:pPr>
            <a:r>
              <a:rPr lang="en-GB" b="1" dirty="0">
                <a:latin typeface="Courier New"/>
                <a:cs typeface="Courier New"/>
              </a:rPr>
              <a:t>command1 || command2 </a:t>
            </a:r>
          </a:p>
          <a:p>
            <a:r>
              <a:rPr lang="en-GB" dirty="0"/>
              <a:t>Function:</a:t>
            </a:r>
          </a:p>
          <a:p>
            <a:pPr lvl="1"/>
            <a:r>
              <a:rPr lang="en-GB" dirty="0"/>
              <a:t>command2 is executed </a:t>
            </a:r>
            <a:r>
              <a:rPr lang="en-GB" b="1" i="1" dirty="0"/>
              <a:t>if, and only if, </a:t>
            </a:r>
            <a:r>
              <a:rPr lang="en-GB" dirty="0"/>
              <a:t>command1 returns a </a:t>
            </a:r>
            <a:r>
              <a:rPr lang="en-GB" b="1" dirty="0"/>
              <a:t>non-zero </a:t>
            </a:r>
            <a:r>
              <a:rPr lang="en-GB" dirty="0"/>
              <a:t>exit status (FALSE). </a:t>
            </a:r>
          </a:p>
          <a:p>
            <a:pPr lvl="1"/>
            <a:endParaRPr lang="en-GB" sz="1000" dirty="0"/>
          </a:p>
          <a:p>
            <a:r>
              <a:rPr lang="en-GB" dirty="0"/>
              <a:t>The exit status of AND and OR lists is the exit status of the </a:t>
            </a:r>
            <a:r>
              <a:rPr lang="en-GB" b="1" dirty="0">
                <a:solidFill>
                  <a:srgbClr val="FF0000"/>
                </a:solidFill>
              </a:rPr>
              <a:t>last command </a:t>
            </a:r>
            <a:r>
              <a:rPr lang="en-GB" b="1" dirty="0"/>
              <a:t>executed </a:t>
            </a:r>
            <a:r>
              <a:rPr lang="en-GB" dirty="0"/>
              <a:t>in the list</a:t>
            </a:r>
          </a:p>
          <a:p>
            <a:r>
              <a:rPr lang="en-GB" dirty="0">
                <a:solidFill>
                  <a:schemeClr val="tx1"/>
                </a:solidFill>
                <a:cs typeface="Courier"/>
              </a:rPr>
              <a:t>Syntax (NOT): </a:t>
            </a:r>
            <a:r>
              <a:rPr lang="en-GB" b="1" dirty="0">
                <a:solidFill>
                  <a:schemeClr val="tx1"/>
                </a:solidFill>
                <a:latin typeface="Courier"/>
                <a:cs typeface="Courier"/>
              </a:rPr>
              <a:t>! </a:t>
            </a:r>
          </a:p>
          <a:p>
            <a:endParaRPr lang="en-GB" dirty="0">
              <a:solidFill>
                <a:schemeClr val="tx1"/>
              </a:solidFill>
              <a:latin typeface="Arial" charset="0"/>
            </a:endParaRPr>
          </a:p>
        </p:txBody>
      </p:sp>
    </p:spTree>
    <p:custDataLst>
      <p:tags r:id="rId1"/>
    </p:custDataLst>
    <p:extLst>
      <p:ext uri="{BB962C8B-B14F-4D97-AF65-F5344CB8AC3E}">
        <p14:creationId xmlns:p14="http://schemas.microsoft.com/office/powerpoint/2010/main" val="75926791"/>
      </p:ext>
    </p:extLst>
  </p:cSld>
  <p:clrMapOvr>
    <a:masterClrMapping/>
  </p:clrMapOvr>
  <mc:AlternateContent xmlns:mc="http://schemas.openxmlformats.org/markup-compatibility/2006" xmlns:p14="http://schemas.microsoft.com/office/powerpoint/2010/main">
    <mc:Choice Requires="p14">
      <p:transition spd="slow" p14:dur="2000" advTm="291060"/>
    </mc:Choice>
    <mc:Fallback xmlns="">
      <p:transition spd="slow" advTm="2910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57</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Conditions</a:t>
            </a:r>
            <a:endParaRPr lang="en-US" sz="2800" dirty="0">
              <a:latin typeface="Courier"/>
              <a:cs typeface="Courier"/>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2"/>
          <p:cNvSpPr txBox="1">
            <a:spLocks noChangeArrowheads="1"/>
          </p:cNvSpPr>
          <p:nvPr/>
        </p:nvSpPr>
        <p:spPr bwMode="auto">
          <a:xfrm>
            <a:off x="2416224" y="2852936"/>
            <a:ext cx="77724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3200" b="1">
                <a:solidFill>
                  <a:srgbClr val="730B03"/>
                </a:solidFill>
                <a:latin typeface="+mj-lt"/>
                <a:ea typeface="ＭＳ Ｐゴシック" charset="0"/>
                <a:cs typeface="+mj-cs"/>
              </a:defRPr>
            </a:lvl1pPr>
            <a:lvl2pPr algn="l" rtl="0" eaLnBrk="0" fontAlgn="base" hangingPunct="0">
              <a:spcBef>
                <a:spcPct val="0"/>
              </a:spcBef>
              <a:spcAft>
                <a:spcPct val="0"/>
              </a:spcAft>
              <a:defRPr sz="3200" b="1">
                <a:solidFill>
                  <a:srgbClr val="730B03"/>
                </a:solidFill>
                <a:latin typeface="Arial" charset="0"/>
                <a:ea typeface="ＭＳ Ｐゴシック" charset="0"/>
              </a:defRPr>
            </a:lvl2pPr>
            <a:lvl3pPr algn="l" rtl="0" eaLnBrk="0" fontAlgn="base" hangingPunct="0">
              <a:spcBef>
                <a:spcPct val="0"/>
              </a:spcBef>
              <a:spcAft>
                <a:spcPct val="0"/>
              </a:spcAft>
              <a:defRPr sz="3200" b="1">
                <a:solidFill>
                  <a:srgbClr val="730B03"/>
                </a:solidFill>
                <a:latin typeface="Arial" charset="0"/>
                <a:ea typeface="ＭＳ Ｐゴシック" charset="0"/>
              </a:defRPr>
            </a:lvl3pPr>
            <a:lvl4pPr algn="l" rtl="0" eaLnBrk="0" fontAlgn="base" hangingPunct="0">
              <a:spcBef>
                <a:spcPct val="0"/>
              </a:spcBef>
              <a:spcAft>
                <a:spcPct val="0"/>
              </a:spcAft>
              <a:defRPr sz="3200" b="1">
                <a:solidFill>
                  <a:srgbClr val="730B03"/>
                </a:solidFill>
                <a:latin typeface="Arial" charset="0"/>
                <a:ea typeface="ＭＳ Ｐゴシック" charset="0"/>
              </a:defRPr>
            </a:lvl4pPr>
            <a:lvl5pPr algn="l" rtl="0" eaLnBrk="0" fontAlgn="base" hangingPunct="0">
              <a:spcBef>
                <a:spcPct val="0"/>
              </a:spcBef>
              <a:spcAft>
                <a:spcPct val="0"/>
              </a:spcAft>
              <a:defRPr sz="3200" b="1">
                <a:solidFill>
                  <a:srgbClr val="730B03"/>
                </a:solidFill>
                <a:latin typeface="Arial" charset="0"/>
                <a:ea typeface="ＭＳ Ｐゴシック" charset="0"/>
              </a:defRPr>
            </a:lvl5pPr>
            <a:lvl6pPr marL="457200" algn="l" rtl="0" eaLnBrk="0" fontAlgn="base" hangingPunct="0">
              <a:spcBef>
                <a:spcPct val="0"/>
              </a:spcBef>
              <a:spcAft>
                <a:spcPct val="0"/>
              </a:spcAft>
              <a:defRPr sz="3200" b="1">
                <a:solidFill>
                  <a:srgbClr val="730B03"/>
                </a:solidFill>
                <a:latin typeface="Arial" charset="0"/>
              </a:defRPr>
            </a:lvl6pPr>
            <a:lvl7pPr marL="914400" algn="l" rtl="0" eaLnBrk="0" fontAlgn="base" hangingPunct="0">
              <a:spcBef>
                <a:spcPct val="0"/>
              </a:spcBef>
              <a:spcAft>
                <a:spcPct val="0"/>
              </a:spcAft>
              <a:defRPr sz="3200" b="1">
                <a:solidFill>
                  <a:srgbClr val="730B03"/>
                </a:solidFill>
                <a:latin typeface="Arial" charset="0"/>
              </a:defRPr>
            </a:lvl7pPr>
            <a:lvl8pPr marL="1371600" algn="l" rtl="0" eaLnBrk="0" fontAlgn="base" hangingPunct="0">
              <a:spcBef>
                <a:spcPct val="0"/>
              </a:spcBef>
              <a:spcAft>
                <a:spcPct val="0"/>
              </a:spcAft>
              <a:defRPr sz="3200" b="1">
                <a:solidFill>
                  <a:srgbClr val="730B03"/>
                </a:solidFill>
                <a:latin typeface="Arial" charset="0"/>
              </a:defRPr>
            </a:lvl8pPr>
            <a:lvl9pPr marL="1828800" algn="l" rtl="0" eaLnBrk="0" fontAlgn="base" hangingPunct="0">
              <a:spcBef>
                <a:spcPct val="0"/>
              </a:spcBef>
              <a:spcAft>
                <a:spcPct val="0"/>
              </a:spcAft>
              <a:defRPr sz="3200" b="1">
                <a:solidFill>
                  <a:srgbClr val="730B03"/>
                </a:solidFill>
                <a:latin typeface="Arial" charset="0"/>
              </a:defRPr>
            </a:lvl9pPr>
          </a:lstStyle>
          <a:p>
            <a:r>
              <a:rPr lang="en-US" sz="4000" dirty="0" err="1">
                <a:latin typeface="Arial" charset="0"/>
              </a:rPr>
              <a:t>Kahoot</a:t>
            </a:r>
            <a:r>
              <a:rPr lang="en-US" sz="4000" dirty="0">
                <a:latin typeface="Arial" charset="0"/>
              </a:rPr>
              <a:t> time !</a:t>
            </a:r>
          </a:p>
          <a:p>
            <a:r>
              <a:rPr lang="en-US" sz="4000">
                <a:latin typeface="Arial" charset="0"/>
              </a:rPr>
              <a:t>	(4 </a:t>
            </a:r>
            <a:r>
              <a:rPr lang="en-US" sz="4000" dirty="0">
                <a:latin typeface="Arial" charset="0"/>
              </a:rPr>
              <a:t>Q)</a:t>
            </a:r>
          </a:p>
        </p:txBody>
      </p:sp>
    </p:spTree>
    <p:extLst>
      <p:ext uri="{BB962C8B-B14F-4D97-AF65-F5344CB8AC3E}">
        <p14:creationId xmlns:p14="http://schemas.microsoft.com/office/powerpoint/2010/main" val="1935650349"/>
      </p:ext>
    </p:extLst>
  </p:cSld>
  <p:clrMapOvr>
    <a:masterClrMapping/>
  </p:clrMapOvr>
  <mc:AlternateContent xmlns:mc="http://schemas.openxmlformats.org/markup-compatibility/2006" xmlns:p14="http://schemas.microsoft.com/office/powerpoint/2010/main">
    <mc:Choice Requires="p14">
      <p:transition spd="slow" p14:dur="2000" advTm="4415"/>
    </mc:Choice>
    <mc:Fallback xmlns="">
      <p:transition spd="slow" advTm="4415"/>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58</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AND and OR control operators: Example</a:t>
            </a:r>
            <a:endParaRPr lang="en-US" sz="2800" dirty="0">
              <a:latin typeface="Courier"/>
              <a:cs typeface="Courier"/>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TextBox 5"/>
          <p:cNvSpPr txBox="1"/>
          <p:nvPr/>
        </p:nvSpPr>
        <p:spPr>
          <a:xfrm>
            <a:off x="1331640" y="1160748"/>
            <a:ext cx="6300700" cy="2616101"/>
          </a:xfrm>
          <a:prstGeom prst="rect">
            <a:avLst/>
          </a:prstGeom>
          <a:solidFill>
            <a:srgbClr val="000000"/>
          </a:solidFill>
        </p:spPr>
        <p:txBody>
          <a:bodyPr wrap="square" rtlCol="0">
            <a:spAutoFit/>
          </a:bodyPr>
          <a:lstStyle/>
          <a:p>
            <a:pPr algn="l"/>
            <a:r>
              <a:rPr lang="en-US" sz="2000" dirty="0">
                <a:solidFill>
                  <a:srgbClr val="FFFFFF"/>
                </a:solidFill>
                <a:latin typeface="Courier"/>
                <a:cs typeface="Courier"/>
              </a:rPr>
              <a:t>$ true || echo </a:t>
            </a:r>
            <a:r>
              <a:rPr lang="en-US" sz="2000" b="1" dirty="0">
                <a:solidFill>
                  <a:schemeClr val="bg1"/>
                </a:solidFill>
                <a:latin typeface="Courier New"/>
                <a:ea typeface="Courier New"/>
              </a:rPr>
              <a:t>"</a:t>
            </a:r>
            <a:r>
              <a:rPr lang="en-US" sz="2000" dirty="0">
                <a:solidFill>
                  <a:srgbClr val="FFFFFF"/>
                </a:solidFill>
                <a:latin typeface="Courier"/>
                <a:cs typeface="Courier"/>
              </a:rPr>
              <a:t>echo executed</a:t>
            </a:r>
            <a:r>
              <a:rPr lang="en-US" sz="2000" b="1" dirty="0">
                <a:solidFill>
                  <a:schemeClr val="bg1"/>
                </a:solidFill>
                <a:latin typeface="Courier New"/>
                <a:ea typeface="Courier New"/>
              </a:rPr>
              <a:t>"</a:t>
            </a:r>
            <a:endParaRPr lang="en-US" sz="2000" dirty="0">
              <a:solidFill>
                <a:srgbClr val="FFFFFF"/>
              </a:solidFill>
              <a:latin typeface="Courier"/>
              <a:cs typeface="Courier"/>
            </a:endParaRPr>
          </a:p>
          <a:p>
            <a:pPr algn="l"/>
            <a:r>
              <a:rPr lang="en-US" sz="2000" dirty="0">
                <a:solidFill>
                  <a:srgbClr val="FFFFFF"/>
                </a:solidFill>
                <a:latin typeface="Courier"/>
                <a:cs typeface="Courier"/>
              </a:rPr>
              <a:t>$ false || echo </a:t>
            </a:r>
            <a:r>
              <a:rPr lang="en-US" sz="2000" b="1" dirty="0">
                <a:solidFill>
                  <a:schemeClr val="bg1"/>
                </a:solidFill>
                <a:latin typeface="Courier New"/>
                <a:ea typeface="Courier New"/>
              </a:rPr>
              <a:t>"</a:t>
            </a:r>
            <a:r>
              <a:rPr lang="en-US" sz="2000" dirty="0">
                <a:solidFill>
                  <a:srgbClr val="FFFFFF"/>
                </a:solidFill>
                <a:latin typeface="Courier"/>
                <a:cs typeface="Courier"/>
              </a:rPr>
              <a:t>echo executed</a:t>
            </a:r>
            <a:r>
              <a:rPr lang="en-US" sz="2000" b="1" dirty="0">
                <a:solidFill>
                  <a:schemeClr val="bg1"/>
                </a:solidFill>
                <a:latin typeface="Courier New"/>
                <a:ea typeface="Courier New"/>
              </a:rPr>
              <a:t>"</a:t>
            </a:r>
            <a:endParaRPr lang="en-US" sz="2000" dirty="0">
              <a:solidFill>
                <a:srgbClr val="FFFFFF"/>
              </a:solidFill>
              <a:latin typeface="Courier"/>
              <a:cs typeface="Courier"/>
            </a:endParaRPr>
          </a:p>
          <a:p>
            <a:pPr algn="l"/>
            <a:r>
              <a:rPr lang="en-US" sz="2000" dirty="0">
                <a:solidFill>
                  <a:srgbClr val="FFFFFF"/>
                </a:solidFill>
                <a:latin typeface="Courier"/>
                <a:cs typeface="Courier"/>
              </a:rPr>
              <a:t>echo executed</a:t>
            </a:r>
          </a:p>
          <a:p>
            <a:pPr algn="l"/>
            <a:r>
              <a:rPr lang="en-US" sz="2000" dirty="0">
                <a:solidFill>
                  <a:srgbClr val="FFFFFF"/>
                </a:solidFill>
                <a:latin typeface="Courier"/>
                <a:cs typeface="Courier"/>
              </a:rPr>
              <a:t>$ true &amp;&amp; echo </a:t>
            </a:r>
            <a:r>
              <a:rPr lang="en-US" sz="2000" b="1" dirty="0">
                <a:solidFill>
                  <a:schemeClr val="bg1"/>
                </a:solidFill>
                <a:latin typeface="Courier New"/>
                <a:ea typeface="Courier New"/>
              </a:rPr>
              <a:t>"</a:t>
            </a:r>
            <a:r>
              <a:rPr lang="en-US" sz="2000" dirty="0">
                <a:solidFill>
                  <a:srgbClr val="FFFFFF"/>
                </a:solidFill>
                <a:latin typeface="Courier"/>
                <a:cs typeface="Courier"/>
              </a:rPr>
              <a:t>echo executed</a:t>
            </a:r>
            <a:r>
              <a:rPr lang="en-US" sz="2000" b="1" dirty="0">
                <a:solidFill>
                  <a:schemeClr val="bg1"/>
                </a:solidFill>
                <a:latin typeface="Courier New"/>
                <a:ea typeface="Courier New"/>
              </a:rPr>
              <a:t>"</a:t>
            </a:r>
            <a:endParaRPr lang="en-US" sz="2000" dirty="0">
              <a:solidFill>
                <a:srgbClr val="FFFFFF"/>
              </a:solidFill>
              <a:latin typeface="Courier"/>
              <a:cs typeface="Courier"/>
            </a:endParaRPr>
          </a:p>
          <a:p>
            <a:pPr algn="l"/>
            <a:r>
              <a:rPr lang="en-US" sz="2000" dirty="0">
                <a:solidFill>
                  <a:srgbClr val="FFFFFF"/>
                </a:solidFill>
                <a:latin typeface="Courier"/>
                <a:cs typeface="Courier"/>
              </a:rPr>
              <a:t>echo executed</a:t>
            </a:r>
          </a:p>
          <a:p>
            <a:pPr algn="l"/>
            <a:r>
              <a:rPr lang="en-US" sz="2000" dirty="0">
                <a:solidFill>
                  <a:srgbClr val="FFFFFF"/>
                </a:solidFill>
                <a:latin typeface="Courier"/>
                <a:cs typeface="Courier"/>
              </a:rPr>
              <a:t>$ false &amp;&amp; echo </a:t>
            </a:r>
            <a:r>
              <a:rPr lang="en-US" sz="2000" b="1" dirty="0">
                <a:solidFill>
                  <a:schemeClr val="bg1"/>
                </a:solidFill>
                <a:latin typeface="Courier New"/>
                <a:ea typeface="Courier New"/>
              </a:rPr>
              <a:t>"</a:t>
            </a:r>
            <a:r>
              <a:rPr lang="en-US" sz="2000" dirty="0">
                <a:solidFill>
                  <a:srgbClr val="FFFFFF"/>
                </a:solidFill>
                <a:latin typeface="Courier"/>
                <a:cs typeface="Courier"/>
              </a:rPr>
              <a:t>echo executed</a:t>
            </a:r>
            <a:r>
              <a:rPr lang="en-US" sz="2000" b="1" dirty="0">
                <a:solidFill>
                  <a:schemeClr val="bg1"/>
                </a:solidFill>
                <a:latin typeface="Courier New"/>
                <a:ea typeface="Courier New"/>
              </a:rPr>
              <a:t>"</a:t>
            </a:r>
            <a:endParaRPr lang="en-US" sz="2000" dirty="0">
              <a:solidFill>
                <a:srgbClr val="FFFFFF"/>
              </a:solidFill>
              <a:latin typeface="Courier"/>
              <a:cs typeface="Courier"/>
            </a:endParaRPr>
          </a:p>
          <a:p>
            <a:pPr algn="l"/>
            <a:r>
              <a:rPr lang="en-US" sz="2000" dirty="0">
                <a:solidFill>
                  <a:srgbClr val="FFFFFF"/>
                </a:solidFill>
                <a:latin typeface="Courier"/>
                <a:cs typeface="Courier"/>
              </a:rPr>
              <a:t>$</a:t>
            </a:r>
          </a:p>
        </p:txBody>
      </p:sp>
    </p:spTree>
    <p:extLst>
      <p:ext uri="{BB962C8B-B14F-4D97-AF65-F5344CB8AC3E}">
        <p14:creationId xmlns:p14="http://schemas.microsoft.com/office/powerpoint/2010/main" val="6945807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59</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Conditions: </a:t>
            </a:r>
            <a:r>
              <a:rPr lang="en-US" sz="2800" dirty="0">
                <a:latin typeface="Courier"/>
                <a:cs typeface="Courier"/>
              </a:rPr>
              <a:t>if, </a:t>
            </a:r>
            <a:r>
              <a:rPr lang="en-US" sz="2800" dirty="0" err="1">
                <a:latin typeface="Courier"/>
                <a:cs typeface="Courier"/>
              </a:rPr>
              <a:t>elif</a:t>
            </a:r>
            <a:r>
              <a:rPr lang="en-US" sz="2800" dirty="0">
                <a:latin typeface="Courier"/>
                <a:cs typeface="Courier"/>
              </a:rPr>
              <a:t>, else</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143508" y="656692"/>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Syntax:</a:t>
            </a:r>
          </a:p>
          <a:p>
            <a:pPr marL="542925" lvl="1" indent="0">
              <a:buNone/>
            </a:pPr>
            <a:r>
              <a:rPr lang="en-GB" b="1" dirty="0">
                <a:latin typeface="Courier"/>
                <a:ea typeface="Courier New"/>
                <a:cs typeface="Courier"/>
              </a:rPr>
              <a:t>if</a:t>
            </a:r>
            <a:r>
              <a:rPr lang="en-GB" dirty="0">
                <a:latin typeface="Courier"/>
                <a:cs typeface="Courier"/>
              </a:rPr>
              <a:t> [ </a:t>
            </a:r>
            <a:r>
              <a:rPr lang="en-GB" b="1" dirty="0">
                <a:latin typeface="Courier"/>
                <a:ea typeface="Courier New"/>
                <a:cs typeface="Courier"/>
              </a:rPr>
              <a:t>condition_expression_1 ] ; then</a:t>
            </a:r>
          </a:p>
          <a:p>
            <a:pPr marL="542925" lvl="1" indent="0">
              <a:buNone/>
            </a:pPr>
            <a:r>
              <a:rPr lang="en-GB" b="1" dirty="0">
                <a:latin typeface="Courier"/>
                <a:ea typeface="Courier New"/>
                <a:cs typeface="Courier"/>
              </a:rPr>
              <a:t>	1</a:t>
            </a:r>
            <a:r>
              <a:rPr lang="en-GB" b="1" baseline="30000" dirty="0">
                <a:latin typeface="Courier"/>
                <a:ea typeface="Courier New"/>
                <a:cs typeface="Courier"/>
              </a:rPr>
              <a:t>st</a:t>
            </a:r>
            <a:r>
              <a:rPr lang="en-GB" b="1" dirty="0">
                <a:latin typeface="Courier"/>
                <a:ea typeface="Courier New"/>
                <a:cs typeface="Courier"/>
              </a:rPr>
              <a:t> set of commands</a:t>
            </a:r>
          </a:p>
          <a:p>
            <a:pPr marL="542925" lvl="1" indent="0">
              <a:buNone/>
            </a:pPr>
            <a:r>
              <a:rPr lang="en-GB" b="1" dirty="0" err="1">
                <a:latin typeface="Courier"/>
                <a:ea typeface="Courier New"/>
                <a:cs typeface="Courier"/>
              </a:rPr>
              <a:t>elif</a:t>
            </a:r>
            <a:r>
              <a:rPr lang="en-GB" b="1" dirty="0">
                <a:latin typeface="Courier"/>
                <a:ea typeface="Courier New"/>
                <a:cs typeface="Courier"/>
              </a:rPr>
              <a:t> </a:t>
            </a:r>
            <a:r>
              <a:rPr lang="en-GB" dirty="0">
                <a:latin typeface="Courier"/>
                <a:cs typeface="Courier"/>
              </a:rPr>
              <a:t>[ </a:t>
            </a:r>
            <a:r>
              <a:rPr lang="en-GB" b="1" dirty="0">
                <a:latin typeface="Courier"/>
                <a:ea typeface="Courier New"/>
                <a:cs typeface="Courier"/>
              </a:rPr>
              <a:t>condition_expression_2 ]</a:t>
            </a:r>
          </a:p>
          <a:p>
            <a:pPr marL="542925" lvl="1" indent="0">
              <a:buNone/>
            </a:pPr>
            <a:r>
              <a:rPr lang="en-GB" b="1" dirty="0">
                <a:latin typeface="Courier"/>
                <a:ea typeface="Courier New"/>
                <a:cs typeface="Courier"/>
              </a:rPr>
              <a:t>then</a:t>
            </a:r>
          </a:p>
          <a:p>
            <a:pPr marL="542925" lvl="1" indent="0">
              <a:buNone/>
            </a:pPr>
            <a:r>
              <a:rPr lang="en-GB" b="1" dirty="0">
                <a:latin typeface="Courier"/>
                <a:ea typeface="Courier New"/>
                <a:cs typeface="Courier"/>
              </a:rPr>
              <a:t>	2</a:t>
            </a:r>
            <a:r>
              <a:rPr lang="en-GB" b="1" baseline="30000" dirty="0">
                <a:latin typeface="Courier"/>
                <a:ea typeface="Courier New"/>
                <a:cs typeface="Courier"/>
              </a:rPr>
              <a:t>nd</a:t>
            </a:r>
            <a:r>
              <a:rPr lang="en-GB" b="1" dirty="0">
                <a:latin typeface="Courier"/>
                <a:ea typeface="Courier New"/>
                <a:cs typeface="Courier"/>
              </a:rPr>
              <a:t> set of commands</a:t>
            </a:r>
          </a:p>
          <a:p>
            <a:pPr marL="542925" lvl="1" indent="0">
              <a:buNone/>
            </a:pPr>
            <a:r>
              <a:rPr lang="en-GB" b="1" dirty="0">
                <a:latin typeface="Courier"/>
                <a:ea typeface="Courier New"/>
                <a:cs typeface="Courier"/>
              </a:rPr>
              <a:t>else</a:t>
            </a:r>
          </a:p>
          <a:p>
            <a:pPr marL="542925" lvl="1" indent="0">
              <a:buNone/>
            </a:pPr>
            <a:r>
              <a:rPr lang="en-GB" b="1" dirty="0">
                <a:latin typeface="Courier"/>
                <a:ea typeface="Courier New"/>
                <a:cs typeface="Courier"/>
              </a:rPr>
              <a:t>	3</a:t>
            </a:r>
            <a:r>
              <a:rPr lang="en-GB" b="1" baseline="30000" dirty="0">
                <a:latin typeface="Courier"/>
                <a:ea typeface="Courier New"/>
                <a:cs typeface="Courier"/>
              </a:rPr>
              <a:t>rd</a:t>
            </a:r>
            <a:r>
              <a:rPr lang="en-GB" b="1" dirty="0">
                <a:latin typeface="Courier"/>
                <a:ea typeface="Courier New"/>
                <a:cs typeface="Courier"/>
              </a:rPr>
              <a:t> set of commands</a:t>
            </a:r>
          </a:p>
          <a:p>
            <a:pPr marL="542925" lvl="1" indent="0">
              <a:buNone/>
            </a:pPr>
            <a:r>
              <a:rPr lang="en-GB" b="1" dirty="0">
                <a:latin typeface="Courier"/>
                <a:ea typeface="Courier New"/>
                <a:cs typeface="Courier"/>
              </a:rPr>
              <a:t>fi</a:t>
            </a:r>
          </a:p>
          <a:p>
            <a:pPr marL="542925" lvl="1" indent="0">
              <a:buNone/>
            </a:pPr>
            <a:endParaRPr lang="en-GB" sz="1000" dirty="0">
              <a:latin typeface="Courier"/>
              <a:cs typeface="Courier"/>
            </a:endParaRPr>
          </a:p>
          <a:p>
            <a:r>
              <a:rPr lang="en-GB" dirty="0">
                <a:solidFill>
                  <a:schemeClr val="tx1"/>
                </a:solidFill>
                <a:latin typeface="Arial" charset="0"/>
              </a:rPr>
              <a:t>Function</a:t>
            </a:r>
          </a:p>
          <a:p>
            <a:pPr lvl="1"/>
            <a:r>
              <a:rPr lang="en-GB" dirty="0">
                <a:solidFill>
                  <a:schemeClr val="tx1"/>
                </a:solidFill>
                <a:latin typeface="Arial" charset="0"/>
              </a:rPr>
              <a:t>The </a:t>
            </a:r>
            <a:r>
              <a:rPr lang="en-GB" b="1" dirty="0">
                <a:solidFill>
                  <a:schemeClr val="tx1"/>
                </a:solidFill>
                <a:latin typeface="Courier"/>
                <a:cs typeface="Courier"/>
              </a:rPr>
              <a:t>if </a:t>
            </a:r>
            <a:r>
              <a:rPr lang="en-GB" dirty="0">
                <a:solidFill>
                  <a:schemeClr val="tx1"/>
                </a:solidFill>
                <a:latin typeface="Arial" charset="0"/>
              </a:rPr>
              <a:t>checks if the </a:t>
            </a:r>
            <a:r>
              <a:rPr lang="en-GB" b="1" dirty="0">
                <a:solidFill>
                  <a:schemeClr val="tx1"/>
                </a:solidFill>
                <a:latin typeface="Courier"/>
                <a:cs typeface="Courier"/>
              </a:rPr>
              <a:t>condition_expression_1 </a:t>
            </a:r>
            <a:r>
              <a:rPr lang="en-GB" dirty="0">
                <a:solidFill>
                  <a:schemeClr val="tx1"/>
                </a:solidFill>
                <a:latin typeface="Arial" charset="0"/>
              </a:rPr>
              <a:t>returns TRUE</a:t>
            </a:r>
          </a:p>
          <a:p>
            <a:pPr lvl="2"/>
            <a:r>
              <a:rPr lang="en-GB" sz="2000" b="1" dirty="0">
                <a:solidFill>
                  <a:schemeClr val="tx1"/>
                </a:solidFill>
                <a:latin typeface="Courier"/>
                <a:cs typeface="Courier"/>
                <a:sym typeface="Wingdings"/>
              </a:rPr>
              <a:t>1</a:t>
            </a:r>
            <a:r>
              <a:rPr lang="en-GB" sz="2000" b="1" baseline="30000" dirty="0">
                <a:solidFill>
                  <a:schemeClr val="tx1"/>
                </a:solidFill>
                <a:latin typeface="Courier"/>
                <a:cs typeface="Courier"/>
                <a:sym typeface="Wingdings"/>
              </a:rPr>
              <a:t>st</a:t>
            </a:r>
            <a:r>
              <a:rPr lang="en-GB" sz="2000" b="1" dirty="0">
                <a:solidFill>
                  <a:schemeClr val="tx1"/>
                </a:solidFill>
                <a:latin typeface="Courier"/>
                <a:cs typeface="Courier"/>
                <a:sym typeface="Wingdings"/>
              </a:rPr>
              <a:t> set of commands</a:t>
            </a:r>
            <a:r>
              <a:rPr lang="en-GB" sz="2000" dirty="0">
                <a:solidFill>
                  <a:schemeClr val="tx1"/>
                </a:solidFill>
                <a:cs typeface="Courier"/>
                <a:sym typeface="Wingdings"/>
              </a:rPr>
              <a:t> is executed</a:t>
            </a:r>
          </a:p>
          <a:p>
            <a:pPr lvl="1"/>
            <a:r>
              <a:rPr lang="en-GB" dirty="0">
                <a:solidFill>
                  <a:schemeClr val="tx1"/>
                </a:solidFill>
                <a:latin typeface="Arial" charset="0"/>
              </a:rPr>
              <a:t>Else, if the </a:t>
            </a:r>
            <a:r>
              <a:rPr lang="en-GB" b="1" dirty="0">
                <a:solidFill>
                  <a:schemeClr val="tx1"/>
                </a:solidFill>
                <a:latin typeface="Courier"/>
                <a:cs typeface="Courier"/>
              </a:rPr>
              <a:t>condition_expression_2 </a:t>
            </a:r>
            <a:r>
              <a:rPr lang="en-GB" dirty="0">
                <a:solidFill>
                  <a:schemeClr val="tx1"/>
                </a:solidFill>
                <a:latin typeface="Arial" charset="0"/>
              </a:rPr>
              <a:t>returns TRUE</a:t>
            </a:r>
          </a:p>
          <a:p>
            <a:pPr lvl="2"/>
            <a:r>
              <a:rPr lang="en-GB" sz="2000" b="1" dirty="0">
                <a:solidFill>
                  <a:schemeClr val="tx1"/>
                </a:solidFill>
                <a:latin typeface="Courier"/>
                <a:cs typeface="Courier"/>
                <a:sym typeface="Wingdings"/>
              </a:rPr>
              <a:t>2</a:t>
            </a:r>
            <a:r>
              <a:rPr lang="en-GB" sz="2000" b="1" baseline="30000" dirty="0">
                <a:solidFill>
                  <a:schemeClr val="tx1"/>
                </a:solidFill>
                <a:latin typeface="Courier"/>
                <a:cs typeface="Courier"/>
                <a:sym typeface="Wingdings"/>
              </a:rPr>
              <a:t>nd</a:t>
            </a:r>
            <a:r>
              <a:rPr lang="en-GB" sz="2000" b="1" dirty="0">
                <a:solidFill>
                  <a:schemeClr val="tx1"/>
                </a:solidFill>
                <a:latin typeface="Courier"/>
                <a:cs typeface="Courier"/>
                <a:sym typeface="Wingdings"/>
              </a:rPr>
              <a:t> set of commands </a:t>
            </a:r>
            <a:r>
              <a:rPr lang="en-GB" sz="2000" dirty="0">
                <a:solidFill>
                  <a:schemeClr val="tx1"/>
                </a:solidFill>
                <a:cs typeface="Courier"/>
                <a:sym typeface="Wingdings"/>
              </a:rPr>
              <a:t>is executed</a:t>
            </a:r>
            <a:endParaRPr lang="en-GB" sz="2000" b="1" dirty="0">
              <a:solidFill>
                <a:schemeClr val="tx1"/>
              </a:solidFill>
              <a:latin typeface="Courier"/>
              <a:cs typeface="Courier"/>
              <a:sym typeface="Wingdings"/>
            </a:endParaRPr>
          </a:p>
          <a:p>
            <a:pPr lvl="1"/>
            <a:r>
              <a:rPr lang="en-GB" dirty="0">
                <a:solidFill>
                  <a:schemeClr val="tx1"/>
                </a:solidFill>
                <a:cs typeface="Courier"/>
                <a:sym typeface="Wingdings"/>
              </a:rPr>
              <a:t>Otherwise, </a:t>
            </a:r>
            <a:r>
              <a:rPr lang="en-GB" b="1" dirty="0">
                <a:solidFill>
                  <a:schemeClr val="tx1"/>
                </a:solidFill>
                <a:latin typeface="Courier"/>
                <a:cs typeface="Courier"/>
                <a:sym typeface="Wingdings"/>
              </a:rPr>
              <a:t>3</a:t>
            </a:r>
            <a:r>
              <a:rPr lang="en-GB" b="1" baseline="30000" dirty="0">
                <a:solidFill>
                  <a:schemeClr val="tx1"/>
                </a:solidFill>
                <a:latin typeface="Courier"/>
                <a:cs typeface="Courier"/>
                <a:sym typeface="Wingdings"/>
              </a:rPr>
              <a:t>rd</a:t>
            </a:r>
            <a:r>
              <a:rPr lang="en-GB" b="1" dirty="0">
                <a:solidFill>
                  <a:schemeClr val="tx1"/>
                </a:solidFill>
                <a:latin typeface="Courier"/>
                <a:cs typeface="Courier"/>
                <a:sym typeface="Wingdings"/>
              </a:rPr>
              <a:t> set of commands </a:t>
            </a:r>
            <a:r>
              <a:rPr lang="en-GB" dirty="0">
                <a:solidFill>
                  <a:schemeClr val="tx1"/>
                </a:solidFill>
                <a:cs typeface="Courier"/>
                <a:sym typeface="Wingdings"/>
              </a:rPr>
              <a:t>is executed</a:t>
            </a:r>
          </a:p>
        </p:txBody>
      </p:sp>
      <p:sp>
        <p:nvSpPr>
          <p:cNvPr id="7" name="Rectangle 6"/>
          <p:cNvSpPr/>
          <p:nvPr/>
        </p:nvSpPr>
        <p:spPr>
          <a:xfrm>
            <a:off x="5976156" y="1376772"/>
            <a:ext cx="3312368" cy="707886"/>
          </a:xfrm>
          <a:prstGeom prst="rect">
            <a:avLst/>
          </a:prstGeom>
        </p:spPr>
        <p:txBody>
          <a:bodyPr wrap="square">
            <a:spAutoFit/>
          </a:bodyPr>
          <a:lstStyle/>
          <a:p>
            <a:pPr lvl="1"/>
            <a:r>
              <a:rPr lang="en-GB" sz="2000" b="1" dirty="0">
                <a:solidFill>
                  <a:srgbClr val="FF0000"/>
                </a:solidFill>
              </a:rPr>
              <a:t>SPACES for [ ] ARE REQUIRED !!</a:t>
            </a:r>
            <a:endParaRPr lang="en-GB" sz="2000" b="1" dirty="0">
              <a:solidFill>
                <a:schemeClr val="tx1"/>
              </a:solidFill>
              <a:latin typeface="Courier"/>
              <a:cs typeface="Courier"/>
            </a:endParaRPr>
          </a:p>
        </p:txBody>
      </p:sp>
    </p:spTree>
    <p:extLst>
      <p:ext uri="{BB962C8B-B14F-4D97-AF65-F5344CB8AC3E}">
        <p14:creationId xmlns:p14="http://schemas.microsoft.com/office/powerpoint/2010/main" val="353731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3" end="1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4" end="1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60</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mn-lt"/>
              </a:rPr>
              <a:t>Conditions: </a:t>
            </a:r>
            <a:r>
              <a:rPr lang="en-US" sz="2800" dirty="0">
                <a:latin typeface="Courier"/>
                <a:cs typeface="Courier"/>
              </a:rPr>
              <a:t>if</a:t>
            </a:r>
            <a:r>
              <a:rPr lang="en-US" sz="2800" dirty="0">
                <a:latin typeface="+mn-lt"/>
              </a:rPr>
              <a:t> </a:t>
            </a:r>
            <a:r>
              <a:rPr lang="en-US" sz="2800" dirty="0">
                <a:latin typeface="+mn-lt"/>
                <a:cs typeface="Courier"/>
              </a:rPr>
              <a:t>: </a:t>
            </a:r>
            <a:r>
              <a:rPr lang="en-US" sz="2800" dirty="0">
                <a:latin typeface="+mn-lt"/>
              </a:rPr>
              <a:t>Examples</a:t>
            </a:r>
            <a:endParaRPr lang="en-US" sz="2800" dirty="0">
              <a:latin typeface="+mn-lt"/>
              <a:cs typeface="Courier"/>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3" name="Rectangle 2"/>
          <p:cNvSpPr/>
          <p:nvPr/>
        </p:nvSpPr>
        <p:spPr>
          <a:xfrm>
            <a:off x="71500" y="872716"/>
            <a:ext cx="8999984" cy="4893647"/>
          </a:xfrm>
          <a:prstGeom prst="rect">
            <a:avLst/>
          </a:prstGeom>
          <a:solidFill>
            <a:schemeClr val="tx1"/>
          </a:solidFill>
        </p:spPr>
        <p:txBody>
          <a:bodyPr wrap="square">
            <a:spAutoFit/>
          </a:bodyPr>
          <a:lstStyle/>
          <a:p>
            <a:pPr algn="l"/>
            <a:r>
              <a:rPr lang="en-US" sz="2400" dirty="0">
                <a:solidFill>
                  <a:schemeClr val="bg1"/>
                </a:solidFill>
                <a:latin typeface="Courier"/>
                <a:cs typeface="Courier"/>
              </a:rPr>
              <a:t>#!/bin/bash</a:t>
            </a:r>
          </a:p>
          <a:p>
            <a:pPr algn="l"/>
            <a:r>
              <a:rPr lang="en-US" sz="2400" dirty="0">
                <a:solidFill>
                  <a:schemeClr val="bg1"/>
                </a:solidFill>
                <a:latin typeface="Courier"/>
                <a:cs typeface="Courier"/>
              </a:rPr>
              <a:t>read -p "Enter a filename: " filename</a:t>
            </a:r>
          </a:p>
          <a:p>
            <a:pPr algn="l"/>
            <a:r>
              <a:rPr lang="en-US" sz="2400" dirty="0">
                <a:solidFill>
                  <a:schemeClr val="bg1"/>
                </a:solidFill>
                <a:latin typeface="Courier"/>
                <a:cs typeface="Courier"/>
              </a:rPr>
              <a:t>if [ ! -w "$filename" ]; then</a:t>
            </a:r>
          </a:p>
          <a:p>
            <a:pPr algn="l"/>
            <a:r>
              <a:rPr lang="en-US" sz="2400" dirty="0">
                <a:solidFill>
                  <a:schemeClr val="bg1"/>
                </a:solidFill>
                <a:latin typeface="Courier"/>
                <a:cs typeface="Courier"/>
              </a:rPr>
              <a:t>  echo "File $filename is not writable”</a:t>
            </a:r>
          </a:p>
          <a:p>
            <a:pPr algn="l"/>
            <a:r>
              <a:rPr lang="en-US" sz="2400" dirty="0">
                <a:solidFill>
                  <a:schemeClr val="bg1"/>
                </a:solidFill>
                <a:latin typeface="Courier"/>
                <a:cs typeface="Courier"/>
              </a:rPr>
              <a:t>  exit 1</a:t>
            </a:r>
          </a:p>
          <a:p>
            <a:pPr algn="l"/>
            <a:r>
              <a:rPr lang="en-US" sz="2400" dirty="0" err="1">
                <a:solidFill>
                  <a:schemeClr val="bg1"/>
                </a:solidFill>
                <a:latin typeface="Courier"/>
                <a:cs typeface="Courier"/>
              </a:rPr>
              <a:t>elif</a:t>
            </a:r>
            <a:r>
              <a:rPr lang="en-US" sz="2400" dirty="0">
                <a:solidFill>
                  <a:schemeClr val="bg1"/>
                </a:solidFill>
                <a:latin typeface="Courier"/>
                <a:cs typeface="Courier"/>
              </a:rPr>
              <a:t> [ ! -r "$filename" ]; then</a:t>
            </a:r>
          </a:p>
          <a:p>
            <a:pPr algn="l"/>
            <a:r>
              <a:rPr lang="en-US" sz="2400" dirty="0">
                <a:solidFill>
                  <a:schemeClr val="bg1"/>
                </a:solidFill>
                <a:latin typeface="Courier"/>
                <a:cs typeface="Courier"/>
              </a:rPr>
              <a:t>  echo "File $filename is not readable”</a:t>
            </a:r>
          </a:p>
          <a:p>
            <a:pPr algn="l"/>
            <a:r>
              <a:rPr lang="en-US" sz="2400" dirty="0">
                <a:solidFill>
                  <a:schemeClr val="bg1"/>
                </a:solidFill>
                <a:latin typeface="Courier"/>
                <a:cs typeface="Courier"/>
              </a:rPr>
              <a:t>  exit 1</a:t>
            </a:r>
          </a:p>
          <a:p>
            <a:pPr algn="l"/>
            <a:r>
              <a:rPr lang="en-US" sz="2400" dirty="0">
                <a:solidFill>
                  <a:schemeClr val="bg1"/>
                </a:solidFill>
                <a:latin typeface="Courier"/>
                <a:cs typeface="Courier"/>
              </a:rPr>
              <a:t>else</a:t>
            </a:r>
          </a:p>
          <a:p>
            <a:pPr algn="l"/>
            <a:r>
              <a:rPr lang="en-US" sz="2400" dirty="0">
                <a:solidFill>
                  <a:schemeClr val="bg1"/>
                </a:solidFill>
                <a:latin typeface="Courier"/>
                <a:cs typeface="Courier"/>
              </a:rPr>
              <a:t>  echo "File $filename is writable and readable"</a:t>
            </a:r>
          </a:p>
          <a:p>
            <a:pPr algn="l"/>
            <a:r>
              <a:rPr lang="en-US" sz="2400" dirty="0">
                <a:solidFill>
                  <a:schemeClr val="bg1"/>
                </a:solidFill>
                <a:latin typeface="Courier"/>
                <a:cs typeface="Courier"/>
              </a:rPr>
              <a:t>fi</a:t>
            </a:r>
          </a:p>
        </p:txBody>
      </p:sp>
    </p:spTree>
    <p:extLst>
      <p:ext uri="{BB962C8B-B14F-4D97-AF65-F5344CB8AC3E}">
        <p14:creationId xmlns:p14="http://schemas.microsoft.com/office/powerpoint/2010/main" val="22670350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61</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t>Conditions: </a:t>
            </a:r>
            <a:r>
              <a:rPr lang="en-US" sz="2800" dirty="0">
                <a:latin typeface="Courier"/>
                <a:cs typeface="Courier"/>
              </a:rPr>
              <a:t>if</a:t>
            </a:r>
            <a:r>
              <a:rPr lang="en-US" sz="2800" dirty="0"/>
              <a:t> </a:t>
            </a:r>
            <a:r>
              <a:rPr lang="en-US" sz="2800" dirty="0">
                <a:cs typeface="Courier"/>
              </a:rPr>
              <a:t>: </a:t>
            </a:r>
            <a:r>
              <a:rPr lang="en-US" sz="2800" dirty="0"/>
              <a:t>Examples</a:t>
            </a:r>
            <a:endParaRPr lang="en-US" sz="2800" dirty="0">
              <a:latin typeface="Courier"/>
              <a:cs typeface="Courier"/>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TextBox 5"/>
          <p:cNvSpPr txBox="1"/>
          <p:nvPr/>
        </p:nvSpPr>
        <p:spPr>
          <a:xfrm>
            <a:off x="323528" y="1016732"/>
            <a:ext cx="7452828" cy="4893647"/>
          </a:xfrm>
          <a:prstGeom prst="rect">
            <a:avLst/>
          </a:prstGeom>
          <a:solidFill>
            <a:schemeClr val="tx1"/>
          </a:solidFill>
        </p:spPr>
        <p:txBody>
          <a:bodyPr wrap="square" rtlCol="0">
            <a:spAutoFit/>
          </a:bodyPr>
          <a:lstStyle/>
          <a:p>
            <a:pPr algn="l"/>
            <a:r>
              <a:rPr lang="en-US" sz="2400" dirty="0">
                <a:solidFill>
                  <a:srgbClr val="FFFFFF"/>
                </a:solidFill>
                <a:latin typeface="Courier"/>
                <a:cs typeface="Courier"/>
              </a:rPr>
              <a:t>#!/bin/bash</a:t>
            </a:r>
          </a:p>
          <a:p>
            <a:pPr algn="l"/>
            <a:r>
              <a:rPr lang="en-US" sz="2400" dirty="0">
                <a:solidFill>
                  <a:srgbClr val="FFFFFF"/>
                </a:solidFill>
                <a:latin typeface="Courier"/>
                <a:cs typeface="Courier"/>
              </a:rPr>
              <a:t>TMPFILE="</a:t>
            </a:r>
            <a:r>
              <a:rPr lang="en-US" sz="2400" dirty="0" err="1">
                <a:solidFill>
                  <a:srgbClr val="FFFFFF"/>
                </a:solidFill>
                <a:latin typeface="Courier"/>
                <a:cs typeface="Courier"/>
              </a:rPr>
              <a:t>diff.out</a:t>
            </a:r>
            <a:r>
              <a:rPr lang="en-US" sz="2400" dirty="0">
                <a:solidFill>
                  <a:srgbClr val="FFFFFF"/>
                </a:solidFill>
                <a:latin typeface="Courier"/>
                <a:cs typeface="Courier"/>
              </a:rPr>
              <a:t>"</a:t>
            </a:r>
          </a:p>
          <a:p>
            <a:pPr algn="l"/>
            <a:r>
              <a:rPr lang="de-DE" sz="2400" dirty="0" err="1">
                <a:solidFill>
                  <a:srgbClr val="FFFFFF"/>
                </a:solidFill>
                <a:latin typeface="Courier"/>
                <a:cs typeface="Courier"/>
              </a:rPr>
              <a:t>diff</a:t>
            </a:r>
            <a:r>
              <a:rPr lang="de-DE" sz="2400" dirty="0">
                <a:solidFill>
                  <a:srgbClr val="FFFFFF"/>
                </a:solidFill>
                <a:latin typeface="Courier"/>
                <a:cs typeface="Courier"/>
              </a:rPr>
              <a:t> $1 $2 &gt; $TMPFILE</a:t>
            </a:r>
          </a:p>
          <a:p>
            <a:pPr algn="l"/>
            <a:r>
              <a:rPr lang="en-US" sz="2400" dirty="0">
                <a:solidFill>
                  <a:srgbClr val="FFFFFF"/>
                </a:solidFill>
                <a:latin typeface="Courier"/>
                <a:cs typeface="Courier"/>
              </a:rPr>
              <a:t>if [ ! -s "$TMPFILE" ]; then</a:t>
            </a:r>
          </a:p>
          <a:p>
            <a:pPr algn="l"/>
            <a:r>
              <a:rPr lang="en-US" sz="2400" dirty="0">
                <a:solidFill>
                  <a:srgbClr val="FFFFFF"/>
                </a:solidFill>
                <a:latin typeface="Courier"/>
                <a:cs typeface="Courier"/>
              </a:rPr>
              <a:t>        echo "Files are the same"</a:t>
            </a:r>
          </a:p>
          <a:p>
            <a:pPr algn="l"/>
            <a:r>
              <a:rPr lang="en-US" sz="2400" dirty="0">
                <a:solidFill>
                  <a:srgbClr val="FFFFFF"/>
                </a:solidFill>
                <a:latin typeface="Courier"/>
                <a:cs typeface="Courier"/>
              </a:rPr>
              <a:t>else</a:t>
            </a:r>
          </a:p>
          <a:p>
            <a:pPr algn="l"/>
            <a:r>
              <a:rPr lang="en-US" sz="2400" dirty="0">
                <a:solidFill>
                  <a:srgbClr val="FFFFFF"/>
                </a:solidFill>
                <a:latin typeface="Courier"/>
                <a:cs typeface="Courier"/>
              </a:rPr>
              <a:t>        more $TMPFILE</a:t>
            </a:r>
          </a:p>
          <a:p>
            <a:pPr algn="l"/>
            <a:r>
              <a:rPr lang="en-US" sz="2400" dirty="0">
                <a:solidFill>
                  <a:srgbClr val="FFFFFF"/>
                </a:solidFill>
                <a:latin typeface="Courier"/>
                <a:cs typeface="Courier"/>
              </a:rPr>
              <a:t>fi</a:t>
            </a:r>
          </a:p>
          <a:p>
            <a:pPr algn="l"/>
            <a:r>
              <a:rPr lang="en-US" sz="2400" dirty="0">
                <a:solidFill>
                  <a:srgbClr val="FFFFFF"/>
                </a:solidFill>
                <a:latin typeface="Courier"/>
                <a:cs typeface="Courier"/>
              </a:rPr>
              <a:t>if [ -f "$TMPFILE" ]; then</a:t>
            </a:r>
          </a:p>
          <a:p>
            <a:pPr algn="l"/>
            <a:r>
              <a:rPr lang="en-US" sz="2400" dirty="0">
                <a:solidFill>
                  <a:srgbClr val="FFFFFF"/>
                </a:solidFill>
                <a:latin typeface="Courier"/>
                <a:cs typeface="Courier"/>
              </a:rPr>
              <a:t>        </a:t>
            </a:r>
            <a:r>
              <a:rPr lang="en-US" sz="2400" dirty="0" err="1">
                <a:solidFill>
                  <a:srgbClr val="FFFFFF"/>
                </a:solidFill>
                <a:latin typeface="Courier"/>
                <a:cs typeface="Courier"/>
              </a:rPr>
              <a:t>rm</a:t>
            </a:r>
            <a:r>
              <a:rPr lang="en-US" sz="2400" dirty="0">
                <a:solidFill>
                  <a:srgbClr val="FFFFFF"/>
                </a:solidFill>
                <a:latin typeface="Courier"/>
                <a:cs typeface="Courier"/>
              </a:rPr>
              <a:t> $TMPFILE</a:t>
            </a:r>
          </a:p>
          <a:p>
            <a:pPr algn="l"/>
            <a:r>
              <a:rPr lang="en-US" sz="2400" dirty="0">
                <a:solidFill>
                  <a:srgbClr val="FFFFFF"/>
                </a:solidFill>
                <a:latin typeface="Courier"/>
                <a:cs typeface="Courier"/>
              </a:rPr>
              <a:t>fi</a:t>
            </a:r>
          </a:p>
        </p:txBody>
      </p:sp>
    </p:spTree>
    <p:extLst>
      <p:ext uri="{BB962C8B-B14F-4D97-AF65-F5344CB8AC3E}">
        <p14:creationId xmlns:p14="http://schemas.microsoft.com/office/powerpoint/2010/main" val="19829051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62</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Conditions: </a:t>
            </a:r>
            <a:r>
              <a:rPr lang="en-US" sz="2800" dirty="0">
                <a:latin typeface="Courier"/>
                <a:cs typeface="Courier"/>
              </a:rPr>
              <a:t>case</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5"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Syntax:</a:t>
            </a:r>
          </a:p>
          <a:p>
            <a:pPr marL="542925" lvl="1" indent="0">
              <a:buNone/>
            </a:pPr>
            <a:r>
              <a:rPr lang="en-GB" b="1" dirty="0">
                <a:latin typeface="Courier"/>
                <a:ea typeface="Courier New"/>
                <a:cs typeface="Courier"/>
              </a:rPr>
              <a:t>case $variable in</a:t>
            </a:r>
          </a:p>
          <a:p>
            <a:pPr marL="542925" lvl="1" indent="0">
              <a:buNone/>
            </a:pPr>
            <a:r>
              <a:rPr lang="en-GB" b="1" dirty="0">
                <a:latin typeface="Courier"/>
                <a:ea typeface="Courier New"/>
                <a:cs typeface="Courier"/>
              </a:rPr>
              <a:t>	pattern 1 )</a:t>
            </a:r>
            <a:endParaRPr lang="en-GB" dirty="0">
              <a:latin typeface="Courier"/>
              <a:cs typeface="Courier"/>
            </a:endParaRPr>
          </a:p>
          <a:p>
            <a:pPr marL="542925" lvl="1" indent="0">
              <a:buNone/>
            </a:pPr>
            <a:r>
              <a:rPr lang="en-GB" b="1" dirty="0">
                <a:latin typeface="Courier"/>
                <a:ea typeface="Courier New"/>
                <a:cs typeface="Courier"/>
              </a:rPr>
              <a:t>		1</a:t>
            </a:r>
            <a:r>
              <a:rPr lang="en-GB" b="1" baseline="30000" dirty="0">
                <a:latin typeface="Courier"/>
                <a:ea typeface="Courier New"/>
                <a:cs typeface="Courier"/>
              </a:rPr>
              <a:t>st</a:t>
            </a:r>
            <a:r>
              <a:rPr lang="en-GB" b="1" dirty="0">
                <a:latin typeface="Courier"/>
                <a:ea typeface="Courier New"/>
                <a:cs typeface="Courier"/>
              </a:rPr>
              <a:t> set of commands ;;</a:t>
            </a:r>
          </a:p>
          <a:p>
            <a:pPr marL="542925" lvl="1" indent="0">
              <a:buNone/>
            </a:pPr>
            <a:r>
              <a:rPr lang="en-GB" b="1" dirty="0">
                <a:latin typeface="Courier"/>
                <a:ea typeface="Courier New"/>
                <a:cs typeface="Courier"/>
              </a:rPr>
              <a:t>	pattern 2 | pattern 3 ) </a:t>
            </a:r>
          </a:p>
          <a:p>
            <a:pPr marL="542925" lvl="1" indent="0">
              <a:buNone/>
            </a:pPr>
            <a:r>
              <a:rPr lang="en-GB" b="1" dirty="0">
                <a:latin typeface="Courier"/>
                <a:ea typeface="Courier New"/>
                <a:cs typeface="Courier"/>
              </a:rPr>
              <a:t>		2</a:t>
            </a:r>
            <a:r>
              <a:rPr lang="en-GB" b="1" baseline="30000" dirty="0">
                <a:latin typeface="Courier"/>
                <a:ea typeface="Courier New"/>
                <a:cs typeface="Courier"/>
              </a:rPr>
              <a:t>nd</a:t>
            </a:r>
            <a:r>
              <a:rPr lang="en-GB" b="1" dirty="0">
                <a:latin typeface="Courier"/>
                <a:ea typeface="Courier New"/>
                <a:cs typeface="Courier"/>
              </a:rPr>
              <a:t> set of commands ;; </a:t>
            </a:r>
          </a:p>
          <a:p>
            <a:pPr marL="542925" lvl="1" indent="0">
              <a:buNone/>
            </a:pPr>
            <a:r>
              <a:rPr lang="en-GB" b="1" dirty="0">
                <a:latin typeface="Courier"/>
                <a:ea typeface="Courier New"/>
                <a:cs typeface="Courier"/>
              </a:rPr>
              <a:t>	*)</a:t>
            </a:r>
            <a:endParaRPr lang="en-GB" dirty="0">
              <a:latin typeface="Courier"/>
              <a:cs typeface="Courier"/>
            </a:endParaRPr>
          </a:p>
          <a:p>
            <a:pPr marL="542925" lvl="1" indent="0">
              <a:buNone/>
            </a:pPr>
            <a:r>
              <a:rPr lang="en-GB" b="1" dirty="0">
                <a:latin typeface="Courier"/>
                <a:ea typeface="Courier New"/>
                <a:cs typeface="Courier"/>
              </a:rPr>
              <a:t>		N</a:t>
            </a:r>
            <a:r>
              <a:rPr lang="en-GB" b="1" baseline="30000" dirty="0">
                <a:latin typeface="Courier"/>
                <a:ea typeface="Courier New"/>
                <a:cs typeface="Courier"/>
              </a:rPr>
              <a:t>th</a:t>
            </a:r>
            <a:r>
              <a:rPr lang="en-GB" b="1" dirty="0">
                <a:latin typeface="Courier"/>
                <a:ea typeface="Courier New"/>
                <a:cs typeface="Courier"/>
              </a:rPr>
              <a:t> set of commands ;;</a:t>
            </a:r>
          </a:p>
          <a:p>
            <a:pPr marL="542925" lvl="1" indent="0">
              <a:buNone/>
            </a:pPr>
            <a:r>
              <a:rPr lang="en-GB" b="1" dirty="0" err="1">
                <a:latin typeface="Courier"/>
                <a:ea typeface="Courier New"/>
                <a:cs typeface="Courier"/>
              </a:rPr>
              <a:t>esac</a:t>
            </a:r>
            <a:endParaRPr lang="en-GB" b="1" dirty="0">
              <a:latin typeface="Courier"/>
              <a:ea typeface="Courier New"/>
              <a:cs typeface="Courier"/>
            </a:endParaRPr>
          </a:p>
          <a:p>
            <a:pPr marL="542925" lvl="1" indent="0">
              <a:buNone/>
            </a:pPr>
            <a:endParaRPr lang="en-GB" dirty="0">
              <a:latin typeface="Courier"/>
              <a:cs typeface="Courier"/>
            </a:endParaRPr>
          </a:p>
          <a:p>
            <a:r>
              <a:rPr lang="en-GB" dirty="0">
                <a:solidFill>
                  <a:schemeClr val="tx1"/>
                </a:solidFill>
                <a:latin typeface="Arial" charset="0"/>
              </a:rPr>
              <a:t>Function</a:t>
            </a:r>
          </a:p>
          <a:p>
            <a:pPr lvl="1"/>
            <a:r>
              <a:rPr lang="en-GB" dirty="0">
                <a:solidFill>
                  <a:schemeClr val="tx1"/>
                </a:solidFill>
                <a:latin typeface="Arial" charset="0"/>
              </a:rPr>
              <a:t>If </a:t>
            </a:r>
            <a:r>
              <a:rPr lang="en-GB" dirty="0">
                <a:solidFill>
                  <a:schemeClr val="tx1"/>
                </a:solidFill>
                <a:cs typeface="Courier"/>
              </a:rPr>
              <a:t>the value of </a:t>
            </a:r>
            <a:r>
              <a:rPr lang="en-GB" b="1" dirty="0">
                <a:solidFill>
                  <a:schemeClr val="tx1"/>
                </a:solidFill>
                <a:latin typeface="Courier"/>
                <a:cs typeface="Courier"/>
              </a:rPr>
              <a:t>variable </a:t>
            </a:r>
            <a:r>
              <a:rPr lang="en-GB" dirty="0">
                <a:solidFill>
                  <a:schemeClr val="tx1"/>
                </a:solidFill>
                <a:latin typeface="Arial" charset="0"/>
              </a:rPr>
              <a:t>is </a:t>
            </a:r>
            <a:r>
              <a:rPr lang="en-GB" b="1" dirty="0">
                <a:solidFill>
                  <a:schemeClr val="tx1"/>
                </a:solidFill>
                <a:latin typeface="Courier"/>
                <a:cs typeface="Courier"/>
              </a:rPr>
              <a:t>pattern 1</a:t>
            </a:r>
            <a:r>
              <a:rPr lang="en-GB" dirty="0">
                <a:solidFill>
                  <a:schemeClr val="tx1"/>
                </a:solidFill>
                <a:cs typeface="Courier"/>
              </a:rPr>
              <a:t>,</a:t>
            </a:r>
            <a:r>
              <a:rPr lang="en-GB" b="1" dirty="0">
                <a:solidFill>
                  <a:schemeClr val="tx1"/>
                </a:solidFill>
                <a:latin typeface="Courier"/>
                <a:cs typeface="Courier"/>
              </a:rPr>
              <a:t> </a:t>
            </a:r>
            <a:r>
              <a:rPr lang="en-GB" dirty="0">
                <a:solidFill>
                  <a:schemeClr val="tx1"/>
                </a:solidFill>
                <a:latin typeface="Arial" charset="0"/>
              </a:rPr>
              <a:t>the 1</a:t>
            </a:r>
            <a:r>
              <a:rPr lang="en-GB" baseline="30000" dirty="0">
                <a:solidFill>
                  <a:schemeClr val="tx1"/>
                </a:solidFill>
                <a:latin typeface="Arial" charset="0"/>
              </a:rPr>
              <a:t>st</a:t>
            </a:r>
            <a:r>
              <a:rPr lang="en-GB" dirty="0">
                <a:solidFill>
                  <a:schemeClr val="tx1"/>
                </a:solidFill>
                <a:latin typeface="Arial" charset="0"/>
              </a:rPr>
              <a:t> set of commands is executed, if it is </a:t>
            </a:r>
            <a:r>
              <a:rPr lang="en-GB" b="1" dirty="0">
                <a:solidFill>
                  <a:schemeClr val="tx1"/>
                </a:solidFill>
                <a:latin typeface="Courier"/>
                <a:cs typeface="Courier"/>
              </a:rPr>
              <a:t>pattern 2</a:t>
            </a:r>
            <a:r>
              <a:rPr lang="en-GB" dirty="0">
                <a:solidFill>
                  <a:schemeClr val="tx1"/>
                </a:solidFill>
                <a:cs typeface="Courier"/>
              </a:rPr>
              <a:t>, the </a:t>
            </a:r>
            <a:r>
              <a:rPr lang="en-GB" dirty="0">
                <a:solidFill>
                  <a:schemeClr val="tx1"/>
                </a:solidFill>
                <a:latin typeface="Arial" charset="0"/>
                <a:sym typeface="Wingdings"/>
              </a:rPr>
              <a:t>2</a:t>
            </a:r>
            <a:r>
              <a:rPr lang="en-GB" baseline="30000" dirty="0">
                <a:solidFill>
                  <a:schemeClr val="tx1"/>
                </a:solidFill>
                <a:latin typeface="Arial" charset="0"/>
                <a:sym typeface="Wingdings"/>
              </a:rPr>
              <a:t>nd</a:t>
            </a:r>
            <a:r>
              <a:rPr lang="en-GB" dirty="0">
                <a:solidFill>
                  <a:schemeClr val="tx1"/>
                </a:solidFill>
                <a:latin typeface="Arial" charset="0"/>
                <a:sym typeface="Wingdings"/>
              </a:rPr>
              <a:t> set of commands is executed etc.</a:t>
            </a:r>
          </a:p>
          <a:p>
            <a:pPr lvl="1"/>
            <a:r>
              <a:rPr lang="en-GB" dirty="0">
                <a:solidFill>
                  <a:schemeClr val="tx1"/>
                </a:solidFill>
                <a:latin typeface="Arial" charset="0"/>
              </a:rPr>
              <a:t>Otherwise </a:t>
            </a:r>
            <a:r>
              <a:rPr lang="en-GB" dirty="0">
                <a:solidFill>
                  <a:schemeClr val="tx1"/>
                </a:solidFill>
                <a:latin typeface="Arial" charset="0"/>
                <a:sym typeface="Wingdings"/>
              </a:rPr>
              <a:t>(</a:t>
            </a:r>
            <a:r>
              <a:rPr lang="en-GB" b="1" dirty="0">
                <a:solidFill>
                  <a:schemeClr val="tx1"/>
                </a:solidFill>
                <a:latin typeface="Courier"/>
                <a:cs typeface="Courier"/>
                <a:sym typeface="Wingdings"/>
              </a:rPr>
              <a:t>*</a:t>
            </a:r>
            <a:r>
              <a:rPr lang="en-GB" dirty="0">
                <a:solidFill>
                  <a:schemeClr val="tx1"/>
                </a:solidFill>
                <a:latin typeface="Arial" charset="0"/>
                <a:sym typeface="Wingdings"/>
              </a:rPr>
              <a:t>)</a:t>
            </a:r>
            <a:r>
              <a:rPr lang="en-GB" dirty="0">
                <a:solidFill>
                  <a:schemeClr val="tx1"/>
                </a:solidFill>
                <a:latin typeface="Arial" charset="0"/>
              </a:rPr>
              <a:t> </a:t>
            </a:r>
            <a:r>
              <a:rPr lang="en-GB" dirty="0">
                <a:solidFill>
                  <a:schemeClr val="tx1"/>
                </a:solidFill>
                <a:latin typeface="Arial" charset="0"/>
                <a:sym typeface="Wingdings"/>
              </a:rPr>
              <a:t> N</a:t>
            </a:r>
            <a:r>
              <a:rPr lang="en-GB" baseline="30000" dirty="0">
                <a:solidFill>
                  <a:schemeClr val="tx1"/>
                </a:solidFill>
                <a:latin typeface="Arial" charset="0"/>
                <a:sym typeface="Wingdings"/>
              </a:rPr>
              <a:t>th</a:t>
            </a:r>
            <a:r>
              <a:rPr lang="en-GB" dirty="0">
                <a:solidFill>
                  <a:schemeClr val="tx1"/>
                </a:solidFill>
                <a:latin typeface="Arial" charset="0"/>
                <a:sym typeface="Wingdings"/>
              </a:rPr>
              <a:t> set of commands</a:t>
            </a:r>
            <a:endParaRPr lang="en-GB" dirty="0">
              <a:solidFill>
                <a:schemeClr val="tx1"/>
              </a:solidFill>
              <a:latin typeface="Arial" charset="0"/>
            </a:endParaRPr>
          </a:p>
        </p:txBody>
      </p:sp>
    </p:spTree>
    <p:extLst>
      <p:ext uri="{BB962C8B-B14F-4D97-AF65-F5344CB8AC3E}">
        <p14:creationId xmlns:p14="http://schemas.microsoft.com/office/powerpoint/2010/main" val="2030234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63</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Conditions: </a:t>
            </a:r>
            <a:r>
              <a:rPr lang="en-US" sz="2800" dirty="0">
                <a:latin typeface="Courier"/>
                <a:cs typeface="Courier"/>
              </a:rPr>
              <a:t>cas</a:t>
            </a:r>
            <a:r>
              <a:rPr lang="en-US" sz="2800" dirty="0">
                <a:solidFill>
                  <a:srgbClr val="800000"/>
                </a:solidFill>
                <a:latin typeface="Courier"/>
                <a:cs typeface="Courier"/>
              </a:rPr>
              <a:t>e</a:t>
            </a:r>
            <a:r>
              <a:rPr lang="en-US" sz="2800" dirty="0">
                <a:solidFill>
                  <a:srgbClr val="800000"/>
                </a:solidFill>
                <a:latin typeface="+mn-lt"/>
                <a:cs typeface="Courier"/>
              </a:rPr>
              <a:t>: Example</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3" name="Rectangle 2"/>
          <p:cNvSpPr/>
          <p:nvPr/>
        </p:nvSpPr>
        <p:spPr>
          <a:xfrm>
            <a:off x="215516" y="900467"/>
            <a:ext cx="8604956" cy="5336845"/>
          </a:xfrm>
          <a:prstGeom prst="rect">
            <a:avLst/>
          </a:prstGeom>
          <a:solidFill>
            <a:srgbClr val="000000"/>
          </a:solidFill>
        </p:spPr>
        <p:txBody>
          <a:bodyPr wrap="square">
            <a:spAutoFit/>
          </a:bodyPr>
          <a:lstStyle/>
          <a:p>
            <a:pPr algn="l"/>
            <a:r>
              <a:rPr lang="en-US" sz="2400" dirty="0">
                <a:solidFill>
                  <a:srgbClr val="FFFFFF"/>
                </a:solidFill>
                <a:latin typeface="Courier"/>
                <a:cs typeface="Courier"/>
              </a:rPr>
              <a:t>#!/bin/bash</a:t>
            </a:r>
          </a:p>
          <a:p>
            <a:pPr algn="l"/>
            <a:r>
              <a:rPr lang="en-US" sz="2400" dirty="0">
                <a:solidFill>
                  <a:srgbClr val="FFFFFF"/>
                </a:solidFill>
                <a:latin typeface="Courier"/>
                <a:cs typeface="Courier"/>
              </a:rPr>
              <a:t>read -p "Enter a command: " command</a:t>
            </a:r>
          </a:p>
          <a:p>
            <a:pPr algn="l"/>
            <a:r>
              <a:rPr lang="en-US" sz="2400" dirty="0">
                <a:solidFill>
                  <a:srgbClr val="FFFFFF"/>
                </a:solidFill>
                <a:latin typeface="Courier"/>
                <a:cs typeface="Courier"/>
              </a:rPr>
              <a:t>case $command in</a:t>
            </a:r>
          </a:p>
          <a:p>
            <a:pPr algn="l"/>
            <a:r>
              <a:rPr lang="sv-SE" sz="2400" dirty="0">
                <a:solidFill>
                  <a:srgbClr val="FFFFFF"/>
                </a:solidFill>
                <a:latin typeface="Courier"/>
                <a:cs typeface="Courier"/>
              </a:rPr>
              <a:t>all | ALL )</a:t>
            </a:r>
          </a:p>
          <a:p>
            <a:pPr algn="l"/>
            <a:r>
              <a:rPr lang="sv-SE" sz="2400" dirty="0">
                <a:solidFill>
                  <a:srgbClr val="FFFFFF"/>
                </a:solidFill>
                <a:latin typeface="Courier"/>
                <a:cs typeface="Courier"/>
              </a:rPr>
              <a:t>        </a:t>
            </a:r>
            <a:r>
              <a:rPr lang="sv-SE" sz="2400" dirty="0" err="1">
                <a:solidFill>
                  <a:srgbClr val="FFFFFF"/>
                </a:solidFill>
                <a:latin typeface="Courier"/>
                <a:cs typeface="Courier"/>
              </a:rPr>
              <a:t>echo</a:t>
            </a:r>
            <a:r>
              <a:rPr lang="sv-SE" sz="2400" dirty="0">
                <a:solidFill>
                  <a:srgbClr val="FFFFFF"/>
                </a:solidFill>
                <a:latin typeface="Courier"/>
                <a:cs typeface="Courier"/>
              </a:rPr>
              <a:t> "Display all </a:t>
            </a:r>
            <a:r>
              <a:rPr lang="sv-SE" sz="2400" dirty="0" err="1">
                <a:solidFill>
                  <a:srgbClr val="FFFFFF"/>
                </a:solidFill>
                <a:latin typeface="Courier"/>
                <a:cs typeface="Courier"/>
              </a:rPr>
              <a:t>files</a:t>
            </a:r>
            <a:r>
              <a:rPr lang="sv-SE" sz="2400" dirty="0">
                <a:solidFill>
                  <a:srgbClr val="FFFFFF"/>
                </a:solidFill>
                <a:latin typeface="Courier"/>
                <a:cs typeface="Courier"/>
              </a:rPr>
              <a:t>..."</a:t>
            </a:r>
          </a:p>
          <a:p>
            <a:pPr algn="l"/>
            <a:r>
              <a:rPr lang="sv-SE" sz="2400" dirty="0">
                <a:solidFill>
                  <a:srgbClr val="FFFFFF"/>
                </a:solidFill>
                <a:latin typeface="Courier"/>
                <a:cs typeface="Courier"/>
              </a:rPr>
              <a:t>        </a:t>
            </a:r>
            <a:r>
              <a:rPr lang="sv-SE" sz="2400" dirty="0" err="1">
                <a:solidFill>
                  <a:srgbClr val="FFFFFF"/>
                </a:solidFill>
                <a:latin typeface="Courier"/>
                <a:cs typeface="Courier"/>
              </a:rPr>
              <a:t>ls</a:t>
            </a:r>
            <a:r>
              <a:rPr lang="sv-SE" sz="2400" dirty="0">
                <a:solidFill>
                  <a:srgbClr val="FFFFFF"/>
                </a:solidFill>
                <a:latin typeface="Courier"/>
                <a:cs typeface="Courier"/>
              </a:rPr>
              <a:t> -la ;;</a:t>
            </a:r>
          </a:p>
          <a:p>
            <a:pPr algn="l"/>
            <a:r>
              <a:rPr lang="sv-SE" sz="2400" dirty="0">
                <a:solidFill>
                  <a:srgbClr val="FFFFFF"/>
                </a:solidFill>
                <a:latin typeface="Courier"/>
                <a:cs typeface="Courier"/>
              </a:rPr>
              <a:t>list | LIST)</a:t>
            </a:r>
          </a:p>
          <a:p>
            <a:pPr algn="l"/>
            <a:r>
              <a:rPr lang="sv-SE" sz="2400" dirty="0">
                <a:solidFill>
                  <a:srgbClr val="FFFFFF"/>
                </a:solidFill>
                <a:latin typeface="Courier"/>
                <a:cs typeface="Courier"/>
              </a:rPr>
              <a:t>        </a:t>
            </a:r>
            <a:r>
              <a:rPr lang="sv-SE" sz="2400" dirty="0" err="1">
                <a:solidFill>
                  <a:srgbClr val="FFFFFF"/>
                </a:solidFill>
                <a:latin typeface="Courier"/>
                <a:cs typeface="Courier"/>
              </a:rPr>
              <a:t>echo</a:t>
            </a:r>
            <a:r>
              <a:rPr lang="sv-SE" sz="2400" dirty="0">
                <a:solidFill>
                  <a:srgbClr val="FFFFFF"/>
                </a:solidFill>
                <a:latin typeface="Courier"/>
                <a:cs typeface="Courier"/>
              </a:rPr>
              <a:t> "Display all non-</a:t>
            </a:r>
            <a:r>
              <a:rPr lang="sv-SE" sz="2400" dirty="0" err="1">
                <a:solidFill>
                  <a:srgbClr val="FFFFFF"/>
                </a:solidFill>
                <a:latin typeface="Courier"/>
                <a:cs typeface="Courier"/>
              </a:rPr>
              <a:t>hidden</a:t>
            </a:r>
            <a:r>
              <a:rPr lang="sv-SE" sz="2400" dirty="0">
                <a:solidFill>
                  <a:srgbClr val="FFFFFF"/>
                </a:solidFill>
                <a:latin typeface="Courier"/>
                <a:cs typeface="Courier"/>
              </a:rPr>
              <a:t> </a:t>
            </a:r>
            <a:r>
              <a:rPr lang="sv-SE" sz="2400" dirty="0" err="1">
                <a:solidFill>
                  <a:srgbClr val="FFFFFF"/>
                </a:solidFill>
                <a:latin typeface="Courier"/>
                <a:cs typeface="Courier"/>
              </a:rPr>
              <a:t>files</a:t>
            </a:r>
            <a:r>
              <a:rPr lang="sv-SE" sz="2400" dirty="0">
                <a:solidFill>
                  <a:srgbClr val="FFFFFF"/>
                </a:solidFill>
                <a:latin typeface="Courier"/>
                <a:cs typeface="Courier"/>
              </a:rPr>
              <a:t>..."</a:t>
            </a:r>
          </a:p>
          <a:p>
            <a:pPr algn="l"/>
            <a:r>
              <a:rPr lang="sv-SE" sz="2400" dirty="0">
                <a:solidFill>
                  <a:srgbClr val="FFFFFF"/>
                </a:solidFill>
                <a:latin typeface="Courier"/>
                <a:cs typeface="Courier"/>
              </a:rPr>
              <a:t>        </a:t>
            </a:r>
            <a:r>
              <a:rPr lang="sv-SE" sz="2400" dirty="0" err="1">
                <a:solidFill>
                  <a:srgbClr val="FFFFFF"/>
                </a:solidFill>
                <a:latin typeface="Courier"/>
                <a:cs typeface="Courier"/>
              </a:rPr>
              <a:t>ls</a:t>
            </a:r>
            <a:r>
              <a:rPr lang="sv-SE" sz="2400" dirty="0">
                <a:solidFill>
                  <a:srgbClr val="FFFFFF"/>
                </a:solidFill>
                <a:latin typeface="Courier"/>
                <a:cs typeface="Courier"/>
              </a:rPr>
              <a:t> -</a:t>
            </a:r>
            <a:r>
              <a:rPr lang="sv-SE" sz="2400" dirty="0" err="1">
                <a:solidFill>
                  <a:srgbClr val="FFFFFF"/>
                </a:solidFill>
                <a:latin typeface="Courier"/>
                <a:cs typeface="Courier"/>
              </a:rPr>
              <a:t>ll</a:t>
            </a:r>
            <a:r>
              <a:rPr lang="sv-SE" sz="2400" dirty="0">
                <a:solidFill>
                  <a:srgbClr val="FFFFFF"/>
                </a:solidFill>
                <a:latin typeface="Courier"/>
                <a:cs typeface="Courier"/>
              </a:rPr>
              <a:t> ;;</a:t>
            </a:r>
          </a:p>
          <a:p>
            <a:pPr algn="l"/>
            <a:r>
              <a:rPr lang="sv-SE" sz="2400" dirty="0">
                <a:solidFill>
                  <a:srgbClr val="FFFFFF"/>
                </a:solidFill>
                <a:latin typeface="Courier"/>
                <a:cs typeface="Courier"/>
              </a:rPr>
              <a:t>*)</a:t>
            </a:r>
          </a:p>
          <a:p>
            <a:pPr algn="l"/>
            <a:r>
              <a:rPr lang="sv-SE" sz="2400" dirty="0">
                <a:solidFill>
                  <a:srgbClr val="FFFFFF"/>
                </a:solidFill>
                <a:latin typeface="Courier"/>
                <a:cs typeface="Courier"/>
              </a:rPr>
              <a:t>        </a:t>
            </a:r>
            <a:r>
              <a:rPr lang="sv-SE" sz="2400" dirty="0" err="1">
                <a:solidFill>
                  <a:srgbClr val="FFFFFF"/>
                </a:solidFill>
                <a:latin typeface="Courier"/>
                <a:cs typeface="Courier"/>
              </a:rPr>
              <a:t>echo</a:t>
            </a:r>
            <a:r>
              <a:rPr lang="sv-SE" sz="2400" dirty="0">
                <a:solidFill>
                  <a:srgbClr val="FFFFFF"/>
                </a:solidFill>
                <a:latin typeface="Courier"/>
                <a:cs typeface="Courier"/>
              </a:rPr>
              <a:t> "Invalid choice"</a:t>
            </a:r>
          </a:p>
          <a:p>
            <a:pPr algn="l"/>
            <a:r>
              <a:rPr lang="sv-SE" sz="2400" dirty="0" err="1">
                <a:solidFill>
                  <a:srgbClr val="FFFFFF"/>
                </a:solidFill>
                <a:latin typeface="Courier"/>
                <a:cs typeface="Courier"/>
              </a:rPr>
              <a:t>esac</a:t>
            </a:r>
            <a:endParaRPr lang="en-US" sz="2400" dirty="0">
              <a:solidFill>
                <a:srgbClr val="FFFFFF"/>
              </a:solidFill>
              <a:latin typeface="Courier"/>
              <a:cs typeface="Courier"/>
            </a:endParaRPr>
          </a:p>
        </p:txBody>
      </p:sp>
    </p:spTree>
    <p:extLst>
      <p:ext uri="{BB962C8B-B14F-4D97-AF65-F5344CB8AC3E}">
        <p14:creationId xmlns:p14="http://schemas.microsoft.com/office/powerpoint/2010/main" val="18944342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Iterations: </a:t>
            </a:r>
            <a:r>
              <a:rPr lang="en-US" sz="2800" dirty="0">
                <a:latin typeface="Courier"/>
                <a:cs typeface="Courier"/>
              </a:rPr>
              <a:t>for</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143508" y="728700"/>
            <a:ext cx="9407388"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Syntax:</a:t>
            </a:r>
          </a:p>
          <a:p>
            <a:pPr marL="542925" lvl="1" indent="0">
              <a:buNone/>
            </a:pPr>
            <a:r>
              <a:rPr lang="en-GB" b="1" dirty="0">
                <a:latin typeface="Courier"/>
                <a:ea typeface="Courier New"/>
                <a:cs typeface="Courier"/>
              </a:rPr>
              <a:t>for variable in </a:t>
            </a:r>
            <a:r>
              <a:rPr lang="en-GB" b="1" dirty="0" err="1">
                <a:latin typeface="Courier"/>
                <a:ea typeface="Courier New"/>
                <a:cs typeface="Courier"/>
              </a:rPr>
              <a:t>list_of_values</a:t>
            </a:r>
            <a:endParaRPr lang="en-GB" b="1" dirty="0">
              <a:latin typeface="Courier"/>
              <a:ea typeface="Courier New"/>
              <a:cs typeface="Courier"/>
            </a:endParaRPr>
          </a:p>
          <a:p>
            <a:pPr marL="542925" lvl="1" indent="0">
              <a:buNone/>
            </a:pPr>
            <a:r>
              <a:rPr lang="en-GB" b="1" dirty="0">
                <a:latin typeface="Courier"/>
                <a:ea typeface="Courier New"/>
                <a:cs typeface="Courier"/>
              </a:rPr>
              <a:t>do</a:t>
            </a:r>
            <a:endParaRPr lang="en-GB" dirty="0">
              <a:latin typeface="Courier"/>
              <a:cs typeface="Courier"/>
            </a:endParaRPr>
          </a:p>
          <a:p>
            <a:pPr marL="542925" lvl="1" indent="0">
              <a:buNone/>
            </a:pPr>
            <a:r>
              <a:rPr lang="en-GB" b="1" dirty="0">
                <a:latin typeface="Courier"/>
                <a:ea typeface="Courier New"/>
                <a:cs typeface="Courier"/>
              </a:rPr>
              <a:t>	set of commands</a:t>
            </a:r>
            <a:br>
              <a:rPr lang="en-GB" b="1" dirty="0">
                <a:latin typeface="Courier"/>
                <a:ea typeface="Courier New"/>
                <a:cs typeface="Courier"/>
              </a:rPr>
            </a:br>
            <a:r>
              <a:rPr lang="en-GB" b="1" dirty="0">
                <a:latin typeface="Courier"/>
                <a:ea typeface="Courier New"/>
                <a:cs typeface="Courier"/>
              </a:rPr>
              <a:t>done</a:t>
            </a:r>
            <a:endParaRPr lang="en-GB" dirty="0">
              <a:solidFill>
                <a:schemeClr val="tx1"/>
              </a:solidFill>
              <a:latin typeface="Arial" charset="0"/>
            </a:endParaRPr>
          </a:p>
          <a:p>
            <a:endParaRPr lang="en-GB" sz="1000" dirty="0">
              <a:solidFill>
                <a:schemeClr val="tx1"/>
              </a:solidFill>
              <a:latin typeface="Arial" charset="0"/>
            </a:endParaRPr>
          </a:p>
          <a:p>
            <a:r>
              <a:rPr lang="en-GB" dirty="0">
                <a:solidFill>
                  <a:schemeClr val="tx1"/>
                </a:solidFill>
                <a:latin typeface="Arial" charset="0"/>
              </a:rPr>
              <a:t>Function</a:t>
            </a:r>
          </a:p>
          <a:p>
            <a:pPr lvl="1"/>
            <a:r>
              <a:rPr lang="en-GB" dirty="0">
                <a:solidFill>
                  <a:schemeClr val="tx1"/>
                </a:solidFill>
                <a:latin typeface="Arial" charset="0"/>
              </a:rPr>
              <a:t>In each iteration </a:t>
            </a:r>
            <a:r>
              <a:rPr lang="en-GB" b="1" dirty="0">
                <a:solidFill>
                  <a:schemeClr val="tx1"/>
                </a:solidFill>
                <a:latin typeface="Courier"/>
                <a:cs typeface="Courier"/>
              </a:rPr>
              <a:t>variable </a:t>
            </a:r>
            <a:r>
              <a:rPr lang="en-GB" dirty="0">
                <a:solidFill>
                  <a:schemeClr val="tx1"/>
                </a:solidFill>
                <a:cs typeface="Courier"/>
              </a:rPr>
              <a:t>takes a value from the </a:t>
            </a:r>
            <a:r>
              <a:rPr lang="en-GB" b="1" dirty="0" err="1">
                <a:solidFill>
                  <a:schemeClr val="tx1"/>
                </a:solidFill>
                <a:latin typeface="Courier"/>
                <a:cs typeface="Courier"/>
              </a:rPr>
              <a:t>list_of_values</a:t>
            </a:r>
            <a:endParaRPr lang="en-GB" b="1" dirty="0">
              <a:solidFill>
                <a:schemeClr val="tx1"/>
              </a:solidFill>
              <a:latin typeface="Courier"/>
              <a:cs typeface="Courier"/>
            </a:endParaRPr>
          </a:p>
          <a:p>
            <a:pPr lvl="2"/>
            <a:r>
              <a:rPr lang="en-GB" sz="2000" dirty="0">
                <a:solidFill>
                  <a:schemeClr val="tx1"/>
                </a:solidFill>
                <a:cs typeface="Courier"/>
              </a:rPr>
              <a:t>The </a:t>
            </a:r>
            <a:r>
              <a:rPr lang="en-GB" sz="2000" b="1" dirty="0">
                <a:solidFill>
                  <a:schemeClr val="tx1"/>
                </a:solidFill>
                <a:latin typeface="Courier"/>
                <a:cs typeface="Courier"/>
              </a:rPr>
              <a:t>set of commands </a:t>
            </a:r>
            <a:r>
              <a:rPr lang="en-GB" sz="2000" dirty="0">
                <a:solidFill>
                  <a:schemeClr val="tx1"/>
                </a:solidFill>
                <a:cs typeface="Courier"/>
              </a:rPr>
              <a:t>is execute for this value</a:t>
            </a:r>
          </a:p>
          <a:p>
            <a:pPr lvl="1"/>
            <a:r>
              <a:rPr lang="en-GB" b="1" dirty="0" err="1">
                <a:solidFill>
                  <a:schemeClr val="tx1"/>
                </a:solidFill>
                <a:latin typeface="Courier"/>
                <a:cs typeface="Courier"/>
              </a:rPr>
              <a:t>list_of_values</a:t>
            </a:r>
            <a:r>
              <a:rPr lang="en-GB" dirty="0">
                <a:solidFill>
                  <a:schemeClr val="tx1"/>
                </a:solidFill>
                <a:cs typeface="Courier"/>
              </a:rPr>
              <a:t> can be:</a:t>
            </a:r>
          </a:p>
          <a:p>
            <a:pPr lvl="2"/>
            <a:r>
              <a:rPr lang="en-GB" sz="2000" dirty="0"/>
              <a:t>Strings:			</a:t>
            </a:r>
            <a:r>
              <a:rPr lang="en-GB" sz="2000" b="1" dirty="0">
                <a:latin typeface="Courier"/>
                <a:cs typeface="Courier"/>
              </a:rPr>
              <a:t>L3info L3miage M1info</a:t>
            </a:r>
          </a:p>
          <a:p>
            <a:pPr lvl="2"/>
            <a:r>
              <a:rPr lang="en-GB" sz="2000" dirty="0"/>
              <a:t>Numbers: 			counting: </a:t>
            </a:r>
            <a:r>
              <a:rPr lang="en-GB" sz="2000" b="1" dirty="0">
                <a:latin typeface="Courier"/>
                <a:cs typeface="Courier"/>
              </a:rPr>
              <a:t>{1..10..2}</a:t>
            </a:r>
          </a:p>
          <a:p>
            <a:pPr lvl="2" indent="0">
              <a:buNone/>
            </a:pPr>
            <a:r>
              <a:rPr lang="en-GB" sz="2000" dirty="0"/>
              <a:t>				enumerating: </a:t>
            </a:r>
            <a:r>
              <a:rPr lang="en-GB" sz="2000" b="1" dirty="0">
                <a:latin typeface="Courier"/>
                <a:cs typeface="Courier"/>
              </a:rPr>
              <a:t>1 3 5 </a:t>
            </a:r>
          </a:p>
          <a:p>
            <a:pPr lvl="2"/>
            <a:r>
              <a:rPr lang="en-GB" sz="2000" dirty="0"/>
              <a:t>Command line arguments: 	</a:t>
            </a:r>
            <a:r>
              <a:rPr lang="en-GB" sz="2000" b="1" dirty="0">
                <a:latin typeface="Courier"/>
                <a:cs typeface="Courier"/>
              </a:rPr>
              <a:t>$*</a:t>
            </a:r>
          </a:p>
          <a:p>
            <a:pPr lvl="2"/>
            <a:r>
              <a:rPr lang="en-GB" sz="2000" dirty="0"/>
              <a:t>File names: 			</a:t>
            </a:r>
            <a:r>
              <a:rPr lang="en-GB" sz="2000" b="1" dirty="0">
                <a:latin typeface="Courier"/>
                <a:cs typeface="Courier"/>
              </a:rPr>
              <a:t>filename1 filename2</a:t>
            </a:r>
          </a:p>
          <a:p>
            <a:pPr lvl="2"/>
            <a:r>
              <a:rPr lang="en-GB" sz="2000" dirty="0"/>
              <a:t>command output: 		</a:t>
            </a:r>
            <a:r>
              <a:rPr lang="en-GB" sz="2000" b="1" dirty="0">
                <a:latin typeface="Courier"/>
                <a:cs typeface="Courier"/>
              </a:rPr>
              <a:t>$(</a:t>
            </a:r>
            <a:r>
              <a:rPr lang="en-GB" sz="2000" b="1" dirty="0" err="1">
                <a:latin typeface="Courier"/>
                <a:cs typeface="Courier"/>
              </a:rPr>
              <a:t>ls</a:t>
            </a:r>
            <a:r>
              <a:rPr lang="en-GB" sz="2000" b="1" dirty="0">
                <a:latin typeface="Courier"/>
                <a:cs typeface="Courier"/>
              </a:rPr>
              <a:t> /</a:t>
            </a:r>
            <a:r>
              <a:rPr lang="en-GB" sz="2000" b="1" dirty="0" err="1">
                <a:latin typeface="Courier"/>
                <a:cs typeface="Courier"/>
              </a:rPr>
              <a:t>tmp</a:t>
            </a:r>
            <a:r>
              <a:rPr lang="en-GB" sz="2000" b="1" dirty="0">
                <a:latin typeface="Courier"/>
                <a:cs typeface="Courier"/>
              </a:rPr>
              <a:t>/*)</a:t>
            </a:r>
          </a:p>
          <a:p>
            <a:pPr marL="542925" lvl="1" indent="0">
              <a:buNone/>
            </a:pPr>
            <a:endParaRPr lang="en-GB" dirty="0">
              <a:solidFill>
                <a:schemeClr val="tx1"/>
              </a:solidFill>
              <a:latin typeface="Arial" charset="0"/>
              <a:sym typeface="Wingdings"/>
            </a:endParaRPr>
          </a:p>
        </p:txBody>
      </p:sp>
    </p:spTree>
    <p:extLst>
      <p:ext uri="{BB962C8B-B14F-4D97-AF65-F5344CB8AC3E}">
        <p14:creationId xmlns:p14="http://schemas.microsoft.com/office/powerpoint/2010/main" val="71398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65</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Iterations: </a:t>
            </a:r>
            <a:r>
              <a:rPr lang="en-US" sz="2800" dirty="0">
                <a:latin typeface="Courier"/>
                <a:cs typeface="Courier"/>
              </a:rPr>
              <a:t>for</a:t>
            </a:r>
            <a:r>
              <a:rPr lang="en-US" sz="2800" dirty="0">
                <a:latin typeface="+mn-lt"/>
                <a:cs typeface="Courier"/>
              </a:rPr>
              <a:t>: Examples </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3" name="TextBox 2"/>
          <p:cNvSpPr txBox="1"/>
          <p:nvPr/>
        </p:nvSpPr>
        <p:spPr>
          <a:xfrm>
            <a:off x="1403648" y="800708"/>
            <a:ext cx="6228692" cy="2234458"/>
          </a:xfrm>
          <a:prstGeom prst="rect">
            <a:avLst/>
          </a:prstGeom>
          <a:solidFill>
            <a:schemeClr val="tx1"/>
          </a:solidFill>
        </p:spPr>
        <p:txBody>
          <a:bodyPr wrap="square" rtlCol="0">
            <a:spAutoFit/>
          </a:bodyPr>
          <a:lstStyle/>
          <a:p>
            <a:pPr algn="l"/>
            <a:r>
              <a:rPr lang="en-US" sz="2400" dirty="0">
                <a:solidFill>
                  <a:srgbClr val="FFFFFF"/>
                </a:solidFill>
                <a:latin typeface="Courier"/>
                <a:cs typeface="Courier"/>
              </a:rPr>
              <a:t>#!/bin/bash</a:t>
            </a:r>
          </a:p>
          <a:p>
            <a:pPr marL="0" lvl="1" algn="l">
              <a:lnSpc>
                <a:spcPct val="100000"/>
              </a:lnSpc>
              <a:buSzPct val="25000"/>
            </a:pPr>
            <a:r>
              <a:rPr lang="fr-FR" sz="2400" dirty="0">
                <a:solidFill>
                  <a:schemeClr val="bg1"/>
                </a:solidFill>
                <a:latin typeface="Courier"/>
                <a:ea typeface="Courier New"/>
                <a:cs typeface="Courier"/>
              </a:rPr>
              <a:t>for file</a:t>
            </a:r>
            <a:r>
              <a:rPr lang="fr-FR" sz="2400" dirty="0">
                <a:solidFill>
                  <a:schemeClr val="bg1"/>
                </a:solidFill>
                <a:latin typeface="Courier"/>
                <a:cs typeface="Courier"/>
              </a:rPr>
              <a:t> </a:t>
            </a:r>
            <a:r>
              <a:rPr lang="fr-FR" sz="2400" dirty="0">
                <a:solidFill>
                  <a:schemeClr val="bg1"/>
                </a:solidFill>
                <a:latin typeface="Courier"/>
                <a:ea typeface="Courier New"/>
                <a:cs typeface="Courier"/>
              </a:rPr>
              <a:t>in f1 f2 f3</a:t>
            </a:r>
            <a:endParaRPr lang="fr-FR" sz="2400" dirty="0">
              <a:solidFill>
                <a:schemeClr val="bg1"/>
              </a:solidFill>
              <a:latin typeface="Courier"/>
              <a:cs typeface="Courier"/>
            </a:endParaRPr>
          </a:p>
          <a:p>
            <a:pPr marL="0" lvl="1" algn="l">
              <a:lnSpc>
                <a:spcPct val="100000"/>
              </a:lnSpc>
              <a:buSzPct val="25000"/>
              <a:buFont typeface="StarSymbol"/>
              <a:buChar char=""/>
            </a:pPr>
            <a:r>
              <a:rPr lang="fr-FR" sz="2400" dirty="0">
                <a:solidFill>
                  <a:schemeClr val="bg1"/>
                </a:solidFill>
                <a:latin typeface="Courier"/>
                <a:ea typeface="Courier New"/>
                <a:cs typeface="Courier"/>
              </a:rPr>
              <a:t>do</a:t>
            </a:r>
            <a:endParaRPr lang="fr-FR" sz="2400" dirty="0">
              <a:solidFill>
                <a:schemeClr val="bg1"/>
              </a:solidFill>
              <a:latin typeface="Courier"/>
              <a:cs typeface="Courier"/>
            </a:endParaRPr>
          </a:p>
          <a:p>
            <a:pPr marL="547688" lvl="2" algn="l">
              <a:buSzPct val="25000"/>
              <a:buFont typeface="StarSymbol"/>
              <a:buChar char=""/>
            </a:pPr>
            <a:r>
              <a:rPr lang="fr-FR" sz="2400" dirty="0" err="1">
                <a:solidFill>
                  <a:schemeClr val="bg1"/>
                </a:solidFill>
                <a:latin typeface="Courier"/>
                <a:ea typeface="Courier New"/>
                <a:cs typeface="Courier"/>
              </a:rPr>
              <a:t>cp</a:t>
            </a:r>
            <a:r>
              <a:rPr lang="fr-FR" sz="2400" dirty="0">
                <a:solidFill>
                  <a:schemeClr val="bg1"/>
                </a:solidFill>
                <a:latin typeface="Courier"/>
                <a:ea typeface="Courier New"/>
                <a:cs typeface="Courier"/>
              </a:rPr>
              <a:t> $file $1/$file</a:t>
            </a:r>
            <a:endParaRPr lang="fr-FR" sz="2400" dirty="0">
              <a:solidFill>
                <a:schemeClr val="bg1"/>
              </a:solidFill>
              <a:latin typeface="Courier"/>
              <a:cs typeface="Courier"/>
            </a:endParaRPr>
          </a:p>
          <a:p>
            <a:pPr marL="7938" lvl="1" algn="l">
              <a:lnSpc>
                <a:spcPct val="100000"/>
              </a:lnSpc>
              <a:buSzPct val="25000"/>
              <a:buFont typeface="StarSymbol"/>
              <a:buChar char=""/>
            </a:pPr>
            <a:r>
              <a:rPr lang="fr-FR" sz="2400" dirty="0" err="1">
                <a:solidFill>
                  <a:schemeClr val="bg1"/>
                </a:solidFill>
                <a:latin typeface="Courier"/>
                <a:ea typeface="Courier New"/>
                <a:cs typeface="Courier"/>
              </a:rPr>
              <a:t>done</a:t>
            </a:r>
            <a:endParaRPr lang="fr-FR" sz="2400" dirty="0">
              <a:solidFill>
                <a:schemeClr val="bg1"/>
              </a:solidFill>
              <a:latin typeface="Courier"/>
              <a:cs typeface="Courier"/>
            </a:endParaRPr>
          </a:p>
        </p:txBody>
      </p:sp>
      <p:sp>
        <p:nvSpPr>
          <p:cNvPr id="7" name="TextBox 6"/>
          <p:cNvSpPr txBox="1"/>
          <p:nvPr/>
        </p:nvSpPr>
        <p:spPr>
          <a:xfrm>
            <a:off x="1439652" y="3573016"/>
            <a:ext cx="6228692" cy="2234458"/>
          </a:xfrm>
          <a:prstGeom prst="rect">
            <a:avLst/>
          </a:prstGeom>
          <a:solidFill>
            <a:schemeClr val="tx1"/>
          </a:solidFill>
        </p:spPr>
        <p:txBody>
          <a:bodyPr wrap="square" rtlCol="0">
            <a:spAutoFit/>
          </a:bodyPr>
          <a:lstStyle/>
          <a:p>
            <a:pPr algn="l"/>
            <a:r>
              <a:rPr lang="en-US" sz="2400" dirty="0">
                <a:solidFill>
                  <a:srgbClr val="FFFFFF"/>
                </a:solidFill>
                <a:latin typeface="Courier"/>
                <a:cs typeface="Courier"/>
              </a:rPr>
              <a:t>#!/bin/bash</a:t>
            </a:r>
          </a:p>
          <a:p>
            <a:pPr marL="0" lvl="1" algn="l">
              <a:lnSpc>
                <a:spcPct val="100000"/>
              </a:lnSpc>
              <a:buSzPct val="25000"/>
            </a:pPr>
            <a:r>
              <a:rPr lang="fr-FR" sz="2400" dirty="0">
                <a:solidFill>
                  <a:schemeClr val="bg1"/>
                </a:solidFill>
                <a:latin typeface="Courier"/>
                <a:ea typeface="Courier New"/>
                <a:cs typeface="Courier"/>
              </a:rPr>
              <a:t>for i in 6 3 1 2</a:t>
            </a:r>
            <a:endParaRPr lang="fr-FR" sz="2400" dirty="0">
              <a:solidFill>
                <a:schemeClr val="bg1"/>
              </a:solidFill>
              <a:latin typeface="Courier"/>
              <a:cs typeface="Courier"/>
            </a:endParaRPr>
          </a:p>
          <a:p>
            <a:pPr marL="0" lvl="1" algn="l">
              <a:lnSpc>
                <a:spcPct val="100000"/>
              </a:lnSpc>
              <a:buSzPct val="25000"/>
              <a:buFont typeface="StarSymbol"/>
              <a:buChar char=""/>
            </a:pPr>
            <a:r>
              <a:rPr lang="fr-FR" sz="2400" dirty="0">
                <a:solidFill>
                  <a:schemeClr val="bg1"/>
                </a:solidFill>
                <a:latin typeface="Courier"/>
                <a:ea typeface="Courier New"/>
                <a:cs typeface="Courier"/>
              </a:rPr>
              <a:t>do</a:t>
            </a:r>
            <a:endParaRPr lang="fr-FR" sz="2400" dirty="0">
              <a:solidFill>
                <a:schemeClr val="bg1"/>
              </a:solidFill>
              <a:latin typeface="Courier"/>
              <a:cs typeface="Courier"/>
            </a:endParaRPr>
          </a:p>
          <a:p>
            <a:pPr marL="547688" lvl="2" algn="l">
              <a:buSzPct val="25000"/>
              <a:buFont typeface="StarSymbol"/>
              <a:buChar char=""/>
            </a:pPr>
            <a:r>
              <a:rPr lang="fr-FR" sz="2400" dirty="0">
                <a:solidFill>
                  <a:schemeClr val="bg1"/>
                </a:solidFill>
                <a:latin typeface="Courier"/>
                <a:ea typeface="Courier New"/>
                <a:cs typeface="Courier"/>
              </a:rPr>
              <a:t> </a:t>
            </a:r>
            <a:r>
              <a:rPr lang="fr-FR" sz="2400" dirty="0" err="1">
                <a:solidFill>
                  <a:schemeClr val="bg1"/>
                </a:solidFill>
                <a:latin typeface="Courier"/>
                <a:ea typeface="Courier New"/>
                <a:cs typeface="Courier"/>
              </a:rPr>
              <a:t>echo</a:t>
            </a:r>
            <a:r>
              <a:rPr lang="fr-FR" sz="2400" dirty="0">
                <a:solidFill>
                  <a:schemeClr val="bg1"/>
                </a:solidFill>
                <a:latin typeface="Courier"/>
                <a:ea typeface="Courier New"/>
                <a:cs typeface="Courier"/>
              </a:rPr>
              <a:t> $i</a:t>
            </a:r>
            <a:endParaRPr lang="fr-FR" sz="2400" dirty="0">
              <a:solidFill>
                <a:schemeClr val="bg1"/>
              </a:solidFill>
              <a:latin typeface="Courier"/>
              <a:cs typeface="Courier"/>
            </a:endParaRPr>
          </a:p>
          <a:p>
            <a:pPr marL="7938" lvl="1" algn="l">
              <a:lnSpc>
                <a:spcPct val="100000"/>
              </a:lnSpc>
              <a:buSzPct val="25000"/>
              <a:buFont typeface="StarSymbol"/>
              <a:buChar char=""/>
            </a:pPr>
            <a:r>
              <a:rPr lang="fr-FR" sz="2400" dirty="0" err="1">
                <a:solidFill>
                  <a:schemeClr val="bg1"/>
                </a:solidFill>
                <a:latin typeface="Courier"/>
                <a:ea typeface="Courier New"/>
                <a:cs typeface="Courier"/>
              </a:rPr>
              <a:t>done</a:t>
            </a:r>
            <a:r>
              <a:rPr lang="fr-FR" sz="2400" dirty="0">
                <a:solidFill>
                  <a:schemeClr val="bg1"/>
                </a:solidFill>
                <a:latin typeface="Courier"/>
                <a:ea typeface="Courier New"/>
                <a:cs typeface="Courier"/>
              </a:rPr>
              <a:t> | sort -n</a:t>
            </a:r>
          </a:p>
        </p:txBody>
      </p:sp>
    </p:spTree>
    <p:extLst>
      <p:ext uri="{BB962C8B-B14F-4D97-AF65-F5344CB8AC3E}">
        <p14:creationId xmlns:p14="http://schemas.microsoft.com/office/powerpoint/2010/main" val="181795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66</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Iterations: </a:t>
            </a:r>
            <a:r>
              <a:rPr lang="en-US" sz="2800" dirty="0">
                <a:latin typeface="Courier"/>
                <a:cs typeface="Courier"/>
              </a:rPr>
              <a:t>while</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Syntax:</a:t>
            </a:r>
          </a:p>
          <a:p>
            <a:pPr marL="542925" lvl="1" indent="0">
              <a:buNone/>
            </a:pPr>
            <a:r>
              <a:rPr lang="en-GB" b="1" dirty="0">
                <a:latin typeface="Courier"/>
                <a:ea typeface="Courier New"/>
                <a:cs typeface="Courier"/>
              </a:rPr>
              <a:t>while</a:t>
            </a:r>
            <a:endParaRPr lang="en-GB" dirty="0">
              <a:latin typeface="Courier"/>
              <a:cs typeface="Courier"/>
            </a:endParaRPr>
          </a:p>
          <a:p>
            <a:pPr marL="542925" lvl="1" indent="0">
              <a:buNone/>
            </a:pPr>
            <a:r>
              <a:rPr lang="en-GB" b="1" dirty="0">
                <a:latin typeface="Courier"/>
                <a:ea typeface="Courier New"/>
                <a:cs typeface="Courier"/>
              </a:rPr>
              <a:t>	[ </a:t>
            </a:r>
            <a:r>
              <a:rPr lang="en-GB" b="1" dirty="0" err="1">
                <a:latin typeface="Courier"/>
                <a:ea typeface="Courier New"/>
                <a:cs typeface="Courier"/>
              </a:rPr>
              <a:t>condition_expression</a:t>
            </a:r>
            <a:r>
              <a:rPr lang="en-GB" b="1" dirty="0">
                <a:latin typeface="Courier"/>
                <a:ea typeface="Courier New"/>
                <a:cs typeface="Courier"/>
              </a:rPr>
              <a:t> ]</a:t>
            </a:r>
          </a:p>
          <a:p>
            <a:pPr marL="542925" lvl="1" indent="0">
              <a:buNone/>
            </a:pPr>
            <a:r>
              <a:rPr lang="en-GB" b="1" dirty="0">
                <a:latin typeface="Courier"/>
                <a:ea typeface="Courier New"/>
                <a:cs typeface="Courier"/>
              </a:rPr>
              <a:t>do</a:t>
            </a:r>
          </a:p>
          <a:p>
            <a:pPr marL="542925" lvl="1" indent="0">
              <a:buNone/>
            </a:pPr>
            <a:r>
              <a:rPr lang="en-GB" b="1" dirty="0">
                <a:latin typeface="Courier"/>
                <a:ea typeface="Courier New"/>
                <a:cs typeface="Courier"/>
              </a:rPr>
              <a:t>	set of commands </a:t>
            </a:r>
          </a:p>
          <a:p>
            <a:pPr marL="542925" lvl="1" indent="0">
              <a:buNone/>
            </a:pPr>
            <a:r>
              <a:rPr lang="en-GB" b="1" dirty="0">
                <a:latin typeface="Courier"/>
                <a:ea typeface="Courier New"/>
                <a:cs typeface="Courier"/>
              </a:rPr>
              <a:t>done</a:t>
            </a:r>
          </a:p>
          <a:p>
            <a:pPr marL="542925" lvl="1" indent="0">
              <a:buNone/>
            </a:pPr>
            <a:endParaRPr lang="en-GB" dirty="0">
              <a:latin typeface="Courier"/>
              <a:cs typeface="Courier"/>
            </a:endParaRPr>
          </a:p>
          <a:p>
            <a:r>
              <a:rPr lang="en-GB" dirty="0">
                <a:solidFill>
                  <a:schemeClr val="tx1"/>
                </a:solidFill>
                <a:latin typeface="Arial" charset="0"/>
              </a:rPr>
              <a:t>Function</a:t>
            </a:r>
          </a:p>
          <a:p>
            <a:pPr lvl="1"/>
            <a:r>
              <a:rPr lang="en-GB" b="1" dirty="0">
                <a:solidFill>
                  <a:schemeClr val="tx1"/>
                </a:solidFill>
                <a:latin typeface="Arial" charset="0"/>
              </a:rPr>
              <a:t>As long as </a:t>
            </a:r>
            <a:r>
              <a:rPr lang="en-GB" dirty="0">
                <a:solidFill>
                  <a:schemeClr val="tx1"/>
                </a:solidFill>
                <a:latin typeface="Arial" charset="0"/>
              </a:rPr>
              <a:t>the </a:t>
            </a:r>
            <a:r>
              <a:rPr lang="en-GB" b="1" dirty="0" err="1">
                <a:solidFill>
                  <a:schemeClr val="tx1"/>
                </a:solidFill>
                <a:latin typeface="Courier"/>
                <a:cs typeface="Courier"/>
              </a:rPr>
              <a:t>condition_expression</a:t>
            </a:r>
            <a:r>
              <a:rPr lang="en-GB" dirty="0">
                <a:solidFill>
                  <a:schemeClr val="tx1"/>
                </a:solidFill>
                <a:latin typeface="Arial" charset="0"/>
              </a:rPr>
              <a:t> returns TRUE</a:t>
            </a:r>
          </a:p>
          <a:p>
            <a:pPr lvl="2"/>
            <a:r>
              <a:rPr lang="en-GB" sz="2000" dirty="0">
                <a:solidFill>
                  <a:schemeClr val="tx1"/>
                </a:solidFill>
                <a:latin typeface="Arial" charset="0"/>
                <a:sym typeface="Wingdings"/>
              </a:rPr>
              <a:t> The </a:t>
            </a:r>
            <a:r>
              <a:rPr lang="en-GB" sz="2000" b="1" dirty="0" err="1">
                <a:solidFill>
                  <a:schemeClr val="tx1"/>
                </a:solidFill>
                <a:latin typeface="Courier"/>
                <a:cs typeface="Courier"/>
                <a:sym typeface="Wingdings"/>
              </a:rPr>
              <a:t>set_of_commands</a:t>
            </a:r>
            <a:r>
              <a:rPr lang="en-GB" sz="2000" dirty="0">
                <a:solidFill>
                  <a:schemeClr val="tx1"/>
                </a:solidFill>
                <a:latin typeface="Arial" charset="0"/>
                <a:sym typeface="Wingdings"/>
              </a:rPr>
              <a:t> is executed </a:t>
            </a:r>
          </a:p>
          <a:p>
            <a:pPr lvl="1"/>
            <a:r>
              <a:rPr lang="en-GB" dirty="0">
                <a:solidFill>
                  <a:schemeClr val="tx1"/>
                </a:solidFill>
                <a:latin typeface="Arial" charset="0"/>
                <a:sym typeface="Wingdings"/>
              </a:rPr>
              <a:t>Otherwise, the iteration ends </a:t>
            </a:r>
            <a:endParaRPr lang="en-GB" dirty="0">
              <a:solidFill>
                <a:schemeClr val="tx1"/>
              </a:solidFill>
              <a:latin typeface="Arial" charset="0"/>
            </a:endParaRPr>
          </a:p>
        </p:txBody>
      </p:sp>
    </p:spTree>
    <p:extLst>
      <p:ext uri="{BB962C8B-B14F-4D97-AF65-F5344CB8AC3E}">
        <p14:creationId xmlns:p14="http://schemas.microsoft.com/office/powerpoint/2010/main" val="36759675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67</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Iterations: </a:t>
            </a:r>
            <a:r>
              <a:rPr lang="en-US" sz="2800" dirty="0">
                <a:latin typeface="Courier"/>
                <a:cs typeface="Courier"/>
              </a:rPr>
              <a:t>while</a:t>
            </a:r>
            <a:r>
              <a:rPr lang="en-US" sz="2800" dirty="0">
                <a:latin typeface="+mn-lt"/>
                <a:cs typeface="Courier"/>
              </a:rPr>
              <a:t>: Examples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6"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pPr marL="542925" lvl="1" indent="0">
              <a:buNone/>
            </a:pPr>
            <a:endParaRPr lang="en-GB" dirty="0">
              <a:latin typeface="Courier"/>
              <a:cs typeface="Courier"/>
            </a:endParaRPr>
          </a:p>
          <a:p>
            <a:pPr marL="542925" lvl="1" indent="0">
              <a:buNone/>
            </a:pPr>
            <a:endParaRPr lang="en-GB" dirty="0">
              <a:latin typeface="Courier"/>
              <a:cs typeface="Courier"/>
            </a:endParaRPr>
          </a:p>
          <a:p>
            <a:pPr marL="542925" lvl="1" indent="0">
              <a:buNone/>
            </a:pPr>
            <a:endParaRPr lang="en-GB" dirty="0">
              <a:latin typeface="Courier"/>
              <a:cs typeface="Courier"/>
            </a:endParaRPr>
          </a:p>
          <a:p>
            <a:pPr marL="542925" lvl="1" indent="0">
              <a:buNone/>
            </a:pPr>
            <a:endParaRPr lang="en-GB" dirty="0">
              <a:latin typeface="Courier"/>
              <a:cs typeface="Courier"/>
            </a:endParaRPr>
          </a:p>
          <a:p>
            <a:pPr marL="542925" lvl="1" indent="0">
              <a:buNone/>
            </a:pPr>
            <a:endParaRPr lang="en-GB" dirty="0">
              <a:latin typeface="Courier"/>
              <a:cs typeface="Courier"/>
            </a:endParaRPr>
          </a:p>
        </p:txBody>
      </p:sp>
      <p:sp>
        <p:nvSpPr>
          <p:cNvPr id="4" name="Rectangle 3"/>
          <p:cNvSpPr/>
          <p:nvPr/>
        </p:nvSpPr>
        <p:spPr>
          <a:xfrm>
            <a:off x="1007604" y="1016732"/>
            <a:ext cx="7668852" cy="2677656"/>
          </a:xfrm>
          <a:prstGeom prst="rect">
            <a:avLst/>
          </a:prstGeom>
          <a:solidFill>
            <a:srgbClr val="000000"/>
          </a:solidFill>
        </p:spPr>
        <p:txBody>
          <a:bodyPr wrap="square">
            <a:spAutoFit/>
          </a:bodyPr>
          <a:lstStyle/>
          <a:p>
            <a:pPr algn="l"/>
            <a:r>
              <a:rPr lang="en-US" sz="2000" dirty="0">
                <a:solidFill>
                  <a:srgbClr val="FFFFFF"/>
                </a:solidFill>
                <a:latin typeface="Courier"/>
                <a:cs typeface="Courier"/>
              </a:rPr>
              <a:t>#!/bin/bash</a:t>
            </a:r>
          </a:p>
          <a:p>
            <a:pPr algn="l"/>
            <a:r>
              <a:rPr lang="en-US" sz="2000" dirty="0" err="1">
                <a:solidFill>
                  <a:srgbClr val="FFFFFF"/>
                </a:solidFill>
                <a:latin typeface="Courier"/>
                <a:cs typeface="Courier"/>
              </a:rPr>
              <a:t>i</a:t>
            </a:r>
            <a:r>
              <a:rPr lang="en-US" sz="2000" dirty="0">
                <a:solidFill>
                  <a:srgbClr val="FFFFFF"/>
                </a:solidFill>
                <a:latin typeface="Courier"/>
                <a:cs typeface="Courier"/>
              </a:rPr>
              <a:t>=1</a:t>
            </a:r>
          </a:p>
          <a:p>
            <a:pPr algn="l"/>
            <a:r>
              <a:rPr lang="en-US" sz="2000" dirty="0">
                <a:solidFill>
                  <a:srgbClr val="FFFFFF"/>
                </a:solidFill>
                <a:latin typeface="Courier"/>
                <a:cs typeface="Courier"/>
              </a:rPr>
              <a:t>while [ $</a:t>
            </a:r>
            <a:r>
              <a:rPr lang="en-US" sz="2000" dirty="0" err="1">
                <a:solidFill>
                  <a:srgbClr val="FFFFFF"/>
                </a:solidFill>
                <a:latin typeface="Courier"/>
                <a:cs typeface="Courier"/>
              </a:rPr>
              <a:t>i</a:t>
            </a:r>
            <a:r>
              <a:rPr lang="en-US" sz="2000" dirty="0">
                <a:solidFill>
                  <a:srgbClr val="FFFFFF"/>
                </a:solidFill>
                <a:latin typeface="Courier"/>
                <a:cs typeface="Courier"/>
              </a:rPr>
              <a:t> -</a:t>
            </a:r>
            <a:r>
              <a:rPr lang="en-US" sz="2000" dirty="0" err="1">
                <a:solidFill>
                  <a:srgbClr val="FFFFFF"/>
                </a:solidFill>
                <a:latin typeface="Courier"/>
                <a:cs typeface="Courier"/>
              </a:rPr>
              <a:t>lt</a:t>
            </a:r>
            <a:r>
              <a:rPr lang="en-US" sz="2000" dirty="0">
                <a:solidFill>
                  <a:srgbClr val="FFFFFF"/>
                </a:solidFill>
                <a:latin typeface="Courier"/>
                <a:cs typeface="Courier"/>
              </a:rPr>
              <a:t> 10 ]</a:t>
            </a:r>
          </a:p>
          <a:p>
            <a:pPr algn="l"/>
            <a:r>
              <a:rPr lang="en-US" sz="2000" dirty="0">
                <a:solidFill>
                  <a:srgbClr val="FFFFFF"/>
                </a:solidFill>
                <a:latin typeface="Courier"/>
                <a:cs typeface="Courier"/>
              </a:rPr>
              <a:t>do</a:t>
            </a:r>
          </a:p>
          <a:p>
            <a:pPr algn="l"/>
            <a:r>
              <a:rPr lang="es-ES_tradnl" sz="2000" dirty="0">
                <a:solidFill>
                  <a:srgbClr val="FFFFFF"/>
                </a:solidFill>
                <a:latin typeface="Courier"/>
                <a:cs typeface="Courier"/>
              </a:rPr>
              <a:t>        echo $i</a:t>
            </a:r>
          </a:p>
          <a:p>
            <a:pPr algn="l"/>
            <a:r>
              <a:rPr lang="es-ES_tradnl" sz="2000" dirty="0">
                <a:solidFill>
                  <a:srgbClr val="FFFFFF"/>
                </a:solidFill>
                <a:latin typeface="Courier"/>
                <a:cs typeface="Courier"/>
              </a:rPr>
              <a:t>        ((i++))</a:t>
            </a:r>
          </a:p>
          <a:p>
            <a:pPr algn="l"/>
            <a:r>
              <a:rPr lang="es-ES_tradnl" sz="2000" dirty="0">
                <a:solidFill>
                  <a:srgbClr val="FFFFFF"/>
                </a:solidFill>
                <a:latin typeface="Courier"/>
                <a:cs typeface="Courier"/>
              </a:rPr>
              <a:t>done</a:t>
            </a:r>
            <a:endParaRPr lang="en-US" sz="2000" dirty="0">
              <a:solidFill>
                <a:srgbClr val="FFFFFF"/>
              </a:solidFill>
              <a:latin typeface="Courier"/>
              <a:cs typeface="Courier"/>
            </a:endParaRPr>
          </a:p>
        </p:txBody>
      </p:sp>
      <p:sp>
        <p:nvSpPr>
          <p:cNvPr id="9" name="Rectangle 8"/>
          <p:cNvSpPr/>
          <p:nvPr/>
        </p:nvSpPr>
        <p:spPr>
          <a:xfrm>
            <a:off x="1007604" y="3825044"/>
            <a:ext cx="7668852" cy="2308324"/>
          </a:xfrm>
          <a:prstGeom prst="rect">
            <a:avLst/>
          </a:prstGeom>
          <a:solidFill>
            <a:srgbClr val="000000"/>
          </a:solidFill>
        </p:spPr>
        <p:txBody>
          <a:bodyPr wrap="square">
            <a:spAutoFit/>
          </a:bodyPr>
          <a:lstStyle/>
          <a:p>
            <a:pPr algn="l"/>
            <a:r>
              <a:rPr lang="en-US" sz="2000" dirty="0">
                <a:solidFill>
                  <a:srgbClr val="FFFFFF"/>
                </a:solidFill>
                <a:latin typeface="Courier"/>
                <a:cs typeface="Courier"/>
              </a:rPr>
              <a:t>#!/bin/bash</a:t>
            </a:r>
          </a:p>
          <a:p>
            <a:pPr algn="l"/>
            <a:r>
              <a:rPr lang="en-US" sz="2000" dirty="0">
                <a:solidFill>
                  <a:srgbClr val="FFFFFF"/>
                </a:solidFill>
                <a:latin typeface="Courier"/>
                <a:cs typeface="Courier"/>
              </a:rPr>
              <a:t>while true</a:t>
            </a:r>
          </a:p>
          <a:p>
            <a:pPr algn="l"/>
            <a:r>
              <a:rPr lang="en-US" sz="2000" dirty="0">
                <a:solidFill>
                  <a:srgbClr val="FFFFFF"/>
                </a:solidFill>
                <a:latin typeface="Courier"/>
                <a:cs typeface="Courier"/>
              </a:rPr>
              <a:t>do</a:t>
            </a:r>
          </a:p>
          <a:p>
            <a:pPr algn="l"/>
            <a:r>
              <a:rPr lang="es-ES_tradnl" sz="2000" dirty="0">
                <a:solidFill>
                  <a:srgbClr val="FFFFFF"/>
                </a:solidFill>
                <a:latin typeface="Courier"/>
                <a:cs typeface="Courier"/>
              </a:rPr>
              <a:t>        echo "</a:t>
            </a:r>
            <a:r>
              <a:rPr lang="es-ES_tradnl" sz="2000" dirty="0" err="1">
                <a:solidFill>
                  <a:srgbClr val="FFFFFF"/>
                </a:solidFill>
                <a:latin typeface="Courier"/>
                <a:cs typeface="Courier"/>
              </a:rPr>
              <a:t>alive</a:t>
            </a:r>
            <a:r>
              <a:rPr lang="es-ES_tradnl" sz="2000" dirty="0">
                <a:solidFill>
                  <a:srgbClr val="FFFFFF"/>
                </a:solidFill>
                <a:latin typeface="Courier"/>
                <a:cs typeface="Courier"/>
              </a:rPr>
              <a:t>..."</a:t>
            </a:r>
          </a:p>
          <a:p>
            <a:pPr algn="l"/>
            <a:r>
              <a:rPr lang="nl-NL" sz="2000" dirty="0">
                <a:solidFill>
                  <a:srgbClr val="FFFFFF"/>
                </a:solidFill>
                <a:latin typeface="Courier"/>
                <a:cs typeface="Courier"/>
              </a:rPr>
              <a:t>        sleep 3s</a:t>
            </a:r>
          </a:p>
          <a:p>
            <a:pPr algn="l"/>
            <a:r>
              <a:rPr lang="nl-NL" sz="2000" dirty="0" err="1">
                <a:solidFill>
                  <a:srgbClr val="FFFFFF"/>
                </a:solidFill>
                <a:latin typeface="Courier"/>
                <a:cs typeface="Courier"/>
              </a:rPr>
              <a:t>done</a:t>
            </a:r>
            <a:endParaRPr lang="en-US" sz="2000" dirty="0">
              <a:solidFill>
                <a:srgbClr val="FFFFFF"/>
              </a:solidFill>
              <a:latin typeface="Courier"/>
              <a:cs typeface="Courier"/>
            </a:endParaRPr>
          </a:p>
        </p:txBody>
      </p:sp>
    </p:spTree>
    <p:extLst>
      <p:ext uri="{BB962C8B-B14F-4D97-AF65-F5344CB8AC3E}">
        <p14:creationId xmlns:p14="http://schemas.microsoft.com/office/powerpoint/2010/main" val="59514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68</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Iterations: </a:t>
            </a:r>
            <a:r>
              <a:rPr lang="en-US" sz="2800" dirty="0">
                <a:latin typeface="Courier"/>
                <a:cs typeface="Courier"/>
              </a:rPr>
              <a:t>until</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8"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Syntax:</a:t>
            </a:r>
          </a:p>
          <a:p>
            <a:pPr marL="542925" lvl="1" indent="0">
              <a:buNone/>
            </a:pPr>
            <a:r>
              <a:rPr lang="en-GB" b="1" dirty="0">
                <a:latin typeface="Courier"/>
                <a:ea typeface="Courier New"/>
                <a:cs typeface="Courier"/>
              </a:rPr>
              <a:t>until</a:t>
            </a:r>
            <a:endParaRPr lang="en-GB" dirty="0">
              <a:latin typeface="Courier"/>
              <a:cs typeface="Courier"/>
            </a:endParaRPr>
          </a:p>
          <a:p>
            <a:pPr marL="542925" lvl="1" indent="0">
              <a:buNone/>
            </a:pPr>
            <a:r>
              <a:rPr lang="en-GB" b="1" dirty="0">
                <a:latin typeface="Courier"/>
                <a:ea typeface="Courier New"/>
                <a:cs typeface="Courier"/>
              </a:rPr>
              <a:t>	[ </a:t>
            </a:r>
            <a:r>
              <a:rPr lang="en-GB" b="1" dirty="0" err="1">
                <a:latin typeface="Courier"/>
                <a:ea typeface="Courier New"/>
                <a:cs typeface="Courier"/>
              </a:rPr>
              <a:t>condition_expression</a:t>
            </a:r>
            <a:r>
              <a:rPr lang="en-GB" b="1" dirty="0">
                <a:latin typeface="Courier"/>
                <a:ea typeface="Courier New"/>
                <a:cs typeface="Courier"/>
              </a:rPr>
              <a:t> ]</a:t>
            </a:r>
          </a:p>
          <a:p>
            <a:pPr marL="542925" lvl="1" indent="0">
              <a:buNone/>
            </a:pPr>
            <a:r>
              <a:rPr lang="en-GB" b="1" dirty="0">
                <a:latin typeface="Courier"/>
                <a:ea typeface="Courier New"/>
                <a:cs typeface="Courier"/>
              </a:rPr>
              <a:t>do</a:t>
            </a:r>
          </a:p>
          <a:p>
            <a:pPr marL="542925" lvl="1" indent="0">
              <a:buNone/>
            </a:pPr>
            <a:r>
              <a:rPr lang="en-GB" b="1" dirty="0">
                <a:latin typeface="Courier"/>
                <a:ea typeface="Courier New"/>
                <a:cs typeface="Courier"/>
              </a:rPr>
              <a:t>	set of commands </a:t>
            </a:r>
          </a:p>
          <a:p>
            <a:pPr marL="542925" lvl="1" indent="0">
              <a:buNone/>
            </a:pPr>
            <a:r>
              <a:rPr lang="en-GB" b="1" dirty="0">
                <a:latin typeface="Courier"/>
                <a:ea typeface="Courier New"/>
                <a:cs typeface="Courier"/>
              </a:rPr>
              <a:t>done</a:t>
            </a:r>
          </a:p>
          <a:p>
            <a:pPr marL="542925" lvl="1" indent="0">
              <a:buNone/>
            </a:pPr>
            <a:endParaRPr lang="en-GB" dirty="0">
              <a:latin typeface="Courier"/>
              <a:cs typeface="Courier"/>
            </a:endParaRPr>
          </a:p>
          <a:p>
            <a:r>
              <a:rPr lang="en-GB" dirty="0">
                <a:solidFill>
                  <a:schemeClr val="tx1"/>
                </a:solidFill>
                <a:latin typeface="Arial" charset="0"/>
              </a:rPr>
              <a:t>Function</a:t>
            </a:r>
          </a:p>
          <a:p>
            <a:pPr lvl="1"/>
            <a:r>
              <a:rPr lang="en-GB" dirty="0">
                <a:solidFill>
                  <a:schemeClr val="tx1"/>
                </a:solidFill>
                <a:latin typeface="Arial" charset="0"/>
              </a:rPr>
              <a:t>Execute 1</a:t>
            </a:r>
            <a:r>
              <a:rPr lang="en-GB" baseline="30000" dirty="0">
                <a:solidFill>
                  <a:schemeClr val="tx1"/>
                </a:solidFill>
                <a:latin typeface="Arial" charset="0"/>
              </a:rPr>
              <a:t>st</a:t>
            </a:r>
            <a:r>
              <a:rPr lang="en-GB" dirty="0">
                <a:solidFill>
                  <a:schemeClr val="tx1"/>
                </a:solidFill>
                <a:latin typeface="Arial" charset="0"/>
              </a:rPr>
              <a:t> set of commands </a:t>
            </a:r>
          </a:p>
          <a:p>
            <a:pPr lvl="1"/>
            <a:r>
              <a:rPr lang="en-GB" b="1" dirty="0">
                <a:solidFill>
                  <a:schemeClr val="tx1"/>
                </a:solidFill>
                <a:latin typeface="Arial" charset="0"/>
              </a:rPr>
              <a:t>As long as </a:t>
            </a:r>
            <a:r>
              <a:rPr lang="en-GB" dirty="0">
                <a:solidFill>
                  <a:schemeClr val="tx1"/>
                </a:solidFill>
                <a:latin typeface="Arial" charset="0"/>
              </a:rPr>
              <a:t>the</a:t>
            </a:r>
            <a:r>
              <a:rPr lang="en-GB" b="1" dirty="0">
                <a:solidFill>
                  <a:schemeClr val="tx1"/>
                </a:solidFill>
                <a:latin typeface="Arial" charset="0"/>
              </a:rPr>
              <a:t> </a:t>
            </a:r>
            <a:r>
              <a:rPr lang="en-GB" b="1" dirty="0" err="1">
                <a:solidFill>
                  <a:schemeClr val="tx1"/>
                </a:solidFill>
                <a:latin typeface="Courier"/>
                <a:cs typeface="Courier"/>
              </a:rPr>
              <a:t>conditon_expression</a:t>
            </a:r>
            <a:r>
              <a:rPr lang="en-GB" b="1" dirty="0">
                <a:solidFill>
                  <a:schemeClr val="tx1"/>
                </a:solidFill>
                <a:latin typeface="Arial" charset="0"/>
              </a:rPr>
              <a:t> </a:t>
            </a:r>
            <a:r>
              <a:rPr lang="en-GB" dirty="0">
                <a:solidFill>
                  <a:schemeClr val="tx1"/>
                </a:solidFill>
                <a:latin typeface="Arial" charset="0"/>
              </a:rPr>
              <a:t>commands is NOT true (while </a:t>
            </a:r>
            <a:r>
              <a:rPr lang="en-GB" b="1" dirty="0" err="1">
                <a:solidFill>
                  <a:schemeClr val="tx1"/>
                </a:solidFill>
                <a:latin typeface="Courier"/>
                <a:cs typeface="Courier"/>
              </a:rPr>
              <a:t>consition_expression</a:t>
            </a:r>
            <a:r>
              <a:rPr lang="en-GB" dirty="0">
                <a:solidFill>
                  <a:schemeClr val="tx1"/>
                </a:solidFill>
                <a:latin typeface="Arial" charset="0"/>
              </a:rPr>
              <a:t> is FALSE) </a:t>
            </a:r>
          </a:p>
          <a:p>
            <a:pPr lvl="2"/>
            <a:r>
              <a:rPr lang="en-GB" sz="2000" dirty="0">
                <a:solidFill>
                  <a:schemeClr val="tx1"/>
                </a:solidFill>
                <a:latin typeface="Arial" charset="0"/>
                <a:sym typeface="Wingdings"/>
              </a:rPr>
              <a:t>The </a:t>
            </a:r>
            <a:r>
              <a:rPr lang="en-GB" sz="2000" b="1" dirty="0" err="1">
                <a:solidFill>
                  <a:schemeClr val="tx1"/>
                </a:solidFill>
                <a:latin typeface="Courier"/>
                <a:cs typeface="Courier"/>
                <a:sym typeface="Wingdings"/>
              </a:rPr>
              <a:t>set_of_commands</a:t>
            </a:r>
            <a:r>
              <a:rPr lang="en-GB" sz="2000" dirty="0">
                <a:solidFill>
                  <a:schemeClr val="tx1"/>
                </a:solidFill>
                <a:latin typeface="Arial" charset="0"/>
                <a:sym typeface="Wingdings"/>
              </a:rPr>
              <a:t> is executed</a:t>
            </a:r>
          </a:p>
          <a:p>
            <a:pPr lvl="1"/>
            <a:r>
              <a:rPr lang="en-GB" dirty="0">
                <a:solidFill>
                  <a:schemeClr val="tx1"/>
                </a:solidFill>
                <a:latin typeface="Arial" charset="0"/>
                <a:sym typeface="Wingdings"/>
              </a:rPr>
              <a:t>Otherwise the iteration ends </a:t>
            </a:r>
            <a:endParaRPr lang="en-GB" dirty="0">
              <a:solidFill>
                <a:schemeClr val="tx1"/>
              </a:solidFill>
              <a:latin typeface="Arial" charset="0"/>
            </a:endParaRPr>
          </a:p>
        </p:txBody>
      </p:sp>
    </p:spTree>
    <p:extLst>
      <p:ext uri="{BB962C8B-B14F-4D97-AF65-F5344CB8AC3E}">
        <p14:creationId xmlns:p14="http://schemas.microsoft.com/office/powerpoint/2010/main" val="17029932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69</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Iterations: </a:t>
            </a:r>
            <a:r>
              <a:rPr lang="en-US" sz="2800" dirty="0">
                <a:latin typeface="Courier"/>
                <a:cs typeface="Courier"/>
              </a:rPr>
              <a:t>until</a:t>
            </a:r>
            <a:r>
              <a:rPr lang="en-US" sz="2800" dirty="0">
                <a:latin typeface="+mn-lt"/>
                <a:cs typeface="Courier"/>
              </a:rPr>
              <a:t>: Examples</a:t>
            </a: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3" name="Rectangle 2"/>
          <p:cNvSpPr/>
          <p:nvPr/>
        </p:nvSpPr>
        <p:spPr>
          <a:xfrm>
            <a:off x="179512" y="908720"/>
            <a:ext cx="8460940" cy="2616101"/>
          </a:xfrm>
          <a:prstGeom prst="rect">
            <a:avLst/>
          </a:prstGeom>
          <a:solidFill>
            <a:srgbClr val="000000"/>
          </a:solidFill>
        </p:spPr>
        <p:txBody>
          <a:bodyPr wrap="square">
            <a:spAutoFit/>
          </a:bodyPr>
          <a:lstStyle/>
          <a:p>
            <a:pPr algn="l"/>
            <a:r>
              <a:rPr lang="en-US" sz="2000" dirty="0">
                <a:solidFill>
                  <a:srgbClr val="FFFFFF"/>
                </a:solidFill>
                <a:latin typeface="Courier"/>
                <a:cs typeface="Courier"/>
              </a:rPr>
              <a:t>#!/bin/bash</a:t>
            </a:r>
          </a:p>
          <a:p>
            <a:pPr algn="l"/>
            <a:r>
              <a:rPr lang="en-US" sz="2000" dirty="0" err="1">
                <a:solidFill>
                  <a:srgbClr val="FFFFFF"/>
                </a:solidFill>
                <a:latin typeface="Courier"/>
                <a:cs typeface="Courier"/>
              </a:rPr>
              <a:t>i</a:t>
            </a:r>
            <a:r>
              <a:rPr lang="en-US" sz="2000" dirty="0">
                <a:solidFill>
                  <a:srgbClr val="FFFFFF"/>
                </a:solidFill>
                <a:latin typeface="Courier"/>
                <a:cs typeface="Courier"/>
              </a:rPr>
              <a:t>=1</a:t>
            </a:r>
          </a:p>
          <a:p>
            <a:pPr algn="l"/>
            <a:r>
              <a:rPr lang="en-US" sz="2000" dirty="0">
                <a:solidFill>
                  <a:srgbClr val="FFFFFF"/>
                </a:solidFill>
                <a:latin typeface="Courier"/>
                <a:cs typeface="Courier"/>
              </a:rPr>
              <a:t>until [ $</a:t>
            </a:r>
            <a:r>
              <a:rPr lang="en-US" sz="2000" dirty="0" err="1">
                <a:solidFill>
                  <a:srgbClr val="FFFFFF"/>
                </a:solidFill>
                <a:latin typeface="Courier"/>
                <a:cs typeface="Courier"/>
              </a:rPr>
              <a:t>i</a:t>
            </a:r>
            <a:r>
              <a:rPr lang="en-US" sz="2000" dirty="0">
                <a:solidFill>
                  <a:srgbClr val="FFFFFF"/>
                </a:solidFill>
                <a:latin typeface="Courier"/>
                <a:cs typeface="Courier"/>
              </a:rPr>
              <a:t> -</a:t>
            </a:r>
            <a:r>
              <a:rPr lang="en-US" sz="2000" dirty="0" err="1">
                <a:solidFill>
                  <a:srgbClr val="FFFFFF"/>
                </a:solidFill>
                <a:latin typeface="Courier"/>
                <a:cs typeface="Courier"/>
              </a:rPr>
              <a:t>ge</a:t>
            </a:r>
            <a:r>
              <a:rPr lang="en-US" sz="2000" dirty="0">
                <a:solidFill>
                  <a:srgbClr val="FFFFFF"/>
                </a:solidFill>
                <a:latin typeface="Courier"/>
                <a:cs typeface="Courier"/>
              </a:rPr>
              <a:t> 10 ]</a:t>
            </a:r>
          </a:p>
          <a:p>
            <a:pPr algn="l"/>
            <a:r>
              <a:rPr lang="en-US" sz="2000" dirty="0">
                <a:solidFill>
                  <a:srgbClr val="FFFFFF"/>
                </a:solidFill>
                <a:latin typeface="Courier"/>
                <a:cs typeface="Courier"/>
              </a:rPr>
              <a:t>do</a:t>
            </a:r>
          </a:p>
          <a:p>
            <a:pPr algn="l"/>
            <a:r>
              <a:rPr lang="es-ES_tradnl" sz="2000" dirty="0">
                <a:solidFill>
                  <a:srgbClr val="FFFFFF"/>
                </a:solidFill>
                <a:latin typeface="Courier"/>
                <a:cs typeface="Courier"/>
              </a:rPr>
              <a:t>        echo $i</a:t>
            </a:r>
          </a:p>
          <a:p>
            <a:pPr algn="l"/>
            <a:r>
              <a:rPr lang="es-ES_tradnl" sz="2000" dirty="0">
                <a:solidFill>
                  <a:srgbClr val="FFFFFF"/>
                </a:solidFill>
                <a:latin typeface="Courier"/>
                <a:cs typeface="Courier"/>
              </a:rPr>
              <a:t>        ((i++))</a:t>
            </a:r>
          </a:p>
          <a:p>
            <a:pPr algn="l"/>
            <a:r>
              <a:rPr lang="es-ES_tradnl" sz="2000" dirty="0">
                <a:solidFill>
                  <a:srgbClr val="FFFFFF"/>
                </a:solidFill>
                <a:latin typeface="Courier"/>
                <a:cs typeface="Courier"/>
              </a:rPr>
              <a:t>done</a:t>
            </a:r>
          </a:p>
        </p:txBody>
      </p:sp>
    </p:spTree>
    <p:extLst>
      <p:ext uri="{BB962C8B-B14F-4D97-AF65-F5344CB8AC3E}">
        <p14:creationId xmlns:p14="http://schemas.microsoft.com/office/powerpoint/2010/main" val="7139861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loop commands</a:t>
            </a:r>
          </a:p>
        </p:txBody>
      </p:sp>
      <p:sp>
        <p:nvSpPr>
          <p:cNvPr id="3" name="Content Placeholder 2"/>
          <p:cNvSpPr>
            <a:spLocks noGrp="1"/>
          </p:cNvSpPr>
          <p:nvPr>
            <p:ph idx="1"/>
          </p:nvPr>
        </p:nvSpPr>
        <p:spPr/>
        <p:txBody>
          <a:bodyPr/>
          <a:lstStyle/>
          <a:p>
            <a:r>
              <a:rPr lang="en-US" dirty="0"/>
              <a:t>Stop with current loop iteration: </a:t>
            </a:r>
            <a:r>
              <a:rPr lang="en-US" b="1" dirty="0">
                <a:latin typeface="Courier"/>
                <a:cs typeface="Courier"/>
              </a:rPr>
              <a:t>break</a:t>
            </a:r>
          </a:p>
          <a:p>
            <a:r>
              <a:rPr lang="en-US" dirty="0"/>
              <a:t>Continue with the next iteration: </a:t>
            </a:r>
            <a:r>
              <a:rPr lang="en-US" b="1" dirty="0">
                <a:latin typeface="Courier"/>
                <a:cs typeface="Courier"/>
              </a:rPr>
              <a:t>continue</a:t>
            </a:r>
            <a:r>
              <a:rPr lang="en-US" dirty="0">
                <a:latin typeface="Courier"/>
                <a:cs typeface="Courier"/>
              </a:rPr>
              <a:t> </a:t>
            </a:r>
          </a:p>
          <a:p>
            <a:r>
              <a:rPr lang="en-US" dirty="0">
                <a:cs typeface="Courier"/>
              </a:rPr>
              <a:t>Terminate script: </a:t>
            </a:r>
            <a:r>
              <a:rPr lang="en-US" b="1" dirty="0">
                <a:latin typeface="Courier"/>
                <a:cs typeface="Courier"/>
              </a:rPr>
              <a:t>exit</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70</a:t>
            </a:fld>
            <a:endParaRPr lang="fr-FR"/>
          </a:p>
        </p:txBody>
      </p:sp>
      <p:sp>
        <p:nvSpPr>
          <p:cNvPr id="6" name="Espace réservé du pied de page 3">
            <a:extLst>
              <a:ext uri="{FF2B5EF4-FFF2-40B4-BE49-F238E27FC236}">
                <a16:creationId xmlns:a16="http://schemas.microsoft.com/office/drawing/2014/main" id="{95FCE6E6-46CC-044E-A80C-C22E0D195CD7}"/>
              </a:ext>
            </a:extLst>
          </p:cNvPr>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11123687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loop commands: Example</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71</a:t>
            </a:fld>
            <a:endParaRPr lang="fr-FR"/>
          </a:p>
        </p:txBody>
      </p:sp>
      <p:sp>
        <p:nvSpPr>
          <p:cNvPr id="6" name="Rectangle 5"/>
          <p:cNvSpPr/>
          <p:nvPr/>
        </p:nvSpPr>
        <p:spPr>
          <a:xfrm>
            <a:off x="251520" y="882581"/>
            <a:ext cx="7956884" cy="5201424"/>
          </a:xfrm>
          <a:prstGeom prst="rect">
            <a:avLst/>
          </a:prstGeom>
          <a:solidFill>
            <a:schemeClr val="tx1"/>
          </a:solidFill>
        </p:spPr>
        <p:txBody>
          <a:bodyPr wrap="square">
            <a:spAutoFit/>
          </a:bodyPr>
          <a:lstStyle/>
          <a:p>
            <a:pPr algn="l"/>
            <a:r>
              <a:rPr lang="en-US" sz="2000" dirty="0">
                <a:solidFill>
                  <a:schemeClr val="bg1"/>
                </a:solidFill>
                <a:latin typeface="Courier"/>
                <a:cs typeface="Courier"/>
              </a:rPr>
              <a:t>#!/bin/bash</a:t>
            </a:r>
          </a:p>
          <a:p>
            <a:pPr algn="l"/>
            <a:r>
              <a:rPr lang="en-US" sz="2000" dirty="0">
                <a:solidFill>
                  <a:schemeClr val="bg1"/>
                </a:solidFill>
                <a:latin typeface="Courier"/>
                <a:cs typeface="Courier"/>
              </a:rPr>
              <a:t>for x in 1 2 3 4 5 6 7 8 9</a:t>
            </a:r>
          </a:p>
          <a:p>
            <a:pPr algn="l"/>
            <a:r>
              <a:rPr lang="en-US" sz="2000" dirty="0">
                <a:solidFill>
                  <a:schemeClr val="bg1"/>
                </a:solidFill>
                <a:latin typeface="Courier"/>
                <a:cs typeface="Courier"/>
              </a:rPr>
              <a:t>do</a:t>
            </a:r>
          </a:p>
          <a:p>
            <a:pPr algn="l"/>
            <a:r>
              <a:rPr lang="en-US" sz="2000" dirty="0">
                <a:solidFill>
                  <a:schemeClr val="bg1"/>
                </a:solidFill>
                <a:latin typeface="Courier"/>
                <a:cs typeface="Courier"/>
              </a:rPr>
              <a:t>	echo -n "x is $x. "</a:t>
            </a:r>
          </a:p>
          <a:p>
            <a:pPr algn="l"/>
            <a:r>
              <a:rPr lang="en-US" sz="2000" dirty="0">
                <a:solidFill>
                  <a:schemeClr val="bg1"/>
                </a:solidFill>
                <a:latin typeface="Courier"/>
                <a:cs typeface="Courier"/>
              </a:rPr>
              <a:t>  	if [ "$x" -eq "4" ]; then</a:t>
            </a:r>
          </a:p>
          <a:p>
            <a:pPr algn="l"/>
            <a:r>
              <a:rPr lang="en-US" sz="2000" dirty="0">
                <a:solidFill>
                  <a:schemeClr val="bg1"/>
                </a:solidFill>
                <a:latin typeface="Courier"/>
                <a:cs typeface="Courier"/>
              </a:rPr>
              <a:t>    		continue</a:t>
            </a:r>
          </a:p>
          <a:p>
            <a:pPr algn="l"/>
            <a:r>
              <a:rPr lang="en-US" sz="2000" dirty="0">
                <a:solidFill>
                  <a:schemeClr val="bg1"/>
                </a:solidFill>
                <a:latin typeface="Courier"/>
                <a:cs typeface="Courier"/>
              </a:rPr>
              <a:t>  	fi</a:t>
            </a:r>
          </a:p>
          <a:p>
            <a:pPr algn="l"/>
            <a:r>
              <a:rPr lang="en-US" sz="2000" dirty="0">
                <a:solidFill>
                  <a:schemeClr val="bg1"/>
                </a:solidFill>
                <a:latin typeface="Courier"/>
                <a:cs typeface="Courier"/>
              </a:rPr>
              <a:t>  	echo "Most numbers get here, except 4."</a:t>
            </a:r>
          </a:p>
          <a:p>
            <a:pPr algn="l"/>
            <a:r>
              <a:rPr lang="en-US" sz="2000" dirty="0">
                <a:solidFill>
                  <a:schemeClr val="bg1"/>
                </a:solidFill>
                <a:latin typeface="Courier"/>
                <a:cs typeface="Courier"/>
              </a:rPr>
              <a:t>	if [ "$x" -</a:t>
            </a:r>
            <a:r>
              <a:rPr lang="en-US" sz="2000" dirty="0" err="1">
                <a:solidFill>
                  <a:schemeClr val="bg1"/>
                </a:solidFill>
                <a:latin typeface="Courier"/>
                <a:cs typeface="Courier"/>
              </a:rPr>
              <a:t>eq</a:t>
            </a:r>
            <a:r>
              <a:rPr lang="en-US" sz="2000" dirty="0">
                <a:solidFill>
                  <a:schemeClr val="bg1"/>
                </a:solidFill>
                <a:latin typeface="Courier"/>
                <a:cs typeface="Courier"/>
              </a:rPr>
              <a:t> "7" ]; then</a:t>
            </a:r>
          </a:p>
          <a:p>
            <a:pPr algn="l"/>
            <a:r>
              <a:rPr lang="en-US" sz="2000" dirty="0">
                <a:solidFill>
                  <a:schemeClr val="bg1"/>
                </a:solidFill>
                <a:latin typeface="Courier"/>
                <a:cs typeface="Courier"/>
              </a:rPr>
              <a:t>		break</a:t>
            </a:r>
          </a:p>
          <a:p>
            <a:pPr algn="l"/>
            <a:r>
              <a:rPr lang="en-US" sz="2000" dirty="0">
                <a:solidFill>
                  <a:schemeClr val="bg1"/>
                </a:solidFill>
                <a:latin typeface="Courier"/>
                <a:cs typeface="Courier"/>
              </a:rPr>
              <a:t>  	fi</a:t>
            </a:r>
          </a:p>
          <a:p>
            <a:pPr algn="l"/>
            <a:r>
              <a:rPr lang="en-US" sz="2000" dirty="0">
                <a:solidFill>
                  <a:schemeClr val="bg1"/>
                </a:solidFill>
                <a:latin typeface="Courier"/>
                <a:cs typeface="Courier"/>
              </a:rPr>
              <a:t>done</a:t>
            </a:r>
          </a:p>
          <a:p>
            <a:pPr algn="l"/>
            <a:r>
              <a:rPr lang="en-US" sz="2000" dirty="0">
                <a:solidFill>
                  <a:schemeClr val="bg1"/>
                </a:solidFill>
                <a:latin typeface="Courier"/>
                <a:cs typeface="Courier"/>
              </a:rPr>
              <a:t>echo "We have finished the loop now."</a:t>
            </a:r>
          </a:p>
          <a:p>
            <a:pPr algn="l"/>
            <a:r>
              <a:rPr lang="en-US" sz="2000" dirty="0">
                <a:solidFill>
                  <a:schemeClr val="bg1"/>
                </a:solidFill>
                <a:latin typeface="Courier"/>
                <a:cs typeface="Courier"/>
              </a:rPr>
              <a:t>echo "At the end, x is now $x."</a:t>
            </a:r>
          </a:p>
        </p:txBody>
      </p:sp>
      <p:sp>
        <p:nvSpPr>
          <p:cNvPr id="7" name="Espace réservé du pied de page 3">
            <a:extLst>
              <a:ext uri="{FF2B5EF4-FFF2-40B4-BE49-F238E27FC236}">
                <a16:creationId xmlns:a16="http://schemas.microsoft.com/office/drawing/2014/main" id="{42523BDD-8928-B048-A5D2-1F644D103F1C}"/>
              </a:ext>
            </a:extLst>
          </p:cNvPr>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52301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loop commands: Example</a:t>
            </a:r>
          </a:p>
        </p:txBody>
      </p:sp>
      <p:sp>
        <p:nvSpPr>
          <p:cNvPr id="3" name="Content Placeholder 2"/>
          <p:cNvSpPr>
            <a:spLocks noGrp="1"/>
          </p:cNvSpPr>
          <p:nvPr>
            <p:ph idx="1"/>
          </p:nvPr>
        </p:nvSpPr>
        <p:spPr>
          <a:xfrm>
            <a:off x="251520" y="1016732"/>
            <a:ext cx="7931224" cy="3918756"/>
          </a:xfrm>
          <a:solidFill>
            <a:srgbClr val="000000"/>
          </a:solidFill>
        </p:spPr>
        <p:txBody>
          <a:bodyPr/>
          <a:lstStyle/>
          <a:p>
            <a:pPr marL="0" indent="0">
              <a:buNone/>
            </a:pPr>
            <a:r>
              <a:rPr lang="en-US" dirty="0">
                <a:solidFill>
                  <a:srgbClr val="FFFFFF"/>
                </a:solidFill>
                <a:latin typeface="Courier"/>
                <a:cs typeface="Courier"/>
              </a:rPr>
              <a:t>x is 1. Most numbers get here, </a:t>
            </a:r>
            <a:r>
              <a:rPr lang="en-US" dirty="0">
                <a:solidFill>
                  <a:schemeClr val="bg1"/>
                </a:solidFill>
                <a:latin typeface="Courier"/>
                <a:cs typeface="Courier"/>
              </a:rPr>
              <a:t>except 4</a:t>
            </a:r>
            <a:r>
              <a:rPr lang="en-US" dirty="0">
                <a:solidFill>
                  <a:srgbClr val="FFFFFF"/>
                </a:solidFill>
                <a:latin typeface="Courier"/>
                <a:cs typeface="Courier"/>
              </a:rPr>
              <a:t>. </a:t>
            </a:r>
          </a:p>
          <a:p>
            <a:pPr marL="0" indent="0">
              <a:buNone/>
            </a:pPr>
            <a:r>
              <a:rPr lang="en-US" dirty="0">
                <a:solidFill>
                  <a:srgbClr val="FFFFFF"/>
                </a:solidFill>
                <a:latin typeface="Courier"/>
                <a:cs typeface="Courier"/>
              </a:rPr>
              <a:t>x is 2. Most numbers get here, </a:t>
            </a:r>
            <a:r>
              <a:rPr lang="en-US" dirty="0">
                <a:solidFill>
                  <a:schemeClr val="bg1"/>
                </a:solidFill>
                <a:latin typeface="Courier"/>
                <a:cs typeface="Courier"/>
              </a:rPr>
              <a:t>except 4.</a:t>
            </a:r>
          </a:p>
          <a:p>
            <a:pPr marL="0" indent="0">
              <a:buNone/>
            </a:pPr>
            <a:r>
              <a:rPr lang="en-US" dirty="0">
                <a:solidFill>
                  <a:srgbClr val="FFFFFF"/>
                </a:solidFill>
                <a:latin typeface="Courier"/>
                <a:cs typeface="Courier"/>
              </a:rPr>
              <a:t>x is 3. Most numbers get here, </a:t>
            </a:r>
            <a:r>
              <a:rPr lang="en-US" dirty="0">
                <a:solidFill>
                  <a:schemeClr val="bg1"/>
                </a:solidFill>
                <a:latin typeface="Courier"/>
                <a:cs typeface="Courier"/>
              </a:rPr>
              <a:t>except 4.</a:t>
            </a:r>
          </a:p>
          <a:p>
            <a:pPr marL="0" indent="0">
              <a:buNone/>
            </a:pPr>
            <a:r>
              <a:rPr lang="en-US" dirty="0">
                <a:solidFill>
                  <a:srgbClr val="FFFFFF"/>
                </a:solidFill>
                <a:latin typeface="Courier"/>
                <a:cs typeface="Courier"/>
              </a:rPr>
              <a:t>x is 4. </a:t>
            </a:r>
          </a:p>
          <a:p>
            <a:pPr marL="0" indent="0">
              <a:buNone/>
            </a:pPr>
            <a:r>
              <a:rPr lang="en-US" dirty="0">
                <a:solidFill>
                  <a:srgbClr val="FFFFFF"/>
                </a:solidFill>
                <a:latin typeface="Courier"/>
                <a:cs typeface="Courier"/>
              </a:rPr>
              <a:t>x is 5. Most numbers get here, </a:t>
            </a:r>
            <a:r>
              <a:rPr lang="en-US" dirty="0">
                <a:solidFill>
                  <a:schemeClr val="bg1"/>
                </a:solidFill>
                <a:latin typeface="Courier"/>
                <a:cs typeface="Courier"/>
              </a:rPr>
              <a:t>except 4.</a:t>
            </a:r>
            <a:endParaRPr lang="en-US" dirty="0">
              <a:solidFill>
                <a:srgbClr val="FFFFFF"/>
              </a:solidFill>
              <a:latin typeface="Courier"/>
              <a:cs typeface="Courier"/>
            </a:endParaRPr>
          </a:p>
          <a:p>
            <a:pPr marL="0" indent="0">
              <a:buNone/>
            </a:pPr>
            <a:r>
              <a:rPr lang="en-US" dirty="0">
                <a:solidFill>
                  <a:srgbClr val="FFFFFF"/>
                </a:solidFill>
                <a:latin typeface="Courier"/>
                <a:cs typeface="Courier"/>
              </a:rPr>
              <a:t>x is 6. Most numbers get here, </a:t>
            </a:r>
            <a:r>
              <a:rPr lang="en-US" dirty="0">
                <a:solidFill>
                  <a:schemeClr val="bg1"/>
                </a:solidFill>
                <a:latin typeface="Courier"/>
                <a:cs typeface="Courier"/>
              </a:rPr>
              <a:t>except 4.</a:t>
            </a:r>
          </a:p>
          <a:p>
            <a:pPr marL="0" indent="0">
              <a:buNone/>
            </a:pPr>
            <a:r>
              <a:rPr lang="en-US" dirty="0">
                <a:solidFill>
                  <a:srgbClr val="FFFFFF"/>
                </a:solidFill>
                <a:latin typeface="Courier"/>
                <a:cs typeface="Courier"/>
              </a:rPr>
              <a:t>x is 7. Most numbers get here, </a:t>
            </a:r>
            <a:r>
              <a:rPr lang="en-US" dirty="0">
                <a:solidFill>
                  <a:schemeClr val="bg1"/>
                </a:solidFill>
                <a:latin typeface="Courier"/>
                <a:cs typeface="Courier"/>
              </a:rPr>
              <a:t>except 4.</a:t>
            </a:r>
            <a:endParaRPr lang="en-US" dirty="0">
              <a:solidFill>
                <a:srgbClr val="FFFFFF"/>
              </a:solidFill>
              <a:latin typeface="Courier"/>
              <a:cs typeface="Courier"/>
            </a:endParaRPr>
          </a:p>
          <a:p>
            <a:pPr marL="0" indent="0">
              <a:buNone/>
            </a:pPr>
            <a:r>
              <a:rPr lang="en-US" dirty="0">
                <a:solidFill>
                  <a:srgbClr val="FFFFFF"/>
                </a:solidFill>
                <a:latin typeface="Courier"/>
                <a:cs typeface="Courier"/>
              </a:rPr>
              <a:t>We have finished the loop now. </a:t>
            </a:r>
          </a:p>
          <a:p>
            <a:pPr marL="0" indent="0">
              <a:buNone/>
            </a:pPr>
            <a:r>
              <a:rPr lang="en-US" dirty="0">
                <a:solidFill>
                  <a:srgbClr val="FFFFFF"/>
                </a:solidFill>
                <a:latin typeface="Courier"/>
                <a:cs typeface="Courier"/>
              </a:rPr>
              <a:t>At the end, x is now 7.</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72</a:t>
            </a:fld>
            <a:endParaRPr lang="fr-FR"/>
          </a:p>
        </p:txBody>
      </p:sp>
      <p:sp>
        <p:nvSpPr>
          <p:cNvPr id="6" name="Espace réservé du pied de page 3">
            <a:extLst>
              <a:ext uri="{FF2B5EF4-FFF2-40B4-BE49-F238E27FC236}">
                <a16:creationId xmlns:a16="http://schemas.microsoft.com/office/drawing/2014/main" id="{93AD5A35-265D-B34C-9921-2562FD910794}"/>
              </a:ext>
            </a:extLst>
          </p:cNvPr>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3287875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73</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Functions</a:t>
            </a:r>
            <a:endParaRPr lang="en-US" sz="2800" dirty="0">
              <a:latin typeface="Courier"/>
              <a:cs typeface="Courier"/>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5" name="Rectangle 3"/>
          <p:cNvSpPr txBox="1">
            <a:spLocks noChangeArrowheads="1"/>
          </p:cNvSpPr>
          <p:nvPr/>
        </p:nvSpPr>
        <p:spPr bwMode="auto">
          <a:xfrm>
            <a:off x="457200" y="908720"/>
            <a:ext cx="8686800"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3"/>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4"/>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5"/>
              </a:buBlip>
              <a:defRPr>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GB" dirty="0">
                <a:solidFill>
                  <a:schemeClr val="tx1"/>
                </a:solidFill>
                <a:latin typeface="Arial" charset="0"/>
              </a:rPr>
              <a:t>Syntax</a:t>
            </a:r>
          </a:p>
          <a:p>
            <a:pPr marL="542925" lvl="1" indent="0">
              <a:buNone/>
            </a:pPr>
            <a:r>
              <a:rPr lang="en-GB" b="1" dirty="0">
                <a:latin typeface="Courier"/>
                <a:ea typeface="Courier New"/>
                <a:cs typeface="Courier"/>
              </a:rPr>
              <a:t>function name[()]</a:t>
            </a:r>
          </a:p>
          <a:p>
            <a:pPr marL="542925" lvl="1" indent="0">
              <a:buNone/>
            </a:pPr>
            <a:r>
              <a:rPr lang="en-GB" b="1" dirty="0">
                <a:latin typeface="Courier"/>
                <a:ea typeface="Courier New"/>
                <a:cs typeface="Courier"/>
              </a:rPr>
              <a:t>{</a:t>
            </a:r>
            <a:endParaRPr lang="en-GB" dirty="0">
              <a:latin typeface="Courier"/>
              <a:cs typeface="Courier"/>
            </a:endParaRPr>
          </a:p>
          <a:p>
            <a:pPr marL="542925" lvl="1" indent="0">
              <a:buNone/>
            </a:pPr>
            <a:r>
              <a:rPr lang="en-GB" b="1" dirty="0">
                <a:latin typeface="Courier"/>
                <a:ea typeface="Courier New"/>
                <a:cs typeface="Courier"/>
              </a:rPr>
              <a:t>	list of commands;</a:t>
            </a:r>
          </a:p>
          <a:p>
            <a:pPr marL="542925" lvl="1" indent="0">
              <a:buNone/>
            </a:pPr>
            <a:r>
              <a:rPr lang="en-GB" b="1" dirty="0">
                <a:latin typeface="Courier"/>
                <a:ea typeface="Courier New"/>
                <a:cs typeface="Courier"/>
              </a:rPr>
              <a:t>[return]}</a:t>
            </a:r>
          </a:p>
          <a:p>
            <a:pPr marL="0" indent="0">
              <a:buNone/>
            </a:pPr>
            <a:endParaRPr lang="en-GB" dirty="0">
              <a:solidFill>
                <a:schemeClr val="tx1"/>
              </a:solidFill>
              <a:latin typeface="Arial" charset="0"/>
            </a:endParaRPr>
          </a:p>
          <a:p>
            <a:r>
              <a:rPr lang="en-GB" dirty="0">
                <a:solidFill>
                  <a:schemeClr val="tx1"/>
                </a:solidFill>
                <a:latin typeface="Arial" charset="0"/>
              </a:rPr>
              <a:t>Function</a:t>
            </a:r>
          </a:p>
          <a:p>
            <a:pPr lvl="1"/>
            <a:r>
              <a:rPr lang="en-GB" dirty="0">
                <a:solidFill>
                  <a:schemeClr val="tx1"/>
                </a:solidFill>
                <a:latin typeface="Arial" charset="0"/>
              </a:rPr>
              <a:t>Functions have to be defined in the beginning of the script</a:t>
            </a:r>
          </a:p>
          <a:p>
            <a:pPr lvl="1"/>
            <a:r>
              <a:rPr lang="en-GB" dirty="0">
                <a:solidFill>
                  <a:schemeClr val="tx1"/>
                </a:solidFill>
                <a:latin typeface="Arial" charset="0"/>
              </a:rPr>
              <a:t>They may have or not arguments</a:t>
            </a:r>
          </a:p>
          <a:p>
            <a:pPr lvl="1"/>
            <a:r>
              <a:rPr lang="en-GB" dirty="0">
                <a:solidFill>
                  <a:schemeClr val="tx1"/>
                </a:solidFill>
                <a:latin typeface="Arial" charset="0"/>
              </a:rPr>
              <a:t>Arguments and return values can be of any type</a:t>
            </a:r>
          </a:p>
          <a:p>
            <a:pPr lvl="1"/>
            <a:r>
              <a:rPr lang="en-GB" dirty="0">
                <a:solidFill>
                  <a:schemeClr val="tx1"/>
                </a:solidFill>
                <a:latin typeface="Arial" charset="0"/>
              </a:rPr>
              <a:t>The variables defined inside the function are GLOBAL. They have to be defined LOCAL, if we want to reduce their scope</a:t>
            </a:r>
          </a:p>
        </p:txBody>
      </p:sp>
    </p:spTree>
    <p:extLst>
      <p:ext uri="{BB962C8B-B14F-4D97-AF65-F5344CB8AC3E}">
        <p14:creationId xmlns:p14="http://schemas.microsoft.com/office/powerpoint/2010/main" val="38494652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7A20496B-0CAA-CF4F-A60A-C2F15B752635}" type="slidenum">
              <a:rPr lang="fr-FR" sz="1400">
                <a:solidFill>
                  <a:srgbClr val="000208"/>
                </a:solidFill>
                <a:latin typeface="Times New Roman" charset="0"/>
              </a:rPr>
              <a:pPr lvl="2"/>
              <a:t>74</a:t>
            </a:fld>
            <a:endParaRPr lang="fr-FR" sz="1400">
              <a:solidFill>
                <a:srgbClr val="000208"/>
              </a:solidFill>
              <a:latin typeface="Times New Roman" charset="0"/>
            </a:endParaRPr>
          </a:p>
        </p:txBody>
      </p:sp>
      <p:sp>
        <p:nvSpPr>
          <p:cNvPr id="25605" name="Rectangle 2"/>
          <p:cNvSpPr>
            <a:spLocks noGrp="1" noChangeArrowheads="1"/>
          </p:cNvSpPr>
          <p:nvPr>
            <p:ph type="title"/>
          </p:nvPr>
        </p:nvSpPr>
        <p:spPr>
          <a:xfrm>
            <a:off x="304800" y="159296"/>
            <a:ext cx="7772400" cy="533400"/>
          </a:xfrm>
        </p:spPr>
        <p:txBody>
          <a:bodyPr/>
          <a:lstStyle/>
          <a:p>
            <a:r>
              <a:rPr lang="en-US" sz="2800" dirty="0">
                <a:latin typeface="Arial" charset="0"/>
              </a:rPr>
              <a:t>Functions: </a:t>
            </a:r>
            <a:r>
              <a:rPr lang="en-US" sz="2800" dirty="0">
                <a:latin typeface="+mn-lt"/>
                <a:cs typeface="Courier"/>
              </a:rPr>
              <a:t>Example</a:t>
            </a:r>
            <a:endParaRPr lang="en-US" sz="2800" dirty="0">
              <a:latin typeface="Courier"/>
              <a:cs typeface="Courier"/>
            </a:endParaRPr>
          </a:p>
        </p:txBody>
      </p:sp>
      <p:sp>
        <p:nvSpPr>
          <p:cNvPr id="21"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3" name="TextBox 2"/>
          <p:cNvSpPr txBox="1"/>
          <p:nvPr/>
        </p:nvSpPr>
        <p:spPr>
          <a:xfrm>
            <a:off x="1547664" y="4509120"/>
            <a:ext cx="5652628" cy="1877437"/>
          </a:xfrm>
          <a:prstGeom prst="rect">
            <a:avLst/>
          </a:prstGeom>
          <a:solidFill>
            <a:srgbClr val="000000"/>
          </a:solidFill>
        </p:spPr>
        <p:txBody>
          <a:bodyPr wrap="square" rtlCol="0">
            <a:spAutoFit/>
          </a:bodyPr>
          <a:lstStyle/>
          <a:p>
            <a:pPr algn="l"/>
            <a:r>
              <a:rPr lang="en-US" sz="2000" dirty="0">
                <a:solidFill>
                  <a:srgbClr val="FFFFFF"/>
                </a:solidFill>
                <a:latin typeface="Courier"/>
                <a:cs typeface="Courier"/>
              </a:rPr>
              <a:t>a global variable</a:t>
            </a:r>
          </a:p>
          <a:p>
            <a:pPr algn="l"/>
            <a:r>
              <a:rPr lang="en-US" sz="2000" dirty="0">
                <a:solidFill>
                  <a:srgbClr val="FFFFFF"/>
                </a:solidFill>
                <a:latin typeface="Courier"/>
                <a:cs typeface="Courier"/>
              </a:rPr>
              <a:t>a global variable</a:t>
            </a:r>
          </a:p>
          <a:p>
            <a:pPr algn="l"/>
            <a:r>
              <a:rPr lang="en-US" sz="2000" dirty="0">
                <a:solidFill>
                  <a:srgbClr val="FFFFFF"/>
                </a:solidFill>
                <a:latin typeface="Courier"/>
                <a:cs typeface="Courier"/>
              </a:rPr>
              <a:t>this is local</a:t>
            </a:r>
          </a:p>
          <a:p>
            <a:pPr algn="l"/>
            <a:r>
              <a:rPr lang="en-US" sz="2000" dirty="0">
                <a:solidFill>
                  <a:srgbClr val="FFFFFF"/>
                </a:solidFill>
                <a:latin typeface="Courier"/>
                <a:cs typeface="Courier"/>
              </a:rPr>
              <a:t>a global with new value</a:t>
            </a:r>
          </a:p>
          <a:p>
            <a:pPr algn="l"/>
            <a:endParaRPr lang="en-US" sz="2000" dirty="0">
              <a:solidFill>
                <a:srgbClr val="FFFFFF"/>
              </a:solidFill>
              <a:latin typeface="Courier"/>
              <a:cs typeface="Courier"/>
            </a:endParaRPr>
          </a:p>
        </p:txBody>
      </p:sp>
      <p:sp>
        <p:nvSpPr>
          <p:cNvPr id="7" name="TextBox 6"/>
          <p:cNvSpPr txBox="1"/>
          <p:nvPr/>
        </p:nvSpPr>
        <p:spPr>
          <a:xfrm>
            <a:off x="791580" y="958946"/>
            <a:ext cx="7461212" cy="3370154"/>
          </a:xfrm>
          <a:prstGeom prst="rect">
            <a:avLst/>
          </a:prstGeom>
          <a:solidFill>
            <a:srgbClr val="000000"/>
          </a:solidFill>
        </p:spPr>
        <p:txBody>
          <a:bodyPr wrap="square" rtlCol="0">
            <a:spAutoFit/>
          </a:bodyPr>
          <a:lstStyle/>
          <a:p>
            <a:pPr algn="l">
              <a:lnSpc>
                <a:spcPct val="70000"/>
              </a:lnSpc>
            </a:pPr>
            <a:r>
              <a:rPr lang="en-US" sz="2000" dirty="0">
                <a:solidFill>
                  <a:srgbClr val="FFFFFF"/>
                </a:solidFill>
                <a:latin typeface="Courier"/>
                <a:cs typeface="Courier"/>
              </a:rPr>
              <a:t>#!/bin/bash</a:t>
            </a:r>
          </a:p>
          <a:p>
            <a:pPr algn="l">
              <a:lnSpc>
                <a:spcPct val="70000"/>
              </a:lnSpc>
            </a:pPr>
            <a:r>
              <a:rPr lang="en-US" sz="2000" dirty="0">
                <a:solidFill>
                  <a:srgbClr val="FFFFFF"/>
                </a:solidFill>
                <a:latin typeface="Courier"/>
                <a:cs typeface="Courier"/>
              </a:rPr>
              <a:t>o</a:t>
            </a:r>
            <a:r>
              <a:rPr lang="en-US" sz="2000">
                <a:solidFill>
                  <a:srgbClr val="FFFFFF"/>
                </a:solidFill>
                <a:latin typeface="Courier"/>
                <a:cs typeface="Courier"/>
              </a:rPr>
              <a:t>utside</a:t>
            </a:r>
            <a:r>
              <a:rPr lang="en-US" sz="2000" dirty="0">
                <a:solidFill>
                  <a:srgbClr val="FFFFFF"/>
                </a:solidFill>
                <a:latin typeface="Courier"/>
                <a:cs typeface="Courier"/>
              </a:rPr>
              <a:t>=</a:t>
            </a:r>
            <a:r>
              <a:rPr lang="en-US" sz="2000" b="1" dirty="0">
                <a:solidFill>
                  <a:schemeClr val="bg1"/>
                </a:solidFill>
                <a:latin typeface="Courier New"/>
                <a:ea typeface="Courier New"/>
              </a:rPr>
              <a:t>"</a:t>
            </a:r>
            <a:r>
              <a:rPr lang="en-US" sz="2000" dirty="0">
                <a:solidFill>
                  <a:srgbClr val="FFFFFF"/>
                </a:solidFill>
                <a:latin typeface="Courier"/>
                <a:cs typeface="Courier"/>
              </a:rPr>
              <a:t>a global variable</a:t>
            </a:r>
            <a:r>
              <a:rPr lang="en-US" sz="2000" b="1" dirty="0">
                <a:solidFill>
                  <a:schemeClr val="bg1"/>
                </a:solidFill>
                <a:latin typeface="Courier New"/>
                <a:ea typeface="Courier New"/>
              </a:rPr>
              <a:t>"</a:t>
            </a:r>
            <a:endParaRPr lang="en-US" sz="2000" dirty="0">
              <a:solidFill>
                <a:srgbClr val="FFFFFF"/>
              </a:solidFill>
              <a:latin typeface="Courier"/>
              <a:cs typeface="Courier"/>
            </a:endParaRPr>
          </a:p>
          <a:p>
            <a:pPr algn="l">
              <a:lnSpc>
                <a:spcPct val="70000"/>
              </a:lnSpc>
            </a:pPr>
            <a:r>
              <a:rPr lang="en-US" sz="2000" dirty="0">
                <a:solidFill>
                  <a:srgbClr val="FFFFFF"/>
                </a:solidFill>
                <a:latin typeface="Courier"/>
                <a:cs typeface="Courier"/>
              </a:rPr>
              <a:t>function mine() {</a:t>
            </a:r>
          </a:p>
          <a:p>
            <a:pPr algn="l">
              <a:lnSpc>
                <a:spcPct val="70000"/>
              </a:lnSpc>
            </a:pPr>
            <a:r>
              <a:rPr lang="en-US" sz="2000" dirty="0">
                <a:solidFill>
                  <a:srgbClr val="FFFFFF"/>
                </a:solidFill>
                <a:latin typeface="Courier"/>
                <a:cs typeface="Courier"/>
              </a:rPr>
              <a:t>	local inside=</a:t>
            </a:r>
            <a:r>
              <a:rPr lang="en-US" sz="2000" b="1" dirty="0">
                <a:solidFill>
                  <a:schemeClr val="bg1"/>
                </a:solidFill>
                <a:latin typeface="Courier New"/>
                <a:ea typeface="Courier New"/>
              </a:rPr>
              <a:t>"</a:t>
            </a:r>
            <a:r>
              <a:rPr lang="en-US" sz="2000" dirty="0">
                <a:solidFill>
                  <a:srgbClr val="FFFFFF"/>
                </a:solidFill>
                <a:latin typeface="Courier"/>
                <a:cs typeface="Courier"/>
              </a:rPr>
              <a:t>this is local</a:t>
            </a:r>
            <a:r>
              <a:rPr lang="en-US" sz="2000" b="1" dirty="0">
                <a:solidFill>
                  <a:schemeClr val="bg1"/>
                </a:solidFill>
                <a:latin typeface="Courier New"/>
                <a:ea typeface="Courier New"/>
              </a:rPr>
              <a:t>"</a:t>
            </a:r>
            <a:endParaRPr lang="en-US" sz="2000" dirty="0">
              <a:solidFill>
                <a:srgbClr val="FFFFFF"/>
              </a:solidFill>
              <a:latin typeface="Courier"/>
              <a:cs typeface="Courier"/>
            </a:endParaRPr>
          </a:p>
          <a:p>
            <a:pPr algn="l">
              <a:lnSpc>
                <a:spcPct val="70000"/>
              </a:lnSpc>
            </a:pPr>
            <a:r>
              <a:rPr lang="en-US" sz="2000" dirty="0">
                <a:solidFill>
                  <a:srgbClr val="FFFFFF"/>
                </a:solidFill>
                <a:latin typeface="Courier"/>
                <a:cs typeface="Courier"/>
              </a:rPr>
              <a:t>	echo $outside</a:t>
            </a:r>
          </a:p>
          <a:p>
            <a:pPr algn="l">
              <a:lnSpc>
                <a:spcPct val="70000"/>
              </a:lnSpc>
            </a:pPr>
            <a:r>
              <a:rPr lang="en-US" sz="2000" dirty="0">
                <a:solidFill>
                  <a:srgbClr val="FFFFFF"/>
                </a:solidFill>
                <a:latin typeface="Courier"/>
                <a:cs typeface="Courier"/>
              </a:rPr>
              <a:t>	echo $inside</a:t>
            </a:r>
          </a:p>
          <a:p>
            <a:pPr algn="l">
              <a:lnSpc>
                <a:spcPct val="70000"/>
              </a:lnSpc>
            </a:pPr>
            <a:r>
              <a:rPr lang="en-US" sz="2000" dirty="0">
                <a:solidFill>
                  <a:srgbClr val="FFFFFF"/>
                </a:solidFill>
                <a:latin typeface="Courier"/>
                <a:cs typeface="Courier"/>
              </a:rPr>
              <a:t>	outside=</a:t>
            </a:r>
            <a:r>
              <a:rPr lang="en-US" sz="2000" b="1" dirty="0">
                <a:solidFill>
                  <a:schemeClr val="bg1"/>
                </a:solidFill>
                <a:latin typeface="Courier New"/>
                <a:ea typeface="Courier New"/>
              </a:rPr>
              <a:t>"</a:t>
            </a:r>
            <a:r>
              <a:rPr lang="en-US" sz="2000" dirty="0">
                <a:solidFill>
                  <a:srgbClr val="FFFFFF"/>
                </a:solidFill>
                <a:latin typeface="Courier"/>
                <a:cs typeface="Courier"/>
              </a:rPr>
              <a:t>a global with new value</a:t>
            </a:r>
            <a:r>
              <a:rPr lang="en-US" sz="2000" b="1" dirty="0">
                <a:solidFill>
                  <a:schemeClr val="bg1"/>
                </a:solidFill>
                <a:latin typeface="Courier New"/>
                <a:ea typeface="Courier New"/>
              </a:rPr>
              <a:t>"</a:t>
            </a:r>
            <a:endParaRPr lang="en-US" sz="2000" dirty="0">
              <a:solidFill>
                <a:srgbClr val="FFFFFF"/>
              </a:solidFill>
              <a:latin typeface="Courier"/>
              <a:cs typeface="Courier"/>
            </a:endParaRPr>
          </a:p>
          <a:p>
            <a:pPr algn="l">
              <a:lnSpc>
                <a:spcPct val="70000"/>
              </a:lnSpc>
            </a:pPr>
            <a:r>
              <a:rPr lang="en-US" sz="2000" dirty="0">
                <a:solidFill>
                  <a:srgbClr val="FFFFFF"/>
                </a:solidFill>
                <a:latin typeface="Courier"/>
                <a:cs typeface="Courier"/>
              </a:rPr>
              <a:t>}</a:t>
            </a:r>
          </a:p>
          <a:p>
            <a:pPr algn="l">
              <a:lnSpc>
                <a:spcPct val="70000"/>
              </a:lnSpc>
            </a:pPr>
            <a:r>
              <a:rPr lang="en-US" sz="2000" dirty="0">
                <a:solidFill>
                  <a:srgbClr val="FFFFFF"/>
                </a:solidFill>
                <a:latin typeface="Courier"/>
                <a:cs typeface="Courier"/>
              </a:rPr>
              <a:t>echo $outside</a:t>
            </a:r>
          </a:p>
          <a:p>
            <a:pPr algn="l">
              <a:lnSpc>
                <a:spcPct val="70000"/>
              </a:lnSpc>
            </a:pPr>
            <a:r>
              <a:rPr lang="en-US" sz="2000" dirty="0">
                <a:solidFill>
                  <a:srgbClr val="FFFFFF"/>
                </a:solidFill>
                <a:latin typeface="Courier"/>
                <a:cs typeface="Courier"/>
              </a:rPr>
              <a:t>mine</a:t>
            </a:r>
          </a:p>
          <a:p>
            <a:pPr algn="l">
              <a:lnSpc>
                <a:spcPct val="70000"/>
              </a:lnSpc>
            </a:pPr>
            <a:r>
              <a:rPr lang="en-US" sz="2000" dirty="0">
                <a:solidFill>
                  <a:srgbClr val="FFFFFF"/>
                </a:solidFill>
                <a:latin typeface="Courier"/>
                <a:cs typeface="Courier"/>
              </a:rPr>
              <a:t>echo $outside</a:t>
            </a:r>
          </a:p>
          <a:p>
            <a:pPr algn="l">
              <a:lnSpc>
                <a:spcPct val="70000"/>
              </a:lnSpc>
            </a:pPr>
            <a:r>
              <a:rPr lang="en-US" sz="2000" dirty="0">
                <a:solidFill>
                  <a:srgbClr val="FFFFFF"/>
                </a:solidFill>
                <a:latin typeface="Courier"/>
                <a:cs typeface="Courier"/>
              </a:rPr>
              <a:t>echo $inside</a:t>
            </a:r>
          </a:p>
        </p:txBody>
      </p:sp>
    </p:spTree>
    <p:extLst>
      <p:ext uri="{BB962C8B-B14F-4D97-AF65-F5344CB8AC3E}">
        <p14:creationId xmlns:p14="http://schemas.microsoft.com/office/powerpoint/2010/main" val="246835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4"/>
          <p:cNvSpPr>
            <a:spLocks noGrp="1"/>
          </p:cNvSpPr>
          <p:nvPr>
            <p:ph type="sldNum" sz="quarter" idx="11"/>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pPr lvl="2"/>
            <a:fld id="{5DEDF2FF-B025-0041-ABAD-B4936E7D52CC}" type="slidenum">
              <a:rPr lang="fr-FR" sz="1400">
                <a:solidFill>
                  <a:srgbClr val="000208"/>
                </a:solidFill>
                <a:latin typeface="Times New Roman" charset="0"/>
              </a:rPr>
              <a:pPr lvl="2"/>
              <a:t>75</a:t>
            </a:fld>
            <a:endParaRPr lang="fr-FR" sz="1400">
              <a:solidFill>
                <a:srgbClr val="000208"/>
              </a:solidFill>
              <a:latin typeface="Times New Roman" charset="0"/>
            </a:endParaRPr>
          </a:p>
        </p:txBody>
      </p:sp>
      <p:sp>
        <p:nvSpPr>
          <p:cNvPr id="7172" name="Rectangle 2"/>
          <p:cNvSpPr>
            <a:spLocks noGrp="1" noChangeArrowheads="1"/>
          </p:cNvSpPr>
          <p:nvPr>
            <p:ph type="ctrTitle"/>
          </p:nvPr>
        </p:nvSpPr>
        <p:spPr/>
        <p:txBody>
          <a:bodyPr/>
          <a:lstStyle/>
          <a:p>
            <a:r>
              <a:rPr lang="en-GB" dirty="0">
                <a:latin typeface="Arial" charset="0"/>
              </a:rPr>
              <a:t>TD1: </a:t>
            </a:r>
            <a:br>
              <a:rPr lang="en-GB" dirty="0">
                <a:latin typeface="Arial" charset="0"/>
              </a:rPr>
            </a:br>
            <a:r>
              <a:rPr lang="en-GB" dirty="0">
                <a:latin typeface="Arial" charset="0"/>
              </a:rPr>
              <a:t>Linux and Shell Exercises</a:t>
            </a:r>
          </a:p>
        </p:txBody>
      </p:sp>
      <p:sp>
        <p:nvSpPr>
          <p:cNvPr id="5"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210560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p:cNvSpPr>
            <a:spLocks noGrp="1"/>
          </p:cNvSpPr>
          <p:nvPr>
            <p:ph idx="1"/>
          </p:nvPr>
        </p:nvSpPr>
        <p:spPr>
          <a:xfrm>
            <a:off x="457200" y="914400"/>
            <a:ext cx="8261350" cy="5257800"/>
          </a:xfrm>
        </p:spPr>
        <p:txBody>
          <a:bodyPr/>
          <a:lstStyle/>
          <a:p>
            <a:pPr lvl="0"/>
            <a:r>
              <a:rPr lang="en-US" dirty="0"/>
              <a:t>List the entries inside the folder </a:t>
            </a:r>
            <a:r>
              <a:rPr lang="en-US" b="1" dirty="0"/>
              <a:t>/</a:t>
            </a:r>
            <a:r>
              <a:rPr lang="en-US" b="1" dirty="0" err="1"/>
              <a:t>usr</a:t>
            </a:r>
            <a:r>
              <a:rPr lang="en-US" b="1" dirty="0"/>
              <a:t>/bin</a:t>
            </a:r>
            <a:r>
              <a:rPr lang="en-US" dirty="0"/>
              <a:t> whose name starts with the letter </a:t>
            </a:r>
            <a:r>
              <a:rPr lang="en-US" i="1" dirty="0"/>
              <a:t>m. </a:t>
            </a:r>
          </a:p>
          <a:p>
            <a:pPr lvl="0"/>
            <a:endParaRPr lang="en-US" dirty="0"/>
          </a:p>
          <a:p>
            <a:pPr lvl="0"/>
            <a:r>
              <a:rPr lang="en-US" dirty="0"/>
              <a:t>List the entries inside the folder </a:t>
            </a:r>
            <a:r>
              <a:rPr lang="en-US" b="1" dirty="0"/>
              <a:t>/</a:t>
            </a:r>
            <a:r>
              <a:rPr lang="en-US" b="1" dirty="0" err="1"/>
              <a:t>usr</a:t>
            </a:r>
            <a:r>
              <a:rPr lang="en-US" b="1" dirty="0"/>
              <a:t>/bin</a:t>
            </a:r>
            <a:r>
              <a:rPr lang="en-US" dirty="0"/>
              <a:t> whose name starts with the letter </a:t>
            </a:r>
            <a:r>
              <a:rPr lang="en-US" i="1" dirty="0"/>
              <a:t>m </a:t>
            </a:r>
            <a:r>
              <a:rPr lang="en-US" dirty="0"/>
              <a:t>and it has exactly 3 characters</a:t>
            </a:r>
          </a:p>
          <a:p>
            <a:pPr lvl="0"/>
            <a:endParaRPr lang="en-US" dirty="0"/>
          </a:p>
          <a:p>
            <a:pPr lvl="0"/>
            <a:r>
              <a:rPr lang="en-US" dirty="0"/>
              <a:t>List the entries inside the folder </a:t>
            </a:r>
            <a:r>
              <a:rPr lang="en-US" b="1" dirty="0"/>
              <a:t>/</a:t>
            </a:r>
            <a:r>
              <a:rPr lang="en-US" b="1" dirty="0" err="1"/>
              <a:t>usr</a:t>
            </a:r>
            <a:r>
              <a:rPr lang="en-US" b="1" dirty="0"/>
              <a:t>/bin</a:t>
            </a:r>
            <a:r>
              <a:rPr lang="en-US" dirty="0"/>
              <a:t> whose name starts with the letter </a:t>
            </a:r>
            <a:r>
              <a:rPr lang="en-US" i="1" dirty="0"/>
              <a:t>m </a:t>
            </a:r>
            <a:r>
              <a:rPr lang="en-US" dirty="0"/>
              <a:t>and it has at least 3 characters</a:t>
            </a:r>
          </a:p>
          <a:p>
            <a:pPr lvl="0"/>
            <a:endParaRPr lang="en-US" dirty="0"/>
          </a:p>
          <a:p>
            <a:pPr lvl="0"/>
            <a:r>
              <a:rPr lang="en-US" dirty="0"/>
              <a:t>List the entries inside the folder </a:t>
            </a:r>
            <a:r>
              <a:rPr lang="en-US" b="1" dirty="0"/>
              <a:t>/</a:t>
            </a:r>
            <a:r>
              <a:rPr lang="en-US" b="1" dirty="0" err="1"/>
              <a:t>usr</a:t>
            </a:r>
            <a:r>
              <a:rPr lang="en-US" b="1" dirty="0"/>
              <a:t>/bin</a:t>
            </a:r>
            <a:r>
              <a:rPr lang="en-US" dirty="0"/>
              <a:t> whose name starts with the letter </a:t>
            </a:r>
            <a:r>
              <a:rPr lang="en-US" i="1" dirty="0"/>
              <a:t>m </a:t>
            </a:r>
            <a:r>
              <a:rPr lang="en-US" dirty="0"/>
              <a:t>and it has an extension (postfix after .)</a:t>
            </a:r>
          </a:p>
        </p:txBody>
      </p:sp>
      <p:sp>
        <p:nvSpPr>
          <p:cNvPr id="22" name="Title 1"/>
          <p:cNvSpPr>
            <a:spLocks noGrp="1"/>
          </p:cNvSpPr>
          <p:nvPr>
            <p:ph type="title"/>
          </p:nvPr>
        </p:nvSpPr>
        <p:spPr>
          <a:xfrm>
            <a:off x="304800" y="152400"/>
            <a:ext cx="7772400" cy="533400"/>
          </a:xfrm>
        </p:spPr>
        <p:txBody>
          <a:bodyPr/>
          <a:lstStyle/>
          <a:p>
            <a:r>
              <a:rPr lang="en-US" sz="2800" dirty="0"/>
              <a:t>Ex1: Wildcard characters</a:t>
            </a:r>
          </a:p>
        </p:txBody>
      </p:sp>
      <p:sp>
        <p:nvSpPr>
          <p:cNvPr id="24"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18429591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Ex2: Redirections</a:t>
            </a:r>
          </a:p>
        </p:txBody>
      </p:sp>
      <p:sp>
        <p:nvSpPr>
          <p:cNvPr id="3" name="Content Placeholder 2"/>
          <p:cNvSpPr>
            <a:spLocks noGrp="1"/>
          </p:cNvSpPr>
          <p:nvPr>
            <p:ph idx="1"/>
          </p:nvPr>
        </p:nvSpPr>
        <p:spPr/>
        <p:txBody>
          <a:bodyPr/>
          <a:lstStyle/>
          <a:p>
            <a:r>
              <a:rPr lang="en-US" dirty="0"/>
              <a:t>Given the following file hierarchy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b="1" dirty="0">
                <a:latin typeface="Courier"/>
                <a:cs typeface="Courier"/>
              </a:rPr>
              <a:t>user2</a:t>
            </a:r>
            <a:r>
              <a:rPr lang="en-US" dirty="0"/>
              <a:t> is connected at his home folder</a:t>
            </a:r>
          </a:p>
          <a:p>
            <a:r>
              <a:rPr lang="en-US" dirty="0"/>
              <a:t>Use the command </a:t>
            </a:r>
            <a:r>
              <a:rPr lang="en-US" b="1" dirty="0">
                <a:latin typeface="Courier"/>
                <a:cs typeface="Courier"/>
              </a:rPr>
              <a:t>cat</a:t>
            </a:r>
            <a:r>
              <a:rPr lang="en-US" dirty="0"/>
              <a:t> :</a:t>
            </a:r>
          </a:p>
          <a:p>
            <a:pPr lvl="1"/>
            <a:r>
              <a:rPr lang="en-US" dirty="0"/>
              <a:t>Create a file </a:t>
            </a:r>
            <a:r>
              <a:rPr lang="en-US" b="1" dirty="0">
                <a:latin typeface="Courier"/>
                <a:cs typeface="Courier"/>
              </a:rPr>
              <a:t>f5</a:t>
            </a:r>
            <a:r>
              <a:rPr lang="en-US" dirty="0"/>
              <a:t> with the following content</a:t>
            </a:r>
          </a:p>
          <a:p>
            <a:pPr marL="542925" lvl="1" indent="0">
              <a:buNone/>
            </a:pPr>
            <a:r>
              <a:rPr lang="en-US" dirty="0"/>
              <a:t>5 2 3 -1</a:t>
            </a:r>
          </a:p>
          <a:p>
            <a:pPr lvl="1"/>
            <a:r>
              <a:rPr lang="en-US" dirty="0"/>
              <a:t>Create a file</a:t>
            </a:r>
            <a:r>
              <a:rPr lang="en-US" b="1" dirty="0">
                <a:cs typeface="Courier"/>
              </a:rPr>
              <a:t> </a:t>
            </a:r>
            <a:r>
              <a:rPr lang="en-US" b="1" dirty="0">
                <a:latin typeface="Courier"/>
                <a:cs typeface="Courier"/>
              </a:rPr>
              <a:t>f6</a:t>
            </a:r>
            <a:r>
              <a:rPr lang="en-US" b="1" dirty="0">
                <a:cs typeface="Courier"/>
              </a:rPr>
              <a:t> </a:t>
            </a:r>
            <a:r>
              <a:rPr lang="en-US" dirty="0"/>
              <a:t>by concatenating </a:t>
            </a:r>
            <a:r>
              <a:rPr lang="en-US" b="1" dirty="0">
                <a:latin typeface="Courier"/>
                <a:cs typeface="Courier"/>
              </a:rPr>
              <a:t>f5</a:t>
            </a:r>
            <a:r>
              <a:rPr lang="en-US" dirty="0"/>
              <a:t> after </a:t>
            </a:r>
            <a:r>
              <a:rPr lang="en-US" b="1" dirty="0">
                <a:latin typeface="Courier"/>
                <a:cs typeface="Courier"/>
              </a:rPr>
              <a:t>f4</a:t>
            </a:r>
          </a:p>
          <a:p>
            <a:pPr lvl="1"/>
            <a:r>
              <a:rPr lang="en-US" dirty="0"/>
              <a:t>Add the file </a:t>
            </a:r>
            <a:r>
              <a:rPr lang="en-US" b="1" dirty="0">
                <a:latin typeface="Courier"/>
                <a:cs typeface="Courier"/>
              </a:rPr>
              <a:t>f1</a:t>
            </a:r>
            <a:r>
              <a:rPr lang="en-US" dirty="0"/>
              <a:t> of </a:t>
            </a:r>
            <a:r>
              <a:rPr lang="en-US" b="1" dirty="0">
                <a:latin typeface="Courier"/>
                <a:cs typeface="Courier"/>
              </a:rPr>
              <a:t>user1</a:t>
            </a:r>
            <a:r>
              <a:rPr lang="en-US" dirty="0"/>
              <a:t> at the file </a:t>
            </a:r>
            <a:r>
              <a:rPr lang="en-US" b="1" dirty="0">
                <a:latin typeface="Courier"/>
                <a:cs typeface="Courier"/>
              </a:rPr>
              <a:t>f6</a:t>
            </a:r>
          </a:p>
          <a:p>
            <a:pPr lvl="1"/>
            <a:r>
              <a:rPr lang="en-US" dirty="0"/>
              <a:t>Copy the file </a:t>
            </a:r>
            <a:r>
              <a:rPr lang="en-US" b="1" dirty="0">
                <a:latin typeface="Courier"/>
                <a:cs typeface="Courier"/>
              </a:rPr>
              <a:t>f2</a:t>
            </a:r>
            <a:r>
              <a:rPr lang="en-US" dirty="0"/>
              <a:t> of </a:t>
            </a:r>
            <a:r>
              <a:rPr lang="en-US" b="1" dirty="0">
                <a:latin typeface="Courier"/>
                <a:cs typeface="Courier"/>
              </a:rPr>
              <a:t>user1</a:t>
            </a:r>
            <a:r>
              <a:rPr lang="en-US" dirty="0"/>
              <a:t> as a new file </a:t>
            </a:r>
            <a:r>
              <a:rPr lang="en-US" b="1" dirty="0">
                <a:latin typeface="Courier"/>
                <a:cs typeface="Courier"/>
              </a:rPr>
              <a:t>f7</a:t>
            </a:r>
            <a:r>
              <a:rPr lang="en-US" dirty="0"/>
              <a:t> of </a:t>
            </a:r>
            <a:r>
              <a:rPr lang="en-US" b="1" dirty="0">
                <a:latin typeface="Courier"/>
                <a:cs typeface="Courier"/>
              </a:rPr>
              <a:t>user2</a:t>
            </a:r>
          </a:p>
        </p:txBody>
      </p:sp>
      <p:sp>
        <p:nvSpPr>
          <p:cNvPr id="5" name="Slide Number Placeholder 4"/>
          <p:cNvSpPr>
            <a:spLocks noGrp="1"/>
          </p:cNvSpPr>
          <p:nvPr>
            <p:ph type="sldNum" sz="quarter" idx="11"/>
          </p:nvPr>
        </p:nvSpPr>
        <p:spPr/>
        <p:txBody>
          <a:bodyPr/>
          <a:lstStyle/>
          <a:p>
            <a:pPr lvl="2"/>
            <a:fld id="{28BEB0BA-EEE4-5F45-9179-3BC54B76BCCF}" type="slidenum">
              <a:rPr lang="fr-FR" smtClean="0"/>
              <a:pPr lvl="2"/>
              <a:t>77</a:t>
            </a:fld>
            <a:endParaRPr lang="fr-FR"/>
          </a:p>
        </p:txBody>
      </p:sp>
      <p:sp>
        <p:nvSpPr>
          <p:cNvPr id="6" name="CustomShape 3"/>
          <p:cNvSpPr/>
          <p:nvPr/>
        </p:nvSpPr>
        <p:spPr>
          <a:xfrm>
            <a:off x="3797280" y="1460520"/>
            <a:ext cx="873000" cy="366840"/>
          </a:xfrm>
          <a:prstGeom prst="rect">
            <a:avLst/>
          </a:prstGeom>
        </p:spPr>
        <p:txBody>
          <a:bodyPr lIns="92160" tIns="46080" rIns="92160" bIns="46080"/>
          <a:lstStyle/>
          <a:p>
            <a:pPr algn="ctr">
              <a:lnSpc>
                <a:spcPct val="100000"/>
              </a:lnSpc>
              <a:buSzPct val="25000"/>
            </a:pPr>
            <a:r>
              <a:rPr lang="fr-FR" sz="2000" b="1" dirty="0" err="1">
                <a:solidFill>
                  <a:srgbClr val="010507"/>
                </a:solidFill>
                <a:latin typeface="Courier New"/>
                <a:ea typeface="Courier New"/>
              </a:rPr>
              <a:t>usr</a:t>
            </a:r>
            <a:endParaRPr sz="2000" dirty="0"/>
          </a:p>
        </p:txBody>
      </p:sp>
      <p:sp>
        <p:nvSpPr>
          <p:cNvPr id="7" name="CustomShape 4"/>
          <p:cNvSpPr/>
          <p:nvPr/>
        </p:nvSpPr>
        <p:spPr>
          <a:xfrm>
            <a:off x="1969920" y="2084400"/>
            <a:ext cx="1051200" cy="366840"/>
          </a:xfrm>
          <a:prstGeom prst="rect">
            <a:avLst/>
          </a:prstGeom>
        </p:spPr>
        <p:txBody>
          <a:bodyPr lIns="92160" tIns="46080" rIns="92160" bIns="46080"/>
          <a:lstStyle/>
          <a:p>
            <a:pPr algn="ctr">
              <a:lnSpc>
                <a:spcPct val="100000"/>
              </a:lnSpc>
              <a:buSzPct val="25000"/>
            </a:pPr>
            <a:r>
              <a:rPr lang="fr-FR" sz="2000" b="1" dirty="0">
                <a:solidFill>
                  <a:srgbClr val="010507"/>
                </a:solidFill>
                <a:latin typeface="Courier New"/>
                <a:ea typeface="Courier New"/>
              </a:rPr>
              <a:t>user1</a:t>
            </a:r>
            <a:endParaRPr sz="2000" dirty="0"/>
          </a:p>
        </p:txBody>
      </p:sp>
      <p:sp>
        <p:nvSpPr>
          <p:cNvPr id="8" name="CustomShape 5"/>
          <p:cNvSpPr/>
          <p:nvPr/>
        </p:nvSpPr>
        <p:spPr>
          <a:xfrm>
            <a:off x="4905360" y="2085840"/>
            <a:ext cx="1406520" cy="366840"/>
          </a:xfrm>
          <a:prstGeom prst="rect">
            <a:avLst/>
          </a:prstGeom>
        </p:spPr>
        <p:txBody>
          <a:bodyPr lIns="92160" tIns="46080" rIns="92160" bIns="46080"/>
          <a:lstStyle/>
          <a:p>
            <a:pPr algn="ctr">
              <a:lnSpc>
                <a:spcPct val="100000"/>
              </a:lnSpc>
              <a:buSzPct val="25000"/>
            </a:pPr>
            <a:r>
              <a:rPr lang="fr-FR" sz="2000" b="1" dirty="0">
                <a:solidFill>
                  <a:srgbClr val="010507"/>
                </a:solidFill>
                <a:latin typeface="Courier New"/>
                <a:ea typeface="Courier New"/>
              </a:rPr>
              <a:t>user2</a:t>
            </a:r>
            <a:endParaRPr sz="2000" dirty="0"/>
          </a:p>
        </p:txBody>
      </p:sp>
      <p:sp>
        <p:nvSpPr>
          <p:cNvPr id="9" name="CustomShape 6"/>
          <p:cNvSpPr/>
          <p:nvPr/>
        </p:nvSpPr>
        <p:spPr>
          <a:xfrm>
            <a:off x="4602240" y="2900520"/>
            <a:ext cx="415800" cy="366840"/>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f4</a:t>
            </a:r>
            <a:endParaRPr sz="2000" dirty="0"/>
          </a:p>
        </p:txBody>
      </p:sp>
      <p:sp>
        <p:nvSpPr>
          <p:cNvPr id="10" name="CustomShape 7"/>
          <p:cNvSpPr/>
          <p:nvPr/>
        </p:nvSpPr>
        <p:spPr>
          <a:xfrm>
            <a:off x="1403280" y="2901960"/>
            <a:ext cx="416160" cy="366840"/>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f1</a:t>
            </a:r>
            <a:endParaRPr sz="2000" dirty="0"/>
          </a:p>
        </p:txBody>
      </p:sp>
      <p:sp>
        <p:nvSpPr>
          <p:cNvPr id="11" name="CustomShape 8"/>
          <p:cNvSpPr/>
          <p:nvPr/>
        </p:nvSpPr>
        <p:spPr>
          <a:xfrm>
            <a:off x="2230560" y="2903400"/>
            <a:ext cx="415800" cy="366840"/>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f2</a:t>
            </a:r>
            <a:endParaRPr sz="2000" dirty="0"/>
          </a:p>
        </p:txBody>
      </p:sp>
      <p:sp>
        <p:nvSpPr>
          <p:cNvPr id="12" name="CustomShape 9"/>
          <p:cNvSpPr/>
          <p:nvPr/>
        </p:nvSpPr>
        <p:spPr>
          <a:xfrm>
            <a:off x="3070080" y="2905200"/>
            <a:ext cx="416160" cy="366840"/>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f3</a:t>
            </a:r>
            <a:endParaRPr sz="2000" dirty="0"/>
          </a:p>
        </p:txBody>
      </p:sp>
      <p:sp>
        <p:nvSpPr>
          <p:cNvPr id="13" name="Line 10"/>
          <p:cNvSpPr/>
          <p:nvPr/>
        </p:nvSpPr>
        <p:spPr>
          <a:xfrm flipV="1">
            <a:off x="2565360" y="1698480"/>
            <a:ext cx="1368360" cy="371520"/>
          </a:xfrm>
          <a:prstGeom prst="line">
            <a:avLst/>
          </a:prstGeom>
          <a:ln w="6480">
            <a:solidFill>
              <a:srgbClr val="000208"/>
            </a:solidFill>
            <a:miter/>
          </a:ln>
        </p:spPr>
        <p:txBody>
          <a:bodyPr/>
          <a:lstStyle/>
          <a:p>
            <a:endParaRPr lang="fr-FR"/>
          </a:p>
        </p:txBody>
      </p:sp>
      <p:sp>
        <p:nvSpPr>
          <p:cNvPr id="14" name="Line 11"/>
          <p:cNvSpPr/>
          <p:nvPr/>
        </p:nvSpPr>
        <p:spPr>
          <a:xfrm>
            <a:off x="4444920" y="1701720"/>
            <a:ext cx="1063800" cy="403200"/>
          </a:xfrm>
          <a:prstGeom prst="line">
            <a:avLst/>
          </a:prstGeom>
          <a:ln w="6480">
            <a:solidFill>
              <a:srgbClr val="000208"/>
            </a:solidFill>
            <a:miter/>
          </a:ln>
        </p:spPr>
        <p:txBody>
          <a:bodyPr/>
          <a:lstStyle/>
          <a:p>
            <a:endParaRPr lang="fr-FR"/>
          </a:p>
        </p:txBody>
      </p:sp>
      <p:sp>
        <p:nvSpPr>
          <p:cNvPr id="15" name="Line 12"/>
          <p:cNvSpPr/>
          <p:nvPr/>
        </p:nvSpPr>
        <p:spPr>
          <a:xfrm flipV="1">
            <a:off x="1752480" y="2460600"/>
            <a:ext cx="403200" cy="434880"/>
          </a:xfrm>
          <a:prstGeom prst="line">
            <a:avLst/>
          </a:prstGeom>
          <a:ln w="6480">
            <a:solidFill>
              <a:srgbClr val="000208"/>
            </a:solidFill>
            <a:miter/>
          </a:ln>
        </p:spPr>
        <p:txBody>
          <a:bodyPr/>
          <a:lstStyle/>
          <a:p>
            <a:endParaRPr lang="fr-FR"/>
          </a:p>
        </p:txBody>
      </p:sp>
      <p:sp>
        <p:nvSpPr>
          <p:cNvPr id="16" name="Line 13"/>
          <p:cNvSpPr/>
          <p:nvPr/>
        </p:nvSpPr>
        <p:spPr>
          <a:xfrm flipV="1">
            <a:off x="2451240" y="2448000"/>
            <a:ext cx="9360" cy="409680"/>
          </a:xfrm>
          <a:prstGeom prst="line">
            <a:avLst/>
          </a:prstGeom>
          <a:ln w="6480">
            <a:solidFill>
              <a:srgbClr val="000208"/>
            </a:solidFill>
            <a:miter/>
          </a:ln>
        </p:spPr>
        <p:txBody>
          <a:bodyPr/>
          <a:lstStyle/>
          <a:p>
            <a:endParaRPr lang="fr-FR"/>
          </a:p>
        </p:txBody>
      </p:sp>
      <p:sp>
        <p:nvSpPr>
          <p:cNvPr id="17" name="Line 14"/>
          <p:cNvSpPr/>
          <p:nvPr/>
        </p:nvSpPr>
        <p:spPr>
          <a:xfrm>
            <a:off x="2895480" y="2463840"/>
            <a:ext cx="301680" cy="492120"/>
          </a:xfrm>
          <a:prstGeom prst="line">
            <a:avLst/>
          </a:prstGeom>
          <a:ln w="6480">
            <a:solidFill>
              <a:srgbClr val="000208"/>
            </a:solidFill>
            <a:miter/>
          </a:ln>
        </p:spPr>
        <p:txBody>
          <a:bodyPr/>
          <a:lstStyle/>
          <a:p>
            <a:endParaRPr lang="fr-FR"/>
          </a:p>
        </p:txBody>
      </p:sp>
      <p:sp>
        <p:nvSpPr>
          <p:cNvPr id="18" name="Line 15"/>
          <p:cNvSpPr/>
          <p:nvPr/>
        </p:nvSpPr>
        <p:spPr>
          <a:xfrm flipV="1">
            <a:off x="4915080" y="2472840"/>
            <a:ext cx="479160" cy="397080"/>
          </a:xfrm>
          <a:prstGeom prst="line">
            <a:avLst/>
          </a:prstGeom>
          <a:ln w="6480">
            <a:solidFill>
              <a:srgbClr val="000208"/>
            </a:solidFill>
            <a:miter/>
          </a:ln>
        </p:spPr>
        <p:txBody>
          <a:bodyPr/>
          <a:lstStyle/>
          <a:p>
            <a:endParaRPr lang="fr-FR"/>
          </a:p>
        </p:txBody>
      </p:sp>
      <p:sp>
        <p:nvSpPr>
          <p:cNvPr id="19"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20423784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p:cNvSpPr>
            <a:spLocks noGrp="1"/>
          </p:cNvSpPr>
          <p:nvPr>
            <p:ph idx="1"/>
          </p:nvPr>
        </p:nvSpPr>
        <p:spPr>
          <a:xfrm>
            <a:off x="457200" y="914400"/>
            <a:ext cx="8261350" cy="5257800"/>
          </a:xfrm>
        </p:spPr>
        <p:txBody>
          <a:bodyPr/>
          <a:lstStyle/>
          <a:p>
            <a:r>
              <a:rPr lang="en-US" dirty="0"/>
              <a:t>Create script with the name </a:t>
            </a:r>
            <a:r>
              <a:rPr lang="en-US" b="1" dirty="0">
                <a:latin typeface="Courier"/>
                <a:cs typeface="Courier"/>
              </a:rPr>
              <a:t>execution</a:t>
            </a:r>
            <a:r>
              <a:rPr lang="en-US" dirty="0"/>
              <a:t> called with 3 arguments </a:t>
            </a:r>
            <a:r>
              <a:rPr lang="en-US" b="1" dirty="0">
                <a:latin typeface="Courier"/>
                <a:cs typeface="Courier"/>
              </a:rPr>
              <a:t>n1 n2 n3 </a:t>
            </a:r>
            <a:r>
              <a:rPr lang="en-US" dirty="0"/>
              <a:t>(which are the filenames) performing the following manipulations</a:t>
            </a:r>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b="1" dirty="0">
              <a:latin typeface="Courier"/>
              <a:cs typeface="Courier"/>
            </a:endParaRPr>
          </a:p>
          <a:p>
            <a:endParaRPr lang="en-US" b="1" dirty="0">
              <a:latin typeface="Courier"/>
              <a:cs typeface="Courier"/>
            </a:endParaRPr>
          </a:p>
          <a:p>
            <a:r>
              <a:rPr lang="en-US" b="1" dirty="0">
                <a:latin typeface="Courier"/>
                <a:cs typeface="Courier"/>
              </a:rPr>
              <a:t>P1 </a:t>
            </a:r>
            <a:r>
              <a:rPr lang="en-US" dirty="0">
                <a:cs typeface="Courier"/>
              </a:rPr>
              <a:t>and </a:t>
            </a:r>
            <a:r>
              <a:rPr lang="en-US" b="1" dirty="0">
                <a:latin typeface="Courier"/>
                <a:cs typeface="Courier"/>
              </a:rPr>
              <a:t>P2 </a:t>
            </a:r>
            <a:r>
              <a:rPr lang="en-US" dirty="0">
                <a:cs typeface="Courier"/>
              </a:rPr>
              <a:t>are programs that read from the </a:t>
            </a:r>
            <a:r>
              <a:rPr lang="en-US" dirty="0" err="1">
                <a:latin typeface="Courier"/>
                <a:cs typeface="Courier"/>
              </a:rPr>
              <a:t>stdin</a:t>
            </a:r>
            <a:r>
              <a:rPr lang="en-US" dirty="0">
                <a:cs typeface="Courier"/>
              </a:rPr>
              <a:t> and print their result to </a:t>
            </a:r>
            <a:r>
              <a:rPr lang="en-US" dirty="0" err="1">
                <a:latin typeface="Courier"/>
                <a:cs typeface="Courier"/>
              </a:rPr>
              <a:t>stdout</a:t>
            </a:r>
            <a:endParaRPr lang="en-US" dirty="0">
              <a:latin typeface="Courier"/>
              <a:cs typeface="Courier"/>
            </a:endParaRPr>
          </a:p>
        </p:txBody>
      </p:sp>
      <p:sp>
        <p:nvSpPr>
          <p:cNvPr id="300" name="Line 3"/>
          <p:cNvSpPr/>
          <p:nvPr/>
        </p:nvSpPr>
        <p:spPr>
          <a:xfrm>
            <a:off x="7676376" y="3334320"/>
            <a:ext cx="911520" cy="9000"/>
          </a:xfrm>
          <a:prstGeom prst="line">
            <a:avLst/>
          </a:prstGeom>
          <a:ln w="28440">
            <a:solidFill>
              <a:srgbClr val="000208"/>
            </a:solidFill>
            <a:miter/>
            <a:tailEnd type="triangle" w="med" len="med"/>
          </a:ln>
        </p:spPr>
        <p:txBody>
          <a:bodyPr/>
          <a:lstStyle/>
          <a:p>
            <a:endParaRPr lang="fr-FR"/>
          </a:p>
        </p:txBody>
      </p:sp>
      <p:sp>
        <p:nvSpPr>
          <p:cNvPr id="301" name="Line 4"/>
          <p:cNvSpPr/>
          <p:nvPr/>
        </p:nvSpPr>
        <p:spPr>
          <a:xfrm flipV="1">
            <a:off x="1511280" y="2815560"/>
            <a:ext cx="530280" cy="15480"/>
          </a:xfrm>
          <a:prstGeom prst="line">
            <a:avLst/>
          </a:prstGeom>
          <a:ln w="28440">
            <a:solidFill>
              <a:srgbClr val="000208"/>
            </a:solidFill>
            <a:miter/>
            <a:tailEnd type="triangle" w="med" len="med"/>
          </a:ln>
        </p:spPr>
        <p:txBody>
          <a:bodyPr/>
          <a:lstStyle/>
          <a:p>
            <a:endParaRPr lang="fr-FR"/>
          </a:p>
        </p:txBody>
      </p:sp>
      <p:sp>
        <p:nvSpPr>
          <p:cNvPr id="302" name="Line 5"/>
          <p:cNvSpPr/>
          <p:nvPr/>
        </p:nvSpPr>
        <p:spPr>
          <a:xfrm>
            <a:off x="1487520" y="3822840"/>
            <a:ext cx="542880" cy="0"/>
          </a:xfrm>
          <a:prstGeom prst="line">
            <a:avLst/>
          </a:prstGeom>
          <a:ln w="28440">
            <a:solidFill>
              <a:srgbClr val="000208"/>
            </a:solidFill>
            <a:miter/>
            <a:tailEnd type="triangle" w="med" len="med"/>
          </a:ln>
        </p:spPr>
        <p:txBody>
          <a:bodyPr/>
          <a:lstStyle/>
          <a:p>
            <a:endParaRPr lang="fr-FR"/>
          </a:p>
        </p:txBody>
      </p:sp>
      <p:sp>
        <p:nvSpPr>
          <p:cNvPr id="303" name="Line 6"/>
          <p:cNvSpPr/>
          <p:nvPr/>
        </p:nvSpPr>
        <p:spPr>
          <a:xfrm>
            <a:off x="2516040" y="2846160"/>
            <a:ext cx="873360" cy="0"/>
          </a:xfrm>
          <a:prstGeom prst="line">
            <a:avLst/>
          </a:prstGeom>
          <a:ln w="28440">
            <a:solidFill>
              <a:srgbClr val="000208"/>
            </a:solidFill>
            <a:miter/>
            <a:tailEnd type="triangle" w="med" len="med"/>
          </a:ln>
        </p:spPr>
        <p:txBody>
          <a:bodyPr/>
          <a:lstStyle/>
          <a:p>
            <a:endParaRPr lang="fr-FR"/>
          </a:p>
        </p:txBody>
      </p:sp>
      <p:sp>
        <p:nvSpPr>
          <p:cNvPr id="304" name="Line 7"/>
          <p:cNvSpPr/>
          <p:nvPr/>
        </p:nvSpPr>
        <p:spPr>
          <a:xfrm>
            <a:off x="2530440" y="3811680"/>
            <a:ext cx="873000" cy="0"/>
          </a:xfrm>
          <a:prstGeom prst="line">
            <a:avLst/>
          </a:prstGeom>
          <a:ln w="28440">
            <a:solidFill>
              <a:srgbClr val="000208"/>
            </a:solidFill>
            <a:miter/>
            <a:tailEnd type="triangle" w="med" len="med"/>
          </a:ln>
        </p:spPr>
        <p:txBody>
          <a:bodyPr/>
          <a:lstStyle/>
          <a:p>
            <a:endParaRPr lang="fr-FR"/>
          </a:p>
        </p:txBody>
      </p:sp>
      <p:sp>
        <p:nvSpPr>
          <p:cNvPr id="305" name="CustomShape 8"/>
          <p:cNvSpPr/>
          <p:nvPr/>
        </p:nvSpPr>
        <p:spPr>
          <a:xfrm>
            <a:off x="2055960" y="2624400"/>
            <a:ext cx="853920" cy="397440"/>
          </a:xfrm>
          <a:prstGeom prst="rect">
            <a:avLst/>
          </a:prstGeom>
          <a:solidFill>
            <a:srgbClr val="EAEAEA"/>
          </a:solidFill>
          <a:ln w="6480">
            <a:solidFill>
              <a:srgbClr val="000208"/>
            </a:solidFill>
            <a:miter/>
          </a:ln>
        </p:spPr>
        <p:txBody>
          <a:bodyPr lIns="92160" tIns="46080" rIns="92160" bIns="46080" anchor="ctr"/>
          <a:lstStyle/>
          <a:p>
            <a:pPr algn="ctr">
              <a:lnSpc>
                <a:spcPct val="100000"/>
              </a:lnSpc>
              <a:buSzPct val="25000"/>
            </a:pPr>
            <a:r>
              <a:rPr lang="fr-FR" sz="2400" dirty="0">
                <a:solidFill>
                  <a:srgbClr val="010507"/>
                </a:solidFill>
                <a:latin typeface="Arial"/>
              </a:rPr>
              <a:t>P1</a:t>
            </a:r>
            <a:endParaRPr sz="900" dirty="0"/>
          </a:p>
        </p:txBody>
      </p:sp>
      <p:sp>
        <p:nvSpPr>
          <p:cNvPr id="306" name="CustomShape 9"/>
          <p:cNvSpPr/>
          <p:nvPr/>
        </p:nvSpPr>
        <p:spPr>
          <a:xfrm>
            <a:off x="2057400" y="3602520"/>
            <a:ext cx="853920" cy="397440"/>
          </a:xfrm>
          <a:prstGeom prst="rect">
            <a:avLst/>
          </a:prstGeom>
          <a:solidFill>
            <a:srgbClr val="EAEAEA"/>
          </a:solidFill>
          <a:ln w="6480">
            <a:solidFill>
              <a:srgbClr val="000208"/>
            </a:solidFill>
            <a:miter/>
          </a:ln>
        </p:spPr>
        <p:txBody>
          <a:bodyPr lIns="92160" tIns="46080" rIns="92160" bIns="46080" anchor="ctr"/>
          <a:lstStyle/>
          <a:p>
            <a:pPr algn="ctr">
              <a:lnSpc>
                <a:spcPct val="100000"/>
              </a:lnSpc>
              <a:buSzPct val="25000"/>
            </a:pPr>
            <a:r>
              <a:rPr lang="fr-FR" sz="2400" dirty="0">
                <a:solidFill>
                  <a:srgbClr val="010507"/>
                </a:solidFill>
                <a:latin typeface="Arial"/>
              </a:rPr>
              <a:t>P1</a:t>
            </a:r>
            <a:endParaRPr sz="900" dirty="0"/>
          </a:p>
        </p:txBody>
      </p:sp>
      <p:sp>
        <p:nvSpPr>
          <p:cNvPr id="307" name="CustomShape 10"/>
          <p:cNvSpPr/>
          <p:nvPr/>
        </p:nvSpPr>
        <p:spPr>
          <a:xfrm>
            <a:off x="7149336" y="3147480"/>
            <a:ext cx="854280" cy="397440"/>
          </a:xfrm>
          <a:prstGeom prst="rect">
            <a:avLst/>
          </a:prstGeom>
          <a:solidFill>
            <a:srgbClr val="EAEAEA"/>
          </a:solidFill>
          <a:ln w="6480">
            <a:solidFill>
              <a:srgbClr val="000208"/>
            </a:solidFill>
            <a:miter/>
          </a:ln>
        </p:spPr>
        <p:txBody>
          <a:bodyPr lIns="92160" tIns="46080" rIns="92160" bIns="46080" anchor="ctr"/>
          <a:lstStyle/>
          <a:p>
            <a:pPr algn="ctr">
              <a:lnSpc>
                <a:spcPct val="100000"/>
              </a:lnSpc>
              <a:buSzPct val="25000"/>
            </a:pPr>
            <a:r>
              <a:rPr lang="fr-FR" sz="2400" dirty="0">
                <a:solidFill>
                  <a:srgbClr val="010507"/>
                </a:solidFill>
                <a:latin typeface="Arial"/>
              </a:rPr>
              <a:t>P2</a:t>
            </a:r>
            <a:endParaRPr sz="900" dirty="0"/>
          </a:p>
        </p:txBody>
      </p:sp>
      <p:sp>
        <p:nvSpPr>
          <p:cNvPr id="308" name="Line 11"/>
          <p:cNvSpPr/>
          <p:nvPr/>
        </p:nvSpPr>
        <p:spPr>
          <a:xfrm>
            <a:off x="4310660" y="2847600"/>
            <a:ext cx="441360" cy="491400"/>
          </a:xfrm>
          <a:prstGeom prst="line">
            <a:avLst/>
          </a:prstGeom>
          <a:ln w="28440">
            <a:solidFill>
              <a:srgbClr val="000208"/>
            </a:solidFill>
            <a:miter/>
            <a:tailEnd type="triangle" w="med" len="med"/>
          </a:ln>
        </p:spPr>
        <p:txBody>
          <a:bodyPr/>
          <a:lstStyle/>
          <a:p>
            <a:endParaRPr lang="fr-FR"/>
          </a:p>
        </p:txBody>
      </p:sp>
      <p:sp>
        <p:nvSpPr>
          <p:cNvPr id="309" name="Line 12"/>
          <p:cNvSpPr/>
          <p:nvPr/>
        </p:nvSpPr>
        <p:spPr>
          <a:xfrm flipV="1">
            <a:off x="4323260" y="3366000"/>
            <a:ext cx="428760" cy="447120"/>
          </a:xfrm>
          <a:prstGeom prst="line">
            <a:avLst/>
          </a:prstGeom>
          <a:ln w="28440">
            <a:solidFill>
              <a:srgbClr val="000208"/>
            </a:solidFill>
            <a:miter/>
            <a:tailEnd type="triangle" w="med" len="med"/>
          </a:ln>
        </p:spPr>
        <p:txBody>
          <a:bodyPr/>
          <a:lstStyle/>
          <a:p>
            <a:endParaRPr lang="fr-FR"/>
          </a:p>
        </p:txBody>
      </p:sp>
      <p:sp>
        <p:nvSpPr>
          <p:cNvPr id="310" name="Line 13"/>
          <p:cNvSpPr/>
          <p:nvPr/>
        </p:nvSpPr>
        <p:spPr>
          <a:xfrm>
            <a:off x="4716016" y="3356992"/>
            <a:ext cx="2304256" cy="0"/>
          </a:xfrm>
          <a:prstGeom prst="line">
            <a:avLst/>
          </a:prstGeom>
          <a:ln w="28440">
            <a:solidFill>
              <a:srgbClr val="000208"/>
            </a:solidFill>
            <a:miter/>
            <a:tailEnd type="triangle" w="med" len="med"/>
          </a:ln>
        </p:spPr>
        <p:txBody>
          <a:bodyPr/>
          <a:lstStyle/>
          <a:p>
            <a:endParaRPr lang="fr-FR"/>
          </a:p>
        </p:txBody>
      </p:sp>
      <p:sp>
        <p:nvSpPr>
          <p:cNvPr id="311" name="CustomShape 14"/>
          <p:cNvSpPr/>
          <p:nvPr/>
        </p:nvSpPr>
        <p:spPr>
          <a:xfrm>
            <a:off x="3335756" y="2600908"/>
            <a:ext cx="1020220" cy="457524"/>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n1.r1</a:t>
            </a:r>
            <a:endParaRPr sz="2000" dirty="0"/>
          </a:p>
        </p:txBody>
      </p:sp>
      <p:sp>
        <p:nvSpPr>
          <p:cNvPr id="312" name="CustomShape 15"/>
          <p:cNvSpPr/>
          <p:nvPr/>
        </p:nvSpPr>
        <p:spPr>
          <a:xfrm>
            <a:off x="3279416" y="3537012"/>
            <a:ext cx="1076560" cy="379144"/>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n2.r1</a:t>
            </a:r>
            <a:endParaRPr sz="2000" dirty="0"/>
          </a:p>
        </p:txBody>
      </p:sp>
      <p:sp>
        <p:nvSpPr>
          <p:cNvPr id="313" name="CustomShape 16"/>
          <p:cNvSpPr/>
          <p:nvPr/>
        </p:nvSpPr>
        <p:spPr>
          <a:xfrm>
            <a:off x="4549692" y="3392996"/>
            <a:ext cx="2758612" cy="641160"/>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n2.r1</a:t>
            </a:r>
            <a:r>
              <a:rPr lang="fr-FR" sz="2000" dirty="0">
                <a:solidFill>
                  <a:srgbClr val="010507"/>
                </a:solidFill>
                <a:latin typeface="Arial"/>
                <a:ea typeface="Arial"/>
              </a:rPr>
              <a:t> </a:t>
            </a:r>
            <a:r>
              <a:rPr lang="fr-FR" sz="2000" dirty="0" err="1">
                <a:solidFill>
                  <a:srgbClr val="010507"/>
                </a:solidFill>
                <a:latin typeface="Arial"/>
                <a:ea typeface="Arial"/>
              </a:rPr>
              <a:t>concatenate</a:t>
            </a:r>
            <a:r>
              <a:rPr lang="fr-FR" sz="2000" dirty="0" err="1">
                <a:latin typeface="Arial"/>
                <a:ea typeface="Arial"/>
              </a:rPr>
              <a:t>d</a:t>
            </a:r>
            <a:r>
              <a:rPr lang="fr-FR" sz="2000" dirty="0">
                <a:latin typeface="Arial"/>
                <a:ea typeface="Arial"/>
              </a:rPr>
              <a:t> </a:t>
            </a:r>
            <a:r>
              <a:rPr lang="fr-FR" sz="2000" dirty="0" err="1">
                <a:latin typeface="Arial"/>
                <a:ea typeface="Arial"/>
              </a:rPr>
              <a:t>with</a:t>
            </a:r>
            <a:r>
              <a:rPr lang="fr-FR" sz="2000" dirty="0">
                <a:latin typeface="Arial"/>
                <a:ea typeface="Arial"/>
              </a:rPr>
              <a:t> </a:t>
            </a:r>
            <a:r>
              <a:rPr lang="fr-FR" sz="2000" b="1" dirty="0">
                <a:solidFill>
                  <a:srgbClr val="010507"/>
                </a:solidFill>
                <a:latin typeface="Courier New"/>
                <a:ea typeface="Courier New"/>
              </a:rPr>
              <a:t>n1.r1</a:t>
            </a:r>
            <a:endParaRPr sz="2000" dirty="0"/>
          </a:p>
        </p:txBody>
      </p:sp>
      <p:sp>
        <p:nvSpPr>
          <p:cNvPr id="314" name="CustomShape 17"/>
          <p:cNvSpPr/>
          <p:nvPr/>
        </p:nvSpPr>
        <p:spPr>
          <a:xfrm>
            <a:off x="8120976" y="2966400"/>
            <a:ext cx="555480" cy="366840"/>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n3</a:t>
            </a:r>
            <a:endParaRPr sz="2000" dirty="0"/>
          </a:p>
        </p:txBody>
      </p:sp>
      <p:sp>
        <p:nvSpPr>
          <p:cNvPr id="315" name="CustomShape 18"/>
          <p:cNvSpPr/>
          <p:nvPr/>
        </p:nvSpPr>
        <p:spPr>
          <a:xfrm>
            <a:off x="909720" y="2649240"/>
            <a:ext cx="809640" cy="366840"/>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n1</a:t>
            </a:r>
            <a:endParaRPr sz="2000" dirty="0"/>
          </a:p>
        </p:txBody>
      </p:sp>
      <p:sp>
        <p:nvSpPr>
          <p:cNvPr id="316" name="CustomShape 19"/>
          <p:cNvSpPr/>
          <p:nvPr/>
        </p:nvSpPr>
        <p:spPr>
          <a:xfrm>
            <a:off x="873000" y="3665520"/>
            <a:ext cx="809640" cy="366840"/>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n2</a:t>
            </a:r>
            <a:endParaRPr sz="2000" dirty="0"/>
          </a:p>
        </p:txBody>
      </p:sp>
      <p:sp>
        <p:nvSpPr>
          <p:cNvPr id="22" name="Title 1"/>
          <p:cNvSpPr>
            <a:spLocks noGrp="1"/>
          </p:cNvSpPr>
          <p:nvPr>
            <p:ph type="title"/>
          </p:nvPr>
        </p:nvSpPr>
        <p:spPr>
          <a:xfrm>
            <a:off x="304800" y="152400"/>
            <a:ext cx="7772400" cy="533400"/>
          </a:xfrm>
        </p:spPr>
        <p:txBody>
          <a:bodyPr/>
          <a:lstStyle/>
          <a:p>
            <a:r>
              <a:rPr lang="en-US" sz="2800" dirty="0"/>
              <a:t>Ex3: Redirections</a:t>
            </a:r>
          </a:p>
        </p:txBody>
      </p:sp>
      <p:sp>
        <p:nvSpPr>
          <p:cNvPr id="24"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23306366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p:cNvSpPr>
            <a:spLocks noGrp="1"/>
          </p:cNvSpPr>
          <p:nvPr>
            <p:ph idx="1"/>
          </p:nvPr>
        </p:nvSpPr>
        <p:spPr>
          <a:xfrm>
            <a:off x="457200" y="914400"/>
            <a:ext cx="8261350" cy="5257800"/>
          </a:xfrm>
        </p:spPr>
        <p:txBody>
          <a:bodyPr/>
          <a:lstStyle/>
          <a:p>
            <a:r>
              <a:rPr lang="en-US" dirty="0">
                <a:cs typeface="Courier"/>
              </a:rPr>
              <a:t>What happens when the following instruction is executed in the home directory of </a:t>
            </a:r>
            <a:r>
              <a:rPr lang="en-US" b="1" dirty="0">
                <a:latin typeface="Courier"/>
                <a:cs typeface="Courier"/>
              </a:rPr>
              <a:t>user1</a:t>
            </a:r>
            <a:r>
              <a:rPr lang="en-US" dirty="0">
                <a:latin typeface="Courier"/>
                <a:cs typeface="Courier"/>
              </a:rPr>
              <a:t>?</a:t>
            </a:r>
          </a:p>
          <a:p>
            <a:pPr marL="0" indent="0">
              <a:buNone/>
            </a:pPr>
            <a:r>
              <a:rPr lang="en-US" b="1" dirty="0">
                <a:latin typeface="Courier"/>
                <a:cs typeface="Courier"/>
              </a:rPr>
              <a:t>execution file1 ../user2/file2 </a:t>
            </a:r>
            <a:r>
              <a:rPr lang="en-US" b="1" dirty="0" err="1">
                <a:latin typeface="Courier"/>
                <a:cs typeface="Courier"/>
              </a:rPr>
              <a:t>fileN</a:t>
            </a:r>
            <a:endParaRPr lang="en-US" b="1" dirty="0"/>
          </a:p>
        </p:txBody>
      </p:sp>
      <p:sp>
        <p:nvSpPr>
          <p:cNvPr id="22" name="Title 1"/>
          <p:cNvSpPr>
            <a:spLocks noGrp="1"/>
          </p:cNvSpPr>
          <p:nvPr>
            <p:ph type="title"/>
          </p:nvPr>
        </p:nvSpPr>
        <p:spPr>
          <a:xfrm>
            <a:off x="304800" y="152400"/>
            <a:ext cx="7772400" cy="533400"/>
          </a:xfrm>
        </p:spPr>
        <p:txBody>
          <a:bodyPr/>
          <a:lstStyle/>
          <a:p>
            <a:r>
              <a:rPr lang="en-US" sz="2800" dirty="0"/>
              <a:t>Ex3: Redirections</a:t>
            </a:r>
          </a:p>
        </p:txBody>
      </p:sp>
      <p:sp>
        <p:nvSpPr>
          <p:cNvPr id="24"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
        <p:nvSpPr>
          <p:cNvPr id="25" name="CustomShape 3"/>
          <p:cNvSpPr/>
          <p:nvPr/>
        </p:nvSpPr>
        <p:spPr>
          <a:xfrm>
            <a:off x="4793704" y="2420888"/>
            <a:ext cx="873000" cy="366840"/>
          </a:xfrm>
          <a:prstGeom prst="rect">
            <a:avLst/>
          </a:prstGeom>
        </p:spPr>
        <p:txBody>
          <a:bodyPr lIns="92160" tIns="46080" rIns="92160" bIns="46080"/>
          <a:lstStyle/>
          <a:p>
            <a:pPr algn="ctr">
              <a:lnSpc>
                <a:spcPct val="100000"/>
              </a:lnSpc>
              <a:buSzPct val="25000"/>
            </a:pPr>
            <a:r>
              <a:rPr lang="fr-FR" sz="2000" b="1" dirty="0" err="1">
                <a:solidFill>
                  <a:srgbClr val="010507"/>
                </a:solidFill>
                <a:latin typeface="Courier New"/>
                <a:ea typeface="Courier New"/>
              </a:rPr>
              <a:t>usr</a:t>
            </a:r>
            <a:endParaRPr sz="2000" dirty="0"/>
          </a:p>
        </p:txBody>
      </p:sp>
      <p:sp>
        <p:nvSpPr>
          <p:cNvPr id="26" name="CustomShape 4"/>
          <p:cNvSpPr/>
          <p:nvPr/>
        </p:nvSpPr>
        <p:spPr>
          <a:xfrm>
            <a:off x="2966344" y="3044768"/>
            <a:ext cx="1051200" cy="366840"/>
          </a:xfrm>
          <a:prstGeom prst="rect">
            <a:avLst/>
          </a:prstGeom>
        </p:spPr>
        <p:txBody>
          <a:bodyPr lIns="92160" tIns="46080" rIns="92160" bIns="46080"/>
          <a:lstStyle/>
          <a:p>
            <a:pPr algn="ctr">
              <a:lnSpc>
                <a:spcPct val="100000"/>
              </a:lnSpc>
              <a:buSzPct val="25000"/>
            </a:pPr>
            <a:r>
              <a:rPr lang="fr-FR" sz="2000" b="1" dirty="0">
                <a:solidFill>
                  <a:srgbClr val="010507"/>
                </a:solidFill>
                <a:latin typeface="Courier New"/>
                <a:ea typeface="Courier New"/>
              </a:rPr>
              <a:t>user1</a:t>
            </a:r>
            <a:endParaRPr sz="2000" dirty="0"/>
          </a:p>
        </p:txBody>
      </p:sp>
      <p:sp>
        <p:nvSpPr>
          <p:cNvPr id="27" name="CustomShape 5"/>
          <p:cNvSpPr/>
          <p:nvPr/>
        </p:nvSpPr>
        <p:spPr>
          <a:xfrm>
            <a:off x="5901784" y="3046208"/>
            <a:ext cx="1406520" cy="366840"/>
          </a:xfrm>
          <a:prstGeom prst="rect">
            <a:avLst/>
          </a:prstGeom>
        </p:spPr>
        <p:txBody>
          <a:bodyPr lIns="92160" tIns="46080" rIns="92160" bIns="46080"/>
          <a:lstStyle/>
          <a:p>
            <a:pPr algn="ctr">
              <a:lnSpc>
                <a:spcPct val="100000"/>
              </a:lnSpc>
              <a:buSzPct val="25000"/>
            </a:pPr>
            <a:r>
              <a:rPr lang="fr-FR" sz="2000" b="1" dirty="0">
                <a:solidFill>
                  <a:srgbClr val="010507"/>
                </a:solidFill>
                <a:latin typeface="Courier New"/>
                <a:ea typeface="Courier New"/>
              </a:rPr>
              <a:t>user2</a:t>
            </a:r>
            <a:endParaRPr sz="2000" dirty="0"/>
          </a:p>
        </p:txBody>
      </p:sp>
      <p:sp>
        <p:nvSpPr>
          <p:cNvPr id="28" name="CustomShape 6"/>
          <p:cNvSpPr/>
          <p:nvPr/>
        </p:nvSpPr>
        <p:spPr>
          <a:xfrm>
            <a:off x="5598664" y="3860888"/>
            <a:ext cx="1023200" cy="301444"/>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file2</a:t>
            </a:r>
            <a:endParaRPr sz="2000" dirty="0"/>
          </a:p>
        </p:txBody>
      </p:sp>
      <p:sp>
        <p:nvSpPr>
          <p:cNvPr id="29" name="CustomShape 7"/>
          <p:cNvSpPr/>
          <p:nvPr/>
        </p:nvSpPr>
        <p:spPr>
          <a:xfrm>
            <a:off x="1869336" y="3862328"/>
            <a:ext cx="946528" cy="336008"/>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file1</a:t>
            </a:r>
            <a:endParaRPr sz="2000" dirty="0"/>
          </a:p>
        </p:txBody>
      </p:sp>
      <p:sp>
        <p:nvSpPr>
          <p:cNvPr id="30" name="CustomShape 8"/>
          <p:cNvSpPr/>
          <p:nvPr/>
        </p:nvSpPr>
        <p:spPr>
          <a:xfrm>
            <a:off x="2877448" y="3863768"/>
            <a:ext cx="1044116" cy="442580"/>
          </a:xfrm>
          <a:prstGeom prst="rect">
            <a:avLst/>
          </a:prstGeom>
        </p:spPr>
        <p:txBody>
          <a:bodyPr lIns="21600" tIns="46080" rIns="21600" bIns="46080"/>
          <a:lstStyle/>
          <a:p>
            <a:pPr algn="ctr">
              <a:lnSpc>
                <a:spcPct val="100000"/>
              </a:lnSpc>
              <a:buSzPct val="25000"/>
            </a:pPr>
            <a:r>
              <a:rPr lang="fr-FR" sz="2000" b="1" dirty="0">
                <a:solidFill>
                  <a:srgbClr val="010507"/>
                </a:solidFill>
                <a:latin typeface="Courier New"/>
                <a:ea typeface="Courier New"/>
              </a:rPr>
              <a:t>file2</a:t>
            </a:r>
            <a:endParaRPr sz="2000" dirty="0"/>
          </a:p>
        </p:txBody>
      </p:sp>
      <p:sp>
        <p:nvSpPr>
          <p:cNvPr id="31" name="CustomShape 9"/>
          <p:cNvSpPr/>
          <p:nvPr/>
        </p:nvSpPr>
        <p:spPr>
          <a:xfrm>
            <a:off x="3993572" y="3865568"/>
            <a:ext cx="416160" cy="366840"/>
          </a:xfrm>
          <a:prstGeom prst="rect">
            <a:avLst/>
          </a:prstGeom>
        </p:spPr>
        <p:txBody>
          <a:bodyPr lIns="21600" tIns="46080" rIns="21600" bIns="46080"/>
          <a:lstStyle/>
          <a:p>
            <a:pPr algn="ctr">
              <a:lnSpc>
                <a:spcPct val="100000"/>
              </a:lnSpc>
              <a:buSzPct val="25000"/>
            </a:pPr>
            <a:r>
              <a:rPr lang="fr-FR" sz="2000" b="1" dirty="0">
                <a:latin typeface="Courier New"/>
                <a:ea typeface="Courier New"/>
              </a:rPr>
              <a:t>p1</a:t>
            </a:r>
            <a:endParaRPr sz="2000" dirty="0"/>
          </a:p>
        </p:txBody>
      </p:sp>
      <p:sp>
        <p:nvSpPr>
          <p:cNvPr id="32" name="Line 10"/>
          <p:cNvSpPr/>
          <p:nvPr/>
        </p:nvSpPr>
        <p:spPr>
          <a:xfrm flipV="1">
            <a:off x="3561784" y="2658848"/>
            <a:ext cx="1368360" cy="371520"/>
          </a:xfrm>
          <a:prstGeom prst="line">
            <a:avLst/>
          </a:prstGeom>
          <a:ln w="6480">
            <a:solidFill>
              <a:srgbClr val="000208"/>
            </a:solidFill>
            <a:miter/>
          </a:ln>
        </p:spPr>
        <p:txBody>
          <a:bodyPr/>
          <a:lstStyle/>
          <a:p>
            <a:endParaRPr lang="fr-FR"/>
          </a:p>
        </p:txBody>
      </p:sp>
      <p:sp>
        <p:nvSpPr>
          <p:cNvPr id="33" name="Line 11"/>
          <p:cNvSpPr/>
          <p:nvPr/>
        </p:nvSpPr>
        <p:spPr>
          <a:xfrm>
            <a:off x="5441344" y="2662088"/>
            <a:ext cx="1063800" cy="403200"/>
          </a:xfrm>
          <a:prstGeom prst="line">
            <a:avLst/>
          </a:prstGeom>
          <a:ln w="6480">
            <a:solidFill>
              <a:srgbClr val="000208"/>
            </a:solidFill>
            <a:miter/>
          </a:ln>
        </p:spPr>
        <p:txBody>
          <a:bodyPr/>
          <a:lstStyle/>
          <a:p>
            <a:endParaRPr lang="fr-FR"/>
          </a:p>
        </p:txBody>
      </p:sp>
      <p:sp>
        <p:nvSpPr>
          <p:cNvPr id="34" name="Line 12"/>
          <p:cNvSpPr/>
          <p:nvPr/>
        </p:nvSpPr>
        <p:spPr>
          <a:xfrm flipV="1">
            <a:off x="2748904" y="3420968"/>
            <a:ext cx="403200" cy="434880"/>
          </a:xfrm>
          <a:prstGeom prst="line">
            <a:avLst/>
          </a:prstGeom>
          <a:ln w="6480">
            <a:solidFill>
              <a:srgbClr val="000208"/>
            </a:solidFill>
            <a:miter/>
          </a:ln>
        </p:spPr>
        <p:txBody>
          <a:bodyPr/>
          <a:lstStyle/>
          <a:p>
            <a:endParaRPr lang="fr-FR"/>
          </a:p>
        </p:txBody>
      </p:sp>
      <p:sp>
        <p:nvSpPr>
          <p:cNvPr id="35" name="Line 13"/>
          <p:cNvSpPr/>
          <p:nvPr/>
        </p:nvSpPr>
        <p:spPr>
          <a:xfrm flipV="1">
            <a:off x="3447664" y="3408368"/>
            <a:ext cx="9360" cy="409680"/>
          </a:xfrm>
          <a:prstGeom prst="line">
            <a:avLst/>
          </a:prstGeom>
          <a:ln w="6480">
            <a:solidFill>
              <a:srgbClr val="000208"/>
            </a:solidFill>
            <a:miter/>
          </a:ln>
        </p:spPr>
        <p:txBody>
          <a:bodyPr/>
          <a:lstStyle/>
          <a:p>
            <a:endParaRPr lang="fr-FR"/>
          </a:p>
        </p:txBody>
      </p:sp>
      <p:sp>
        <p:nvSpPr>
          <p:cNvPr id="36" name="Line 14"/>
          <p:cNvSpPr/>
          <p:nvPr/>
        </p:nvSpPr>
        <p:spPr>
          <a:xfrm>
            <a:off x="3813552" y="3424208"/>
            <a:ext cx="301680" cy="492120"/>
          </a:xfrm>
          <a:prstGeom prst="line">
            <a:avLst/>
          </a:prstGeom>
          <a:ln w="6480">
            <a:solidFill>
              <a:srgbClr val="000208"/>
            </a:solidFill>
            <a:miter/>
          </a:ln>
        </p:spPr>
        <p:txBody>
          <a:bodyPr/>
          <a:lstStyle/>
          <a:p>
            <a:endParaRPr lang="fr-FR"/>
          </a:p>
        </p:txBody>
      </p:sp>
      <p:sp>
        <p:nvSpPr>
          <p:cNvPr id="37" name="Line 15"/>
          <p:cNvSpPr/>
          <p:nvPr/>
        </p:nvSpPr>
        <p:spPr>
          <a:xfrm flipV="1">
            <a:off x="5911504" y="3433208"/>
            <a:ext cx="479160" cy="397080"/>
          </a:xfrm>
          <a:prstGeom prst="line">
            <a:avLst/>
          </a:prstGeom>
          <a:ln w="6480">
            <a:solidFill>
              <a:srgbClr val="000208"/>
            </a:solidFill>
            <a:miter/>
          </a:ln>
        </p:spPr>
        <p:txBody>
          <a:bodyPr/>
          <a:lstStyle/>
          <a:p>
            <a:endParaRPr lang="fr-FR"/>
          </a:p>
        </p:txBody>
      </p:sp>
      <p:sp>
        <p:nvSpPr>
          <p:cNvPr id="38" name="CustomShape 9"/>
          <p:cNvSpPr/>
          <p:nvPr/>
        </p:nvSpPr>
        <p:spPr>
          <a:xfrm>
            <a:off x="4456204" y="3862475"/>
            <a:ext cx="761504" cy="465010"/>
          </a:xfrm>
          <a:prstGeom prst="rect">
            <a:avLst/>
          </a:prstGeom>
        </p:spPr>
        <p:txBody>
          <a:bodyPr lIns="21600" tIns="46080" rIns="21600" bIns="46080"/>
          <a:lstStyle/>
          <a:p>
            <a:pPr algn="ctr">
              <a:lnSpc>
                <a:spcPct val="100000"/>
              </a:lnSpc>
              <a:buSzPct val="25000"/>
            </a:pPr>
            <a:r>
              <a:rPr lang="fr-FR" sz="2000" b="1" dirty="0">
                <a:latin typeface="Courier New"/>
                <a:ea typeface="Courier New"/>
              </a:rPr>
              <a:t>p2</a:t>
            </a:r>
            <a:endParaRPr sz="2000" dirty="0"/>
          </a:p>
        </p:txBody>
      </p:sp>
      <p:sp>
        <p:nvSpPr>
          <p:cNvPr id="39" name="Line 14"/>
          <p:cNvSpPr/>
          <p:nvPr/>
        </p:nvSpPr>
        <p:spPr>
          <a:xfrm>
            <a:off x="4029576" y="3406248"/>
            <a:ext cx="777360" cy="405704"/>
          </a:xfrm>
          <a:prstGeom prst="line">
            <a:avLst/>
          </a:prstGeom>
          <a:ln w="6480">
            <a:solidFill>
              <a:srgbClr val="000208"/>
            </a:solidFill>
            <a:miter/>
          </a:ln>
        </p:spPr>
        <p:txBody>
          <a:bodyPr/>
          <a:lstStyle/>
          <a:p>
            <a:endParaRPr lang="fr-FR"/>
          </a:p>
        </p:txBody>
      </p:sp>
      <p:sp>
        <p:nvSpPr>
          <p:cNvPr id="40" name="Content Placeholder 2"/>
          <p:cNvSpPr txBox="1">
            <a:spLocks/>
          </p:cNvSpPr>
          <p:nvPr/>
        </p:nvSpPr>
        <p:spPr bwMode="auto">
          <a:xfrm>
            <a:off x="609600" y="4781872"/>
            <a:ext cx="8261350" cy="18154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208"/>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63538" indent="-363538" algn="l" rtl="0" eaLnBrk="0" fontAlgn="base" hangingPunct="0">
              <a:spcBef>
                <a:spcPct val="20000"/>
              </a:spcBef>
              <a:spcAft>
                <a:spcPct val="0"/>
              </a:spcAft>
              <a:buClr>
                <a:schemeClr val="bg2"/>
              </a:buClr>
              <a:buFont typeface="Monotype Sorts" charset="0"/>
              <a:buBlip>
                <a:blip r:embed="rId2"/>
              </a:buBlip>
              <a:defRPr sz="2400">
                <a:solidFill>
                  <a:srgbClr val="000208"/>
                </a:solidFill>
                <a:latin typeface="+mn-lt"/>
                <a:ea typeface="ＭＳ Ｐゴシック" charset="0"/>
                <a:cs typeface="+mn-cs"/>
              </a:defRPr>
            </a:lvl1pPr>
            <a:lvl2pPr marL="812800" indent="-269875" algn="l" rtl="0" eaLnBrk="0" fontAlgn="base" hangingPunct="0">
              <a:spcBef>
                <a:spcPct val="20000"/>
              </a:spcBef>
              <a:spcAft>
                <a:spcPct val="0"/>
              </a:spcAft>
              <a:buClr>
                <a:schemeClr val="bg2"/>
              </a:buClr>
              <a:buSzPct val="85000"/>
              <a:buFont typeface="ZapfDingbats" charset="0"/>
              <a:buBlip>
                <a:blip r:embed="rId3"/>
              </a:buBlip>
              <a:defRPr sz="2000">
                <a:solidFill>
                  <a:srgbClr val="000208"/>
                </a:solidFill>
                <a:latin typeface="+mn-lt"/>
                <a:ea typeface="ＭＳ Ｐゴシック" charset="0"/>
              </a:defRPr>
            </a:lvl2pPr>
            <a:lvl3pPr marL="992188" indent="269875" algn="l" rtl="0" eaLnBrk="0" fontAlgn="base" hangingPunct="0">
              <a:spcBef>
                <a:spcPct val="20000"/>
              </a:spcBef>
              <a:spcAft>
                <a:spcPct val="0"/>
              </a:spcAft>
              <a:buClr>
                <a:schemeClr val="bg2"/>
              </a:buClr>
              <a:buFont typeface="Monotype Sorts" charset="0"/>
              <a:buBlip>
                <a:blip r:embed="rId4"/>
              </a:buBlip>
              <a:defRPr sz="2000">
                <a:solidFill>
                  <a:srgbClr val="000208"/>
                </a:solidFill>
                <a:latin typeface="+mn-lt"/>
                <a:ea typeface="ＭＳ Ｐゴシック" charset="0"/>
              </a:defRPr>
            </a:lvl3pPr>
            <a:lvl4pPr marL="1441450" indent="257175" algn="l" rtl="0" eaLnBrk="0" fontAlgn="base" hangingPunct="0">
              <a:spcBef>
                <a:spcPct val="20000"/>
              </a:spcBef>
              <a:spcAft>
                <a:spcPct val="0"/>
              </a:spcAft>
              <a:buClr>
                <a:srgbClr val="F60000"/>
              </a:buClr>
              <a:buFont typeface="Wingdings" charset="0"/>
              <a:buChar char="§"/>
              <a:defRPr sz="1600">
                <a:solidFill>
                  <a:srgbClr val="000208"/>
                </a:solidFill>
                <a:latin typeface="+mn-lt"/>
                <a:ea typeface="ＭＳ Ｐゴシック" charset="0"/>
              </a:defRPr>
            </a:lvl4pPr>
            <a:lvl5pPr marL="2060575" indent="-182563" algn="l" rtl="0" eaLnBrk="0" fontAlgn="base" hangingPunct="0">
              <a:spcBef>
                <a:spcPct val="20000"/>
              </a:spcBef>
              <a:spcAft>
                <a:spcPct val="0"/>
              </a:spcAft>
              <a:buClr>
                <a:srgbClr val="FFCC00"/>
              </a:buClr>
              <a:buChar char="•"/>
              <a:defRPr sz="1600">
                <a:solidFill>
                  <a:srgbClr val="000208"/>
                </a:solidFill>
                <a:latin typeface="+mn-lt"/>
                <a:ea typeface="ＭＳ Ｐゴシック" charset="0"/>
              </a:defRPr>
            </a:lvl5pPr>
            <a:lvl6pPr marL="2517775" indent="-182563" algn="l" rtl="0" eaLnBrk="0" fontAlgn="base" hangingPunct="0">
              <a:spcBef>
                <a:spcPct val="20000"/>
              </a:spcBef>
              <a:spcAft>
                <a:spcPct val="0"/>
              </a:spcAft>
              <a:buClr>
                <a:srgbClr val="FFCC00"/>
              </a:buClr>
              <a:buChar char="•"/>
              <a:defRPr sz="1600">
                <a:solidFill>
                  <a:srgbClr val="000208"/>
                </a:solidFill>
                <a:latin typeface="+mn-lt"/>
              </a:defRPr>
            </a:lvl6pPr>
            <a:lvl7pPr marL="2974975" indent="-182563" algn="l" rtl="0" eaLnBrk="0" fontAlgn="base" hangingPunct="0">
              <a:spcBef>
                <a:spcPct val="20000"/>
              </a:spcBef>
              <a:spcAft>
                <a:spcPct val="0"/>
              </a:spcAft>
              <a:buClr>
                <a:srgbClr val="FFCC00"/>
              </a:buClr>
              <a:buChar char="•"/>
              <a:defRPr sz="1600">
                <a:solidFill>
                  <a:srgbClr val="000208"/>
                </a:solidFill>
                <a:latin typeface="+mn-lt"/>
              </a:defRPr>
            </a:lvl7pPr>
            <a:lvl8pPr marL="3432175" indent="-182563" algn="l" rtl="0" eaLnBrk="0" fontAlgn="base" hangingPunct="0">
              <a:spcBef>
                <a:spcPct val="20000"/>
              </a:spcBef>
              <a:spcAft>
                <a:spcPct val="0"/>
              </a:spcAft>
              <a:buClr>
                <a:srgbClr val="FFCC00"/>
              </a:buClr>
              <a:buChar char="•"/>
              <a:defRPr sz="1600">
                <a:solidFill>
                  <a:srgbClr val="000208"/>
                </a:solidFill>
                <a:latin typeface="+mn-lt"/>
              </a:defRPr>
            </a:lvl8pPr>
            <a:lvl9pPr marL="3889375" indent="-182563" algn="l" rtl="0" eaLnBrk="0" fontAlgn="base" hangingPunct="0">
              <a:spcBef>
                <a:spcPct val="20000"/>
              </a:spcBef>
              <a:spcAft>
                <a:spcPct val="0"/>
              </a:spcAft>
              <a:buClr>
                <a:srgbClr val="FFCC00"/>
              </a:buClr>
              <a:buChar char="•"/>
              <a:defRPr sz="1600">
                <a:solidFill>
                  <a:srgbClr val="000208"/>
                </a:solidFill>
                <a:latin typeface="+mn-lt"/>
              </a:defRPr>
            </a:lvl9pPr>
          </a:lstStyle>
          <a:p>
            <a:r>
              <a:rPr lang="en-US" dirty="0">
                <a:cs typeface="Courier"/>
              </a:rPr>
              <a:t>Write an interactive version of the script </a:t>
            </a:r>
            <a:r>
              <a:rPr lang="en-US" b="1" dirty="0">
                <a:latin typeface="Courier"/>
                <a:cs typeface="Courier"/>
              </a:rPr>
              <a:t>execution</a:t>
            </a:r>
            <a:r>
              <a:rPr lang="en-US" dirty="0">
                <a:cs typeface="Courier"/>
              </a:rPr>
              <a:t> that asks from the user to provide </a:t>
            </a:r>
            <a:r>
              <a:rPr lang="en-US" b="1" dirty="0">
                <a:latin typeface="Courier"/>
                <a:cs typeface="Courier"/>
              </a:rPr>
              <a:t>n1</a:t>
            </a:r>
            <a:r>
              <a:rPr lang="en-US" dirty="0">
                <a:cs typeface="Courier"/>
              </a:rPr>
              <a:t>, </a:t>
            </a:r>
            <a:r>
              <a:rPr lang="en-US" b="1" dirty="0">
                <a:latin typeface="Courier"/>
                <a:cs typeface="Courier"/>
              </a:rPr>
              <a:t>n2</a:t>
            </a:r>
            <a:r>
              <a:rPr lang="en-US" dirty="0">
                <a:cs typeface="Courier"/>
              </a:rPr>
              <a:t> and </a:t>
            </a:r>
            <a:r>
              <a:rPr lang="en-US" b="1" dirty="0">
                <a:latin typeface="Courier"/>
                <a:cs typeface="Courier"/>
              </a:rPr>
              <a:t>n3</a:t>
            </a:r>
            <a:r>
              <a:rPr lang="en-US" dirty="0">
                <a:cs typeface="Courier"/>
              </a:rPr>
              <a:t>, instead of passing them as arguments</a:t>
            </a:r>
          </a:p>
        </p:txBody>
      </p:sp>
    </p:spTree>
    <p:extLst>
      <p:ext uri="{BB962C8B-B14F-4D97-AF65-F5344CB8AC3E}">
        <p14:creationId xmlns:p14="http://schemas.microsoft.com/office/powerpoint/2010/main" val="39233229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p:cNvSpPr>
            <a:spLocks noGrp="1"/>
          </p:cNvSpPr>
          <p:nvPr>
            <p:ph idx="1"/>
          </p:nvPr>
        </p:nvSpPr>
        <p:spPr>
          <a:xfrm>
            <a:off x="457200" y="914400"/>
            <a:ext cx="8261350" cy="5257800"/>
          </a:xfrm>
        </p:spPr>
        <p:txBody>
          <a:bodyPr/>
          <a:lstStyle/>
          <a:p>
            <a:r>
              <a:rPr lang="en-US" dirty="0"/>
              <a:t>Create a script with the name </a:t>
            </a:r>
            <a:r>
              <a:rPr lang="en-US" b="1" dirty="0">
                <a:latin typeface="Courier"/>
                <a:cs typeface="Courier"/>
              </a:rPr>
              <a:t>argument</a:t>
            </a:r>
            <a:r>
              <a:rPr lang="en-US" i="1" dirty="0"/>
              <a:t> </a:t>
            </a:r>
            <a:r>
              <a:rPr lang="en-US" dirty="0"/>
              <a:t>using the command </a:t>
            </a:r>
            <a:r>
              <a:rPr lang="en-US" b="1" dirty="0" err="1">
                <a:latin typeface="Courier"/>
                <a:cs typeface="Courier"/>
              </a:rPr>
              <a:t>expr</a:t>
            </a:r>
            <a:r>
              <a:rPr lang="en-US" dirty="0"/>
              <a:t> that prints one by one the arguments passed during the script call. </a:t>
            </a:r>
          </a:p>
          <a:p>
            <a:pPr marL="0" indent="0">
              <a:buNone/>
            </a:pPr>
            <a:endParaRPr lang="en-US" dirty="0"/>
          </a:p>
          <a:p>
            <a:pPr marL="0" indent="0">
              <a:buNone/>
            </a:pPr>
            <a:r>
              <a:rPr lang="en-US" dirty="0"/>
              <a:t>For instance, the call: </a:t>
            </a:r>
          </a:p>
          <a:p>
            <a:pPr marL="449262" lvl="1" indent="0">
              <a:buNone/>
            </a:pPr>
            <a:r>
              <a:rPr lang="en-US" sz="2400" b="1" dirty="0">
                <a:latin typeface="Courier"/>
                <a:cs typeface="Courier"/>
              </a:rPr>
              <a:t>% argument one two three</a:t>
            </a:r>
          </a:p>
          <a:p>
            <a:pPr marL="449262" lvl="1" indent="0">
              <a:buNone/>
            </a:pPr>
            <a:endParaRPr lang="en-US" sz="2400" dirty="0">
              <a:cs typeface="Courier"/>
            </a:endParaRPr>
          </a:p>
          <a:p>
            <a:pPr marL="449262" lvl="1" indent="0">
              <a:buNone/>
            </a:pPr>
            <a:r>
              <a:rPr lang="en-US" sz="2400" dirty="0">
                <a:cs typeface="Courier"/>
              </a:rPr>
              <a:t>Should print in the </a:t>
            </a:r>
            <a:r>
              <a:rPr lang="en-US" sz="2400" dirty="0" err="1">
                <a:cs typeface="Courier"/>
              </a:rPr>
              <a:t>stdout</a:t>
            </a:r>
            <a:r>
              <a:rPr lang="en-US" sz="2400" dirty="0">
                <a:cs typeface="Courier"/>
              </a:rPr>
              <a:t>:</a:t>
            </a:r>
          </a:p>
          <a:p>
            <a:pPr marL="449262" lvl="1" indent="0">
              <a:buNone/>
            </a:pPr>
            <a:r>
              <a:rPr lang="en-US" sz="2400" b="1" dirty="0">
                <a:latin typeface="Courier"/>
                <a:cs typeface="Courier"/>
              </a:rPr>
              <a:t>3 arguments : </a:t>
            </a:r>
          </a:p>
          <a:p>
            <a:pPr marL="449262" lvl="1" indent="0">
              <a:buNone/>
            </a:pPr>
            <a:r>
              <a:rPr lang="en-US" sz="2400" b="1" dirty="0">
                <a:latin typeface="Courier"/>
                <a:cs typeface="Courier"/>
              </a:rPr>
              <a:t>  argument 1 - one</a:t>
            </a:r>
          </a:p>
          <a:p>
            <a:pPr marL="449262" lvl="1" indent="0">
              <a:buNone/>
            </a:pPr>
            <a:r>
              <a:rPr lang="en-US" sz="2400" b="1" dirty="0">
                <a:latin typeface="Courier"/>
                <a:cs typeface="Courier"/>
              </a:rPr>
              <a:t>  argument 2 - two</a:t>
            </a:r>
          </a:p>
          <a:p>
            <a:pPr marL="449262" lvl="1" indent="0">
              <a:buNone/>
            </a:pPr>
            <a:r>
              <a:rPr lang="en-US" sz="2400" b="1" dirty="0">
                <a:latin typeface="Courier"/>
                <a:cs typeface="Courier"/>
              </a:rPr>
              <a:t>  argument 3 - three</a:t>
            </a:r>
          </a:p>
        </p:txBody>
      </p:sp>
      <p:sp>
        <p:nvSpPr>
          <p:cNvPr id="22" name="Title 1"/>
          <p:cNvSpPr>
            <a:spLocks noGrp="1"/>
          </p:cNvSpPr>
          <p:nvPr>
            <p:ph type="title"/>
          </p:nvPr>
        </p:nvSpPr>
        <p:spPr>
          <a:xfrm>
            <a:off x="304800" y="152400"/>
            <a:ext cx="7772400" cy="533400"/>
          </a:xfrm>
        </p:spPr>
        <p:txBody>
          <a:bodyPr/>
          <a:lstStyle/>
          <a:p>
            <a:r>
              <a:rPr lang="en-US" sz="2800" dirty="0"/>
              <a:t>Ex4: Script arguments</a:t>
            </a:r>
          </a:p>
        </p:txBody>
      </p:sp>
      <p:sp>
        <p:nvSpPr>
          <p:cNvPr id="24"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39696432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p:cNvSpPr>
            <a:spLocks noGrp="1"/>
          </p:cNvSpPr>
          <p:nvPr>
            <p:ph idx="1"/>
          </p:nvPr>
        </p:nvSpPr>
        <p:spPr>
          <a:xfrm>
            <a:off x="457200" y="914400"/>
            <a:ext cx="8261350" cy="5257800"/>
          </a:xfrm>
        </p:spPr>
        <p:txBody>
          <a:bodyPr/>
          <a:lstStyle/>
          <a:p>
            <a:r>
              <a:rPr lang="en-US" dirty="0"/>
              <a:t>Create a script with the name </a:t>
            </a:r>
            <a:r>
              <a:rPr lang="en-US" b="1" dirty="0" err="1">
                <a:latin typeface="Courier"/>
                <a:cs typeface="Courier"/>
              </a:rPr>
              <a:t>mysearch</a:t>
            </a:r>
            <a:r>
              <a:rPr lang="en-US" b="1" dirty="0">
                <a:latin typeface="Courier"/>
                <a:cs typeface="Courier"/>
              </a:rPr>
              <a:t> </a:t>
            </a:r>
            <a:r>
              <a:rPr lang="en-US" dirty="0">
                <a:cs typeface="Courier"/>
              </a:rPr>
              <a:t>passing two arguments during the call, i.e. </a:t>
            </a:r>
            <a:r>
              <a:rPr lang="en-US" b="1" dirty="0">
                <a:latin typeface="Courier"/>
                <a:cs typeface="Courier"/>
              </a:rPr>
              <a:t>motif </a:t>
            </a:r>
            <a:r>
              <a:rPr lang="en-US" dirty="0">
                <a:cs typeface="Courier"/>
              </a:rPr>
              <a:t>and</a:t>
            </a:r>
            <a:r>
              <a:rPr lang="en-US" b="1" dirty="0">
                <a:latin typeface="Courier"/>
                <a:cs typeface="Courier"/>
              </a:rPr>
              <a:t> filename. </a:t>
            </a:r>
            <a:r>
              <a:rPr lang="en-US" dirty="0">
                <a:cs typeface="Courier"/>
              </a:rPr>
              <a:t>The program prints either “filename has motif” or “filename does not have motif”</a:t>
            </a:r>
            <a:endParaRPr lang="en-US" dirty="0"/>
          </a:p>
          <a:p>
            <a:endParaRPr lang="en-US" dirty="0"/>
          </a:p>
          <a:p>
            <a:r>
              <a:rPr lang="en-US" dirty="0"/>
              <a:t>Create a script </a:t>
            </a:r>
            <a:r>
              <a:rPr lang="en-US" b="1" dirty="0">
                <a:latin typeface="Courier"/>
                <a:cs typeface="Courier"/>
              </a:rPr>
              <a:t>mysearch2 filename</a:t>
            </a:r>
            <a:r>
              <a:rPr lang="en-US" dirty="0"/>
              <a:t> that ask the user the motif to be searched inside the filename until the motif end is entered by the user</a:t>
            </a:r>
          </a:p>
          <a:p>
            <a:endParaRPr lang="en-US" dirty="0"/>
          </a:p>
          <a:p>
            <a:r>
              <a:rPr lang="en-US" dirty="0"/>
              <a:t>Create a script </a:t>
            </a:r>
            <a:r>
              <a:rPr lang="en-US" b="1" dirty="0">
                <a:latin typeface="Courier"/>
                <a:cs typeface="Courier"/>
              </a:rPr>
              <a:t>mysearch3 f1 .. </a:t>
            </a:r>
            <a:r>
              <a:rPr lang="en-US" b="1" dirty="0" err="1">
                <a:latin typeface="Courier"/>
                <a:cs typeface="Courier"/>
              </a:rPr>
              <a:t>fn</a:t>
            </a:r>
            <a:r>
              <a:rPr lang="en-US" dirty="0"/>
              <a:t> that performs the same thing as </a:t>
            </a:r>
            <a:r>
              <a:rPr lang="en-US" b="1" dirty="0">
                <a:latin typeface="Courier"/>
                <a:cs typeface="Courier"/>
              </a:rPr>
              <a:t>mysearch2</a:t>
            </a:r>
            <a:r>
              <a:rPr lang="en-US" dirty="0"/>
              <a:t>, but now it searches inside the files given as arguments.</a:t>
            </a:r>
          </a:p>
          <a:p>
            <a:endParaRPr lang="en-US" dirty="0"/>
          </a:p>
          <a:p>
            <a:r>
              <a:rPr lang="fr-FR" b="1" dirty="0">
                <a:latin typeface="Courier New"/>
                <a:ea typeface="Courier New"/>
              </a:rPr>
              <a:t>/</a:t>
            </a:r>
            <a:r>
              <a:rPr lang="fr-FR" b="1" dirty="0" err="1">
                <a:latin typeface="Courier New"/>
                <a:ea typeface="Courier New"/>
              </a:rPr>
              <a:t>dev</a:t>
            </a:r>
            <a:r>
              <a:rPr lang="fr-FR" b="1" dirty="0">
                <a:latin typeface="Courier New"/>
                <a:ea typeface="Courier New"/>
              </a:rPr>
              <a:t>/</a:t>
            </a:r>
            <a:r>
              <a:rPr lang="fr-FR" b="1" dirty="0" err="1">
                <a:latin typeface="Courier New"/>
                <a:ea typeface="Courier New"/>
              </a:rPr>
              <a:t>null</a:t>
            </a:r>
            <a:r>
              <a:rPr lang="fr-FR" dirty="0"/>
              <a:t> = trash</a:t>
            </a:r>
            <a:endParaRPr lang="en-US" dirty="0"/>
          </a:p>
        </p:txBody>
      </p:sp>
      <p:sp>
        <p:nvSpPr>
          <p:cNvPr id="22" name="Title 1"/>
          <p:cNvSpPr>
            <a:spLocks noGrp="1"/>
          </p:cNvSpPr>
          <p:nvPr>
            <p:ph type="title"/>
          </p:nvPr>
        </p:nvSpPr>
        <p:spPr>
          <a:xfrm>
            <a:off x="304800" y="152400"/>
            <a:ext cx="7772400" cy="533400"/>
          </a:xfrm>
        </p:spPr>
        <p:txBody>
          <a:bodyPr/>
          <a:lstStyle/>
          <a:p>
            <a:r>
              <a:rPr lang="en-US" sz="2800" dirty="0"/>
              <a:t>Ex5: Search</a:t>
            </a:r>
          </a:p>
        </p:txBody>
      </p:sp>
      <p:sp>
        <p:nvSpPr>
          <p:cNvPr id="24"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990499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p:cNvSpPr>
            <a:spLocks noGrp="1"/>
          </p:cNvSpPr>
          <p:nvPr>
            <p:ph idx="1"/>
          </p:nvPr>
        </p:nvSpPr>
        <p:spPr>
          <a:xfrm>
            <a:off x="457200" y="914400"/>
            <a:ext cx="8686800" cy="5257800"/>
          </a:xfrm>
        </p:spPr>
        <p:txBody>
          <a:bodyPr/>
          <a:lstStyle/>
          <a:p>
            <a:r>
              <a:rPr lang="en-US" dirty="0"/>
              <a:t>Describe the effect of the following instructions:</a:t>
            </a:r>
          </a:p>
          <a:p>
            <a:pPr lvl="1"/>
            <a:r>
              <a:rPr lang="en-US" b="1" dirty="0">
                <a:latin typeface="Courier New"/>
                <a:ea typeface="Courier New"/>
              </a:rPr>
              <a:t>find ./ -name "</a:t>
            </a:r>
            <a:r>
              <a:rPr lang="en-US" b="1" dirty="0">
                <a:latin typeface="Courier"/>
                <a:ea typeface="Courier New"/>
                <a:cs typeface="Courier"/>
              </a:rPr>
              <a:t>tp2</a:t>
            </a:r>
            <a:r>
              <a:rPr lang="en-US" b="1" dirty="0">
                <a:latin typeface="Courier New"/>
                <a:ea typeface="Courier New"/>
              </a:rPr>
              <a:t>" -exec </a:t>
            </a:r>
            <a:r>
              <a:rPr lang="en-US" b="1" dirty="0">
                <a:solidFill>
                  <a:srgbClr val="3333CC"/>
                </a:solidFill>
                <a:latin typeface="Courier New"/>
                <a:ea typeface="Courier New"/>
              </a:rPr>
              <a:t>{} &lt; </a:t>
            </a:r>
            <a:r>
              <a:rPr lang="en-US" b="1" dirty="0" err="1">
                <a:solidFill>
                  <a:srgbClr val="3333CC"/>
                </a:solidFill>
                <a:latin typeface="Courier New"/>
                <a:ea typeface="Courier New"/>
              </a:rPr>
              <a:t>f_in</a:t>
            </a:r>
            <a:r>
              <a:rPr lang="en-US" b="1" dirty="0">
                <a:solidFill>
                  <a:srgbClr val="3333CC"/>
                </a:solidFill>
                <a:latin typeface="Courier New"/>
                <a:ea typeface="Courier New"/>
              </a:rPr>
              <a:t> &gt; {}.out</a:t>
            </a:r>
            <a:r>
              <a:rPr lang="en-US" b="1" dirty="0">
                <a:latin typeface="Courier New"/>
                <a:ea typeface="Courier New"/>
              </a:rPr>
              <a:t> \;</a:t>
            </a:r>
            <a:endParaRPr lang="en-US" dirty="0"/>
          </a:p>
          <a:p>
            <a:pPr lvl="1"/>
            <a:r>
              <a:rPr lang="en-US" b="1" dirty="0">
                <a:latin typeface="Courier New"/>
                <a:ea typeface="Courier New"/>
              </a:rPr>
              <a:t>find /</a:t>
            </a:r>
            <a:r>
              <a:rPr lang="en-US" b="1" dirty="0" err="1">
                <a:latin typeface="Courier New"/>
                <a:ea typeface="Courier New"/>
              </a:rPr>
              <a:t>var</a:t>
            </a:r>
            <a:r>
              <a:rPr lang="en-US" b="1" dirty="0">
                <a:latin typeface="Courier New"/>
                <a:ea typeface="Courier New"/>
              </a:rPr>
              <a:t>/log -exec </a:t>
            </a:r>
            <a:r>
              <a:rPr lang="en-US" b="1" dirty="0" err="1">
                <a:solidFill>
                  <a:srgbClr val="3333CC"/>
                </a:solidFill>
                <a:latin typeface="Courier New"/>
                <a:ea typeface="Courier New"/>
              </a:rPr>
              <a:t>grep</a:t>
            </a:r>
            <a:r>
              <a:rPr lang="en-US" b="1" dirty="0">
                <a:solidFill>
                  <a:srgbClr val="3333CC"/>
                </a:solidFill>
                <a:latin typeface="Courier New"/>
                <a:ea typeface="Courier New"/>
              </a:rPr>
              <a:t> "</a:t>
            </a:r>
            <a:r>
              <a:rPr lang="en-US" b="1" dirty="0" err="1">
                <a:solidFill>
                  <a:srgbClr val="3333CC"/>
                </a:solidFill>
                <a:latin typeface="Courier New"/>
                <a:ea typeface="Courier New"/>
              </a:rPr>
              <a:t>www.athabasca.com</a:t>
            </a:r>
            <a:r>
              <a:rPr lang="en-US" b="1" dirty="0">
                <a:solidFill>
                  <a:srgbClr val="3333CC"/>
                </a:solidFill>
                <a:latin typeface="Courier New"/>
                <a:ea typeface="Courier New"/>
              </a:rPr>
              <a:t>" {}</a:t>
            </a:r>
            <a:r>
              <a:rPr lang="en-US" b="1" dirty="0">
                <a:latin typeface="Courier New"/>
                <a:ea typeface="Courier New"/>
              </a:rPr>
              <a:t> \; </a:t>
            </a:r>
            <a:endParaRPr lang="en-US" dirty="0"/>
          </a:p>
          <a:p>
            <a:pPr lvl="1"/>
            <a:r>
              <a:rPr lang="en-US" b="1" dirty="0">
                <a:latin typeface="Courier New"/>
                <a:ea typeface="Courier New"/>
              </a:rPr>
              <a:t>find . -name "</a:t>
            </a:r>
            <a:r>
              <a:rPr lang="en-US" b="1" dirty="0" err="1">
                <a:latin typeface="Courier New"/>
                <a:ea typeface="Courier New"/>
              </a:rPr>
              <a:t>rc.conf</a:t>
            </a:r>
            <a:r>
              <a:rPr lang="en-US" b="1" dirty="0">
                <a:latin typeface="Courier New"/>
                <a:ea typeface="Courier New"/>
              </a:rPr>
              <a:t>" -exec </a:t>
            </a:r>
            <a:r>
              <a:rPr lang="en-US" b="1" dirty="0" err="1">
                <a:solidFill>
                  <a:srgbClr val="3333CC"/>
                </a:solidFill>
                <a:latin typeface="Courier New"/>
                <a:ea typeface="Courier New"/>
              </a:rPr>
              <a:t>chmod</a:t>
            </a:r>
            <a:r>
              <a:rPr lang="en-US" b="1" dirty="0">
                <a:solidFill>
                  <a:srgbClr val="3333CC"/>
                </a:solidFill>
                <a:latin typeface="Courier New"/>
                <a:ea typeface="Courier New"/>
              </a:rPr>
              <a:t> </a:t>
            </a:r>
            <a:r>
              <a:rPr lang="en-US" b="1" dirty="0" err="1">
                <a:solidFill>
                  <a:srgbClr val="3333CC"/>
                </a:solidFill>
                <a:latin typeface="Courier New"/>
                <a:ea typeface="Courier New"/>
              </a:rPr>
              <a:t>o+r</a:t>
            </a:r>
            <a:r>
              <a:rPr lang="en-US" b="1" dirty="0">
                <a:solidFill>
                  <a:srgbClr val="3333CC"/>
                </a:solidFill>
                <a:latin typeface="Courier New"/>
                <a:ea typeface="Courier New"/>
              </a:rPr>
              <a:t> {}</a:t>
            </a:r>
            <a:r>
              <a:rPr lang="en-US" b="1" dirty="0">
                <a:latin typeface="Courier New"/>
                <a:ea typeface="Courier New"/>
              </a:rPr>
              <a:t> \; </a:t>
            </a:r>
            <a:endParaRPr lang="en-US" dirty="0"/>
          </a:p>
          <a:p>
            <a:pPr lvl="1"/>
            <a:r>
              <a:rPr lang="en-US" b="1" dirty="0">
                <a:latin typeface="Courier New"/>
                <a:ea typeface="Courier New"/>
              </a:rPr>
              <a:t>find /</a:t>
            </a:r>
            <a:r>
              <a:rPr lang="en-US" b="1" dirty="0" err="1">
                <a:latin typeface="Courier New"/>
                <a:ea typeface="Courier New"/>
              </a:rPr>
              <a:t>usr</a:t>
            </a:r>
            <a:r>
              <a:rPr lang="en-US" b="1" dirty="0">
                <a:latin typeface="Courier New"/>
                <a:ea typeface="Courier New"/>
              </a:rPr>
              <a:t>/local -type f -name "*.html"</a:t>
            </a:r>
            <a:r>
              <a:rPr lang="en-US" dirty="0"/>
              <a:t>.</a:t>
            </a:r>
          </a:p>
        </p:txBody>
      </p:sp>
      <p:sp>
        <p:nvSpPr>
          <p:cNvPr id="22" name="Title 1"/>
          <p:cNvSpPr>
            <a:spLocks noGrp="1"/>
          </p:cNvSpPr>
          <p:nvPr>
            <p:ph type="title"/>
          </p:nvPr>
        </p:nvSpPr>
        <p:spPr>
          <a:xfrm>
            <a:off x="304800" y="152400"/>
            <a:ext cx="7772400" cy="533400"/>
          </a:xfrm>
        </p:spPr>
        <p:txBody>
          <a:bodyPr/>
          <a:lstStyle/>
          <a:p>
            <a:r>
              <a:rPr lang="en-US" sz="2800" dirty="0"/>
              <a:t>Ex6: Find</a:t>
            </a:r>
          </a:p>
        </p:txBody>
      </p:sp>
      <p:sp>
        <p:nvSpPr>
          <p:cNvPr id="24"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23658060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 name="Content Placeholder 2"/>
          <p:cNvSpPr>
            <a:spLocks noGrp="1"/>
          </p:cNvSpPr>
          <p:nvPr>
            <p:ph idx="1"/>
          </p:nvPr>
        </p:nvSpPr>
        <p:spPr>
          <a:xfrm>
            <a:off x="457200" y="914400"/>
            <a:ext cx="8686800" cy="5257800"/>
          </a:xfrm>
        </p:spPr>
        <p:txBody>
          <a:bodyPr/>
          <a:lstStyle/>
          <a:p>
            <a:r>
              <a:rPr lang="en-US" dirty="0"/>
              <a:t>Calculator</a:t>
            </a:r>
          </a:p>
          <a:p>
            <a:endParaRPr lang="en-US" dirty="0"/>
          </a:p>
        </p:txBody>
      </p:sp>
      <p:sp>
        <p:nvSpPr>
          <p:cNvPr id="22" name="Title 1"/>
          <p:cNvSpPr>
            <a:spLocks noGrp="1"/>
          </p:cNvSpPr>
          <p:nvPr>
            <p:ph type="title"/>
          </p:nvPr>
        </p:nvSpPr>
        <p:spPr>
          <a:xfrm>
            <a:off x="304800" y="152400"/>
            <a:ext cx="7772400" cy="533400"/>
          </a:xfrm>
        </p:spPr>
        <p:txBody>
          <a:bodyPr/>
          <a:lstStyle/>
          <a:p>
            <a:r>
              <a:rPr lang="en-US" sz="2800" dirty="0"/>
              <a:t>Optional exercises</a:t>
            </a:r>
          </a:p>
        </p:txBody>
      </p:sp>
      <p:sp>
        <p:nvSpPr>
          <p:cNvPr id="24" name="Espace réservé du pied de page 3"/>
          <p:cNvSpPr>
            <a:spLocks noGrp="1"/>
          </p:cNvSpPr>
          <p:nvPr>
            <p:ph type="ftr" sz="quarter" idx="10"/>
          </p:nvPr>
        </p:nvSpPr>
        <p:spPr>
          <a:xfrm>
            <a:off x="3124200" y="6400800"/>
            <a:ext cx="2895600" cy="381000"/>
          </a:xfrm>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800">
                <a:solidFill>
                  <a:srgbClr val="010507"/>
                </a:solidFill>
                <a:latin typeface="Arial" charset="0"/>
                <a:ea typeface="ＭＳ Ｐゴシック" charset="0"/>
              </a:defRPr>
            </a:lvl1pPr>
            <a:lvl2pPr marL="742950" indent="-285750">
              <a:defRPr sz="800">
                <a:solidFill>
                  <a:srgbClr val="010507"/>
                </a:solidFill>
                <a:latin typeface="Arial" charset="0"/>
                <a:ea typeface="ＭＳ Ｐゴシック" charset="0"/>
              </a:defRPr>
            </a:lvl2pPr>
            <a:lvl3pPr marL="1143000" indent="-228600">
              <a:defRPr sz="800">
                <a:solidFill>
                  <a:srgbClr val="010507"/>
                </a:solidFill>
                <a:latin typeface="Arial" charset="0"/>
                <a:ea typeface="ＭＳ Ｐゴシック" charset="0"/>
              </a:defRPr>
            </a:lvl3pPr>
            <a:lvl4pPr marL="1600200" indent="-228600">
              <a:defRPr sz="800">
                <a:solidFill>
                  <a:srgbClr val="010507"/>
                </a:solidFill>
                <a:latin typeface="Arial" charset="0"/>
                <a:ea typeface="ＭＳ Ｐゴシック" charset="0"/>
              </a:defRPr>
            </a:lvl4pPr>
            <a:lvl5pPr marL="2057400" indent="-228600">
              <a:defRPr sz="800">
                <a:solidFill>
                  <a:srgbClr val="010507"/>
                </a:solidFill>
                <a:latin typeface="Arial" charset="0"/>
                <a:ea typeface="ＭＳ Ｐゴシック" charset="0"/>
              </a:defRPr>
            </a:lvl5pPr>
            <a:lvl6pPr marL="25146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6pPr>
            <a:lvl7pPr marL="29718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7pPr>
            <a:lvl8pPr marL="34290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8pPr>
            <a:lvl9pPr marL="3886200" indent="-228600" algn="ctr" eaLnBrk="0" fontAlgn="base" hangingPunct="0">
              <a:spcBef>
                <a:spcPct val="20000"/>
              </a:spcBef>
              <a:spcAft>
                <a:spcPct val="0"/>
              </a:spcAft>
              <a:buClr>
                <a:schemeClr val="bg2"/>
              </a:buClr>
              <a:buSzPct val="75000"/>
              <a:buFont typeface="Monotype Sorts" charset="0"/>
              <a:defRPr sz="800">
                <a:solidFill>
                  <a:srgbClr val="010507"/>
                </a:solidFill>
                <a:latin typeface="Arial" charset="0"/>
                <a:ea typeface="ＭＳ Ｐゴシック" charset="0"/>
              </a:defRPr>
            </a:lvl9pPr>
          </a:lstStyle>
          <a:p>
            <a:r>
              <a:rPr lang="fr-FR" sz="1800" dirty="0">
                <a:solidFill>
                  <a:srgbClr val="000208"/>
                </a:solidFill>
              </a:rPr>
              <a:t>L3Info – Unix/C</a:t>
            </a:r>
          </a:p>
        </p:txBody>
      </p:sp>
    </p:spTree>
    <p:extLst>
      <p:ext uri="{BB962C8B-B14F-4D97-AF65-F5344CB8AC3E}">
        <p14:creationId xmlns:p14="http://schemas.microsoft.com/office/powerpoint/2010/main" val="15465446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490"/>
  <p:tag name="DEFAULTHEIGHT" val="411"/>
</p:tagLst>
</file>

<file path=ppt/tags/tag2.xml><?xml version="1.0" encoding="utf-8"?>
<p:tagLst xmlns:a="http://schemas.openxmlformats.org/drawingml/2006/main" xmlns:r="http://schemas.openxmlformats.org/officeDocument/2006/relationships" xmlns:p="http://schemas.openxmlformats.org/presentationml/2006/main">
  <p:tag name="TIMING" val="|170.5|74.2|40.4"/>
</p:tagLst>
</file>

<file path=ppt/theme/theme1.xml><?xml version="1.0" encoding="utf-8"?>
<a:theme xmlns:a="http://schemas.openxmlformats.org/drawingml/2006/main" name="Copie de Irisa">
  <a:themeElements>
    <a:clrScheme name="Copie de Irisa.pot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fontScheme name="Copie de Irisa.po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2075" tIns="46038" rIns="92075" bIns="46038" numCol="1" rtlCol="0" anchor="ctr" anchorCtr="0" compatLnSpc="1">
        <a:prstTxWarp prst="textNoShape">
          <a:avLst/>
        </a:prstTxWarp>
        <a:normAutofit/>
      </a:bodyPr>
      <a:lstStyle>
        <a:def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defRPr kumimoji="0" sz="2000" b="0" i="0" u="none" strike="noStrike" cap="none" normalizeH="0" baseline="0" dirty="0" smtClean="0">
            <a:ln>
              <a:noFill/>
            </a:ln>
            <a:solidFill>
              <a:srgbClr val="010507"/>
            </a:solidFill>
            <a:effectLst/>
            <a:latin typeface="Arial" charset="0"/>
          </a:defRPr>
        </a:defPPr>
      </a:lstStyle>
    </a:spDef>
    <a:lnDef>
      <a:spPr bwMode="auto">
        <a:noFill/>
        <a:ln w="6350" cap="flat" cmpd="sng" algn="ctr">
          <a:solidFill>
            <a:srgbClr val="000208"/>
          </a:solidFill>
          <a:prstDash val="solid"/>
          <a:round/>
          <a:headEnd type="none" w="lg" len="lg"/>
          <a:tailEnd type="triangle"/>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a:lstStyle/>
    </a:lnDef>
  </a:objectDefaults>
  <a:extraClrSchemeLst>
    <a:extraClrScheme>
      <a:clrScheme name="Copie de Irisa.pot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opie de Irisa.pot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2075" tIns="46038" rIns="92075" bIns="46038" numCol="1" anchor="ctr" anchorCtr="0" compatLnSpc="1">
        <a:prstTxWarp prst="textNoShape">
          <a:avLst/>
        </a:prstTxWarp>
        <a:spAutoFit/>
      </a:bodyPr>
      <a:lstStyle>
        <a:def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defRPr kumimoji="0" lang="en-US" sz="800" b="0" i="0" u="none" strike="noStrike" cap="none" normalizeH="0" baseline="0" smtClean="0">
            <a:ln>
              <a:noFill/>
            </a:ln>
            <a:solidFill>
              <a:srgbClr val="010507"/>
            </a:solidFill>
            <a:effectLst/>
            <a:latin typeface="Arial" charset="0"/>
          </a:defRPr>
        </a:defPPr>
      </a:lstStyle>
    </a:spDef>
    <a:lnDef>
      <a:spPr bwMode="auto">
        <a:xfrm>
          <a:off x="0" y="0"/>
          <a:ext cx="1" cy="1"/>
        </a:xfrm>
        <a:custGeom>
          <a:avLst/>
          <a:gdLst/>
          <a:ahLst/>
          <a:cxnLst/>
          <a:rect l="0" t="0" r="0" b="0"/>
          <a:pathLst/>
        </a:custGeom>
        <a:noFill/>
        <a:ln w="6350" cap="flat" cmpd="sng" algn="ctr">
          <a:solidFill>
            <a:srgbClr val="000208"/>
          </a:solidFill>
          <a:prstDash val="solid"/>
          <a:round/>
          <a:headEnd type="none" w="lg" len="lg"/>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2075" tIns="46038" rIns="92075" bIns="46038" numCol="1" anchor="ctr" anchorCtr="0" compatLnSpc="1">
        <a:prstTxWarp prst="textNoShape">
          <a:avLst/>
        </a:prstTxWarp>
        <a:spAutoFit/>
      </a:bodyPr>
      <a:lstStyle>
        <a:defPPr marL="0" marR="0" indent="0" algn="ctr" defTabSz="914400" rtl="0" eaLnBrk="0" fontAlgn="base" latinLnBrk="0" hangingPunct="0">
          <a:lnSpc>
            <a:spcPct val="100000"/>
          </a:lnSpc>
          <a:spcBef>
            <a:spcPct val="20000"/>
          </a:spcBef>
          <a:spcAft>
            <a:spcPct val="0"/>
          </a:spcAft>
          <a:buClr>
            <a:schemeClr val="bg2"/>
          </a:buClr>
          <a:buSzPct val="75000"/>
          <a:buFont typeface="Monotype Sorts" pitchFamily="2" charset="2"/>
          <a:buNone/>
          <a:tabLst/>
          <a:defRPr kumimoji="0" lang="en-US" sz="800" b="0" i="0" u="none" strike="noStrike" cap="none" normalizeH="0" baseline="0" smtClean="0">
            <a:ln>
              <a:noFill/>
            </a:ln>
            <a:solidFill>
              <a:srgbClr val="010507"/>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
      <a:clrScheme name="Capsules 9">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003366"/>
        </a:hlink>
        <a:folHlink>
          <a:srgbClr val="2B72F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C:\MSOffice\Modeles\Copie de Irisa.pot</Template>
  <TotalTime>137352</TotalTime>
  <Words>7709</Words>
  <Application>Microsoft Office PowerPoint</Application>
  <PresentationFormat>Affichage à l'écran (4:3)</PresentationFormat>
  <Paragraphs>1449</Paragraphs>
  <Slides>83</Slides>
  <Notes>52</Notes>
  <HiddenSlides>4</HiddenSlides>
  <MMClips>0</MMClips>
  <ScaleCrop>false</ScaleCrop>
  <HeadingPairs>
    <vt:vector size="6" baseType="variant">
      <vt:variant>
        <vt:lpstr>Polices utilisées</vt:lpstr>
      </vt:variant>
      <vt:variant>
        <vt:i4>9</vt:i4>
      </vt:variant>
      <vt:variant>
        <vt:lpstr>Thème</vt:lpstr>
      </vt:variant>
      <vt:variant>
        <vt:i4>3</vt:i4>
      </vt:variant>
      <vt:variant>
        <vt:lpstr>Titres des diapositives</vt:lpstr>
      </vt:variant>
      <vt:variant>
        <vt:i4>83</vt:i4>
      </vt:variant>
    </vt:vector>
  </HeadingPairs>
  <TitlesOfParts>
    <vt:vector size="95" baseType="lpstr">
      <vt:lpstr>Arial</vt:lpstr>
      <vt:lpstr>Calibri</vt:lpstr>
      <vt:lpstr>Courier</vt:lpstr>
      <vt:lpstr>Courier New</vt:lpstr>
      <vt:lpstr>Monotype Sorts</vt:lpstr>
      <vt:lpstr>StarSymbol</vt:lpstr>
      <vt:lpstr>Times New Roman</vt:lpstr>
      <vt:lpstr>Wingdings</vt:lpstr>
      <vt:lpstr>ZapfDingbats</vt:lpstr>
      <vt:lpstr>Copie de Irisa</vt:lpstr>
      <vt:lpstr>Conception personnalisée</vt:lpstr>
      <vt:lpstr>Capsules</vt:lpstr>
      <vt:lpstr>Partie  A: Script Shell et Linux</vt:lpstr>
      <vt:lpstr>Système d’exploitation</vt:lpstr>
      <vt:lpstr>Linux</vt:lpstr>
      <vt:lpstr>Quelques différences avec Windows</vt:lpstr>
      <vt:lpstr>Interagir avec le système : Le Shell</vt:lpstr>
      <vt:lpstr>Shell                                                      1/2</vt:lpstr>
      <vt:lpstr>Shell                                                      2/2</vt:lpstr>
      <vt:lpstr>Répertoires</vt:lpstr>
      <vt:lpstr>Chemins</vt:lpstr>
      <vt:lpstr>Caractères génériques</vt:lpstr>
      <vt:lpstr>Comment les traiter comme normaux (par le Shell)</vt:lpstr>
      <vt:lpstr>Information utile</vt:lpstr>
      <vt:lpstr>Structure d’une commande</vt:lpstr>
      <vt:lpstr>Commandes Shell</vt:lpstr>
      <vt:lpstr>Directory management</vt:lpstr>
      <vt:lpstr>Listing</vt:lpstr>
      <vt:lpstr>File management</vt:lpstr>
      <vt:lpstr>File management</vt:lpstr>
      <vt:lpstr>File management: Links</vt:lpstr>
      <vt:lpstr>Directory/File management: Examples</vt:lpstr>
      <vt:lpstr>Directory/File permissions</vt:lpstr>
      <vt:lpstr>Directory/File permissions</vt:lpstr>
      <vt:lpstr>Directory/File permissions: Examples</vt:lpstr>
      <vt:lpstr>File management: Search files</vt:lpstr>
      <vt:lpstr>File management: Search files</vt:lpstr>
      <vt:lpstr>File management: Search files: Examples</vt:lpstr>
      <vt:lpstr>File management: Search in files</vt:lpstr>
      <vt:lpstr>Redirections</vt:lpstr>
      <vt:lpstr>Redirections: Examples</vt:lpstr>
      <vt:lpstr>Redirections: Examples</vt:lpstr>
      <vt:lpstr>Redirections: Examples</vt:lpstr>
      <vt:lpstr>Command implementation</vt:lpstr>
      <vt:lpstr>Builtin Commands</vt:lpstr>
      <vt:lpstr>Builtin Commands</vt:lpstr>
      <vt:lpstr>Process management: Execution</vt:lpstr>
      <vt:lpstr>Process management: Changing grounds</vt:lpstr>
      <vt:lpstr>Process management</vt:lpstr>
      <vt:lpstr>Process management: Active processes</vt:lpstr>
      <vt:lpstr>Process management: Control execution</vt:lpstr>
      <vt:lpstr>Shell Variables</vt:lpstr>
      <vt:lpstr>Shell Variables: Scope</vt:lpstr>
      <vt:lpstr>Shell Variables: Scope example</vt:lpstr>
      <vt:lpstr>Predefined shell variables</vt:lpstr>
      <vt:lpstr>Scripts: Structure</vt:lpstr>
      <vt:lpstr>Scripts: Execution</vt:lpstr>
      <vt:lpstr>Command-line arguments</vt:lpstr>
      <vt:lpstr>Variables</vt:lpstr>
      <vt:lpstr>Read input</vt:lpstr>
      <vt:lpstr>Print to output</vt:lpstr>
      <vt:lpstr>Arithmetic operations</vt:lpstr>
      <vt:lpstr>Arithmetic operations</vt:lpstr>
      <vt:lpstr>Condition expressions: test</vt:lpstr>
      <vt:lpstr>Condition expressions: test operators</vt:lpstr>
      <vt:lpstr>Exit status</vt:lpstr>
      <vt:lpstr>Arithmetic operations</vt:lpstr>
      <vt:lpstr>Boolean control operators</vt:lpstr>
      <vt:lpstr>Conditions</vt:lpstr>
      <vt:lpstr>AND and OR control operators: Example</vt:lpstr>
      <vt:lpstr>Conditions: if, elif, else</vt:lpstr>
      <vt:lpstr>Conditions: if : Examples</vt:lpstr>
      <vt:lpstr>Conditions: if : Examples</vt:lpstr>
      <vt:lpstr>Conditions: case</vt:lpstr>
      <vt:lpstr>Conditions: case: Example</vt:lpstr>
      <vt:lpstr>Iterations: for</vt:lpstr>
      <vt:lpstr>Iterations: for: Examples </vt:lpstr>
      <vt:lpstr>Iterations: while</vt:lpstr>
      <vt:lpstr>Iterations: while: Examples</vt:lpstr>
      <vt:lpstr>Iterations: until</vt:lpstr>
      <vt:lpstr>Iterations: until: Examples</vt:lpstr>
      <vt:lpstr>Controlling loop commands</vt:lpstr>
      <vt:lpstr>Controlling loop commands: Example</vt:lpstr>
      <vt:lpstr>Controlling loop commands: Example</vt:lpstr>
      <vt:lpstr>Functions</vt:lpstr>
      <vt:lpstr>Functions: Example</vt:lpstr>
      <vt:lpstr>TD1:  Linux and Shell Exercises</vt:lpstr>
      <vt:lpstr>Ex1: Wildcard characters</vt:lpstr>
      <vt:lpstr>Ex2: Redirections</vt:lpstr>
      <vt:lpstr>Ex3: Redirections</vt:lpstr>
      <vt:lpstr>Ex3: Redirections</vt:lpstr>
      <vt:lpstr>Ex4: Script arguments</vt:lpstr>
      <vt:lpstr>Ex5: Search</vt:lpstr>
      <vt:lpstr>Ex6: Find</vt:lpstr>
      <vt:lpstr>Optional exercises</vt:lpstr>
    </vt:vector>
  </TitlesOfParts>
  <Company>Irisa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des techniques de partitionnement de réseaux de processeurs pour l'implantation sur circuits programmables </dc:title>
  <dc:creator>sderrien</dc:creator>
  <cp:lastModifiedBy>Zein Mroue</cp:lastModifiedBy>
  <cp:revision>1837</cp:revision>
  <cp:lastPrinted>2017-01-10T10:22:43Z</cp:lastPrinted>
  <dcterms:created xsi:type="dcterms:W3CDTF">2002-11-12T15:03:12Z</dcterms:created>
  <dcterms:modified xsi:type="dcterms:W3CDTF">2023-09-25T19:22:23Z</dcterms:modified>
</cp:coreProperties>
</file>