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5052" autoAdjust="0"/>
  </p:normalViewPr>
  <p:slideViewPr>
    <p:cSldViewPr>
      <p:cViewPr varScale="1">
        <p:scale>
          <a:sx n="69" d="100"/>
          <a:sy n="69" d="100"/>
        </p:scale>
        <p:origin x="-1416"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EE45FD-319D-43EC-A0F7-D1D19F63EED2}" type="datetimeFigureOut">
              <a:rPr lang="fr-FR" smtClean="0"/>
              <a:pPr/>
              <a:t>27/01/2020</a:t>
            </a:fld>
            <a:endParaRPr lang="fr-F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73E3E9-9601-4B6A-8C0A-EC7E4473AC61}" type="slidenum">
              <a:rPr lang="fr-FR" smtClean="0"/>
              <a:pPr/>
              <a:t>‹#›</a:t>
            </a:fld>
            <a:endParaRPr lang="fr-FR"/>
          </a:p>
        </p:txBody>
      </p:sp>
    </p:spTree>
    <p:extLst>
      <p:ext uri="{BB962C8B-B14F-4D97-AF65-F5344CB8AC3E}">
        <p14:creationId xmlns:p14="http://schemas.microsoft.com/office/powerpoint/2010/main" xmlns="" val="2451672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F1273FA4-9FF0-4E4C-935D-214C65D3C3BF}" type="slidenum">
              <a:rPr lang="fr-FR" smtClean="0"/>
              <a:pPr/>
              <a:t>1</a:t>
            </a:fld>
            <a:endParaRPr lang="fr-FR"/>
          </a:p>
        </p:txBody>
      </p:sp>
    </p:spTree>
    <p:extLst>
      <p:ext uri="{BB962C8B-B14F-4D97-AF65-F5344CB8AC3E}">
        <p14:creationId xmlns:p14="http://schemas.microsoft.com/office/powerpoint/2010/main" xmlns="" val="3755780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Date Placeholder 3"/>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r-F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79AD04E8-85C9-48B4-88BC-8B3B5C7A54FB}" type="datetimeFigureOut">
              <a:rPr lang="fr-FR" smtClean="0"/>
              <a:pPr/>
              <a:t>27/01/2020</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94545D7-CA86-4378-A628-3B912FAB3B33}" type="slidenum">
              <a:rPr lang="fr-FR" smtClean="0"/>
              <a:pPr/>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AD04E8-85C9-48B4-88BC-8B3B5C7A54FB}" type="datetimeFigureOut">
              <a:rPr lang="fr-FR" smtClean="0"/>
              <a:pPr/>
              <a:t>27/01/2020</a:t>
            </a:fld>
            <a:endParaRPr lang="fr-F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4545D7-CA86-4378-A628-3B912FAB3B33}"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abidjan-immobilier.ne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abidjan-immobilier.ne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673223"/>
            <a:ext cx="7772400" cy="1470025"/>
          </a:xfrm>
        </p:spPr>
        <p:txBody>
          <a:bodyPr>
            <a:normAutofit/>
          </a:bodyPr>
          <a:lstStyle/>
          <a:p>
            <a:r>
              <a:rPr lang="fr-FR" dirty="0" smtClean="0"/>
              <a:t>PROGRAMMATION DE CLIENTS WEB</a:t>
            </a:r>
            <a:endParaRPr lang="fr-FR" dirty="0"/>
          </a:p>
        </p:txBody>
      </p:sp>
      <p:sp>
        <p:nvSpPr>
          <p:cNvPr id="3" name="Sous-titre 2"/>
          <p:cNvSpPr>
            <a:spLocks noGrp="1"/>
          </p:cNvSpPr>
          <p:nvPr>
            <p:ph type="subTitle" idx="1"/>
          </p:nvPr>
        </p:nvSpPr>
        <p:spPr>
          <a:xfrm>
            <a:off x="755576" y="3429000"/>
            <a:ext cx="7704856" cy="1944216"/>
          </a:xfrm>
        </p:spPr>
        <p:txBody>
          <a:bodyPr>
            <a:normAutofit fontScale="85000" lnSpcReduction="20000"/>
          </a:bodyPr>
          <a:lstStyle/>
          <a:p>
            <a:r>
              <a:rPr lang="fr-FR" sz="1800" i="1" dirty="0"/>
              <a:t>FORMATEUR : </a:t>
            </a:r>
            <a:endParaRPr lang="fr-FR" sz="1800" i="1" dirty="0" smtClean="0"/>
          </a:p>
          <a:p>
            <a:r>
              <a:rPr lang="fr-FR" sz="1800" b="1" i="1" u="sng" dirty="0" smtClean="0"/>
              <a:t>Samuel KOTEI-NIKOI</a:t>
            </a:r>
            <a:r>
              <a:rPr lang="fr-FR" sz="1800" i="1" dirty="0" smtClean="0"/>
              <a:t>,</a:t>
            </a:r>
            <a:r>
              <a:rPr lang="fr-FR" sz="1800" i="1" dirty="0"/>
              <a:t/>
            </a:r>
            <a:br>
              <a:rPr lang="fr-FR" sz="1800" i="1" dirty="0"/>
            </a:br>
            <a:r>
              <a:rPr lang="fr-FR" sz="1800" i="1" dirty="0" smtClean="0"/>
              <a:t>Ingénieur de Conception en Informatique,</a:t>
            </a:r>
          </a:p>
          <a:p>
            <a:r>
              <a:rPr lang="fr-FR" sz="1800" i="1" dirty="0" smtClean="0"/>
              <a:t>Expert en Gestion de Projets Web,</a:t>
            </a:r>
          </a:p>
          <a:p>
            <a:r>
              <a:rPr lang="fr-FR" sz="1800" i="1" dirty="0" smtClean="0"/>
              <a:t>Formateur en langages de programmation web,</a:t>
            </a:r>
          </a:p>
          <a:p>
            <a:r>
              <a:rPr lang="fr-FR" sz="1800" i="1" dirty="0" smtClean="0"/>
              <a:t>Directeur Général </a:t>
            </a:r>
            <a:r>
              <a:rPr lang="fr-FR" sz="1800" b="1" i="1" dirty="0" smtClean="0"/>
              <a:t>NIKKOSA COMMUNICATION</a:t>
            </a:r>
            <a:r>
              <a:rPr lang="fr-FR" sz="1800" i="1" dirty="0" smtClean="0"/>
              <a:t>,</a:t>
            </a:r>
          </a:p>
          <a:p>
            <a:r>
              <a:rPr lang="fr-FR" sz="1800" i="1" dirty="0" smtClean="0"/>
              <a:t>Fondateur du portail </a:t>
            </a:r>
            <a:r>
              <a:rPr lang="fr-FR" sz="1800" i="1" dirty="0" smtClean="0">
                <a:hlinkClick r:id="rId3"/>
              </a:rPr>
              <a:t>www.abidjan-immobilier.net</a:t>
            </a:r>
            <a:r>
              <a:rPr lang="fr-FR" sz="1800" i="1" dirty="0" smtClean="0"/>
              <a:t>,</a:t>
            </a:r>
          </a:p>
          <a:p>
            <a:r>
              <a:rPr lang="fr-FR" sz="1800" i="1" dirty="0" smtClean="0"/>
              <a:t>GSM : +225 07 35 47 28 / Email : nikkosa@yahoo.fr</a:t>
            </a:r>
          </a:p>
        </p:txBody>
      </p:sp>
    </p:spTree>
    <p:extLst>
      <p:ext uri="{BB962C8B-B14F-4D97-AF65-F5344CB8AC3E}">
        <p14:creationId xmlns:p14="http://schemas.microsoft.com/office/powerpoint/2010/main" xmlns="" val="13116741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p:cNvSpPr txBox="1">
            <a:spLocks/>
          </p:cNvSpPr>
          <p:nvPr/>
        </p:nvSpPr>
        <p:spPr>
          <a:xfrm>
            <a:off x="721804" y="332657"/>
            <a:ext cx="7772400" cy="108012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4400" b="0" i="0" u="none" strike="noStrike" kern="1200" cap="none" spc="0" normalizeH="0" baseline="0" noProof="0" dirty="0" smtClean="0">
                <a:ln>
                  <a:noFill/>
                </a:ln>
                <a:solidFill>
                  <a:schemeClr val="tx1"/>
                </a:solidFill>
                <a:effectLst/>
                <a:uLnTx/>
                <a:uFillTx/>
                <a:latin typeface="+mj-lt"/>
                <a:ea typeface="+mj-ea"/>
                <a:cs typeface="+mj-cs"/>
              </a:rPr>
              <a:t>PARTIE 2 : HTML5</a:t>
            </a:r>
            <a:endParaRPr kumimoji="0" lang="fr-FR"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7" name="ZoneTexte 5"/>
          <p:cNvSpPr txBox="1"/>
          <p:nvPr/>
        </p:nvSpPr>
        <p:spPr>
          <a:xfrm>
            <a:off x="467544" y="1340768"/>
            <a:ext cx="8280920" cy="400110"/>
          </a:xfrm>
          <a:prstGeom prst="rect">
            <a:avLst/>
          </a:prstGeom>
          <a:noFill/>
        </p:spPr>
        <p:txBody>
          <a:bodyPr wrap="square" rtlCol="0">
            <a:spAutoFit/>
          </a:bodyPr>
          <a:lstStyle/>
          <a:p>
            <a:r>
              <a:rPr lang="fr-FR" sz="2000" b="1" dirty="0" smtClean="0"/>
              <a:t>1.  </a:t>
            </a:r>
            <a:r>
              <a:rPr lang="fr-FR" sz="2000" b="1" u="sng" dirty="0" smtClean="0"/>
              <a:t>Création d’une page web en HTML </a:t>
            </a:r>
            <a:endParaRPr lang="fr-FR" sz="2000" b="1" u="sng" dirty="0"/>
          </a:p>
        </p:txBody>
      </p:sp>
      <p:sp>
        <p:nvSpPr>
          <p:cNvPr id="8" name="TextBox 7"/>
          <p:cNvSpPr txBox="1"/>
          <p:nvPr/>
        </p:nvSpPr>
        <p:spPr>
          <a:xfrm>
            <a:off x="500034" y="1916660"/>
            <a:ext cx="8358246" cy="923330"/>
          </a:xfrm>
          <a:prstGeom prst="rect">
            <a:avLst/>
          </a:prstGeom>
          <a:noFill/>
        </p:spPr>
        <p:txBody>
          <a:bodyPr wrap="square" rtlCol="0">
            <a:spAutoFit/>
          </a:bodyPr>
          <a:lstStyle/>
          <a:p>
            <a:r>
              <a:rPr lang="fr-FR" dirty="0" smtClean="0"/>
              <a:t>A l’aide d’un éditeur de texte tel que Sublime </a:t>
            </a:r>
            <a:r>
              <a:rPr lang="fr-FR" dirty="0" err="1" smtClean="0"/>
              <a:t>Text</a:t>
            </a:r>
            <a:r>
              <a:rPr lang="fr-FR" dirty="0" smtClean="0"/>
              <a:t> nous allons créer notre première page web. Commençons par écrire  tout ce qui nous passe par la tête puis enregistrons le fichier dans un dossier avec pour extension .html. Par exemple </a:t>
            </a:r>
            <a:r>
              <a:rPr lang="fr-FR" b="1" dirty="0" smtClean="0"/>
              <a:t>test.html </a:t>
            </a:r>
            <a:endParaRPr lang="fr-FR" b="1" dirty="0"/>
          </a:p>
        </p:txBody>
      </p:sp>
      <p:pic>
        <p:nvPicPr>
          <p:cNvPr id="9" name="Picture 8" descr="2.JPG"/>
          <p:cNvPicPr>
            <a:picLocks noChangeAspect="1"/>
          </p:cNvPicPr>
          <p:nvPr/>
        </p:nvPicPr>
        <p:blipFill>
          <a:blip r:embed="rId2" cstate="print"/>
          <a:stretch>
            <a:fillRect/>
          </a:stretch>
        </p:blipFill>
        <p:spPr>
          <a:xfrm>
            <a:off x="285720" y="3000372"/>
            <a:ext cx="3895142" cy="2071702"/>
          </a:xfrm>
          <a:prstGeom prst="rect">
            <a:avLst/>
          </a:prstGeom>
        </p:spPr>
      </p:pic>
      <p:pic>
        <p:nvPicPr>
          <p:cNvPr id="10" name="Picture 9" descr="3.JPG"/>
          <p:cNvPicPr>
            <a:picLocks noChangeAspect="1"/>
          </p:cNvPicPr>
          <p:nvPr/>
        </p:nvPicPr>
        <p:blipFill>
          <a:blip r:embed="rId3" cstate="print"/>
          <a:stretch>
            <a:fillRect/>
          </a:stretch>
        </p:blipFill>
        <p:spPr>
          <a:xfrm>
            <a:off x="5143504" y="3071810"/>
            <a:ext cx="3500462" cy="19669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2" name="Straight Arrow Connector 11"/>
          <p:cNvCxnSpPr/>
          <p:nvPr/>
        </p:nvCxnSpPr>
        <p:spPr>
          <a:xfrm>
            <a:off x="4286248" y="4000504"/>
            <a:ext cx="785818" cy="1588"/>
          </a:xfrm>
          <a:prstGeom prst="straightConnector1">
            <a:avLst/>
          </a:prstGeom>
          <a:ln w="57150">
            <a:tailEnd type="arrow"/>
          </a:ln>
        </p:spPr>
        <p:style>
          <a:lnRef idx="2">
            <a:schemeClr val="accent4"/>
          </a:lnRef>
          <a:fillRef idx="0">
            <a:schemeClr val="accent4"/>
          </a:fillRef>
          <a:effectRef idx="1">
            <a:schemeClr val="accent4"/>
          </a:effectRef>
          <a:fontRef idx="minor">
            <a:schemeClr val="tx1"/>
          </a:fontRef>
        </p:style>
      </p:cxnSp>
      <p:sp>
        <p:nvSpPr>
          <p:cNvPr id="13" name="Rectangle 12"/>
          <p:cNvSpPr/>
          <p:nvPr/>
        </p:nvSpPr>
        <p:spPr>
          <a:xfrm>
            <a:off x="285720" y="5143512"/>
            <a:ext cx="8429684" cy="1477328"/>
          </a:xfrm>
          <a:prstGeom prst="rect">
            <a:avLst/>
          </a:prstGeom>
        </p:spPr>
        <p:txBody>
          <a:bodyPr wrap="square">
            <a:spAutoFit/>
          </a:bodyPr>
          <a:lstStyle/>
          <a:p>
            <a:r>
              <a:rPr lang="fr-FR" dirty="0" smtClean="0"/>
              <a:t>Nous constatons que le </a:t>
            </a:r>
            <a:r>
              <a:rPr lang="fr-FR" dirty="0"/>
              <a:t>texte s'affiche sur la même ligne alors qu'on avait demandé à l'écrire sur deux lignes différentes. </a:t>
            </a:r>
            <a:r>
              <a:rPr lang="fr-FR" dirty="0" smtClean="0"/>
              <a:t>En effet, </a:t>
            </a:r>
            <a:r>
              <a:rPr lang="fr-FR" dirty="0"/>
              <a:t>pour créer une page web il ne suffit pas de taper simplement du texte comme on vient de le faire. En plus de ce texte, il faut aussi écrire ce qu'on appelle des </a:t>
            </a:r>
            <a:r>
              <a:rPr lang="fr-FR" b="1" dirty="0"/>
              <a:t>balises</a:t>
            </a:r>
            <a:r>
              <a:rPr lang="fr-FR" dirty="0"/>
              <a:t>, qui vont donner des instructions à l'ordinateur comme « aller à la ligne », « afficher une image », etc.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5"/>
          <p:cNvSpPr txBox="1"/>
          <p:nvPr/>
        </p:nvSpPr>
        <p:spPr>
          <a:xfrm>
            <a:off x="467544" y="285728"/>
            <a:ext cx="8280920" cy="400110"/>
          </a:xfrm>
          <a:prstGeom prst="rect">
            <a:avLst/>
          </a:prstGeom>
          <a:noFill/>
        </p:spPr>
        <p:txBody>
          <a:bodyPr wrap="square" rtlCol="0">
            <a:spAutoFit/>
          </a:bodyPr>
          <a:lstStyle/>
          <a:p>
            <a:r>
              <a:rPr lang="fr-FR" sz="2000" b="1" dirty="0" smtClean="0"/>
              <a:t>2. </a:t>
            </a:r>
            <a:r>
              <a:rPr lang="fr-FR" sz="2000" b="1" u="sng" dirty="0" smtClean="0"/>
              <a:t>Les balises</a:t>
            </a:r>
          </a:p>
        </p:txBody>
      </p:sp>
      <p:sp>
        <p:nvSpPr>
          <p:cNvPr id="3" name="Rectangle 2"/>
          <p:cNvSpPr/>
          <p:nvPr/>
        </p:nvSpPr>
        <p:spPr>
          <a:xfrm>
            <a:off x="785786" y="785794"/>
            <a:ext cx="3924216" cy="369332"/>
          </a:xfrm>
          <a:prstGeom prst="rect">
            <a:avLst/>
          </a:prstGeom>
        </p:spPr>
        <p:txBody>
          <a:bodyPr wrap="none">
            <a:spAutoFit/>
          </a:bodyPr>
          <a:lstStyle/>
          <a:p>
            <a:r>
              <a:rPr lang="fr-FR" b="1" dirty="0" smtClean="0"/>
              <a:t>a. </a:t>
            </a:r>
            <a:r>
              <a:rPr lang="fr-FR" b="1" u="sng" dirty="0" smtClean="0"/>
              <a:t>Structure de base d'une page HTML5</a:t>
            </a:r>
            <a:endParaRPr lang="fr-FR" b="1" u="sng" dirty="0"/>
          </a:p>
        </p:txBody>
      </p:sp>
      <p:sp>
        <p:nvSpPr>
          <p:cNvPr id="4" name="Rectangle 3"/>
          <p:cNvSpPr/>
          <p:nvPr/>
        </p:nvSpPr>
        <p:spPr>
          <a:xfrm>
            <a:off x="428596" y="1285860"/>
            <a:ext cx="8358246" cy="1200329"/>
          </a:xfrm>
          <a:prstGeom prst="rect">
            <a:avLst/>
          </a:prstGeom>
        </p:spPr>
        <p:txBody>
          <a:bodyPr wrap="square">
            <a:spAutoFit/>
          </a:bodyPr>
          <a:lstStyle/>
          <a:p>
            <a:r>
              <a:rPr lang="fr-FR" dirty="0" smtClean="0"/>
              <a:t>Dans notre éditeur de texte écrivons le code source ci-dessous en respectant l’indentation (espaces au début de certaines lignes pour « décaler » les balises). L’indentation permet de rendre le code plus lisible.</a:t>
            </a:r>
          </a:p>
          <a:p>
            <a:r>
              <a:rPr lang="fr-FR" dirty="0" smtClean="0"/>
              <a:t>Le code ci-dessous correspond à la base d'une page web en HTML5 :</a:t>
            </a:r>
            <a:endParaRPr lang="fr-FR" dirty="0"/>
          </a:p>
        </p:txBody>
      </p:sp>
      <p:sp>
        <p:nvSpPr>
          <p:cNvPr id="5" name="Rectangle 4"/>
          <p:cNvSpPr/>
          <p:nvPr/>
        </p:nvSpPr>
        <p:spPr>
          <a:xfrm>
            <a:off x="500034" y="2718571"/>
            <a:ext cx="8215370" cy="3139321"/>
          </a:xfrm>
          <a:prstGeom prst="rect">
            <a:avLst/>
          </a:prstGeom>
        </p:spPr>
        <p:txBody>
          <a:bodyPr wrap="square">
            <a:spAutoFit/>
          </a:bodyPr>
          <a:lstStyle/>
          <a:p>
            <a:r>
              <a:rPr lang="en-US" dirty="0" smtClean="0">
                <a:solidFill>
                  <a:schemeClr val="tx2">
                    <a:lumMod val="60000"/>
                    <a:lumOff val="40000"/>
                  </a:schemeClr>
                </a:solidFill>
              </a:rPr>
              <a:t>&lt;!DOCTYPE html&gt;</a:t>
            </a:r>
          </a:p>
          <a:p>
            <a:r>
              <a:rPr lang="en-US" dirty="0" smtClean="0">
                <a:solidFill>
                  <a:schemeClr val="tx2">
                    <a:lumMod val="60000"/>
                    <a:lumOff val="40000"/>
                  </a:schemeClr>
                </a:solidFill>
              </a:rPr>
              <a:t>&lt;html&gt;</a:t>
            </a:r>
          </a:p>
          <a:p>
            <a:r>
              <a:rPr lang="en-US" dirty="0" smtClean="0">
                <a:solidFill>
                  <a:schemeClr val="tx2">
                    <a:lumMod val="60000"/>
                    <a:lumOff val="40000"/>
                  </a:schemeClr>
                </a:solidFill>
              </a:rPr>
              <a:t>    &lt;head&gt;</a:t>
            </a:r>
          </a:p>
          <a:p>
            <a:r>
              <a:rPr lang="en-US" dirty="0" smtClean="0">
                <a:solidFill>
                  <a:schemeClr val="tx2">
                    <a:lumMod val="60000"/>
                    <a:lumOff val="40000"/>
                  </a:schemeClr>
                </a:solidFill>
              </a:rPr>
              <a:t>        &lt;meta </a:t>
            </a:r>
            <a:r>
              <a:rPr lang="en-US" dirty="0" err="1" smtClean="0">
                <a:solidFill>
                  <a:schemeClr val="tx2">
                    <a:lumMod val="60000"/>
                    <a:lumOff val="40000"/>
                  </a:schemeClr>
                </a:solidFill>
              </a:rPr>
              <a:t>charset</a:t>
            </a:r>
            <a:r>
              <a:rPr lang="en-US" dirty="0" smtClean="0">
                <a:solidFill>
                  <a:schemeClr val="tx2">
                    <a:lumMod val="60000"/>
                    <a:lumOff val="40000"/>
                  </a:schemeClr>
                </a:solidFill>
              </a:rPr>
              <a:t>="utf-8" /&gt;</a:t>
            </a:r>
          </a:p>
          <a:p>
            <a:r>
              <a:rPr lang="en-US" dirty="0" smtClean="0">
                <a:solidFill>
                  <a:schemeClr val="tx2">
                    <a:lumMod val="60000"/>
                    <a:lumOff val="40000"/>
                  </a:schemeClr>
                </a:solidFill>
              </a:rPr>
              <a:t>        &lt;title&gt;</a:t>
            </a:r>
            <a:r>
              <a:rPr lang="en-US" dirty="0" err="1" smtClean="0">
                <a:solidFill>
                  <a:schemeClr val="tx2">
                    <a:lumMod val="60000"/>
                    <a:lumOff val="40000"/>
                  </a:schemeClr>
                </a:solidFill>
              </a:rPr>
              <a:t>Titre</a:t>
            </a:r>
            <a:r>
              <a:rPr lang="en-US" dirty="0" smtClean="0">
                <a:solidFill>
                  <a:schemeClr val="tx2">
                    <a:lumMod val="60000"/>
                    <a:lumOff val="40000"/>
                  </a:schemeClr>
                </a:solidFill>
              </a:rPr>
              <a:t>&lt;/title&gt;</a:t>
            </a:r>
          </a:p>
          <a:p>
            <a:r>
              <a:rPr lang="en-US" dirty="0" smtClean="0">
                <a:solidFill>
                  <a:schemeClr val="tx2">
                    <a:lumMod val="60000"/>
                    <a:lumOff val="40000"/>
                  </a:schemeClr>
                </a:solidFill>
              </a:rPr>
              <a:t>    &lt;/head&gt;</a:t>
            </a:r>
          </a:p>
          <a:p>
            <a:endParaRPr lang="en-US" dirty="0" smtClean="0">
              <a:solidFill>
                <a:schemeClr val="tx2">
                  <a:lumMod val="60000"/>
                  <a:lumOff val="40000"/>
                </a:schemeClr>
              </a:solidFill>
            </a:endParaRPr>
          </a:p>
          <a:p>
            <a:r>
              <a:rPr lang="en-US" dirty="0" smtClean="0">
                <a:solidFill>
                  <a:schemeClr val="tx2">
                    <a:lumMod val="60000"/>
                    <a:lumOff val="40000"/>
                  </a:schemeClr>
                </a:solidFill>
              </a:rPr>
              <a:t>    &lt;body&gt;</a:t>
            </a:r>
          </a:p>
          <a:p>
            <a:r>
              <a:rPr lang="en-US" dirty="0" smtClean="0">
                <a:solidFill>
                  <a:schemeClr val="tx2">
                    <a:lumMod val="60000"/>
                    <a:lumOff val="40000"/>
                  </a:schemeClr>
                </a:solidFill>
              </a:rPr>
              <a:t>    </a:t>
            </a:r>
          </a:p>
          <a:p>
            <a:r>
              <a:rPr lang="en-US" dirty="0" smtClean="0">
                <a:solidFill>
                  <a:schemeClr val="tx2">
                    <a:lumMod val="60000"/>
                    <a:lumOff val="40000"/>
                  </a:schemeClr>
                </a:solidFill>
              </a:rPr>
              <a:t>    &lt;/body&gt;</a:t>
            </a:r>
          </a:p>
          <a:p>
            <a:r>
              <a:rPr lang="en-US" dirty="0" smtClean="0">
                <a:solidFill>
                  <a:schemeClr val="tx2">
                    <a:lumMod val="60000"/>
                    <a:lumOff val="40000"/>
                  </a:schemeClr>
                </a:solidFill>
              </a:rPr>
              <a:t>&lt;/html&gt;</a:t>
            </a:r>
            <a:endParaRPr lang="fr-FR" dirty="0">
              <a:solidFill>
                <a:schemeClr val="tx2">
                  <a:lumMod val="60000"/>
                  <a:lumOff val="4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214282" y="549172"/>
            <a:ext cx="8643998" cy="2585323"/>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0" i="0" u="none" strike="noStrike" cap="none" normalizeH="0" baseline="0" dirty="0" smtClean="0">
                <a:ln>
                  <a:noFill/>
                </a:ln>
                <a:solidFill>
                  <a:schemeClr val="tx1"/>
                </a:solidFill>
                <a:effectLst/>
                <a:cs typeface="Arial" pitchFamily="34" charset="0"/>
              </a:rPr>
              <a:t>Notons  que les balises s'ouvrent et se ferment dans un ordre précis. Par exemple, la balise </a:t>
            </a:r>
            <a:r>
              <a:rPr kumimoji="0" lang="fr-FR" b="0" i="0" u="none" strike="noStrike" cap="none" normalizeH="0" baseline="0" dirty="0" smtClean="0">
                <a:ln>
                  <a:noFill/>
                </a:ln>
                <a:solidFill>
                  <a:schemeClr val="tx1"/>
                </a:solidFill>
                <a:effectLst/>
                <a:cs typeface="Courier New" pitchFamily="49" charset="0"/>
              </a:rPr>
              <a:t>&lt;html&gt; </a:t>
            </a:r>
            <a:r>
              <a:rPr kumimoji="0" lang="fr-FR" b="0" i="0" u="none" strike="noStrike" cap="none" normalizeH="0" baseline="0" dirty="0" smtClean="0">
                <a:ln>
                  <a:noFill/>
                </a:ln>
                <a:solidFill>
                  <a:schemeClr val="tx1"/>
                </a:solidFill>
                <a:effectLst/>
                <a:cs typeface="Arial" pitchFamily="34" charset="0"/>
              </a:rPr>
              <a:t>est la première que l'on ouvre et c'est aussi la dernière que l'on ferme (tout à la fin du code, avec</a:t>
            </a:r>
            <a:r>
              <a:rPr kumimoji="0" lang="fr-FR" b="0" i="0" u="none" strike="noStrike" cap="none" normalizeH="0" baseline="0" dirty="0" smtClean="0">
                <a:ln>
                  <a:noFill/>
                </a:ln>
                <a:solidFill>
                  <a:schemeClr val="tx1"/>
                </a:solidFill>
                <a:effectLst/>
                <a:cs typeface="Courier New" pitchFamily="49" charset="0"/>
              </a:rPr>
              <a:t>&lt;/html&gt;</a:t>
            </a:r>
            <a:r>
              <a:rPr kumimoji="0" lang="fr-FR" b="0" i="0" u="none" strike="noStrike" cap="none" normalizeH="0" baseline="0" dirty="0" smtClean="0">
                <a:ln>
                  <a:noFill/>
                </a:ln>
                <a:solidFill>
                  <a:schemeClr val="tx1"/>
                </a:solidFill>
                <a:effectLst/>
                <a:cs typeface="Arial" pitchFamily="34" charset="0"/>
              </a:rPr>
              <a:t>). </a:t>
            </a:r>
            <a:r>
              <a:rPr kumimoji="0" lang="fr-FR" b="0" u="none" strike="noStrike" cap="none" normalizeH="0" baseline="0" dirty="0" smtClean="0">
                <a:ln>
                  <a:noFill/>
                </a:ln>
                <a:solidFill>
                  <a:schemeClr val="tx1"/>
                </a:solidFill>
                <a:effectLst/>
                <a:cs typeface="Arial" pitchFamily="34" charset="0"/>
              </a:rPr>
              <a:t>Les balises doivent être fermées dans le sens inverse de leur ouverture. Un exemple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b="0" i="0" u="none" strike="noStrike" cap="none" normalizeH="0" baseline="0" dirty="0" smtClean="0">
                <a:ln>
                  <a:noFill/>
                </a:ln>
                <a:solidFill>
                  <a:srgbClr val="000000"/>
                </a:solidFill>
                <a:effectLst/>
                <a:cs typeface="Courier New" pitchFamily="49" charset="0"/>
              </a:rPr>
              <a:t>&lt;html&gt;&lt;body&gt;&lt;/body&gt;&lt;/html&gt;</a:t>
            </a:r>
            <a:r>
              <a:rPr kumimoji="0" lang="fr-FR" b="0" i="0" u="none" strike="noStrike" cap="none" normalizeH="0" baseline="0" dirty="0" smtClean="0">
                <a:ln>
                  <a:noFill/>
                </a:ln>
                <a:solidFill>
                  <a:srgbClr val="000000"/>
                </a:solidFill>
                <a:effectLst/>
                <a:cs typeface="Arial" pitchFamily="34" charset="0"/>
              </a:rPr>
              <a:t>: </a:t>
            </a:r>
            <a:r>
              <a:rPr kumimoji="0" lang="fr-FR" b="1" i="0" u="none" strike="noStrike" cap="none" normalizeH="0" baseline="0" dirty="0" smtClean="0">
                <a:ln>
                  <a:noFill/>
                </a:ln>
                <a:solidFill>
                  <a:srgbClr val="000000"/>
                </a:solidFill>
                <a:effectLst/>
                <a:cs typeface="Arial" pitchFamily="34" charset="0"/>
              </a:rPr>
              <a:t>correct</a:t>
            </a:r>
            <a:r>
              <a:rPr kumimoji="0" lang="fr-FR" b="0" i="0" u="none" strike="noStrike" cap="none" normalizeH="0" baseline="0" dirty="0" smtClean="0">
                <a:ln>
                  <a:noFill/>
                </a:ln>
                <a:solidFill>
                  <a:srgbClr val="000000"/>
                </a:solidFill>
                <a:effectLst/>
                <a:cs typeface="Arial" pitchFamily="34" charset="0"/>
              </a:rPr>
              <a:t>. Une balise qui est ouverte à l'intérieur d'une autre doit aussi être fermée à l'intérieur.</a:t>
            </a:r>
          </a:p>
          <a:p>
            <a:pPr marL="0" marR="0" lvl="0" indent="0" algn="l" defTabSz="914400" rtl="0" eaLnBrk="0" fontAlgn="base" latinLnBrk="0" hangingPunct="0">
              <a:lnSpc>
                <a:spcPct val="100000"/>
              </a:lnSpc>
              <a:spcBef>
                <a:spcPct val="0"/>
              </a:spcBef>
              <a:spcAft>
                <a:spcPct val="0"/>
              </a:spcAft>
              <a:buClrTx/>
              <a:buSzTx/>
              <a:tabLst/>
            </a:pPr>
            <a:endParaRPr kumimoji="0" lang="fr-FR"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b="0" i="0" u="none" strike="noStrike" cap="none" normalizeH="0" baseline="0" dirty="0" smtClean="0">
                <a:ln>
                  <a:noFill/>
                </a:ln>
                <a:solidFill>
                  <a:srgbClr val="000000"/>
                </a:solidFill>
                <a:effectLst/>
                <a:cs typeface="Courier New" pitchFamily="49" charset="0"/>
              </a:rPr>
              <a:t>&lt;html&gt;&lt;body&gt;&lt;/html&gt;&lt;/body&gt;</a:t>
            </a:r>
            <a:r>
              <a:rPr kumimoji="0" lang="fr-FR" b="0" i="0" u="none" strike="noStrike" cap="none" normalizeH="0" baseline="0" dirty="0" smtClean="0">
                <a:ln>
                  <a:noFill/>
                </a:ln>
                <a:solidFill>
                  <a:srgbClr val="000000"/>
                </a:solidFill>
                <a:effectLst/>
                <a:cs typeface="Arial" pitchFamily="34" charset="0"/>
              </a:rPr>
              <a:t>: </a:t>
            </a:r>
            <a:r>
              <a:rPr kumimoji="0" lang="fr-FR" b="1" i="0" u="none" strike="noStrike" cap="none" normalizeH="0" baseline="0" dirty="0" smtClean="0">
                <a:ln>
                  <a:noFill/>
                </a:ln>
                <a:solidFill>
                  <a:srgbClr val="000000"/>
                </a:solidFill>
                <a:effectLst/>
                <a:cs typeface="Arial" pitchFamily="34" charset="0"/>
              </a:rPr>
              <a:t>incorrect</a:t>
            </a:r>
            <a:r>
              <a:rPr kumimoji="0" lang="fr-FR" b="0" i="0" u="none" strike="noStrike" cap="none" normalizeH="0" baseline="0" dirty="0" smtClean="0">
                <a:ln>
                  <a:noFill/>
                </a:ln>
                <a:solidFill>
                  <a:srgbClr val="000000"/>
                </a:solidFill>
                <a:effectLst/>
                <a:cs typeface="Arial" pitchFamily="34" charset="0"/>
              </a:rPr>
              <a:t>, les balises s'entremêlent.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b="0" i="0" u="none" strike="noStrike" cap="none" normalizeH="0" baseline="0" dirty="0" smtClean="0">
              <a:ln>
                <a:noFill/>
              </a:ln>
              <a:solidFill>
                <a:schemeClr val="tx1"/>
              </a:solidFill>
              <a:effectLst/>
              <a:cs typeface="Arial" pitchFamily="34" charset="0"/>
            </a:endParaRPr>
          </a:p>
        </p:txBody>
      </p:sp>
      <p:sp>
        <p:nvSpPr>
          <p:cNvPr id="5" name="Rectangle 4"/>
          <p:cNvSpPr/>
          <p:nvPr/>
        </p:nvSpPr>
        <p:spPr>
          <a:xfrm>
            <a:off x="357158" y="3000372"/>
            <a:ext cx="1221809" cy="369332"/>
          </a:xfrm>
          <a:prstGeom prst="rect">
            <a:avLst/>
          </a:prstGeom>
        </p:spPr>
        <p:txBody>
          <a:bodyPr wrap="none">
            <a:spAutoFit/>
          </a:bodyPr>
          <a:lstStyle/>
          <a:p>
            <a:r>
              <a:rPr lang="fr-FR" b="1" u="sng" dirty="0" smtClean="0"/>
              <a:t>Le </a:t>
            </a:r>
            <a:r>
              <a:rPr lang="fr-FR" b="1" u="sng" dirty="0" err="1" smtClean="0"/>
              <a:t>doctype</a:t>
            </a:r>
            <a:endParaRPr lang="fr-FR" b="1" u="sng" dirty="0"/>
          </a:p>
        </p:txBody>
      </p:sp>
      <p:sp>
        <p:nvSpPr>
          <p:cNvPr id="6" name="Rectangle 5"/>
          <p:cNvSpPr/>
          <p:nvPr/>
        </p:nvSpPr>
        <p:spPr>
          <a:xfrm>
            <a:off x="428596" y="3500438"/>
            <a:ext cx="1852430" cy="369332"/>
          </a:xfrm>
          <a:prstGeom prst="rect">
            <a:avLst/>
          </a:prstGeom>
        </p:spPr>
        <p:txBody>
          <a:bodyPr wrap="none">
            <a:spAutoFit/>
          </a:bodyPr>
          <a:lstStyle/>
          <a:p>
            <a:r>
              <a:rPr lang="fr-FR" dirty="0" smtClean="0">
                <a:solidFill>
                  <a:schemeClr val="tx2">
                    <a:lumMod val="60000"/>
                    <a:lumOff val="40000"/>
                  </a:schemeClr>
                </a:solidFill>
              </a:rPr>
              <a:t>&lt;!DOCTYPE html&gt;</a:t>
            </a:r>
            <a:endParaRPr lang="fr-FR" dirty="0">
              <a:solidFill>
                <a:schemeClr val="tx2">
                  <a:lumMod val="60000"/>
                  <a:lumOff val="40000"/>
                </a:schemeClr>
              </a:solidFill>
            </a:endParaRPr>
          </a:p>
        </p:txBody>
      </p:sp>
      <p:sp>
        <p:nvSpPr>
          <p:cNvPr id="7" name="Rectangle 6"/>
          <p:cNvSpPr/>
          <p:nvPr/>
        </p:nvSpPr>
        <p:spPr>
          <a:xfrm>
            <a:off x="357158" y="4000504"/>
            <a:ext cx="8429684" cy="1200329"/>
          </a:xfrm>
          <a:prstGeom prst="rect">
            <a:avLst/>
          </a:prstGeom>
        </p:spPr>
        <p:txBody>
          <a:bodyPr wrap="square">
            <a:spAutoFit/>
          </a:bodyPr>
          <a:lstStyle/>
          <a:p>
            <a:r>
              <a:rPr lang="fr-FR" dirty="0" smtClean="0"/>
              <a:t>La toute première ligne s'appelle le </a:t>
            </a:r>
            <a:r>
              <a:rPr lang="fr-FR" b="1" dirty="0" err="1" smtClean="0"/>
              <a:t>doctype</a:t>
            </a:r>
            <a:r>
              <a:rPr lang="fr-FR" dirty="0" smtClean="0"/>
              <a:t>. Elle est indispensable car c'est elle qui indique qu'il s'agit bien d'une page web HTML.</a:t>
            </a:r>
            <a:br>
              <a:rPr lang="fr-FR" dirty="0" smtClean="0"/>
            </a:br>
            <a:r>
              <a:rPr lang="fr-FR" dirty="0" smtClean="0"/>
              <a:t>Ce n'est pas vraiment une balise comme les autres (elle commence par un point d'exclamation). </a:t>
            </a:r>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ChangeArrowheads="1"/>
          </p:cNvSpPr>
          <p:nvPr/>
        </p:nvSpPr>
        <p:spPr bwMode="auto">
          <a:xfrm>
            <a:off x="214282" y="164081"/>
            <a:ext cx="1648978" cy="366739"/>
          </a:xfrm>
          <a:prstGeom prst="rect">
            <a:avLst/>
          </a:prstGeom>
          <a:solidFill>
            <a:srgbClr val="FFFFFF"/>
          </a:solidFill>
          <a:ln w="9525">
            <a:noFill/>
            <a:miter lim="800000"/>
            <a:headEnd/>
            <a:tailEnd/>
          </a:ln>
          <a:effec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1" i="0" u="sng" strike="noStrike" cap="none" normalizeH="0" baseline="0" dirty="0" smtClean="0">
                <a:ln>
                  <a:noFill/>
                </a:ln>
                <a:solidFill>
                  <a:schemeClr val="tx1"/>
                </a:solidFill>
                <a:effectLst/>
                <a:cs typeface="Arial" pitchFamily="34" charset="0"/>
              </a:rPr>
              <a:t>La balise </a:t>
            </a:r>
            <a:r>
              <a:rPr kumimoji="0" lang="fr-FR" b="1" i="0" u="sng" strike="noStrike" cap="none" normalizeH="0" baseline="0" dirty="0" smtClean="0">
                <a:ln>
                  <a:noFill/>
                </a:ln>
                <a:solidFill>
                  <a:schemeClr val="tx1"/>
                </a:solidFill>
                <a:effectLst/>
                <a:cs typeface="Courier New" pitchFamily="49" charset="0"/>
              </a:rPr>
              <a:t>&lt;/html&gt;</a:t>
            </a:r>
            <a:endParaRPr kumimoji="0" lang="fr-FR" b="1" i="0" u="sng" strike="noStrike" cap="none" normalizeH="0" baseline="0" dirty="0" smtClean="0">
              <a:ln>
                <a:noFill/>
              </a:ln>
              <a:solidFill>
                <a:schemeClr val="tx1"/>
              </a:solidFill>
              <a:effectLst/>
              <a:cs typeface="Arial" pitchFamily="34" charset="0"/>
            </a:endParaRPr>
          </a:p>
        </p:txBody>
      </p:sp>
      <p:sp>
        <p:nvSpPr>
          <p:cNvPr id="5" name="Rectangle 4"/>
          <p:cNvSpPr/>
          <p:nvPr/>
        </p:nvSpPr>
        <p:spPr>
          <a:xfrm>
            <a:off x="214282" y="571480"/>
            <a:ext cx="4572000" cy="830997"/>
          </a:xfrm>
          <a:prstGeom prst="rect">
            <a:avLst/>
          </a:prstGeom>
        </p:spPr>
        <p:txBody>
          <a:bodyPr>
            <a:spAutoFit/>
          </a:bodyPr>
          <a:lstStyle/>
          <a:p>
            <a:r>
              <a:rPr lang="fr-FR" sz="1600" dirty="0" smtClean="0">
                <a:solidFill>
                  <a:schemeClr val="tx2">
                    <a:lumMod val="60000"/>
                    <a:lumOff val="40000"/>
                  </a:schemeClr>
                </a:solidFill>
              </a:rPr>
              <a:t>&lt;html&gt;</a:t>
            </a:r>
          </a:p>
          <a:p>
            <a:endParaRPr lang="fr-FR" sz="1600" dirty="0" smtClean="0">
              <a:solidFill>
                <a:schemeClr val="tx2">
                  <a:lumMod val="60000"/>
                  <a:lumOff val="40000"/>
                </a:schemeClr>
              </a:solidFill>
            </a:endParaRPr>
          </a:p>
          <a:p>
            <a:r>
              <a:rPr lang="fr-FR" sz="1600" dirty="0" smtClean="0">
                <a:solidFill>
                  <a:schemeClr val="tx2">
                    <a:lumMod val="60000"/>
                    <a:lumOff val="40000"/>
                  </a:schemeClr>
                </a:solidFill>
              </a:rPr>
              <a:t>&lt;/html&gt;</a:t>
            </a:r>
            <a:endParaRPr lang="fr-FR" sz="1600" dirty="0">
              <a:solidFill>
                <a:schemeClr val="tx2">
                  <a:lumMod val="60000"/>
                  <a:lumOff val="40000"/>
                </a:schemeClr>
              </a:solidFill>
            </a:endParaRPr>
          </a:p>
        </p:txBody>
      </p:sp>
      <p:sp>
        <p:nvSpPr>
          <p:cNvPr id="19458" name="Rectangle 2"/>
          <p:cNvSpPr>
            <a:spLocks noChangeArrowheads="1"/>
          </p:cNvSpPr>
          <p:nvPr/>
        </p:nvSpPr>
        <p:spPr bwMode="auto">
          <a:xfrm>
            <a:off x="214282" y="1571612"/>
            <a:ext cx="8715436"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C'est la balise principale du code. Elle englobe tout le contenu de votre page. Comme vous pouvez le voir, la balise fermante</a:t>
            </a:r>
            <a:r>
              <a:rPr kumimoji="0" lang="fr-FR" sz="1600" b="0" i="0" u="none" strike="noStrike" cap="none" normalizeH="0" baseline="0" dirty="0" smtClean="0">
                <a:ln>
                  <a:noFill/>
                </a:ln>
                <a:solidFill>
                  <a:schemeClr val="tx1"/>
                </a:solidFill>
                <a:effectLst/>
                <a:cs typeface="Courier New" pitchFamily="49" charset="0"/>
              </a:rPr>
              <a:t>&lt;/html&gt;</a:t>
            </a:r>
            <a:r>
              <a:rPr kumimoji="0" lang="fr-FR" sz="1600" b="0" i="0" u="none" strike="noStrike" cap="none" normalizeH="0" baseline="0" dirty="0" smtClean="0">
                <a:ln>
                  <a:noFill/>
                </a:ln>
                <a:solidFill>
                  <a:schemeClr val="tx1"/>
                </a:solidFill>
                <a:effectLst/>
                <a:cs typeface="Arial" pitchFamily="34" charset="0"/>
              </a:rPr>
              <a:t>se trouve tout à la fin du code ! </a:t>
            </a:r>
          </a:p>
        </p:txBody>
      </p:sp>
      <p:sp>
        <p:nvSpPr>
          <p:cNvPr id="19459" name="Rectangle 3"/>
          <p:cNvSpPr>
            <a:spLocks noChangeArrowheads="1"/>
          </p:cNvSpPr>
          <p:nvPr/>
        </p:nvSpPr>
        <p:spPr bwMode="auto">
          <a:xfrm>
            <a:off x="214282" y="2357430"/>
            <a:ext cx="3406445" cy="366739"/>
          </a:xfrm>
          <a:prstGeom prst="rect">
            <a:avLst/>
          </a:prstGeom>
          <a:solidFill>
            <a:srgbClr val="FFFFFF"/>
          </a:solidFill>
          <a:ln w="9525">
            <a:noFill/>
            <a:miter lim="800000"/>
            <a:headEnd/>
            <a:tailEnd/>
          </a:ln>
          <a:effec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1" i="0" u="sng" strike="noStrike" cap="none" normalizeH="0" baseline="0" dirty="0" smtClean="0">
                <a:ln>
                  <a:noFill/>
                </a:ln>
                <a:solidFill>
                  <a:schemeClr val="tx1"/>
                </a:solidFill>
                <a:effectLst/>
                <a:cs typeface="Arial" pitchFamily="34" charset="0"/>
              </a:rPr>
              <a:t>L'en-tête </a:t>
            </a:r>
            <a:r>
              <a:rPr kumimoji="0" lang="fr-FR" b="1" i="0" u="sng" strike="noStrike" cap="none" normalizeH="0" baseline="0" dirty="0" smtClean="0">
                <a:ln>
                  <a:noFill/>
                </a:ln>
                <a:solidFill>
                  <a:schemeClr val="tx1"/>
                </a:solidFill>
                <a:effectLst/>
                <a:cs typeface="Courier New" pitchFamily="49" charset="0"/>
              </a:rPr>
              <a:t>&lt;</a:t>
            </a:r>
            <a:r>
              <a:rPr kumimoji="0" lang="fr-FR" b="1" i="0" u="sng" strike="noStrike" cap="none" normalizeH="0" baseline="0" dirty="0" err="1" smtClean="0">
                <a:ln>
                  <a:noFill/>
                </a:ln>
                <a:solidFill>
                  <a:schemeClr val="tx1"/>
                </a:solidFill>
                <a:effectLst/>
                <a:cs typeface="Courier New" pitchFamily="49" charset="0"/>
              </a:rPr>
              <a:t>head</a:t>
            </a:r>
            <a:r>
              <a:rPr kumimoji="0" lang="fr-FR" b="1" i="0" u="sng" strike="noStrike" cap="none" normalizeH="0" baseline="0" dirty="0" smtClean="0">
                <a:ln>
                  <a:noFill/>
                </a:ln>
                <a:solidFill>
                  <a:schemeClr val="tx1"/>
                </a:solidFill>
                <a:effectLst/>
                <a:cs typeface="Courier New" pitchFamily="49" charset="0"/>
              </a:rPr>
              <a:t>&gt; </a:t>
            </a:r>
            <a:r>
              <a:rPr kumimoji="0" lang="fr-FR" b="1" i="0" u="sng" strike="noStrike" cap="none" normalizeH="0" baseline="0" dirty="0" smtClean="0">
                <a:ln>
                  <a:noFill/>
                </a:ln>
                <a:solidFill>
                  <a:schemeClr val="tx1"/>
                </a:solidFill>
                <a:effectLst/>
                <a:cs typeface="Arial" pitchFamily="34" charset="0"/>
              </a:rPr>
              <a:t>et le corps </a:t>
            </a:r>
            <a:r>
              <a:rPr kumimoji="0" lang="fr-FR" b="1" i="0" u="sng" strike="noStrike" cap="none" normalizeH="0" baseline="0" dirty="0" smtClean="0">
                <a:ln>
                  <a:noFill/>
                </a:ln>
                <a:solidFill>
                  <a:schemeClr val="tx1"/>
                </a:solidFill>
                <a:effectLst/>
                <a:cs typeface="Courier New" pitchFamily="49" charset="0"/>
              </a:rPr>
              <a:t>&lt;body&gt;</a:t>
            </a:r>
            <a:endParaRPr kumimoji="0" lang="fr-FR" b="1" i="0" u="sng" strike="noStrike" cap="none" normalizeH="0" baseline="0" dirty="0" smtClean="0">
              <a:ln>
                <a:noFill/>
              </a:ln>
              <a:solidFill>
                <a:schemeClr val="tx1"/>
              </a:solidFill>
              <a:effectLst/>
              <a:cs typeface="Arial" pitchFamily="34" charset="0"/>
            </a:endParaRPr>
          </a:p>
        </p:txBody>
      </p:sp>
      <p:sp>
        <p:nvSpPr>
          <p:cNvPr id="19460" name="Rectangle 4"/>
          <p:cNvSpPr>
            <a:spLocks noChangeArrowheads="1"/>
          </p:cNvSpPr>
          <p:nvPr/>
        </p:nvSpPr>
        <p:spPr bwMode="auto">
          <a:xfrm>
            <a:off x="214282" y="2786058"/>
            <a:ext cx="8715404" cy="255454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Une page web est constituée de deux parties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L'en-tête </a:t>
            </a:r>
            <a:r>
              <a:rPr kumimoji="0" lang="fr-FR" sz="1600" b="1" i="0" u="none" strike="noStrike" cap="none" normalizeH="0" baseline="0" dirty="0" smtClean="0">
                <a:ln>
                  <a:noFill/>
                </a:ln>
                <a:solidFill>
                  <a:srgbClr val="000000"/>
                </a:solidFill>
                <a:effectLst/>
                <a:cs typeface="Courier New" pitchFamily="49" charset="0"/>
              </a:rPr>
              <a:t>&lt;</a:t>
            </a:r>
            <a:r>
              <a:rPr kumimoji="0" lang="fr-FR" sz="1600" b="1" i="0" u="none" strike="noStrike" cap="none" normalizeH="0" baseline="0" dirty="0" err="1" smtClean="0">
                <a:ln>
                  <a:noFill/>
                </a:ln>
                <a:solidFill>
                  <a:srgbClr val="000000"/>
                </a:solidFill>
                <a:effectLst/>
                <a:cs typeface="Courier New" pitchFamily="49" charset="0"/>
              </a:rPr>
              <a:t>head</a:t>
            </a:r>
            <a:r>
              <a:rPr kumimoji="0" lang="fr-FR" sz="1600" b="1" i="0" u="none" strike="noStrike" cap="none" normalizeH="0" baseline="0" dirty="0" smtClean="0">
                <a:ln>
                  <a:noFill/>
                </a:ln>
                <a:solidFill>
                  <a:srgbClr val="000000"/>
                </a:solidFill>
                <a:effectLst/>
                <a:cs typeface="Courier New" pitchFamily="49" charset="0"/>
              </a:rPr>
              <a:t>&gt;</a:t>
            </a:r>
            <a:r>
              <a:rPr kumimoji="0" lang="fr-FR" sz="1600" b="1" i="0" u="none" strike="noStrike" cap="none" normalizeH="0" baseline="0" dirty="0" smtClean="0">
                <a:ln>
                  <a:noFill/>
                </a:ln>
                <a:solidFill>
                  <a:srgbClr val="000000"/>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cette section donne quelques informations générales sur la page comme son titre, l'encodage (pour la gestion des caractères spéciaux), etc. Cette section est généralement assez courte. Les informations que contient l'en-tête ne sont pas affichées sur la page, ce sont simplement des informations générales à destination de l'ordinateur. Elles sont cependant très importantes !</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Le corps </a:t>
            </a:r>
            <a:r>
              <a:rPr kumimoji="0" lang="fr-FR" sz="1600" b="1" i="0" u="none" strike="noStrike" cap="none" normalizeH="0" baseline="0" dirty="0" smtClean="0">
                <a:ln>
                  <a:noFill/>
                </a:ln>
                <a:solidFill>
                  <a:srgbClr val="000000"/>
                </a:solidFill>
                <a:effectLst/>
                <a:cs typeface="Courier New" pitchFamily="49" charset="0"/>
              </a:rPr>
              <a:t>&lt;body&gt;</a:t>
            </a:r>
            <a:r>
              <a:rPr kumimoji="0" lang="fr-FR" sz="1600" b="1" i="0" u="none" strike="noStrike" cap="none" normalizeH="0" baseline="0" dirty="0" smtClean="0">
                <a:ln>
                  <a:noFill/>
                </a:ln>
                <a:solidFill>
                  <a:srgbClr val="000000"/>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c'est là que se trouve la partie principale de la page. Tout ce que nous écrirons ici sera affiché à l'écran. C'est à l'intérieur du corps que nous écrirons la majeure partie de notre code.</a:t>
            </a:r>
          </a:p>
          <a:p>
            <a:pPr marL="0" marR="0" lvl="0" indent="0" algn="l" defTabSz="914400" rtl="0" eaLnBrk="0" fontAlgn="base" latinLnBrk="0" hangingPunct="0">
              <a:lnSpc>
                <a:spcPct val="100000"/>
              </a:lnSpc>
              <a:spcBef>
                <a:spcPct val="0"/>
              </a:spcBef>
              <a:spcAft>
                <a:spcPct val="0"/>
              </a:spcAft>
              <a:buClrTx/>
              <a:buSzTx/>
              <a:buFontTx/>
              <a:buNone/>
              <a:tabLst/>
            </a:pPr>
            <a:endParaRPr lang="fr-FR" sz="1600" dirty="0" smtClean="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Intéressons-nous par contre aux deux balises contenues dans l'en-tête…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258812" y="204741"/>
            <a:ext cx="1963614" cy="366739"/>
          </a:xfrm>
          <a:prstGeom prst="rect">
            <a:avLst/>
          </a:prstGeom>
          <a:solidFill>
            <a:srgbClr val="FFFFFF"/>
          </a:solidFill>
          <a:ln w="9525">
            <a:noFill/>
            <a:miter lim="800000"/>
            <a:headEnd/>
            <a:tailEnd/>
          </a:ln>
          <a:effectLst/>
        </p:spPr>
        <p:txBody>
          <a:bodyPr vert="horz" wrap="non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1" i="0" u="sng" strike="noStrike" cap="none" normalizeH="0" baseline="0" dirty="0" smtClean="0">
                <a:ln>
                  <a:noFill/>
                </a:ln>
                <a:solidFill>
                  <a:schemeClr val="tx1"/>
                </a:solidFill>
                <a:effectLst/>
                <a:cs typeface="Arial" pitchFamily="34" charset="0"/>
              </a:rPr>
              <a:t>L'encodage (</a:t>
            </a:r>
            <a:r>
              <a:rPr kumimoji="0" lang="fr-FR" b="1" i="0" u="sng" strike="noStrike" cap="none" normalizeH="0" baseline="0" dirty="0" err="1" smtClean="0">
                <a:ln>
                  <a:noFill/>
                </a:ln>
                <a:solidFill>
                  <a:schemeClr val="tx1"/>
                </a:solidFill>
                <a:effectLst/>
                <a:cs typeface="Courier New" pitchFamily="49" charset="0"/>
              </a:rPr>
              <a:t>charset</a:t>
            </a:r>
            <a:r>
              <a:rPr kumimoji="0" lang="fr-FR" b="1" i="0" u="sng" strike="noStrike" cap="none" normalizeH="0" baseline="0" dirty="0" smtClean="0">
                <a:ln>
                  <a:noFill/>
                </a:ln>
                <a:solidFill>
                  <a:schemeClr val="tx1"/>
                </a:solidFill>
                <a:effectLst/>
                <a:cs typeface="Arial" pitchFamily="34" charset="0"/>
              </a:rPr>
              <a:t>)</a:t>
            </a:r>
          </a:p>
        </p:txBody>
      </p:sp>
      <p:sp>
        <p:nvSpPr>
          <p:cNvPr id="5" name="Rectangle 4"/>
          <p:cNvSpPr/>
          <p:nvPr/>
        </p:nvSpPr>
        <p:spPr>
          <a:xfrm>
            <a:off x="214282" y="571480"/>
            <a:ext cx="2273186" cy="338554"/>
          </a:xfrm>
          <a:prstGeom prst="rect">
            <a:avLst/>
          </a:prstGeom>
        </p:spPr>
        <p:txBody>
          <a:bodyPr wrap="none">
            <a:spAutoFit/>
          </a:bodyPr>
          <a:lstStyle/>
          <a:p>
            <a:r>
              <a:rPr lang="fr-FR" sz="1600" dirty="0" smtClean="0">
                <a:solidFill>
                  <a:schemeClr val="tx2">
                    <a:lumMod val="60000"/>
                    <a:lumOff val="40000"/>
                  </a:schemeClr>
                </a:solidFill>
              </a:rPr>
              <a:t>&lt;</a:t>
            </a:r>
            <a:r>
              <a:rPr lang="fr-FR" sz="1600" dirty="0" err="1" smtClean="0">
                <a:solidFill>
                  <a:schemeClr val="tx2">
                    <a:lumMod val="60000"/>
                    <a:lumOff val="40000"/>
                  </a:schemeClr>
                </a:solidFill>
              </a:rPr>
              <a:t>meta</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charset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utf</a:t>
            </a:r>
            <a:r>
              <a:rPr lang="fr-FR" sz="1600" dirty="0" smtClean="0">
                <a:solidFill>
                  <a:schemeClr val="tx2">
                    <a:lumMod val="60000"/>
                    <a:lumOff val="40000"/>
                  </a:schemeClr>
                </a:solidFill>
              </a:rPr>
              <a:t>-8" /&gt;</a:t>
            </a:r>
            <a:endParaRPr lang="fr-FR" sz="1600" dirty="0">
              <a:solidFill>
                <a:schemeClr val="tx2">
                  <a:lumMod val="60000"/>
                  <a:lumOff val="40000"/>
                </a:schemeClr>
              </a:solidFill>
            </a:endParaRPr>
          </a:p>
        </p:txBody>
      </p:sp>
      <p:sp>
        <p:nvSpPr>
          <p:cNvPr id="20482" name="Rectangle 2"/>
          <p:cNvSpPr>
            <a:spLocks noChangeArrowheads="1"/>
          </p:cNvSpPr>
          <p:nvPr/>
        </p:nvSpPr>
        <p:spPr bwMode="auto">
          <a:xfrm>
            <a:off x="214314" y="928670"/>
            <a:ext cx="8786842" cy="304698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Cette balise indique l'encodage utilisé dans votre fichier</a:t>
            </a:r>
            <a:r>
              <a:rPr kumimoji="0" lang="fr-FR" sz="1600" b="0" i="0" u="none" strike="noStrike" cap="none" normalizeH="0" baseline="0" dirty="0" smtClean="0">
                <a:ln>
                  <a:noFill/>
                </a:ln>
                <a:solidFill>
                  <a:schemeClr val="tx1"/>
                </a:solidFill>
                <a:effectLst/>
                <a:cs typeface="Courier New" pitchFamily="49" charset="0"/>
              </a:rPr>
              <a:t>.html</a:t>
            </a:r>
            <a:r>
              <a:rPr kumimoji="0" lang="fr-FR" sz="1600" b="0" i="0" u="none" strike="noStrike" cap="none" normalizeH="0" baseline="0" dirty="0" smtClean="0">
                <a:ln>
                  <a:noFill/>
                </a:ln>
                <a:solidFill>
                  <a:schemeClr val="tx1"/>
                </a:solidFill>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fr-FR" sz="1600" dirty="0" smtClean="0">
                <a:cs typeface="Arial" pitchFamily="34" charset="0"/>
              </a:rPr>
              <a:t>L</a:t>
            </a:r>
            <a:r>
              <a:rPr kumimoji="0" lang="fr-FR" sz="1600" b="0" i="0" u="none" strike="noStrike" cap="none" normalizeH="0" baseline="0" dirty="0" smtClean="0">
                <a:ln>
                  <a:noFill/>
                </a:ln>
                <a:solidFill>
                  <a:schemeClr val="tx1"/>
                </a:solidFill>
                <a:effectLst/>
                <a:cs typeface="Arial" pitchFamily="34" charset="0"/>
              </a:rPr>
              <a:t>'encodage indique la façon dont le fichier est enregistré. C'est lui qui détermine comment les caractères spéciaux vont s'afficher (accents, idéogrammes chinois et japonais, caractères arabes, etc.).</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Il y a plusieurs techniques d'encodage </a:t>
            </a:r>
            <a:r>
              <a:rPr kumimoji="0" lang="fr-FR" sz="1600" b="0" i="0" u="none" strike="noStrike" cap="none" normalizeH="0" dirty="0" smtClean="0">
                <a:ln>
                  <a:noFill/>
                </a:ln>
                <a:solidFill>
                  <a:schemeClr val="tx1"/>
                </a:solidFill>
                <a:effectLst/>
                <a:cs typeface="Arial" pitchFamily="34" charset="0"/>
              </a:rPr>
              <a:t> </a:t>
            </a:r>
            <a:r>
              <a:rPr kumimoji="0" lang="fr-FR" sz="1600" b="0" i="0" u="none" strike="noStrike" cap="none" normalizeH="0" baseline="0" dirty="0" smtClean="0">
                <a:ln>
                  <a:noFill/>
                </a:ln>
                <a:solidFill>
                  <a:schemeClr val="tx1"/>
                </a:solidFill>
                <a:effectLst/>
                <a:cs typeface="Arial" pitchFamily="34" charset="0"/>
              </a:rPr>
              <a:t>utilisées en fonction des langues : ISO-8859-1, OEM 775, Windows-1253… Une seule cependant devrait être utilisée aujourd'hui autant que possible : </a:t>
            </a:r>
            <a:r>
              <a:rPr kumimoji="0" lang="fr-FR" sz="1600" b="1" i="0" u="none" strike="noStrike" cap="none" normalizeH="0" baseline="0" dirty="0" smtClean="0">
                <a:ln>
                  <a:noFill/>
                </a:ln>
                <a:solidFill>
                  <a:schemeClr val="tx2">
                    <a:lumMod val="60000"/>
                    <a:lumOff val="40000"/>
                  </a:schemeClr>
                </a:solidFill>
                <a:effectLst/>
                <a:cs typeface="Arial" pitchFamily="34" charset="0"/>
              </a:rPr>
              <a:t>UTF-8</a:t>
            </a:r>
            <a:r>
              <a:rPr kumimoji="0" lang="fr-FR" sz="1600" b="0" i="0" u="none" strike="noStrike" cap="none" normalizeH="0" baseline="0" dirty="0" smtClean="0">
                <a:ln>
                  <a:noFill/>
                </a:ln>
                <a:solidFill>
                  <a:schemeClr val="tx1"/>
                </a:solidFill>
                <a:effectLst/>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fr-FR" sz="1600" dirty="0" smtClean="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Cette méthode d'encodage permet d'afficher tous les symboles de toutes les langues! C'est pour cela que nous avons  indiqué </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utf</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-8</a:t>
            </a:r>
            <a:r>
              <a:rPr kumimoji="0" lang="fr-FR" sz="1600" b="0" i="0" u="none" strike="noStrike" cap="none" normalizeH="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dans cette balise.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smtClean="0">
                <a:ln>
                  <a:noFill/>
                </a:ln>
                <a:effectLst/>
                <a:cs typeface="Arial" pitchFamily="34" charset="0"/>
              </a:rPr>
              <a:t>Il ne suffit pas de </a:t>
            </a:r>
            <a:r>
              <a:rPr kumimoji="0" lang="fr-FR" sz="1600" b="1" i="1" u="none" strike="noStrike" cap="none" normalizeH="0" baseline="0" dirty="0" smtClean="0">
                <a:ln>
                  <a:noFill/>
                </a:ln>
                <a:effectLst/>
                <a:cs typeface="Arial" pitchFamily="34" charset="0"/>
              </a:rPr>
              <a:t>dire</a:t>
            </a:r>
            <a:r>
              <a:rPr kumimoji="0" lang="fr-FR" sz="1600" b="1" i="0" u="none" strike="noStrike" cap="none" normalizeH="0" baseline="0" dirty="0" smtClean="0">
                <a:ln>
                  <a:noFill/>
                </a:ln>
                <a:effectLst/>
                <a:cs typeface="Arial" pitchFamily="34" charset="0"/>
              </a:rPr>
              <a:t> que votre fichier est en UTF-8. Il faut aussi que votre fichier soit bien </a:t>
            </a:r>
            <a:r>
              <a:rPr kumimoji="0" lang="fr-FR" sz="1600" b="1" i="1" u="none" strike="noStrike" cap="none" normalizeH="0" baseline="0" dirty="0" smtClean="0">
                <a:ln>
                  <a:noFill/>
                </a:ln>
                <a:effectLst/>
                <a:cs typeface="Arial" pitchFamily="34" charset="0"/>
              </a:rPr>
              <a:t>enregistré</a:t>
            </a:r>
            <a:r>
              <a:rPr kumimoji="0" lang="fr-FR" sz="1600" b="1" i="0" u="none" strike="noStrike" cap="none" normalizeH="0" baseline="0" dirty="0" smtClean="0">
                <a:ln>
                  <a:noFill/>
                </a:ln>
                <a:effectLst/>
                <a:cs typeface="Arial" pitchFamily="34" charset="0"/>
              </a:rPr>
              <a:t> en UTF-8. </a:t>
            </a:r>
            <a:r>
              <a:rPr kumimoji="0" lang="fr-FR" sz="1600" b="0" i="0" u="none" strike="noStrike" cap="none" normalizeH="0" baseline="0" dirty="0" smtClean="0">
                <a:ln>
                  <a:noFill/>
                </a:ln>
                <a:solidFill>
                  <a:schemeClr val="tx1"/>
                </a:solidFill>
                <a:effectLst/>
                <a:cs typeface="Arial" pitchFamily="34" charset="0"/>
              </a:rPr>
              <a:t>C'est heureusement le cas désormais par défaut dans la plupart des éditeurs de texte.</a:t>
            </a:r>
          </a:p>
        </p:txBody>
      </p:sp>
      <p:sp>
        <p:nvSpPr>
          <p:cNvPr id="7" name="Rectangle 6"/>
          <p:cNvSpPr/>
          <p:nvPr/>
        </p:nvSpPr>
        <p:spPr>
          <a:xfrm>
            <a:off x="285720" y="4000504"/>
            <a:ext cx="2771656" cy="369332"/>
          </a:xfrm>
          <a:prstGeom prst="rect">
            <a:avLst/>
          </a:prstGeom>
        </p:spPr>
        <p:txBody>
          <a:bodyPr wrap="none">
            <a:spAutoFit/>
          </a:bodyPr>
          <a:lstStyle/>
          <a:p>
            <a:r>
              <a:rPr lang="fr-FR" b="1" u="sng" dirty="0" smtClean="0"/>
              <a:t>Le titre principal de la page</a:t>
            </a:r>
            <a:endParaRPr lang="fr-FR" b="1" u="sng" dirty="0"/>
          </a:p>
        </p:txBody>
      </p:sp>
      <p:sp>
        <p:nvSpPr>
          <p:cNvPr id="8" name="Rectangle 7"/>
          <p:cNvSpPr/>
          <p:nvPr/>
        </p:nvSpPr>
        <p:spPr>
          <a:xfrm>
            <a:off x="357158" y="4357694"/>
            <a:ext cx="790601" cy="369332"/>
          </a:xfrm>
          <a:prstGeom prst="rect">
            <a:avLst/>
          </a:prstGeom>
        </p:spPr>
        <p:txBody>
          <a:bodyPr wrap="none">
            <a:spAutoFit/>
          </a:bodyPr>
          <a:lstStyle/>
          <a:p>
            <a:r>
              <a:rPr lang="fr-FR" dirty="0" smtClean="0">
                <a:solidFill>
                  <a:schemeClr val="accent1"/>
                </a:solidFill>
              </a:rPr>
              <a:t>&lt;</a:t>
            </a:r>
            <a:r>
              <a:rPr lang="fr-FR" dirty="0" err="1" smtClean="0">
                <a:solidFill>
                  <a:schemeClr val="accent1"/>
                </a:solidFill>
              </a:rPr>
              <a:t>title</a:t>
            </a:r>
            <a:r>
              <a:rPr lang="fr-FR" dirty="0" smtClean="0">
                <a:solidFill>
                  <a:schemeClr val="accent1"/>
                </a:solidFill>
              </a:rPr>
              <a:t>&gt;</a:t>
            </a:r>
            <a:endParaRPr lang="fr-FR" dirty="0">
              <a:solidFill>
                <a:schemeClr val="accent1"/>
              </a:solidFill>
            </a:endParaRPr>
          </a:p>
        </p:txBody>
      </p:sp>
      <p:sp>
        <p:nvSpPr>
          <p:cNvPr id="9" name="Rectangle 8"/>
          <p:cNvSpPr/>
          <p:nvPr/>
        </p:nvSpPr>
        <p:spPr>
          <a:xfrm>
            <a:off x="285720" y="4724483"/>
            <a:ext cx="8572560" cy="2062103"/>
          </a:xfrm>
          <a:prstGeom prst="rect">
            <a:avLst/>
          </a:prstGeom>
        </p:spPr>
        <p:txBody>
          <a:bodyPr wrap="square">
            <a:spAutoFit/>
          </a:bodyPr>
          <a:lstStyle/>
          <a:p>
            <a:r>
              <a:rPr lang="fr-FR" sz="1600" dirty="0" smtClean="0"/>
              <a:t>C'est le titre de votre page, probablement l'élément le plus important ! Toute page doit avoir un titre qui décrit ce qu'elle contient.</a:t>
            </a:r>
          </a:p>
          <a:p>
            <a:r>
              <a:rPr lang="fr-FR" sz="1600" dirty="0" smtClean="0"/>
              <a:t>Il est conseillé de garder le titre assez court (moins de 100 caractères en général).</a:t>
            </a:r>
          </a:p>
          <a:p>
            <a:r>
              <a:rPr lang="fr-FR" sz="1600" dirty="0" smtClean="0"/>
              <a:t>Le titre ne s'affiche pas dans votre page mais en haut de celle-ci (souvent dans l'onglet du navigateur). </a:t>
            </a:r>
          </a:p>
          <a:p>
            <a:endParaRPr lang="fr-FR" sz="1600" dirty="0" smtClean="0"/>
          </a:p>
          <a:p>
            <a:r>
              <a:rPr lang="fr-FR" sz="1600" dirty="0" smtClean="0"/>
              <a:t>Il faut savoir que le titre apparaît aussi dans les résultats de recherche, comme sur Google. Il faut donc savoir bien choisir son titre pour s’assurer un bon référencement sur les moteurs de recherches.</a:t>
            </a:r>
            <a:endParaRPr lang="fr-FR" sz="16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2844" y="142852"/>
            <a:ext cx="1906227" cy="369332"/>
          </a:xfrm>
          <a:prstGeom prst="rect">
            <a:avLst/>
          </a:prstGeom>
        </p:spPr>
        <p:txBody>
          <a:bodyPr wrap="none">
            <a:spAutoFit/>
          </a:bodyPr>
          <a:lstStyle/>
          <a:p>
            <a:r>
              <a:rPr lang="fr-FR" b="1" u="sng" dirty="0" smtClean="0"/>
              <a:t>Les commentaires</a:t>
            </a:r>
            <a:endParaRPr lang="fr-FR" b="1" u="sng" dirty="0"/>
          </a:p>
        </p:txBody>
      </p:sp>
      <p:sp>
        <p:nvSpPr>
          <p:cNvPr id="5" name="Rectangle 4"/>
          <p:cNvSpPr/>
          <p:nvPr/>
        </p:nvSpPr>
        <p:spPr>
          <a:xfrm>
            <a:off x="214282" y="1071546"/>
            <a:ext cx="8715436" cy="1077218"/>
          </a:xfrm>
          <a:prstGeom prst="rect">
            <a:avLst/>
          </a:prstGeom>
        </p:spPr>
        <p:txBody>
          <a:bodyPr wrap="square">
            <a:spAutoFit/>
          </a:bodyPr>
          <a:lstStyle/>
          <a:p>
            <a:r>
              <a:rPr lang="fr-FR" sz="1600" dirty="0" smtClean="0"/>
              <a:t>Un </a:t>
            </a:r>
            <a:r>
              <a:rPr lang="fr-FR" sz="1600" b="1" dirty="0" smtClean="0"/>
              <a:t>commentaire</a:t>
            </a:r>
            <a:r>
              <a:rPr lang="fr-FR" sz="1600" dirty="0" smtClean="0"/>
              <a:t> en HTML est un texte qui sert simplement de mémo. Il n'est pas affiché, il n'est pas lu par l'ordinateur, cela ne change rien à l'affichage de la page. </a:t>
            </a:r>
          </a:p>
          <a:p>
            <a:r>
              <a:rPr lang="fr-FR" sz="1600" dirty="0" smtClean="0"/>
              <a:t>Cela sert à vous et aux personnes qui liront le code source de votre page. Vous pouvez utiliser les commentaires pour laisser des indications sur le fonctionnement de votre page.</a:t>
            </a:r>
            <a:endParaRPr lang="fr-FR" sz="1600" dirty="0"/>
          </a:p>
        </p:txBody>
      </p:sp>
      <p:sp>
        <p:nvSpPr>
          <p:cNvPr id="6" name="Rectangle 5"/>
          <p:cNvSpPr/>
          <p:nvPr/>
        </p:nvSpPr>
        <p:spPr>
          <a:xfrm>
            <a:off x="214282" y="642918"/>
            <a:ext cx="3201902" cy="369332"/>
          </a:xfrm>
          <a:prstGeom prst="rect">
            <a:avLst/>
          </a:prstGeom>
        </p:spPr>
        <p:txBody>
          <a:bodyPr wrap="none">
            <a:spAutoFit/>
          </a:bodyPr>
          <a:lstStyle/>
          <a:p>
            <a:r>
              <a:rPr lang="fr-FR" dirty="0" smtClean="0">
                <a:solidFill>
                  <a:schemeClr val="accent1"/>
                </a:solidFill>
              </a:rPr>
              <a:t>&lt;!-- Ceci est un commentaire --&gt;</a:t>
            </a:r>
            <a:endParaRPr lang="fr-FR" dirty="0">
              <a:solidFill>
                <a:schemeClr val="accent1"/>
              </a:solidFill>
            </a:endParaRPr>
          </a:p>
        </p:txBody>
      </p:sp>
      <p:sp>
        <p:nvSpPr>
          <p:cNvPr id="7" name="Rectangle 6"/>
          <p:cNvSpPr/>
          <p:nvPr/>
        </p:nvSpPr>
        <p:spPr>
          <a:xfrm>
            <a:off x="285720" y="3382408"/>
            <a:ext cx="4572000" cy="3046988"/>
          </a:xfrm>
          <a:prstGeom prst="rect">
            <a:avLst/>
          </a:prstGeom>
        </p:spPr>
        <p:txBody>
          <a:bodyPr>
            <a:spAutoFit/>
          </a:bodyPr>
          <a:lstStyle/>
          <a:p>
            <a:r>
              <a:rPr lang="fr-FR" sz="1600" dirty="0" smtClean="0">
                <a:solidFill>
                  <a:schemeClr val="accent1"/>
                </a:solidFill>
              </a:rPr>
              <a:t>&lt;!DOCTYPE html&gt;</a:t>
            </a:r>
          </a:p>
          <a:p>
            <a:r>
              <a:rPr lang="fr-FR" sz="1600" dirty="0" smtClean="0">
                <a:solidFill>
                  <a:schemeClr val="accent1"/>
                </a:solidFill>
              </a:rPr>
              <a:t>&lt;html&gt;</a:t>
            </a:r>
          </a:p>
          <a:p>
            <a:r>
              <a:rPr lang="fr-FR" sz="1600" dirty="0" smtClean="0">
                <a:solidFill>
                  <a:schemeClr val="accent1"/>
                </a:solidFill>
              </a:rPr>
              <a:t>    &lt;</a:t>
            </a:r>
            <a:r>
              <a:rPr lang="fr-FR" sz="1600" dirty="0" err="1" smtClean="0">
                <a:solidFill>
                  <a:schemeClr val="accent1"/>
                </a:solidFill>
              </a:rPr>
              <a:t>head</a:t>
            </a:r>
            <a:r>
              <a:rPr lang="fr-FR" sz="1600" dirty="0" smtClean="0">
                <a:solidFill>
                  <a:schemeClr val="accent1"/>
                </a:solidFill>
              </a:rPr>
              <a:t>&gt;</a:t>
            </a:r>
          </a:p>
          <a:p>
            <a:r>
              <a:rPr lang="fr-FR" sz="1600" dirty="0" smtClean="0">
                <a:solidFill>
                  <a:schemeClr val="accent1"/>
                </a:solidFill>
              </a:rPr>
              <a:t>        &lt;!-- En-tête de la page --&gt;</a:t>
            </a:r>
          </a:p>
          <a:p>
            <a:r>
              <a:rPr lang="fr-FR" sz="1600" dirty="0" smtClean="0">
                <a:solidFill>
                  <a:schemeClr val="accent1"/>
                </a:solidFill>
              </a:rPr>
              <a:t>        &lt;</a:t>
            </a:r>
            <a:r>
              <a:rPr lang="fr-FR" sz="1600" dirty="0" err="1" smtClean="0">
                <a:solidFill>
                  <a:schemeClr val="accent1"/>
                </a:solidFill>
              </a:rPr>
              <a:t>meta</a:t>
            </a:r>
            <a:r>
              <a:rPr lang="fr-FR" sz="1600" dirty="0" smtClean="0">
                <a:solidFill>
                  <a:schemeClr val="accent1"/>
                </a:solidFill>
              </a:rPr>
              <a:t> </a:t>
            </a:r>
            <a:r>
              <a:rPr lang="fr-FR" sz="1600" dirty="0" err="1" smtClean="0">
                <a:solidFill>
                  <a:schemeClr val="accent1"/>
                </a:solidFill>
              </a:rPr>
              <a:t>charset</a:t>
            </a:r>
            <a:r>
              <a:rPr lang="fr-FR" sz="1600" dirty="0" smtClean="0">
                <a:solidFill>
                  <a:schemeClr val="accent1"/>
                </a:solidFill>
              </a:rPr>
              <a:t>="</a:t>
            </a:r>
            <a:r>
              <a:rPr lang="fr-FR" sz="1600" dirty="0" err="1" smtClean="0">
                <a:solidFill>
                  <a:schemeClr val="accent1"/>
                </a:solidFill>
              </a:rPr>
              <a:t>utf</a:t>
            </a:r>
            <a:r>
              <a:rPr lang="fr-FR" sz="1600" dirty="0" smtClean="0">
                <a:solidFill>
                  <a:schemeClr val="accent1"/>
                </a:solidFill>
              </a:rPr>
              <a:t>-8" /&gt;</a:t>
            </a:r>
          </a:p>
          <a:p>
            <a:r>
              <a:rPr lang="fr-FR" sz="1600" dirty="0" smtClean="0">
                <a:solidFill>
                  <a:schemeClr val="accent1"/>
                </a:solidFill>
              </a:rPr>
              <a:t>        &lt;</a:t>
            </a:r>
            <a:r>
              <a:rPr lang="fr-FR" sz="1600" dirty="0" err="1" smtClean="0">
                <a:solidFill>
                  <a:schemeClr val="accent1"/>
                </a:solidFill>
              </a:rPr>
              <a:t>title</a:t>
            </a:r>
            <a:r>
              <a:rPr lang="fr-FR" sz="1600" dirty="0" smtClean="0">
                <a:solidFill>
                  <a:schemeClr val="accent1"/>
                </a:solidFill>
              </a:rPr>
              <a:t>&gt;Titre&lt;/</a:t>
            </a:r>
            <a:r>
              <a:rPr lang="fr-FR" sz="1600" dirty="0" err="1" smtClean="0">
                <a:solidFill>
                  <a:schemeClr val="accent1"/>
                </a:solidFill>
              </a:rPr>
              <a:t>title</a:t>
            </a:r>
            <a:r>
              <a:rPr lang="fr-FR" sz="1600" dirty="0" smtClean="0">
                <a:solidFill>
                  <a:schemeClr val="accent1"/>
                </a:solidFill>
              </a:rPr>
              <a:t>&gt;</a:t>
            </a:r>
          </a:p>
          <a:p>
            <a:r>
              <a:rPr lang="fr-FR" sz="1600" dirty="0" smtClean="0">
                <a:solidFill>
                  <a:schemeClr val="accent1"/>
                </a:solidFill>
              </a:rPr>
              <a:t>    &lt;/</a:t>
            </a:r>
            <a:r>
              <a:rPr lang="fr-FR" sz="1600" dirty="0" err="1" smtClean="0">
                <a:solidFill>
                  <a:schemeClr val="accent1"/>
                </a:solidFill>
              </a:rPr>
              <a:t>head</a:t>
            </a:r>
            <a:r>
              <a:rPr lang="fr-FR" sz="1600" dirty="0" smtClean="0">
                <a:solidFill>
                  <a:schemeClr val="accent1"/>
                </a:solidFill>
              </a:rPr>
              <a:t>&gt;</a:t>
            </a:r>
          </a:p>
          <a:p>
            <a:endParaRPr lang="fr-FR" sz="1600" dirty="0" smtClean="0">
              <a:solidFill>
                <a:schemeClr val="accent1"/>
              </a:solidFill>
            </a:endParaRPr>
          </a:p>
          <a:p>
            <a:r>
              <a:rPr lang="fr-FR" sz="1600" dirty="0" smtClean="0">
                <a:solidFill>
                  <a:schemeClr val="accent1"/>
                </a:solidFill>
              </a:rPr>
              <a:t>    &lt;body&gt;</a:t>
            </a:r>
          </a:p>
          <a:p>
            <a:r>
              <a:rPr lang="fr-FR" sz="1600" dirty="0" smtClean="0">
                <a:solidFill>
                  <a:schemeClr val="accent1"/>
                </a:solidFill>
              </a:rPr>
              <a:t>        &lt;!-- Corps de la page --&gt;</a:t>
            </a:r>
          </a:p>
          <a:p>
            <a:r>
              <a:rPr lang="fr-FR" sz="1600" dirty="0" smtClean="0">
                <a:solidFill>
                  <a:schemeClr val="accent1"/>
                </a:solidFill>
              </a:rPr>
              <a:t>    &lt;/body&gt;</a:t>
            </a:r>
          </a:p>
          <a:p>
            <a:r>
              <a:rPr lang="fr-FR" sz="1600" dirty="0" smtClean="0">
                <a:solidFill>
                  <a:schemeClr val="accent1"/>
                </a:solidFill>
              </a:rPr>
              <a:t>&lt;/html&gt;</a:t>
            </a:r>
            <a:endParaRPr lang="fr-FR" sz="1600" dirty="0">
              <a:solidFill>
                <a:schemeClr val="accent1"/>
              </a:solidFill>
            </a:endParaRPr>
          </a:p>
        </p:txBody>
      </p:sp>
      <p:sp>
        <p:nvSpPr>
          <p:cNvPr id="8" name="Rectangle 7"/>
          <p:cNvSpPr/>
          <p:nvPr/>
        </p:nvSpPr>
        <p:spPr>
          <a:xfrm>
            <a:off x="285720" y="2285992"/>
            <a:ext cx="8572560" cy="923330"/>
          </a:xfrm>
          <a:prstGeom prst="rect">
            <a:avLst/>
          </a:prstGeom>
        </p:spPr>
        <p:txBody>
          <a:bodyPr wrap="square">
            <a:spAutoFit/>
          </a:bodyPr>
          <a:lstStyle/>
          <a:p>
            <a:r>
              <a:rPr lang="fr-FR" dirty="0" smtClean="0"/>
              <a:t>Vous pouvez le mettre où vous voulez au sein de votre code source : il n'a aucun impact sur votre page, mais vous pouvez vous en servir pour vous aider à vous repérer dans votre code source (surtout s'il est long).</a:t>
            </a:r>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34386" y="559338"/>
            <a:ext cx="1723036" cy="369332"/>
          </a:xfrm>
          <a:prstGeom prst="rect">
            <a:avLst/>
          </a:prstGeom>
        </p:spPr>
        <p:txBody>
          <a:bodyPr wrap="none">
            <a:spAutoFit/>
          </a:bodyPr>
          <a:lstStyle/>
          <a:p>
            <a:r>
              <a:rPr lang="fr-FR" b="1" u="sng" dirty="0" smtClean="0"/>
              <a:t>Les paragraphes</a:t>
            </a:r>
            <a:endParaRPr lang="fr-FR" b="1" u="sng" dirty="0"/>
          </a:p>
        </p:txBody>
      </p:sp>
      <p:sp>
        <p:nvSpPr>
          <p:cNvPr id="6" name="Rectangle 5"/>
          <p:cNvSpPr/>
          <p:nvPr/>
        </p:nvSpPr>
        <p:spPr>
          <a:xfrm>
            <a:off x="357158" y="142852"/>
            <a:ext cx="2573397" cy="369332"/>
          </a:xfrm>
          <a:prstGeom prst="rect">
            <a:avLst/>
          </a:prstGeom>
        </p:spPr>
        <p:txBody>
          <a:bodyPr wrap="none">
            <a:spAutoFit/>
          </a:bodyPr>
          <a:lstStyle/>
          <a:p>
            <a:r>
              <a:rPr lang="fr-FR" b="1" dirty="0" smtClean="0"/>
              <a:t>b. </a:t>
            </a:r>
            <a:r>
              <a:rPr lang="fr-FR" b="1" u="sng" dirty="0" smtClean="0"/>
              <a:t>L’organisation du texte</a:t>
            </a:r>
            <a:endParaRPr lang="fr-FR" b="1" u="sng" dirty="0"/>
          </a:p>
        </p:txBody>
      </p:sp>
      <p:sp>
        <p:nvSpPr>
          <p:cNvPr id="7" name="Rectangle 6"/>
          <p:cNvSpPr/>
          <p:nvPr/>
        </p:nvSpPr>
        <p:spPr>
          <a:xfrm>
            <a:off x="500034" y="1018744"/>
            <a:ext cx="3878947" cy="338554"/>
          </a:xfrm>
          <a:prstGeom prst="rect">
            <a:avLst/>
          </a:prstGeom>
        </p:spPr>
        <p:txBody>
          <a:bodyPr wrap="none">
            <a:spAutoFit/>
          </a:bodyPr>
          <a:lstStyle/>
          <a:p>
            <a:r>
              <a:rPr lang="fr-FR" sz="1600" dirty="0" smtClean="0">
                <a:solidFill>
                  <a:schemeClr val="accent1"/>
                </a:solidFill>
              </a:rPr>
              <a:t>&lt;p&gt;Bonjour et bienvenue sur mon site !&lt;/p&gt;</a:t>
            </a:r>
            <a:endParaRPr lang="fr-FR" sz="1600" dirty="0">
              <a:solidFill>
                <a:schemeClr val="accent1"/>
              </a:solidFill>
            </a:endParaRPr>
          </a:p>
        </p:txBody>
      </p:sp>
      <p:sp>
        <p:nvSpPr>
          <p:cNvPr id="21505" name="Rectangle 1"/>
          <p:cNvSpPr>
            <a:spLocks noChangeArrowheads="1"/>
          </p:cNvSpPr>
          <p:nvPr/>
        </p:nvSpPr>
        <p:spPr bwMode="auto">
          <a:xfrm>
            <a:off x="500034" y="1344027"/>
            <a:ext cx="8072494" cy="58477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1600" b="0" i="0" u="none" strike="noStrike" cap="none" normalizeH="0" baseline="0" dirty="0" smtClean="0">
                <a:ln>
                  <a:noFill/>
                </a:ln>
                <a:solidFill>
                  <a:srgbClr val="000000"/>
                </a:solidFill>
                <a:effectLst/>
                <a:cs typeface="Courier New" pitchFamily="49" charset="0"/>
              </a:rPr>
              <a:t> &lt;p&gt;  </a:t>
            </a:r>
            <a:r>
              <a:rPr kumimoji="0" lang="fr-FR" sz="1600" b="0" i="0" u="none" strike="noStrike" cap="none" normalizeH="0" baseline="0" dirty="0" smtClean="0">
                <a:ln>
                  <a:noFill/>
                </a:ln>
                <a:solidFill>
                  <a:srgbClr val="000000"/>
                </a:solidFill>
                <a:effectLst/>
                <a:cs typeface="Arial" pitchFamily="34" charset="0"/>
              </a:rPr>
              <a:t>signifie « Début du paragraphe » ;</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lang="fr-FR" sz="1600" dirty="0" smtClean="0">
                <a:solidFill>
                  <a:srgbClr val="000000"/>
                </a:solidFill>
                <a:cs typeface="Courier New" pitchFamily="49" charset="0"/>
              </a:rPr>
              <a:t> </a:t>
            </a:r>
            <a:r>
              <a:rPr kumimoji="0" lang="fr-FR" sz="1600" b="0" i="0" u="none" strike="noStrike" cap="none" normalizeH="0" baseline="0" dirty="0" smtClean="0">
                <a:ln>
                  <a:noFill/>
                </a:ln>
                <a:solidFill>
                  <a:srgbClr val="000000"/>
                </a:solidFill>
                <a:effectLst/>
                <a:cs typeface="Courier New" pitchFamily="49" charset="0"/>
              </a:rPr>
              <a:t>&lt;/p&gt;</a:t>
            </a:r>
            <a:r>
              <a:rPr kumimoji="0" lang="fr-FR" sz="1600" b="0" i="0" u="none" strike="noStrike" cap="none" normalizeH="0" baseline="0" dirty="0" smtClean="0">
                <a:ln>
                  <a:noFill/>
                </a:ln>
                <a:solidFill>
                  <a:srgbClr val="000000"/>
                </a:solidFill>
                <a:effectLst/>
                <a:cs typeface="Arial" pitchFamily="34" charset="0"/>
              </a:rPr>
              <a:t>signifie « Fin du paragraphe ».</a:t>
            </a:r>
          </a:p>
        </p:txBody>
      </p:sp>
      <p:sp>
        <p:nvSpPr>
          <p:cNvPr id="9" name="Rectangle 8"/>
          <p:cNvSpPr/>
          <p:nvPr/>
        </p:nvSpPr>
        <p:spPr>
          <a:xfrm>
            <a:off x="714348" y="2000240"/>
            <a:ext cx="1415772" cy="369332"/>
          </a:xfrm>
          <a:prstGeom prst="rect">
            <a:avLst/>
          </a:prstGeom>
        </p:spPr>
        <p:txBody>
          <a:bodyPr wrap="none">
            <a:spAutoFit/>
          </a:bodyPr>
          <a:lstStyle/>
          <a:p>
            <a:r>
              <a:rPr lang="fr-FR" b="1" u="sng" dirty="0" smtClean="0"/>
              <a:t>Saut de ligne</a:t>
            </a:r>
            <a:endParaRPr lang="fr-FR" b="1" u="sng" dirty="0"/>
          </a:p>
        </p:txBody>
      </p:sp>
      <p:sp>
        <p:nvSpPr>
          <p:cNvPr id="21506" name="Rectangle 2"/>
          <p:cNvSpPr>
            <a:spLocks noChangeArrowheads="1"/>
          </p:cNvSpPr>
          <p:nvPr/>
        </p:nvSpPr>
        <p:spPr bwMode="auto">
          <a:xfrm>
            <a:off x="285720" y="2357430"/>
            <a:ext cx="8501122" cy="58477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balise permettant « d’aller à la ligne » est</a:t>
            </a:r>
            <a:r>
              <a:rPr kumimoji="0" lang="fr-FR" sz="1600" b="0" i="0" u="none" strike="noStrike" cap="none" normalizeH="0" dirty="0" smtClean="0">
                <a:ln>
                  <a:noFill/>
                </a:ln>
                <a:solidFill>
                  <a:schemeClr val="tx1"/>
                </a:solidFill>
                <a:effectLst/>
                <a:cs typeface="Arial" pitchFamily="34" charset="0"/>
              </a:rPr>
              <a:t> </a:t>
            </a:r>
            <a:r>
              <a:rPr kumimoji="0" lang="fr-FR" sz="1600" b="0" i="0" u="none" strike="noStrike" cap="none" normalizeH="0" baseline="0" dirty="0" smtClean="0">
                <a:ln>
                  <a:noFill/>
                </a:ln>
                <a:solidFill>
                  <a:schemeClr val="tx1"/>
                </a:solidFill>
                <a:effectLst/>
                <a:cs typeface="Arial" pitchFamily="34" charset="0"/>
              </a:rPr>
              <a:t>une balise </a:t>
            </a:r>
            <a:r>
              <a:rPr kumimoji="0" lang="fr-FR" sz="1600" b="1" i="0" u="none" strike="noStrike" cap="none" normalizeH="0" baseline="0" dirty="0" smtClean="0">
                <a:ln>
                  <a:noFill/>
                </a:ln>
                <a:solidFill>
                  <a:schemeClr val="tx1"/>
                </a:solidFill>
                <a:effectLst/>
                <a:cs typeface="Arial" pitchFamily="34" charset="0"/>
              </a:rPr>
              <a:t>orpheline</a:t>
            </a:r>
            <a:r>
              <a:rPr kumimoji="0" lang="fr-FR" sz="1600" b="0" i="0" u="none" strike="noStrike" cap="none" normalizeH="0" baseline="0" dirty="0" smtClean="0">
                <a:ln>
                  <a:noFill/>
                </a:ln>
                <a:solidFill>
                  <a:schemeClr val="tx1"/>
                </a:solidFill>
                <a:effectLst/>
                <a:cs typeface="Arial" pitchFamily="34" charset="0"/>
              </a:rPr>
              <a:t> qui sert juste à indiquer qu'on doit aller à la ligne :</a:t>
            </a:r>
            <a:r>
              <a:rPr kumimoji="0" lang="fr-FR" sz="1600" b="1" i="0" u="none" strike="noStrike" cap="none" normalizeH="0" baseline="0" dirty="0" smtClean="0">
                <a:ln>
                  <a:noFill/>
                </a:ln>
                <a:solidFill>
                  <a:schemeClr val="accent1"/>
                </a:solidFill>
                <a:effectLst/>
                <a:cs typeface="Courier New" pitchFamily="49" charset="0"/>
              </a:rPr>
              <a:t>&lt;</a:t>
            </a:r>
            <a:r>
              <a:rPr kumimoji="0" lang="fr-FR" sz="1600" b="1" i="0" u="none" strike="noStrike" cap="none" normalizeH="0" baseline="0" dirty="0" err="1" smtClean="0">
                <a:ln>
                  <a:noFill/>
                </a:ln>
                <a:solidFill>
                  <a:schemeClr val="accent1"/>
                </a:solidFill>
                <a:effectLst/>
                <a:cs typeface="Courier New" pitchFamily="49" charset="0"/>
              </a:rPr>
              <a:t>br</a:t>
            </a:r>
            <a:r>
              <a:rPr kumimoji="0" lang="fr-FR" sz="1600" b="1" i="0" u="none" strike="noStrike" cap="none" normalizeH="0" baseline="0" dirty="0" smtClean="0">
                <a:ln>
                  <a:noFill/>
                </a:ln>
                <a:solidFill>
                  <a:schemeClr val="accent1"/>
                </a:solidFill>
                <a:effectLst/>
                <a:cs typeface="Courier New" pitchFamily="49" charset="0"/>
              </a:rPr>
              <a:t> /&gt;</a:t>
            </a:r>
            <a:r>
              <a:rPr kumimoji="0" lang="fr-FR" sz="1600" b="1" i="0" u="none" strike="noStrike" cap="none" normalizeH="0" baseline="0" dirty="0" smtClean="0">
                <a:ln>
                  <a:noFill/>
                </a:ln>
                <a:solidFill>
                  <a:schemeClr val="accent1"/>
                </a:solidFill>
                <a:effectLst/>
                <a:cs typeface="Arial" pitchFamily="34" charset="0"/>
              </a:rPr>
              <a:t>. </a:t>
            </a:r>
            <a:r>
              <a:rPr kumimoji="0" lang="fr-FR" sz="1600" b="0" i="0" u="none" strike="noStrike" cap="none" normalizeH="0" baseline="0" dirty="0" smtClean="0">
                <a:ln>
                  <a:noFill/>
                </a:ln>
                <a:solidFill>
                  <a:schemeClr val="tx1"/>
                </a:solidFill>
                <a:effectLst/>
                <a:cs typeface="Arial" pitchFamily="34" charset="0"/>
              </a:rPr>
              <a:t>Vous devez obligatoirement la mettre </a:t>
            </a:r>
            <a:r>
              <a:rPr kumimoji="0" lang="fr-FR" sz="1600" b="1" u="none" strike="noStrike" cap="none" normalizeH="0" baseline="0" dirty="0" smtClean="0">
                <a:ln>
                  <a:noFill/>
                </a:ln>
                <a:solidFill>
                  <a:schemeClr val="tx1"/>
                </a:solidFill>
                <a:effectLst/>
                <a:cs typeface="Arial" pitchFamily="34" charset="0"/>
              </a:rPr>
              <a:t>à l'intérieur d'un paragraphe</a:t>
            </a:r>
            <a:r>
              <a:rPr kumimoji="0" lang="fr-FR" sz="1600" b="0" i="0" u="none" strike="noStrike" cap="none" normalizeH="0" baseline="0" dirty="0" smtClean="0">
                <a:ln>
                  <a:noFill/>
                </a:ln>
                <a:solidFill>
                  <a:schemeClr val="tx1"/>
                </a:solidFill>
                <a:effectLst/>
                <a:cs typeface="Arial" pitchFamily="34" charset="0"/>
              </a:rPr>
              <a:t>. </a:t>
            </a:r>
          </a:p>
        </p:txBody>
      </p:sp>
      <p:sp>
        <p:nvSpPr>
          <p:cNvPr id="11" name="Rectangle 10"/>
          <p:cNvSpPr/>
          <p:nvPr/>
        </p:nvSpPr>
        <p:spPr>
          <a:xfrm>
            <a:off x="214282" y="3000372"/>
            <a:ext cx="8429684" cy="1754326"/>
          </a:xfrm>
          <a:prstGeom prst="rect">
            <a:avLst/>
          </a:prstGeom>
        </p:spPr>
        <p:txBody>
          <a:bodyPr wrap="square">
            <a:spAutoFit/>
          </a:bodyPr>
          <a:lstStyle/>
          <a:p>
            <a:r>
              <a:rPr lang="fr-FR" dirty="0" smtClean="0">
                <a:solidFill>
                  <a:schemeClr val="accent1"/>
                </a:solidFill>
              </a:rPr>
              <a:t> &lt;body&gt;</a:t>
            </a:r>
          </a:p>
          <a:p>
            <a:r>
              <a:rPr lang="fr-FR" dirty="0" smtClean="0">
                <a:solidFill>
                  <a:schemeClr val="accent1"/>
                </a:solidFill>
              </a:rPr>
              <a:t>        &lt;p&gt;</a:t>
            </a:r>
          </a:p>
          <a:p>
            <a:r>
              <a:rPr lang="fr-FR" dirty="0" smtClean="0">
                <a:solidFill>
                  <a:schemeClr val="accent1"/>
                </a:solidFill>
              </a:rPr>
              <a:t>	Bonjour et bienvenue sur mon site !&lt;</a:t>
            </a:r>
            <a:r>
              <a:rPr lang="fr-FR" dirty="0" err="1" smtClean="0">
                <a:solidFill>
                  <a:schemeClr val="accent1"/>
                </a:solidFill>
              </a:rPr>
              <a:t>br</a:t>
            </a:r>
            <a:r>
              <a:rPr lang="fr-FR" dirty="0" smtClean="0">
                <a:solidFill>
                  <a:schemeClr val="accent1"/>
                </a:solidFill>
              </a:rPr>
              <a:t> /&gt;</a:t>
            </a:r>
          </a:p>
          <a:p>
            <a:r>
              <a:rPr lang="fr-FR" dirty="0" smtClean="0">
                <a:solidFill>
                  <a:schemeClr val="accent1"/>
                </a:solidFill>
              </a:rPr>
              <a:t>        	Ceci est mon premier test, j'apprends petit à petit à créer une page web.</a:t>
            </a:r>
          </a:p>
          <a:p>
            <a:r>
              <a:rPr lang="fr-FR" dirty="0" smtClean="0">
                <a:solidFill>
                  <a:schemeClr val="accent1"/>
                </a:solidFill>
              </a:rPr>
              <a:t>       &lt;/p&gt;</a:t>
            </a:r>
          </a:p>
          <a:p>
            <a:r>
              <a:rPr lang="fr-FR" dirty="0" smtClean="0">
                <a:solidFill>
                  <a:schemeClr val="accent1"/>
                </a:solidFill>
              </a:rPr>
              <a:t>&lt;/body&gt;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773" y="214290"/>
            <a:ext cx="1044517" cy="369332"/>
          </a:xfrm>
          <a:prstGeom prst="rect">
            <a:avLst/>
          </a:prstGeom>
        </p:spPr>
        <p:txBody>
          <a:bodyPr wrap="none">
            <a:spAutoFit/>
          </a:bodyPr>
          <a:lstStyle/>
          <a:p>
            <a:r>
              <a:rPr lang="fr-FR" b="1" u="sng" dirty="0" smtClean="0"/>
              <a:t>Les titres</a:t>
            </a:r>
            <a:endParaRPr lang="fr-FR" b="1" u="sng" dirty="0"/>
          </a:p>
        </p:txBody>
      </p:sp>
      <p:sp>
        <p:nvSpPr>
          <p:cNvPr id="23553" name="Rectangle 1"/>
          <p:cNvSpPr>
            <a:spLocks noChangeArrowheads="1"/>
          </p:cNvSpPr>
          <p:nvPr/>
        </p:nvSpPr>
        <p:spPr bwMode="auto">
          <a:xfrm>
            <a:off x="357190" y="714356"/>
            <a:ext cx="8501090" cy="3293209"/>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Lorsque le contenu de votre page va s'étoffer avec de nombreux paragraphes, il va devenir difficile pour vos visiteurs de se repérer. C'est là que les titres deviennent utiles.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En HTML, on peut utiliser six niveaux de titres différents. Ces niveaux montrent le degré</a:t>
            </a:r>
            <a:r>
              <a:rPr kumimoji="0" lang="fr-FR" sz="1600" b="0" i="0" u="none" strike="noStrike" cap="none" normalizeH="0" dirty="0" smtClean="0">
                <a:ln>
                  <a:noFill/>
                </a:ln>
                <a:solidFill>
                  <a:schemeClr val="tx1"/>
                </a:solidFill>
                <a:effectLst/>
                <a:cs typeface="Arial" pitchFamily="34" charset="0"/>
              </a:rPr>
              <a:t> d’important entre chaque titre de la page. </a:t>
            </a:r>
            <a:r>
              <a:rPr kumimoji="0" lang="fr-FR" sz="1600" b="0" i="0" u="none" strike="noStrike" cap="none" normalizeH="0" baseline="0" dirty="0" smtClean="0">
                <a:ln>
                  <a:noFill/>
                </a:ln>
                <a:solidFill>
                  <a:schemeClr val="tx1"/>
                </a:solidFill>
                <a:effectLst/>
                <a:cs typeface="Arial" pitchFamily="34" charset="0"/>
              </a:rPr>
              <a:t>On a donc six balises de titres différentes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accent1"/>
                </a:solidFill>
                <a:effectLst/>
                <a:cs typeface="Courier New" pitchFamily="49" charset="0"/>
              </a:rPr>
              <a:t>&lt;h1&gt; &lt;/h1&gt;</a:t>
            </a:r>
            <a:r>
              <a:rPr kumimoji="0" lang="fr-FR" sz="1600" i="0" u="none" strike="noStrike" cap="none" normalizeH="0" baseline="0" dirty="0" smtClean="0">
                <a:ln>
                  <a:noFill/>
                </a:ln>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signifie « titre très important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accent1"/>
                </a:solidFill>
                <a:effectLst/>
                <a:cs typeface="Courier New" pitchFamily="49" charset="0"/>
              </a:rPr>
              <a:t>&lt;h2&gt; &lt;/h2&gt;</a:t>
            </a:r>
            <a:r>
              <a:rPr kumimoji="0" lang="fr-FR" sz="1600" b="0" i="0" u="none" strike="noStrike" cap="none" normalizeH="0" baseline="0" dirty="0" smtClean="0">
                <a:ln>
                  <a:noFill/>
                </a:ln>
                <a:solidFill>
                  <a:srgbClr val="000000"/>
                </a:solidFill>
                <a:effectLst/>
                <a:cs typeface="Arial" pitchFamily="34" charset="0"/>
              </a:rPr>
              <a:t>: signifie « titre important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accent1"/>
                </a:solidFill>
                <a:effectLst/>
                <a:cs typeface="Courier New" pitchFamily="49" charset="0"/>
              </a:rPr>
              <a:t>&lt;h3&gt; &lt;/h3&gt;</a:t>
            </a:r>
            <a:r>
              <a:rPr kumimoji="0" lang="fr-FR" sz="1600" b="0" i="0" u="none" strike="noStrike" cap="none" normalizeH="0" baseline="0" dirty="0" smtClean="0">
                <a:ln>
                  <a:noFill/>
                </a:ln>
                <a:solidFill>
                  <a:srgbClr val="000000"/>
                </a:solidFill>
                <a:effectLst/>
                <a:cs typeface="Arial" pitchFamily="34" charset="0"/>
              </a:rPr>
              <a:t>: pareil, c'est un titre un peu moins important (on peut dire un « sous-titre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accent1"/>
                </a:solidFill>
                <a:effectLst/>
                <a:cs typeface="Courier New" pitchFamily="49" charset="0"/>
              </a:rPr>
              <a:t>&lt;h4&gt; &lt;/h4&gt;</a:t>
            </a:r>
            <a:r>
              <a:rPr kumimoji="0" lang="fr-FR" sz="1600" b="0" i="0" u="none" strike="noStrike" cap="none" normalizeH="0" baseline="0" dirty="0" smtClean="0">
                <a:ln>
                  <a:noFill/>
                </a:ln>
                <a:solidFill>
                  <a:srgbClr val="000000"/>
                </a:solidFill>
                <a:effectLst/>
                <a:cs typeface="Arial" pitchFamily="34" charset="0"/>
              </a:rPr>
              <a:t>: titre encore moins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accent1"/>
                </a:solidFill>
                <a:effectLst/>
                <a:cs typeface="Courier New" pitchFamily="49" charset="0"/>
              </a:rPr>
              <a:t>&lt;h5&gt; &lt;/h5&gt;</a:t>
            </a:r>
            <a:r>
              <a:rPr kumimoji="0" lang="fr-FR" sz="1600" b="0" i="0" u="none" strike="noStrike" cap="none" normalizeH="0" baseline="0" dirty="0" smtClean="0">
                <a:ln>
                  <a:noFill/>
                </a:ln>
                <a:solidFill>
                  <a:srgbClr val="000000"/>
                </a:solidFill>
                <a:effectLst/>
                <a:cs typeface="Arial" pitchFamily="34" charset="0"/>
              </a:rPr>
              <a:t>: titre pas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accent1"/>
                </a:solidFill>
                <a:effectLst/>
                <a:cs typeface="Courier New" pitchFamily="49" charset="0"/>
              </a:rPr>
              <a:t>&lt;h6&gt; &lt;/h6&gt;</a:t>
            </a:r>
            <a:r>
              <a:rPr kumimoji="0" lang="fr-FR" sz="1600" b="0" i="0" u="none" strike="noStrike" cap="none" normalizeH="0" baseline="0" dirty="0" smtClean="0">
                <a:ln>
                  <a:noFill/>
                </a:ln>
                <a:solidFill>
                  <a:srgbClr val="000000"/>
                </a:solidFill>
                <a:effectLst/>
                <a:cs typeface="Arial" pitchFamily="34" charset="0"/>
              </a:rPr>
              <a:t>: titre pas important du tout.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p:txBody>
      </p:sp>
      <p:sp>
        <p:nvSpPr>
          <p:cNvPr id="23554" name="Rectangle 2"/>
          <p:cNvSpPr>
            <a:spLocks noChangeArrowheads="1"/>
          </p:cNvSpPr>
          <p:nvPr/>
        </p:nvSpPr>
        <p:spPr bwMode="auto">
          <a:xfrm>
            <a:off x="357158" y="3929066"/>
            <a:ext cx="8072494" cy="830997"/>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sng" strike="noStrike" cap="none" normalizeH="0" baseline="0" dirty="0" smtClean="0">
                <a:ln>
                  <a:noFill/>
                </a:ln>
                <a:solidFill>
                  <a:srgbClr val="FF0000"/>
                </a:solidFill>
                <a:effectLst/>
                <a:cs typeface="Arial" pitchFamily="34" charset="0"/>
              </a:rPr>
              <a:t>Attention</a:t>
            </a:r>
            <a:r>
              <a:rPr kumimoji="0" lang="fr-FR" sz="1600" b="0" i="0" u="none" strike="noStrike" cap="none" normalizeH="0" baseline="0" dirty="0" smtClean="0">
                <a:ln>
                  <a:noFill/>
                </a:ln>
                <a:solidFill>
                  <a:srgbClr val="FF0000"/>
                </a:solidFill>
                <a:effectLst/>
                <a:cs typeface="Arial" pitchFamily="34" charset="0"/>
              </a:rPr>
              <a:t> : ne confondez pas avec la balise </a:t>
            </a:r>
            <a:r>
              <a:rPr kumimoji="0" lang="fr-FR" sz="1600" b="0" i="0" u="none" strike="noStrike" cap="none" normalizeH="0" baseline="0" dirty="0" smtClean="0">
                <a:ln>
                  <a:noFill/>
                </a:ln>
                <a:solidFill>
                  <a:srgbClr val="FF0000"/>
                </a:solidFill>
                <a:effectLst/>
                <a:cs typeface="Courier New" pitchFamily="49" charset="0"/>
              </a:rPr>
              <a:t>&lt;</a:t>
            </a:r>
            <a:r>
              <a:rPr kumimoji="0" lang="fr-FR" sz="1600" b="0" i="0" u="none" strike="noStrike" cap="none" normalizeH="0" baseline="0" dirty="0" err="1" smtClean="0">
                <a:ln>
                  <a:noFill/>
                </a:ln>
                <a:solidFill>
                  <a:srgbClr val="FF0000"/>
                </a:solidFill>
                <a:effectLst/>
                <a:cs typeface="Courier New" pitchFamily="49" charset="0"/>
              </a:rPr>
              <a:t>title</a:t>
            </a:r>
            <a:r>
              <a:rPr kumimoji="0" lang="fr-FR" sz="1600" b="0" i="0" u="none" strike="noStrike" cap="none" normalizeH="0" baseline="0" dirty="0" smtClean="0">
                <a:ln>
                  <a:noFill/>
                </a:ln>
                <a:solidFill>
                  <a:srgbClr val="FF0000"/>
                </a:solidFill>
                <a:effectLst/>
                <a:cs typeface="Courier New" pitchFamily="49" charset="0"/>
              </a:rPr>
              <a:t>&gt;</a:t>
            </a:r>
            <a:r>
              <a:rPr kumimoji="0" lang="fr-FR" sz="1600" b="0" i="0" u="none" strike="noStrike" cap="none" normalizeH="0" baseline="0" dirty="0" smtClean="0">
                <a:ln>
                  <a:noFill/>
                </a:ln>
                <a:solidFill>
                  <a:srgbClr val="FF0000"/>
                </a:solidFill>
                <a:effectLst/>
                <a:cs typeface="Arial" pitchFamily="34" charset="0"/>
              </a:rPr>
              <a:t>! La balise </a:t>
            </a:r>
            <a:r>
              <a:rPr kumimoji="0" lang="fr-FR" sz="1600" b="0" i="0" u="none" strike="noStrike" cap="none" normalizeH="0" baseline="0" dirty="0" smtClean="0">
                <a:ln>
                  <a:noFill/>
                </a:ln>
                <a:solidFill>
                  <a:srgbClr val="FF0000"/>
                </a:solidFill>
                <a:effectLst/>
                <a:cs typeface="Courier New" pitchFamily="49" charset="0"/>
              </a:rPr>
              <a:t>&lt;</a:t>
            </a:r>
            <a:r>
              <a:rPr kumimoji="0" lang="fr-FR" sz="1600" b="0" i="0" u="none" strike="noStrike" cap="none" normalizeH="0" baseline="0" dirty="0" err="1" smtClean="0">
                <a:ln>
                  <a:noFill/>
                </a:ln>
                <a:solidFill>
                  <a:srgbClr val="FF0000"/>
                </a:solidFill>
                <a:effectLst/>
                <a:cs typeface="Courier New" pitchFamily="49" charset="0"/>
              </a:rPr>
              <a:t>title</a:t>
            </a:r>
            <a:r>
              <a:rPr kumimoji="0" lang="fr-FR" sz="1600" b="0" i="0" u="none" strike="noStrike" cap="none" normalizeH="0" baseline="0" dirty="0" smtClean="0">
                <a:ln>
                  <a:noFill/>
                </a:ln>
                <a:solidFill>
                  <a:srgbClr val="FF0000"/>
                </a:solidFill>
                <a:effectLst/>
                <a:cs typeface="Courier New" pitchFamily="49" charset="0"/>
              </a:rPr>
              <a:t>&gt; </a:t>
            </a:r>
            <a:r>
              <a:rPr kumimoji="0" lang="fr-FR" sz="1600" b="0" i="0" u="none" strike="noStrike" cap="none" normalizeH="0" baseline="0" dirty="0" smtClean="0">
                <a:ln>
                  <a:noFill/>
                </a:ln>
                <a:solidFill>
                  <a:srgbClr val="FF0000"/>
                </a:solidFill>
                <a:effectLst/>
                <a:cs typeface="Arial" pitchFamily="34" charset="0"/>
              </a:rPr>
              <a:t>affiche le titre de la page dans la barre de titre du navigateur comme nous l'avons vu. Les titres </a:t>
            </a:r>
            <a:r>
              <a:rPr kumimoji="0" lang="fr-FR" sz="1600" b="0" i="0" u="none" strike="noStrike" cap="none" normalizeH="0" baseline="0" dirty="0" smtClean="0">
                <a:ln>
                  <a:noFill/>
                </a:ln>
                <a:solidFill>
                  <a:srgbClr val="FF0000"/>
                </a:solidFill>
                <a:effectLst/>
                <a:cs typeface="Courier New" pitchFamily="49" charset="0"/>
              </a:rPr>
              <a:t>&lt;h1&gt; </a:t>
            </a:r>
            <a:r>
              <a:rPr kumimoji="0" lang="fr-FR" sz="1600" b="0" i="0" u="none" strike="noStrike" cap="none" normalizeH="0" baseline="0" dirty="0" err="1" smtClean="0">
                <a:ln>
                  <a:noFill/>
                </a:ln>
                <a:solidFill>
                  <a:srgbClr val="FF0000"/>
                </a:solidFill>
                <a:effectLst/>
                <a:cs typeface="Courier New" pitchFamily="49" charset="0"/>
              </a:rPr>
              <a:t>etc</a:t>
            </a:r>
            <a:r>
              <a:rPr lang="fr-FR" sz="1600" dirty="0" smtClean="0">
                <a:solidFill>
                  <a:srgbClr val="FF0000"/>
                </a:solidFill>
                <a:cs typeface="Arial" pitchFamily="34" charset="0"/>
              </a:rPr>
              <a:t>…</a:t>
            </a:r>
            <a:r>
              <a:rPr kumimoji="0" lang="fr-FR" sz="1600" b="0" i="0" u="none" strike="noStrike" cap="none" normalizeH="0" baseline="0" dirty="0" smtClean="0">
                <a:ln>
                  <a:noFill/>
                </a:ln>
                <a:solidFill>
                  <a:srgbClr val="FF0000"/>
                </a:solidFill>
                <a:effectLst/>
                <a:cs typeface="Arial" pitchFamily="34" charset="0"/>
              </a:rPr>
              <a:t>, servent à créer des titres qui seront affichés </a:t>
            </a:r>
            <a:r>
              <a:rPr kumimoji="0" lang="fr-FR" sz="1600" b="0" i="1" u="none" strike="noStrike" cap="none" normalizeH="0" baseline="0" dirty="0" smtClean="0">
                <a:ln>
                  <a:noFill/>
                </a:ln>
                <a:solidFill>
                  <a:srgbClr val="FF0000"/>
                </a:solidFill>
                <a:effectLst/>
                <a:cs typeface="Arial" pitchFamily="34" charset="0"/>
              </a:rPr>
              <a:t>dans</a:t>
            </a:r>
            <a:r>
              <a:rPr kumimoji="0" lang="fr-FR" sz="1600" b="0" i="0" u="none" strike="noStrike" cap="none" normalizeH="0" baseline="0" dirty="0" smtClean="0">
                <a:ln>
                  <a:noFill/>
                </a:ln>
                <a:solidFill>
                  <a:srgbClr val="FF0000"/>
                </a:solidFill>
                <a:effectLst/>
                <a:cs typeface="Arial" pitchFamily="34" charset="0"/>
              </a:rPr>
              <a:t> la page web.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773" y="214290"/>
            <a:ext cx="1840376" cy="369332"/>
          </a:xfrm>
          <a:prstGeom prst="rect">
            <a:avLst/>
          </a:prstGeom>
        </p:spPr>
        <p:txBody>
          <a:bodyPr wrap="none">
            <a:spAutoFit/>
          </a:bodyPr>
          <a:lstStyle/>
          <a:p>
            <a:r>
              <a:rPr lang="fr-FR" b="1" u="sng" dirty="0" smtClean="0"/>
              <a:t>La mise en valeur</a:t>
            </a:r>
            <a:endParaRPr lang="fr-FR" b="1" u="sng" dirty="0"/>
          </a:p>
        </p:txBody>
      </p:sp>
      <p:sp>
        <p:nvSpPr>
          <p:cNvPr id="5" name="Rectangle 4"/>
          <p:cNvSpPr/>
          <p:nvPr/>
        </p:nvSpPr>
        <p:spPr>
          <a:xfrm>
            <a:off x="357158" y="571480"/>
            <a:ext cx="8501122" cy="2308324"/>
          </a:xfrm>
          <a:prstGeom prst="rect">
            <a:avLst/>
          </a:prstGeom>
        </p:spPr>
        <p:txBody>
          <a:bodyPr wrap="square">
            <a:spAutoFit/>
          </a:bodyPr>
          <a:lstStyle/>
          <a:p>
            <a:r>
              <a:rPr lang="fr-FR" sz="1600" dirty="0" smtClean="0"/>
              <a:t>Au sein de vos paragraphes, certains mots sont parfois plus importants que d'autres et vous aimeriez les faire ressortir. HTML vous propose différents moyens de mettre en valeur le texte de votre page.</a:t>
            </a:r>
          </a:p>
          <a:p>
            <a:r>
              <a:rPr lang="fr-FR" sz="1600" dirty="0" smtClean="0"/>
              <a:t>Pour le faire il suffit d’encadrer les mots à mettre en valeur avec les balises appropriées :</a:t>
            </a:r>
          </a:p>
          <a:p>
            <a:endParaRPr lang="fr-FR" sz="1600" dirty="0" smtClean="0"/>
          </a:p>
          <a:p>
            <a:pPr>
              <a:buFont typeface="Arial" pitchFamily="34" charset="0"/>
              <a:buChar char="•"/>
            </a:pPr>
            <a:r>
              <a:rPr lang="fr-FR" sz="1600" dirty="0" smtClean="0"/>
              <a:t> </a:t>
            </a:r>
            <a:r>
              <a:rPr lang="fr-FR" sz="1600" b="1" dirty="0" smtClean="0">
                <a:solidFill>
                  <a:schemeClr val="accent1"/>
                </a:solidFill>
              </a:rPr>
              <a:t>&lt;</a:t>
            </a:r>
            <a:r>
              <a:rPr lang="fr-FR" sz="1600" b="1" dirty="0" err="1" smtClean="0">
                <a:solidFill>
                  <a:schemeClr val="accent1"/>
                </a:solidFill>
              </a:rPr>
              <a:t>em</a:t>
            </a:r>
            <a:r>
              <a:rPr lang="fr-FR" sz="1600" b="1" dirty="0" smtClean="0">
                <a:solidFill>
                  <a:schemeClr val="accent1"/>
                </a:solidFill>
              </a:rPr>
              <a:t>&gt; &lt;/</a:t>
            </a:r>
            <a:r>
              <a:rPr lang="fr-FR" sz="1600" b="1" dirty="0" err="1" smtClean="0">
                <a:solidFill>
                  <a:schemeClr val="accent1"/>
                </a:solidFill>
              </a:rPr>
              <a:t>em</a:t>
            </a:r>
            <a:r>
              <a:rPr lang="fr-FR" sz="1600" b="1" dirty="0" smtClean="0">
                <a:solidFill>
                  <a:schemeClr val="accent1"/>
                </a:solidFill>
              </a:rPr>
              <a:t>&gt; </a:t>
            </a:r>
            <a:r>
              <a:rPr lang="fr-FR" sz="1600" dirty="0" smtClean="0"/>
              <a:t>: Mettre un peu en valeur. Le texte s’affichera en italique. </a:t>
            </a:r>
          </a:p>
          <a:p>
            <a:pPr>
              <a:buFont typeface="Arial" pitchFamily="34" charset="0"/>
              <a:buChar char="•"/>
            </a:pPr>
            <a:r>
              <a:rPr lang="fr-FR" sz="1600" dirty="0" smtClean="0"/>
              <a:t> </a:t>
            </a:r>
            <a:r>
              <a:rPr lang="fr-FR" sz="1600" b="1" dirty="0" smtClean="0">
                <a:solidFill>
                  <a:schemeClr val="accent1"/>
                </a:solidFill>
              </a:rPr>
              <a:t>&lt;</a:t>
            </a:r>
            <a:r>
              <a:rPr lang="fr-FR" sz="1600" b="1" dirty="0" err="1" smtClean="0">
                <a:solidFill>
                  <a:schemeClr val="accent1"/>
                </a:solidFill>
              </a:rPr>
              <a:t>strong</a:t>
            </a:r>
            <a:r>
              <a:rPr lang="fr-FR" sz="1600" b="1" dirty="0" smtClean="0">
                <a:solidFill>
                  <a:schemeClr val="accent1"/>
                </a:solidFill>
              </a:rPr>
              <a:t>&gt; &lt;/</a:t>
            </a:r>
            <a:r>
              <a:rPr lang="fr-FR" sz="1600" b="1" dirty="0" err="1" smtClean="0">
                <a:solidFill>
                  <a:schemeClr val="accent1"/>
                </a:solidFill>
              </a:rPr>
              <a:t>strong</a:t>
            </a:r>
            <a:r>
              <a:rPr lang="fr-FR" sz="1600" b="1" dirty="0" smtClean="0">
                <a:solidFill>
                  <a:schemeClr val="accent1"/>
                </a:solidFill>
              </a:rPr>
              <a:t>&gt; </a:t>
            </a:r>
            <a:r>
              <a:rPr lang="fr-FR" sz="1600" dirty="0" smtClean="0"/>
              <a:t>: Mettre bien en valeur. Le texte s’affichera en gras. </a:t>
            </a:r>
          </a:p>
          <a:p>
            <a:pPr>
              <a:buFont typeface="Arial" pitchFamily="34" charset="0"/>
              <a:buChar char="•"/>
            </a:pPr>
            <a:r>
              <a:rPr lang="fr-FR" sz="1600" dirty="0" smtClean="0"/>
              <a:t> </a:t>
            </a:r>
            <a:r>
              <a:rPr lang="fr-FR" sz="1600" b="1" dirty="0" smtClean="0">
                <a:solidFill>
                  <a:schemeClr val="accent1"/>
                </a:solidFill>
              </a:rPr>
              <a:t>&lt;mark&gt; &lt;/mark&gt; </a:t>
            </a:r>
            <a:r>
              <a:rPr lang="fr-FR" sz="1600" dirty="0" smtClean="0"/>
              <a:t>: Marquer le texte. Le texte sera surligné.</a:t>
            </a:r>
          </a:p>
          <a:p>
            <a:endParaRPr lang="fr-FR" sz="1600" b="1" dirty="0" smtClean="0"/>
          </a:p>
          <a:p>
            <a:r>
              <a:rPr lang="fr-FR" sz="1600" b="1" dirty="0" smtClean="0"/>
              <a:t>A l’aide du CSS, nous verrons comment changer l’apparence de ces différentes balises.</a:t>
            </a:r>
          </a:p>
        </p:txBody>
      </p:sp>
      <p:sp>
        <p:nvSpPr>
          <p:cNvPr id="6" name="Rectangle 5"/>
          <p:cNvSpPr/>
          <p:nvPr/>
        </p:nvSpPr>
        <p:spPr>
          <a:xfrm>
            <a:off x="357158" y="2928934"/>
            <a:ext cx="4204228" cy="369332"/>
          </a:xfrm>
          <a:prstGeom prst="rect">
            <a:avLst/>
          </a:prstGeom>
        </p:spPr>
        <p:txBody>
          <a:bodyPr wrap="none">
            <a:spAutoFit/>
          </a:bodyPr>
          <a:lstStyle/>
          <a:p>
            <a:r>
              <a:rPr lang="fr-FR" b="1" u="sng" dirty="0" smtClean="0"/>
              <a:t>Les listes non ordonnées ou listes à puces </a:t>
            </a:r>
            <a:endParaRPr lang="fr-FR" b="1" u="sng" dirty="0"/>
          </a:p>
        </p:txBody>
      </p:sp>
      <p:sp>
        <p:nvSpPr>
          <p:cNvPr id="24577" name="Rectangle 1"/>
          <p:cNvSpPr>
            <a:spLocks noChangeArrowheads="1"/>
          </p:cNvSpPr>
          <p:nvPr/>
        </p:nvSpPr>
        <p:spPr bwMode="auto">
          <a:xfrm>
            <a:off x="428596" y="3357562"/>
            <a:ext cx="8501122" cy="3293209"/>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Une liste non ordonnée ressemble à ceci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Fraises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Framboises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Cerises</a:t>
            </a:r>
          </a:p>
          <a:p>
            <a:pPr lvl="0" eaLnBrk="0" fontAlgn="base" hangingPunct="0">
              <a:spcBef>
                <a:spcPct val="0"/>
              </a:spcBef>
              <a:spcAft>
                <a:spcPct val="0"/>
              </a:spcAft>
            </a:pPr>
            <a:r>
              <a:rPr kumimoji="0" lang="fr-FR" sz="1600" b="0" i="0" u="none" strike="noStrike" cap="none" normalizeH="0" baseline="0" dirty="0" smtClean="0">
                <a:ln>
                  <a:noFill/>
                </a:ln>
                <a:solidFill>
                  <a:schemeClr val="tx1"/>
                </a:solidFill>
                <a:effectLst/>
                <a:cs typeface="Arial" pitchFamily="34" charset="0"/>
              </a:rPr>
              <a:t>C'est un système qui nous permet de créer une liste d'éléments sans notion d'ordre. Pour créer une liste non ordonnée Il suffit d'utiliser la balise </a:t>
            </a:r>
            <a:r>
              <a:rPr kumimoji="0" lang="fr-FR" sz="1600" b="1" i="0" u="none" strike="noStrike" cap="none" normalizeH="0" baseline="0" dirty="0" smtClean="0">
                <a:ln>
                  <a:noFill/>
                </a:ln>
                <a:solidFill>
                  <a:schemeClr val="accent1"/>
                </a:solidFill>
                <a:effectLst/>
                <a:cs typeface="Courier New" pitchFamily="49" charset="0"/>
              </a:rPr>
              <a:t>&lt;</a:t>
            </a:r>
            <a:r>
              <a:rPr kumimoji="0" lang="fr-FR" sz="1600" b="1" i="0" u="none" strike="noStrike" cap="none" normalizeH="0" baseline="0" dirty="0" err="1" smtClean="0">
                <a:ln>
                  <a:noFill/>
                </a:ln>
                <a:solidFill>
                  <a:schemeClr val="accent1"/>
                </a:solidFill>
                <a:effectLst/>
                <a:cs typeface="Courier New" pitchFamily="49" charset="0"/>
              </a:rPr>
              <a:t>ul</a:t>
            </a:r>
            <a:r>
              <a:rPr kumimoji="0" lang="fr-FR" sz="1600" b="1" i="0" u="none" strike="noStrike" cap="none" normalizeH="0" baseline="0" dirty="0" smtClean="0">
                <a:ln>
                  <a:noFill/>
                </a:ln>
                <a:solidFill>
                  <a:schemeClr val="accent1"/>
                </a:solidFill>
                <a:effectLst/>
                <a:cs typeface="Courier New" pitchFamily="49" charset="0"/>
              </a:rPr>
              <a:t>&gt; </a:t>
            </a:r>
            <a:r>
              <a:rPr kumimoji="0" lang="fr-FR" sz="1600" b="0" i="0" u="none" strike="noStrike" cap="none" normalizeH="0" baseline="0" dirty="0" smtClean="0">
                <a:ln>
                  <a:noFill/>
                </a:ln>
                <a:solidFill>
                  <a:schemeClr val="tx1"/>
                </a:solidFill>
                <a:effectLst/>
                <a:cs typeface="Arial" pitchFamily="34" charset="0"/>
              </a:rPr>
              <a:t>que l'on referme un peu plus loin avec </a:t>
            </a:r>
            <a:r>
              <a:rPr kumimoji="0" lang="fr-FR" sz="1600" b="1" i="0" u="none" strike="noStrike" cap="none" normalizeH="0" baseline="0" dirty="0" smtClean="0">
                <a:ln>
                  <a:noFill/>
                </a:ln>
                <a:solidFill>
                  <a:schemeClr val="accent1"/>
                </a:solidFill>
                <a:effectLst/>
                <a:cs typeface="Courier New" pitchFamily="49" charset="0"/>
              </a:rPr>
              <a:t>&lt;/</a:t>
            </a:r>
            <a:r>
              <a:rPr kumimoji="0" lang="fr-FR" sz="1600" b="1" i="0" u="none" strike="noStrike" cap="none" normalizeH="0" baseline="0" dirty="0" err="1" smtClean="0">
                <a:ln>
                  <a:noFill/>
                </a:ln>
                <a:solidFill>
                  <a:schemeClr val="accent1"/>
                </a:solidFill>
                <a:effectLst/>
                <a:cs typeface="Courier New" pitchFamily="49" charset="0"/>
              </a:rPr>
              <a:t>ul</a:t>
            </a:r>
            <a:r>
              <a:rPr kumimoji="0" lang="fr-FR" sz="1600" b="1" i="0" u="none" strike="noStrike" cap="none" normalizeH="0" baseline="0" dirty="0" smtClean="0">
                <a:ln>
                  <a:noFill/>
                </a:ln>
                <a:solidFill>
                  <a:schemeClr val="accent1"/>
                </a:solidFill>
                <a:effectLst/>
                <a:cs typeface="Courier New" pitchFamily="49" charset="0"/>
              </a:rPr>
              <a:t>&gt;</a:t>
            </a:r>
            <a:r>
              <a:rPr kumimoji="0" lang="fr-FR" sz="1600" b="1" i="0" u="none" strike="noStrike" cap="none" normalizeH="0" baseline="0" dirty="0" smtClean="0">
                <a:ln>
                  <a:noFill/>
                </a:ln>
                <a:solidFill>
                  <a:schemeClr val="accent1"/>
                </a:solidFill>
                <a:effectLst/>
                <a:cs typeface="Arial" pitchFamily="34" charset="0"/>
              </a:rPr>
              <a:t>. </a:t>
            </a:r>
            <a:r>
              <a:rPr kumimoji="0" lang="fr-FR" sz="1600" b="0" i="0" u="none" strike="noStrike" cap="none" normalizeH="0" baseline="0" dirty="0" smtClean="0">
                <a:ln>
                  <a:noFill/>
                </a:ln>
                <a:effectLst/>
                <a:cs typeface="Arial" pitchFamily="34" charset="0"/>
              </a:rPr>
              <a:t>A</a:t>
            </a:r>
            <a:r>
              <a:rPr kumimoji="0" lang="fr-FR" sz="1600" b="0" i="0" u="none" strike="noStrike" cap="none" normalizeH="0" dirty="0" smtClean="0">
                <a:ln>
                  <a:noFill/>
                </a:ln>
                <a:effectLst/>
                <a:cs typeface="Arial" pitchFamily="34" charset="0"/>
              </a:rPr>
              <a:t> l’intérieur de ces balise on ajoutera d’autres balises </a:t>
            </a:r>
            <a:r>
              <a:rPr lang="fr-FR" sz="1600" b="1" dirty="0" smtClean="0">
                <a:solidFill>
                  <a:schemeClr val="accent1"/>
                </a:solidFill>
                <a:cs typeface="Courier New" pitchFamily="49" charset="0"/>
              </a:rPr>
              <a:t>&lt;li&gt; &lt;/li&gt; </a:t>
            </a:r>
            <a:r>
              <a:rPr lang="fr-FR" sz="1600" dirty="0" smtClean="0">
                <a:cs typeface="Courier New" pitchFamily="49" charset="0"/>
              </a:rPr>
              <a:t>pour chacun des éléments de la liste :</a:t>
            </a:r>
          </a:p>
          <a:p>
            <a:pPr lvl="0" eaLnBrk="0" fontAlgn="base" hangingPunct="0">
              <a:spcBef>
                <a:spcPct val="0"/>
              </a:spcBef>
              <a:spcAft>
                <a:spcPct val="0"/>
              </a:spcAft>
            </a:pPr>
            <a:r>
              <a:rPr lang="it-IT" sz="1600" dirty="0" smtClean="0">
                <a:solidFill>
                  <a:schemeClr val="accent1"/>
                </a:solidFill>
                <a:cs typeface="Arial" pitchFamily="34" charset="0"/>
              </a:rPr>
              <a:t>&lt;ul&gt;</a:t>
            </a:r>
          </a:p>
          <a:p>
            <a:pPr lvl="0" eaLnBrk="0" fontAlgn="base" hangingPunct="0">
              <a:spcBef>
                <a:spcPct val="0"/>
              </a:spcBef>
              <a:spcAft>
                <a:spcPct val="0"/>
              </a:spcAft>
            </a:pPr>
            <a:r>
              <a:rPr lang="it-IT" sz="1600" dirty="0" smtClean="0">
                <a:solidFill>
                  <a:schemeClr val="accent1"/>
                </a:solidFill>
                <a:cs typeface="Arial" pitchFamily="34" charset="0"/>
              </a:rPr>
              <a:t>    &lt;li&gt;Fraises&lt;/li&gt;</a:t>
            </a:r>
          </a:p>
          <a:p>
            <a:pPr lvl="0" eaLnBrk="0" fontAlgn="base" hangingPunct="0">
              <a:spcBef>
                <a:spcPct val="0"/>
              </a:spcBef>
              <a:spcAft>
                <a:spcPct val="0"/>
              </a:spcAft>
            </a:pPr>
            <a:r>
              <a:rPr lang="it-IT" sz="1600" dirty="0" smtClean="0">
                <a:solidFill>
                  <a:schemeClr val="accent1"/>
                </a:solidFill>
                <a:cs typeface="Arial" pitchFamily="34" charset="0"/>
              </a:rPr>
              <a:t>    &lt;li&gt;Framboises&lt;/li&gt;</a:t>
            </a:r>
          </a:p>
          <a:p>
            <a:pPr lvl="0" eaLnBrk="0" fontAlgn="base" hangingPunct="0">
              <a:spcBef>
                <a:spcPct val="0"/>
              </a:spcBef>
              <a:spcAft>
                <a:spcPct val="0"/>
              </a:spcAft>
            </a:pPr>
            <a:r>
              <a:rPr lang="it-IT" sz="1600" dirty="0" smtClean="0">
                <a:solidFill>
                  <a:schemeClr val="accent1"/>
                </a:solidFill>
                <a:cs typeface="Arial" pitchFamily="34" charset="0"/>
              </a:rPr>
              <a:t>    &lt;li&gt;Cerises&lt;/li&gt;</a:t>
            </a:r>
          </a:p>
          <a:p>
            <a:pPr lvl="0" eaLnBrk="0" fontAlgn="base" hangingPunct="0">
              <a:spcBef>
                <a:spcPct val="0"/>
              </a:spcBef>
              <a:spcAft>
                <a:spcPct val="0"/>
              </a:spcAft>
            </a:pPr>
            <a:r>
              <a:rPr lang="it-IT" sz="1600" dirty="0" smtClean="0">
                <a:solidFill>
                  <a:schemeClr val="accent1"/>
                </a:solidFill>
                <a:cs typeface="Arial" pitchFamily="34" charset="0"/>
              </a:rPr>
              <a:t>&lt;/ul&gt;</a:t>
            </a:r>
          </a:p>
          <a:p>
            <a:pPr eaLnBrk="0" fontAlgn="base" hangingPunct="0">
              <a:spcBef>
                <a:spcPct val="0"/>
              </a:spcBef>
              <a:spcAft>
                <a:spcPct val="0"/>
              </a:spcAft>
            </a:pPr>
            <a:r>
              <a:rPr lang="it-IT" sz="1600" dirty="0" smtClean="0">
                <a:cs typeface="Arial" pitchFamily="34" charset="0"/>
              </a:rPr>
              <a:t>La balise &lt;ul&gt; délimite toute la liste et la balise &lt;li&gt; délimite un élément de la liste (une puce).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7158" y="142852"/>
            <a:ext cx="4140877" cy="369332"/>
          </a:xfrm>
          <a:prstGeom prst="rect">
            <a:avLst/>
          </a:prstGeom>
        </p:spPr>
        <p:txBody>
          <a:bodyPr wrap="none">
            <a:spAutoFit/>
          </a:bodyPr>
          <a:lstStyle/>
          <a:p>
            <a:r>
              <a:rPr lang="fr-FR" b="1" u="sng" dirty="0" smtClean="0"/>
              <a:t>Les listes ordonnées ou listes numérotées</a:t>
            </a:r>
            <a:endParaRPr lang="fr-FR" b="1" u="sng" dirty="0"/>
          </a:p>
        </p:txBody>
      </p:sp>
      <p:sp>
        <p:nvSpPr>
          <p:cNvPr id="25601" name="Rectangle 1"/>
          <p:cNvSpPr>
            <a:spLocks noChangeArrowheads="1"/>
          </p:cNvSpPr>
          <p:nvPr/>
        </p:nvSpPr>
        <p:spPr bwMode="auto">
          <a:xfrm>
            <a:off x="142844" y="609881"/>
            <a:ext cx="8858280"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Une liste ordonnée fonctionne de la même façon qu’une liste non ordonnée. Seule une balise change : il faut remplacer</a:t>
            </a:r>
            <a:r>
              <a:rPr kumimoji="0" lang="fr-FR" sz="1600" b="0" i="0" u="none" strike="noStrike" cap="none" normalizeH="0" dirty="0" smtClean="0">
                <a:ln>
                  <a:noFill/>
                </a:ln>
                <a:solidFill>
                  <a:schemeClr val="tx1"/>
                </a:solidFill>
                <a:effectLst/>
                <a:cs typeface="Arial" pitchFamily="34" charset="0"/>
              </a:rPr>
              <a:t> </a:t>
            </a:r>
            <a:r>
              <a:rPr kumimoji="0" lang="fr-FR" sz="1600" i="0" u="none" strike="noStrike" cap="none" normalizeH="0" baseline="0" dirty="0" smtClean="0">
                <a:ln>
                  <a:noFill/>
                </a:ln>
                <a:solidFill>
                  <a:schemeClr val="tx1"/>
                </a:solidFill>
                <a:effectLst/>
                <a:cs typeface="Courier New" pitchFamily="49" charset="0"/>
              </a:rPr>
              <a:t>&lt;</a:t>
            </a:r>
            <a:r>
              <a:rPr kumimoji="0" lang="fr-FR" sz="1600" i="0" u="none" strike="noStrike" cap="none" normalizeH="0" baseline="0" dirty="0" err="1" smtClean="0">
                <a:ln>
                  <a:noFill/>
                </a:ln>
                <a:solidFill>
                  <a:schemeClr val="tx1"/>
                </a:solidFill>
                <a:effectLst/>
                <a:cs typeface="Courier New" pitchFamily="49" charset="0"/>
              </a:rPr>
              <a:t>ul</a:t>
            </a:r>
            <a:r>
              <a:rPr kumimoji="0" lang="fr-FR" sz="1600" i="0" u="none" strike="noStrike" cap="none" normalizeH="0" baseline="0" dirty="0" smtClean="0">
                <a:ln>
                  <a:noFill/>
                </a:ln>
                <a:solidFill>
                  <a:schemeClr val="tx1"/>
                </a:solidFill>
                <a:effectLst/>
                <a:cs typeface="Courier New" pitchFamily="49" charset="0"/>
              </a:rPr>
              <a:t>&gt;&lt;/</a:t>
            </a:r>
            <a:r>
              <a:rPr kumimoji="0" lang="fr-FR" sz="1600" i="0" u="none" strike="noStrike" cap="none" normalizeH="0" baseline="0" dirty="0" err="1" smtClean="0">
                <a:ln>
                  <a:noFill/>
                </a:ln>
                <a:solidFill>
                  <a:schemeClr val="tx1"/>
                </a:solidFill>
                <a:effectLst/>
                <a:cs typeface="Courier New" pitchFamily="49" charset="0"/>
              </a:rPr>
              <a:t>ul</a:t>
            </a:r>
            <a:r>
              <a:rPr kumimoji="0" lang="fr-FR" sz="1600" i="0" u="none" strike="noStrike" cap="none" normalizeH="0" baseline="0" dirty="0" smtClean="0">
                <a:ln>
                  <a:noFill/>
                </a:ln>
                <a:solidFill>
                  <a:schemeClr val="tx1"/>
                </a:solidFill>
                <a:effectLst/>
                <a:cs typeface="Courier New" pitchFamily="49" charset="0"/>
              </a:rPr>
              <a:t>&gt; </a:t>
            </a:r>
            <a:r>
              <a:rPr kumimoji="0" lang="fr-FR" sz="1600" b="0" i="0" u="none" strike="noStrike" cap="none" normalizeH="0" baseline="0" dirty="0" smtClean="0">
                <a:ln>
                  <a:noFill/>
                </a:ln>
                <a:solidFill>
                  <a:schemeClr val="tx1"/>
                </a:solidFill>
                <a:effectLst/>
                <a:cs typeface="Arial" pitchFamily="34" charset="0"/>
              </a:rPr>
              <a:t>par </a:t>
            </a:r>
            <a:r>
              <a:rPr kumimoji="0" lang="fr-FR" sz="1600" b="1" i="0" u="none" strike="noStrike" cap="none" normalizeH="0" baseline="0" dirty="0" smtClean="0">
                <a:ln>
                  <a:noFill/>
                </a:ln>
                <a:solidFill>
                  <a:schemeClr val="accent1"/>
                </a:solidFill>
                <a:effectLst/>
                <a:cs typeface="Courier New" pitchFamily="49" charset="0"/>
              </a:rPr>
              <a:t>&lt;</a:t>
            </a:r>
            <a:r>
              <a:rPr kumimoji="0" lang="fr-FR" sz="1600" b="1" i="0" u="none" strike="noStrike" cap="none" normalizeH="0" baseline="0" dirty="0" err="1" smtClean="0">
                <a:ln>
                  <a:noFill/>
                </a:ln>
                <a:solidFill>
                  <a:schemeClr val="accent1"/>
                </a:solidFill>
                <a:effectLst/>
                <a:cs typeface="Courier New" pitchFamily="49" charset="0"/>
              </a:rPr>
              <a:t>ol</a:t>
            </a:r>
            <a:r>
              <a:rPr kumimoji="0" lang="fr-FR" sz="1600" b="1" i="0" u="none" strike="noStrike" cap="none" normalizeH="0" baseline="0" dirty="0" smtClean="0">
                <a:ln>
                  <a:noFill/>
                </a:ln>
                <a:solidFill>
                  <a:schemeClr val="accent1"/>
                </a:solidFill>
                <a:effectLst/>
                <a:cs typeface="Courier New" pitchFamily="49" charset="0"/>
              </a:rPr>
              <a:t>&gt;&lt;/</a:t>
            </a:r>
            <a:r>
              <a:rPr kumimoji="0" lang="fr-FR" sz="1600" b="1" i="0" u="none" strike="noStrike" cap="none" normalizeH="0" baseline="0" dirty="0" err="1" smtClean="0">
                <a:ln>
                  <a:noFill/>
                </a:ln>
                <a:solidFill>
                  <a:schemeClr val="accent1"/>
                </a:solidFill>
                <a:effectLst/>
                <a:cs typeface="Courier New" pitchFamily="49" charset="0"/>
              </a:rPr>
              <a:t>ol</a:t>
            </a:r>
            <a:r>
              <a:rPr kumimoji="0" lang="fr-FR" sz="1600" b="1" i="0" u="none" strike="noStrike" cap="none" normalizeH="0" baseline="0" dirty="0" smtClean="0">
                <a:ln>
                  <a:noFill/>
                </a:ln>
                <a:solidFill>
                  <a:schemeClr val="accent1"/>
                </a:solidFill>
                <a:effectLst/>
                <a:cs typeface="Courier New" pitchFamily="49" charset="0"/>
              </a:rPr>
              <a:t>&gt;</a:t>
            </a:r>
            <a:r>
              <a:rPr kumimoji="0" lang="fr-FR" sz="1600" b="0" i="0" u="none" strike="noStrike" cap="none" normalizeH="0" baseline="0" dirty="0" smtClean="0">
                <a:ln>
                  <a:noFill/>
                </a:ln>
                <a:solidFill>
                  <a:schemeClr val="tx1"/>
                </a:solidFill>
                <a:effectLst/>
                <a:cs typeface="Arial" pitchFamily="34" charset="0"/>
              </a:rPr>
              <a:t>.</a:t>
            </a:r>
            <a:br>
              <a:rPr kumimoji="0" lang="fr-FR" sz="1600" b="0" i="0" u="none" strike="noStrike" cap="none" normalizeH="0" baseline="0" dirty="0" smtClean="0">
                <a:ln>
                  <a:noFill/>
                </a:ln>
                <a:solidFill>
                  <a:schemeClr val="tx1"/>
                </a:solidFill>
                <a:effectLst/>
                <a:cs typeface="Arial" pitchFamily="34" charset="0"/>
              </a:rPr>
            </a:br>
            <a:r>
              <a:rPr kumimoji="0" lang="fr-FR" sz="1600" b="0" i="0" u="none" strike="noStrike" cap="none" normalizeH="0" baseline="0" dirty="0" smtClean="0">
                <a:ln>
                  <a:noFill/>
                </a:ln>
                <a:solidFill>
                  <a:schemeClr val="tx1"/>
                </a:solidFill>
                <a:effectLst/>
                <a:cs typeface="Arial" pitchFamily="34" charset="0"/>
              </a:rPr>
              <a:t>À l'intérieur de la liste, on ne change rien : on utilise toujours des balises </a:t>
            </a:r>
            <a:r>
              <a:rPr kumimoji="0" lang="fr-FR" sz="1600" b="0" i="0" u="none" strike="noStrike" cap="none" normalizeH="0" baseline="0" dirty="0" smtClean="0">
                <a:ln>
                  <a:noFill/>
                </a:ln>
                <a:solidFill>
                  <a:schemeClr val="tx1"/>
                </a:solidFill>
                <a:effectLst/>
                <a:cs typeface="Courier New" pitchFamily="49" charset="0"/>
              </a:rPr>
              <a:t>&lt;li&gt;&lt;/li&gt; </a:t>
            </a:r>
            <a:r>
              <a:rPr kumimoji="0" lang="fr-FR" sz="1600" b="0" i="0" u="none" strike="noStrike" cap="none" normalizeH="0" baseline="0" dirty="0" smtClean="0">
                <a:ln>
                  <a:noFill/>
                </a:ln>
                <a:solidFill>
                  <a:schemeClr val="tx1"/>
                </a:solidFill>
                <a:effectLst/>
                <a:cs typeface="Arial" pitchFamily="34" charset="0"/>
              </a:rPr>
              <a:t>pour délimiter les éléments. </a:t>
            </a:r>
          </a:p>
        </p:txBody>
      </p:sp>
      <p:sp>
        <p:nvSpPr>
          <p:cNvPr id="25602" name="Rectangle 2"/>
          <p:cNvSpPr>
            <a:spLocks noChangeArrowheads="1"/>
          </p:cNvSpPr>
          <p:nvPr/>
        </p:nvSpPr>
        <p:spPr bwMode="auto">
          <a:xfrm>
            <a:off x="214282" y="1782537"/>
            <a:ext cx="8643998"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0" i="0" u="none" strike="noStrike" cap="none" normalizeH="0" baseline="0" dirty="0" smtClean="0">
                <a:ln>
                  <a:noFill/>
                </a:ln>
                <a:solidFill>
                  <a:srgbClr val="FF0000"/>
                </a:solidFill>
                <a:effectLst/>
                <a:cs typeface="Arial" pitchFamily="34" charset="0"/>
              </a:rPr>
              <a:t>L'ordre dans lequel vous placez les éléments de la liste est important. Le</a:t>
            </a:r>
            <a:r>
              <a:rPr kumimoji="0" lang="fr-FR" b="0" i="0" u="none" strike="noStrike" cap="none" normalizeH="0" dirty="0" smtClean="0">
                <a:ln>
                  <a:noFill/>
                </a:ln>
                <a:solidFill>
                  <a:srgbClr val="FF0000"/>
                </a:solidFill>
                <a:effectLst/>
                <a:cs typeface="Arial" pitchFamily="34" charset="0"/>
              </a:rPr>
              <a:t> </a:t>
            </a:r>
            <a:r>
              <a:rPr kumimoji="0" lang="fr-FR" b="0" i="0" u="none" strike="noStrike" cap="none" normalizeH="0" baseline="0" dirty="0" smtClean="0">
                <a:ln>
                  <a:noFill/>
                </a:ln>
                <a:solidFill>
                  <a:srgbClr val="FF0000"/>
                </a:solidFill>
                <a:effectLst/>
                <a:cs typeface="Arial" pitchFamily="34" charset="0"/>
              </a:rPr>
              <a:t>premier </a:t>
            </a:r>
            <a:r>
              <a:rPr kumimoji="0" lang="fr-FR" b="0" i="0" u="none" strike="noStrike" cap="none" normalizeH="0" baseline="0" dirty="0" smtClean="0">
                <a:ln>
                  <a:noFill/>
                </a:ln>
                <a:solidFill>
                  <a:srgbClr val="FF0000"/>
                </a:solidFill>
                <a:effectLst/>
                <a:cs typeface="Courier New" pitchFamily="49" charset="0"/>
              </a:rPr>
              <a:t>&lt;li&gt;&lt;/li&gt; </a:t>
            </a:r>
            <a:r>
              <a:rPr kumimoji="0" lang="fr-FR" b="0" i="0" u="none" strike="noStrike" cap="none" normalizeH="0" baseline="0" dirty="0" smtClean="0">
                <a:ln>
                  <a:noFill/>
                </a:ln>
                <a:solidFill>
                  <a:srgbClr val="FF0000"/>
                </a:solidFill>
                <a:effectLst/>
                <a:cs typeface="Arial" pitchFamily="34" charset="0"/>
              </a:rPr>
              <a:t>sera l'élément n° 1, le second sera le n°2 </a:t>
            </a:r>
            <a:r>
              <a:rPr kumimoji="0" lang="fr-FR" b="0" i="0" u="none" strike="noStrike" cap="none" normalizeH="0" baseline="0" dirty="0" err="1" smtClean="0">
                <a:ln>
                  <a:noFill/>
                </a:ln>
                <a:solidFill>
                  <a:srgbClr val="FF0000"/>
                </a:solidFill>
                <a:effectLst/>
                <a:cs typeface="Arial" pitchFamily="34" charset="0"/>
              </a:rPr>
              <a:t>etc</a:t>
            </a:r>
            <a:r>
              <a:rPr kumimoji="0" lang="fr-FR" b="0" i="0" u="none" strike="noStrike" cap="none" normalizeH="0" baseline="0" dirty="0" smtClean="0">
                <a:ln>
                  <a:noFill/>
                </a:ln>
                <a:solidFill>
                  <a:srgbClr val="FF0000"/>
                </a:solidFill>
                <a:effectLst/>
                <a:cs typeface="Arial" pitchFamily="34" charset="0"/>
              </a:rPr>
              <a:t>… </a:t>
            </a:r>
          </a:p>
        </p:txBody>
      </p:sp>
      <p:sp>
        <p:nvSpPr>
          <p:cNvPr id="7" name="Rectangle 6"/>
          <p:cNvSpPr/>
          <p:nvPr/>
        </p:nvSpPr>
        <p:spPr>
          <a:xfrm>
            <a:off x="285720" y="2571744"/>
            <a:ext cx="8501122" cy="2585323"/>
          </a:xfrm>
          <a:prstGeom prst="rect">
            <a:avLst/>
          </a:prstGeom>
        </p:spPr>
        <p:txBody>
          <a:bodyPr wrap="square">
            <a:spAutoFit/>
          </a:bodyPr>
          <a:lstStyle/>
          <a:p>
            <a:pPr marL="342900" indent="-342900">
              <a:buAutoNum type="arabicPeriod"/>
            </a:pPr>
            <a:r>
              <a:rPr lang="fr-FR" dirty="0" smtClean="0"/>
              <a:t>Je me lève.</a:t>
            </a:r>
          </a:p>
          <a:p>
            <a:pPr marL="342900" indent="-342900">
              <a:buAutoNum type="arabicPeriod"/>
            </a:pPr>
            <a:r>
              <a:rPr lang="fr-FR" dirty="0" smtClean="0"/>
              <a:t>Je mange et je bois.</a:t>
            </a:r>
          </a:p>
          <a:p>
            <a:pPr marL="342900" indent="-342900">
              <a:buAutoNum type="arabicPeriod"/>
            </a:pPr>
            <a:r>
              <a:rPr lang="fr-FR" dirty="0" smtClean="0"/>
              <a:t>Je retourne me coucher.</a:t>
            </a:r>
          </a:p>
          <a:p>
            <a:endParaRPr lang="fr-FR" dirty="0" smtClean="0">
              <a:solidFill>
                <a:schemeClr val="accent1"/>
              </a:solidFill>
            </a:endParaRPr>
          </a:p>
          <a:p>
            <a:r>
              <a:rPr lang="fr-FR" dirty="0" smtClean="0">
                <a:solidFill>
                  <a:schemeClr val="accent1"/>
                </a:solidFill>
              </a:rPr>
              <a:t>&lt;</a:t>
            </a:r>
            <a:r>
              <a:rPr lang="fr-FR" dirty="0" err="1" smtClean="0">
                <a:solidFill>
                  <a:schemeClr val="accent1"/>
                </a:solidFill>
              </a:rPr>
              <a:t>ol</a:t>
            </a:r>
            <a:r>
              <a:rPr lang="fr-FR" dirty="0" smtClean="0">
                <a:solidFill>
                  <a:schemeClr val="accent1"/>
                </a:solidFill>
              </a:rPr>
              <a:t>&gt;</a:t>
            </a:r>
          </a:p>
          <a:p>
            <a:r>
              <a:rPr lang="fr-FR" dirty="0" smtClean="0">
                <a:solidFill>
                  <a:schemeClr val="accent1"/>
                </a:solidFill>
              </a:rPr>
              <a:t>    &lt;li&gt;Je me lève.&lt;/li&gt;</a:t>
            </a:r>
          </a:p>
          <a:p>
            <a:r>
              <a:rPr lang="fr-FR" dirty="0" smtClean="0">
                <a:solidFill>
                  <a:schemeClr val="accent1"/>
                </a:solidFill>
              </a:rPr>
              <a:t>    &lt;li&gt;Je mange et je bois.&lt;/li&gt;</a:t>
            </a:r>
          </a:p>
          <a:p>
            <a:r>
              <a:rPr lang="fr-FR" dirty="0" smtClean="0">
                <a:solidFill>
                  <a:schemeClr val="accent1"/>
                </a:solidFill>
              </a:rPr>
              <a:t>    &lt;li&gt;Je retourne me coucher.&lt;/li&gt;</a:t>
            </a:r>
          </a:p>
          <a:p>
            <a:r>
              <a:rPr lang="fr-FR" dirty="0" smtClean="0">
                <a:solidFill>
                  <a:schemeClr val="accent1"/>
                </a:solidFill>
              </a:rPr>
              <a:t>&lt;/</a:t>
            </a:r>
            <a:r>
              <a:rPr lang="fr-FR" dirty="0" err="1" smtClean="0">
                <a:solidFill>
                  <a:schemeClr val="accent1"/>
                </a:solidFill>
              </a:rPr>
              <a:t>ol</a:t>
            </a:r>
            <a:r>
              <a:rPr lang="fr-FR" dirty="0" smtClean="0">
                <a:solidFill>
                  <a:schemeClr val="accent1"/>
                </a:solidFill>
              </a:rPr>
              <a:t>&gt;</a:t>
            </a:r>
            <a:endParaRPr lang="fr-FR" dirty="0">
              <a:solidFill>
                <a:schemeClr val="accen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7158" y="142852"/>
            <a:ext cx="1992981" cy="369332"/>
          </a:xfrm>
          <a:prstGeom prst="rect">
            <a:avLst/>
          </a:prstGeom>
        </p:spPr>
        <p:txBody>
          <a:bodyPr wrap="none">
            <a:spAutoFit/>
          </a:bodyPr>
          <a:lstStyle/>
          <a:p>
            <a:r>
              <a:rPr lang="fr-FR" b="1" dirty="0" smtClean="0"/>
              <a:t>c. </a:t>
            </a:r>
            <a:r>
              <a:rPr lang="fr-FR" b="1" u="sng" dirty="0" smtClean="0"/>
              <a:t>Création de liens</a:t>
            </a:r>
            <a:endParaRPr lang="fr-FR" b="1" u="sng" dirty="0"/>
          </a:p>
        </p:txBody>
      </p:sp>
      <p:sp>
        <p:nvSpPr>
          <p:cNvPr id="5" name="Rectangle 1"/>
          <p:cNvSpPr>
            <a:spLocks noChangeArrowheads="1"/>
          </p:cNvSpPr>
          <p:nvPr/>
        </p:nvSpPr>
        <p:spPr bwMode="auto">
          <a:xfrm>
            <a:off x="179512" y="918011"/>
            <a:ext cx="8784976" cy="1323439"/>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Un site web est composé de plusieurs pages. Comment faire pour aller d'une page vers une autre ? </a:t>
            </a:r>
            <a:r>
              <a:rPr kumimoji="0" lang="fr-FR" sz="1600" b="0" i="0" u="none" strike="noStrike" cap="none" normalizeH="0" baseline="0" dirty="0" smtClean="0">
                <a:ln>
                  <a:noFill/>
                </a:ln>
                <a:solidFill>
                  <a:srgbClr val="FF0000"/>
                </a:solidFill>
                <a:effectLst/>
                <a:latin typeface="+mn-lt"/>
              </a:rPr>
              <a:t>À l'aide de liens!</a:t>
            </a:r>
            <a:r>
              <a:rPr kumimoji="0" lang="fr-FR" sz="1600" b="0" i="0" u="none" strike="noStrike" cap="none" normalizeH="0" baseline="0" dirty="0" smtClean="0">
                <a:ln>
                  <a:noFill/>
                </a:ln>
                <a:solidFill>
                  <a:schemeClr val="tx1"/>
                </a:solidFill>
                <a:effectLst/>
                <a:latin typeface="+mn-lt"/>
              </a:rPr>
              <a:t> Il s'agit d'un texte sur lequel on peut cliquer pour se rendre sur une autre page.</a:t>
            </a:r>
            <a:br>
              <a:rPr kumimoji="0" lang="fr-FR" sz="1600" b="0" i="0" u="none" strike="noStrike" cap="none" normalizeH="0" baseline="0" dirty="0" smtClean="0">
                <a:ln>
                  <a:noFill/>
                </a:ln>
                <a:solidFill>
                  <a:schemeClr val="tx1"/>
                </a:solidFill>
                <a:effectLst/>
                <a:latin typeface="+mn-lt"/>
              </a:rPr>
            </a:br>
            <a:r>
              <a:rPr kumimoji="0" lang="fr-FR" sz="1600" b="0" i="0" u="none" strike="noStrike" cap="none" normalizeH="0" baseline="0" dirty="0" smtClean="0">
                <a:ln>
                  <a:noFill/>
                </a:ln>
                <a:solidFill>
                  <a:schemeClr val="tx1"/>
                </a:solidFill>
                <a:effectLst/>
                <a:latin typeface="+mn-lt"/>
              </a:rPr>
              <a:t>On peut faire un lien d'une page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a.html </a:t>
            </a:r>
            <a:r>
              <a:rPr kumimoji="0" lang="fr-FR" sz="1600" b="0" i="0" u="none" strike="noStrike" cap="none" normalizeH="0" baseline="0" dirty="0" smtClean="0">
                <a:ln>
                  <a:noFill/>
                </a:ln>
                <a:solidFill>
                  <a:schemeClr val="tx1"/>
                </a:solidFill>
                <a:effectLst/>
                <a:latin typeface="+mn-lt"/>
              </a:rPr>
              <a:t>vers une page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b.html</a:t>
            </a:r>
            <a:r>
              <a:rPr kumimoji="0" lang="fr-FR" sz="1600" b="0" i="0" u="none" strike="noStrike" cap="none" normalizeH="0" baseline="0" dirty="0" smtClean="0">
                <a:ln>
                  <a:noFill/>
                </a:ln>
                <a:solidFill>
                  <a:schemeClr val="tx1"/>
                </a:solidFill>
                <a:effectLst/>
                <a:latin typeface="+mn-lt"/>
              </a:rPr>
              <a:t>, mais on peut aussi faire un lien vers un autre site (par exemple,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http://www.abidjan-immobilier.net</a:t>
            </a:r>
            <a:r>
              <a:rPr kumimoji="0" lang="fr-FR" sz="1600" b="0" i="0" u="none" strike="noStrike" cap="none" normalizeH="0" baseline="0" dirty="0" smtClean="0">
                <a:ln>
                  <a:noFill/>
                </a:ln>
                <a:solidFill>
                  <a:schemeClr val="tx1"/>
                </a:solidFill>
                <a:effectLst/>
                <a:latin typeface="+mn-lt"/>
              </a:rPr>
              <a:t>). Dans les deux cas, nous allons voir que le fonctionnement est le même.</a:t>
            </a:r>
          </a:p>
        </p:txBody>
      </p:sp>
      <p:sp>
        <p:nvSpPr>
          <p:cNvPr id="6" name="Rectangle 5"/>
          <p:cNvSpPr/>
          <p:nvPr/>
        </p:nvSpPr>
        <p:spPr>
          <a:xfrm>
            <a:off x="467544" y="2277945"/>
            <a:ext cx="2305824" cy="338554"/>
          </a:xfrm>
          <a:prstGeom prst="rect">
            <a:avLst/>
          </a:prstGeom>
        </p:spPr>
        <p:txBody>
          <a:bodyPr wrap="none">
            <a:spAutoFit/>
          </a:bodyPr>
          <a:lstStyle/>
          <a:p>
            <a:r>
              <a:rPr lang="fr-FR" sz="1600" b="1" u="sng" dirty="0"/>
              <a:t>Un lien vers un autre site</a:t>
            </a:r>
            <a:endParaRPr lang="fr-FR" sz="1600" b="1" i="0" u="sng" dirty="0">
              <a:effectLst/>
            </a:endParaRPr>
          </a:p>
        </p:txBody>
      </p:sp>
      <p:sp>
        <p:nvSpPr>
          <p:cNvPr id="7" name="Rectangle 2"/>
          <p:cNvSpPr>
            <a:spLocks noChangeArrowheads="1"/>
          </p:cNvSpPr>
          <p:nvPr/>
        </p:nvSpPr>
        <p:spPr bwMode="auto">
          <a:xfrm>
            <a:off x="179512" y="2723436"/>
            <a:ext cx="8714322" cy="156966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Pour faire un lien, la balise que nous allons utiliser est : </a:t>
            </a:r>
            <a:r>
              <a:rPr kumimoji="0" lang="fr-FR" sz="1600" b="1" i="0" u="none" strike="noStrike" cap="none" normalizeH="0" baseline="0" dirty="0" smtClean="0">
                <a:ln>
                  <a:noFill/>
                </a:ln>
                <a:solidFill>
                  <a:schemeClr val="tx2">
                    <a:lumMod val="60000"/>
                    <a:lumOff val="40000"/>
                  </a:schemeClr>
                </a:solidFill>
                <a:effectLst/>
                <a:latin typeface="+mn-lt"/>
                <a:cs typeface="Courier New" panose="02070309020205020404" pitchFamily="49" charset="0"/>
              </a:rPr>
              <a:t>&lt;a&gt;</a:t>
            </a:r>
            <a:r>
              <a:rPr kumimoji="0" lang="fr-FR" sz="1600" b="0" i="0" u="none" strike="noStrike" cap="none" normalizeH="0" baseline="0" dirty="0" smtClean="0">
                <a:ln>
                  <a:noFill/>
                </a:ln>
                <a:solidFill>
                  <a:schemeClr val="tx1"/>
                </a:solidFill>
                <a:effectLst/>
                <a:latin typeface="+mn-lt"/>
              </a:rPr>
              <a:t>. Il faut cependant lui ajouter un </a:t>
            </a:r>
            <a:r>
              <a:rPr kumimoji="0" lang="fr-FR" sz="1600" b="1" i="0" u="none" strike="noStrike" cap="none" normalizeH="0" baseline="0" dirty="0" smtClean="0">
                <a:ln>
                  <a:noFill/>
                </a:ln>
                <a:solidFill>
                  <a:schemeClr val="tx1"/>
                </a:solidFill>
                <a:effectLst/>
                <a:latin typeface="+mn-lt"/>
              </a:rPr>
              <a:t>attribut</a:t>
            </a:r>
            <a:r>
              <a:rPr kumimoji="0" lang="fr-FR" sz="1600" b="0" i="0" u="none" strike="noStrike" cap="none" normalizeH="0" baseline="0" dirty="0" smtClean="0">
                <a:ln>
                  <a:noFill/>
                </a:ln>
                <a:solidFill>
                  <a:schemeClr val="tx1"/>
                </a:solidFill>
                <a:effectLst/>
                <a:latin typeface="+mn-lt"/>
              </a:rPr>
              <a:t>, </a:t>
            </a:r>
            <a:r>
              <a:rPr kumimoji="0" lang="fr-FR" sz="1600" b="1" i="0" u="none" strike="noStrike" cap="none" normalizeH="0" baseline="0" dirty="0" err="1" smtClean="0">
                <a:ln>
                  <a:noFill/>
                </a:ln>
                <a:solidFill>
                  <a:schemeClr val="tx2">
                    <a:lumMod val="60000"/>
                    <a:lumOff val="40000"/>
                  </a:schemeClr>
                </a:solidFill>
                <a:effectLst/>
                <a:latin typeface="+mn-lt"/>
                <a:cs typeface="Courier New" panose="02070309020205020404" pitchFamily="49" charset="0"/>
              </a:rPr>
              <a:t>href</a:t>
            </a:r>
            <a:r>
              <a:rPr kumimoji="0" lang="fr-FR" sz="1600" b="0" i="0" u="none" strike="noStrike" cap="none" normalizeH="0" baseline="0" dirty="0" smtClean="0">
                <a:ln>
                  <a:noFill/>
                </a:ln>
                <a:solidFill>
                  <a:schemeClr val="tx1"/>
                </a:solidFill>
                <a:effectLst/>
                <a:latin typeface="+mn-lt"/>
              </a:rPr>
              <a:t>, pour indiquer vers quelle page le lien doit conduire.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Par exemple, le code ci-dessous est un lien qui amène vers Abidjan-immobilier.net , situé à l'adresse </a:t>
            </a:r>
            <a:r>
              <a:rPr kumimoji="0" lang="fr-FR" sz="1600" b="0" i="0" u="none" strike="noStrike" cap="none" normalizeH="0" baseline="0" dirty="0" smtClean="0">
                <a:ln>
                  <a:noFill/>
                </a:ln>
                <a:solidFill>
                  <a:schemeClr val="tx1"/>
                </a:solidFill>
                <a:effectLst/>
                <a:latin typeface="+mn-lt"/>
                <a:cs typeface="Courier New" panose="02070309020205020404" pitchFamily="49" charset="0"/>
                <a:hlinkClick r:id="rId2"/>
              </a:rPr>
              <a:t>http://www.abidjan-immobilier.net</a:t>
            </a:r>
            <a:r>
              <a:rPr kumimoji="0" lang="fr-FR" sz="1600" b="0" i="0" u="none" strike="noStrike" cap="none" normalizeH="0" baseline="0" dirty="0" smtClean="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lang="fr-FR" sz="1600" dirty="0">
              <a:latin typeface="+mn-lt"/>
            </a:endParaRPr>
          </a:p>
          <a:p>
            <a:pPr lvl="0"/>
            <a:r>
              <a:rPr lang="pt-BR" sz="1600" dirty="0">
                <a:solidFill>
                  <a:schemeClr val="tx2">
                    <a:lumMod val="60000"/>
                    <a:lumOff val="40000"/>
                  </a:schemeClr>
                </a:solidFill>
                <a:latin typeface="+mn-lt"/>
              </a:rPr>
              <a:t>&lt;a href="</a:t>
            </a:r>
            <a:r>
              <a:rPr lang="pt-BR" sz="1600" dirty="0" smtClean="0">
                <a:solidFill>
                  <a:schemeClr val="tx2">
                    <a:lumMod val="60000"/>
                    <a:lumOff val="40000"/>
                  </a:schemeClr>
                </a:solidFill>
                <a:latin typeface="+mn-lt"/>
              </a:rPr>
              <a:t>http://www.abidjan-immobilier.net"&gt;Rendez vous sur le site Abidjan-Immobilier.net&lt;/</a:t>
            </a:r>
            <a:r>
              <a:rPr lang="pt-BR" sz="1600" dirty="0">
                <a:solidFill>
                  <a:schemeClr val="tx2">
                    <a:lumMod val="60000"/>
                    <a:lumOff val="40000"/>
                  </a:schemeClr>
                </a:solidFill>
                <a:latin typeface="+mn-lt"/>
              </a:rPr>
              <a:t>a&gt;</a:t>
            </a:r>
            <a:endParaRPr kumimoji="0" lang="fr-FR" sz="1600" i="0" u="none" strike="noStrike" cap="none" normalizeH="0" baseline="0" dirty="0" smtClean="0">
              <a:ln>
                <a:noFill/>
              </a:ln>
              <a:solidFill>
                <a:schemeClr val="tx2">
                  <a:lumMod val="60000"/>
                  <a:lumOff val="40000"/>
                </a:schemeClr>
              </a:solidFill>
              <a:effectLst/>
              <a:latin typeface="+mn-lt"/>
            </a:endParaRPr>
          </a:p>
        </p:txBody>
      </p:sp>
      <p:sp>
        <p:nvSpPr>
          <p:cNvPr id="8" name="Rectangle 3"/>
          <p:cNvSpPr>
            <a:spLocks noChangeArrowheads="1"/>
          </p:cNvSpPr>
          <p:nvPr/>
        </p:nvSpPr>
        <p:spPr bwMode="auto">
          <a:xfrm>
            <a:off x="147363" y="4326195"/>
            <a:ext cx="878633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Si vous voulez faire un lien vers un autre site, il suffit donc de copier son adresse (on parle d'URL) en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http://</a:t>
            </a:r>
            <a:r>
              <a:rPr kumimoji="0" lang="fr-FR" sz="1600" b="0" i="0" u="none" strike="noStrike" cap="none" normalizeH="0" baseline="0" dirty="0" smtClean="0">
                <a:ln>
                  <a:noFill/>
                </a:ln>
                <a:solidFill>
                  <a:schemeClr val="tx1"/>
                </a:solidFill>
                <a:effectLst/>
                <a:latin typeface="+mn-lt"/>
              </a:rPr>
              <a:t>. Notez que certains liens commencent parfois par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https://</a:t>
            </a:r>
            <a:r>
              <a:rPr kumimoji="0" lang="fr-FR" sz="1600" b="0" i="0" u="none" strike="noStrike" cap="none" normalizeH="0" baseline="0" dirty="0" smtClean="0">
                <a:ln>
                  <a:noFill/>
                </a:ln>
                <a:solidFill>
                  <a:schemeClr val="tx1"/>
                </a:solidFill>
                <a:effectLst/>
                <a:latin typeface="+mn-lt"/>
              </a:rPr>
              <a:t>(sites sécurisés) ou d'autres préfixes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ftp://</a:t>
            </a:r>
            <a:r>
              <a:rPr kumimoji="0" lang="fr-FR" sz="1600" b="0" i="0" u="none" strike="noStrike" cap="none" normalizeH="0" baseline="0" dirty="0" smtClean="0">
                <a:ln>
                  <a:noFill/>
                </a:ln>
                <a:solidFill>
                  <a:schemeClr val="tx1"/>
                </a:solidFill>
                <a:effectLst/>
                <a:latin typeface="+mn-lt"/>
              </a:rPr>
              <a:t>). </a:t>
            </a:r>
          </a:p>
        </p:txBody>
      </p:sp>
    </p:spTree>
    <p:extLst>
      <p:ext uri="{BB962C8B-B14F-4D97-AF65-F5344CB8AC3E}">
        <p14:creationId xmlns:p14="http://schemas.microsoft.com/office/powerpoint/2010/main" xmlns="" val="27175331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72616"/>
            <a:ext cx="3473836" cy="338554"/>
          </a:xfrm>
          <a:prstGeom prst="rect">
            <a:avLst/>
          </a:prstGeom>
        </p:spPr>
        <p:txBody>
          <a:bodyPr wrap="none">
            <a:spAutoFit/>
          </a:bodyPr>
          <a:lstStyle/>
          <a:p>
            <a:r>
              <a:rPr lang="fr-FR" sz="1600" u="sng" dirty="0"/>
              <a:t>Un lien vers une autre page de son site</a:t>
            </a:r>
          </a:p>
        </p:txBody>
      </p:sp>
      <p:sp>
        <p:nvSpPr>
          <p:cNvPr id="5" name="Rectangle 1"/>
          <p:cNvSpPr>
            <a:spLocks noChangeArrowheads="1"/>
          </p:cNvSpPr>
          <p:nvPr/>
        </p:nvSpPr>
        <p:spPr bwMode="auto">
          <a:xfrm>
            <a:off x="251520" y="511170"/>
            <a:ext cx="8712968" cy="104898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mn-lt"/>
              </a:rPr>
              <a:t>Deux pages situées dans un même dossier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Pour commencer, nous allons créer deux fichiers correspondant à deux pages HTML différentes. On va les nommer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page1.html </a:t>
            </a:r>
            <a:r>
              <a:rPr kumimoji="0" lang="fr-FR" sz="1600" b="0" i="0" u="none" strike="noStrike" cap="none" normalizeH="0" baseline="0" dirty="0" smtClean="0">
                <a:ln>
                  <a:noFill/>
                </a:ln>
                <a:solidFill>
                  <a:schemeClr val="tx1"/>
                </a:solidFill>
                <a:effectLst/>
                <a:latin typeface="+mn-lt"/>
              </a:rPr>
              <a:t>et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page2.html</a:t>
            </a:r>
            <a:r>
              <a:rPr kumimoji="0" lang="fr-FR" sz="1600" b="0" i="0" u="none" strike="noStrike" cap="none" normalizeH="0" baseline="0" dirty="0" smtClean="0">
                <a:ln>
                  <a:noFill/>
                </a:ln>
                <a:solidFill>
                  <a:schemeClr val="tx1"/>
                </a:solidFill>
                <a:effectLst/>
                <a:latin typeface="+mn-lt"/>
              </a:rPr>
              <a:t>. Nous aurons donc ces deux fichiers sur notre disque </a:t>
            </a:r>
            <a:r>
              <a:rPr kumimoji="0" lang="fr-FR" sz="1600" b="0" i="1" u="none" strike="noStrike" cap="none" normalizeH="0" baseline="0" dirty="0" smtClean="0">
                <a:ln>
                  <a:noFill/>
                </a:ln>
                <a:solidFill>
                  <a:schemeClr val="tx1"/>
                </a:solidFill>
                <a:effectLst/>
                <a:latin typeface="+mn-lt"/>
              </a:rPr>
              <a:t>dans le même dossier</a:t>
            </a:r>
            <a:r>
              <a:rPr lang="fr-FR" sz="1600" dirty="0">
                <a:latin typeface="+mn-lt"/>
              </a:rPr>
              <a:t>.</a:t>
            </a:r>
            <a:endParaRPr kumimoji="0" lang="fr-FR" sz="1600" b="0" i="0" u="none" strike="noStrike" cap="none" normalizeH="0" baseline="0" dirty="0" smtClean="0">
              <a:ln>
                <a:noFill/>
              </a:ln>
              <a:solidFill>
                <a:schemeClr val="tx1"/>
              </a:solidFill>
              <a:effectLst/>
              <a:latin typeface="+mn-lt"/>
            </a:endParaRPr>
          </a:p>
        </p:txBody>
      </p:sp>
      <p:sp>
        <p:nvSpPr>
          <p:cNvPr id="6" name="Rectangle 2"/>
          <p:cNvSpPr>
            <a:spLocks noChangeArrowheads="1"/>
          </p:cNvSpPr>
          <p:nvPr/>
        </p:nvSpPr>
        <p:spPr bwMode="auto">
          <a:xfrm>
            <a:off x="179512" y="1631702"/>
            <a:ext cx="8784976" cy="107721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Comment faire un lien de la page 1 vers la page 2, sans avoir d'adresse en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http://</a:t>
            </a:r>
            <a:r>
              <a:rPr kumimoji="0" lang="fr-FR" sz="1600" b="0" i="0" u="none" strike="noStrike" cap="none" normalizeH="0" baseline="0" dirty="0" smtClean="0">
                <a:ln>
                  <a:noFill/>
                </a:ln>
                <a:solidFill>
                  <a:schemeClr val="tx1"/>
                </a:solidFill>
                <a:effectLst/>
                <a:latin typeface="+mn-lt"/>
              </a:rPr>
              <a:t>? </a:t>
            </a:r>
            <a:r>
              <a:rPr lang="fr-FR" sz="1600" dirty="0">
                <a:latin typeface="+mn-lt"/>
              </a:rPr>
              <a:t>S</a:t>
            </a:r>
            <a:r>
              <a:rPr kumimoji="0" lang="fr-FR" sz="1600" b="0" i="0" u="none" strike="noStrike" cap="none" normalizeH="0" baseline="0" dirty="0" smtClean="0">
                <a:ln>
                  <a:noFill/>
                </a:ln>
                <a:solidFill>
                  <a:schemeClr val="tx1"/>
                </a:solidFill>
                <a:effectLst/>
                <a:latin typeface="+mn-lt"/>
              </a:rPr>
              <a:t>i les deux fichiers sont situés dans le même dossier, il suffit d'écrire comme cible du lien le nom du fichier vers lequel on veut aller. Par exemple : </a:t>
            </a:r>
            <a:r>
              <a:rPr kumimoji="0" lang="fr-FR" sz="1600" b="0" i="0" u="none" strike="noStrike" cap="none" normalizeH="0" baseline="0" dirty="0" smtClean="0">
                <a:ln>
                  <a:noFill/>
                </a:ln>
                <a:solidFill>
                  <a:schemeClr val="tx2">
                    <a:lumMod val="60000"/>
                    <a:lumOff val="40000"/>
                  </a:schemeClr>
                </a:solidFill>
                <a:effectLst/>
                <a:latin typeface="+mn-lt"/>
                <a:cs typeface="Courier New" panose="02070309020205020404" pitchFamily="49" charset="0"/>
              </a:rPr>
              <a:t>&lt;a </a:t>
            </a:r>
            <a:r>
              <a:rPr kumimoji="0" lang="fr-FR" sz="1600" b="0" i="0" u="none" strike="noStrike" cap="none" normalizeH="0" baseline="0" dirty="0" err="1" smtClean="0">
                <a:ln>
                  <a:noFill/>
                </a:ln>
                <a:solidFill>
                  <a:schemeClr val="tx2">
                    <a:lumMod val="60000"/>
                    <a:lumOff val="40000"/>
                  </a:schemeClr>
                </a:solidFill>
                <a:effectLst/>
                <a:latin typeface="+mn-lt"/>
                <a:cs typeface="Courier New" panose="02070309020205020404" pitchFamily="49" charset="0"/>
              </a:rPr>
              <a:t>href</a:t>
            </a:r>
            <a:r>
              <a:rPr kumimoji="0" lang="fr-FR" sz="1600" b="0" i="0" u="none" strike="noStrike" cap="none" normalizeH="0" baseline="0" dirty="0" smtClean="0">
                <a:ln>
                  <a:noFill/>
                </a:ln>
                <a:solidFill>
                  <a:schemeClr val="tx2">
                    <a:lumMod val="60000"/>
                    <a:lumOff val="40000"/>
                  </a:schemeClr>
                </a:solidFill>
                <a:effectLst/>
                <a:latin typeface="+mn-lt"/>
                <a:cs typeface="Courier New" panose="02070309020205020404" pitchFamily="49" charset="0"/>
              </a:rPr>
              <a:t>="page2.html"&gt;</a:t>
            </a:r>
            <a:r>
              <a:rPr kumimoji="0" lang="fr-FR" sz="1600" b="0" i="0" u="none" strike="noStrike" cap="none" normalizeH="0" baseline="0" dirty="0" smtClean="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Voici le code que nous allons utiliser dans nos fichiers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page1.html </a:t>
            </a:r>
            <a:r>
              <a:rPr kumimoji="0" lang="fr-FR" sz="1600" b="0" i="0" u="none" strike="noStrike" cap="none" normalizeH="0" baseline="0" dirty="0" smtClean="0">
                <a:ln>
                  <a:noFill/>
                </a:ln>
                <a:solidFill>
                  <a:schemeClr val="tx1"/>
                </a:solidFill>
                <a:effectLst/>
                <a:latin typeface="+mn-lt"/>
              </a:rPr>
              <a:t>et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page2.html</a:t>
            </a:r>
            <a:endParaRPr kumimoji="0" lang="fr-FR" sz="1600" b="0" i="0" u="none" strike="noStrike" cap="none" normalizeH="0" baseline="0" dirty="0" smtClean="0">
              <a:ln>
                <a:noFill/>
              </a:ln>
              <a:solidFill>
                <a:schemeClr val="tx1"/>
              </a:solidFill>
              <a:effectLst/>
              <a:latin typeface="+mn-lt"/>
            </a:endParaRPr>
          </a:p>
        </p:txBody>
      </p:sp>
      <p:sp>
        <p:nvSpPr>
          <p:cNvPr id="7" name="Rectangle 3"/>
          <p:cNvSpPr>
            <a:spLocks noChangeArrowheads="1"/>
          </p:cNvSpPr>
          <p:nvPr/>
        </p:nvSpPr>
        <p:spPr bwMode="auto">
          <a:xfrm>
            <a:off x="251520" y="2780928"/>
            <a:ext cx="8640960" cy="8027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accent3"/>
                </a:solidFill>
                <a:effectLst/>
                <a:cs typeface="Courier New" panose="02070309020205020404" pitchFamily="49" charset="0"/>
              </a:rPr>
              <a:t>page1.html</a:t>
            </a:r>
          </a:p>
          <a:p>
            <a:pPr lvl="0" eaLnBrk="0" fontAlgn="base" hangingPunct="0">
              <a:spcBef>
                <a:spcPct val="0"/>
              </a:spcBef>
              <a:spcAft>
                <a:spcPct val="0"/>
              </a:spcAft>
            </a:pPr>
            <a:r>
              <a:rPr lang="fr-FR" sz="1600" b="1" dirty="0">
                <a:solidFill>
                  <a:schemeClr val="accent1"/>
                </a:solidFill>
              </a:rPr>
              <a:t>&lt;p&gt;Bonjour. Souhaitez-vous consulter &lt;a </a:t>
            </a:r>
            <a:r>
              <a:rPr lang="fr-FR" sz="1600" b="1" dirty="0" err="1">
                <a:solidFill>
                  <a:schemeClr val="accent1"/>
                </a:solidFill>
              </a:rPr>
              <a:t>href</a:t>
            </a:r>
            <a:r>
              <a:rPr lang="fr-FR" sz="1600" b="1" dirty="0">
                <a:solidFill>
                  <a:schemeClr val="accent1"/>
                </a:solidFill>
              </a:rPr>
              <a:t>="page2.html"&gt;la page 2&lt;/a&gt; ?&lt;/p&gt;</a:t>
            </a:r>
            <a:endParaRPr kumimoji="0" lang="fr-FR" sz="1600" b="1" i="0" u="none" strike="noStrike" cap="none" normalizeH="0" baseline="0" dirty="0" smtClean="0">
              <a:ln>
                <a:noFill/>
              </a:ln>
              <a:solidFill>
                <a:schemeClr val="accent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endParaRPr>
          </a:p>
        </p:txBody>
      </p:sp>
      <p:sp>
        <p:nvSpPr>
          <p:cNvPr id="8" name="Rectangle 3"/>
          <p:cNvSpPr>
            <a:spLocks noChangeArrowheads="1"/>
          </p:cNvSpPr>
          <p:nvPr/>
        </p:nvSpPr>
        <p:spPr bwMode="auto">
          <a:xfrm>
            <a:off x="225816" y="3551181"/>
            <a:ext cx="8640960" cy="55654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accent3"/>
                </a:solidFill>
                <a:effectLst/>
                <a:cs typeface="Courier New" panose="02070309020205020404" pitchFamily="49" charset="0"/>
              </a:rPr>
              <a:t>page2.html</a:t>
            </a:r>
          </a:p>
          <a:p>
            <a:pPr lvl="0" eaLnBrk="0" fontAlgn="base" hangingPunct="0">
              <a:spcBef>
                <a:spcPct val="0"/>
              </a:spcBef>
              <a:spcAft>
                <a:spcPct val="0"/>
              </a:spcAft>
            </a:pPr>
            <a:r>
              <a:rPr lang="fr-FR" sz="1600" b="1" dirty="0">
                <a:solidFill>
                  <a:schemeClr val="accent1"/>
                </a:solidFill>
              </a:rPr>
              <a:t>&lt;h1&gt;Bienvenue sur la page 2 !&lt;/h1&gt;</a:t>
            </a:r>
            <a:endParaRPr kumimoji="0" lang="fr-FR" sz="1600" b="0" i="0" u="none" strike="noStrike" cap="none" normalizeH="0" baseline="0" dirty="0" smtClean="0">
              <a:ln>
                <a:noFill/>
              </a:ln>
              <a:solidFill>
                <a:schemeClr val="tx1"/>
              </a:solidFill>
              <a:effectLst/>
            </a:endParaRPr>
          </a:p>
        </p:txBody>
      </p:sp>
      <p:sp>
        <p:nvSpPr>
          <p:cNvPr id="9" name="Rectangle 1"/>
          <p:cNvSpPr>
            <a:spLocks noChangeArrowheads="1"/>
          </p:cNvSpPr>
          <p:nvPr/>
        </p:nvSpPr>
        <p:spPr bwMode="auto">
          <a:xfrm>
            <a:off x="189812" y="4221088"/>
            <a:ext cx="8712968" cy="55654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fr-FR" sz="1600" b="1" dirty="0">
                <a:latin typeface="+mn-lt"/>
              </a:rPr>
              <a:t>Deux pages situées dans des dossiers </a:t>
            </a:r>
            <a:r>
              <a:rPr lang="fr-FR" sz="1600" b="1" dirty="0" smtClean="0">
                <a:latin typeface="+mn-lt"/>
              </a:rPr>
              <a:t>différents</a:t>
            </a:r>
          </a:p>
          <a:p>
            <a:pPr lvl="0"/>
            <a:r>
              <a:rPr lang="fr-FR" sz="1600" dirty="0">
                <a:latin typeface="+mn-lt"/>
              </a:rPr>
              <a:t>Imaginons </a:t>
            </a:r>
            <a:r>
              <a:rPr lang="fr-FR" sz="1600" dirty="0" smtClean="0">
                <a:latin typeface="+mn-lt"/>
              </a:rPr>
              <a:t>que </a:t>
            </a:r>
            <a:r>
              <a:rPr lang="fr-FR" sz="1600" dirty="0" smtClean="0">
                <a:latin typeface="+mn-lt"/>
                <a:cs typeface="Courier New" panose="02070309020205020404" pitchFamily="49" charset="0"/>
              </a:rPr>
              <a:t>page2.html </a:t>
            </a:r>
            <a:r>
              <a:rPr lang="fr-FR" sz="1600" dirty="0" smtClean="0">
                <a:latin typeface="+mn-lt"/>
              </a:rPr>
              <a:t>se </a:t>
            </a:r>
            <a:r>
              <a:rPr lang="fr-FR" sz="1600" dirty="0">
                <a:latin typeface="+mn-lt"/>
              </a:rPr>
              <a:t>trouve dans un sous-dossier </a:t>
            </a:r>
            <a:r>
              <a:rPr lang="fr-FR" sz="1600" dirty="0" smtClean="0">
                <a:latin typeface="+mn-lt"/>
              </a:rPr>
              <a:t>appelé </a:t>
            </a:r>
            <a:r>
              <a:rPr lang="fr-FR" sz="1600" dirty="0" smtClean="0">
                <a:latin typeface="+mn-lt"/>
                <a:cs typeface="Courier New" panose="02070309020205020404" pitchFamily="49" charset="0"/>
              </a:rPr>
              <a:t>contenu</a:t>
            </a:r>
            <a:r>
              <a:rPr lang="fr-FR" sz="1600" dirty="0">
                <a:latin typeface="+mn-lt"/>
              </a:rPr>
              <a:t>, comme à la figure suivante. </a:t>
            </a:r>
          </a:p>
        </p:txBody>
      </p:sp>
      <p:pic>
        <p:nvPicPr>
          <p:cNvPr id="13" name="Image 12"/>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160283" y="4877976"/>
            <a:ext cx="4772025" cy="181927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xmlns="" val="29695899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504" y="188640"/>
            <a:ext cx="8784976" cy="2308324"/>
          </a:xfrm>
          <a:prstGeom prst="rect">
            <a:avLst/>
          </a:prstGeom>
        </p:spPr>
        <p:txBody>
          <a:bodyPr wrap="square">
            <a:spAutoFit/>
          </a:bodyPr>
          <a:lstStyle/>
          <a:p>
            <a:r>
              <a:rPr lang="fr-FR" sz="1600" dirty="0" smtClean="0"/>
              <a:t>Dans ce cas de figure, le lien doit être rédigé comme ceci :</a:t>
            </a:r>
          </a:p>
          <a:p>
            <a:r>
              <a:rPr lang="fr-FR" sz="1600" dirty="0">
                <a:solidFill>
                  <a:schemeClr val="accent1"/>
                </a:solidFill>
              </a:rPr>
              <a:t>&lt;a </a:t>
            </a:r>
            <a:r>
              <a:rPr lang="fr-FR" sz="1600" dirty="0" err="1">
                <a:solidFill>
                  <a:schemeClr val="accent1"/>
                </a:solidFill>
              </a:rPr>
              <a:t>href</a:t>
            </a:r>
            <a:r>
              <a:rPr lang="fr-FR" sz="1600" dirty="0">
                <a:solidFill>
                  <a:schemeClr val="accent1"/>
                </a:solidFill>
              </a:rPr>
              <a:t>="contenu/page2.html</a:t>
            </a:r>
            <a:r>
              <a:rPr lang="fr-FR" sz="1600" dirty="0" smtClean="0">
                <a:solidFill>
                  <a:schemeClr val="accent1"/>
                </a:solidFill>
              </a:rPr>
              <a:t>"&gt;</a:t>
            </a:r>
          </a:p>
          <a:p>
            <a:endParaRPr lang="fr-FR" sz="1600" dirty="0">
              <a:solidFill>
                <a:schemeClr val="accent1"/>
              </a:solidFill>
            </a:endParaRPr>
          </a:p>
          <a:p>
            <a:r>
              <a:rPr lang="fr-FR" sz="1600" dirty="0"/>
              <a:t>S'il y avait plusieurs sous-dossiers, on écrirait ceci </a:t>
            </a:r>
            <a:r>
              <a:rPr lang="fr-FR" sz="1600" dirty="0" smtClean="0"/>
              <a:t>:</a:t>
            </a:r>
          </a:p>
          <a:p>
            <a:r>
              <a:rPr lang="fr-FR" sz="1600" dirty="0">
                <a:solidFill>
                  <a:schemeClr val="accent1"/>
                </a:solidFill>
              </a:rPr>
              <a:t>&lt;a </a:t>
            </a:r>
            <a:r>
              <a:rPr lang="fr-FR" sz="1600" dirty="0" err="1">
                <a:solidFill>
                  <a:schemeClr val="accent1"/>
                </a:solidFill>
              </a:rPr>
              <a:t>href</a:t>
            </a:r>
            <a:r>
              <a:rPr lang="fr-FR" sz="1600" dirty="0">
                <a:solidFill>
                  <a:schemeClr val="accent1"/>
                </a:solidFill>
              </a:rPr>
              <a:t>="contenu/</a:t>
            </a:r>
            <a:r>
              <a:rPr lang="fr-FR" sz="1600" dirty="0" err="1">
                <a:solidFill>
                  <a:schemeClr val="accent1"/>
                </a:solidFill>
              </a:rPr>
              <a:t>autredossier</a:t>
            </a:r>
            <a:r>
              <a:rPr lang="fr-FR" sz="1600" dirty="0">
                <a:solidFill>
                  <a:schemeClr val="accent1"/>
                </a:solidFill>
              </a:rPr>
              <a:t>/page2.html</a:t>
            </a:r>
            <a:r>
              <a:rPr lang="fr-FR" sz="1600" dirty="0" smtClean="0">
                <a:solidFill>
                  <a:schemeClr val="accent1"/>
                </a:solidFill>
              </a:rPr>
              <a:t>"&gt;</a:t>
            </a:r>
          </a:p>
          <a:p>
            <a:endParaRPr lang="fr-FR" sz="1600" dirty="0">
              <a:solidFill>
                <a:schemeClr val="accent1"/>
              </a:solidFill>
            </a:endParaRPr>
          </a:p>
          <a:p>
            <a:r>
              <a:rPr lang="fr-FR" sz="1600" dirty="0"/>
              <a:t>Si votre fichier cible est placé dans un dossier qui se trouve « plus haut » dans l'arborescence, il faut écrire deux points comme ceci </a:t>
            </a:r>
            <a:r>
              <a:rPr lang="fr-FR" sz="1600" dirty="0" smtClean="0"/>
              <a:t>:</a:t>
            </a:r>
          </a:p>
          <a:p>
            <a:r>
              <a:rPr lang="fr-FR" sz="1600" dirty="0" smtClean="0">
                <a:solidFill>
                  <a:schemeClr val="accent1"/>
                </a:solidFill>
              </a:rPr>
              <a:t>&lt;a </a:t>
            </a:r>
            <a:r>
              <a:rPr lang="fr-FR" sz="1600" dirty="0" err="1" smtClean="0">
                <a:solidFill>
                  <a:schemeClr val="accent1"/>
                </a:solidFill>
              </a:rPr>
              <a:t>href</a:t>
            </a:r>
            <a:r>
              <a:rPr lang="fr-FR" sz="1600" dirty="0" smtClean="0">
                <a:solidFill>
                  <a:schemeClr val="accent1"/>
                </a:solidFill>
              </a:rPr>
              <a:t>="../page2.html"&gt;</a:t>
            </a:r>
            <a:endParaRPr lang="fr-FR" sz="1600" dirty="0">
              <a:solidFill>
                <a:schemeClr val="accent1"/>
              </a:solidFill>
            </a:endParaRPr>
          </a:p>
        </p:txBody>
      </p:sp>
      <p:sp>
        <p:nvSpPr>
          <p:cNvPr id="5" name="Rectangle 4"/>
          <p:cNvSpPr/>
          <p:nvPr/>
        </p:nvSpPr>
        <p:spPr>
          <a:xfrm>
            <a:off x="138286" y="2636912"/>
            <a:ext cx="2075889" cy="338554"/>
          </a:xfrm>
          <a:prstGeom prst="rect">
            <a:avLst/>
          </a:prstGeom>
        </p:spPr>
        <p:txBody>
          <a:bodyPr wrap="none">
            <a:spAutoFit/>
          </a:bodyPr>
          <a:lstStyle/>
          <a:p>
            <a:r>
              <a:rPr lang="fr-FR" sz="1600" b="1" u="sng" dirty="0"/>
              <a:t>Un lien vers une ancre</a:t>
            </a:r>
            <a:endParaRPr lang="fr-FR" sz="1600" b="1" i="0" u="sng" dirty="0">
              <a:effectLst/>
            </a:endParaRPr>
          </a:p>
        </p:txBody>
      </p:sp>
      <p:sp>
        <p:nvSpPr>
          <p:cNvPr id="6" name="Rectangle 1"/>
          <p:cNvSpPr>
            <a:spLocks noChangeArrowheads="1"/>
          </p:cNvSpPr>
          <p:nvPr/>
        </p:nvSpPr>
        <p:spPr bwMode="auto">
          <a:xfrm>
            <a:off x="126751" y="3096030"/>
            <a:ext cx="8754194" cy="206210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Une </a:t>
            </a:r>
            <a:r>
              <a:rPr kumimoji="0" lang="fr-FR" sz="1600" b="1" i="0" u="none" strike="noStrike" cap="none" normalizeH="0" baseline="0" dirty="0" smtClean="0">
                <a:ln>
                  <a:noFill/>
                </a:ln>
                <a:solidFill>
                  <a:srgbClr val="FF0000"/>
                </a:solidFill>
                <a:effectLst/>
                <a:latin typeface="+mn-lt"/>
              </a:rPr>
              <a:t>ancre</a:t>
            </a:r>
            <a:r>
              <a:rPr kumimoji="0" lang="fr-FR" sz="1600" b="0" i="0" u="none" strike="noStrike" cap="none" normalizeH="0" baseline="0" dirty="0" smtClean="0">
                <a:ln>
                  <a:noFill/>
                </a:ln>
                <a:solidFill>
                  <a:schemeClr val="tx1"/>
                </a:solidFill>
                <a:effectLst/>
                <a:latin typeface="+mn-lt"/>
              </a:rPr>
              <a:t> est une sorte de point de repère que vous pouvez mettre dans vos pages HTML lorsqu'elles sont très longues.</a:t>
            </a:r>
            <a:br>
              <a:rPr kumimoji="0" lang="fr-FR" sz="1600" b="0" i="0" u="none" strike="noStrike" cap="none" normalizeH="0" baseline="0" dirty="0" smtClean="0">
                <a:ln>
                  <a:noFill/>
                </a:ln>
                <a:solidFill>
                  <a:schemeClr val="tx1"/>
                </a:solidFill>
                <a:effectLst/>
                <a:latin typeface="+mn-lt"/>
              </a:rPr>
            </a:br>
            <a:r>
              <a:rPr kumimoji="0" lang="fr-FR" sz="1600" b="0" i="0" u="none" strike="noStrike" cap="none" normalizeH="0" baseline="0" dirty="0" smtClean="0">
                <a:ln>
                  <a:noFill/>
                </a:ln>
                <a:solidFill>
                  <a:schemeClr val="tx1"/>
                </a:solidFill>
                <a:effectLst/>
                <a:latin typeface="+mn-lt"/>
              </a:rPr>
              <a:t>En effet, il peut alors être utile de faire un lien amenant plus bas dans la même page pour que le visiteur puisse sauter directement à la partie qui l'intéresse.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Pour créer une ancre, il suffit de rajouter l'attribut </a:t>
            </a:r>
            <a:r>
              <a:rPr kumimoji="0" lang="fr-FR" sz="1600" b="1" i="0" u="none" strike="noStrike" cap="none" normalizeH="0" baseline="0" dirty="0" smtClean="0">
                <a:ln>
                  <a:noFill/>
                </a:ln>
                <a:solidFill>
                  <a:srgbClr val="FF0000"/>
                </a:solidFill>
                <a:effectLst/>
                <a:latin typeface="+mn-lt"/>
                <a:cs typeface="Courier New" panose="02070309020205020404" pitchFamily="49" charset="0"/>
              </a:rPr>
              <a:t>id</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 </a:t>
            </a:r>
            <a:r>
              <a:rPr kumimoji="0" lang="fr-FR" sz="1600" b="0" i="0" u="none" strike="noStrike" cap="none" normalizeH="0" baseline="0" dirty="0" smtClean="0">
                <a:ln>
                  <a:noFill/>
                </a:ln>
                <a:solidFill>
                  <a:schemeClr val="tx1"/>
                </a:solidFill>
                <a:effectLst/>
                <a:latin typeface="+mn-lt"/>
              </a:rPr>
              <a:t>à une balise qui va alors servir de repère. Ce peut être n'importe quelle balise, un titre par exemple.</a:t>
            </a:r>
            <a:br>
              <a:rPr kumimoji="0" lang="fr-FR" sz="1600" b="0" i="0" u="none" strike="noStrike" cap="none" normalizeH="0" baseline="0" dirty="0" smtClean="0">
                <a:ln>
                  <a:noFill/>
                </a:ln>
                <a:solidFill>
                  <a:schemeClr val="tx1"/>
                </a:solidFill>
                <a:effectLst/>
                <a:latin typeface="+mn-lt"/>
              </a:rPr>
            </a:br>
            <a:r>
              <a:rPr kumimoji="0" lang="fr-FR" sz="1600" b="0" i="0" u="none" strike="noStrike" cap="none" normalizeH="0" baseline="0" dirty="0" smtClean="0">
                <a:ln>
                  <a:noFill/>
                </a:ln>
                <a:solidFill>
                  <a:schemeClr val="tx1"/>
                </a:solidFill>
                <a:effectLst/>
                <a:latin typeface="+mn-lt"/>
              </a:rPr>
              <a:t>Utilisez l'attribut </a:t>
            </a:r>
            <a:r>
              <a:rPr kumimoji="0" lang="fr-FR" sz="1600" b="1" i="0" u="none" strike="noStrike" cap="none" normalizeH="0" baseline="0" dirty="0" smtClean="0">
                <a:ln>
                  <a:noFill/>
                </a:ln>
                <a:solidFill>
                  <a:srgbClr val="FF0000"/>
                </a:solidFill>
                <a:effectLst/>
                <a:latin typeface="+mn-lt"/>
                <a:cs typeface="Courier New" panose="02070309020205020404" pitchFamily="49" charset="0"/>
              </a:rPr>
              <a:t>id</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 </a:t>
            </a:r>
            <a:r>
              <a:rPr kumimoji="0" lang="fr-FR" sz="1600" b="0" i="0" u="none" strike="noStrike" cap="none" normalizeH="0" baseline="0" dirty="0" smtClean="0">
                <a:ln>
                  <a:noFill/>
                </a:ln>
                <a:solidFill>
                  <a:schemeClr val="tx1"/>
                </a:solidFill>
                <a:effectLst/>
                <a:latin typeface="+mn-lt"/>
              </a:rPr>
              <a:t>pour donner un nom à l'ancre. Cela nous servira ensuite pour faire un lien vers cette ancre. Par exemple :</a:t>
            </a:r>
          </a:p>
        </p:txBody>
      </p:sp>
      <p:sp>
        <p:nvSpPr>
          <p:cNvPr id="7" name="Rectangle 6"/>
          <p:cNvSpPr/>
          <p:nvPr/>
        </p:nvSpPr>
        <p:spPr>
          <a:xfrm>
            <a:off x="138286" y="5171194"/>
            <a:ext cx="2896370" cy="338554"/>
          </a:xfrm>
          <a:prstGeom prst="rect">
            <a:avLst/>
          </a:prstGeom>
        </p:spPr>
        <p:txBody>
          <a:bodyPr wrap="none">
            <a:spAutoFit/>
          </a:bodyPr>
          <a:lstStyle/>
          <a:p>
            <a:r>
              <a:rPr lang="fr-FR" sz="1600" dirty="0">
                <a:solidFill>
                  <a:schemeClr val="tx2">
                    <a:lumMod val="60000"/>
                    <a:lumOff val="40000"/>
                  </a:schemeClr>
                </a:solidFill>
              </a:rPr>
              <a:t>&lt;h2 id="</a:t>
            </a:r>
            <a:r>
              <a:rPr lang="fr-FR" sz="1600" dirty="0" err="1">
                <a:solidFill>
                  <a:schemeClr val="tx2">
                    <a:lumMod val="60000"/>
                    <a:lumOff val="40000"/>
                  </a:schemeClr>
                </a:solidFill>
              </a:rPr>
              <a:t>mon_ancre</a:t>
            </a:r>
            <a:r>
              <a:rPr lang="fr-FR" sz="1600" dirty="0">
                <a:solidFill>
                  <a:schemeClr val="tx2">
                    <a:lumMod val="60000"/>
                    <a:lumOff val="40000"/>
                  </a:schemeClr>
                </a:solidFill>
              </a:rPr>
              <a:t>"&gt;Titre&lt;/h2&gt;</a:t>
            </a:r>
          </a:p>
        </p:txBody>
      </p:sp>
      <p:sp>
        <p:nvSpPr>
          <p:cNvPr id="8" name="Rectangle 2"/>
          <p:cNvSpPr>
            <a:spLocks noChangeArrowheads="1"/>
          </p:cNvSpPr>
          <p:nvPr/>
        </p:nvSpPr>
        <p:spPr bwMode="auto">
          <a:xfrm>
            <a:off x="107504" y="5517232"/>
            <a:ext cx="8784976"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Ensuite, il suffit de créer un lien comme d'habitude, mais cette fois l'attribut </a:t>
            </a:r>
            <a:r>
              <a:rPr kumimoji="0" lang="fr-FR" sz="1600" b="0" i="0" u="none" strike="noStrike" cap="none" normalizeH="0" baseline="0" dirty="0" err="1" smtClean="0">
                <a:ln>
                  <a:noFill/>
                </a:ln>
                <a:solidFill>
                  <a:schemeClr val="tx1"/>
                </a:solidFill>
                <a:effectLst/>
                <a:latin typeface="+mn-lt"/>
                <a:cs typeface="Courier New" panose="02070309020205020404" pitchFamily="49" charset="0"/>
              </a:rPr>
              <a:t>href</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 </a:t>
            </a:r>
            <a:r>
              <a:rPr kumimoji="0" lang="fr-FR" sz="1600" b="0" i="0" u="none" strike="noStrike" cap="none" normalizeH="0" baseline="0" dirty="0" smtClean="0">
                <a:ln>
                  <a:noFill/>
                </a:ln>
                <a:solidFill>
                  <a:schemeClr val="tx1"/>
                </a:solidFill>
                <a:effectLst/>
                <a:latin typeface="+mn-lt"/>
              </a:rPr>
              <a:t>contiendra un </a:t>
            </a:r>
            <a:r>
              <a:rPr kumimoji="0" lang="fr-FR" sz="1600" b="1" i="0" u="none" strike="noStrike" cap="none" normalizeH="0" baseline="0" dirty="0" smtClean="0">
                <a:ln>
                  <a:noFill/>
                </a:ln>
                <a:solidFill>
                  <a:schemeClr val="tx1"/>
                </a:solidFill>
                <a:effectLst/>
                <a:latin typeface="+mn-lt"/>
              </a:rPr>
              <a:t>dièse (#) </a:t>
            </a:r>
            <a:r>
              <a:rPr kumimoji="0" lang="fr-FR" sz="1600" b="0" i="0" u="none" strike="noStrike" cap="none" normalizeH="0" baseline="0" dirty="0" smtClean="0">
                <a:ln>
                  <a:noFill/>
                </a:ln>
                <a:solidFill>
                  <a:schemeClr val="tx1"/>
                </a:solidFill>
                <a:effectLst/>
                <a:latin typeface="+mn-lt"/>
              </a:rPr>
              <a:t>suivi du nom de l'ancre. Exemple : </a:t>
            </a:r>
          </a:p>
        </p:txBody>
      </p:sp>
      <p:sp>
        <p:nvSpPr>
          <p:cNvPr id="9" name="Rectangle 8"/>
          <p:cNvSpPr/>
          <p:nvPr/>
        </p:nvSpPr>
        <p:spPr>
          <a:xfrm>
            <a:off x="138286" y="6165304"/>
            <a:ext cx="3943837" cy="338554"/>
          </a:xfrm>
          <a:prstGeom prst="rect">
            <a:avLst/>
          </a:prstGeom>
        </p:spPr>
        <p:txBody>
          <a:bodyPr wrap="none">
            <a:spAutoFit/>
          </a:bodyPr>
          <a:lstStyle/>
          <a:p>
            <a:r>
              <a:rPr lang="fr-FR" sz="1600" dirty="0">
                <a:solidFill>
                  <a:schemeClr val="tx2">
                    <a:lumMod val="60000"/>
                    <a:lumOff val="40000"/>
                  </a:schemeClr>
                </a:solidFill>
              </a:rPr>
              <a:t>&lt;a </a:t>
            </a:r>
            <a:r>
              <a:rPr lang="fr-FR" sz="1600" dirty="0" err="1">
                <a:solidFill>
                  <a:schemeClr val="tx2">
                    <a:lumMod val="60000"/>
                    <a:lumOff val="40000"/>
                  </a:schemeClr>
                </a:solidFill>
              </a:rPr>
              <a:t>href</a:t>
            </a:r>
            <a:r>
              <a:rPr lang="fr-FR" sz="1600" dirty="0">
                <a:solidFill>
                  <a:schemeClr val="tx2">
                    <a:lumMod val="60000"/>
                    <a:lumOff val="40000"/>
                  </a:schemeClr>
                </a:solidFill>
              </a:rPr>
              <a:t>="#</a:t>
            </a:r>
            <a:r>
              <a:rPr lang="fr-FR" sz="1600" dirty="0" err="1">
                <a:solidFill>
                  <a:schemeClr val="tx2">
                    <a:lumMod val="60000"/>
                    <a:lumOff val="40000"/>
                  </a:schemeClr>
                </a:solidFill>
              </a:rPr>
              <a:t>mon_ancre</a:t>
            </a:r>
            <a:r>
              <a:rPr lang="fr-FR" sz="1600" dirty="0">
                <a:solidFill>
                  <a:schemeClr val="tx2">
                    <a:lumMod val="60000"/>
                    <a:lumOff val="40000"/>
                  </a:schemeClr>
                </a:solidFill>
              </a:rPr>
              <a:t>"&gt;Aller vers l'ancre&lt;/a&gt;</a:t>
            </a:r>
          </a:p>
        </p:txBody>
      </p:sp>
    </p:spTree>
    <p:extLst>
      <p:ext uri="{BB962C8B-B14F-4D97-AF65-F5344CB8AC3E}">
        <p14:creationId xmlns:p14="http://schemas.microsoft.com/office/powerpoint/2010/main" xmlns="" val="11441389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504" y="116632"/>
            <a:ext cx="4164923" cy="338554"/>
          </a:xfrm>
          <a:prstGeom prst="rect">
            <a:avLst/>
          </a:prstGeom>
        </p:spPr>
        <p:txBody>
          <a:bodyPr wrap="none">
            <a:spAutoFit/>
          </a:bodyPr>
          <a:lstStyle/>
          <a:p>
            <a:r>
              <a:rPr lang="fr-FR" sz="1600" b="1" dirty="0"/>
              <a:t>Lien vers une ancre située dans une autre page</a:t>
            </a:r>
          </a:p>
        </p:txBody>
      </p:sp>
      <p:sp>
        <p:nvSpPr>
          <p:cNvPr id="5" name="Rectangle 1"/>
          <p:cNvSpPr>
            <a:spLocks noChangeArrowheads="1"/>
          </p:cNvSpPr>
          <p:nvPr/>
        </p:nvSpPr>
        <p:spPr bwMode="auto">
          <a:xfrm>
            <a:off x="107504" y="455186"/>
            <a:ext cx="8928992" cy="10772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L'idée, c'est de faire un lien qui ouvre une autre page ET qui amène directement à une ancre située plus bas sur cette page.</a:t>
            </a:r>
            <a:br>
              <a:rPr kumimoji="0" lang="fr-FR" sz="1600" b="0" i="0" u="none" strike="noStrike" cap="none" normalizeH="0" baseline="0" dirty="0" smtClean="0">
                <a:ln>
                  <a:noFill/>
                </a:ln>
                <a:solidFill>
                  <a:schemeClr val="tx1"/>
                </a:solidFill>
                <a:effectLst/>
                <a:latin typeface="+mn-lt"/>
              </a:rPr>
            </a:br>
            <a:r>
              <a:rPr kumimoji="0" lang="fr-FR" sz="1600" b="0" i="0" u="none" strike="noStrike" cap="none" normalizeH="0" baseline="0" dirty="0" smtClean="0">
                <a:ln>
                  <a:noFill/>
                </a:ln>
                <a:solidFill>
                  <a:schemeClr val="tx1"/>
                </a:solidFill>
                <a:effectLst/>
                <a:latin typeface="+mn-lt"/>
              </a:rPr>
              <a:t>En pratique c'est assez simple à faire : il suffit de taper le nom de la page, suivi d'un dièse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a:t>
            </a:r>
            <a:r>
              <a:rPr kumimoji="0" lang="fr-FR" sz="1600" b="0" i="0" u="none" strike="noStrike" cap="none" normalizeH="0" baseline="0" dirty="0" smtClean="0">
                <a:ln>
                  <a:noFill/>
                </a:ln>
                <a:solidFill>
                  <a:schemeClr val="tx1"/>
                </a:solidFill>
                <a:effectLst/>
                <a:latin typeface="+mn-lt"/>
              </a:rPr>
              <a:t>), suivi du nom de l'ancre. </a:t>
            </a:r>
          </a:p>
        </p:txBody>
      </p:sp>
      <p:sp>
        <p:nvSpPr>
          <p:cNvPr id="6" name="Rectangle 2"/>
          <p:cNvSpPr>
            <a:spLocks noChangeArrowheads="1"/>
          </p:cNvSpPr>
          <p:nvPr/>
        </p:nvSpPr>
        <p:spPr bwMode="auto">
          <a:xfrm>
            <a:off x="107504" y="1626398"/>
            <a:ext cx="8712968"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rPr>
              <a:t>Par exemple </a:t>
            </a:r>
            <a:r>
              <a:rPr kumimoji="0" lang="fr-FR" sz="1600" b="0" i="0" u="none" strike="noStrike" cap="none" normalizeH="0" baseline="0" dirty="0" smtClean="0">
                <a:ln>
                  <a:noFill/>
                </a:ln>
                <a:effectLst/>
              </a:rPr>
              <a:t>: </a:t>
            </a:r>
            <a:r>
              <a:rPr kumimoji="0" lang="fr-FR" sz="1600" b="0" i="0" u="none" strike="noStrike" cap="none" normalizeH="0" baseline="0" dirty="0" smtClean="0">
                <a:ln>
                  <a:noFill/>
                </a:ln>
                <a:solidFill>
                  <a:schemeClr val="tx2">
                    <a:lumMod val="60000"/>
                    <a:lumOff val="40000"/>
                  </a:schemeClr>
                </a:solidFill>
                <a:effectLst/>
                <a:cs typeface="Courier New" panose="02070309020205020404" pitchFamily="49" charset="0"/>
              </a:rPr>
              <a:t>&lt;a </a:t>
            </a:r>
            <a:r>
              <a:rPr kumimoji="0" lang="fr-FR" sz="1600" b="0" i="0" u="none" strike="noStrike" cap="none" normalizeH="0" baseline="0" dirty="0" err="1" smtClean="0">
                <a:ln>
                  <a:noFill/>
                </a:ln>
                <a:solidFill>
                  <a:schemeClr val="tx2">
                    <a:lumMod val="60000"/>
                    <a:lumOff val="40000"/>
                  </a:schemeClr>
                </a:solidFill>
                <a:effectLst/>
                <a:cs typeface="Courier New" panose="02070309020205020404" pitchFamily="49" charset="0"/>
              </a:rPr>
              <a:t>href</a:t>
            </a:r>
            <a:r>
              <a:rPr kumimoji="0" lang="fr-FR" sz="1600" b="0" i="0" u="none" strike="noStrike" cap="none" normalizeH="0" baseline="0" dirty="0" smtClean="0">
                <a:ln>
                  <a:noFill/>
                </a:ln>
                <a:solidFill>
                  <a:schemeClr val="tx2">
                    <a:lumMod val="60000"/>
                    <a:lumOff val="40000"/>
                  </a:schemeClr>
                </a:solidFill>
                <a:effectLst/>
                <a:cs typeface="Courier New" panose="02070309020205020404" pitchFamily="49" charset="0"/>
              </a:rPr>
              <a:t>="</a:t>
            </a:r>
            <a:r>
              <a:rPr kumimoji="0" lang="fr-FR" sz="1600" b="0" i="0" u="none" strike="noStrike" cap="none" normalizeH="0" baseline="0" dirty="0" err="1" smtClean="0">
                <a:ln>
                  <a:noFill/>
                </a:ln>
                <a:solidFill>
                  <a:schemeClr val="tx2">
                    <a:lumMod val="60000"/>
                    <a:lumOff val="40000"/>
                  </a:schemeClr>
                </a:solidFill>
                <a:effectLst/>
                <a:cs typeface="Courier New" panose="02070309020205020404" pitchFamily="49" charset="0"/>
              </a:rPr>
              <a:t>ancres.html#rollers</a:t>
            </a:r>
            <a:r>
              <a:rPr kumimoji="0" lang="fr-FR" sz="1600" b="0" i="0" u="none" strike="noStrike" cap="none" normalizeH="0" baseline="0" dirty="0" smtClean="0">
                <a:ln>
                  <a:noFill/>
                </a:ln>
                <a:solidFill>
                  <a:schemeClr val="tx2">
                    <a:lumMod val="60000"/>
                    <a:lumOff val="40000"/>
                  </a:schemeClr>
                </a:solidFill>
                <a:effectLst/>
                <a:cs typeface="Courier New" panose="02070309020205020404" pitchFamily="49" charset="0"/>
              </a:rPr>
              <a:t>"&gt;</a:t>
            </a:r>
            <a:r>
              <a:rPr kumimoji="0" lang="fr-FR" sz="1600" b="0" i="0" u="none" strike="noStrike" cap="none" normalizeH="0" baseline="0" dirty="0" smtClean="0">
                <a:ln>
                  <a:noFill/>
                </a:ln>
                <a:solidFill>
                  <a:schemeClr val="tx2">
                    <a:lumMod val="60000"/>
                    <a:lumOff val="40000"/>
                  </a:schemeClr>
                </a:solidFill>
                <a:effectLst/>
              </a:rPr>
              <a:t> </a:t>
            </a:r>
          </a:p>
        </p:txBody>
      </p:sp>
      <p:sp>
        <p:nvSpPr>
          <p:cNvPr id="7" name="Rectangle 6"/>
          <p:cNvSpPr/>
          <p:nvPr/>
        </p:nvSpPr>
        <p:spPr>
          <a:xfrm>
            <a:off x="113232" y="2087157"/>
            <a:ext cx="8779247" cy="1815882"/>
          </a:xfrm>
          <a:prstGeom prst="rect">
            <a:avLst/>
          </a:prstGeom>
        </p:spPr>
        <p:txBody>
          <a:bodyPr wrap="square">
            <a:spAutoFit/>
          </a:bodyPr>
          <a:lstStyle/>
          <a:p>
            <a:r>
              <a:rPr lang="fr-FR" sz="1600" dirty="0">
                <a:solidFill>
                  <a:schemeClr val="tx2">
                    <a:lumMod val="60000"/>
                    <a:lumOff val="40000"/>
                  </a:schemeClr>
                </a:solidFill>
              </a:rPr>
              <a:t>&lt;</a:t>
            </a:r>
            <a:r>
              <a:rPr lang="fr-FR" sz="1600" dirty="0" smtClean="0">
                <a:solidFill>
                  <a:schemeClr val="tx2">
                    <a:lumMod val="60000"/>
                    <a:lumOff val="40000"/>
                  </a:schemeClr>
                </a:solidFill>
              </a:rPr>
              <a:t>h1&gt;Les plats de chez nous&lt;/</a:t>
            </a:r>
            <a:r>
              <a:rPr lang="fr-FR" sz="1600" dirty="0">
                <a:solidFill>
                  <a:schemeClr val="tx2">
                    <a:lumMod val="60000"/>
                    <a:lumOff val="40000"/>
                  </a:schemeClr>
                </a:solidFill>
              </a:rPr>
              <a:t>h1&gt;</a:t>
            </a:r>
          </a:p>
          <a:p>
            <a:r>
              <a:rPr lang="fr-FR" sz="1600" dirty="0">
                <a:solidFill>
                  <a:schemeClr val="tx2">
                    <a:lumMod val="60000"/>
                    <a:lumOff val="40000"/>
                  </a:schemeClr>
                </a:solidFill>
              </a:rPr>
              <a:t>&lt;p&gt;</a:t>
            </a:r>
          </a:p>
          <a:p>
            <a:r>
              <a:rPr lang="fr-FR" sz="1600" dirty="0">
                <a:solidFill>
                  <a:schemeClr val="tx2">
                    <a:lumMod val="60000"/>
                    <a:lumOff val="40000"/>
                  </a:schemeClr>
                </a:solidFill>
              </a:rPr>
              <a:t>    Rendez-vous quelque part sur une autre page :&lt;</a:t>
            </a:r>
            <a:r>
              <a:rPr lang="fr-FR" sz="1600" dirty="0" err="1">
                <a:solidFill>
                  <a:schemeClr val="tx2">
                    <a:lumMod val="60000"/>
                    <a:lumOff val="40000"/>
                  </a:schemeClr>
                </a:solidFill>
              </a:rPr>
              <a:t>br</a:t>
            </a:r>
            <a:r>
              <a:rPr lang="fr-FR" sz="1600" dirty="0">
                <a:solidFill>
                  <a:schemeClr val="tx2">
                    <a:lumMod val="60000"/>
                    <a:lumOff val="40000"/>
                  </a:schemeClr>
                </a:solidFill>
              </a:rPr>
              <a:t> /&gt;</a:t>
            </a:r>
          </a:p>
          <a:p>
            <a:r>
              <a:rPr lang="fr-FR" sz="1600" dirty="0">
                <a:solidFill>
                  <a:schemeClr val="tx2">
                    <a:lumMod val="60000"/>
                    <a:lumOff val="40000"/>
                  </a:schemeClr>
                </a:solidFill>
              </a:rPr>
              <a:t>    &lt;a </a:t>
            </a:r>
            <a:r>
              <a:rPr lang="fr-FR" sz="1600" dirty="0" err="1">
                <a:solidFill>
                  <a:schemeClr val="tx2">
                    <a:lumMod val="60000"/>
                    <a:lumOff val="40000"/>
                  </a:schemeClr>
                </a:solidFill>
              </a:rPr>
              <a:t>href</a:t>
            </a:r>
            <a:r>
              <a:rPr lang="fr-FR" sz="1600" dirty="0">
                <a:solidFill>
                  <a:schemeClr val="tx2">
                    <a:lumMod val="60000"/>
                    <a:lumOff val="40000"/>
                  </a:schemeClr>
                </a:solidFill>
              </a:rPr>
              <a:t>="</a:t>
            </a:r>
            <a:r>
              <a:rPr lang="fr-FR" sz="1600" dirty="0" err="1" smtClean="0">
                <a:solidFill>
                  <a:schemeClr val="tx2">
                    <a:lumMod val="60000"/>
                    <a:lumOff val="40000"/>
                  </a:schemeClr>
                </a:solidFill>
              </a:rPr>
              <a:t>ancres.html#attieke</a:t>
            </a:r>
            <a:r>
              <a:rPr lang="fr-FR" sz="1600" dirty="0" smtClean="0">
                <a:solidFill>
                  <a:schemeClr val="tx2">
                    <a:lumMod val="60000"/>
                    <a:lumOff val="40000"/>
                  </a:schemeClr>
                </a:solidFill>
              </a:rPr>
              <a:t>"&gt;L’</a:t>
            </a:r>
            <a:r>
              <a:rPr lang="fr-FR" sz="1600" dirty="0" err="1" smtClean="0">
                <a:solidFill>
                  <a:schemeClr val="tx2">
                    <a:lumMod val="60000"/>
                    <a:lumOff val="40000"/>
                  </a:schemeClr>
                </a:solidFill>
              </a:rPr>
              <a:t>Attiéké</a:t>
            </a:r>
            <a:r>
              <a:rPr lang="fr-FR" sz="1600" dirty="0" smtClean="0">
                <a:solidFill>
                  <a:schemeClr val="tx2">
                    <a:lumMod val="60000"/>
                    <a:lumOff val="40000"/>
                  </a:schemeClr>
                </a:solidFill>
              </a:rPr>
              <a:t>&lt;/</a:t>
            </a:r>
            <a:r>
              <a:rPr lang="fr-FR" sz="1600" dirty="0">
                <a:solidFill>
                  <a:schemeClr val="tx2">
                    <a:lumMod val="60000"/>
                    <a:lumOff val="40000"/>
                  </a:schemeClr>
                </a:solidFill>
              </a:rPr>
              <a:t>a&gt;&lt;</a:t>
            </a:r>
            <a:r>
              <a:rPr lang="fr-FR" sz="1600" dirty="0" err="1">
                <a:solidFill>
                  <a:schemeClr val="tx2">
                    <a:lumMod val="60000"/>
                    <a:lumOff val="40000"/>
                  </a:schemeClr>
                </a:solidFill>
              </a:rPr>
              <a:t>br</a:t>
            </a:r>
            <a:r>
              <a:rPr lang="fr-FR" sz="1600" dirty="0">
                <a:solidFill>
                  <a:schemeClr val="tx2">
                    <a:lumMod val="60000"/>
                    <a:lumOff val="40000"/>
                  </a:schemeClr>
                </a:solidFill>
              </a:rPr>
              <a:t> /&gt;</a:t>
            </a:r>
          </a:p>
          <a:p>
            <a:r>
              <a:rPr lang="fr-FR" sz="1600" dirty="0">
                <a:solidFill>
                  <a:schemeClr val="tx2">
                    <a:lumMod val="60000"/>
                    <a:lumOff val="40000"/>
                  </a:schemeClr>
                </a:solidFill>
              </a:rPr>
              <a:t>    &lt;a </a:t>
            </a:r>
            <a:r>
              <a:rPr lang="fr-FR" sz="1600" dirty="0" err="1">
                <a:solidFill>
                  <a:schemeClr val="tx2">
                    <a:lumMod val="60000"/>
                    <a:lumOff val="40000"/>
                  </a:schemeClr>
                </a:solidFill>
              </a:rPr>
              <a:t>href</a:t>
            </a:r>
            <a:r>
              <a:rPr lang="fr-FR" sz="1600" dirty="0">
                <a:solidFill>
                  <a:schemeClr val="tx2">
                    <a:lumMod val="60000"/>
                    <a:lumOff val="40000"/>
                  </a:schemeClr>
                </a:solidFill>
              </a:rPr>
              <a:t>="</a:t>
            </a:r>
            <a:r>
              <a:rPr lang="fr-FR" sz="1600" dirty="0" err="1" smtClean="0">
                <a:solidFill>
                  <a:schemeClr val="tx2">
                    <a:lumMod val="60000"/>
                    <a:lumOff val="40000"/>
                  </a:schemeClr>
                </a:solidFill>
              </a:rPr>
              <a:t>ancres.html#placali</a:t>
            </a:r>
            <a:r>
              <a:rPr lang="fr-FR" sz="1600" dirty="0" smtClean="0">
                <a:solidFill>
                  <a:schemeClr val="tx2">
                    <a:lumMod val="60000"/>
                    <a:lumOff val="40000"/>
                  </a:schemeClr>
                </a:solidFill>
              </a:rPr>
              <a:t> "&gt;Le </a:t>
            </a:r>
            <a:r>
              <a:rPr lang="fr-FR" sz="1600" dirty="0" err="1" smtClean="0">
                <a:solidFill>
                  <a:schemeClr val="tx2">
                    <a:lumMod val="60000"/>
                    <a:lumOff val="40000"/>
                  </a:schemeClr>
                </a:solidFill>
              </a:rPr>
              <a:t>placali</a:t>
            </a:r>
            <a:r>
              <a:rPr lang="fr-FR" sz="1600" dirty="0" smtClean="0">
                <a:solidFill>
                  <a:schemeClr val="tx2">
                    <a:lumMod val="60000"/>
                    <a:lumOff val="40000"/>
                  </a:schemeClr>
                </a:solidFill>
              </a:rPr>
              <a:t>&lt;/</a:t>
            </a:r>
            <a:r>
              <a:rPr lang="fr-FR" sz="1600" dirty="0">
                <a:solidFill>
                  <a:schemeClr val="tx2">
                    <a:lumMod val="60000"/>
                    <a:lumOff val="40000"/>
                  </a:schemeClr>
                </a:solidFill>
              </a:rPr>
              <a:t>a&gt;&lt;</a:t>
            </a:r>
            <a:r>
              <a:rPr lang="fr-FR" sz="1600" dirty="0" err="1">
                <a:solidFill>
                  <a:schemeClr val="tx2">
                    <a:lumMod val="60000"/>
                    <a:lumOff val="40000"/>
                  </a:schemeClr>
                </a:solidFill>
              </a:rPr>
              <a:t>br</a:t>
            </a:r>
            <a:r>
              <a:rPr lang="fr-FR" sz="1600" dirty="0">
                <a:solidFill>
                  <a:schemeClr val="tx2">
                    <a:lumMod val="60000"/>
                    <a:lumOff val="40000"/>
                  </a:schemeClr>
                </a:solidFill>
              </a:rPr>
              <a:t> /&gt;</a:t>
            </a:r>
          </a:p>
          <a:p>
            <a:r>
              <a:rPr lang="fr-FR" sz="1600" dirty="0">
                <a:solidFill>
                  <a:schemeClr val="tx2">
                    <a:lumMod val="60000"/>
                    <a:lumOff val="40000"/>
                  </a:schemeClr>
                </a:solidFill>
              </a:rPr>
              <a:t>    &lt;a </a:t>
            </a:r>
            <a:r>
              <a:rPr lang="fr-FR" sz="1600" dirty="0" err="1">
                <a:solidFill>
                  <a:schemeClr val="tx2">
                    <a:lumMod val="60000"/>
                    <a:lumOff val="40000"/>
                  </a:schemeClr>
                </a:solidFill>
              </a:rPr>
              <a:t>href</a:t>
            </a:r>
            <a:r>
              <a:rPr lang="fr-FR" sz="1600" dirty="0">
                <a:solidFill>
                  <a:schemeClr val="tx2">
                    <a:lumMod val="60000"/>
                    <a:lumOff val="40000"/>
                  </a:schemeClr>
                </a:solidFill>
              </a:rPr>
              <a:t>="</a:t>
            </a:r>
            <a:r>
              <a:rPr lang="fr-FR" sz="1600" dirty="0" err="1" smtClean="0">
                <a:solidFill>
                  <a:schemeClr val="tx2">
                    <a:lumMod val="60000"/>
                    <a:lumOff val="40000"/>
                  </a:schemeClr>
                </a:solidFill>
              </a:rPr>
              <a:t>ancres.html#foutou</a:t>
            </a:r>
            <a:r>
              <a:rPr lang="fr-FR" sz="1600" dirty="0" smtClean="0">
                <a:solidFill>
                  <a:schemeClr val="tx2">
                    <a:lumMod val="60000"/>
                    <a:lumOff val="40000"/>
                  </a:schemeClr>
                </a:solidFill>
              </a:rPr>
              <a:t> "&gt;Le foutou&lt;/</a:t>
            </a:r>
            <a:r>
              <a:rPr lang="fr-FR" sz="1600" dirty="0">
                <a:solidFill>
                  <a:schemeClr val="tx2">
                    <a:lumMod val="60000"/>
                    <a:lumOff val="40000"/>
                  </a:schemeClr>
                </a:solidFill>
              </a:rPr>
              <a:t>a&gt;&lt;</a:t>
            </a:r>
            <a:r>
              <a:rPr lang="fr-FR" sz="1600" dirty="0" err="1">
                <a:solidFill>
                  <a:schemeClr val="tx2">
                    <a:lumMod val="60000"/>
                    <a:lumOff val="40000"/>
                  </a:schemeClr>
                </a:solidFill>
              </a:rPr>
              <a:t>br</a:t>
            </a:r>
            <a:r>
              <a:rPr lang="fr-FR" sz="1600" dirty="0">
                <a:solidFill>
                  <a:schemeClr val="tx2">
                    <a:lumMod val="60000"/>
                    <a:lumOff val="40000"/>
                  </a:schemeClr>
                </a:solidFill>
              </a:rPr>
              <a:t> /&gt;</a:t>
            </a:r>
          </a:p>
          <a:p>
            <a:r>
              <a:rPr lang="fr-FR" sz="1600" dirty="0">
                <a:solidFill>
                  <a:schemeClr val="tx2">
                    <a:lumMod val="60000"/>
                    <a:lumOff val="40000"/>
                  </a:schemeClr>
                </a:solidFill>
              </a:rPr>
              <a:t>&lt;/p&gt;</a:t>
            </a:r>
          </a:p>
        </p:txBody>
      </p:sp>
    </p:spTree>
    <p:extLst>
      <p:ext uri="{BB962C8B-B14F-4D97-AF65-F5344CB8AC3E}">
        <p14:creationId xmlns:p14="http://schemas.microsoft.com/office/powerpoint/2010/main" xmlns="" val="2549361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7544" y="142852"/>
            <a:ext cx="3149965" cy="338554"/>
          </a:xfrm>
          <a:prstGeom prst="rect">
            <a:avLst/>
          </a:prstGeom>
        </p:spPr>
        <p:txBody>
          <a:bodyPr wrap="none">
            <a:spAutoFit/>
          </a:bodyPr>
          <a:lstStyle/>
          <a:p>
            <a:r>
              <a:rPr lang="fr-FR" sz="1600" b="1" u="sng" dirty="0" smtClean="0"/>
              <a:t>Quelques cas d’utilisation des liens</a:t>
            </a:r>
            <a:endParaRPr lang="fr-FR" sz="1600" b="1" i="0" u="sng" dirty="0">
              <a:effectLst/>
            </a:endParaRPr>
          </a:p>
        </p:txBody>
      </p:sp>
      <p:graphicFrame>
        <p:nvGraphicFramePr>
          <p:cNvPr id="6" name="Table 5"/>
          <p:cNvGraphicFramePr>
            <a:graphicFrameLocks noGrp="1"/>
          </p:cNvGraphicFramePr>
          <p:nvPr/>
        </p:nvGraphicFramePr>
        <p:xfrm>
          <a:off x="214282" y="802632"/>
          <a:ext cx="8715438" cy="3593553"/>
        </p:xfrm>
        <a:graphic>
          <a:graphicData uri="http://schemas.openxmlformats.org/drawingml/2006/table">
            <a:tbl>
              <a:tblPr firstRow="1" bandRow="1">
                <a:tableStyleId>{5C22544A-7EE6-4342-B048-85BDC9FD1C3A}</a:tableStyleId>
              </a:tblPr>
              <a:tblGrid>
                <a:gridCol w="2500330"/>
                <a:gridCol w="1714512"/>
                <a:gridCol w="4500596"/>
              </a:tblGrid>
              <a:tr h="710171">
                <a:tc>
                  <a:txBody>
                    <a:bodyPr/>
                    <a:lstStyle/>
                    <a:p>
                      <a:pPr algn="ctr"/>
                      <a:r>
                        <a:rPr lang="fr-FR" dirty="0" smtClean="0"/>
                        <a:t>DESCRIPTION</a:t>
                      </a:r>
                      <a:endParaRPr lang="fr-FR" dirty="0"/>
                    </a:p>
                  </a:txBody>
                  <a:tcPr/>
                </a:tc>
                <a:tc>
                  <a:txBody>
                    <a:bodyPr/>
                    <a:lstStyle/>
                    <a:p>
                      <a:pPr algn="ctr"/>
                      <a:r>
                        <a:rPr lang="fr-FR" dirty="0" smtClean="0"/>
                        <a:t>INSTRUCTION / ATTRIBUT</a:t>
                      </a:r>
                      <a:endParaRPr lang="fr-FR" dirty="0"/>
                    </a:p>
                  </a:txBody>
                  <a:tcPr/>
                </a:tc>
                <a:tc>
                  <a:txBody>
                    <a:bodyPr/>
                    <a:lstStyle/>
                    <a:p>
                      <a:pPr algn="ctr"/>
                      <a:r>
                        <a:rPr lang="fr-FR" dirty="0" smtClean="0"/>
                        <a:t>EXEMPLE</a:t>
                      </a:r>
                      <a:endParaRPr lang="fr-FR" dirty="0"/>
                    </a:p>
                  </a:txBody>
                  <a:tcPr/>
                </a:tc>
              </a:tr>
              <a:tr h="7101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i="0" kern="1200" dirty="0" smtClean="0">
                          <a:solidFill>
                            <a:schemeClr val="dk1"/>
                          </a:solidFill>
                          <a:latin typeface="+mn-lt"/>
                          <a:ea typeface="+mn-ea"/>
                          <a:cs typeface="+mn-cs"/>
                        </a:rPr>
                        <a:t>Un lien qui affiche une </a:t>
                      </a:r>
                      <a:r>
                        <a:rPr lang="fr-FR" sz="1800" b="1" i="0" kern="1200" dirty="0" err="1" smtClean="0">
                          <a:solidFill>
                            <a:schemeClr val="dk1"/>
                          </a:solidFill>
                          <a:latin typeface="+mn-lt"/>
                          <a:ea typeface="+mn-ea"/>
                          <a:cs typeface="+mn-cs"/>
                        </a:rPr>
                        <a:t>infobulle</a:t>
                      </a:r>
                      <a:r>
                        <a:rPr lang="fr-FR" sz="1800" b="1" i="0" kern="1200" dirty="0" smtClean="0">
                          <a:solidFill>
                            <a:schemeClr val="dk1"/>
                          </a:solidFill>
                          <a:latin typeface="+mn-lt"/>
                          <a:ea typeface="+mn-ea"/>
                          <a:cs typeface="+mn-cs"/>
                        </a:rPr>
                        <a:t> au survol</a:t>
                      </a:r>
                    </a:p>
                  </a:txBody>
                  <a:tcPr anchor="ctr"/>
                </a:tc>
                <a:tc>
                  <a:txBody>
                    <a:bodyPr/>
                    <a:lstStyle/>
                    <a:p>
                      <a:pPr algn="ctr"/>
                      <a:r>
                        <a:rPr lang="fr-FR" sz="1800" b="0" i="0" kern="1200" dirty="0" err="1" smtClean="0">
                          <a:solidFill>
                            <a:schemeClr val="dk1"/>
                          </a:solidFill>
                          <a:latin typeface="+mn-lt"/>
                          <a:ea typeface="+mn-ea"/>
                          <a:cs typeface="+mn-cs"/>
                        </a:rPr>
                        <a:t>title</a:t>
                      </a:r>
                      <a:endParaRPr lang="fr-FR" sz="1400" dirty="0"/>
                    </a:p>
                  </a:txBody>
                  <a:tcPr anchor="ctr"/>
                </a:tc>
                <a:tc>
                  <a:txBody>
                    <a:bodyPr/>
                    <a:lstStyle/>
                    <a:p>
                      <a:r>
                        <a:rPr lang="fr-FR" sz="1400" dirty="0" smtClean="0"/>
                        <a:t>&lt;p&gt;Bonjour. Souhaitez-vous visiter &lt;a </a:t>
                      </a:r>
                      <a:r>
                        <a:rPr lang="fr-FR" sz="1400" dirty="0" err="1" smtClean="0"/>
                        <a:t>href</a:t>
                      </a:r>
                      <a:r>
                        <a:rPr lang="fr-FR" sz="1400" dirty="0" smtClean="0"/>
                        <a:t>="https://www.miage.com" </a:t>
                      </a:r>
                      <a:r>
                        <a:rPr lang="fr-FR" sz="1400" dirty="0" err="1" smtClean="0"/>
                        <a:t>title</a:t>
                      </a:r>
                      <a:r>
                        <a:rPr lang="fr-FR" sz="1400" dirty="0" smtClean="0"/>
                        <a:t>="le Filière</a:t>
                      </a:r>
                      <a:r>
                        <a:rPr lang="fr-FR" sz="1400" baseline="0" dirty="0" smtClean="0"/>
                        <a:t> </a:t>
                      </a:r>
                      <a:r>
                        <a:rPr lang="fr-FR" sz="1400" dirty="0" smtClean="0"/>
                        <a:t>MIAGE!"&gt; Le site de </a:t>
                      </a:r>
                      <a:r>
                        <a:rPr lang="fr-FR" sz="1400" dirty="0" err="1" smtClean="0"/>
                        <a:t>Miage</a:t>
                      </a:r>
                      <a:r>
                        <a:rPr lang="fr-FR" sz="1400" dirty="0" smtClean="0"/>
                        <a:t>&lt;/a&gt; ?&lt;/p&gt;</a:t>
                      </a:r>
                      <a:endParaRPr lang="fr-FR" sz="1400" dirty="0"/>
                    </a:p>
                  </a:txBody>
                  <a:tcPr anchor="ctr"/>
                </a:tc>
              </a:tr>
              <a:tr h="7101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i="0" kern="1200" dirty="0" smtClean="0">
                          <a:solidFill>
                            <a:schemeClr val="dk1"/>
                          </a:solidFill>
                          <a:latin typeface="+mn-lt"/>
                          <a:ea typeface="+mn-ea"/>
                          <a:cs typeface="+mn-cs"/>
                        </a:rPr>
                        <a:t>Un lien qui ouvre une nouvelle fenêtre</a:t>
                      </a:r>
                    </a:p>
                  </a:txBody>
                  <a:tcPr anchor="ctr"/>
                </a:tc>
                <a:tc>
                  <a:txBody>
                    <a:bodyPr/>
                    <a:lstStyle/>
                    <a:p>
                      <a:pPr algn="ctr"/>
                      <a:r>
                        <a:rPr lang="fr-FR" sz="1800" b="0" i="0" kern="1200" dirty="0" err="1" smtClean="0">
                          <a:solidFill>
                            <a:schemeClr val="dk1"/>
                          </a:solidFill>
                          <a:latin typeface="+mn-lt"/>
                          <a:ea typeface="+mn-ea"/>
                          <a:cs typeface="+mn-cs"/>
                        </a:rPr>
                        <a:t>target</a:t>
                      </a:r>
                      <a:r>
                        <a:rPr lang="fr-FR" sz="1800" b="0" i="0" kern="1200" dirty="0" smtClean="0">
                          <a:solidFill>
                            <a:schemeClr val="dk1"/>
                          </a:solidFill>
                          <a:latin typeface="+mn-lt"/>
                          <a:ea typeface="+mn-ea"/>
                          <a:cs typeface="+mn-cs"/>
                        </a:rPr>
                        <a:t>="</a:t>
                      </a:r>
                      <a:r>
                        <a:rPr lang="fr-FR" sz="1800" b="0" i="0" kern="1200" dirty="0" err="1" smtClean="0">
                          <a:solidFill>
                            <a:schemeClr val="dk1"/>
                          </a:solidFill>
                          <a:latin typeface="+mn-lt"/>
                          <a:ea typeface="+mn-ea"/>
                          <a:cs typeface="+mn-cs"/>
                        </a:rPr>
                        <a:t>_blank</a:t>
                      </a:r>
                      <a:r>
                        <a:rPr lang="fr-FR" sz="1800" b="0" i="0" kern="1200" dirty="0" smtClean="0">
                          <a:solidFill>
                            <a:schemeClr val="dk1"/>
                          </a:solidFill>
                          <a:latin typeface="+mn-lt"/>
                          <a:ea typeface="+mn-ea"/>
                          <a:cs typeface="+mn-cs"/>
                        </a:rPr>
                        <a:t>"</a:t>
                      </a:r>
                      <a:endParaRPr lang="fr-FR" sz="1400"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&lt;p&gt;Bonjour. Souhaitez-vous visiter &lt;a </a:t>
                      </a:r>
                      <a:r>
                        <a:rPr lang="fr-FR" sz="1400" dirty="0" err="1" smtClean="0"/>
                        <a:t>href</a:t>
                      </a:r>
                      <a:r>
                        <a:rPr lang="fr-FR" sz="1400" dirty="0" smtClean="0"/>
                        <a:t>="https://www.miage.com" </a:t>
                      </a:r>
                      <a:r>
                        <a:rPr lang="fr-FR" sz="1400" dirty="0" err="1" smtClean="0"/>
                        <a:t>title</a:t>
                      </a:r>
                      <a:r>
                        <a:rPr lang="fr-FR" sz="1400" dirty="0" smtClean="0"/>
                        <a:t>="le Filière</a:t>
                      </a:r>
                      <a:r>
                        <a:rPr lang="fr-FR" sz="1400" baseline="0" dirty="0" smtClean="0"/>
                        <a:t> </a:t>
                      </a:r>
                      <a:r>
                        <a:rPr lang="fr-FR" sz="1400" dirty="0" smtClean="0"/>
                        <a:t>MIAGE!"  </a:t>
                      </a:r>
                      <a:r>
                        <a:rPr lang="fr-FR" sz="1400" dirty="0" err="1" smtClean="0"/>
                        <a:t>targe</a:t>
                      </a:r>
                      <a:r>
                        <a:rPr lang="fr-FR" sz="1400" baseline="0" dirty="0" err="1" smtClean="0"/>
                        <a:t>t</a:t>
                      </a:r>
                      <a:r>
                        <a:rPr lang="fr-FR" sz="1400" baseline="0" dirty="0" smtClean="0"/>
                        <a:t>=</a:t>
                      </a:r>
                      <a:r>
                        <a:rPr lang="fr-FR" sz="1400" b="0" i="0" kern="1200" dirty="0" smtClean="0">
                          <a:solidFill>
                            <a:schemeClr val="dk1"/>
                          </a:solidFill>
                          <a:latin typeface="+mn-lt"/>
                          <a:ea typeface="+mn-ea"/>
                          <a:cs typeface="+mn-cs"/>
                        </a:rPr>
                        <a:t>="</a:t>
                      </a:r>
                      <a:r>
                        <a:rPr lang="fr-FR" sz="1400" b="0" i="0" kern="1200" dirty="0" err="1" smtClean="0">
                          <a:solidFill>
                            <a:schemeClr val="dk1"/>
                          </a:solidFill>
                          <a:latin typeface="+mn-lt"/>
                          <a:ea typeface="+mn-ea"/>
                          <a:cs typeface="+mn-cs"/>
                        </a:rPr>
                        <a:t>_blank</a:t>
                      </a:r>
                      <a:r>
                        <a:rPr lang="fr-FR" sz="1400" b="0" i="0" kern="1200" dirty="0" smtClean="0">
                          <a:solidFill>
                            <a:schemeClr val="dk1"/>
                          </a:solidFill>
                          <a:latin typeface="+mn-lt"/>
                          <a:ea typeface="+mn-ea"/>
                          <a:cs typeface="+mn-cs"/>
                        </a:rPr>
                        <a:t>"</a:t>
                      </a:r>
                      <a:r>
                        <a:rPr lang="fr-FR" sz="1400" dirty="0" smtClean="0"/>
                        <a:t>&gt; Le site de </a:t>
                      </a:r>
                      <a:r>
                        <a:rPr lang="fr-FR" sz="1400" dirty="0" err="1" smtClean="0"/>
                        <a:t>Miage</a:t>
                      </a:r>
                      <a:r>
                        <a:rPr lang="fr-FR" sz="1400" dirty="0" smtClean="0"/>
                        <a:t>&lt;/a&gt; ?&lt;/p&gt;</a:t>
                      </a:r>
                    </a:p>
                  </a:txBody>
                  <a:tcPr anchor="ctr"/>
                </a:tc>
              </a:tr>
              <a:tr h="7101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i="0" kern="1200" dirty="0" smtClean="0">
                          <a:solidFill>
                            <a:schemeClr val="dk1"/>
                          </a:solidFill>
                          <a:latin typeface="+mn-lt"/>
                          <a:ea typeface="+mn-ea"/>
                          <a:cs typeface="+mn-cs"/>
                        </a:rPr>
                        <a:t>Un lien pour envoyer un e-mail</a:t>
                      </a:r>
                    </a:p>
                  </a:txBody>
                  <a:tcPr anchor="ctr"/>
                </a:tc>
                <a:tc>
                  <a:txBody>
                    <a:bodyPr/>
                    <a:lstStyle/>
                    <a:p>
                      <a:pPr algn="ctr"/>
                      <a:r>
                        <a:rPr lang="fr-FR" sz="1800" b="0" i="0" kern="1200" dirty="0" err="1" smtClean="0">
                          <a:solidFill>
                            <a:schemeClr val="dk1"/>
                          </a:solidFill>
                          <a:latin typeface="+mn-lt"/>
                          <a:ea typeface="+mn-ea"/>
                          <a:cs typeface="+mn-cs"/>
                        </a:rPr>
                        <a:t>mailto</a:t>
                      </a:r>
                      <a:endParaRPr lang="fr-FR" sz="1400" dirty="0"/>
                    </a:p>
                  </a:txBody>
                  <a:tcPr anchor="ctr"/>
                </a:tc>
                <a:tc>
                  <a:txBody>
                    <a:bodyPr/>
                    <a:lstStyle/>
                    <a:p>
                      <a:r>
                        <a:rPr lang="it-IT" sz="1400" dirty="0" smtClean="0"/>
                        <a:t>&lt;p&gt;&lt;a href="mailto:votrenom@yahoo.com"&gt;Envoyez-moi un e-mail !&lt;/a&gt;&lt;/p&gt;</a:t>
                      </a:r>
                      <a:endParaRPr lang="fr-FR" sz="1400" dirty="0"/>
                    </a:p>
                  </a:txBody>
                  <a:tcPr anchor="ctr"/>
                </a:tc>
              </a:tr>
              <a:tr h="7101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i="0" kern="1200" dirty="0" smtClean="0">
                          <a:solidFill>
                            <a:schemeClr val="dk1"/>
                          </a:solidFill>
                          <a:latin typeface="+mn-lt"/>
                          <a:ea typeface="+mn-ea"/>
                          <a:cs typeface="+mn-cs"/>
                        </a:rPr>
                        <a:t>Un lien pour télécharger un fichier</a:t>
                      </a:r>
                    </a:p>
                  </a:txBody>
                  <a:tcPr anchor="ctr"/>
                </a:tc>
                <a:tc>
                  <a:txBody>
                    <a:bodyPr/>
                    <a:lstStyle/>
                    <a:p>
                      <a:pPr algn="ctr"/>
                      <a:r>
                        <a:rPr lang="fr-FR" sz="1400" dirty="0" err="1" smtClean="0"/>
                        <a:t>href</a:t>
                      </a:r>
                      <a:endParaRPr lang="fr-FR" sz="1400" dirty="0"/>
                    </a:p>
                  </a:txBody>
                  <a:tcPr anchor="ctr"/>
                </a:tc>
                <a:tc>
                  <a:txBody>
                    <a:bodyPr/>
                    <a:lstStyle/>
                    <a:p>
                      <a:r>
                        <a:rPr lang="fr-FR" sz="1400" dirty="0" smtClean="0"/>
                        <a:t>&lt;p&gt;&lt;a </a:t>
                      </a:r>
                      <a:r>
                        <a:rPr lang="fr-FR" sz="1400" dirty="0" err="1" smtClean="0"/>
                        <a:t>href</a:t>
                      </a:r>
                      <a:r>
                        <a:rPr lang="fr-FR" sz="1400" dirty="0" smtClean="0"/>
                        <a:t>="monfichier.zip"&gt;Télécharger le fichier&lt;/a&gt;&lt;/p&gt;</a:t>
                      </a:r>
                      <a:endParaRPr lang="fr-FR" sz="1400" dirty="0"/>
                    </a:p>
                  </a:txBody>
                  <a:tcPr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7158" y="142852"/>
            <a:ext cx="2184893" cy="369332"/>
          </a:xfrm>
          <a:prstGeom prst="rect">
            <a:avLst/>
          </a:prstGeom>
        </p:spPr>
        <p:txBody>
          <a:bodyPr wrap="none">
            <a:spAutoFit/>
          </a:bodyPr>
          <a:lstStyle/>
          <a:p>
            <a:r>
              <a:rPr lang="fr-FR" b="1" dirty="0" smtClean="0"/>
              <a:t>d. </a:t>
            </a:r>
            <a:r>
              <a:rPr lang="fr-FR" b="1" u="sng" dirty="0" smtClean="0"/>
              <a:t>Insertion d’images</a:t>
            </a:r>
            <a:endParaRPr lang="fr-FR" b="1" u="sng" dirty="0"/>
          </a:p>
        </p:txBody>
      </p:sp>
      <p:sp>
        <p:nvSpPr>
          <p:cNvPr id="5" name="Rectangle 4"/>
          <p:cNvSpPr/>
          <p:nvPr/>
        </p:nvSpPr>
        <p:spPr>
          <a:xfrm>
            <a:off x="357158" y="642918"/>
            <a:ext cx="8501122" cy="338554"/>
          </a:xfrm>
          <a:prstGeom prst="rect">
            <a:avLst/>
          </a:prstGeom>
        </p:spPr>
        <p:txBody>
          <a:bodyPr wrap="square">
            <a:spAutoFit/>
          </a:bodyPr>
          <a:lstStyle/>
          <a:p>
            <a:r>
              <a:rPr lang="fr-FR" sz="1600" dirty="0" smtClean="0"/>
              <a:t>La balise qui va nous permettre d'insérer une image est la balise orpheline : </a:t>
            </a:r>
            <a:r>
              <a:rPr lang="fr-FR" sz="1600" b="1" dirty="0" smtClean="0">
                <a:solidFill>
                  <a:schemeClr val="tx2">
                    <a:lumMod val="60000"/>
                    <a:lumOff val="40000"/>
                  </a:schemeClr>
                </a:solidFill>
              </a:rPr>
              <a:t>&lt;</a:t>
            </a:r>
            <a:r>
              <a:rPr lang="fr-FR" sz="1600" b="1" dirty="0" err="1" smtClean="0">
                <a:solidFill>
                  <a:schemeClr val="tx2">
                    <a:lumMod val="60000"/>
                    <a:lumOff val="40000"/>
                  </a:schemeClr>
                </a:solidFill>
              </a:rPr>
              <a:t>img</a:t>
            </a:r>
            <a:r>
              <a:rPr lang="fr-FR" sz="1600" b="1" dirty="0" smtClean="0">
                <a:solidFill>
                  <a:schemeClr val="tx2">
                    <a:lumMod val="60000"/>
                    <a:lumOff val="40000"/>
                  </a:schemeClr>
                </a:solidFill>
              </a:rPr>
              <a:t> /&gt; </a:t>
            </a:r>
            <a:endParaRPr lang="fr-FR" sz="1600" b="1" dirty="0">
              <a:solidFill>
                <a:schemeClr val="tx2">
                  <a:lumMod val="60000"/>
                  <a:lumOff val="40000"/>
                </a:schemeClr>
              </a:solidFill>
            </a:endParaRPr>
          </a:p>
        </p:txBody>
      </p:sp>
      <p:sp>
        <p:nvSpPr>
          <p:cNvPr id="6" name="Rectangle 5"/>
          <p:cNvSpPr/>
          <p:nvPr/>
        </p:nvSpPr>
        <p:spPr>
          <a:xfrm>
            <a:off x="428596" y="1000108"/>
            <a:ext cx="8572560" cy="338554"/>
          </a:xfrm>
          <a:prstGeom prst="rect">
            <a:avLst/>
          </a:prstGeom>
        </p:spPr>
        <p:txBody>
          <a:bodyPr wrap="square">
            <a:spAutoFit/>
          </a:bodyPr>
          <a:lstStyle/>
          <a:p>
            <a:r>
              <a:rPr lang="fr-FR" sz="1600" dirty="0" smtClean="0"/>
              <a:t>La balise doit être accompagnée de deux attributs obligatoires :</a:t>
            </a:r>
          </a:p>
        </p:txBody>
      </p:sp>
      <p:sp>
        <p:nvSpPr>
          <p:cNvPr id="1025" name="Rectangle 1"/>
          <p:cNvSpPr>
            <a:spLocks noChangeArrowheads="1"/>
          </p:cNvSpPr>
          <p:nvPr/>
        </p:nvSpPr>
        <p:spPr bwMode="auto">
          <a:xfrm>
            <a:off x="428596" y="1414051"/>
            <a:ext cx="8501122" cy="304698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 typeface="Arial" pitchFamily="34" charset="0"/>
              <a:buChar char="•"/>
            </a:pPr>
            <a:r>
              <a:rPr lang="fr-FR" sz="1600" b="1" dirty="0" smtClean="0">
                <a:solidFill>
                  <a:schemeClr val="tx2">
                    <a:lumMod val="60000"/>
                    <a:lumOff val="40000"/>
                  </a:schemeClr>
                </a:solidFill>
                <a:cs typeface="Arial" pitchFamily="34" charset="0"/>
              </a:rPr>
              <a:t> </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src</a:t>
            </a:r>
            <a:r>
              <a:rPr kumimoji="0" lang="fr-FR" sz="1600" b="0" i="0" u="none" strike="noStrike" cap="none" normalizeH="0" baseline="0" dirty="0" smtClean="0">
                <a:ln>
                  <a:noFill/>
                </a:ln>
                <a:solidFill>
                  <a:srgbClr val="000000"/>
                </a:solidFill>
                <a:effectLst/>
                <a:cs typeface="Arial" pitchFamily="34" charset="0"/>
              </a:rPr>
              <a:t>  : il permet d'indiquer où se trouve l'image que l'on veut insérer. Vous pouvez soit mettre un chemin absolu (ex. :  </a:t>
            </a:r>
            <a:r>
              <a:rPr kumimoji="0" lang="fr-FR" sz="1600" b="0" i="0" u="none" strike="noStrike" cap="none" normalizeH="0" baseline="0" dirty="0" smtClean="0">
                <a:ln>
                  <a:noFill/>
                </a:ln>
                <a:solidFill>
                  <a:srgbClr val="000000"/>
                </a:solidFill>
                <a:effectLst/>
                <a:cs typeface="Courier New" pitchFamily="49" charset="0"/>
              </a:rPr>
              <a:t>http://www.site.com/fleur.png</a:t>
            </a:r>
            <a:r>
              <a:rPr kumimoji="0" lang="fr-FR" sz="1600" b="0" i="0" u="none" strike="noStrike" cap="none" normalizeH="0" baseline="0" dirty="0" smtClean="0">
                <a:ln>
                  <a:noFill/>
                </a:ln>
                <a:solidFill>
                  <a:srgbClr val="000000"/>
                </a:solidFill>
                <a:effectLst/>
                <a:cs typeface="Arial" pitchFamily="34" charset="0"/>
              </a:rPr>
              <a:t>), soit mettre le chemin en relatif (ce qu'on fait le plus souvent). Ainsi, si votre image est dans un sous-dossier  </a:t>
            </a:r>
            <a:r>
              <a:rPr kumimoji="0" lang="fr-FR" sz="1600" b="0" i="0" u="none" strike="noStrike" cap="none" normalizeH="0" baseline="0" dirty="0" smtClean="0">
                <a:ln>
                  <a:noFill/>
                </a:ln>
                <a:solidFill>
                  <a:srgbClr val="000000"/>
                </a:solidFill>
                <a:effectLst/>
                <a:cs typeface="Courier New" pitchFamily="49" charset="0"/>
              </a:rPr>
              <a:t>images</a:t>
            </a:r>
            <a:r>
              <a:rPr kumimoji="0" lang="fr-FR" sz="1600" b="0" i="0" u="none" strike="noStrike" cap="none" normalizeH="0" baseline="0" dirty="0" smtClean="0">
                <a:ln>
                  <a:noFill/>
                </a:ln>
                <a:solidFill>
                  <a:srgbClr val="000000"/>
                </a:solidFill>
                <a:effectLst/>
                <a:cs typeface="Arial" pitchFamily="34" charset="0"/>
              </a:rPr>
              <a:t>, vous devrez taper : </a:t>
            </a:r>
            <a:r>
              <a:rPr kumimoji="0" lang="fr-FR" sz="1600" b="1" i="0" u="none" strike="noStrike" cap="none" normalizeH="0" baseline="0" dirty="0" smtClean="0">
                <a:ln>
                  <a:noFill/>
                </a:ln>
                <a:solidFill>
                  <a:schemeClr val="tx2">
                    <a:lumMod val="60000"/>
                    <a:lumOff val="40000"/>
                  </a:schemeClr>
                </a:solidFill>
                <a:effectLst/>
                <a:cs typeface="Arial" pitchFamily="34" charset="0"/>
              </a:rPr>
              <a:t> </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src</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="images/fleur.png</a:t>
            </a:r>
            <a:r>
              <a:rPr lang="fr-FR" sz="1600" b="1" dirty="0" smtClean="0">
                <a:solidFill>
                  <a:schemeClr val="tx2">
                    <a:lumMod val="60000"/>
                    <a:lumOff val="40000"/>
                  </a:schemeClr>
                </a:solidFill>
                <a:cs typeface="Courier New" pitchFamily="49" charset="0"/>
              </a:rPr>
              <a:t>"</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fr-FR" sz="1600" b="1" i="0" u="none" strike="noStrike" cap="none" normalizeH="0" baseline="0" dirty="0" smtClean="0">
              <a:ln>
                <a:noFill/>
              </a:ln>
              <a:solidFill>
                <a:schemeClr val="tx2">
                  <a:lumMod val="60000"/>
                  <a:lumOff val="40000"/>
                </a:schemeClr>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 </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alt</a:t>
            </a:r>
            <a:r>
              <a:rPr kumimoji="0" lang="fr-FR" sz="1600" b="0" i="0" u="none" strike="noStrike" cap="none" normalizeH="0" baseline="0" dirty="0" smtClean="0">
                <a:ln>
                  <a:noFill/>
                </a:ln>
                <a:solidFill>
                  <a:srgbClr val="000000"/>
                </a:solidFill>
                <a:effectLst/>
                <a:cs typeface="Arial" pitchFamily="34" charset="0"/>
              </a:rPr>
              <a:t>  : cela signifie « texte alternatif ». On doit </a:t>
            </a:r>
            <a:r>
              <a:rPr kumimoji="0" lang="fr-FR" sz="1600" b="0" i="1" u="none" strike="noStrike" cap="none" normalizeH="0" baseline="0" dirty="0" smtClean="0">
                <a:ln>
                  <a:noFill/>
                </a:ln>
                <a:solidFill>
                  <a:srgbClr val="000000"/>
                </a:solidFill>
                <a:effectLst/>
                <a:cs typeface="Arial" pitchFamily="34" charset="0"/>
              </a:rPr>
              <a:t>toujours</a:t>
            </a:r>
            <a:r>
              <a:rPr kumimoji="0" lang="fr-FR" sz="1600" b="0" i="0" u="none" strike="noStrike" cap="none" normalizeH="0" baseline="0" dirty="0" smtClean="0">
                <a:ln>
                  <a:noFill/>
                </a:ln>
                <a:solidFill>
                  <a:srgbClr val="000000"/>
                </a:solidFill>
                <a:effectLst/>
                <a:cs typeface="Arial" pitchFamily="34" charset="0"/>
              </a:rPr>
              <a:t> indiquer un texte alternatif à l'image, c'est-à-dire un court texte qui décrit ce que contient l'image. Ce texte sera affiché à la place de l'image si celle-ci ne peut pas être téléchargée (cela arrive), ou dans les navigateurs de personnes handicapées (non-voyants) qui ne peuvent malheureusement pas « voir » l'image. Cela aide aussi les robots des moteurs de recherche pour les recherches d'images. Pour la fleur, on mettrait par exemple :  </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alt</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="Une fleur"</a:t>
            </a:r>
            <a:r>
              <a:rPr kumimoji="0" lang="fr-FR" sz="1600" b="0" i="0" u="none" strike="noStrike" cap="none" normalizeH="0" baseline="0" dirty="0" smtClean="0">
                <a:ln>
                  <a:noFill/>
                </a:ln>
                <a:solidFill>
                  <a:srgbClr val="000000"/>
                </a:solidFill>
                <a:effectLst/>
                <a:cs typeface="Courier New" pitchFamily="49" charset="0"/>
              </a:rPr>
              <a:t>.</a:t>
            </a: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p:txBody>
      </p:sp>
      <p:sp>
        <p:nvSpPr>
          <p:cNvPr id="1026" name="Rectangle 2"/>
          <p:cNvSpPr>
            <a:spLocks noChangeArrowheads="1"/>
          </p:cNvSpPr>
          <p:nvPr/>
        </p:nvSpPr>
        <p:spPr bwMode="auto">
          <a:xfrm>
            <a:off x="428596" y="4286256"/>
            <a:ext cx="8715404"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FF0000"/>
                </a:solidFill>
                <a:effectLst/>
                <a:cs typeface="Arial" pitchFamily="34" charset="0"/>
              </a:rPr>
              <a:t>Les images doivent se trouver obligatoirement à l'intérieur d'un paragraphe (</a:t>
            </a:r>
            <a:r>
              <a:rPr kumimoji="0" lang="fr-FR" sz="1600" b="0" i="0" u="none" strike="noStrike" cap="none" normalizeH="0" baseline="0" dirty="0" smtClean="0">
                <a:ln>
                  <a:noFill/>
                </a:ln>
                <a:solidFill>
                  <a:srgbClr val="FF0000"/>
                </a:solidFill>
                <a:effectLst/>
                <a:cs typeface="Courier New" pitchFamily="49" charset="0"/>
              </a:rPr>
              <a:t>&lt;p&gt;&lt;/p&gt;</a:t>
            </a:r>
            <a:r>
              <a:rPr kumimoji="0" lang="fr-FR" sz="1600" b="0" i="0" u="none" strike="noStrike" cap="none" normalizeH="0" baseline="0" dirty="0" smtClean="0">
                <a:ln>
                  <a:noFill/>
                </a:ln>
                <a:solidFill>
                  <a:srgbClr val="FF0000"/>
                </a:solidFill>
                <a:effectLst/>
                <a:cs typeface="Arial" pitchFamily="34" charset="0"/>
              </a:rPr>
              <a:t>). Voici un exemple d'insertion d'image : </a:t>
            </a:r>
          </a:p>
        </p:txBody>
      </p:sp>
      <p:sp>
        <p:nvSpPr>
          <p:cNvPr id="9" name="Rectangle 8"/>
          <p:cNvSpPr/>
          <p:nvPr/>
        </p:nvSpPr>
        <p:spPr>
          <a:xfrm>
            <a:off x="428596" y="5086191"/>
            <a:ext cx="8358246" cy="1200329"/>
          </a:xfrm>
          <a:prstGeom prst="rect">
            <a:avLst/>
          </a:prstGeom>
        </p:spPr>
        <p:txBody>
          <a:bodyPr wrap="square">
            <a:spAutoFit/>
          </a:bodyPr>
          <a:lstStyle/>
          <a:p>
            <a:r>
              <a:rPr lang="fr-FR" dirty="0" smtClean="0">
                <a:solidFill>
                  <a:srgbClr val="0070C0"/>
                </a:solidFill>
              </a:rPr>
              <a:t>&lt;p&gt;</a:t>
            </a:r>
          </a:p>
          <a:p>
            <a:r>
              <a:rPr lang="fr-FR" dirty="0" smtClean="0">
                <a:solidFill>
                  <a:srgbClr val="0070C0"/>
                </a:solidFill>
              </a:rPr>
              <a:t>    Voici une photo que j'ai prise lors de mes dernières vacances à la montagne :&lt;</a:t>
            </a:r>
            <a:r>
              <a:rPr lang="fr-FR" dirty="0" err="1" smtClean="0">
                <a:solidFill>
                  <a:srgbClr val="0070C0"/>
                </a:solidFill>
              </a:rPr>
              <a:t>br</a:t>
            </a:r>
            <a:r>
              <a:rPr lang="fr-FR" dirty="0" smtClean="0">
                <a:solidFill>
                  <a:srgbClr val="0070C0"/>
                </a:solidFill>
              </a:rPr>
              <a:t> /&gt;</a:t>
            </a:r>
          </a:p>
          <a:p>
            <a:r>
              <a:rPr lang="fr-FR" dirty="0" smtClean="0">
                <a:solidFill>
                  <a:srgbClr val="0070C0"/>
                </a:solidFill>
              </a:rPr>
              <a:t>    &lt;</a:t>
            </a:r>
            <a:r>
              <a:rPr lang="fr-FR" dirty="0" err="1" smtClean="0">
                <a:solidFill>
                  <a:srgbClr val="0070C0"/>
                </a:solidFill>
              </a:rPr>
              <a:t>img</a:t>
            </a:r>
            <a:r>
              <a:rPr lang="fr-FR" dirty="0" smtClean="0">
                <a:solidFill>
                  <a:srgbClr val="0070C0"/>
                </a:solidFill>
              </a:rPr>
              <a:t> </a:t>
            </a:r>
            <a:r>
              <a:rPr lang="fr-FR" dirty="0" err="1" smtClean="0">
                <a:solidFill>
                  <a:srgbClr val="0070C0"/>
                </a:solidFill>
              </a:rPr>
              <a:t>src</a:t>
            </a:r>
            <a:r>
              <a:rPr lang="fr-FR" dirty="0" smtClean="0">
                <a:solidFill>
                  <a:srgbClr val="0070C0"/>
                </a:solidFill>
              </a:rPr>
              <a:t>="images/montagne.jpg" </a:t>
            </a:r>
            <a:r>
              <a:rPr lang="fr-FR" dirty="0" err="1" smtClean="0">
                <a:solidFill>
                  <a:srgbClr val="0070C0"/>
                </a:solidFill>
              </a:rPr>
              <a:t>alt</a:t>
            </a:r>
            <a:r>
              <a:rPr lang="fr-FR" dirty="0" smtClean="0">
                <a:solidFill>
                  <a:srgbClr val="0070C0"/>
                </a:solidFill>
              </a:rPr>
              <a:t>="Photo de montagne" /&gt;</a:t>
            </a:r>
          </a:p>
          <a:p>
            <a:r>
              <a:rPr lang="fr-FR" dirty="0" smtClean="0">
                <a:solidFill>
                  <a:srgbClr val="0070C0"/>
                </a:solidFill>
              </a:rPr>
              <a:t>&lt;/p&gt;</a:t>
            </a:r>
            <a:endParaRPr lang="fr-FR" dirty="0">
              <a:solidFill>
                <a:srgbClr val="0070C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506</TotalTime>
  <Words>2215</Words>
  <Application>Microsoft Office PowerPoint</Application>
  <PresentationFormat>On-screen Show (4:3)</PresentationFormat>
  <Paragraphs>208</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PROGRAMMATION DE CLIENTS WEB</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U.S. Department of State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PROGRAMMATION DE CLIENTS WEB</dc:title>
  <dc:creator>NIKKOSA</dc:creator>
  <cp:lastModifiedBy>NIKKOSA</cp:lastModifiedBy>
  <cp:revision>88</cp:revision>
  <dcterms:created xsi:type="dcterms:W3CDTF">2020-01-19T18:28:36Z</dcterms:created>
  <dcterms:modified xsi:type="dcterms:W3CDTF">2020-01-27T00:56:48Z</dcterms:modified>
</cp:coreProperties>
</file>