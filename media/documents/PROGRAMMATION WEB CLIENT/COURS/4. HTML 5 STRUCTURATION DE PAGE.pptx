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abidjan-immobilier.ne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a:spLocks noGrp="1"/>
          </p:cNvSpPr>
          <p:nvPr>
            <p:ph type="ctrTitle"/>
          </p:nvPr>
        </p:nvSpPr>
        <p:spPr>
          <a:xfrm>
            <a:off x="685800" y="1673223"/>
            <a:ext cx="7772400" cy="1470025"/>
          </a:xfrm>
        </p:spPr>
        <p:txBody>
          <a:bodyPr>
            <a:normAutofit/>
          </a:bodyPr>
          <a:lstStyle/>
          <a:p>
            <a:r>
              <a:rPr lang="fr-FR" dirty="0" smtClean="0"/>
              <a:t>PROGRAMMATION DE CLIENTS WEB</a:t>
            </a:r>
            <a:endParaRPr lang="fr-FR" dirty="0"/>
          </a:p>
        </p:txBody>
      </p:sp>
      <p:sp>
        <p:nvSpPr>
          <p:cNvPr id="5" name="Sous-titre 2"/>
          <p:cNvSpPr>
            <a:spLocks noGrp="1"/>
          </p:cNvSpPr>
          <p:nvPr>
            <p:ph type="subTitle" idx="1"/>
          </p:nvPr>
        </p:nvSpPr>
        <p:spPr>
          <a:xfrm>
            <a:off x="755576" y="3429000"/>
            <a:ext cx="7704856" cy="1944216"/>
          </a:xfrm>
        </p:spPr>
        <p:txBody>
          <a:bodyPr>
            <a:normAutofit fontScale="85000" lnSpcReduction="20000"/>
          </a:bodyPr>
          <a:lstStyle/>
          <a:p>
            <a:r>
              <a:rPr lang="fr-FR" sz="1800" i="1" dirty="0"/>
              <a:t>FORMATEUR : </a:t>
            </a:r>
            <a:endParaRPr lang="fr-FR" sz="1800" i="1" dirty="0" smtClean="0"/>
          </a:p>
          <a:p>
            <a:r>
              <a:rPr lang="fr-FR" sz="1800" b="1" i="1" u="sng" dirty="0" smtClean="0"/>
              <a:t>Samuel KOTEI-NIKOI</a:t>
            </a:r>
            <a:r>
              <a:rPr lang="fr-FR" sz="1800" i="1" dirty="0" smtClean="0"/>
              <a:t>,</a:t>
            </a:r>
            <a:r>
              <a:rPr lang="fr-FR" sz="1800" i="1" dirty="0"/>
              <a:t/>
            </a:r>
            <a:br>
              <a:rPr lang="fr-FR" sz="1800" i="1" dirty="0"/>
            </a:br>
            <a:r>
              <a:rPr lang="fr-FR" sz="1800" i="1" dirty="0" smtClean="0"/>
              <a:t>Ingénieur de Conception en Informatique,</a:t>
            </a:r>
          </a:p>
          <a:p>
            <a:r>
              <a:rPr lang="fr-FR" sz="1800" i="1" dirty="0" smtClean="0"/>
              <a:t>Expert en Gestion de Projets Web,</a:t>
            </a:r>
          </a:p>
          <a:p>
            <a:r>
              <a:rPr lang="fr-FR" sz="1800" i="1" dirty="0" smtClean="0"/>
              <a:t>Formateur en langages de programmation web,</a:t>
            </a:r>
          </a:p>
          <a:p>
            <a:r>
              <a:rPr lang="fr-FR" sz="1800" i="1" dirty="0" smtClean="0"/>
              <a:t>Directeur Général </a:t>
            </a:r>
            <a:r>
              <a:rPr lang="fr-FR" sz="1800" b="1" i="1" dirty="0" smtClean="0"/>
              <a:t>NIKKOSA COMMUNICATION</a:t>
            </a:r>
            <a:r>
              <a:rPr lang="fr-FR" sz="1800" i="1" dirty="0" smtClean="0"/>
              <a:t>,</a:t>
            </a:r>
          </a:p>
          <a:p>
            <a:r>
              <a:rPr lang="fr-FR" sz="1800" i="1" dirty="0" smtClean="0"/>
              <a:t>Fondateur du portail </a:t>
            </a:r>
            <a:r>
              <a:rPr lang="fr-FR" sz="1800" i="1" dirty="0" smtClean="0">
                <a:hlinkClick r:id="rId2"/>
              </a:rPr>
              <a:t>www.abidjan-immobilier.net</a:t>
            </a:r>
            <a:r>
              <a:rPr lang="fr-FR" sz="1800" i="1" dirty="0" smtClean="0"/>
              <a:t>,</a:t>
            </a:r>
          </a:p>
          <a:p>
            <a:r>
              <a:rPr lang="fr-FR" sz="1800" i="1" dirty="0" smtClean="0"/>
              <a:t>GSM : +225 07 35 47 28 / Email : nikkosa@yahoo.fr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a:xfrm>
            <a:off x="721804" y="332657"/>
            <a:ext cx="7772400" cy="1080120"/>
          </a:xfrm>
          <a:prstGeom prst="rect">
            <a:avLst/>
          </a:prstGeom>
        </p:spPr>
        <p:txBody>
          <a:bodyPr vert="horz" lIns="91440" tIns="45720" rIns="91440" bIns="45720" rtlCol="0" anchor="ctr">
            <a:normAutofit fontScale="85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fr-FR" sz="4400" b="0" i="0" u="none" strike="noStrike" kern="1200" cap="none" spc="0" normalizeH="0" baseline="0" noProof="0" smtClean="0">
                <a:ln>
                  <a:noFill/>
                </a:ln>
                <a:solidFill>
                  <a:schemeClr val="tx1"/>
                </a:solidFill>
                <a:effectLst/>
                <a:uLnTx/>
                <a:uFillTx/>
                <a:latin typeface="+mj-lt"/>
                <a:ea typeface="+mj-ea"/>
                <a:cs typeface="+mj-cs"/>
              </a:rPr>
              <a:t>PARTIE </a:t>
            </a:r>
            <a:r>
              <a:rPr kumimoji="0" lang="fr-FR" sz="4400" b="0" i="0" u="none" strike="noStrike" kern="1200" cap="none" spc="0" normalizeH="0" baseline="0" noProof="0" smtClean="0">
                <a:ln>
                  <a:noFill/>
                </a:ln>
                <a:solidFill>
                  <a:schemeClr val="tx1"/>
                </a:solidFill>
                <a:effectLst/>
                <a:uLnTx/>
                <a:uFillTx/>
                <a:latin typeface="+mj-lt"/>
                <a:ea typeface="+mj-ea"/>
                <a:cs typeface="+mj-cs"/>
              </a:rPr>
              <a:t>4 </a:t>
            </a:r>
            <a:r>
              <a:rPr kumimoji="0" lang="fr-FR" sz="4400" b="0" i="0" u="none" strike="noStrike" kern="1200" cap="none" spc="0" normalizeH="0" baseline="0" noProof="0" dirty="0" smtClean="0">
                <a:ln>
                  <a:noFill/>
                </a:ln>
                <a:solidFill>
                  <a:schemeClr val="tx1"/>
                </a:solidFill>
                <a:effectLst/>
                <a:uLnTx/>
                <a:uFillTx/>
                <a:latin typeface="+mj-lt"/>
                <a:ea typeface="+mj-ea"/>
                <a:cs typeface="+mj-cs"/>
              </a:rPr>
              <a:t>: STRUCTURATION DE PAGES HTML5</a:t>
            </a:r>
            <a:endParaRPr kumimoji="0" lang="fr-FR"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5" name="Rectangle 4"/>
          <p:cNvSpPr/>
          <p:nvPr/>
        </p:nvSpPr>
        <p:spPr>
          <a:xfrm>
            <a:off x="228600" y="1676400"/>
            <a:ext cx="8686800" cy="1323439"/>
          </a:xfrm>
          <a:prstGeom prst="rect">
            <a:avLst/>
          </a:prstGeom>
        </p:spPr>
        <p:txBody>
          <a:bodyPr wrap="square">
            <a:spAutoFit/>
          </a:bodyPr>
          <a:lstStyle/>
          <a:p>
            <a:r>
              <a:rPr lang="fr-FR" sz="1600" dirty="0" smtClean="0"/>
              <a:t>En général, une page web est constituée d'un en-tête (tout en haut), de menus de navigation (en haut ou sur les côtés), de différentes sections au centre… et d'un pied de page (tout en bas).</a:t>
            </a:r>
          </a:p>
          <a:p>
            <a:r>
              <a:rPr lang="fr-FR" sz="1600" dirty="0" smtClean="0"/>
              <a:t>Dans ce chapitre, nous allons nous intéresser aux nouvelles balises HTML dédiées à la structuration du site. Ces balises ont été introduites par HTML5 (elles n'existaient pas avant) et vont nous permettre de dire : « Ceci est mon en-tête », « Ceci est mon menu de navigation », etc.</a:t>
            </a:r>
          </a:p>
        </p:txBody>
      </p:sp>
      <p:sp>
        <p:nvSpPr>
          <p:cNvPr id="6" name="Rectangle 5"/>
          <p:cNvSpPr/>
          <p:nvPr/>
        </p:nvSpPr>
        <p:spPr>
          <a:xfrm>
            <a:off x="304800" y="1295400"/>
            <a:ext cx="3216586" cy="369332"/>
          </a:xfrm>
          <a:prstGeom prst="rect">
            <a:avLst/>
          </a:prstGeom>
        </p:spPr>
        <p:txBody>
          <a:bodyPr wrap="none">
            <a:spAutoFit/>
          </a:bodyPr>
          <a:lstStyle/>
          <a:p>
            <a:r>
              <a:rPr lang="fr-FR" b="1" dirty="0" smtClean="0"/>
              <a:t>A. </a:t>
            </a:r>
            <a:r>
              <a:rPr lang="fr-FR" b="1" u="sng" dirty="0" smtClean="0"/>
              <a:t>Structure d’une page HTML 5</a:t>
            </a:r>
            <a:endParaRPr lang="fr-FR" b="1" u="sng" dirty="0"/>
          </a:p>
        </p:txBody>
      </p:sp>
      <p:sp>
        <p:nvSpPr>
          <p:cNvPr id="7" name="Rectangle 6"/>
          <p:cNvSpPr/>
          <p:nvPr/>
        </p:nvSpPr>
        <p:spPr>
          <a:xfrm>
            <a:off x="381000" y="3048000"/>
            <a:ext cx="3764428" cy="369332"/>
          </a:xfrm>
          <a:prstGeom prst="rect">
            <a:avLst/>
          </a:prstGeom>
        </p:spPr>
        <p:txBody>
          <a:bodyPr wrap="none">
            <a:spAutoFit/>
          </a:bodyPr>
          <a:lstStyle/>
          <a:p>
            <a:r>
              <a:rPr lang="fr-FR" b="1" dirty="0" smtClean="0"/>
              <a:t>1. </a:t>
            </a:r>
            <a:r>
              <a:rPr lang="fr-FR" b="1" u="sng" dirty="0" smtClean="0"/>
              <a:t>Les balises structurantes de HTML5</a:t>
            </a:r>
            <a:endParaRPr lang="fr-FR" b="1" u="sng" dirty="0"/>
          </a:p>
        </p:txBody>
      </p:sp>
      <p:sp>
        <p:nvSpPr>
          <p:cNvPr id="1025" name="Rectangle 1"/>
          <p:cNvSpPr>
            <a:spLocks noChangeArrowheads="1"/>
          </p:cNvSpPr>
          <p:nvPr/>
        </p:nvSpPr>
        <p:spPr bwMode="auto">
          <a:xfrm>
            <a:off x="228600" y="3429000"/>
            <a:ext cx="8763000" cy="230573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Nous allons voir ici les nouvelles balises introduites par HTML5 pour structurer nos pages. Vous allez voir, cela ne va pas beaucoup changer l'apparence de notre site pour le moment, mais il sera bien construit et prêt à être mis en forme ensuite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sng" strike="noStrike" cap="none" normalizeH="0" baseline="0" dirty="0" smtClean="0">
                <a:ln>
                  <a:noFill/>
                </a:ln>
                <a:effectLst/>
                <a:cs typeface="Courier New" pitchFamily="49" charset="0"/>
              </a:rPr>
              <a:t>&lt;header&gt;</a:t>
            </a:r>
            <a:r>
              <a:rPr kumimoji="0" lang="fr-FR" sz="1600" b="1" i="0" u="sng" strike="noStrike" cap="none" normalizeH="0" baseline="0" dirty="0" smtClean="0">
                <a:ln>
                  <a:noFill/>
                </a:ln>
                <a:effectLst/>
                <a:cs typeface="Arial" pitchFamily="34" charset="0"/>
              </a:rPr>
              <a:t>: l'en-tête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rgbClr val="FF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plupart des sites web possèdent en général un en-tête, appelé </a:t>
            </a:r>
            <a:r>
              <a:rPr kumimoji="0" lang="fr-FR" sz="1600" b="1" i="1" u="none" strike="noStrike" cap="none" normalizeH="0" baseline="0" dirty="0" smtClean="0">
                <a:ln>
                  <a:noFill/>
                </a:ln>
                <a:solidFill>
                  <a:srgbClr val="FF0000"/>
                </a:solidFill>
                <a:effectLst/>
                <a:cs typeface="Arial" pitchFamily="34" charset="0"/>
              </a:rPr>
              <a:t>header</a:t>
            </a:r>
            <a:r>
              <a:rPr kumimoji="0" lang="fr-FR" sz="1600" b="0" i="0" u="none" strike="noStrike" cap="none" normalizeH="0" baseline="0" dirty="0" smtClean="0">
                <a:ln>
                  <a:noFill/>
                </a:ln>
                <a:solidFill>
                  <a:schemeClr val="tx1"/>
                </a:solidFill>
                <a:effectLst/>
                <a:cs typeface="Arial" pitchFamily="34" charset="0"/>
              </a:rPr>
              <a:t> en anglais. On y trouve le plus souvent un logo, une bannière, le slogan de votre site…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Vous devrez placer ces informations à l'intérieur de la balise </a:t>
            </a:r>
            <a:r>
              <a:rPr kumimoji="0" lang="fr-FR" sz="1600" b="0" i="0" u="none" strike="noStrike" cap="none" normalizeH="0" baseline="0" dirty="0" smtClean="0">
                <a:ln>
                  <a:noFill/>
                </a:ln>
                <a:solidFill>
                  <a:schemeClr val="tx1"/>
                </a:solidFill>
                <a:effectLst/>
                <a:cs typeface="Courier New" pitchFamily="49" charset="0"/>
              </a:rPr>
              <a:t>&lt;header&gt;</a:t>
            </a:r>
            <a:r>
              <a:rPr kumimoji="0" lang="fr-FR" sz="1600" b="0" i="0" u="none" strike="noStrike" cap="none" normalizeH="0" baseline="0" dirty="0" smtClean="0">
                <a:ln>
                  <a:noFill/>
                </a:ln>
                <a:solidFill>
                  <a:schemeClr val="tx1"/>
                </a:solidFill>
                <a:effectLst/>
                <a:cs typeface="Arial" pitchFamily="34" charset="0"/>
              </a:rPr>
              <a:t>:</a:t>
            </a:r>
          </a:p>
        </p:txBody>
      </p:sp>
      <p:sp>
        <p:nvSpPr>
          <p:cNvPr id="9" name="Rectangle 8"/>
          <p:cNvSpPr/>
          <p:nvPr/>
        </p:nvSpPr>
        <p:spPr>
          <a:xfrm>
            <a:off x="228600" y="5791200"/>
            <a:ext cx="8686800" cy="830997"/>
          </a:xfrm>
          <a:prstGeom prst="rect">
            <a:avLst/>
          </a:prstGeom>
        </p:spPr>
        <p:txBody>
          <a:bodyPr wrap="square">
            <a:spAutoFit/>
          </a:bodyPr>
          <a:lstStyle/>
          <a:p>
            <a:r>
              <a:rPr lang="fr-FR" sz="1600" dirty="0" smtClean="0">
                <a:solidFill>
                  <a:schemeClr val="tx2">
                    <a:lumMod val="60000"/>
                    <a:lumOff val="40000"/>
                  </a:schemeClr>
                </a:solidFill>
              </a:rPr>
              <a:t>&lt;header&gt;</a:t>
            </a:r>
          </a:p>
          <a:p>
            <a:r>
              <a:rPr lang="fr-FR" sz="1600" dirty="0" smtClean="0">
                <a:solidFill>
                  <a:schemeClr val="tx2">
                    <a:lumMod val="60000"/>
                    <a:lumOff val="40000"/>
                  </a:schemeClr>
                </a:solidFill>
              </a:rPr>
              <a:t>    &lt;!-- Placez ici le contenu de l'en-tête de votre page --&gt;</a:t>
            </a:r>
          </a:p>
          <a:p>
            <a:r>
              <a:rPr lang="fr-FR" sz="1600" dirty="0" smtClean="0">
                <a:solidFill>
                  <a:schemeClr val="tx2">
                    <a:lumMod val="60000"/>
                    <a:lumOff val="40000"/>
                  </a:schemeClr>
                </a:solidFill>
              </a:rPr>
              <a:t>&lt;/header&gt;</a:t>
            </a:r>
            <a:endParaRPr lang="fr-FR" sz="16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78475"/>
            <a:ext cx="8839200" cy="584775"/>
          </a:xfrm>
          <a:prstGeom prst="rect">
            <a:avLst/>
          </a:prstGeom>
        </p:spPr>
        <p:txBody>
          <a:bodyPr wrap="square">
            <a:spAutoFit/>
          </a:bodyPr>
          <a:lstStyle/>
          <a:p>
            <a:r>
              <a:rPr lang="fr-FR" sz="1600" dirty="0" smtClean="0"/>
              <a:t>La figure suivante, par exemple, représente le site du W3C (qui se charge des nouvelles versions de HTML et CSS notamment). La partie encadrée en rouge correspondrait à l'en-tête :</a:t>
            </a:r>
          </a:p>
        </p:txBody>
      </p:sp>
      <p:pic>
        <p:nvPicPr>
          <p:cNvPr id="5" name="Picture 4" descr="12.png"/>
          <p:cNvPicPr>
            <a:picLocks noChangeAspect="1"/>
          </p:cNvPicPr>
          <p:nvPr/>
        </p:nvPicPr>
        <p:blipFill>
          <a:blip r:embed="rId2" cstate="print"/>
          <a:stretch>
            <a:fillRect/>
          </a:stretch>
        </p:blipFill>
        <p:spPr>
          <a:xfrm>
            <a:off x="1447800" y="914400"/>
            <a:ext cx="5791200" cy="3113349"/>
          </a:xfrm>
          <a:prstGeom prst="rect">
            <a:avLst/>
          </a:prstGeom>
        </p:spPr>
      </p:pic>
      <p:sp>
        <p:nvSpPr>
          <p:cNvPr id="6" name="Rectangle 5"/>
          <p:cNvSpPr/>
          <p:nvPr/>
        </p:nvSpPr>
        <p:spPr>
          <a:xfrm>
            <a:off x="152400" y="4267200"/>
            <a:ext cx="8839200" cy="338554"/>
          </a:xfrm>
          <a:prstGeom prst="rect">
            <a:avLst/>
          </a:prstGeom>
        </p:spPr>
        <p:txBody>
          <a:bodyPr wrap="square">
            <a:spAutoFit/>
          </a:bodyPr>
          <a:lstStyle/>
          <a:p>
            <a:r>
              <a:rPr lang="fr-FR" sz="1600" dirty="0" smtClean="0"/>
              <a:t>L'en-tête peut contenir tout ce que vous voulez : images, liens, textes…</a:t>
            </a:r>
            <a:endParaRPr lang="fr-FR" sz="1600" dirty="0"/>
          </a:p>
        </p:txBody>
      </p:sp>
      <p:sp>
        <p:nvSpPr>
          <p:cNvPr id="15361" name="Rectangle 1"/>
          <p:cNvSpPr>
            <a:spLocks noChangeArrowheads="1"/>
          </p:cNvSpPr>
          <p:nvPr/>
        </p:nvSpPr>
        <p:spPr bwMode="auto">
          <a:xfrm>
            <a:off x="76200" y="4800599"/>
            <a:ext cx="89154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FF0000"/>
                </a:solidFill>
                <a:effectLst/>
                <a:cs typeface="Arial" pitchFamily="34" charset="0"/>
              </a:rPr>
              <a:t>Il peut y avoir plusieurs en-têtes dans votre page. Si celle-ci est découpée en plusieurs sections, chaque section peut en effet avoir son propre </a:t>
            </a:r>
            <a:r>
              <a:rPr kumimoji="0" lang="fr-FR" sz="1600" b="0" i="0" u="none" strike="noStrike" cap="none" normalizeH="0" baseline="0" dirty="0" smtClean="0">
                <a:ln>
                  <a:noFill/>
                </a:ln>
                <a:solidFill>
                  <a:srgbClr val="FF0000"/>
                </a:solidFill>
                <a:effectLst/>
                <a:cs typeface="Courier New" pitchFamily="49" charset="0"/>
              </a:rPr>
              <a:t>&lt;header&gt;</a:t>
            </a:r>
            <a:r>
              <a:rPr kumimoji="0" lang="fr-FR" sz="1600" b="0" i="0" u="none" strike="noStrike" cap="none" normalizeH="0" baseline="0" dirty="0" smtClean="0">
                <a:ln>
                  <a:noFill/>
                </a:ln>
                <a:solidFill>
                  <a:srgbClr val="FF0000"/>
                </a:solidFill>
                <a:effectLst/>
                <a:cs typeface="Arial" pitchFamily="34" charset="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152400" y="152400"/>
            <a:ext cx="8915400" cy="33596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itchFamily="49" charset="0"/>
              </a:rPr>
              <a:t>&lt;</a:t>
            </a:r>
            <a:r>
              <a:rPr kumimoji="0" lang="fr-FR" sz="1600" b="1" i="0" u="sng" strike="noStrike" cap="none" normalizeH="0" baseline="0" dirty="0" err="1" smtClean="0">
                <a:ln>
                  <a:noFill/>
                </a:ln>
                <a:solidFill>
                  <a:schemeClr val="tx1"/>
                </a:solidFill>
                <a:effectLst/>
                <a:cs typeface="Courier New" pitchFamily="49" charset="0"/>
              </a:rPr>
              <a:t>footer</a:t>
            </a:r>
            <a:r>
              <a:rPr kumimoji="0" lang="fr-FR" sz="1600" b="1" i="0" u="sng" strike="noStrike" cap="none" normalizeH="0" baseline="0" dirty="0" smtClean="0">
                <a:ln>
                  <a:noFill/>
                </a:ln>
                <a:solidFill>
                  <a:schemeClr val="tx1"/>
                </a:solidFill>
                <a:effectLst/>
                <a:cs typeface="Courier New" pitchFamily="49" charset="0"/>
              </a:rPr>
              <a:t>&gt;</a:t>
            </a:r>
            <a:r>
              <a:rPr kumimoji="0" lang="fr-FR" sz="1600" b="1" i="0" u="sng" strike="noStrike" cap="none" normalizeH="0" baseline="0" dirty="0" smtClean="0">
                <a:ln>
                  <a:noFill/>
                </a:ln>
                <a:solidFill>
                  <a:schemeClr val="tx1"/>
                </a:solidFill>
                <a:effectLst/>
                <a:cs typeface="Arial" pitchFamily="34" charset="0"/>
              </a:rPr>
              <a:t>: le pied de page</a:t>
            </a:r>
          </a:p>
        </p:txBody>
      </p:sp>
      <p:sp>
        <p:nvSpPr>
          <p:cNvPr id="5" name="Rectangle 4"/>
          <p:cNvSpPr/>
          <p:nvPr/>
        </p:nvSpPr>
        <p:spPr>
          <a:xfrm>
            <a:off x="152400" y="533400"/>
            <a:ext cx="8839200" cy="584775"/>
          </a:xfrm>
          <a:prstGeom prst="rect">
            <a:avLst/>
          </a:prstGeom>
        </p:spPr>
        <p:txBody>
          <a:bodyPr wrap="square">
            <a:spAutoFit/>
          </a:bodyPr>
          <a:lstStyle/>
          <a:p>
            <a:r>
              <a:rPr lang="fr-FR" sz="1600" dirty="0" smtClean="0"/>
              <a:t>À l'inverse de l'en-tête, le pied de page se trouve en général tout en bas du document. On y trouve des informations comme des liens de contact, le nom de l'auteur, les mentions légales, etc.</a:t>
            </a:r>
            <a:endParaRPr lang="fr-FR" sz="1600" dirty="0"/>
          </a:p>
        </p:txBody>
      </p:sp>
      <p:sp>
        <p:nvSpPr>
          <p:cNvPr id="6" name="Rectangle 5"/>
          <p:cNvSpPr/>
          <p:nvPr/>
        </p:nvSpPr>
        <p:spPr>
          <a:xfrm>
            <a:off x="152400" y="1066800"/>
            <a:ext cx="8610600" cy="830997"/>
          </a:xfrm>
          <a:prstGeom prst="rect">
            <a:avLst/>
          </a:prstGeom>
        </p:spPr>
        <p:txBody>
          <a:bodyPr wrap="square">
            <a:spAutoFit/>
          </a:bodyPr>
          <a:lstStyle/>
          <a:p>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footer</a:t>
            </a:r>
            <a:r>
              <a:rPr lang="fr-FR" sz="1600" dirty="0" smtClean="0">
                <a:solidFill>
                  <a:schemeClr val="tx2">
                    <a:lumMod val="60000"/>
                    <a:lumOff val="40000"/>
                  </a:schemeClr>
                </a:solidFill>
              </a:rPr>
              <a:t>&gt;</a:t>
            </a:r>
          </a:p>
          <a:p>
            <a:r>
              <a:rPr lang="fr-FR" sz="1600" dirty="0" smtClean="0">
                <a:solidFill>
                  <a:schemeClr val="tx2">
                    <a:lumMod val="60000"/>
                    <a:lumOff val="40000"/>
                  </a:schemeClr>
                </a:solidFill>
              </a:rPr>
              <a:t>    &lt;!-- Placez ici le contenu du pied de page --&gt;</a:t>
            </a:r>
          </a:p>
          <a:p>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footer</a:t>
            </a:r>
            <a:r>
              <a:rPr lang="fr-FR" sz="1600" dirty="0" smtClean="0">
                <a:solidFill>
                  <a:schemeClr val="tx2">
                    <a:lumMod val="60000"/>
                    <a:lumOff val="40000"/>
                  </a:schemeClr>
                </a:solidFill>
              </a:rPr>
              <a:t>&gt;</a:t>
            </a:r>
            <a:endParaRPr lang="fr-FR" sz="1600" dirty="0">
              <a:solidFill>
                <a:schemeClr val="tx2">
                  <a:lumMod val="60000"/>
                  <a:lumOff val="40000"/>
                </a:schemeClr>
              </a:solidFill>
            </a:endParaRPr>
          </a:p>
        </p:txBody>
      </p:sp>
      <p:pic>
        <p:nvPicPr>
          <p:cNvPr id="7" name="Picture 6" descr="13.png"/>
          <p:cNvPicPr>
            <a:picLocks noChangeAspect="1"/>
          </p:cNvPicPr>
          <p:nvPr/>
        </p:nvPicPr>
        <p:blipFill>
          <a:blip r:embed="rId2" cstate="print"/>
          <a:stretch>
            <a:fillRect/>
          </a:stretch>
        </p:blipFill>
        <p:spPr>
          <a:xfrm>
            <a:off x="1219200" y="1981200"/>
            <a:ext cx="6705600" cy="3520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152400" y="121239"/>
            <a:ext cx="8763000" cy="33596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itchFamily="49" charset="0"/>
              </a:rPr>
              <a:t>&lt;</a:t>
            </a:r>
            <a:r>
              <a:rPr kumimoji="0" lang="fr-FR" sz="1600" b="1" i="0" u="sng" strike="noStrike" cap="none" normalizeH="0" baseline="0" dirty="0" err="1" smtClean="0">
                <a:ln>
                  <a:noFill/>
                </a:ln>
                <a:solidFill>
                  <a:schemeClr val="tx1"/>
                </a:solidFill>
                <a:effectLst/>
                <a:cs typeface="Courier New" pitchFamily="49" charset="0"/>
              </a:rPr>
              <a:t>nav</a:t>
            </a:r>
            <a:r>
              <a:rPr kumimoji="0" lang="fr-FR" sz="1600" b="1" i="0" u="sng" strike="noStrike" cap="none" normalizeH="0" baseline="0" dirty="0" smtClean="0">
                <a:ln>
                  <a:noFill/>
                </a:ln>
                <a:solidFill>
                  <a:schemeClr val="tx1"/>
                </a:solidFill>
                <a:effectLst/>
                <a:cs typeface="Courier New" pitchFamily="49" charset="0"/>
              </a:rPr>
              <a:t>&gt;</a:t>
            </a:r>
            <a:r>
              <a:rPr kumimoji="0" lang="fr-FR" sz="1600" b="1" i="0" u="sng" strike="noStrike" cap="none" normalizeH="0" baseline="0" dirty="0" smtClean="0">
                <a:ln>
                  <a:noFill/>
                </a:ln>
                <a:solidFill>
                  <a:schemeClr val="tx1"/>
                </a:solidFill>
                <a:effectLst/>
                <a:cs typeface="Arial" pitchFamily="34" charset="0"/>
              </a:rPr>
              <a:t>: principaux liens de navigation</a:t>
            </a:r>
          </a:p>
        </p:txBody>
      </p:sp>
      <p:sp>
        <p:nvSpPr>
          <p:cNvPr id="17410" name="Rectangle 2"/>
          <p:cNvSpPr>
            <a:spLocks noChangeArrowheads="1"/>
          </p:cNvSpPr>
          <p:nvPr/>
        </p:nvSpPr>
        <p:spPr bwMode="auto">
          <a:xfrm>
            <a:off x="152400" y="457200"/>
            <a:ext cx="8839200" cy="83099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balise </a:t>
            </a:r>
            <a:r>
              <a:rPr kumimoji="0" lang="fr-FR" sz="1600" b="1" i="0" u="none" strike="noStrike" cap="none" normalizeH="0" baseline="0" dirty="0" smtClean="0">
                <a:ln>
                  <a:noFill/>
                </a:ln>
                <a:solidFill>
                  <a:srgbClr val="FF0000"/>
                </a:solidFill>
                <a:effectLst/>
                <a:cs typeface="Courier New" pitchFamily="49" charset="0"/>
              </a:rPr>
              <a:t>&lt;</a:t>
            </a:r>
            <a:r>
              <a:rPr kumimoji="0" lang="fr-FR" sz="1600" b="1" i="0" u="none" strike="noStrike" cap="none" normalizeH="0" baseline="0" dirty="0" err="1" smtClean="0">
                <a:ln>
                  <a:noFill/>
                </a:ln>
                <a:solidFill>
                  <a:srgbClr val="FF0000"/>
                </a:solidFill>
                <a:effectLst/>
                <a:cs typeface="Courier New" pitchFamily="49" charset="0"/>
              </a:rPr>
              <a:t>nav</a:t>
            </a:r>
            <a:r>
              <a:rPr kumimoji="0" lang="fr-FR" sz="1600" b="1" i="0" u="none" strike="noStrike" cap="none" normalizeH="0" baseline="0" dirty="0" smtClean="0">
                <a:ln>
                  <a:noFill/>
                </a:ln>
                <a:solidFill>
                  <a:srgbClr val="FF0000"/>
                </a:solidFill>
                <a:effectLst/>
                <a:cs typeface="Courier New" pitchFamily="49" charset="0"/>
              </a:rPr>
              <a:t>&gt;</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doit regrouper tous les principaux liens de navigation du site. Vous y placerez par exemple le menu principal de votre site.</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Généralement, le menu est réalisé sous forme de liste à puces à l'intérieur de la balise </a:t>
            </a:r>
            <a:r>
              <a:rPr kumimoji="0" lang="fr-FR" sz="1600" b="1" i="0" u="none" strike="noStrike" cap="none" normalizeH="0" baseline="0" dirty="0" smtClean="0">
                <a:ln>
                  <a:noFill/>
                </a:ln>
                <a:solidFill>
                  <a:schemeClr val="tx1"/>
                </a:solidFill>
                <a:effectLst/>
                <a:cs typeface="Courier New" pitchFamily="49" charset="0"/>
              </a:rPr>
              <a:t>&lt;</a:t>
            </a:r>
            <a:r>
              <a:rPr kumimoji="0" lang="fr-FR" sz="1600" b="1" i="0" u="none" strike="noStrike" cap="none" normalizeH="0" baseline="0" dirty="0" err="1" smtClean="0">
                <a:ln>
                  <a:noFill/>
                </a:ln>
                <a:solidFill>
                  <a:schemeClr val="tx1"/>
                </a:solidFill>
                <a:effectLst/>
                <a:cs typeface="Courier New" pitchFamily="49" charset="0"/>
              </a:rPr>
              <a:t>nav</a:t>
            </a:r>
            <a:r>
              <a:rPr kumimoji="0" lang="fr-FR" sz="1600" b="1" i="0" u="none" strike="noStrike" cap="none" normalizeH="0" baseline="0" dirty="0" smtClean="0">
                <a:ln>
                  <a:noFill/>
                </a:ln>
                <a:solidFill>
                  <a:schemeClr val="tx1"/>
                </a:solidFill>
                <a:effectLst/>
                <a:cs typeface="Courier New" pitchFamily="49" charset="0"/>
              </a:rPr>
              <a:t>&gt;</a:t>
            </a:r>
            <a:r>
              <a:rPr kumimoji="0" lang="fr-FR" sz="1600" b="0" i="0" u="none" strike="noStrike" cap="none" normalizeH="0" baseline="0" dirty="0" smtClean="0">
                <a:ln>
                  <a:noFill/>
                </a:ln>
                <a:solidFill>
                  <a:schemeClr val="tx1"/>
                </a:solidFill>
                <a:effectLst/>
                <a:cs typeface="Arial" pitchFamily="34" charset="0"/>
              </a:rPr>
              <a:t>:</a:t>
            </a:r>
          </a:p>
        </p:txBody>
      </p:sp>
      <p:sp>
        <p:nvSpPr>
          <p:cNvPr id="6" name="Rectangle 5"/>
          <p:cNvSpPr/>
          <p:nvPr/>
        </p:nvSpPr>
        <p:spPr>
          <a:xfrm>
            <a:off x="304800" y="1308318"/>
            <a:ext cx="8610600" cy="1815882"/>
          </a:xfrm>
          <a:prstGeom prst="rect">
            <a:avLst/>
          </a:prstGeom>
        </p:spPr>
        <p:txBody>
          <a:bodyPr wrap="square">
            <a:spAutoFit/>
          </a:bodyPr>
          <a:lstStyle/>
          <a:p>
            <a:r>
              <a:rPr lang="it-IT" sz="1600" dirty="0" smtClean="0">
                <a:solidFill>
                  <a:schemeClr val="tx2">
                    <a:lumMod val="60000"/>
                    <a:lumOff val="40000"/>
                  </a:schemeClr>
                </a:solidFill>
              </a:rPr>
              <a:t>&lt;nav&gt;</a:t>
            </a:r>
          </a:p>
          <a:p>
            <a:r>
              <a:rPr lang="it-IT" sz="1600" dirty="0" smtClean="0">
                <a:solidFill>
                  <a:schemeClr val="tx2">
                    <a:lumMod val="60000"/>
                    <a:lumOff val="40000"/>
                  </a:schemeClr>
                </a:solidFill>
              </a:rPr>
              <a:t>    &lt;ul&gt;</a:t>
            </a:r>
          </a:p>
          <a:p>
            <a:r>
              <a:rPr lang="it-IT" sz="1600" dirty="0" smtClean="0">
                <a:solidFill>
                  <a:schemeClr val="tx2">
                    <a:lumMod val="60000"/>
                    <a:lumOff val="40000"/>
                  </a:schemeClr>
                </a:solidFill>
              </a:rPr>
              <a:t>        &lt;li&gt;&lt;a href="index.html"&gt;Accueil&lt;/a&gt;&lt;/li&gt;</a:t>
            </a:r>
          </a:p>
          <a:p>
            <a:r>
              <a:rPr lang="it-IT" sz="1600" dirty="0" smtClean="0">
                <a:solidFill>
                  <a:schemeClr val="tx2">
                    <a:lumMod val="60000"/>
                    <a:lumOff val="40000"/>
                  </a:schemeClr>
                </a:solidFill>
              </a:rPr>
              <a:t>        &lt;li&gt;&lt;a href="forum.html"&gt;Forum&lt;/a&gt;&lt;/li&gt;</a:t>
            </a:r>
          </a:p>
          <a:p>
            <a:r>
              <a:rPr lang="it-IT" sz="1600" dirty="0" smtClean="0">
                <a:solidFill>
                  <a:schemeClr val="tx2">
                    <a:lumMod val="60000"/>
                    <a:lumOff val="40000"/>
                  </a:schemeClr>
                </a:solidFill>
              </a:rPr>
              <a:t>        &lt;li&gt;&lt;a href="contact.html"&gt;Contact&lt;/a&gt;&lt;/li&gt;</a:t>
            </a:r>
          </a:p>
          <a:p>
            <a:r>
              <a:rPr lang="it-IT" sz="1600" dirty="0" smtClean="0">
                <a:solidFill>
                  <a:schemeClr val="tx2">
                    <a:lumMod val="60000"/>
                    <a:lumOff val="40000"/>
                  </a:schemeClr>
                </a:solidFill>
              </a:rPr>
              <a:t>    &lt;/ul&gt;</a:t>
            </a:r>
          </a:p>
          <a:p>
            <a:r>
              <a:rPr lang="it-IT" sz="1600" dirty="0" smtClean="0">
                <a:solidFill>
                  <a:schemeClr val="tx2">
                    <a:lumMod val="60000"/>
                    <a:lumOff val="40000"/>
                  </a:schemeClr>
                </a:solidFill>
              </a:rPr>
              <a:t>&lt;/nav&gt;</a:t>
            </a:r>
            <a:endParaRPr lang="fr-FR" sz="1600" dirty="0">
              <a:solidFill>
                <a:schemeClr val="tx2">
                  <a:lumMod val="60000"/>
                  <a:lumOff val="40000"/>
                </a:schemeClr>
              </a:solidFill>
            </a:endParaRPr>
          </a:p>
        </p:txBody>
      </p:sp>
      <p:pic>
        <p:nvPicPr>
          <p:cNvPr id="7" name="Picture 6" descr="14.png"/>
          <p:cNvPicPr>
            <a:picLocks noChangeAspect="1"/>
          </p:cNvPicPr>
          <p:nvPr/>
        </p:nvPicPr>
        <p:blipFill>
          <a:blip r:embed="rId2" cstate="print"/>
          <a:stretch>
            <a:fillRect/>
          </a:stretch>
        </p:blipFill>
        <p:spPr>
          <a:xfrm>
            <a:off x="1447800" y="3238561"/>
            <a:ext cx="6172200" cy="3314639"/>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152400" y="76200"/>
            <a:ext cx="8610600" cy="33596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itchFamily="49" charset="0"/>
              </a:rPr>
              <a:t>&lt;section&gt;</a:t>
            </a:r>
            <a:r>
              <a:rPr kumimoji="0" lang="fr-FR" sz="1600" b="1" i="0" u="sng" strike="noStrike" cap="none" normalizeH="0" baseline="0" dirty="0" smtClean="0">
                <a:ln>
                  <a:noFill/>
                </a:ln>
                <a:solidFill>
                  <a:schemeClr val="tx1"/>
                </a:solidFill>
                <a:effectLst/>
                <a:cs typeface="Arial" pitchFamily="34" charset="0"/>
              </a:rPr>
              <a:t>: une section de page</a:t>
            </a:r>
          </a:p>
        </p:txBody>
      </p:sp>
      <p:sp>
        <p:nvSpPr>
          <p:cNvPr id="18434" name="Rectangle 2"/>
          <p:cNvSpPr>
            <a:spLocks noChangeArrowheads="1"/>
          </p:cNvSpPr>
          <p:nvPr/>
        </p:nvSpPr>
        <p:spPr bwMode="auto">
          <a:xfrm>
            <a:off x="76200" y="452735"/>
            <a:ext cx="89154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balise </a:t>
            </a:r>
            <a:r>
              <a:rPr kumimoji="0" lang="fr-FR" sz="1600" b="1" i="0" u="none" strike="noStrike" cap="none" normalizeH="0" baseline="0" dirty="0" smtClean="0">
                <a:ln>
                  <a:noFill/>
                </a:ln>
                <a:solidFill>
                  <a:srgbClr val="FF0000"/>
                </a:solidFill>
                <a:effectLst/>
                <a:cs typeface="Courier New" pitchFamily="49" charset="0"/>
              </a:rPr>
              <a:t>&lt;section&gt;</a:t>
            </a:r>
            <a:r>
              <a:rPr kumimoji="0" lang="fr-FR" sz="1600" b="0" i="0" u="none" strike="noStrike" cap="none" normalizeH="0" baseline="0" dirty="0" smtClean="0">
                <a:ln>
                  <a:noFill/>
                </a:ln>
                <a:solidFill>
                  <a:schemeClr val="tx1"/>
                </a:solidFill>
                <a:effectLst/>
                <a:cs typeface="Courier New" pitchFamily="49" charset="0"/>
              </a:rPr>
              <a:t> </a:t>
            </a:r>
            <a:r>
              <a:rPr kumimoji="0" lang="fr-FR" sz="1600" b="0" i="0" u="none" strike="noStrike" cap="none" normalizeH="0" baseline="0" dirty="0" smtClean="0">
                <a:ln>
                  <a:noFill/>
                </a:ln>
                <a:solidFill>
                  <a:schemeClr val="tx1"/>
                </a:solidFill>
                <a:effectLst/>
                <a:cs typeface="Arial" pitchFamily="34" charset="0"/>
              </a:rPr>
              <a:t>sert à regrouper des contenus en fonction de leur thématique. Elle englobe généralement une portion du contenu au centre de la page. </a:t>
            </a:r>
          </a:p>
        </p:txBody>
      </p:sp>
      <p:sp>
        <p:nvSpPr>
          <p:cNvPr id="6" name="Rectangle 5"/>
          <p:cNvSpPr/>
          <p:nvPr/>
        </p:nvSpPr>
        <p:spPr>
          <a:xfrm>
            <a:off x="152400" y="1066800"/>
            <a:ext cx="8763000" cy="1077218"/>
          </a:xfrm>
          <a:prstGeom prst="rect">
            <a:avLst/>
          </a:prstGeom>
        </p:spPr>
        <p:txBody>
          <a:bodyPr wrap="square">
            <a:spAutoFit/>
          </a:bodyPr>
          <a:lstStyle/>
          <a:p>
            <a:r>
              <a:rPr lang="fr-FR" sz="1600" dirty="0" smtClean="0">
                <a:solidFill>
                  <a:schemeClr val="tx2">
                    <a:lumMod val="60000"/>
                    <a:lumOff val="40000"/>
                  </a:schemeClr>
                </a:solidFill>
              </a:rPr>
              <a:t>&lt;section&gt;</a:t>
            </a:r>
          </a:p>
          <a:p>
            <a:r>
              <a:rPr lang="fr-FR" sz="1600" dirty="0" smtClean="0">
                <a:solidFill>
                  <a:schemeClr val="tx2">
                    <a:lumMod val="60000"/>
                    <a:lumOff val="40000"/>
                  </a:schemeClr>
                </a:solidFill>
              </a:rPr>
              <a:t>    &lt;h1&gt;Ma section de page&lt;/h1&gt;</a:t>
            </a:r>
          </a:p>
          <a:p>
            <a:r>
              <a:rPr lang="fr-FR" sz="1600" dirty="0" smtClean="0">
                <a:solidFill>
                  <a:schemeClr val="tx2">
                    <a:lumMod val="60000"/>
                    <a:lumOff val="40000"/>
                  </a:schemeClr>
                </a:solidFill>
              </a:rPr>
              <a:t>    &lt;p&gt;Bla </a:t>
            </a:r>
            <a:r>
              <a:rPr lang="fr-FR" sz="1600" dirty="0" err="1" smtClean="0">
                <a:solidFill>
                  <a:schemeClr val="tx2">
                    <a:lumMod val="60000"/>
                    <a:lumOff val="40000"/>
                  </a:schemeClr>
                </a:solidFill>
              </a:rPr>
              <a:t>bla</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bla</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bla</a:t>
            </a:r>
            <a:r>
              <a:rPr lang="fr-FR" sz="1600" dirty="0" smtClean="0">
                <a:solidFill>
                  <a:schemeClr val="tx2">
                    <a:lumMod val="60000"/>
                    <a:lumOff val="40000"/>
                  </a:schemeClr>
                </a:solidFill>
              </a:rPr>
              <a:t>&lt;/p&gt;</a:t>
            </a:r>
          </a:p>
          <a:p>
            <a:r>
              <a:rPr lang="fr-FR" sz="1600" dirty="0" smtClean="0">
                <a:solidFill>
                  <a:schemeClr val="tx2">
                    <a:lumMod val="60000"/>
                    <a:lumOff val="40000"/>
                  </a:schemeClr>
                </a:solidFill>
              </a:rPr>
              <a:t>&lt;/section&gt;</a:t>
            </a:r>
            <a:endParaRPr lang="fr-FR" sz="1600" dirty="0">
              <a:solidFill>
                <a:schemeClr val="tx2">
                  <a:lumMod val="60000"/>
                  <a:lumOff val="40000"/>
                </a:schemeClr>
              </a:solidFill>
            </a:endParaRPr>
          </a:p>
        </p:txBody>
      </p:sp>
      <p:pic>
        <p:nvPicPr>
          <p:cNvPr id="7" name="Picture 6" descr="15.png"/>
          <p:cNvPicPr>
            <a:picLocks noChangeAspect="1"/>
          </p:cNvPicPr>
          <p:nvPr/>
        </p:nvPicPr>
        <p:blipFill>
          <a:blip r:embed="rId2"/>
          <a:stretch>
            <a:fillRect/>
          </a:stretch>
        </p:blipFill>
        <p:spPr>
          <a:xfrm>
            <a:off x="1409700" y="2343150"/>
            <a:ext cx="6438900" cy="4057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ChangeArrowheads="1"/>
          </p:cNvSpPr>
          <p:nvPr/>
        </p:nvSpPr>
        <p:spPr bwMode="auto">
          <a:xfrm>
            <a:off x="76200" y="76200"/>
            <a:ext cx="8915400" cy="33596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itchFamily="49" charset="0"/>
              </a:rPr>
              <a:t>&lt;</a:t>
            </a:r>
            <a:r>
              <a:rPr kumimoji="0" lang="fr-FR" sz="1600" b="1" i="0" u="sng" strike="noStrike" cap="none" normalizeH="0" baseline="0" dirty="0" err="1" smtClean="0">
                <a:ln>
                  <a:noFill/>
                </a:ln>
                <a:solidFill>
                  <a:schemeClr val="tx1"/>
                </a:solidFill>
                <a:effectLst/>
                <a:cs typeface="Courier New" pitchFamily="49" charset="0"/>
              </a:rPr>
              <a:t>aside</a:t>
            </a:r>
            <a:r>
              <a:rPr kumimoji="0" lang="fr-FR" sz="1600" b="1" i="0" u="sng" strike="noStrike" cap="none" normalizeH="0" baseline="0" dirty="0" smtClean="0">
                <a:ln>
                  <a:noFill/>
                </a:ln>
                <a:solidFill>
                  <a:schemeClr val="tx1"/>
                </a:solidFill>
                <a:effectLst/>
                <a:cs typeface="Courier New" pitchFamily="49" charset="0"/>
              </a:rPr>
              <a:t>&gt;</a:t>
            </a:r>
            <a:r>
              <a:rPr kumimoji="0" lang="fr-FR" sz="1600" b="1" i="0" u="sng" strike="noStrike" cap="none" normalizeH="0" baseline="0" dirty="0" smtClean="0">
                <a:ln>
                  <a:noFill/>
                </a:ln>
                <a:solidFill>
                  <a:schemeClr val="tx1"/>
                </a:solidFill>
                <a:effectLst/>
                <a:cs typeface="Arial" pitchFamily="34" charset="0"/>
              </a:rPr>
              <a:t>: informations complémentaires</a:t>
            </a:r>
          </a:p>
        </p:txBody>
      </p:sp>
      <p:sp>
        <p:nvSpPr>
          <p:cNvPr id="19458" name="Rectangle 2"/>
          <p:cNvSpPr>
            <a:spLocks noChangeArrowheads="1"/>
          </p:cNvSpPr>
          <p:nvPr/>
        </p:nvSpPr>
        <p:spPr bwMode="auto">
          <a:xfrm>
            <a:off x="76200" y="381000"/>
            <a:ext cx="89916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balise </a:t>
            </a:r>
            <a:r>
              <a:rPr kumimoji="0" lang="fr-FR" sz="1600" b="1" i="0" u="none" strike="noStrike" cap="none" normalizeH="0" baseline="0" dirty="0" smtClean="0">
                <a:ln>
                  <a:noFill/>
                </a:ln>
                <a:solidFill>
                  <a:srgbClr val="FF0000"/>
                </a:solidFill>
                <a:effectLst/>
                <a:cs typeface="Courier New" pitchFamily="49" charset="0"/>
              </a:rPr>
              <a:t>&lt;</a:t>
            </a:r>
            <a:r>
              <a:rPr kumimoji="0" lang="fr-FR" sz="1600" b="1" i="0" u="none" strike="noStrike" cap="none" normalizeH="0" baseline="0" dirty="0" err="1" smtClean="0">
                <a:ln>
                  <a:noFill/>
                </a:ln>
                <a:solidFill>
                  <a:srgbClr val="FF0000"/>
                </a:solidFill>
                <a:effectLst/>
                <a:cs typeface="Courier New" pitchFamily="49" charset="0"/>
              </a:rPr>
              <a:t>aside</a:t>
            </a:r>
            <a:r>
              <a:rPr kumimoji="0" lang="fr-FR" sz="1600" b="1" i="0" u="none" strike="noStrike" cap="none" normalizeH="0" baseline="0" dirty="0" smtClean="0">
                <a:ln>
                  <a:noFill/>
                </a:ln>
                <a:solidFill>
                  <a:srgbClr val="FF0000"/>
                </a:solidFill>
                <a:effectLst/>
                <a:cs typeface="Courier New" pitchFamily="49" charset="0"/>
              </a:rPr>
              <a:t>&gt; </a:t>
            </a:r>
            <a:r>
              <a:rPr kumimoji="0" lang="fr-FR" sz="1600" b="0" i="0" u="none" strike="noStrike" cap="none" normalizeH="0" baseline="0" dirty="0" smtClean="0">
                <a:ln>
                  <a:noFill/>
                </a:ln>
                <a:solidFill>
                  <a:schemeClr val="tx1"/>
                </a:solidFill>
                <a:effectLst/>
                <a:cs typeface="Arial" pitchFamily="34" charset="0"/>
              </a:rPr>
              <a:t>est conçue pour contenir des informations complémentaires au document que l'on visualise. Ces informations sont généralement placées sur le côté (bien que ce ne soit pas une obligation). </a:t>
            </a:r>
          </a:p>
        </p:txBody>
      </p:sp>
      <p:sp>
        <p:nvSpPr>
          <p:cNvPr id="6" name="Rectangle 5"/>
          <p:cNvSpPr/>
          <p:nvPr/>
        </p:nvSpPr>
        <p:spPr>
          <a:xfrm>
            <a:off x="152400" y="1009471"/>
            <a:ext cx="8686800" cy="830997"/>
          </a:xfrm>
          <a:prstGeom prst="rect">
            <a:avLst/>
          </a:prstGeom>
        </p:spPr>
        <p:txBody>
          <a:bodyPr wrap="square">
            <a:spAutoFit/>
          </a:bodyPr>
          <a:lstStyle/>
          <a:p>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aside</a:t>
            </a:r>
            <a:r>
              <a:rPr lang="fr-FR" sz="1600" dirty="0" smtClean="0">
                <a:solidFill>
                  <a:schemeClr val="tx2">
                    <a:lumMod val="60000"/>
                    <a:lumOff val="40000"/>
                  </a:schemeClr>
                </a:solidFill>
              </a:rPr>
              <a:t>&gt;</a:t>
            </a:r>
          </a:p>
          <a:p>
            <a:r>
              <a:rPr lang="fr-FR" sz="1600" dirty="0" smtClean="0">
                <a:solidFill>
                  <a:schemeClr val="tx2">
                    <a:lumMod val="60000"/>
                    <a:lumOff val="40000"/>
                  </a:schemeClr>
                </a:solidFill>
              </a:rPr>
              <a:t>    &lt;!-- Placez ici des informations complémentaires --&gt;</a:t>
            </a:r>
          </a:p>
          <a:p>
            <a:r>
              <a:rPr lang="fr-FR" sz="1600" dirty="0" smtClean="0">
                <a:solidFill>
                  <a:schemeClr val="tx2">
                    <a:lumMod val="60000"/>
                    <a:lumOff val="40000"/>
                  </a:schemeClr>
                </a:solidFill>
              </a:rPr>
              <a:t>&lt;/</a:t>
            </a:r>
            <a:r>
              <a:rPr lang="fr-FR" sz="1600" dirty="0" err="1" smtClean="0">
                <a:solidFill>
                  <a:schemeClr val="tx2">
                    <a:lumMod val="60000"/>
                    <a:lumOff val="40000"/>
                  </a:schemeClr>
                </a:solidFill>
              </a:rPr>
              <a:t>aside</a:t>
            </a:r>
            <a:r>
              <a:rPr lang="fr-FR" sz="1600" dirty="0" smtClean="0">
                <a:solidFill>
                  <a:schemeClr val="tx2">
                    <a:lumMod val="60000"/>
                    <a:lumOff val="40000"/>
                  </a:schemeClr>
                </a:solidFill>
              </a:rPr>
              <a:t>&gt;</a:t>
            </a:r>
            <a:endParaRPr lang="fr-FR" sz="1600" dirty="0">
              <a:solidFill>
                <a:schemeClr val="tx2">
                  <a:lumMod val="60000"/>
                  <a:lumOff val="40000"/>
                </a:schemeClr>
              </a:solidFill>
            </a:endParaRPr>
          </a:p>
        </p:txBody>
      </p:sp>
      <p:sp>
        <p:nvSpPr>
          <p:cNvPr id="19459" name="Rectangle 3"/>
          <p:cNvSpPr>
            <a:spLocks noChangeArrowheads="1"/>
          </p:cNvSpPr>
          <p:nvPr/>
        </p:nvSpPr>
        <p:spPr bwMode="auto">
          <a:xfrm>
            <a:off x="76200" y="1828800"/>
            <a:ext cx="891540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peut y avoir plusieurs blocs </a:t>
            </a:r>
            <a:r>
              <a:rPr kumimoji="0" lang="fr-FR" sz="1600" b="1" i="0" u="none" strike="noStrike" cap="none" normalizeH="0" baseline="0" dirty="0" smtClean="0">
                <a:ln>
                  <a:noFill/>
                </a:ln>
                <a:solidFill>
                  <a:schemeClr val="tx1"/>
                </a:solidFill>
                <a:effectLst/>
                <a:cs typeface="Courier New" pitchFamily="49" charset="0"/>
              </a:rPr>
              <a:t>&lt;</a:t>
            </a:r>
            <a:r>
              <a:rPr kumimoji="0" lang="fr-FR" sz="1600" b="1" i="0" u="none" strike="noStrike" cap="none" normalizeH="0" baseline="0" dirty="0" err="1" smtClean="0">
                <a:ln>
                  <a:noFill/>
                </a:ln>
                <a:solidFill>
                  <a:schemeClr val="tx1"/>
                </a:solidFill>
                <a:effectLst/>
                <a:cs typeface="Courier New" pitchFamily="49" charset="0"/>
              </a:rPr>
              <a:t>aside</a:t>
            </a:r>
            <a:r>
              <a:rPr kumimoji="0" lang="fr-FR" sz="1600" b="1" i="0" u="none" strike="noStrike" cap="none" normalizeH="0" baseline="0" dirty="0" smtClean="0">
                <a:ln>
                  <a:noFill/>
                </a:ln>
                <a:solidFill>
                  <a:schemeClr val="tx1"/>
                </a:solidFill>
                <a:effectLst/>
                <a:cs typeface="Courier New" pitchFamily="49" charset="0"/>
              </a:rPr>
              <a:t>&gt; </a:t>
            </a:r>
            <a:r>
              <a:rPr kumimoji="0" lang="fr-FR" sz="1600" b="0" i="0" u="none" strike="noStrike" cap="none" normalizeH="0" baseline="0" dirty="0" smtClean="0">
                <a:ln>
                  <a:noFill/>
                </a:ln>
                <a:solidFill>
                  <a:schemeClr val="tx1"/>
                </a:solidFill>
                <a:effectLst/>
                <a:cs typeface="Arial" pitchFamily="34" charset="0"/>
              </a:rPr>
              <a:t>dans la page. </a:t>
            </a:r>
          </a:p>
        </p:txBody>
      </p:sp>
      <p:pic>
        <p:nvPicPr>
          <p:cNvPr id="8" name="Picture 7" descr="16.png"/>
          <p:cNvPicPr>
            <a:picLocks noChangeAspect="1"/>
          </p:cNvPicPr>
          <p:nvPr/>
        </p:nvPicPr>
        <p:blipFill>
          <a:blip r:embed="rId2"/>
          <a:stretch>
            <a:fillRect/>
          </a:stretch>
        </p:blipFill>
        <p:spPr>
          <a:xfrm>
            <a:off x="1276350" y="2514600"/>
            <a:ext cx="6572250" cy="381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76200" y="152400"/>
            <a:ext cx="8991600" cy="335961"/>
          </a:xfrm>
          <a:prstGeom prst="rect">
            <a:avLst/>
          </a:prstGeom>
          <a:solidFill>
            <a:srgbClr val="FFFFFF"/>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sng" strike="noStrike" cap="none" normalizeH="0" baseline="0" dirty="0" smtClean="0">
                <a:ln>
                  <a:noFill/>
                </a:ln>
                <a:solidFill>
                  <a:schemeClr val="tx1"/>
                </a:solidFill>
                <a:effectLst/>
                <a:cs typeface="Courier New" pitchFamily="49" charset="0"/>
              </a:rPr>
              <a:t>&lt;article&gt;</a:t>
            </a:r>
            <a:r>
              <a:rPr kumimoji="0" lang="fr-FR" sz="1600" b="1" i="0" u="sng" strike="noStrike" cap="none" normalizeH="0" baseline="0" dirty="0" smtClean="0">
                <a:ln>
                  <a:noFill/>
                </a:ln>
                <a:solidFill>
                  <a:schemeClr val="tx1"/>
                </a:solidFill>
                <a:effectLst/>
                <a:cs typeface="Arial" pitchFamily="34" charset="0"/>
              </a:rPr>
              <a:t>: un article indépendant</a:t>
            </a:r>
          </a:p>
        </p:txBody>
      </p:sp>
      <p:sp>
        <p:nvSpPr>
          <p:cNvPr id="20482" name="Rectangle 2"/>
          <p:cNvSpPr>
            <a:spLocks noChangeArrowheads="1"/>
          </p:cNvSpPr>
          <p:nvPr/>
        </p:nvSpPr>
        <p:spPr bwMode="auto">
          <a:xfrm>
            <a:off x="76200" y="533400"/>
            <a:ext cx="89154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La balise </a:t>
            </a:r>
            <a:r>
              <a:rPr kumimoji="0" lang="fr-FR" sz="1600" b="1" i="0" u="none" strike="noStrike" cap="none" normalizeH="0" baseline="0" dirty="0" smtClean="0">
                <a:ln>
                  <a:noFill/>
                </a:ln>
                <a:solidFill>
                  <a:srgbClr val="FF0000"/>
                </a:solidFill>
                <a:effectLst/>
                <a:cs typeface="Courier New" pitchFamily="49" charset="0"/>
              </a:rPr>
              <a:t>&lt;article&gt; </a:t>
            </a:r>
            <a:r>
              <a:rPr kumimoji="0" lang="fr-FR" sz="1600" b="0" i="0" u="none" strike="noStrike" cap="none" normalizeH="0" baseline="0" dirty="0" smtClean="0">
                <a:ln>
                  <a:noFill/>
                </a:ln>
                <a:solidFill>
                  <a:schemeClr val="tx1"/>
                </a:solidFill>
                <a:effectLst/>
                <a:cs typeface="Arial" pitchFamily="34" charset="0"/>
              </a:rPr>
              <a:t>sert à englober une portion généralement autonome de la page. C'est une partie de la page qui pourrait ainsi être reprise sur un autre site. C'est le cas par exemple des actualités (articles de journaux ou de blogs). </a:t>
            </a:r>
          </a:p>
        </p:txBody>
      </p:sp>
      <p:sp>
        <p:nvSpPr>
          <p:cNvPr id="6" name="Rectangle 5"/>
          <p:cNvSpPr/>
          <p:nvPr/>
        </p:nvSpPr>
        <p:spPr>
          <a:xfrm>
            <a:off x="152400" y="1447800"/>
            <a:ext cx="8763000" cy="1077218"/>
          </a:xfrm>
          <a:prstGeom prst="rect">
            <a:avLst/>
          </a:prstGeom>
        </p:spPr>
        <p:txBody>
          <a:bodyPr wrap="square">
            <a:spAutoFit/>
          </a:bodyPr>
          <a:lstStyle/>
          <a:p>
            <a:r>
              <a:rPr lang="it-IT" sz="1600" dirty="0" smtClean="0">
                <a:solidFill>
                  <a:schemeClr val="tx2">
                    <a:lumMod val="60000"/>
                    <a:lumOff val="40000"/>
                  </a:schemeClr>
                </a:solidFill>
              </a:rPr>
              <a:t>&lt;article&gt;</a:t>
            </a:r>
          </a:p>
          <a:p>
            <a:r>
              <a:rPr lang="it-IT" sz="1600" dirty="0" smtClean="0">
                <a:solidFill>
                  <a:schemeClr val="tx2">
                    <a:lumMod val="60000"/>
                    <a:lumOff val="40000"/>
                  </a:schemeClr>
                </a:solidFill>
              </a:rPr>
              <a:t>    &lt;h1&gt;Mon article&lt;/h1&gt;</a:t>
            </a:r>
          </a:p>
          <a:p>
            <a:r>
              <a:rPr lang="it-IT" sz="1600" dirty="0" smtClean="0">
                <a:solidFill>
                  <a:schemeClr val="tx2">
                    <a:lumMod val="60000"/>
                    <a:lumOff val="40000"/>
                  </a:schemeClr>
                </a:solidFill>
              </a:rPr>
              <a:t>    &lt;p&gt;Bla bla bla bla&lt;/p&gt;</a:t>
            </a:r>
          </a:p>
          <a:p>
            <a:r>
              <a:rPr lang="it-IT" sz="1600" dirty="0" smtClean="0">
                <a:solidFill>
                  <a:schemeClr val="tx2">
                    <a:lumMod val="60000"/>
                    <a:lumOff val="40000"/>
                  </a:schemeClr>
                </a:solidFill>
              </a:rPr>
              <a:t>&lt;/article&gt;</a:t>
            </a:r>
            <a:endParaRPr lang="fr-FR" sz="1600" dirty="0">
              <a:solidFill>
                <a:schemeClr val="tx2">
                  <a:lumMod val="60000"/>
                  <a:lumOff val="40000"/>
                </a:schemeClr>
              </a:solidFill>
            </a:endParaRPr>
          </a:p>
        </p:txBody>
      </p:sp>
      <p:pic>
        <p:nvPicPr>
          <p:cNvPr id="7" name="Picture 6" descr="17.png"/>
          <p:cNvPicPr>
            <a:picLocks noChangeAspect="1"/>
          </p:cNvPicPr>
          <p:nvPr/>
        </p:nvPicPr>
        <p:blipFill>
          <a:blip r:embed="rId2"/>
          <a:stretch>
            <a:fillRect/>
          </a:stretch>
        </p:blipFill>
        <p:spPr>
          <a:xfrm>
            <a:off x="1447800" y="2514600"/>
            <a:ext cx="6324600" cy="41168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8686800" cy="338554"/>
          </a:xfrm>
          <a:prstGeom prst="rect">
            <a:avLst/>
          </a:prstGeom>
        </p:spPr>
        <p:txBody>
          <a:bodyPr wrap="square">
            <a:spAutoFit/>
          </a:bodyPr>
          <a:lstStyle/>
          <a:p>
            <a:r>
              <a:rPr lang="fr-FR" sz="1600" b="1" u="sng" dirty="0" smtClean="0"/>
              <a:t>Résumé</a:t>
            </a:r>
            <a:endParaRPr lang="fr-FR" sz="1600" b="1" u="sng" dirty="0"/>
          </a:p>
        </p:txBody>
      </p:sp>
      <p:pic>
        <p:nvPicPr>
          <p:cNvPr id="5" name="Picture 4" descr="18.png"/>
          <p:cNvPicPr>
            <a:picLocks noChangeAspect="1"/>
          </p:cNvPicPr>
          <p:nvPr/>
        </p:nvPicPr>
        <p:blipFill>
          <a:blip r:embed="rId2"/>
          <a:stretch>
            <a:fillRect/>
          </a:stretch>
        </p:blipFill>
        <p:spPr>
          <a:xfrm>
            <a:off x="1875788" y="685800"/>
            <a:ext cx="4833986" cy="5715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228600" y="152400"/>
            <a:ext cx="8763000" cy="2554545"/>
          </a:xfrm>
          <a:prstGeom prst="rect">
            <a:avLst/>
          </a:prstGeom>
          <a:solidFill>
            <a:schemeClr val="bg1"/>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FF0000"/>
                </a:solidFill>
                <a:effectLst/>
                <a:cs typeface="Arial" pitchFamily="34" charset="0"/>
              </a:rPr>
              <a:t>Ne vous y trompez pas : ce schéma propose un </a:t>
            </a:r>
            <a:r>
              <a:rPr kumimoji="0" lang="fr-FR" sz="1600" b="0" i="1" u="none" strike="noStrike" cap="none" normalizeH="0" baseline="0" dirty="0" smtClean="0">
                <a:ln>
                  <a:noFill/>
                </a:ln>
                <a:solidFill>
                  <a:srgbClr val="FF0000"/>
                </a:solidFill>
                <a:effectLst/>
                <a:cs typeface="Arial" pitchFamily="34" charset="0"/>
              </a:rPr>
              <a:t>exemple</a:t>
            </a:r>
            <a:r>
              <a:rPr kumimoji="0" lang="fr-FR" sz="1600" b="0" i="0" u="none" strike="noStrike" cap="none" normalizeH="0" baseline="0" dirty="0" smtClean="0">
                <a:ln>
                  <a:noFill/>
                </a:ln>
                <a:solidFill>
                  <a:srgbClr val="FF0000"/>
                </a:solidFill>
                <a:effectLst/>
                <a:cs typeface="Arial" pitchFamily="34" charset="0"/>
              </a:rPr>
              <a:t> d'organisation de la page. Rien ne vous empêche de décider que votre menu de navigation soit à droite, ou tout en haut, que vos balises </a:t>
            </a:r>
            <a:r>
              <a:rPr kumimoji="0" lang="fr-FR" sz="1600" b="0" i="0" u="none" strike="noStrike" cap="none" normalizeH="0" baseline="0" dirty="0" smtClean="0">
                <a:ln>
                  <a:noFill/>
                </a:ln>
                <a:solidFill>
                  <a:srgbClr val="FF0000"/>
                </a:solidFill>
                <a:effectLst/>
                <a:cs typeface="Courier New" pitchFamily="49" charset="0"/>
              </a:rPr>
              <a:t>&lt;</a:t>
            </a:r>
            <a:r>
              <a:rPr kumimoji="0" lang="fr-FR" sz="1600" b="0" i="0" u="none" strike="noStrike" cap="none" normalizeH="0" baseline="0" dirty="0" err="1" smtClean="0">
                <a:ln>
                  <a:noFill/>
                </a:ln>
                <a:solidFill>
                  <a:srgbClr val="FF0000"/>
                </a:solidFill>
                <a:effectLst/>
                <a:cs typeface="Courier New" pitchFamily="49" charset="0"/>
              </a:rPr>
              <a:t>aside</a:t>
            </a:r>
            <a:r>
              <a:rPr kumimoji="0" lang="fr-FR" sz="1600" b="0" i="0" u="none" strike="noStrike" cap="none" normalizeH="0" baseline="0" dirty="0" smtClean="0">
                <a:ln>
                  <a:noFill/>
                </a:ln>
                <a:solidFill>
                  <a:srgbClr val="FF0000"/>
                </a:solidFill>
                <a:effectLst/>
                <a:cs typeface="Courier New" pitchFamily="49" charset="0"/>
              </a:rPr>
              <a:t>&gt; </a:t>
            </a:r>
            <a:r>
              <a:rPr kumimoji="0" lang="fr-FR" sz="1600" b="0" i="0" u="none" strike="noStrike" cap="none" normalizeH="0" baseline="0" dirty="0" smtClean="0">
                <a:ln>
                  <a:noFill/>
                </a:ln>
                <a:solidFill>
                  <a:srgbClr val="FF0000"/>
                </a:solidFill>
                <a:effectLst/>
                <a:cs typeface="Arial" pitchFamily="34" charset="0"/>
              </a:rPr>
              <a:t>soient au-dessus, etc.</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FF0000"/>
                </a:solidFill>
                <a:effectLst/>
                <a:cs typeface="Arial" pitchFamily="34" charset="0"/>
              </a:rPr>
              <a:t/>
            </a:r>
            <a:br>
              <a:rPr kumimoji="0" lang="fr-FR" sz="1600" b="0" i="0" u="none" strike="noStrike" cap="none" normalizeH="0" baseline="0" dirty="0" smtClean="0">
                <a:ln>
                  <a:noFill/>
                </a:ln>
                <a:solidFill>
                  <a:srgbClr val="FF0000"/>
                </a:solidFill>
                <a:effectLst/>
                <a:cs typeface="Arial" pitchFamily="34" charset="0"/>
              </a:rPr>
            </a:br>
            <a:r>
              <a:rPr kumimoji="0" lang="fr-FR" sz="1600" b="0" i="0" u="none" strike="noStrike" cap="none" normalizeH="0" baseline="0" dirty="0" smtClean="0">
                <a:ln>
                  <a:noFill/>
                </a:ln>
                <a:solidFill>
                  <a:srgbClr val="FF0000"/>
                </a:solidFill>
                <a:effectLst/>
                <a:cs typeface="Arial" pitchFamily="34" charset="0"/>
              </a:rPr>
              <a:t>On peut même imaginer une seconde balise </a:t>
            </a:r>
            <a:r>
              <a:rPr kumimoji="0" lang="fr-FR" sz="1600" b="0" i="0" u="none" strike="noStrike" cap="none" normalizeH="0" baseline="0" dirty="0" smtClean="0">
                <a:ln>
                  <a:noFill/>
                </a:ln>
                <a:solidFill>
                  <a:srgbClr val="FF0000"/>
                </a:solidFill>
                <a:effectLst/>
                <a:cs typeface="Courier New" pitchFamily="49" charset="0"/>
              </a:rPr>
              <a:t>&lt;header&gt;</a:t>
            </a:r>
            <a:r>
              <a:rPr kumimoji="0" lang="fr-FR" sz="1600" b="0" i="0" u="none" strike="noStrike" cap="none" normalizeH="0" baseline="0" dirty="0" smtClean="0">
                <a:ln>
                  <a:noFill/>
                </a:ln>
                <a:solidFill>
                  <a:srgbClr val="FF0000"/>
                </a:solidFill>
                <a:effectLst/>
                <a:cs typeface="Arial" pitchFamily="34" charset="0"/>
              </a:rPr>
              <a:t>, placée cette fois à l'intérieur d'une </a:t>
            </a:r>
            <a:r>
              <a:rPr kumimoji="0" lang="fr-FR" sz="1600" b="0" i="0" u="none" strike="noStrike" cap="none" normalizeH="0" baseline="0" dirty="0" smtClean="0">
                <a:ln>
                  <a:noFill/>
                </a:ln>
                <a:solidFill>
                  <a:srgbClr val="FF0000"/>
                </a:solidFill>
                <a:effectLst/>
                <a:cs typeface="Courier New" pitchFamily="49" charset="0"/>
              </a:rPr>
              <a:t>&lt;section&gt;</a:t>
            </a:r>
            <a:r>
              <a:rPr kumimoji="0" lang="fr-FR" sz="1600" b="0" i="0" u="none" strike="noStrike" cap="none" normalizeH="0" baseline="0" dirty="0" smtClean="0">
                <a:ln>
                  <a:noFill/>
                </a:ln>
                <a:solidFill>
                  <a:srgbClr val="FF0000"/>
                </a:solidFill>
                <a:effectLst/>
                <a:cs typeface="Arial" pitchFamily="34" charset="0"/>
              </a:rPr>
              <a:t>. Dans ce cas-là, elle sera considérée comme étant l'en-tête de la section.</a:t>
            </a:r>
          </a:p>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rgbClr val="FF0000"/>
                </a:solidFill>
                <a:effectLst/>
                <a:cs typeface="Arial" pitchFamily="34" charset="0"/>
              </a:rPr>
              <a:t/>
            </a:r>
            <a:br>
              <a:rPr kumimoji="0" lang="fr-FR" sz="1600" b="0" i="0" u="none" strike="noStrike" cap="none" normalizeH="0" baseline="0" dirty="0" smtClean="0">
                <a:ln>
                  <a:noFill/>
                </a:ln>
                <a:solidFill>
                  <a:srgbClr val="FF0000"/>
                </a:solidFill>
                <a:effectLst/>
                <a:cs typeface="Arial" pitchFamily="34" charset="0"/>
              </a:rPr>
            </a:br>
            <a:r>
              <a:rPr kumimoji="0" lang="fr-FR" sz="1600" b="0" i="0" u="none" strike="noStrike" cap="none" normalizeH="0" baseline="0" dirty="0" smtClean="0">
                <a:ln>
                  <a:noFill/>
                </a:ln>
                <a:solidFill>
                  <a:srgbClr val="FF0000"/>
                </a:solidFill>
                <a:effectLst/>
                <a:cs typeface="Arial" pitchFamily="34" charset="0"/>
              </a:rPr>
              <a:t>Enfin, une section ne doit pas forcément contenir un </a:t>
            </a:r>
            <a:r>
              <a:rPr kumimoji="0" lang="fr-FR" sz="1600" b="0" i="0" u="none" strike="noStrike" cap="none" normalizeH="0" baseline="0" dirty="0" smtClean="0">
                <a:ln>
                  <a:noFill/>
                </a:ln>
                <a:solidFill>
                  <a:srgbClr val="FF0000"/>
                </a:solidFill>
                <a:effectLst/>
                <a:cs typeface="Courier New" pitchFamily="49" charset="0"/>
              </a:rPr>
              <a:t>&lt;article&gt; </a:t>
            </a:r>
            <a:r>
              <a:rPr kumimoji="0" lang="fr-FR" sz="1600" b="0" i="0" u="none" strike="noStrike" cap="none" normalizeH="0" baseline="0" dirty="0" smtClean="0">
                <a:ln>
                  <a:noFill/>
                </a:ln>
                <a:solidFill>
                  <a:srgbClr val="FF0000"/>
                </a:solidFill>
                <a:effectLst/>
                <a:cs typeface="Arial" pitchFamily="34" charset="0"/>
              </a:rPr>
              <a:t>et des </a:t>
            </a:r>
            <a:r>
              <a:rPr kumimoji="0" lang="fr-FR" sz="1600" b="0" i="0" u="none" strike="noStrike" cap="none" normalizeH="0" baseline="0" dirty="0" smtClean="0">
                <a:ln>
                  <a:noFill/>
                </a:ln>
                <a:solidFill>
                  <a:srgbClr val="FF0000"/>
                </a:solidFill>
                <a:effectLst/>
                <a:cs typeface="Courier New" pitchFamily="49" charset="0"/>
              </a:rPr>
              <a:t>&lt;</a:t>
            </a:r>
            <a:r>
              <a:rPr kumimoji="0" lang="fr-FR" sz="1600" b="0" i="0" u="none" strike="noStrike" cap="none" normalizeH="0" baseline="0" dirty="0" err="1" smtClean="0">
                <a:ln>
                  <a:noFill/>
                </a:ln>
                <a:solidFill>
                  <a:srgbClr val="FF0000"/>
                </a:solidFill>
                <a:effectLst/>
                <a:cs typeface="Courier New" pitchFamily="49" charset="0"/>
              </a:rPr>
              <a:t>aside</a:t>
            </a:r>
            <a:r>
              <a:rPr kumimoji="0" lang="fr-FR" sz="1600" b="0" i="0" u="none" strike="noStrike" cap="none" normalizeH="0" baseline="0" dirty="0" smtClean="0">
                <a:ln>
                  <a:noFill/>
                </a:ln>
                <a:solidFill>
                  <a:srgbClr val="FF0000"/>
                </a:solidFill>
                <a:effectLst/>
                <a:cs typeface="Courier New" pitchFamily="49" charset="0"/>
              </a:rPr>
              <a:t>&gt;</a:t>
            </a:r>
            <a:r>
              <a:rPr kumimoji="0" lang="fr-FR" sz="1600" b="0" i="0" u="none" strike="noStrike" cap="none" normalizeH="0" baseline="0" dirty="0" smtClean="0">
                <a:ln>
                  <a:noFill/>
                </a:ln>
                <a:solidFill>
                  <a:srgbClr val="FF0000"/>
                </a:solidFill>
                <a:effectLst/>
                <a:cs typeface="Arial" pitchFamily="34" charset="0"/>
              </a:rPr>
              <a:t>. Utilisez ces balises uniquement si vous en avez besoin. Rien ne vous interdit de créer des sections contenant seulement des paragraphes, par exemple.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52400"/>
            <a:ext cx="3611501" cy="338554"/>
          </a:xfrm>
          <a:prstGeom prst="rect">
            <a:avLst/>
          </a:prstGeom>
        </p:spPr>
        <p:txBody>
          <a:bodyPr wrap="none">
            <a:spAutoFit/>
          </a:bodyPr>
          <a:lstStyle/>
          <a:p>
            <a:r>
              <a:rPr lang="fr-FR" sz="1600" b="1" u="sng" dirty="0" smtClean="0"/>
              <a:t>Exemple concret d'utilisation des balises</a:t>
            </a:r>
            <a:endParaRPr lang="fr-FR" sz="1600" b="1" u="sng" dirty="0"/>
          </a:p>
        </p:txBody>
      </p:sp>
      <p:sp>
        <p:nvSpPr>
          <p:cNvPr id="5" name="Rectangle 4"/>
          <p:cNvSpPr/>
          <p:nvPr/>
        </p:nvSpPr>
        <p:spPr>
          <a:xfrm>
            <a:off x="228600" y="533400"/>
            <a:ext cx="8686800" cy="6093976"/>
          </a:xfrm>
          <a:prstGeom prst="rect">
            <a:avLst/>
          </a:prstGeom>
        </p:spPr>
        <p:txBody>
          <a:bodyPr wrap="square">
            <a:spAutoFit/>
          </a:bodyPr>
          <a:lstStyle/>
          <a:p>
            <a:r>
              <a:rPr lang="fr-FR" sz="1000" dirty="0" smtClean="0">
                <a:solidFill>
                  <a:schemeClr val="tx2">
                    <a:lumMod val="60000"/>
                    <a:lumOff val="40000"/>
                  </a:schemeClr>
                </a:solidFill>
              </a:rPr>
              <a:t>&lt;!DOCTYPE html&gt;</a:t>
            </a:r>
          </a:p>
          <a:p>
            <a:r>
              <a:rPr lang="fr-FR" sz="1000" dirty="0" smtClean="0">
                <a:solidFill>
                  <a:schemeClr val="tx2">
                    <a:lumMod val="60000"/>
                    <a:lumOff val="40000"/>
                  </a:schemeClr>
                </a:solidFill>
              </a:rPr>
              <a:t>&lt;html&gt;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head</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meta</a:t>
            </a:r>
            <a:r>
              <a:rPr lang="fr-FR" sz="1000" dirty="0" smtClean="0">
                <a:solidFill>
                  <a:schemeClr val="tx2">
                    <a:lumMod val="60000"/>
                    <a:lumOff val="40000"/>
                  </a:schemeClr>
                </a:solidFill>
              </a:rPr>
              <a:t> </a:t>
            </a:r>
            <a:r>
              <a:rPr lang="fr-FR" sz="1000" dirty="0" err="1" smtClean="0">
                <a:solidFill>
                  <a:schemeClr val="tx2">
                    <a:lumMod val="60000"/>
                    <a:lumOff val="40000"/>
                  </a:schemeClr>
                </a:solidFill>
              </a:rPr>
              <a:t>charset</a:t>
            </a:r>
            <a:r>
              <a:rPr lang="fr-FR" sz="1000" dirty="0" smtClean="0">
                <a:solidFill>
                  <a:schemeClr val="tx2">
                    <a:lumMod val="60000"/>
                    <a:lumOff val="40000"/>
                  </a:schemeClr>
                </a:solidFill>
              </a:rPr>
              <a:t>="</a:t>
            </a:r>
            <a:r>
              <a:rPr lang="fr-FR" sz="1000" dirty="0" err="1" smtClean="0">
                <a:solidFill>
                  <a:schemeClr val="tx2">
                    <a:lumMod val="60000"/>
                    <a:lumOff val="40000"/>
                  </a:schemeClr>
                </a:solidFill>
              </a:rPr>
              <a:t>utf</a:t>
            </a:r>
            <a:r>
              <a:rPr lang="fr-FR" sz="1000" dirty="0" smtClean="0">
                <a:solidFill>
                  <a:schemeClr val="tx2">
                    <a:lumMod val="60000"/>
                    <a:lumOff val="40000"/>
                  </a:schemeClr>
                </a:solidFill>
              </a:rPr>
              <a:t>-8" /&gt;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title</a:t>
            </a:r>
            <a:r>
              <a:rPr lang="fr-FR" sz="1000" dirty="0" smtClean="0">
                <a:solidFill>
                  <a:schemeClr val="tx2">
                    <a:lumMod val="60000"/>
                    <a:lumOff val="40000"/>
                  </a:schemeClr>
                </a:solidFill>
              </a:rPr>
              <a:t>&gt;</a:t>
            </a:r>
            <a:r>
              <a:rPr lang="fr-FR" sz="1000" dirty="0" err="1" smtClean="0">
                <a:solidFill>
                  <a:schemeClr val="tx2">
                    <a:lumMod val="60000"/>
                    <a:lumOff val="40000"/>
                  </a:schemeClr>
                </a:solidFill>
              </a:rPr>
              <a:t>Zozor</a:t>
            </a:r>
            <a:r>
              <a:rPr lang="fr-FR" sz="1000" dirty="0" smtClean="0">
                <a:solidFill>
                  <a:schemeClr val="tx2">
                    <a:lumMod val="60000"/>
                    <a:lumOff val="40000"/>
                  </a:schemeClr>
                </a:solidFill>
              </a:rPr>
              <a:t> - Le Site Web&lt;/</a:t>
            </a:r>
            <a:r>
              <a:rPr lang="fr-FR" sz="1000" dirty="0" err="1" smtClean="0">
                <a:solidFill>
                  <a:schemeClr val="tx2">
                    <a:lumMod val="60000"/>
                    <a:lumOff val="40000"/>
                  </a:schemeClr>
                </a:solidFill>
              </a:rPr>
              <a:t>title</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head</a:t>
            </a:r>
            <a:r>
              <a:rPr lang="fr-FR" sz="1000" dirty="0" smtClean="0">
                <a:solidFill>
                  <a:schemeClr val="tx2">
                    <a:lumMod val="60000"/>
                    <a:lumOff val="40000"/>
                  </a:schemeClr>
                </a:solidFill>
              </a:rPr>
              <a:t>&gt;</a:t>
            </a:r>
          </a:p>
          <a:p>
            <a:endParaRPr lang="fr-FR" sz="1000" dirty="0" smtClean="0">
              <a:solidFill>
                <a:schemeClr val="tx2">
                  <a:lumMod val="60000"/>
                  <a:lumOff val="40000"/>
                </a:schemeClr>
              </a:solidFill>
            </a:endParaRPr>
          </a:p>
          <a:p>
            <a:r>
              <a:rPr lang="fr-FR" sz="1000" dirty="0" smtClean="0">
                <a:solidFill>
                  <a:schemeClr val="tx2">
                    <a:lumMod val="60000"/>
                    <a:lumOff val="40000"/>
                  </a:schemeClr>
                </a:solidFill>
              </a:rPr>
              <a:t>    &lt;body&gt;</a:t>
            </a:r>
          </a:p>
          <a:p>
            <a:r>
              <a:rPr lang="fr-FR" sz="1000" dirty="0" smtClean="0">
                <a:solidFill>
                  <a:schemeClr val="tx2">
                    <a:lumMod val="60000"/>
                    <a:lumOff val="40000"/>
                  </a:schemeClr>
                </a:solidFill>
              </a:rPr>
              <a:t>        &lt;header&gt;</a:t>
            </a:r>
          </a:p>
          <a:p>
            <a:r>
              <a:rPr lang="fr-FR" sz="1000" dirty="0" smtClean="0">
                <a:solidFill>
                  <a:schemeClr val="tx2">
                    <a:lumMod val="60000"/>
                    <a:lumOff val="40000"/>
                  </a:schemeClr>
                </a:solidFill>
              </a:rPr>
              <a:t>            &lt;h1&gt;Abidjan Immobilier&lt;/h1&gt;</a:t>
            </a:r>
          </a:p>
          <a:p>
            <a:r>
              <a:rPr lang="fr-FR" sz="1000" dirty="0" smtClean="0">
                <a:solidFill>
                  <a:schemeClr val="tx2">
                    <a:lumMod val="60000"/>
                    <a:lumOff val="40000"/>
                  </a:schemeClr>
                </a:solidFill>
              </a:rPr>
              <a:t>            &lt;h2&gt;Annonces immobilières&lt;/h2&gt;</a:t>
            </a:r>
          </a:p>
          <a:p>
            <a:r>
              <a:rPr lang="fr-FR" sz="1000" dirty="0" smtClean="0">
                <a:solidFill>
                  <a:schemeClr val="tx2">
                    <a:lumMod val="60000"/>
                    <a:lumOff val="40000"/>
                  </a:schemeClr>
                </a:solidFill>
              </a:rPr>
              <a:t>        &lt;/header&gt;</a:t>
            </a:r>
          </a:p>
          <a:p>
            <a:r>
              <a:rPr lang="fr-FR" sz="1000" dirty="0" smtClean="0">
                <a:solidFill>
                  <a:schemeClr val="tx2">
                    <a:lumMod val="60000"/>
                    <a:lumOff val="40000"/>
                  </a:schemeClr>
                </a:solidFill>
              </a:rPr>
              <a:t>        </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nav</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ul</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&lt;li&gt;&lt;a </a:t>
            </a:r>
            <a:r>
              <a:rPr lang="fr-FR" sz="1000" dirty="0" err="1" smtClean="0">
                <a:solidFill>
                  <a:schemeClr val="tx2">
                    <a:lumMod val="60000"/>
                    <a:lumOff val="40000"/>
                  </a:schemeClr>
                </a:solidFill>
              </a:rPr>
              <a:t>href</a:t>
            </a:r>
            <a:r>
              <a:rPr lang="fr-FR" sz="1000" dirty="0" smtClean="0">
                <a:solidFill>
                  <a:schemeClr val="tx2">
                    <a:lumMod val="60000"/>
                    <a:lumOff val="40000"/>
                  </a:schemeClr>
                </a:solidFill>
              </a:rPr>
              <a:t>="#"&gt;Accueil&lt;/a&gt;&lt;/li&gt;</a:t>
            </a:r>
          </a:p>
          <a:p>
            <a:r>
              <a:rPr lang="fr-FR" sz="1000" dirty="0" smtClean="0">
                <a:solidFill>
                  <a:schemeClr val="tx2">
                    <a:lumMod val="60000"/>
                    <a:lumOff val="40000"/>
                  </a:schemeClr>
                </a:solidFill>
              </a:rPr>
              <a:t>                &lt;li&gt;&lt;a </a:t>
            </a:r>
            <a:r>
              <a:rPr lang="fr-FR" sz="1000" dirty="0" err="1" smtClean="0">
                <a:solidFill>
                  <a:schemeClr val="tx2">
                    <a:lumMod val="60000"/>
                    <a:lumOff val="40000"/>
                  </a:schemeClr>
                </a:solidFill>
              </a:rPr>
              <a:t>href</a:t>
            </a:r>
            <a:r>
              <a:rPr lang="fr-FR" sz="1000" dirty="0" smtClean="0">
                <a:solidFill>
                  <a:schemeClr val="tx2">
                    <a:lumMod val="60000"/>
                    <a:lumOff val="40000"/>
                  </a:schemeClr>
                </a:solidFill>
              </a:rPr>
              <a:t>="#"&gt;Recherches immobilières&lt;/a&gt;&lt;/li&gt;</a:t>
            </a:r>
          </a:p>
          <a:p>
            <a:r>
              <a:rPr lang="fr-FR" sz="1000" dirty="0" smtClean="0">
                <a:solidFill>
                  <a:schemeClr val="tx2">
                    <a:lumMod val="60000"/>
                    <a:lumOff val="40000"/>
                  </a:schemeClr>
                </a:solidFill>
              </a:rPr>
              <a:t>                &lt;li&gt;&lt;a </a:t>
            </a:r>
            <a:r>
              <a:rPr lang="fr-FR" sz="1000" dirty="0" err="1" smtClean="0">
                <a:solidFill>
                  <a:schemeClr val="tx2">
                    <a:lumMod val="60000"/>
                    <a:lumOff val="40000"/>
                  </a:schemeClr>
                </a:solidFill>
              </a:rPr>
              <a:t>href</a:t>
            </a:r>
            <a:r>
              <a:rPr lang="fr-FR" sz="1000" dirty="0" smtClean="0">
                <a:solidFill>
                  <a:schemeClr val="tx2">
                    <a:lumMod val="60000"/>
                    <a:lumOff val="40000"/>
                  </a:schemeClr>
                </a:solidFill>
              </a:rPr>
              <a:t>="#"&gt;Publier une annonce&lt;/a&gt;&lt;/li&gt;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ul</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nav</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a:t>
            </a:r>
          </a:p>
          <a:p>
            <a:r>
              <a:rPr lang="fr-FR" sz="1000" dirty="0" smtClean="0">
                <a:solidFill>
                  <a:schemeClr val="tx2">
                    <a:lumMod val="60000"/>
                    <a:lumOff val="40000"/>
                  </a:schemeClr>
                </a:solidFill>
              </a:rPr>
              <a:t>        &lt;section&gt;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aside</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&lt;h1&gt;Annonces récentes&lt;/h1&gt;</a:t>
            </a:r>
          </a:p>
          <a:p>
            <a:r>
              <a:rPr lang="fr-FR" sz="1000" dirty="0" smtClean="0">
                <a:solidFill>
                  <a:schemeClr val="tx2">
                    <a:lumMod val="60000"/>
                    <a:lumOff val="40000"/>
                  </a:schemeClr>
                </a:solidFill>
              </a:rPr>
              <a:t>                &lt;p&gt;Location d’une maison à </a:t>
            </a:r>
            <a:r>
              <a:rPr lang="fr-FR" sz="1000" dirty="0" err="1" smtClean="0">
                <a:solidFill>
                  <a:schemeClr val="tx2">
                    <a:lumMod val="60000"/>
                    <a:lumOff val="40000"/>
                  </a:schemeClr>
                </a:solidFill>
              </a:rPr>
              <a:t>Cocodyp</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aside</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&lt;article&gt;                </a:t>
            </a:r>
          </a:p>
          <a:p>
            <a:r>
              <a:rPr lang="fr-FR" sz="1000" dirty="0" smtClean="0">
                <a:solidFill>
                  <a:schemeClr val="tx2">
                    <a:lumMod val="60000"/>
                    <a:lumOff val="40000"/>
                  </a:schemeClr>
                </a:solidFill>
              </a:rPr>
              <a:t>                &lt;h1&gt;Locations meublées d’</a:t>
            </a:r>
            <a:r>
              <a:rPr lang="fr-FR" sz="1000" dirty="0" err="1" smtClean="0">
                <a:solidFill>
                  <a:schemeClr val="tx2">
                    <a:lumMod val="60000"/>
                    <a:lumOff val="40000"/>
                  </a:schemeClr>
                </a:solidFill>
              </a:rPr>
              <a:t>abidjan</a:t>
            </a:r>
            <a:r>
              <a:rPr lang="fr-FR" sz="1000" dirty="0" smtClean="0">
                <a:solidFill>
                  <a:schemeClr val="tx2">
                    <a:lumMod val="60000"/>
                    <a:lumOff val="40000"/>
                  </a:schemeClr>
                </a:solidFill>
              </a:rPr>
              <a:t>&lt;/h1&gt;</a:t>
            </a:r>
          </a:p>
          <a:p>
            <a:r>
              <a:rPr lang="fr-FR" sz="1000" dirty="0" smtClean="0">
                <a:solidFill>
                  <a:schemeClr val="tx2">
                    <a:lumMod val="60000"/>
                    <a:lumOff val="40000"/>
                  </a:schemeClr>
                </a:solidFill>
              </a:rPr>
              <a:t>                &lt;p&gt;Bla </a:t>
            </a:r>
            <a:r>
              <a:rPr lang="fr-FR" sz="1000" dirty="0" err="1" smtClean="0">
                <a:solidFill>
                  <a:schemeClr val="tx2">
                    <a:lumMod val="60000"/>
                    <a:lumOff val="40000"/>
                  </a:schemeClr>
                </a:solidFill>
              </a:rPr>
              <a:t>bla</a:t>
            </a:r>
            <a:r>
              <a:rPr lang="fr-FR" sz="1000" dirty="0" smtClean="0">
                <a:solidFill>
                  <a:schemeClr val="tx2">
                    <a:lumMod val="60000"/>
                    <a:lumOff val="40000"/>
                  </a:schemeClr>
                </a:solidFill>
              </a:rPr>
              <a:t> </a:t>
            </a:r>
            <a:r>
              <a:rPr lang="fr-FR" sz="1000" dirty="0" err="1" smtClean="0">
                <a:solidFill>
                  <a:schemeClr val="tx2">
                    <a:lumMod val="60000"/>
                    <a:lumOff val="40000"/>
                  </a:schemeClr>
                </a:solidFill>
              </a:rPr>
              <a:t>bla</a:t>
            </a:r>
            <a:r>
              <a:rPr lang="fr-FR" sz="1000" dirty="0" smtClean="0">
                <a:solidFill>
                  <a:schemeClr val="tx2">
                    <a:lumMod val="60000"/>
                    <a:lumOff val="40000"/>
                  </a:schemeClr>
                </a:solidFill>
              </a:rPr>
              <a:t> </a:t>
            </a:r>
            <a:r>
              <a:rPr lang="fr-FR" sz="1000" dirty="0" err="1" smtClean="0">
                <a:solidFill>
                  <a:schemeClr val="tx2">
                    <a:lumMod val="60000"/>
                    <a:lumOff val="40000"/>
                  </a:schemeClr>
                </a:solidFill>
              </a:rPr>
              <a:t>bla</a:t>
            </a:r>
            <a:r>
              <a:rPr lang="fr-FR" sz="1000" dirty="0" smtClean="0">
                <a:solidFill>
                  <a:schemeClr val="tx2">
                    <a:lumMod val="60000"/>
                    <a:lumOff val="40000"/>
                  </a:schemeClr>
                </a:solidFill>
              </a:rPr>
              <a:t> (texte de l'article)&lt;/p&gt;</a:t>
            </a:r>
          </a:p>
          <a:p>
            <a:r>
              <a:rPr lang="fr-FR" sz="1000" dirty="0" smtClean="0">
                <a:solidFill>
                  <a:schemeClr val="tx2">
                    <a:lumMod val="60000"/>
                    <a:lumOff val="40000"/>
                  </a:schemeClr>
                </a:solidFill>
              </a:rPr>
              <a:t>            &lt;/article&gt;</a:t>
            </a:r>
          </a:p>
          <a:p>
            <a:r>
              <a:rPr lang="fr-FR" sz="1000" dirty="0" smtClean="0">
                <a:solidFill>
                  <a:schemeClr val="tx2">
                    <a:lumMod val="60000"/>
                    <a:lumOff val="40000"/>
                  </a:schemeClr>
                </a:solidFill>
              </a:rPr>
              <a:t>        &lt;/section&gt;</a:t>
            </a:r>
          </a:p>
          <a:p>
            <a:r>
              <a:rPr lang="fr-FR" sz="1000" dirty="0" smtClean="0">
                <a:solidFill>
                  <a:schemeClr val="tx2">
                    <a:lumMod val="60000"/>
                    <a:lumOff val="40000"/>
                  </a:schemeClr>
                </a:solidFill>
              </a:rPr>
              <a:t>        </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footer</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&lt;p&gt;Copyright NIKKOSA COMMUNICATION- Tous droits réservés&lt;</a:t>
            </a:r>
            <a:r>
              <a:rPr lang="fr-FR" sz="1000" dirty="0" err="1" smtClean="0">
                <a:solidFill>
                  <a:schemeClr val="tx2">
                    <a:lumMod val="60000"/>
                    <a:lumOff val="40000"/>
                  </a:schemeClr>
                </a:solidFill>
              </a:rPr>
              <a:t>br</a:t>
            </a:r>
            <a:r>
              <a:rPr lang="fr-FR" sz="1000" dirty="0" smtClean="0">
                <a:solidFill>
                  <a:schemeClr val="tx2">
                    <a:lumMod val="60000"/>
                    <a:lumOff val="40000"/>
                  </a:schemeClr>
                </a:solidFill>
              </a:rPr>
              <a:t> /&gt;</a:t>
            </a:r>
          </a:p>
          <a:p>
            <a:r>
              <a:rPr lang="fr-FR" sz="1000" dirty="0" smtClean="0">
                <a:solidFill>
                  <a:schemeClr val="tx2">
                    <a:lumMod val="60000"/>
                    <a:lumOff val="40000"/>
                  </a:schemeClr>
                </a:solidFill>
              </a:rPr>
              <a:t>            &lt;a </a:t>
            </a:r>
            <a:r>
              <a:rPr lang="fr-FR" sz="1000" dirty="0" err="1" smtClean="0">
                <a:solidFill>
                  <a:schemeClr val="tx2">
                    <a:lumMod val="60000"/>
                    <a:lumOff val="40000"/>
                  </a:schemeClr>
                </a:solidFill>
              </a:rPr>
              <a:t>href</a:t>
            </a:r>
            <a:r>
              <a:rPr lang="fr-FR" sz="1000" dirty="0" smtClean="0">
                <a:solidFill>
                  <a:schemeClr val="tx2">
                    <a:lumMod val="60000"/>
                    <a:lumOff val="40000"/>
                  </a:schemeClr>
                </a:solidFill>
              </a:rPr>
              <a:t>="#"&gt;Nous contacter !&lt;/a&gt;&lt;/p&gt;</a:t>
            </a:r>
          </a:p>
          <a:p>
            <a:r>
              <a:rPr lang="fr-FR" sz="1000" dirty="0" smtClean="0">
                <a:solidFill>
                  <a:schemeClr val="tx2">
                    <a:lumMod val="60000"/>
                    <a:lumOff val="40000"/>
                  </a:schemeClr>
                </a:solidFill>
              </a:rPr>
              <a:t>        &lt;/</a:t>
            </a:r>
            <a:r>
              <a:rPr lang="fr-FR" sz="1000" dirty="0" err="1" smtClean="0">
                <a:solidFill>
                  <a:schemeClr val="tx2">
                    <a:lumMod val="60000"/>
                    <a:lumOff val="40000"/>
                  </a:schemeClr>
                </a:solidFill>
              </a:rPr>
              <a:t>footer</a:t>
            </a:r>
            <a:r>
              <a:rPr lang="fr-FR" sz="1000" dirty="0" smtClean="0">
                <a:solidFill>
                  <a:schemeClr val="tx2">
                    <a:lumMod val="60000"/>
                    <a:lumOff val="40000"/>
                  </a:schemeClr>
                </a:solidFill>
              </a:rPr>
              <a:t>&gt;</a:t>
            </a:r>
          </a:p>
          <a:p>
            <a:r>
              <a:rPr lang="fr-FR" sz="1000" dirty="0" smtClean="0">
                <a:solidFill>
                  <a:schemeClr val="tx2">
                    <a:lumMod val="60000"/>
                    <a:lumOff val="40000"/>
                  </a:schemeClr>
                </a:solidFill>
              </a:rPr>
              <a:t>        </a:t>
            </a:r>
          </a:p>
          <a:p>
            <a:r>
              <a:rPr lang="fr-FR" sz="1000" dirty="0" smtClean="0">
                <a:solidFill>
                  <a:schemeClr val="tx2">
                    <a:lumMod val="60000"/>
                    <a:lumOff val="40000"/>
                  </a:schemeClr>
                </a:solidFill>
              </a:rPr>
              <a:t>    &lt;/body&gt;</a:t>
            </a:r>
          </a:p>
          <a:p>
            <a:r>
              <a:rPr lang="fr-FR" sz="1000" dirty="0" smtClean="0">
                <a:solidFill>
                  <a:schemeClr val="tx2">
                    <a:lumMod val="60000"/>
                    <a:lumOff val="40000"/>
                  </a:schemeClr>
                </a:solidFill>
              </a:rPr>
              <a:t>&lt;/html&gt;</a:t>
            </a:r>
            <a:endParaRPr lang="fr-FR" sz="1000" dirty="0">
              <a:solidFill>
                <a:schemeClr val="tx2">
                  <a:lumMod val="60000"/>
                  <a:lumOff val="4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0"/>
            <a:ext cx="2292872" cy="369332"/>
          </a:xfrm>
          <a:prstGeom prst="rect">
            <a:avLst/>
          </a:prstGeom>
        </p:spPr>
        <p:txBody>
          <a:bodyPr wrap="none">
            <a:spAutoFit/>
          </a:bodyPr>
          <a:lstStyle/>
          <a:p>
            <a:r>
              <a:rPr lang="fr-FR" b="1" dirty="0" smtClean="0"/>
              <a:t>B. </a:t>
            </a:r>
            <a:r>
              <a:rPr lang="fr-FR" b="1" u="sng" dirty="0" smtClean="0"/>
              <a:t>Gestion des marges</a:t>
            </a:r>
            <a:endParaRPr lang="fr-FR" b="1" u="sng" dirty="0"/>
          </a:p>
        </p:txBody>
      </p:sp>
      <p:sp>
        <p:nvSpPr>
          <p:cNvPr id="6" name="Rectangle 5"/>
          <p:cNvSpPr/>
          <p:nvPr/>
        </p:nvSpPr>
        <p:spPr>
          <a:xfrm>
            <a:off x="228600" y="370582"/>
            <a:ext cx="8610600" cy="1077218"/>
          </a:xfrm>
          <a:prstGeom prst="rect">
            <a:avLst/>
          </a:prstGeom>
        </p:spPr>
        <p:txBody>
          <a:bodyPr wrap="square">
            <a:spAutoFit/>
          </a:bodyPr>
          <a:lstStyle/>
          <a:p>
            <a:r>
              <a:rPr lang="fr-FR" sz="1600" dirty="0" smtClean="0"/>
              <a:t>Il faut savoir que tous les blocs possèdent des marges. Il existe </a:t>
            </a:r>
            <a:r>
              <a:rPr lang="fr-FR" sz="1600" i="1" dirty="0" smtClean="0"/>
              <a:t>deux types de marges</a:t>
            </a:r>
            <a:r>
              <a:rPr lang="fr-FR" sz="1600" dirty="0" smtClean="0"/>
              <a:t> :</a:t>
            </a:r>
          </a:p>
          <a:p>
            <a:pPr>
              <a:buFont typeface="Arial" pitchFamily="34" charset="0"/>
              <a:buChar char="•"/>
            </a:pPr>
            <a:r>
              <a:rPr lang="fr-FR" sz="1600" b="1" dirty="0" smtClean="0">
                <a:solidFill>
                  <a:schemeClr val="tx2">
                    <a:lumMod val="60000"/>
                    <a:lumOff val="40000"/>
                  </a:schemeClr>
                </a:solidFill>
              </a:rPr>
              <a:t>les marges intérieures ;</a:t>
            </a:r>
          </a:p>
          <a:p>
            <a:pPr>
              <a:buFont typeface="Arial" pitchFamily="34" charset="0"/>
              <a:buChar char="•"/>
            </a:pPr>
            <a:r>
              <a:rPr lang="fr-FR" sz="1600" b="1" dirty="0" smtClean="0">
                <a:solidFill>
                  <a:schemeClr val="tx2">
                    <a:lumMod val="60000"/>
                    <a:lumOff val="40000"/>
                  </a:schemeClr>
                </a:solidFill>
              </a:rPr>
              <a:t>les marges extérieures.</a:t>
            </a:r>
          </a:p>
          <a:p>
            <a:r>
              <a:rPr lang="fr-FR" sz="1600" dirty="0" smtClean="0"/>
              <a:t>Regardez bien le schéma qui se trouve à la figure suivante.</a:t>
            </a:r>
            <a:endParaRPr lang="fr-FR" sz="1600" dirty="0"/>
          </a:p>
        </p:txBody>
      </p:sp>
      <p:pic>
        <p:nvPicPr>
          <p:cNvPr id="7" name="Picture 6" descr="14.jpg"/>
          <p:cNvPicPr>
            <a:picLocks noChangeAspect="1"/>
          </p:cNvPicPr>
          <p:nvPr/>
        </p:nvPicPr>
        <p:blipFill>
          <a:blip r:embed="rId2"/>
          <a:stretch>
            <a:fillRect/>
          </a:stretch>
        </p:blipFill>
        <p:spPr>
          <a:xfrm>
            <a:off x="2981325" y="1572577"/>
            <a:ext cx="3190875" cy="2999423"/>
          </a:xfrm>
          <a:prstGeom prst="rect">
            <a:avLst/>
          </a:prstGeom>
        </p:spPr>
      </p:pic>
      <p:sp>
        <p:nvSpPr>
          <p:cNvPr id="23553" name="Rectangle 1"/>
          <p:cNvSpPr>
            <a:spLocks noChangeArrowheads="1"/>
          </p:cNvSpPr>
          <p:nvPr/>
        </p:nvSpPr>
        <p:spPr bwMode="auto">
          <a:xfrm>
            <a:off x="76200" y="4648200"/>
            <a:ext cx="8991600" cy="206210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Sur ce bloc, on</a:t>
            </a:r>
            <a:r>
              <a:rPr kumimoji="0" lang="fr-FR" sz="1600" b="0" i="0" u="none" strike="noStrike" cap="none" normalizeH="0" dirty="0" smtClean="0">
                <a:ln>
                  <a:noFill/>
                </a:ln>
                <a:solidFill>
                  <a:schemeClr val="tx1"/>
                </a:solidFill>
                <a:effectLst/>
                <a:cs typeface="Arial" pitchFamily="34" charset="0"/>
              </a:rPr>
              <a:t> observe </a:t>
            </a:r>
            <a:r>
              <a:rPr kumimoji="0" lang="fr-FR" sz="1600" b="0" i="0" u="none" strike="noStrike" cap="none" normalizeH="0" baseline="0" dirty="0" smtClean="0">
                <a:ln>
                  <a:noFill/>
                </a:ln>
                <a:solidFill>
                  <a:schemeClr val="tx1"/>
                </a:solidFill>
                <a:effectLst/>
                <a:cs typeface="Arial" pitchFamily="34" charset="0"/>
              </a:rPr>
              <a:t>une bordure pour mieux repérer</a:t>
            </a:r>
            <a:r>
              <a:rPr kumimoji="0" lang="fr-FR" sz="1600" b="0" i="0" u="none" strike="noStrike" cap="none" normalizeH="0" dirty="0" smtClean="0">
                <a:ln>
                  <a:noFill/>
                </a:ln>
                <a:solidFill>
                  <a:schemeClr val="tx1"/>
                </a:solidFill>
                <a:effectLst/>
                <a:cs typeface="Arial" pitchFamily="34" charset="0"/>
              </a:rPr>
              <a:t> </a:t>
            </a:r>
            <a:r>
              <a:rPr kumimoji="0" lang="fr-FR" sz="1600" b="0" i="0" u="none" strike="noStrike" cap="none" normalizeH="0" baseline="0" dirty="0" smtClean="0">
                <a:ln>
                  <a:noFill/>
                </a:ln>
                <a:solidFill>
                  <a:schemeClr val="tx1"/>
                </a:solidFill>
                <a:effectLst/>
                <a:cs typeface="Arial" pitchFamily="34" charset="0"/>
              </a:rPr>
              <a:t>ses frontières.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L'espace entre le texte et la bordure est la marge intérieure (en vert).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L'espace entre la bordure et le bloc suivant est la marge extérieure (en rouge).</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En CSS, on peut modifier la taille des marges avec les deux propriétés suivantes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padding</a:t>
            </a:r>
            <a:r>
              <a:rPr kumimoji="0" lang="fr-FR" sz="1600" b="1" i="0" u="none" strike="noStrike" cap="none" normalizeH="0" baseline="0" dirty="0" smtClean="0">
                <a:ln>
                  <a:noFill/>
                </a:ln>
                <a:solidFill>
                  <a:srgbClr val="FF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indique la taille de la marge intérieure. À exprimer en général en pixels (px).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indique la taille de la marge extérieure. Là encore, on utilise le plus souvent des pixels.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52400"/>
            <a:ext cx="8763000" cy="2062103"/>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width</a:t>
            </a:r>
            <a:r>
              <a:rPr lang="fr-FR" sz="1600" dirty="0" smtClean="0">
                <a:solidFill>
                  <a:schemeClr val="tx2">
                    <a:lumMod val="60000"/>
                    <a:lumOff val="40000"/>
                  </a:schemeClr>
                </a:solidFill>
              </a:rPr>
              <a:t>: 350px;</a:t>
            </a:r>
          </a:p>
          <a:p>
            <a:r>
              <a:rPr lang="fr-FR" sz="1600" dirty="0" smtClean="0">
                <a:solidFill>
                  <a:schemeClr val="tx2">
                    <a:lumMod val="60000"/>
                    <a:lumOff val="40000"/>
                  </a:schemeClr>
                </a:solidFill>
              </a:rPr>
              <a:t>   border: 1px </a:t>
            </a:r>
            <a:r>
              <a:rPr lang="fr-FR" sz="1600" dirty="0" err="1" smtClean="0">
                <a:solidFill>
                  <a:schemeClr val="tx2">
                    <a:lumMod val="60000"/>
                    <a:lumOff val="40000"/>
                  </a:schemeClr>
                </a:solidFill>
              </a:rPr>
              <a:t>solid</a:t>
            </a:r>
            <a:r>
              <a:rPr lang="fr-FR" sz="1600" dirty="0" smtClean="0">
                <a:solidFill>
                  <a:schemeClr val="tx2">
                    <a:lumMod val="60000"/>
                    <a:lumOff val="40000"/>
                  </a:schemeClr>
                </a:solidFill>
              </a:rPr>
              <a:t> black;</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align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justify</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padding</a:t>
            </a:r>
            <a:r>
              <a:rPr lang="fr-FR" sz="1600" dirty="0" smtClean="0">
                <a:solidFill>
                  <a:schemeClr val="tx2">
                    <a:lumMod val="60000"/>
                    <a:lumOff val="40000"/>
                  </a:schemeClr>
                </a:solidFill>
              </a:rPr>
              <a:t>: 12px;</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margin</a:t>
            </a:r>
            <a:r>
              <a:rPr lang="fr-FR" sz="1600" dirty="0" smtClean="0">
                <a:solidFill>
                  <a:schemeClr val="tx2">
                    <a:lumMod val="60000"/>
                    <a:lumOff val="40000"/>
                  </a:schemeClr>
                </a:solidFill>
              </a:rPr>
              <a:t>: 50px; /* Marge extérieure de 50px */</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pic>
        <p:nvPicPr>
          <p:cNvPr id="5" name="Picture 4" descr="15.JPG"/>
          <p:cNvPicPr>
            <a:picLocks noChangeAspect="1"/>
          </p:cNvPicPr>
          <p:nvPr/>
        </p:nvPicPr>
        <p:blipFill>
          <a:blip r:embed="rId2"/>
          <a:stretch>
            <a:fillRect/>
          </a:stretch>
        </p:blipFill>
        <p:spPr>
          <a:xfrm>
            <a:off x="1438275" y="2362200"/>
            <a:ext cx="6486525" cy="41529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 y="76200"/>
            <a:ext cx="4404988" cy="369332"/>
          </a:xfrm>
          <a:prstGeom prst="rect">
            <a:avLst/>
          </a:prstGeom>
        </p:spPr>
        <p:txBody>
          <a:bodyPr wrap="none">
            <a:spAutoFit/>
          </a:bodyPr>
          <a:lstStyle/>
          <a:p>
            <a:r>
              <a:rPr lang="fr-FR" b="1" u="sng" dirty="0" smtClean="0"/>
              <a:t>Marge en haut, à droite, en bas, à gauche, …</a:t>
            </a:r>
            <a:endParaRPr lang="fr-FR" b="1" u="sng" dirty="0"/>
          </a:p>
        </p:txBody>
      </p:sp>
      <p:sp>
        <p:nvSpPr>
          <p:cNvPr id="5" name="TextBox 4"/>
          <p:cNvSpPr txBox="1"/>
          <p:nvPr/>
        </p:nvSpPr>
        <p:spPr>
          <a:xfrm>
            <a:off x="76200" y="609600"/>
            <a:ext cx="9060814" cy="369332"/>
          </a:xfrm>
          <a:prstGeom prst="rect">
            <a:avLst/>
          </a:prstGeom>
          <a:noFill/>
        </p:spPr>
        <p:txBody>
          <a:bodyPr wrap="none" rtlCol="0">
            <a:spAutoFit/>
          </a:bodyPr>
          <a:lstStyle/>
          <a:p>
            <a:r>
              <a:rPr lang="fr-FR" dirty="0" smtClean="0"/>
              <a:t>Ci-dessous une liste de propriétés pour définir les marges en haut, à droite, en bas, à gauche, …</a:t>
            </a:r>
            <a:endParaRPr lang="fr-FR" dirty="0"/>
          </a:p>
        </p:txBody>
      </p:sp>
      <p:sp>
        <p:nvSpPr>
          <p:cNvPr id="25601" name="Rectangle 1"/>
          <p:cNvSpPr>
            <a:spLocks noChangeArrowheads="1"/>
          </p:cNvSpPr>
          <p:nvPr/>
        </p:nvSpPr>
        <p:spPr bwMode="auto">
          <a:xfrm>
            <a:off x="76200" y="1009233"/>
            <a:ext cx="8915400" cy="353943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cs typeface="Arial" pitchFamily="34" charset="0"/>
              </a:rPr>
              <a:t>Voici la liste pour </a:t>
            </a:r>
            <a:r>
              <a:rPr kumimoji="0" lang="fr-FR" sz="1600" b="1" i="0" u="none" strike="noStrike" cap="none" normalizeH="0" baseline="0" dirty="0" err="1" smtClean="0">
                <a:ln>
                  <a:noFill/>
                </a:ln>
                <a:solidFill>
                  <a:schemeClr val="tx1"/>
                </a:solidFill>
                <a:effectLst/>
                <a:cs typeface="Courier New" pitchFamily="49" charset="0"/>
              </a:rPr>
              <a:t>margin</a:t>
            </a:r>
            <a:r>
              <a:rPr kumimoji="0" lang="fr-FR" sz="1600" b="1" i="0" u="none" strike="noStrike" cap="none" normalizeH="0" baseline="0" dirty="0" smtClean="0">
                <a:ln>
                  <a:noFill/>
                </a:ln>
                <a:solidFill>
                  <a:schemeClr val="tx1"/>
                </a:solidFill>
                <a:effectLst/>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Courier New" pitchFamily="49" charset="0"/>
              </a:rPr>
              <a:t>-top</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extérieure en haut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Courier New" pitchFamily="49" charset="0"/>
              </a:rPr>
              <a:t>-</a:t>
            </a:r>
            <a:r>
              <a:rPr kumimoji="0" lang="fr-FR" sz="1600" b="1" i="0" u="none" strike="noStrike" cap="none" normalizeH="0" baseline="0" dirty="0" err="1" smtClean="0">
                <a:ln>
                  <a:noFill/>
                </a:ln>
                <a:solidFill>
                  <a:srgbClr val="FF0000"/>
                </a:solidFill>
                <a:effectLst/>
                <a:cs typeface="Courier New" pitchFamily="49" charset="0"/>
              </a:rPr>
              <a:t>bottom</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extérieure en bas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Courier New" pitchFamily="49" charset="0"/>
              </a:rPr>
              <a:t>-</a:t>
            </a:r>
            <a:r>
              <a:rPr kumimoji="0" lang="fr-FR" sz="1600" b="1" i="0" u="none" strike="noStrike" cap="none" normalizeH="0" baseline="0" dirty="0" err="1" smtClean="0">
                <a:ln>
                  <a:noFill/>
                </a:ln>
                <a:solidFill>
                  <a:srgbClr val="FF0000"/>
                </a:solidFill>
                <a:effectLst/>
                <a:cs typeface="Courier New" pitchFamily="49" charset="0"/>
              </a:rPr>
              <a:t>left</a:t>
            </a:r>
            <a:r>
              <a:rPr kumimoji="0" lang="fr-FR" sz="1600" b="1" i="0" u="none" strike="noStrike" cap="none" normalizeH="0" baseline="0" dirty="0" smtClean="0">
                <a:ln>
                  <a:noFill/>
                </a:ln>
                <a:solidFill>
                  <a:srgbClr val="FF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marge extérieure à gauche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Courier New" pitchFamily="49" charset="0"/>
              </a:rPr>
              <a:t>-right</a:t>
            </a:r>
            <a:r>
              <a:rPr kumimoji="0" lang="fr-FR" sz="1600" b="1" i="0" u="none" strike="noStrike" cap="none" normalizeH="0" baseline="0" dirty="0" smtClean="0">
                <a:ln>
                  <a:noFill/>
                </a:ln>
                <a:solidFill>
                  <a:srgbClr val="FF0000"/>
                </a:solidFill>
                <a:effectLst/>
                <a:cs typeface="Arial" pitchFamily="34" charset="0"/>
              </a:rPr>
              <a:t>: </a:t>
            </a:r>
            <a:r>
              <a:rPr kumimoji="0" lang="fr-FR" sz="1600" b="0" i="0" u="none" strike="noStrike" cap="none" normalizeH="0" baseline="0" dirty="0" smtClean="0">
                <a:ln>
                  <a:noFill/>
                </a:ln>
                <a:solidFill>
                  <a:srgbClr val="000000"/>
                </a:solidFill>
                <a:effectLst/>
                <a:cs typeface="Arial" pitchFamily="34" charset="0"/>
              </a:rPr>
              <a:t>marge extérieure à droite.</a:t>
            </a:r>
          </a:p>
          <a:p>
            <a:pPr marL="0" marR="0" lvl="0" indent="0" algn="l" defTabSz="914400" rtl="0" eaLnBrk="0" fontAlgn="base" latinLnBrk="0" hangingPunct="0">
              <a:lnSpc>
                <a:spcPct val="100000"/>
              </a:lnSpc>
              <a:spcBef>
                <a:spcPct val="0"/>
              </a:spcBef>
              <a:spcAft>
                <a:spcPct val="0"/>
              </a:spcAft>
              <a:buClrTx/>
              <a:buSzTx/>
              <a:tabLst/>
            </a:pPr>
            <a:endParaRPr kumimoji="0" lang="fr-FR" sz="1600" b="0" i="0" u="none" strike="noStrike" cap="none" normalizeH="0" baseline="0" dirty="0" smtClean="0">
              <a:ln>
                <a:noFill/>
              </a:ln>
              <a:solidFill>
                <a:srgbClr val="00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cs typeface="Arial" pitchFamily="34" charset="0"/>
              </a:rPr>
              <a:t>Et la liste </a:t>
            </a:r>
            <a:r>
              <a:rPr kumimoji="0" lang="fr-FR" sz="1600" b="1" i="0" u="none" strike="noStrike" cap="none" normalizeH="0" baseline="0" dirty="0" err="1" smtClean="0">
                <a:ln>
                  <a:noFill/>
                </a:ln>
                <a:solidFill>
                  <a:schemeClr val="tx1"/>
                </a:solidFill>
                <a:effectLst/>
                <a:cs typeface="Arial" pitchFamily="34" charset="0"/>
              </a:rPr>
              <a:t>pour</a:t>
            </a:r>
            <a:r>
              <a:rPr kumimoji="0" lang="fr-FR" sz="1600" b="1" i="0" u="none" strike="noStrike" cap="none" normalizeH="0" baseline="0" dirty="0" err="1" smtClean="0">
                <a:ln>
                  <a:noFill/>
                </a:ln>
                <a:solidFill>
                  <a:schemeClr val="tx1"/>
                </a:solidFill>
                <a:effectLst/>
                <a:cs typeface="Courier New" pitchFamily="49" charset="0"/>
              </a:rPr>
              <a:t>padding</a:t>
            </a:r>
            <a:r>
              <a:rPr kumimoji="0" lang="fr-FR" sz="1600" b="1" i="0" u="none" strike="noStrike" cap="none" normalizeH="0" baseline="0" dirty="0" smtClean="0">
                <a:ln>
                  <a:noFill/>
                </a:ln>
                <a:solidFill>
                  <a:schemeClr val="tx1"/>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dirty="0" smtClean="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padding</a:t>
            </a:r>
            <a:r>
              <a:rPr kumimoji="0" lang="fr-FR" sz="1600" b="1" i="0" u="none" strike="noStrike" cap="none" normalizeH="0" baseline="0" dirty="0" smtClean="0">
                <a:ln>
                  <a:noFill/>
                </a:ln>
                <a:solidFill>
                  <a:srgbClr val="FF0000"/>
                </a:solidFill>
                <a:effectLst/>
                <a:cs typeface="Courier New" pitchFamily="49" charset="0"/>
              </a:rPr>
              <a:t>-top</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intérieure en haut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padding</a:t>
            </a:r>
            <a:r>
              <a:rPr kumimoji="0" lang="fr-FR" sz="1600" b="1" i="0" u="none" strike="noStrike" cap="none" normalizeH="0" baseline="0" dirty="0" smtClean="0">
                <a:ln>
                  <a:noFill/>
                </a:ln>
                <a:solidFill>
                  <a:srgbClr val="FF0000"/>
                </a:solidFill>
                <a:effectLst/>
                <a:cs typeface="Courier New" pitchFamily="49" charset="0"/>
              </a:rPr>
              <a:t>-</a:t>
            </a:r>
            <a:r>
              <a:rPr kumimoji="0" lang="fr-FR" sz="1600" b="1" i="0" u="none" strike="noStrike" cap="none" normalizeH="0" baseline="0" dirty="0" err="1" smtClean="0">
                <a:ln>
                  <a:noFill/>
                </a:ln>
                <a:solidFill>
                  <a:srgbClr val="FF0000"/>
                </a:solidFill>
                <a:effectLst/>
                <a:cs typeface="Courier New" pitchFamily="49" charset="0"/>
              </a:rPr>
              <a:t>bottom</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intérieure en bas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padding</a:t>
            </a:r>
            <a:r>
              <a:rPr kumimoji="0" lang="fr-FR" sz="1600" b="1" i="0" u="none" strike="noStrike" cap="none" normalizeH="0" baseline="0" dirty="0" smtClean="0">
                <a:ln>
                  <a:noFill/>
                </a:ln>
                <a:solidFill>
                  <a:srgbClr val="FF0000"/>
                </a:solidFill>
                <a:effectLst/>
                <a:cs typeface="Courier New" pitchFamily="49" charset="0"/>
              </a:rPr>
              <a:t>-</a:t>
            </a:r>
            <a:r>
              <a:rPr kumimoji="0" lang="fr-FR" sz="1600" b="1" i="0" u="none" strike="noStrike" cap="none" normalizeH="0" baseline="0" dirty="0" err="1" smtClean="0">
                <a:ln>
                  <a:noFill/>
                </a:ln>
                <a:solidFill>
                  <a:srgbClr val="FF0000"/>
                </a:solidFill>
                <a:effectLst/>
                <a:cs typeface="Courier New" pitchFamily="49" charset="0"/>
              </a:rPr>
              <a:t>left</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intérieure à gauche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1" i="0" u="none" strike="noStrike" cap="none" normalizeH="0" baseline="0" dirty="0" err="1" smtClean="0">
                <a:ln>
                  <a:noFill/>
                </a:ln>
                <a:solidFill>
                  <a:srgbClr val="FF0000"/>
                </a:solidFill>
                <a:effectLst/>
                <a:cs typeface="Courier New" pitchFamily="49" charset="0"/>
              </a:rPr>
              <a:t>padding</a:t>
            </a:r>
            <a:r>
              <a:rPr kumimoji="0" lang="fr-FR" sz="1600" b="1" i="0" u="none" strike="noStrike" cap="none" normalizeH="0" baseline="0" dirty="0" smtClean="0">
                <a:ln>
                  <a:noFill/>
                </a:ln>
                <a:solidFill>
                  <a:srgbClr val="FF0000"/>
                </a:solidFill>
                <a:effectLst/>
                <a:cs typeface="Courier New" pitchFamily="49" charset="0"/>
              </a:rPr>
              <a:t>-right</a:t>
            </a:r>
            <a:r>
              <a:rPr kumimoji="0" lang="fr-FR" sz="1600" b="1" i="0" u="none" strike="noStrike" cap="none" normalizeH="0" baseline="0" dirty="0" smtClean="0">
                <a:ln>
                  <a:noFill/>
                </a:ln>
                <a:solidFill>
                  <a:srgbClr val="FF0000"/>
                </a:solidFill>
                <a:effectLst/>
                <a:cs typeface="Arial" pitchFamily="34" charset="0"/>
              </a:rPr>
              <a:t>:</a:t>
            </a:r>
            <a:r>
              <a:rPr kumimoji="0" lang="fr-FR" sz="1600" b="0" i="0" u="none" strike="noStrike" cap="none" normalizeH="0" baseline="0" dirty="0" smtClean="0">
                <a:ln>
                  <a:noFill/>
                </a:ln>
                <a:solidFill>
                  <a:srgbClr val="000000"/>
                </a:solidFill>
                <a:effectLst/>
                <a:cs typeface="Arial" pitchFamily="34" charset="0"/>
              </a:rPr>
              <a:t> marge intérieure à droite.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
        <p:nvSpPr>
          <p:cNvPr id="7" name="Rectangle 6"/>
          <p:cNvSpPr/>
          <p:nvPr/>
        </p:nvSpPr>
        <p:spPr>
          <a:xfrm>
            <a:off x="152400" y="4419600"/>
            <a:ext cx="1826269" cy="369332"/>
          </a:xfrm>
          <a:prstGeom prst="rect">
            <a:avLst/>
          </a:prstGeom>
        </p:spPr>
        <p:txBody>
          <a:bodyPr wrap="none">
            <a:spAutoFit/>
          </a:bodyPr>
          <a:lstStyle/>
          <a:p>
            <a:r>
              <a:rPr lang="fr-FR" b="1" u="sng" dirty="0" smtClean="0"/>
              <a:t>Centrer des blocs</a:t>
            </a:r>
            <a:endParaRPr lang="fr-FR" b="1" u="sng" dirty="0"/>
          </a:p>
        </p:txBody>
      </p:sp>
      <p:sp>
        <p:nvSpPr>
          <p:cNvPr id="25602" name="Rectangle 2"/>
          <p:cNvSpPr>
            <a:spLocks noChangeArrowheads="1"/>
          </p:cNvSpPr>
          <p:nvPr/>
        </p:nvSpPr>
        <p:spPr bwMode="auto">
          <a:xfrm>
            <a:off x="152400" y="4831140"/>
            <a:ext cx="8839200" cy="1569660"/>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Il est tout à fait possible de centrer des blocs. C'est même très pratique pour réaliser un design centré quand on ne connaît pas la résolution du visiteur.</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cs typeface="Arial" pitchFamily="34" charset="0"/>
              </a:rPr>
              <a:t>Pour centrer, il faut respecter les règles suivantes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donnez une largeur au bloc (avec la propriété </a:t>
            </a:r>
            <a:r>
              <a:rPr kumimoji="0" lang="fr-FR" sz="1600" b="0" i="0" u="none" strike="noStrike" cap="none" normalizeH="0" baseline="0" dirty="0" err="1" smtClean="0">
                <a:ln>
                  <a:noFill/>
                </a:ln>
                <a:solidFill>
                  <a:srgbClr val="000000"/>
                </a:solidFill>
                <a:effectLst/>
                <a:cs typeface="Courier New" pitchFamily="49" charset="0"/>
              </a:rPr>
              <a:t>width</a:t>
            </a:r>
            <a:r>
              <a:rPr kumimoji="0" lang="fr-FR" sz="1600" b="0" i="0" u="none" strike="noStrike" cap="none" normalizeH="0" baseline="0" dirty="0" smtClean="0">
                <a:ln>
                  <a:noFill/>
                </a:ln>
                <a:solidFill>
                  <a:srgbClr val="000000"/>
                </a:solidFill>
                <a:effectLst/>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rgbClr val="000000"/>
                </a:solidFill>
                <a:effectLst/>
                <a:cs typeface="Arial" pitchFamily="34" charset="0"/>
              </a:rPr>
              <a:t>indiquez que vous voulez des marges extérieures automatiques, comme ceci :</a:t>
            </a:r>
            <a:r>
              <a:rPr kumimoji="0" lang="fr-FR" sz="1600" b="1" i="0" u="none" strike="noStrike" cap="none" normalizeH="0" baseline="0" dirty="0" err="1" smtClean="0">
                <a:ln>
                  <a:noFill/>
                </a:ln>
                <a:solidFill>
                  <a:srgbClr val="FF0000"/>
                </a:solidFill>
                <a:effectLst/>
                <a:cs typeface="Courier New" pitchFamily="49" charset="0"/>
              </a:rPr>
              <a:t>margin</a:t>
            </a:r>
            <a:r>
              <a:rPr kumimoji="0" lang="fr-FR" sz="1600" b="1" i="0" u="none" strike="noStrike" cap="none" normalizeH="0" baseline="0" dirty="0" smtClean="0">
                <a:ln>
                  <a:noFill/>
                </a:ln>
                <a:solidFill>
                  <a:srgbClr val="FF0000"/>
                </a:solidFill>
                <a:effectLst/>
                <a:cs typeface="Courier New" pitchFamily="49" charset="0"/>
              </a:rPr>
              <a:t>: auto;</a:t>
            </a:r>
            <a:r>
              <a:rPr kumimoji="0" lang="fr-FR" sz="1600" b="0" i="0" u="none" strike="noStrike" cap="none" normalizeH="0" baseline="0" dirty="0" smtClean="0">
                <a:ln>
                  <a:noFill/>
                </a:ln>
                <a:solidFill>
                  <a:srgbClr val="000000"/>
                </a:solidFill>
                <a:effectLst/>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152400"/>
            <a:ext cx="8610600" cy="2308324"/>
          </a:xfrm>
          <a:prstGeom prst="rect">
            <a:avLst/>
          </a:prstGeom>
        </p:spPr>
        <p:txBody>
          <a:bodyPr wrap="square">
            <a:spAutoFit/>
          </a:bodyPr>
          <a:lstStyle/>
          <a:p>
            <a:r>
              <a:rPr lang="fr-FR" sz="1600" dirty="0" smtClean="0">
                <a:solidFill>
                  <a:schemeClr val="tx2">
                    <a:lumMod val="60000"/>
                    <a:lumOff val="40000"/>
                  </a:schemeClr>
                </a:solidFill>
              </a:rPr>
              <a:t>p</a:t>
            </a:r>
          </a:p>
          <a:p>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width</a:t>
            </a:r>
            <a:r>
              <a:rPr lang="fr-FR" sz="1600" dirty="0" smtClean="0">
                <a:solidFill>
                  <a:schemeClr val="tx2">
                    <a:lumMod val="60000"/>
                    <a:lumOff val="40000"/>
                  </a:schemeClr>
                </a:solidFill>
              </a:rPr>
              <a:t>: 350px; /* On a indiqué une largeur (obligatoire) */</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margin</a:t>
            </a:r>
            <a:r>
              <a:rPr lang="fr-FR" sz="1600" dirty="0" smtClean="0">
                <a:solidFill>
                  <a:schemeClr val="tx2">
                    <a:lumMod val="60000"/>
                    <a:lumOff val="40000"/>
                  </a:schemeClr>
                </a:solidFill>
              </a:rPr>
              <a:t>: auto; /* On peut donc demander à ce que le bloc soit centré avec auto */</a:t>
            </a:r>
          </a:p>
          <a:p>
            <a:r>
              <a:rPr lang="fr-FR" sz="1600" dirty="0" smtClean="0">
                <a:solidFill>
                  <a:schemeClr val="tx2">
                    <a:lumMod val="60000"/>
                    <a:lumOff val="40000"/>
                  </a:schemeClr>
                </a:solidFill>
              </a:rPr>
              <a:t>    border: 1px </a:t>
            </a:r>
            <a:r>
              <a:rPr lang="fr-FR" sz="1600" dirty="0" err="1" smtClean="0">
                <a:solidFill>
                  <a:schemeClr val="tx2">
                    <a:lumMod val="60000"/>
                    <a:lumOff val="40000"/>
                  </a:schemeClr>
                </a:solidFill>
              </a:rPr>
              <a:t>solid</a:t>
            </a:r>
            <a:r>
              <a:rPr lang="fr-FR" sz="1600" dirty="0" smtClean="0">
                <a:solidFill>
                  <a:schemeClr val="tx2">
                    <a:lumMod val="60000"/>
                    <a:lumOff val="40000"/>
                  </a:schemeClr>
                </a:solidFill>
              </a:rPr>
              <a:t> black;</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text</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align</a:t>
            </a:r>
            <a:r>
              <a:rPr lang="fr-FR" sz="1600" dirty="0" smtClean="0">
                <a:solidFill>
                  <a:schemeClr val="tx2">
                    <a:lumMod val="60000"/>
                    <a:lumOff val="40000"/>
                  </a:schemeClr>
                </a:solidFill>
              </a:rPr>
              <a:t>: </a:t>
            </a:r>
            <a:r>
              <a:rPr lang="fr-FR" sz="1600" dirty="0" err="1" smtClean="0">
                <a:solidFill>
                  <a:schemeClr val="tx2">
                    <a:lumMod val="60000"/>
                    <a:lumOff val="40000"/>
                  </a:schemeClr>
                </a:solidFill>
              </a:rPr>
              <a:t>justify</a:t>
            </a:r>
            <a:r>
              <a:rPr lang="fr-FR" sz="1600" dirty="0" smtClean="0">
                <a:solidFill>
                  <a:schemeClr val="tx2">
                    <a:lumMod val="60000"/>
                    <a:lumOff val="40000"/>
                  </a:schemeClr>
                </a:solidFill>
              </a:rPr>
              <a:t>;</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padding</a:t>
            </a:r>
            <a:r>
              <a:rPr lang="fr-FR" sz="1600" dirty="0" smtClean="0">
                <a:solidFill>
                  <a:schemeClr val="tx2">
                    <a:lumMod val="60000"/>
                    <a:lumOff val="40000"/>
                  </a:schemeClr>
                </a:solidFill>
              </a:rPr>
              <a:t>: 12px;</a:t>
            </a:r>
          </a:p>
          <a:p>
            <a:r>
              <a:rPr lang="fr-FR" sz="1600" dirty="0" smtClean="0">
                <a:solidFill>
                  <a:schemeClr val="tx2">
                    <a:lumMod val="60000"/>
                    <a:lumOff val="40000"/>
                  </a:schemeClr>
                </a:solidFill>
              </a:rPr>
              <a:t>    </a:t>
            </a:r>
            <a:r>
              <a:rPr lang="fr-FR" sz="1600" dirty="0" err="1" smtClean="0">
                <a:solidFill>
                  <a:schemeClr val="tx2">
                    <a:lumMod val="60000"/>
                    <a:lumOff val="40000"/>
                  </a:schemeClr>
                </a:solidFill>
              </a:rPr>
              <a:t>margin</a:t>
            </a:r>
            <a:r>
              <a:rPr lang="fr-FR" sz="1600" dirty="0" smtClean="0">
                <a:solidFill>
                  <a:schemeClr val="tx2">
                    <a:lumMod val="60000"/>
                    <a:lumOff val="40000"/>
                  </a:schemeClr>
                </a:solidFill>
              </a:rPr>
              <a:t>-</a:t>
            </a:r>
            <a:r>
              <a:rPr lang="fr-FR" sz="1600" dirty="0" err="1" smtClean="0">
                <a:solidFill>
                  <a:schemeClr val="tx2">
                    <a:lumMod val="60000"/>
                    <a:lumOff val="40000"/>
                  </a:schemeClr>
                </a:solidFill>
              </a:rPr>
              <a:t>bottom</a:t>
            </a:r>
            <a:r>
              <a:rPr lang="fr-FR" sz="1600" dirty="0" smtClean="0">
                <a:solidFill>
                  <a:schemeClr val="tx2">
                    <a:lumMod val="60000"/>
                    <a:lumOff val="40000"/>
                  </a:schemeClr>
                </a:solidFill>
              </a:rPr>
              <a:t>: 20px;</a:t>
            </a:r>
          </a:p>
          <a:p>
            <a:r>
              <a:rPr lang="fr-FR" sz="1600" dirty="0" smtClean="0">
                <a:solidFill>
                  <a:schemeClr val="tx2">
                    <a:lumMod val="60000"/>
                    <a:lumOff val="40000"/>
                  </a:schemeClr>
                </a:solidFill>
              </a:rPr>
              <a:t>}</a:t>
            </a:r>
            <a:endParaRPr lang="fr-FR" sz="1600" dirty="0">
              <a:solidFill>
                <a:schemeClr val="tx2">
                  <a:lumMod val="60000"/>
                  <a:lumOff val="40000"/>
                </a:schemeClr>
              </a:solidFill>
            </a:endParaRPr>
          </a:p>
        </p:txBody>
      </p:sp>
      <p:pic>
        <p:nvPicPr>
          <p:cNvPr id="27650" name="Picture 2"/>
          <p:cNvPicPr>
            <a:picLocks noChangeAspect="1" noChangeArrowheads="1"/>
          </p:cNvPicPr>
          <p:nvPr/>
        </p:nvPicPr>
        <p:blipFill>
          <a:blip r:embed="rId2"/>
          <a:srcRect/>
          <a:stretch>
            <a:fillRect/>
          </a:stretch>
        </p:blipFill>
        <p:spPr bwMode="auto">
          <a:xfrm>
            <a:off x="1371600" y="2495550"/>
            <a:ext cx="6391275" cy="41338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TotalTime>
  <Words>1291</Words>
  <Application>Microsoft Office PowerPoint</Application>
  <PresentationFormat>On-screen Show (4:3)</PresentationFormat>
  <Paragraphs>151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PROGRAMMATION DE CLIENTS WEB</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PROGRAMMATION DE CLIENTS WEB</dc:title>
  <dc:creator>NIKKOSA</dc:creator>
  <cp:lastModifiedBy>NIKKOSA</cp:lastModifiedBy>
  <cp:revision>40</cp:revision>
  <dcterms:created xsi:type="dcterms:W3CDTF">2006-08-16T00:00:00Z</dcterms:created>
  <dcterms:modified xsi:type="dcterms:W3CDTF">2020-02-03T02:23:06Z</dcterms:modified>
</cp:coreProperties>
</file>