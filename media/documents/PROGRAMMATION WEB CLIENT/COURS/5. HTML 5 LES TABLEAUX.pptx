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2" d="100"/>
          <a:sy n="62" d="100"/>
        </p:scale>
        <p:origin x="-1596" y="-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B20866-F8CA-4A9F-86C2-193C0BB32268}" type="datetimeFigureOut">
              <a:rPr lang="fr-FR" smtClean="0"/>
              <a:pPr/>
              <a:t>03/02/2020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0B887-FBDE-41F2-99B9-C8D890253B86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10B887-FBDE-41F2-99B9-C8D890253B86}" type="slidenum">
              <a:rPr lang="fr-FR" smtClean="0"/>
              <a:pPr/>
              <a:t>4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bidjan-immobilier.net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type="ctrTitle"/>
          </p:nvPr>
        </p:nvSpPr>
        <p:spPr>
          <a:xfrm>
            <a:off x="685800" y="1673223"/>
            <a:ext cx="7772400" cy="1470025"/>
          </a:xfrm>
        </p:spPr>
        <p:txBody>
          <a:bodyPr>
            <a:normAutofit/>
          </a:bodyPr>
          <a:lstStyle/>
          <a:p>
            <a:r>
              <a:rPr lang="fr-FR" dirty="0" smtClean="0"/>
              <a:t>PROGRAMMATION DE CLIENTS WEB</a:t>
            </a:r>
            <a:endParaRPr lang="fr-FR" dirty="0"/>
          </a:p>
        </p:txBody>
      </p:sp>
      <p:sp>
        <p:nvSpPr>
          <p:cNvPr id="5" name="Sous-titre 2"/>
          <p:cNvSpPr>
            <a:spLocks noGrp="1"/>
          </p:cNvSpPr>
          <p:nvPr>
            <p:ph type="subTitle" idx="1"/>
          </p:nvPr>
        </p:nvSpPr>
        <p:spPr>
          <a:xfrm>
            <a:off x="755576" y="3429000"/>
            <a:ext cx="7704856" cy="1944216"/>
          </a:xfrm>
        </p:spPr>
        <p:txBody>
          <a:bodyPr>
            <a:normAutofit fontScale="85000" lnSpcReduction="20000"/>
          </a:bodyPr>
          <a:lstStyle/>
          <a:p>
            <a:r>
              <a:rPr lang="fr-FR" sz="1800" i="1" dirty="0"/>
              <a:t>FORMATEUR : </a:t>
            </a:r>
            <a:endParaRPr lang="fr-FR" sz="1800" i="1" dirty="0" smtClean="0"/>
          </a:p>
          <a:p>
            <a:r>
              <a:rPr lang="fr-FR" sz="1800" b="1" i="1" u="sng" dirty="0" smtClean="0"/>
              <a:t>Samuel KOTEI-NIKOI</a:t>
            </a:r>
            <a:r>
              <a:rPr lang="fr-FR" sz="1800" i="1" dirty="0" smtClean="0"/>
              <a:t>,</a:t>
            </a:r>
            <a:r>
              <a:rPr lang="fr-FR" sz="1800" i="1" dirty="0"/>
              <a:t/>
            </a:r>
            <a:br>
              <a:rPr lang="fr-FR" sz="1800" i="1" dirty="0"/>
            </a:br>
            <a:r>
              <a:rPr lang="fr-FR" sz="1800" i="1" dirty="0" smtClean="0"/>
              <a:t>Ingénieur de Conception en Informatique,</a:t>
            </a:r>
          </a:p>
          <a:p>
            <a:r>
              <a:rPr lang="fr-FR" sz="1800" i="1" dirty="0" smtClean="0"/>
              <a:t>Expert en Gestion de Projets Web,</a:t>
            </a:r>
          </a:p>
          <a:p>
            <a:r>
              <a:rPr lang="fr-FR" sz="1800" i="1" dirty="0" smtClean="0"/>
              <a:t>Formateur en langages de programmation web,</a:t>
            </a:r>
          </a:p>
          <a:p>
            <a:r>
              <a:rPr lang="fr-FR" sz="1800" i="1" dirty="0" smtClean="0"/>
              <a:t>Directeur Général </a:t>
            </a:r>
            <a:r>
              <a:rPr lang="fr-FR" sz="1800" b="1" i="1" dirty="0" smtClean="0"/>
              <a:t>NIKKOSA COMMUNICATION</a:t>
            </a:r>
            <a:r>
              <a:rPr lang="fr-FR" sz="1800" i="1" dirty="0" smtClean="0"/>
              <a:t>,</a:t>
            </a:r>
          </a:p>
          <a:p>
            <a:r>
              <a:rPr lang="fr-FR" sz="1800" i="1" dirty="0" smtClean="0"/>
              <a:t>Fondateur du portail </a:t>
            </a:r>
            <a:r>
              <a:rPr lang="fr-FR" sz="1800" i="1" dirty="0" smtClean="0">
                <a:hlinkClick r:id="rId2"/>
              </a:rPr>
              <a:t>www.abidjan-immobilier.net</a:t>
            </a:r>
            <a:r>
              <a:rPr lang="fr-FR" sz="1800" i="1" dirty="0" smtClean="0"/>
              <a:t>,</a:t>
            </a:r>
          </a:p>
          <a:p>
            <a:r>
              <a:rPr lang="fr-FR" sz="1800" i="1" dirty="0" smtClean="0"/>
              <a:t>GSM : +225 07 35 47 28 / Email : nikkosa@yahoo.fr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721804" y="152400"/>
            <a:ext cx="77724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PARTIE 5 : LES TABLEAUX</a:t>
            </a:r>
            <a:endParaRPr kumimoji="0" lang="fr-F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" y="1249740"/>
            <a:ext cx="8610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 smtClean="0"/>
              <a:t>Indispensables pour organiser les informations, les tableaux sont un petit peu délicats à construire en HTML. Nous allons commencer par construire des tableaux basiques, puis nous les complexifierons au fur et à mesure : fusion de cellules, division en multiples sections… Nous découvrirons aussi les propriétés CSS liées aux tableaux, qui nous permettront de personnaliser leur apparence.</a:t>
            </a:r>
            <a:endParaRPr lang="fr-FR" sz="1600" dirty="0"/>
          </a:p>
        </p:txBody>
      </p:sp>
      <p:sp>
        <p:nvSpPr>
          <p:cNvPr id="6" name="Rectangle 5"/>
          <p:cNvSpPr/>
          <p:nvPr/>
        </p:nvSpPr>
        <p:spPr>
          <a:xfrm>
            <a:off x="381000" y="2438400"/>
            <a:ext cx="2173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/>
              <a:t>A. </a:t>
            </a:r>
            <a:r>
              <a:rPr lang="fr-FR" b="1" u="sng" dirty="0" smtClean="0"/>
              <a:t>Un tableau simple</a:t>
            </a:r>
            <a:endParaRPr lang="fr-FR" b="1" u="sng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76200" y="2895600"/>
            <a:ext cx="8915400" cy="83099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La première balise à connaître est </a:t>
            </a: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Courier New" pitchFamily="49" charset="0"/>
              </a:rPr>
              <a:t>&lt;table&gt; &lt;/table&gt;</a:t>
            </a: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.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C'est cette balise qui permet d'indiquer le début et la fin d'un tableau.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1600" dirty="0" smtClean="0">
                <a:cs typeface="Arial" pitchFamily="34" charset="0"/>
              </a:rPr>
              <a:t>Cette balise est à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placer en dehors d'un paragraphe. Exemple :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3810000"/>
            <a:ext cx="86868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&lt;p&gt;Ceci est un paragraphe avant le tableau.&lt;/p&gt;</a:t>
            </a:r>
          </a:p>
          <a:p>
            <a:endParaRPr lang="fr-FR" sz="16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&lt;table&gt;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&lt;!-- Ici, on écrira le contenu du tableau --&gt;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&lt;/table&gt;</a:t>
            </a:r>
          </a:p>
          <a:p>
            <a:endParaRPr lang="fr-FR" sz="16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&lt;p&gt;Ceci est un paragraphe après le tableau.&lt;/p&gt;</a:t>
            </a:r>
            <a:endParaRPr lang="fr-FR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ChangeArrowheads="1"/>
          </p:cNvSpPr>
          <p:nvPr/>
        </p:nvSpPr>
        <p:spPr bwMode="auto">
          <a:xfrm>
            <a:off x="152400" y="127337"/>
            <a:ext cx="8839200" cy="206210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Voici deux nouvelles balises très importantes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Courier New" pitchFamily="49" charset="0"/>
              </a:rPr>
              <a:t>&lt;tr&gt; &lt;/tr&gt;</a:t>
            </a: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: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indique le début et la fin d'une ligne du tableau 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Courier New" pitchFamily="49" charset="0"/>
              </a:rPr>
              <a:t>&lt;td&gt; &lt;/td&gt;</a:t>
            </a: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: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indique le début et la fin du contenu d'une cellule.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En HTML, un tableau se construit ligne par ligne. Dans chaque ligne (</a:t>
            </a: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Courier New" pitchFamily="49" charset="0"/>
              </a:rPr>
              <a:t>&lt;tr&gt;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), on indique le contenu des différentes cellules (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Courier New" pitchFamily="49" charset="0"/>
              </a:rPr>
              <a:t>&lt;td&gt;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/>
            </a:r>
            <a:b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</a:b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Schématiquement, un tableau se construit comme à la figure suivante.</a:t>
            </a:r>
          </a:p>
        </p:txBody>
      </p:sp>
      <p:pic>
        <p:nvPicPr>
          <p:cNvPr id="6" name="Picture 5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2438400"/>
            <a:ext cx="4271963" cy="2468783"/>
          </a:xfrm>
          <a:prstGeom prst="rect">
            <a:avLst/>
          </a:prstGeom>
        </p:spPr>
      </p:pic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0" y="4876800"/>
            <a:ext cx="9144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On a une balise de ligne (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Courier New" pitchFamily="49" charset="0"/>
              </a:rPr>
              <a:t>&lt;tr&gt;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) qui englobe un groupe de cellules (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Courier New" pitchFamily="49" charset="0"/>
              </a:rPr>
              <a:t>&lt;td&gt;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).</a:t>
            </a:r>
            <a:b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</a:b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Par exemple, si je veux faire un tableau à deux lignes, avec trois cellules par ligne (donc trois colonnes), je devrai taper ceci 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228600"/>
            <a:ext cx="8610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&lt;table&gt;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&lt;tr&gt;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&lt;td&gt;Carmen&lt;/td&gt;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&lt;td&gt;33 ans&lt;/td&gt;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&lt;td&gt;Espagne&lt;/td&gt;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&lt;/tr&gt;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&lt;tr&gt;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&lt;td&gt;Michelle&lt;/td&gt;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&lt;td&gt;26 ans&lt;/td&gt;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&lt;td&gt;États-Unis&lt;/td&gt;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&lt;/tr&gt;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&lt;/table&gt;</a:t>
            </a:r>
            <a:endParaRPr lang="fr-FR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 descr="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1219200"/>
            <a:ext cx="3113720" cy="10858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Rectangle 5"/>
          <p:cNvSpPr/>
          <p:nvPr/>
        </p:nvSpPr>
        <p:spPr>
          <a:xfrm>
            <a:off x="152400" y="3429000"/>
            <a:ext cx="8686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 smtClean="0"/>
              <a:t>On remarque que le texte s'est écrit à la suite et il n'y a même pas de bordures !</a:t>
            </a:r>
            <a:endParaRPr lang="fr-FR" sz="1600" dirty="0"/>
          </a:p>
        </p:txBody>
      </p:sp>
      <p:sp>
        <p:nvSpPr>
          <p:cNvPr id="7" name="Rectangle 6"/>
          <p:cNvSpPr/>
          <p:nvPr/>
        </p:nvSpPr>
        <p:spPr>
          <a:xfrm>
            <a:off x="152400" y="3810000"/>
            <a:ext cx="8686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 smtClean="0"/>
              <a:t>En effet, un tableau sans CSS paraît bien vide. Et justement, rajouter des bordures est très simple. Le code CSS correspondant est le suivant :</a:t>
            </a:r>
            <a:endParaRPr lang="fr-FR" sz="1600" dirty="0"/>
          </a:p>
        </p:txBody>
      </p:sp>
      <p:sp>
        <p:nvSpPr>
          <p:cNvPr id="8" name="Rectangle 7"/>
          <p:cNvSpPr/>
          <p:nvPr/>
        </p:nvSpPr>
        <p:spPr>
          <a:xfrm>
            <a:off x="228600" y="4495800"/>
            <a:ext cx="838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td /* Toutes les cellules des tableaux... */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{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border: 1px </a:t>
            </a:r>
            <a:r>
              <a:rPr lang="fr-FR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solid</a:t>
            </a:r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black; /* auront une bordure de 1px */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}</a:t>
            </a:r>
            <a:endParaRPr lang="fr-FR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Picture 8" descr="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4495800"/>
            <a:ext cx="3124200" cy="11240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ChangeArrowheads="1"/>
          </p:cNvSpPr>
          <p:nvPr/>
        </p:nvSpPr>
        <p:spPr bwMode="auto">
          <a:xfrm>
            <a:off x="152400" y="152400"/>
            <a:ext cx="8839200" cy="156966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Pour</a:t>
            </a:r>
            <a:r>
              <a:rPr kumimoji="0" lang="fr-FR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qu'il y ait une seule bordure entre deux cellules, il existe une propriété CSS spécifique aux tableaux, </a:t>
            </a: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Courier New" pitchFamily="49" charset="0"/>
              </a:rPr>
              <a:t>border-collaps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Courier New" pitchFamily="49" charset="0"/>
              </a:rPr>
              <a:t>e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, qui signifie « coller les bordures entre elles ».</a:t>
            </a:r>
            <a:b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</a:b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Cette propriété peut prendre deux valeurs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Courier New" pitchFamily="49" charset="0"/>
              </a:rPr>
              <a:t>collapse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: les bordures seront collées entre elles;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6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cs typeface="Courier New" pitchFamily="49" charset="0"/>
              </a:rPr>
              <a:t>separate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: les bordures seront dissociées (valeur par défaut)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" y="1600200"/>
            <a:ext cx="8001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table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{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border-collapse: collapse; /* Les bordures du tableau seront collées */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}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td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{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border: 1px </a:t>
            </a:r>
            <a:r>
              <a:rPr lang="fr-FR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solid</a:t>
            </a:r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black;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}</a:t>
            </a:r>
            <a:endParaRPr lang="fr-FR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733800"/>
            <a:ext cx="3505200" cy="12814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152400"/>
            <a:ext cx="1833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u="sng" dirty="0" smtClean="0"/>
              <a:t>La ligne d'en-tête</a:t>
            </a:r>
            <a:endParaRPr lang="fr-FR" b="1" u="sng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76200" y="609599"/>
            <a:ext cx="8991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Maintenant on va rajouter la ligne d'en-tête du tableau. Dans l'exemple ci-dessous, les en-têtes sont « Nom », « Âge » et « Pays ».</a:t>
            </a:r>
            <a:b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</a:b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La ligne d'en-tête se crée avec un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Courier New" pitchFamily="49" charset="0"/>
              </a:rPr>
              <a:t>&lt;tr&gt;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comme on l'a fait jusqu'ici, mais les cellules qu'elle contient sont, cette fois, encadrées par des balises </a:t>
            </a: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Courier New" pitchFamily="49" charset="0"/>
              </a:rPr>
              <a:t>&lt;th&gt;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Courier New" pitchFamily="49" charset="0"/>
              </a:rPr>
              <a:t>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et non pas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Courier New" pitchFamily="49" charset="0"/>
              </a:rPr>
              <a:t>&lt;td&gt;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! 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779687"/>
            <a:ext cx="8458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&lt;table&gt;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&lt;tr&gt;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&lt;th&gt;Nom&lt;/th&gt;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&lt;th&gt;Âge&lt;/th&gt;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&lt;th&gt;Pays&lt;/th&gt;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&lt;/tr&gt;</a:t>
            </a:r>
          </a:p>
          <a:p>
            <a:endParaRPr lang="fr-FR" sz="16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&lt;tr&gt;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&lt;td&gt;Carmen&lt;/td&gt;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&lt;td&gt;33 ans&lt;/td&gt;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&lt;td&gt;Espagne&lt;/td&gt;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&lt;/tr&gt;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&lt;tr&gt;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&lt;td&gt;Michelle&lt;/td&gt;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&lt;td&gt;26 ans&lt;/td&gt;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&lt;td&gt;États-Unis&lt;/td&gt;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&lt;/tr&gt;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&lt;/table&gt;</a:t>
            </a:r>
            <a:endParaRPr lang="fr-FR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094" y="2895600"/>
            <a:ext cx="3681305" cy="17694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152400"/>
            <a:ext cx="2095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u="sng" dirty="0" smtClean="0"/>
              <a:t>La </a:t>
            </a:r>
            <a:r>
              <a:rPr lang="fr-FR" b="1" u="sng" dirty="0" smtClean="0"/>
              <a:t>fusion de cellules</a:t>
            </a:r>
            <a:endParaRPr lang="fr-FR" b="1" u="sng" dirty="0"/>
          </a:p>
        </p:txBody>
      </p:sp>
      <p:sp>
        <p:nvSpPr>
          <p:cNvPr id="5" name="Rectangle 4"/>
          <p:cNvSpPr/>
          <p:nvPr/>
        </p:nvSpPr>
        <p:spPr>
          <a:xfrm>
            <a:off x="304800" y="609600"/>
            <a:ext cx="8610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 smtClean="0"/>
              <a:t>Dans certains tableaux complexes, vous aurez besoin de « fusionner » des cellules entre elles.</a:t>
            </a:r>
            <a:br>
              <a:rPr lang="fr-FR" sz="1600" dirty="0" smtClean="0"/>
            </a:br>
            <a:r>
              <a:rPr lang="fr-FR" sz="1600" dirty="0" smtClean="0"/>
              <a:t>Regardez par exemple </a:t>
            </a:r>
            <a:r>
              <a:rPr lang="fr-FR" sz="1600" dirty="0" smtClean="0"/>
              <a:t>le tableau à la figure suivante, qui dresse une liste de films et indique à qui ils s'adressent</a:t>
            </a:r>
            <a:r>
              <a:rPr lang="fr-FR" sz="1600" dirty="0" smtClean="0"/>
              <a:t>.</a:t>
            </a:r>
            <a:endParaRPr lang="fr-FR" sz="1600" dirty="0" smtClean="0"/>
          </a:p>
        </p:txBody>
      </p:sp>
      <p:pic>
        <p:nvPicPr>
          <p:cNvPr id="6" name="Picture 5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447800"/>
            <a:ext cx="8001411" cy="1320868"/>
          </a:xfrm>
          <a:prstGeom prst="rect">
            <a:avLst/>
          </a:prstGeom>
        </p:spPr>
      </p:pic>
      <p:sp>
        <p:nvSpPr>
          <p:cNvPr id="21505" name="Rectangle 1"/>
          <p:cNvSpPr>
            <a:spLocks noChangeArrowheads="1"/>
          </p:cNvSpPr>
          <p:nvPr/>
        </p:nvSpPr>
        <p:spPr bwMode="auto">
          <a:xfrm>
            <a:off x="152400" y="2667000"/>
            <a:ext cx="8763000" cy="353943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Pour le dernier film, vous voyez que les cellules ont été fusionnées : elles ne font plus qu'une. C'est exactement l'effet qu'on cherche à obtenir.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Pour effectuer une fusion, on rajoute un attribut à la balise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Courier New" pitchFamily="49" charset="0"/>
              </a:rPr>
              <a:t>&lt;td&gt;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. Il faut savoir qu'il existe deux types de fusion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La fusion de colonnes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 : c'est ce qui</a:t>
            </a:r>
            <a:r>
              <a:rPr kumimoji="0" lang="fr-FR" sz="16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est présenté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dans l’exemple ci-dessus. La fusion s'effectue horizontalement. On utilisera l'attribut </a:t>
            </a:r>
            <a:r>
              <a:rPr kumimoji="0" lang="fr-FR" sz="16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cs typeface="Courier New" pitchFamily="49" charset="0"/>
              </a:rPr>
              <a:t>colspan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La fusion de lignes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 : là, deux lignes seront groupées entre elles. La fusion s'effectuera verticalement. On utilisera l'attribut </a:t>
            </a:r>
            <a:r>
              <a:rPr kumimoji="0" lang="fr-FR" sz="16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cs typeface="Courier New" pitchFamily="49" charset="0"/>
              </a:rPr>
              <a:t>rowspan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Comme vous le savez, vous devez donner une valeur à l'attribut (que ce soit 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Courier New" pitchFamily="49" charset="0"/>
              </a:rPr>
              <a:t>colspan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Courier New" pitchFamily="49" charset="0"/>
              </a:rPr>
              <a:t>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ou 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Courier New" pitchFamily="49" charset="0"/>
              </a:rPr>
              <a:t>rowspan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). Il faut indiquer le nombre de cellules à fusionner entre elles. Dans notre exemple, nous avons fusionné deux cellules : celle de la colonne « Pour enfants ? » et celle de « Pour adolescents ? ». On devra donc écrire :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6248400"/>
            <a:ext cx="165128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&lt;td </a:t>
            </a:r>
            <a:r>
              <a:rPr lang="fr-FR" sz="1600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colspan</a:t>
            </a:r>
            <a:r>
              <a:rPr lang="fr-FR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="2"&gt;</a:t>
            </a:r>
            <a:endParaRPr lang="fr-FR" sz="16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762000"/>
            <a:ext cx="86106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&lt;table&gt;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&lt;tr&gt;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&lt;th&gt;Titre du film&lt;/th&gt;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&lt;th&gt;Pour enfants ?&lt;/th&gt;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&lt;th&gt;Pour adolescents ?&lt;/th&gt;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&lt;/tr&gt;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&lt;tr&gt;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&lt;td&gt;Massacre à la tronçonneuse&lt;/td&gt;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 &gt;Non, trop violent&lt;/td&gt;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&lt;td&gt;Oui&lt;/td&gt;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&lt;/tr&gt;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&lt;tr&gt;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&lt;td&gt;Les </a:t>
            </a:r>
            <a:r>
              <a:rPr lang="fr-FR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bisounours</a:t>
            </a:r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font du ski&lt;/td&gt;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&lt;td&gt;Oui, adapté&lt;/td&gt;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&lt;td&gt;Pas assez violent...&lt;/td&gt;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&lt;/tr&gt;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&lt;tr&gt;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&lt;td&gt;Lucky Luke, seul contre tous&lt;/td&gt;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 </a:t>
            </a:r>
            <a:r>
              <a:rPr lang="fr-FR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colspan</a:t>
            </a:r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="2"&gt;Pour toute la famille !&lt;/td&gt;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&lt;/tr&gt;</a:t>
            </a:r>
          </a:p>
          <a:p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&lt;/table&gt;</a:t>
            </a:r>
            <a:endParaRPr lang="fr-FR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" y="228600"/>
            <a:ext cx="8458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 smtClean="0"/>
              <a:t>Voilà le code HTML qui </a:t>
            </a:r>
            <a:r>
              <a:rPr lang="fr-FR" sz="1600" dirty="0" smtClean="0"/>
              <a:t>nous </a:t>
            </a:r>
            <a:r>
              <a:rPr lang="fr-FR" sz="1600" dirty="0" smtClean="0"/>
              <a:t>permet de réaliser la fusion </a:t>
            </a:r>
            <a:r>
              <a:rPr lang="fr-FR" sz="1600" dirty="0" smtClean="0"/>
              <a:t>correspondant au </a:t>
            </a:r>
            <a:r>
              <a:rPr lang="fr-FR" sz="1600" dirty="0" smtClean="0"/>
              <a:t>tableau précédent :</a:t>
            </a:r>
            <a:endParaRPr lang="fr-FR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 noChangeArrowheads="1"/>
          </p:cNvSpPr>
          <p:nvPr/>
        </p:nvSpPr>
        <p:spPr bwMode="auto">
          <a:xfrm>
            <a:off x="0" y="124361"/>
            <a:ext cx="9144000" cy="132343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Pour la fusion verticale, nous allons dans notre exemple « inverser » l'ordre de notre tableau : au lieu de mettre les titres de films à gauche, on va les placer en haut.</a:t>
            </a:r>
            <a:b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</a:b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C'est une autre façon de voir le tableau : au lieu de le construire en hauteur, on peut le construire en longueur.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Dans ce cas, le </a:t>
            </a:r>
            <a:r>
              <a:rPr kumimoji="0" lang="fr-F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Courier New" pitchFamily="49" charset="0"/>
              </a:rPr>
              <a:t>colspan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Courier New" pitchFamily="49" charset="0"/>
              </a:rPr>
              <a:t>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n'est plus adapté, c'est un </a:t>
            </a:r>
            <a:r>
              <a:rPr kumimoji="0" lang="fr-FR" sz="1600" b="1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cs typeface="Courier New" pitchFamily="49" charset="0"/>
              </a:rPr>
              <a:t>rowspan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Courier New" pitchFamily="49" charset="0"/>
              </a:rPr>
              <a:t> </a:t>
            </a:r>
            <a:r>
              <a:rPr kumimoji="0" lang="fr-F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qu'il faut utiliser :</a:t>
            </a:r>
          </a:p>
        </p:txBody>
      </p:sp>
      <p:pic>
        <p:nvPicPr>
          <p:cNvPr id="6" name="Picture 5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47800"/>
            <a:ext cx="7793518" cy="99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28600" y="2964626"/>
            <a:ext cx="8610600" cy="3893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&lt;table&gt;</a:t>
            </a:r>
          </a:p>
          <a:p>
            <a:r>
              <a:rPr lang="fr-FR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&lt;tr&gt;</a:t>
            </a:r>
          </a:p>
          <a:p>
            <a:r>
              <a:rPr lang="fr-FR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&lt;th&gt;Titre du film&lt;/th&gt;</a:t>
            </a:r>
          </a:p>
          <a:p>
            <a:r>
              <a:rPr lang="fr-FR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&lt;td&gt;Massacre à la tronçonneuse&lt;/td&gt;</a:t>
            </a:r>
          </a:p>
          <a:p>
            <a:r>
              <a:rPr lang="fr-FR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&lt;td&gt;Les </a:t>
            </a:r>
            <a:r>
              <a:rPr lang="fr-FR" sz="13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bisounours</a:t>
            </a:r>
            <a:r>
              <a:rPr lang="fr-FR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font du ski&lt;/td&gt;</a:t>
            </a:r>
          </a:p>
          <a:p>
            <a:r>
              <a:rPr lang="fr-FR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&lt;td&gt;Lucky Luke, seul contre tous&lt;/td&gt;</a:t>
            </a:r>
          </a:p>
          <a:p>
            <a:r>
              <a:rPr lang="fr-FR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&lt;/tr&gt;</a:t>
            </a:r>
          </a:p>
          <a:p>
            <a:r>
              <a:rPr lang="fr-FR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&lt;tr&gt;</a:t>
            </a:r>
          </a:p>
          <a:p>
            <a:r>
              <a:rPr lang="fr-FR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&lt;th&gt;Pour enfants ?&lt;/th&gt;</a:t>
            </a:r>
          </a:p>
          <a:p>
            <a:r>
              <a:rPr lang="fr-FR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&lt;td&gt;Non, trop violent&lt;/td&gt;</a:t>
            </a:r>
          </a:p>
          <a:p>
            <a:r>
              <a:rPr lang="fr-FR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&lt;td&gt;Oui, adapté&lt;/td&gt;</a:t>
            </a:r>
          </a:p>
          <a:p>
            <a:r>
              <a:rPr lang="fr-FR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 </a:t>
            </a:r>
            <a:r>
              <a:rPr lang="fr-FR" sz="13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rowspan</a:t>
            </a:r>
            <a:r>
              <a:rPr lang="fr-FR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="2"&gt;Pour toute la famille !&lt;/td&gt;</a:t>
            </a:r>
          </a:p>
          <a:p>
            <a:r>
              <a:rPr lang="fr-FR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&lt;/tr&gt;</a:t>
            </a:r>
          </a:p>
          <a:p>
            <a:r>
              <a:rPr lang="fr-FR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&lt;tr&gt;</a:t>
            </a:r>
          </a:p>
          <a:p>
            <a:r>
              <a:rPr lang="fr-FR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&lt;th&gt;Pour adolescents ?&lt;/th&gt;</a:t>
            </a:r>
          </a:p>
          <a:p>
            <a:r>
              <a:rPr lang="fr-FR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&lt;td&gt;Oui&lt;/td&gt;</a:t>
            </a:r>
          </a:p>
          <a:p>
            <a:r>
              <a:rPr lang="fr-FR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&lt;td&gt;Pas assez violent...&lt;/td&gt;</a:t>
            </a:r>
          </a:p>
          <a:p>
            <a:r>
              <a:rPr lang="fr-FR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&lt;/tr&gt;</a:t>
            </a:r>
          </a:p>
          <a:p>
            <a:r>
              <a:rPr lang="fr-FR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&lt;/table&gt;</a:t>
            </a:r>
            <a:endParaRPr lang="fr-FR" sz="13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8600" y="2557046"/>
            <a:ext cx="8686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 smtClean="0"/>
              <a:t>Le code HTML nous permettant de réaliser ce tableau est le suivant :</a:t>
            </a:r>
            <a:endParaRPr lang="fr-FR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966</Words>
  <Application>Microsoft Office PowerPoint</Application>
  <PresentationFormat>On-screen Show (4:3)</PresentationFormat>
  <Paragraphs>132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PROGRAMMATION DE CLIENTS WEB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PROGRAMMATION DE CLIENTS WEB</dc:title>
  <dc:creator>NIKKOSA</dc:creator>
  <cp:lastModifiedBy>NIKKOSA</cp:lastModifiedBy>
  <cp:revision>25</cp:revision>
  <dcterms:created xsi:type="dcterms:W3CDTF">2006-08-16T00:00:00Z</dcterms:created>
  <dcterms:modified xsi:type="dcterms:W3CDTF">2020-02-03T08:54:45Z</dcterms:modified>
</cp:coreProperties>
</file>