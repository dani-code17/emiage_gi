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56" r:id="rId2"/>
    <p:sldId id="260" r:id="rId3"/>
    <p:sldId id="258" r:id="rId4"/>
    <p:sldId id="259" r:id="rId5"/>
    <p:sldId id="261" r:id="rId6"/>
    <p:sldId id="262" r:id="rId7"/>
    <p:sldId id="263" r:id="rId8"/>
    <p:sldId id="264" r:id="rId9"/>
  </p:sldIdLst>
  <p:sldSz cx="9144000" cy="6858000" type="screen4x3"/>
  <p:notesSz cx="9144000" cy="6858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64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67D2A6F2-46F3-4187-A32E-EF376F6D1BCC}" type="datetimeFigureOut">
              <a:rPr lang="fr-FR" smtClean="0"/>
              <a:pPr/>
              <a:t>24/07/2023</a:t>
            </a:fld>
            <a:endParaRPr lang="fr-FR"/>
          </a:p>
        </p:txBody>
      </p:sp>
      <p:sp>
        <p:nvSpPr>
          <p:cNvPr id="4" name="Espace réservé du pied de page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2DCB6844-A906-4B27-A862-FB4164CBF8BD}" type="slidenum">
              <a:rPr lang="fr-FR" smtClean="0"/>
              <a:pPr/>
              <a:t>‹N°›</a:t>
            </a:fld>
            <a:endParaRPr lang="fr-FR"/>
          </a:p>
        </p:txBody>
      </p:sp>
    </p:spTree>
    <p:extLst>
      <p:ext uri="{BB962C8B-B14F-4D97-AF65-F5344CB8AC3E}">
        <p14:creationId xmlns:p14="http://schemas.microsoft.com/office/powerpoint/2010/main" val="28367948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25DF9995-8232-4AE9-A3F9-06FFEAC38E21}" type="datetimeFigureOut">
              <a:rPr lang="fr-FR" smtClean="0"/>
              <a:pPr/>
              <a:t>24/07/2023</a:t>
            </a:fld>
            <a:endParaRPr lang="fr-FR"/>
          </a:p>
        </p:txBody>
      </p:sp>
      <p:sp>
        <p:nvSpPr>
          <p:cNvPr id="4" name="Espace réservé de l'image des diapositives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1273FA4-9FF0-4E4C-935D-214C65D3C3BF}" type="slidenum">
              <a:rPr lang="fr-FR" smtClean="0"/>
              <a:pPr/>
              <a:t>‹N°›</a:t>
            </a:fld>
            <a:endParaRPr lang="fr-FR"/>
          </a:p>
        </p:txBody>
      </p:sp>
    </p:spTree>
    <p:extLst>
      <p:ext uri="{BB962C8B-B14F-4D97-AF65-F5344CB8AC3E}">
        <p14:creationId xmlns:p14="http://schemas.microsoft.com/office/powerpoint/2010/main" val="1127985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F1273FA4-9FF0-4E4C-935D-214C65D3C3BF}" type="slidenum">
              <a:rPr lang="fr-FR" smtClean="0"/>
              <a:pPr/>
              <a:t>1</a:t>
            </a:fld>
            <a:endParaRPr lang="fr-FR"/>
          </a:p>
        </p:txBody>
      </p:sp>
    </p:spTree>
    <p:extLst>
      <p:ext uri="{BB962C8B-B14F-4D97-AF65-F5344CB8AC3E}">
        <p14:creationId xmlns:p14="http://schemas.microsoft.com/office/powerpoint/2010/main" val="3755780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F1273FA4-9FF0-4E4C-935D-214C65D3C3BF}" type="slidenum">
              <a:rPr lang="fr-FR" smtClean="0"/>
              <a:pPr/>
              <a:t>2</a:t>
            </a:fld>
            <a:endParaRPr lang="fr-FR"/>
          </a:p>
        </p:txBody>
      </p:sp>
    </p:spTree>
    <p:extLst>
      <p:ext uri="{BB962C8B-B14F-4D97-AF65-F5344CB8AC3E}">
        <p14:creationId xmlns:p14="http://schemas.microsoft.com/office/powerpoint/2010/main" val="3274429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F1273FA4-9FF0-4E4C-935D-214C65D3C3BF}" type="slidenum">
              <a:rPr lang="fr-FR" smtClean="0"/>
              <a:pPr/>
              <a:t>3</a:t>
            </a:fld>
            <a:endParaRPr lang="fr-FR"/>
          </a:p>
        </p:txBody>
      </p:sp>
    </p:spTree>
    <p:extLst>
      <p:ext uri="{BB962C8B-B14F-4D97-AF65-F5344CB8AC3E}">
        <p14:creationId xmlns:p14="http://schemas.microsoft.com/office/powerpoint/2010/main" val="729533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F1273FA4-9FF0-4E4C-935D-214C65D3C3BF}" type="slidenum">
              <a:rPr lang="fr-FR" smtClean="0"/>
              <a:pPr/>
              <a:t>4</a:t>
            </a:fld>
            <a:endParaRPr lang="fr-FR"/>
          </a:p>
        </p:txBody>
      </p:sp>
    </p:spTree>
    <p:extLst>
      <p:ext uri="{BB962C8B-B14F-4D97-AF65-F5344CB8AC3E}">
        <p14:creationId xmlns:p14="http://schemas.microsoft.com/office/powerpoint/2010/main" val="1077110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F1273FA4-9FF0-4E4C-935D-214C65D3C3BF}" type="slidenum">
              <a:rPr lang="fr-FR" smtClean="0"/>
              <a:pPr/>
              <a:t>5</a:t>
            </a:fld>
            <a:endParaRPr lang="fr-FR"/>
          </a:p>
        </p:txBody>
      </p:sp>
    </p:spTree>
    <p:extLst>
      <p:ext uri="{BB962C8B-B14F-4D97-AF65-F5344CB8AC3E}">
        <p14:creationId xmlns:p14="http://schemas.microsoft.com/office/powerpoint/2010/main" val="170945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F1273FA4-9FF0-4E4C-935D-214C65D3C3BF}" type="slidenum">
              <a:rPr lang="fr-FR" smtClean="0"/>
              <a:pPr/>
              <a:t>6</a:t>
            </a:fld>
            <a:endParaRPr lang="fr-FR"/>
          </a:p>
        </p:txBody>
      </p:sp>
    </p:spTree>
    <p:extLst>
      <p:ext uri="{BB962C8B-B14F-4D97-AF65-F5344CB8AC3E}">
        <p14:creationId xmlns:p14="http://schemas.microsoft.com/office/powerpoint/2010/main" val="28439446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F1273FA4-9FF0-4E4C-935D-214C65D3C3BF}" type="slidenum">
              <a:rPr lang="fr-FR" smtClean="0"/>
              <a:pPr/>
              <a:t>7</a:t>
            </a:fld>
            <a:endParaRPr lang="fr-FR"/>
          </a:p>
        </p:txBody>
      </p:sp>
    </p:spTree>
    <p:extLst>
      <p:ext uri="{BB962C8B-B14F-4D97-AF65-F5344CB8AC3E}">
        <p14:creationId xmlns:p14="http://schemas.microsoft.com/office/powerpoint/2010/main" val="1675597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F1273FA4-9FF0-4E4C-935D-214C65D3C3BF}" type="slidenum">
              <a:rPr lang="fr-FR" smtClean="0"/>
              <a:pPr/>
              <a:t>8</a:t>
            </a:fld>
            <a:endParaRPr lang="fr-FR"/>
          </a:p>
        </p:txBody>
      </p:sp>
    </p:spTree>
    <p:extLst>
      <p:ext uri="{BB962C8B-B14F-4D97-AF65-F5344CB8AC3E}">
        <p14:creationId xmlns:p14="http://schemas.microsoft.com/office/powerpoint/2010/main" val="1013113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078264DF-34EE-4B1D-96AF-2D19F82219CA}" type="datetime1">
              <a:rPr lang="fr-FR" smtClean="0"/>
              <a:pPr/>
              <a:t>24/07/2023</a:t>
            </a:fld>
            <a:endParaRPr lang="fr-FR"/>
          </a:p>
        </p:txBody>
      </p:sp>
      <p:sp>
        <p:nvSpPr>
          <p:cNvPr id="5" name="Espace réservé du pied de page 4"/>
          <p:cNvSpPr>
            <a:spLocks noGrp="1"/>
          </p:cNvSpPr>
          <p:nvPr>
            <p:ph type="ftr" sz="quarter" idx="11"/>
          </p:nvPr>
        </p:nvSpPr>
        <p:spPr/>
        <p:txBody>
          <a:bodyPr/>
          <a:lstStyle/>
          <a:p>
            <a:r>
              <a:rPr lang="fr-FR"/>
              <a:t>Formation en création de site internet dynamique</a:t>
            </a:r>
          </a:p>
        </p:txBody>
      </p:sp>
      <p:sp>
        <p:nvSpPr>
          <p:cNvPr id="6" name="Espace réservé du numéro de diapositive 5"/>
          <p:cNvSpPr>
            <a:spLocks noGrp="1"/>
          </p:cNvSpPr>
          <p:nvPr>
            <p:ph type="sldNum" sz="quarter" idx="12"/>
          </p:nvPr>
        </p:nvSpPr>
        <p:spPr/>
        <p:txBody>
          <a:bodyPr/>
          <a:lstStyle/>
          <a:p>
            <a:fld id="{4288E5F3-43F0-4A48-867C-0B8238BE41BA}" type="slidenum">
              <a:rPr lang="fr-FR" smtClean="0"/>
              <a:pPr/>
              <a:t>‹N°›</a:t>
            </a:fld>
            <a:endParaRPr lang="fr-FR"/>
          </a:p>
        </p:txBody>
      </p:sp>
    </p:spTree>
    <p:extLst>
      <p:ext uri="{BB962C8B-B14F-4D97-AF65-F5344CB8AC3E}">
        <p14:creationId xmlns:p14="http://schemas.microsoft.com/office/powerpoint/2010/main" val="967808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15D18C2-BF6F-40BC-A243-C8CF51E4F343}" type="datetime1">
              <a:rPr lang="fr-FR" smtClean="0"/>
              <a:pPr/>
              <a:t>24/07/2023</a:t>
            </a:fld>
            <a:endParaRPr lang="fr-FR"/>
          </a:p>
        </p:txBody>
      </p:sp>
      <p:sp>
        <p:nvSpPr>
          <p:cNvPr id="5" name="Espace réservé du pied de page 4"/>
          <p:cNvSpPr>
            <a:spLocks noGrp="1"/>
          </p:cNvSpPr>
          <p:nvPr>
            <p:ph type="ftr" sz="quarter" idx="11"/>
          </p:nvPr>
        </p:nvSpPr>
        <p:spPr/>
        <p:txBody>
          <a:bodyPr/>
          <a:lstStyle/>
          <a:p>
            <a:r>
              <a:rPr lang="fr-FR"/>
              <a:t>Formation en création de site internet dynamique</a:t>
            </a:r>
          </a:p>
        </p:txBody>
      </p:sp>
      <p:sp>
        <p:nvSpPr>
          <p:cNvPr id="6" name="Espace réservé du numéro de diapositive 5"/>
          <p:cNvSpPr>
            <a:spLocks noGrp="1"/>
          </p:cNvSpPr>
          <p:nvPr>
            <p:ph type="sldNum" sz="quarter" idx="12"/>
          </p:nvPr>
        </p:nvSpPr>
        <p:spPr/>
        <p:txBody>
          <a:bodyPr/>
          <a:lstStyle/>
          <a:p>
            <a:fld id="{4288E5F3-43F0-4A48-867C-0B8238BE41BA}" type="slidenum">
              <a:rPr lang="fr-FR" smtClean="0"/>
              <a:pPr/>
              <a:t>‹N°›</a:t>
            </a:fld>
            <a:endParaRPr lang="fr-FR"/>
          </a:p>
        </p:txBody>
      </p:sp>
    </p:spTree>
    <p:extLst>
      <p:ext uri="{BB962C8B-B14F-4D97-AF65-F5344CB8AC3E}">
        <p14:creationId xmlns:p14="http://schemas.microsoft.com/office/powerpoint/2010/main" val="2105926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F0DA1B31-D834-4D84-81DF-15BD2E57CD45}" type="datetime1">
              <a:rPr lang="fr-FR" smtClean="0"/>
              <a:pPr/>
              <a:t>24/07/2023</a:t>
            </a:fld>
            <a:endParaRPr lang="fr-FR"/>
          </a:p>
        </p:txBody>
      </p:sp>
      <p:sp>
        <p:nvSpPr>
          <p:cNvPr id="5" name="Espace réservé du pied de page 4"/>
          <p:cNvSpPr>
            <a:spLocks noGrp="1"/>
          </p:cNvSpPr>
          <p:nvPr>
            <p:ph type="ftr" sz="quarter" idx="11"/>
          </p:nvPr>
        </p:nvSpPr>
        <p:spPr/>
        <p:txBody>
          <a:bodyPr/>
          <a:lstStyle/>
          <a:p>
            <a:r>
              <a:rPr lang="fr-FR"/>
              <a:t>Formation en création de site internet dynamique</a:t>
            </a:r>
          </a:p>
        </p:txBody>
      </p:sp>
      <p:sp>
        <p:nvSpPr>
          <p:cNvPr id="6" name="Espace réservé du numéro de diapositive 5"/>
          <p:cNvSpPr>
            <a:spLocks noGrp="1"/>
          </p:cNvSpPr>
          <p:nvPr>
            <p:ph type="sldNum" sz="quarter" idx="12"/>
          </p:nvPr>
        </p:nvSpPr>
        <p:spPr/>
        <p:txBody>
          <a:bodyPr/>
          <a:lstStyle/>
          <a:p>
            <a:fld id="{4288E5F3-43F0-4A48-867C-0B8238BE41BA}" type="slidenum">
              <a:rPr lang="fr-FR" smtClean="0"/>
              <a:pPr/>
              <a:t>‹N°›</a:t>
            </a:fld>
            <a:endParaRPr lang="fr-FR"/>
          </a:p>
        </p:txBody>
      </p:sp>
    </p:spTree>
    <p:extLst>
      <p:ext uri="{BB962C8B-B14F-4D97-AF65-F5344CB8AC3E}">
        <p14:creationId xmlns:p14="http://schemas.microsoft.com/office/powerpoint/2010/main" val="462387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57FAB016-6A54-4F9A-813C-ECF44C83279F}" type="datetime1">
              <a:rPr lang="fr-FR" smtClean="0"/>
              <a:pPr/>
              <a:t>24/07/2023</a:t>
            </a:fld>
            <a:endParaRPr lang="fr-FR"/>
          </a:p>
        </p:txBody>
      </p:sp>
      <p:sp>
        <p:nvSpPr>
          <p:cNvPr id="6" name="Espace réservé du pied de page 5"/>
          <p:cNvSpPr>
            <a:spLocks noGrp="1"/>
          </p:cNvSpPr>
          <p:nvPr>
            <p:ph type="ftr" sz="quarter" idx="11"/>
          </p:nvPr>
        </p:nvSpPr>
        <p:spPr/>
        <p:txBody>
          <a:bodyPr/>
          <a:lstStyle/>
          <a:p>
            <a:r>
              <a:rPr lang="fr-FR"/>
              <a:t>Formation en création de site internet dynamique</a:t>
            </a:r>
          </a:p>
        </p:txBody>
      </p:sp>
      <p:sp>
        <p:nvSpPr>
          <p:cNvPr id="7" name="Espace réservé du numéro de diapositive 6"/>
          <p:cNvSpPr>
            <a:spLocks noGrp="1"/>
          </p:cNvSpPr>
          <p:nvPr>
            <p:ph type="sldNum" sz="quarter" idx="12"/>
          </p:nvPr>
        </p:nvSpPr>
        <p:spPr/>
        <p:txBody>
          <a:bodyPr/>
          <a:lstStyle/>
          <a:p>
            <a:fld id="{4288E5F3-43F0-4A48-867C-0B8238BE41BA}" type="slidenum">
              <a:rPr lang="fr-FR" smtClean="0"/>
              <a:pPr/>
              <a:t>‹N°›</a:t>
            </a:fld>
            <a:endParaRPr lang="fr-FR"/>
          </a:p>
        </p:txBody>
      </p:sp>
    </p:spTree>
    <p:extLst>
      <p:ext uri="{BB962C8B-B14F-4D97-AF65-F5344CB8AC3E}">
        <p14:creationId xmlns:p14="http://schemas.microsoft.com/office/powerpoint/2010/main" val="4271215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EEBE506-6619-4EF3-911F-9E76E33BEC39}" type="datetime1">
              <a:rPr lang="fr-FR" smtClean="0"/>
              <a:pPr/>
              <a:t>24/07/2023</a:t>
            </a:fld>
            <a:endParaRPr lang="fr-FR"/>
          </a:p>
        </p:txBody>
      </p:sp>
      <p:sp>
        <p:nvSpPr>
          <p:cNvPr id="8" name="Espace réservé du pied de page 7"/>
          <p:cNvSpPr>
            <a:spLocks noGrp="1"/>
          </p:cNvSpPr>
          <p:nvPr>
            <p:ph type="ftr" sz="quarter" idx="11"/>
          </p:nvPr>
        </p:nvSpPr>
        <p:spPr/>
        <p:txBody>
          <a:bodyPr/>
          <a:lstStyle/>
          <a:p>
            <a:r>
              <a:rPr lang="fr-FR"/>
              <a:t>Formation en création de site internet dynamique</a:t>
            </a:r>
          </a:p>
        </p:txBody>
      </p:sp>
      <p:sp>
        <p:nvSpPr>
          <p:cNvPr id="9" name="Espace réservé du numéro de diapositive 8"/>
          <p:cNvSpPr>
            <a:spLocks noGrp="1"/>
          </p:cNvSpPr>
          <p:nvPr>
            <p:ph type="sldNum" sz="quarter" idx="12"/>
          </p:nvPr>
        </p:nvSpPr>
        <p:spPr/>
        <p:txBody>
          <a:bodyPr/>
          <a:lstStyle/>
          <a:p>
            <a:fld id="{4288E5F3-43F0-4A48-867C-0B8238BE41BA}" type="slidenum">
              <a:rPr lang="fr-FR" smtClean="0"/>
              <a:pPr/>
              <a:t>‹N°›</a:t>
            </a:fld>
            <a:endParaRPr lang="fr-FR"/>
          </a:p>
        </p:txBody>
      </p:sp>
    </p:spTree>
    <p:extLst>
      <p:ext uri="{BB962C8B-B14F-4D97-AF65-F5344CB8AC3E}">
        <p14:creationId xmlns:p14="http://schemas.microsoft.com/office/powerpoint/2010/main" val="2102600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10B47F4B-BCB6-4E5F-AD50-C78253D6A7B2}" type="datetime1">
              <a:rPr lang="fr-FR" smtClean="0"/>
              <a:pPr/>
              <a:t>24/07/2023</a:t>
            </a:fld>
            <a:endParaRPr lang="fr-FR"/>
          </a:p>
        </p:txBody>
      </p:sp>
      <p:sp>
        <p:nvSpPr>
          <p:cNvPr id="4" name="Espace réservé du pied de page 3"/>
          <p:cNvSpPr>
            <a:spLocks noGrp="1"/>
          </p:cNvSpPr>
          <p:nvPr>
            <p:ph type="ftr" sz="quarter" idx="11"/>
          </p:nvPr>
        </p:nvSpPr>
        <p:spPr/>
        <p:txBody>
          <a:bodyPr/>
          <a:lstStyle/>
          <a:p>
            <a:r>
              <a:rPr lang="fr-FR"/>
              <a:t>Formation en création de site internet dynamique</a:t>
            </a:r>
          </a:p>
        </p:txBody>
      </p:sp>
      <p:sp>
        <p:nvSpPr>
          <p:cNvPr id="5" name="Espace réservé du numéro de diapositive 4"/>
          <p:cNvSpPr>
            <a:spLocks noGrp="1"/>
          </p:cNvSpPr>
          <p:nvPr>
            <p:ph type="sldNum" sz="quarter" idx="12"/>
          </p:nvPr>
        </p:nvSpPr>
        <p:spPr/>
        <p:txBody>
          <a:bodyPr/>
          <a:lstStyle/>
          <a:p>
            <a:fld id="{4288E5F3-43F0-4A48-867C-0B8238BE41BA}" type="slidenum">
              <a:rPr lang="fr-FR" smtClean="0"/>
              <a:pPr/>
              <a:t>‹N°›</a:t>
            </a:fld>
            <a:endParaRPr lang="fr-FR"/>
          </a:p>
        </p:txBody>
      </p:sp>
    </p:spTree>
    <p:extLst>
      <p:ext uri="{BB962C8B-B14F-4D97-AF65-F5344CB8AC3E}">
        <p14:creationId xmlns:p14="http://schemas.microsoft.com/office/powerpoint/2010/main" val="1728414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B7B7C99A-62F7-42F4-ABB6-7B5539731015}" type="datetime1">
              <a:rPr lang="fr-FR" smtClean="0"/>
              <a:pPr/>
              <a:t>24/07/2023</a:t>
            </a:fld>
            <a:endParaRPr lang="fr-FR"/>
          </a:p>
        </p:txBody>
      </p:sp>
      <p:sp>
        <p:nvSpPr>
          <p:cNvPr id="3" name="Espace réservé du pied de page 2"/>
          <p:cNvSpPr>
            <a:spLocks noGrp="1"/>
          </p:cNvSpPr>
          <p:nvPr>
            <p:ph type="ftr" sz="quarter" idx="11"/>
          </p:nvPr>
        </p:nvSpPr>
        <p:spPr/>
        <p:txBody>
          <a:bodyPr/>
          <a:lstStyle/>
          <a:p>
            <a:r>
              <a:rPr lang="fr-FR"/>
              <a:t>Formation en création de site internet dynamique</a:t>
            </a:r>
          </a:p>
        </p:txBody>
      </p:sp>
      <p:sp>
        <p:nvSpPr>
          <p:cNvPr id="4" name="Espace réservé du numéro de diapositive 3"/>
          <p:cNvSpPr>
            <a:spLocks noGrp="1"/>
          </p:cNvSpPr>
          <p:nvPr>
            <p:ph type="sldNum" sz="quarter" idx="12"/>
          </p:nvPr>
        </p:nvSpPr>
        <p:spPr/>
        <p:txBody>
          <a:bodyPr/>
          <a:lstStyle/>
          <a:p>
            <a:fld id="{4288E5F3-43F0-4A48-867C-0B8238BE41BA}" type="slidenum">
              <a:rPr lang="fr-FR" smtClean="0"/>
              <a:pPr/>
              <a:t>‹N°›</a:t>
            </a:fld>
            <a:endParaRPr lang="fr-FR"/>
          </a:p>
        </p:txBody>
      </p:sp>
    </p:spTree>
    <p:extLst>
      <p:ext uri="{BB962C8B-B14F-4D97-AF65-F5344CB8AC3E}">
        <p14:creationId xmlns:p14="http://schemas.microsoft.com/office/powerpoint/2010/main" val="1827997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8F97CCF-8BD9-487B-8255-D2D92CFD653E}" type="datetime1">
              <a:rPr lang="fr-FR" smtClean="0"/>
              <a:pPr/>
              <a:t>24/07/2023</a:t>
            </a:fld>
            <a:endParaRPr lang="fr-FR"/>
          </a:p>
        </p:txBody>
      </p:sp>
      <p:sp>
        <p:nvSpPr>
          <p:cNvPr id="6" name="Espace réservé du pied de page 5"/>
          <p:cNvSpPr>
            <a:spLocks noGrp="1"/>
          </p:cNvSpPr>
          <p:nvPr>
            <p:ph type="ftr" sz="quarter" idx="11"/>
          </p:nvPr>
        </p:nvSpPr>
        <p:spPr/>
        <p:txBody>
          <a:bodyPr/>
          <a:lstStyle/>
          <a:p>
            <a:r>
              <a:rPr lang="fr-FR"/>
              <a:t>Formation en création de site internet dynamique</a:t>
            </a:r>
          </a:p>
        </p:txBody>
      </p:sp>
      <p:sp>
        <p:nvSpPr>
          <p:cNvPr id="7" name="Espace réservé du numéro de diapositive 6"/>
          <p:cNvSpPr>
            <a:spLocks noGrp="1"/>
          </p:cNvSpPr>
          <p:nvPr>
            <p:ph type="sldNum" sz="quarter" idx="12"/>
          </p:nvPr>
        </p:nvSpPr>
        <p:spPr/>
        <p:txBody>
          <a:bodyPr/>
          <a:lstStyle/>
          <a:p>
            <a:fld id="{4288E5F3-43F0-4A48-867C-0B8238BE41BA}" type="slidenum">
              <a:rPr lang="fr-FR" smtClean="0"/>
              <a:pPr/>
              <a:t>‹N°›</a:t>
            </a:fld>
            <a:endParaRPr lang="fr-FR"/>
          </a:p>
        </p:txBody>
      </p:sp>
    </p:spTree>
    <p:extLst>
      <p:ext uri="{BB962C8B-B14F-4D97-AF65-F5344CB8AC3E}">
        <p14:creationId xmlns:p14="http://schemas.microsoft.com/office/powerpoint/2010/main" val="3857134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E812D1A7-B307-44AB-A4B1-E6DEF309F7A4}" type="datetime1">
              <a:rPr lang="fr-FR" smtClean="0"/>
              <a:pPr/>
              <a:t>24/07/2023</a:t>
            </a:fld>
            <a:endParaRPr lang="fr-FR"/>
          </a:p>
        </p:txBody>
      </p:sp>
      <p:sp>
        <p:nvSpPr>
          <p:cNvPr id="6" name="Espace réservé du pied de page 5"/>
          <p:cNvSpPr>
            <a:spLocks noGrp="1"/>
          </p:cNvSpPr>
          <p:nvPr>
            <p:ph type="ftr" sz="quarter" idx="11"/>
          </p:nvPr>
        </p:nvSpPr>
        <p:spPr/>
        <p:txBody>
          <a:bodyPr/>
          <a:lstStyle/>
          <a:p>
            <a:r>
              <a:rPr lang="fr-FR"/>
              <a:t>Formation en création de site internet dynamique</a:t>
            </a:r>
          </a:p>
        </p:txBody>
      </p:sp>
      <p:sp>
        <p:nvSpPr>
          <p:cNvPr id="7" name="Espace réservé du numéro de diapositive 6"/>
          <p:cNvSpPr>
            <a:spLocks noGrp="1"/>
          </p:cNvSpPr>
          <p:nvPr>
            <p:ph type="sldNum" sz="quarter" idx="12"/>
          </p:nvPr>
        </p:nvSpPr>
        <p:spPr/>
        <p:txBody>
          <a:bodyPr/>
          <a:lstStyle/>
          <a:p>
            <a:fld id="{4288E5F3-43F0-4A48-867C-0B8238BE41BA}" type="slidenum">
              <a:rPr lang="fr-FR" smtClean="0"/>
              <a:pPr/>
              <a:t>‹N°›</a:t>
            </a:fld>
            <a:endParaRPr lang="fr-FR"/>
          </a:p>
        </p:txBody>
      </p:sp>
    </p:spTree>
    <p:extLst>
      <p:ext uri="{BB962C8B-B14F-4D97-AF65-F5344CB8AC3E}">
        <p14:creationId xmlns:p14="http://schemas.microsoft.com/office/powerpoint/2010/main" val="41394629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58A0760-50B5-4EEC-8C93-52A3CC0D13E9}" type="datetime1">
              <a:rPr lang="fr-FR" smtClean="0"/>
              <a:pPr/>
              <a:t>24/07/2023</a:t>
            </a:fld>
            <a:endParaRPr lang="fr-FR"/>
          </a:p>
        </p:txBody>
      </p:sp>
      <p:sp>
        <p:nvSpPr>
          <p:cNvPr id="5" name="Espace réservé du pied de page 4"/>
          <p:cNvSpPr>
            <a:spLocks noGrp="1"/>
          </p:cNvSpPr>
          <p:nvPr>
            <p:ph type="ftr" sz="quarter" idx="11"/>
          </p:nvPr>
        </p:nvSpPr>
        <p:spPr/>
        <p:txBody>
          <a:bodyPr/>
          <a:lstStyle/>
          <a:p>
            <a:r>
              <a:rPr lang="fr-FR"/>
              <a:t>Formation en création de site internet dynamique</a:t>
            </a:r>
          </a:p>
        </p:txBody>
      </p:sp>
      <p:sp>
        <p:nvSpPr>
          <p:cNvPr id="6" name="Espace réservé du numéro de diapositive 5"/>
          <p:cNvSpPr>
            <a:spLocks noGrp="1"/>
          </p:cNvSpPr>
          <p:nvPr>
            <p:ph type="sldNum" sz="quarter" idx="12"/>
          </p:nvPr>
        </p:nvSpPr>
        <p:spPr/>
        <p:txBody>
          <a:bodyPr/>
          <a:lstStyle/>
          <a:p>
            <a:fld id="{4288E5F3-43F0-4A48-867C-0B8238BE41BA}" type="slidenum">
              <a:rPr lang="fr-FR" smtClean="0"/>
              <a:pPr/>
              <a:t>‹N°›</a:t>
            </a:fld>
            <a:endParaRPr lang="fr-FR"/>
          </a:p>
        </p:txBody>
      </p:sp>
    </p:spTree>
    <p:extLst>
      <p:ext uri="{BB962C8B-B14F-4D97-AF65-F5344CB8AC3E}">
        <p14:creationId xmlns:p14="http://schemas.microsoft.com/office/powerpoint/2010/main" val="42708448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29597CE6-9AC4-4455-ADBC-1EB4494D1E85}" type="datetime1">
              <a:rPr lang="fr-FR" smtClean="0"/>
              <a:pPr/>
              <a:t>24/07/2023</a:t>
            </a:fld>
            <a:endParaRPr lang="fr-FR"/>
          </a:p>
        </p:txBody>
      </p:sp>
      <p:sp>
        <p:nvSpPr>
          <p:cNvPr id="5" name="Espace réservé du pied de page 4"/>
          <p:cNvSpPr>
            <a:spLocks noGrp="1"/>
          </p:cNvSpPr>
          <p:nvPr>
            <p:ph type="ftr" sz="quarter" idx="11"/>
          </p:nvPr>
        </p:nvSpPr>
        <p:spPr/>
        <p:txBody>
          <a:bodyPr/>
          <a:lstStyle/>
          <a:p>
            <a:r>
              <a:rPr lang="fr-FR"/>
              <a:t>Formation en création de site internet dynamique</a:t>
            </a:r>
          </a:p>
        </p:txBody>
      </p:sp>
      <p:sp>
        <p:nvSpPr>
          <p:cNvPr id="6" name="Espace réservé du numéro de diapositive 5"/>
          <p:cNvSpPr>
            <a:spLocks noGrp="1"/>
          </p:cNvSpPr>
          <p:nvPr>
            <p:ph type="sldNum" sz="quarter" idx="12"/>
          </p:nvPr>
        </p:nvSpPr>
        <p:spPr/>
        <p:txBody>
          <a:bodyPr/>
          <a:lstStyle/>
          <a:p>
            <a:fld id="{4288E5F3-43F0-4A48-867C-0B8238BE41BA}" type="slidenum">
              <a:rPr lang="fr-FR" smtClean="0"/>
              <a:pPr/>
              <a:t>‹N°›</a:t>
            </a:fld>
            <a:endParaRPr lang="fr-FR"/>
          </a:p>
        </p:txBody>
      </p:sp>
    </p:spTree>
    <p:extLst>
      <p:ext uri="{BB962C8B-B14F-4D97-AF65-F5344CB8AC3E}">
        <p14:creationId xmlns:p14="http://schemas.microsoft.com/office/powerpoint/2010/main" val="4116740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8721F3-6DB6-4450-8624-CAEBDDE44A4D}" type="datetime1">
              <a:rPr lang="fr-FR" smtClean="0"/>
              <a:pPr/>
              <a:t>24/07/2023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Formation en création de site internet dynamique</a:t>
            </a: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88E5F3-43F0-4A48-867C-0B8238BE41BA}" type="slidenum">
              <a:rPr lang="fr-FR" smtClean="0"/>
              <a:pPr/>
              <a:t>‹N°›</a:t>
            </a:fld>
            <a:endParaRPr lang="fr-FR"/>
          </a:p>
        </p:txBody>
      </p:sp>
    </p:spTree>
    <p:extLst>
      <p:ext uri="{BB962C8B-B14F-4D97-AF65-F5344CB8AC3E}">
        <p14:creationId xmlns:p14="http://schemas.microsoft.com/office/powerpoint/2010/main" val="2233973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abidjan-immobilier.ne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673223"/>
            <a:ext cx="7772400" cy="1470025"/>
          </a:xfrm>
        </p:spPr>
        <p:txBody>
          <a:bodyPr>
            <a:normAutofit/>
          </a:bodyPr>
          <a:lstStyle/>
          <a:p>
            <a:r>
              <a:rPr lang="fr-FR" dirty="0"/>
              <a:t>PROGRAMMATION DE CLIENTS WEB</a:t>
            </a:r>
          </a:p>
        </p:txBody>
      </p:sp>
      <p:sp>
        <p:nvSpPr>
          <p:cNvPr id="3" name="Sous-titre 2"/>
          <p:cNvSpPr>
            <a:spLocks noGrp="1"/>
          </p:cNvSpPr>
          <p:nvPr>
            <p:ph type="subTitle" idx="1"/>
          </p:nvPr>
        </p:nvSpPr>
        <p:spPr>
          <a:xfrm>
            <a:off x="755576" y="3429000"/>
            <a:ext cx="7704856" cy="1944216"/>
          </a:xfrm>
        </p:spPr>
        <p:txBody>
          <a:bodyPr>
            <a:normAutofit fontScale="85000" lnSpcReduction="20000"/>
          </a:bodyPr>
          <a:lstStyle/>
          <a:p>
            <a:r>
              <a:rPr lang="fr-FR" sz="1800" i="1" dirty="0"/>
              <a:t>FORMATEUR : </a:t>
            </a:r>
          </a:p>
          <a:p>
            <a:r>
              <a:rPr lang="fr-FR" sz="1800" b="1" i="1" u="sng" dirty="0"/>
              <a:t>Samuel KOTEI-NIKOI</a:t>
            </a:r>
            <a:r>
              <a:rPr lang="fr-FR" sz="1800" i="1" dirty="0"/>
              <a:t>,</a:t>
            </a:r>
            <a:br>
              <a:rPr lang="fr-FR" sz="1800" i="1" dirty="0"/>
            </a:br>
            <a:r>
              <a:rPr lang="fr-FR" sz="1800" i="1" dirty="0"/>
              <a:t>Ingénieur de Conception en Informatique,</a:t>
            </a:r>
          </a:p>
          <a:p>
            <a:r>
              <a:rPr lang="fr-FR" sz="1800" i="1" dirty="0"/>
              <a:t>Expert en Gestion de Projets Web,</a:t>
            </a:r>
          </a:p>
          <a:p>
            <a:r>
              <a:rPr lang="fr-FR" sz="1800" i="1" dirty="0"/>
              <a:t>Formateur en langages de programmation web,</a:t>
            </a:r>
          </a:p>
          <a:p>
            <a:r>
              <a:rPr lang="fr-FR" sz="1800" i="1" dirty="0"/>
              <a:t>Directeur Général </a:t>
            </a:r>
            <a:r>
              <a:rPr lang="fr-FR" sz="1800" b="1" i="1" dirty="0"/>
              <a:t>NIKKOSA COMMUNICATION</a:t>
            </a:r>
            <a:r>
              <a:rPr lang="fr-FR" sz="1800" i="1" dirty="0"/>
              <a:t>,</a:t>
            </a:r>
          </a:p>
          <a:p>
            <a:r>
              <a:rPr lang="fr-FR" sz="1800" i="1" dirty="0"/>
              <a:t>Fondateur du portail </a:t>
            </a:r>
            <a:r>
              <a:rPr lang="fr-FR" sz="1800" i="1" dirty="0">
                <a:hlinkClick r:id="rId3"/>
              </a:rPr>
              <a:t>www.abidjan-immobilier.net</a:t>
            </a:r>
            <a:r>
              <a:rPr lang="fr-FR" sz="1800" i="1" dirty="0"/>
              <a:t>,</a:t>
            </a:r>
          </a:p>
          <a:p>
            <a:r>
              <a:rPr lang="fr-FR" sz="1800" i="1" dirty="0"/>
              <a:t>GSM : +225 07 35 47 28 / Email : nikkosa@yahoo.fr</a:t>
            </a:r>
          </a:p>
        </p:txBody>
      </p:sp>
      <p:sp>
        <p:nvSpPr>
          <p:cNvPr id="5" name="Espace réservé du numéro de diapositive 4"/>
          <p:cNvSpPr>
            <a:spLocks noGrp="1"/>
          </p:cNvSpPr>
          <p:nvPr>
            <p:ph type="sldNum" sz="quarter" idx="12"/>
          </p:nvPr>
        </p:nvSpPr>
        <p:spPr/>
        <p:txBody>
          <a:bodyPr/>
          <a:lstStyle/>
          <a:p>
            <a:fld id="{4288E5F3-43F0-4A48-867C-0B8238BE41BA}" type="slidenum">
              <a:rPr lang="fr-FR" smtClean="0"/>
              <a:pPr/>
              <a:t>1</a:t>
            </a:fld>
            <a:endParaRPr lang="fr-FR"/>
          </a:p>
        </p:txBody>
      </p:sp>
    </p:spTree>
    <p:extLst>
      <p:ext uri="{BB962C8B-B14F-4D97-AF65-F5344CB8AC3E}">
        <p14:creationId xmlns:p14="http://schemas.microsoft.com/office/powerpoint/2010/main" val="1311674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721804" y="332657"/>
            <a:ext cx="7772400" cy="1080120"/>
          </a:xfrm>
        </p:spPr>
        <p:txBody>
          <a:bodyPr/>
          <a:lstStyle/>
          <a:p>
            <a:r>
              <a:rPr lang="fr-FR" dirty="0"/>
              <a:t>PARTIE 1 : GENERALITE</a:t>
            </a:r>
          </a:p>
        </p:txBody>
      </p:sp>
      <p:sp>
        <p:nvSpPr>
          <p:cNvPr id="5" name="Espace réservé du numéro de diapositive 4"/>
          <p:cNvSpPr>
            <a:spLocks noGrp="1"/>
          </p:cNvSpPr>
          <p:nvPr>
            <p:ph type="sldNum" sz="quarter" idx="12"/>
          </p:nvPr>
        </p:nvSpPr>
        <p:spPr/>
        <p:txBody>
          <a:bodyPr/>
          <a:lstStyle/>
          <a:p>
            <a:fld id="{4288E5F3-43F0-4A48-867C-0B8238BE41BA}" type="slidenum">
              <a:rPr lang="fr-FR" smtClean="0"/>
              <a:pPr/>
              <a:t>2</a:t>
            </a:fld>
            <a:endParaRPr lang="fr-FR"/>
          </a:p>
        </p:txBody>
      </p:sp>
      <p:sp>
        <p:nvSpPr>
          <p:cNvPr id="6" name="ZoneTexte 5"/>
          <p:cNvSpPr txBox="1"/>
          <p:nvPr/>
        </p:nvSpPr>
        <p:spPr>
          <a:xfrm>
            <a:off x="467544" y="1340768"/>
            <a:ext cx="8280920" cy="4585871"/>
          </a:xfrm>
          <a:prstGeom prst="rect">
            <a:avLst/>
          </a:prstGeom>
          <a:noFill/>
        </p:spPr>
        <p:txBody>
          <a:bodyPr wrap="square" rtlCol="0">
            <a:spAutoFit/>
          </a:bodyPr>
          <a:lstStyle/>
          <a:p>
            <a:pPr marL="457200" indent="-457200">
              <a:buAutoNum type="arabicPeriod"/>
            </a:pPr>
            <a:r>
              <a:rPr lang="fr-FR" sz="2000" b="1" u="sng" dirty="0"/>
              <a:t>Introduction</a:t>
            </a:r>
          </a:p>
          <a:p>
            <a:endParaRPr lang="fr-FR" sz="2000" b="1" u="sng" dirty="0"/>
          </a:p>
          <a:p>
            <a:r>
              <a:rPr lang="fr-FR" sz="1400" dirty="0"/>
              <a:t>Avant toute chose, il faut savoir qu’il y a 2 types d’ordinateurs connectés au Web :</a:t>
            </a:r>
          </a:p>
          <a:p>
            <a:endParaRPr lang="fr-FR" sz="1400" dirty="0"/>
          </a:p>
          <a:p>
            <a:pPr marL="285750" indent="-285750">
              <a:buFont typeface="Arial" panose="020B0604020202020204" pitchFamily="34" charset="0"/>
              <a:buChar char="•"/>
            </a:pPr>
            <a:r>
              <a:rPr lang="fr-FR" sz="1400" b="1" dirty="0"/>
              <a:t>Des clients :</a:t>
            </a:r>
            <a:r>
              <a:rPr lang="fr-FR" sz="1400" dirty="0"/>
              <a:t> c’est vous, votre ordinateur qui sert à aller consulter des sites web.</a:t>
            </a:r>
          </a:p>
          <a:p>
            <a:endParaRPr lang="fr-FR" sz="1400" dirty="0"/>
          </a:p>
          <a:p>
            <a:pPr marL="285750" indent="-285750">
              <a:buFont typeface="Arial" panose="020B0604020202020204" pitchFamily="34" charset="0"/>
              <a:buChar char="•"/>
            </a:pPr>
            <a:r>
              <a:rPr lang="fr-FR" sz="1400" b="1" dirty="0"/>
              <a:t>Des serveurs :</a:t>
            </a:r>
            <a:r>
              <a:rPr lang="fr-FR" sz="1400" dirty="0"/>
              <a:t> ce sont des ordinateurs spéciaux (souvent très puissants) qui envoient les sites web aux clients. Les serveurs "possèdent" les sites web et les distribuent à ceux qui veulent les visiter.</a:t>
            </a:r>
          </a:p>
          <a:p>
            <a:endParaRPr lang="fr-FR" sz="1400" dirty="0"/>
          </a:p>
          <a:p>
            <a:r>
              <a:rPr lang="fr-FR" sz="1400" dirty="0"/>
              <a:t>IL existe également deux types de sites web : les sites </a:t>
            </a:r>
            <a:r>
              <a:rPr lang="fr-FR" sz="1400" b="1" dirty="0">
                <a:solidFill>
                  <a:srgbClr val="FF0000"/>
                </a:solidFill>
              </a:rPr>
              <a:t>statiques</a:t>
            </a:r>
            <a:r>
              <a:rPr lang="fr-FR" sz="1400" dirty="0"/>
              <a:t> et les sites </a:t>
            </a:r>
            <a:r>
              <a:rPr lang="fr-FR" sz="1400" b="1" dirty="0">
                <a:solidFill>
                  <a:srgbClr val="FF0000"/>
                </a:solidFill>
              </a:rPr>
              <a:t>dynamiques</a:t>
            </a:r>
            <a:r>
              <a:rPr lang="fr-FR" sz="1400" dirty="0"/>
              <a:t>.</a:t>
            </a:r>
          </a:p>
          <a:p>
            <a:endParaRPr lang="fr-FR" sz="1400" dirty="0"/>
          </a:p>
          <a:p>
            <a:r>
              <a:rPr lang="fr-FR" sz="1400" b="1" dirty="0"/>
              <a:t>Les sites statiques</a:t>
            </a:r>
            <a:r>
              <a:rPr lang="fr-FR" sz="1400" dirty="0"/>
              <a:t> : ce sont des sites dont contenu ne peut pas être mis à jour automatiquement. Il faut que le propriétaire du site (le webmaster) modifie chaque fois le code source pour y ajouter des nouveautés. Ce n'est pas très pratique quand on doit mettre à jour son site plusieurs fois dans la même journée ! Les sites statiques sont donc bien adaptés pour réaliser des sites « vitrine », pour présenter par exemple son entreprise, mais sans aller plus loin. </a:t>
            </a:r>
          </a:p>
          <a:p>
            <a:endParaRPr lang="fr-FR" sz="1400" b="1" dirty="0"/>
          </a:p>
          <a:p>
            <a:r>
              <a:rPr lang="fr-FR" sz="1400" b="1" dirty="0"/>
              <a:t>Les sites dynamiques</a:t>
            </a:r>
            <a:r>
              <a:rPr lang="fr-FR" sz="1400" dirty="0"/>
              <a:t> : ce sont des sites plus complexes. Le contenu de ces sites web est dit « dynamique » parce qu'il peut changer sans l'intervention du webmaster ! </a:t>
            </a:r>
          </a:p>
          <a:p>
            <a:endParaRPr lang="fr-FR" sz="1400" dirty="0"/>
          </a:p>
        </p:txBody>
      </p:sp>
    </p:spTree>
    <p:extLst>
      <p:ext uri="{BB962C8B-B14F-4D97-AF65-F5344CB8AC3E}">
        <p14:creationId xmlns:p14="http://schemas.microsoft.com/office/powerpoint/2010/main" val="1165714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67544" y="404664"/>
            <a:ext cx="8568952" cy="1938992"/>
          </a:xfrm>
          <a:prstGeom prst="rect">
            <a:avLst/>
          </a:prstGeom>
          <a:noFill/>
        </p:spPr>
        <p:txBody>
          <a:bodyPr wrap="square" rtlCol="0">
            <a:spAutoFit/>
          </a:bodyPr>
          <a:lstStyle/>
          <a:p>
            <a:r>
              <a:rPr lang="fr-FR" b="1" dirty="0"/>
              <a:t>2. </a:t>
            </a:r>
            <a:r>
              <a:rPr lang="fr-FR" sz="2000" b="1" u="sng" dirty="0"/>
              <a:t>Comment fonctionne un site web ?</a:t>
            </a:r>
          </a:p>
          <a:p>
            <a:endParaRPr lang="fr-FR" sz="2000" b="1" u="sng" dirty="0"/>
          </a:p>
          <a:p>
            <a:r>
              <a:rPr lang="fr-FR" sz="2000" dirty="0"/>
              <a:t>Lorsque vous voulez visiter un site web, vous tapez son adresse dans votre navigateur web : Google Chrome, Mozilla Firefox, Internet Explorer, </a:t>
            </a:r>
            <a:r>
              <a:rPr lang="fr-FR" sz="2000" dirty="0" err="1"/>
              <a:t>Opera</a:t>
            </a:r>
            <a:r>
              <a:rPr lang="fr-FR" sz="2000" dirty="0"/>
              <a:t>, Safari… . Mais comment fait la page web pour arriver jusqu'à vous ?</a:t>
            </a:r>
          </a:p>
          <a:p>
            <a:endParaRPr lang="fr-FR" sz="2000" dirty="0"/>
          </a:p>
        </p:txBody>
      </p:sp>
      <p:sp>
        <p:nvSpPr>
          <p:cNvPr id="4" name="Espace réservé du numéro de diapositive 3"/>
          <p:cNvSpPr>
            <a:spLocks noGrp="1"/>
          </p:cNvSpPr>
          <p:nvPr>
            <p:ph type="sldNum" sz="quarter" idx="12"/>
          </p:nvPr>
        </p:nvSpPr>
        <p:spPr/>
        <p:txBody>
          <a:bodyPr/>
          <a:lstStyle/>
          <a:p>
            <a:fld id="{4288E5F3-43F0-4A48-867C-0B8238BE41BA}" type="slidenum">
              <a:rPr lang="fr-FR" smtClean="0"/>
              <a:pPr/>
              <a:t>3</a:t>
            </a:fld>
            <a:endParaRPr lang="fr-FR"/>
          </a:p>
        </p:txBody>
      </p:sp>
      <p:sp>
        <p:nvSpPr>
          <p:cNvPr id="9" name="ZoneTexte 8"/>
          <p:cNvSpPr txBox="1"/>
          <p:nvPr/>
        </p:nvSpPr>
        <p:spPr>
          <a:xfrm>
            <a:off x="323528" y="2357155"/>
            <a:ext cx="8052076" cy="1320363"/>
          </a:xfrm>
          <a:prstGeom prst="rect">
            <a:avLst/>
          </a:prstGeom>
          <a:noFill/>
        </p:spPr>
        <p:txBody>
          <a:bodyPr wrap="none" rtlCol="0">
            <a:spAutoFit/>
          </a:bodyPr>
          <a:lstStyle/>
          <a:p>
            <a:r>
              <a:rPr lang="fr-FR" b="1" dirty="0"/>
              <a:t>Cas d'un site statique</a:t>
            </a:r>
          </a:p>
          <a:p>
            <a:r>
              <a:rPr lang="fr-FR" dirty="0"/>
              <a:t>Lorsque le site est statique, le schéma est très simple. Cela se passe en deux temps :</a:t>
            </a:r>
          </a:p>
          <a:p>
            <a:r>
              <a:rPr lang="fr-FR" dirty="0"/>
              <a:t>1. le client demande au serveur à voir une page web ;</a:t>
            </a:r>
          </a:p>
          <a:p>
            <a:r>
              <a:rPr lang="fr-FR" dirty="0"/>
              <a:t>2. le serveur lui répond en lui envoyant la page réclamée.</a:t>
            </a:r>
          </a:p>
        </p:txBody>
      </p:sp>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2625" y="3635285"/>
            <a:ext cx="5238750" cy="1665923"/>
          </a:xfrm>
          <a:prstGeom prst="rect">
            <a:avLst/>
          </a:prstGeom>
        </p:spPr>
      </p:pic>
    </p:spTree>
    <p:extLst>
      <p:ext uri="{BB962C8B-B14F-4D97-AF65-F5344CB8AC3E}">
        <p14:creationId xmlns:p14="http://schemas.microsoft.com/office/powerpoint/2010/main" val="915261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635582" y="404664"/>
            <a:ext cx="7888891" cy="1477328"/>
          </a:xfrm>
          <a:prstGeom prst="rect">
            <a:avLst/>
          </a:prstGeom>
          <a:noFill/>
        </p:spPr>
        <p:txBody>
          <a:bodyPr wrap="none" rtlCol="0">
            <a:spAutoFit/>
          </a:bodyPr>
          <a:lstStyle/>
          <a:p>
            <a:r>
              <a:rPr lang="fr-FR" b="1" dirty="0"/>
              <a:t>Cas d'un site dynamique</a:t>
            </a:r>
          </a:p>
          <a:p>
            <a:r>
              <a:rPr lang="fr-FR" dirty="0"/>
              <a:t>Lorsque le site est dynamique, il y a une étape intermédiaire : la page est </a:t>
            </a:r>
            <a:r>
              <a:rPr lang="fr-FR" b="1" dirty="0"/>
              <a:t>générée</a:t>
            </a:r>
            <a:r>
              <a:rPr lang="fr-FR" dirty="0"/>
              <a:t> </a:t>
            </a:r>
          </a:p>
          <a:p>
            <a:r>
              <a:rPr lang="fr-FR" dirty="0"/>
              <a:t>1. Le client demande au serveur à voir une page web ;</a:t>
            </a:r>
          </a:p>
          <a:p>
            <a:r>
              <a:rPr lang="fr-FR" dirty="0"/>
              <a:t>2. le serveur prépare la page spécialement pour le client ;</a:t>
            </a:r>
          </a:p>
          <a:p>
            <a:r>
              <a:rPr lang="fr-FR" dirty="0"/>
              <a:t>3. le serveur lui envoie la page qu'il vient de générer.</a:t>
            </a: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728" y="2420888"/>
            <a:ext cx="4762500" cy="1514475"/>
          </a:xfrm>
          <a:prstGeom prst="rect">
            <a:avLst/>
          </a:prstGeom>
        </p:spPr>
      </p:pic>
      <p:sp>
        <p:nvSpPr>
          <p:cNvPr id="7" name="Espace réservé du numéro de diapositive 6"/>
          <p:cNvSpPr>
            <a:spLocks noGrp="1"/>
          </p:cNvSpPr>
          <p:nvPr>
            <p:ph type="sldNum" sz="quarter" idx="12"/>
          </p:nvPr>
        </p:nvSpPr>
        <p:spPr/>
        <p:txBody>
          <a:bodyPr/>
          <a:lstStyle/>
          <a:p>
            <a:fld id="{4288E5F3-43F0-4A48-867C-0B8238BE41BA}" type="slidenum">
              <a:rPr lang="fr-FR" smtClean="0"/>
              <a:pPr/>
              <a:t>4</a:t>
            </a:fld>
            <a:endParaRPr lang="fr-FR"/>
          </a:p>
        </p:txBody>
      </p:sp>
    </p:spTree>
    <p:extLst>
      <p:ext uri="{BB962C8B-B14F-4D97-AF65-F5344CB8AC3E}">
        <p14:creationId xmlns:p14="http://schemas.microsoft.com/office/powerpoint/2010/main" val="2255344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67544" y="476672"/>
            <a:ext cx="8496944" cy="6063198"/>
          </a:xfrm>
          <a:prstGeom prst="rect">
            <a:avLst/>
          </a:prstGeom>
          <a:noFill/>
        </p:spPr>
        <p:txBody>
          <a:bodyPr wrap="square" rtlCol="0">
            <a:spAutoFit/>
          </a:bodyPr>
          <a:lstStyle/>
          <a:p>
            <a:r>
              <a:rPr lang="fr-FR" sz="2000" b="1" dirty="0"/>
              <a:t>3.</a:t>
            </a:r>
            <a:r>
              <a:rPr lang="fr-FR" sz="2000" dirty="0"/>
              <a:t> </a:t>
            </a:r>
            <a:r>
              <a:rPr lang="fr-FR" sz="2000" b="1" u="sng" dirty="0"/>
              <a:t>Les langages du web</a:t>
            </a:r>
          </a:p>
          <a:p>
            <a:endParaRPr lang="fr-FR" sz="1600" b="1" u="sng" dirty="0"/>
          </a:p>
          <a:p>
            <a:r>
              <a:rPr lang="fr-FR" sz="1600" dirty="0"/>
              <a:t>Lorsqu'on crée un site web, on est amené à manipuler non pas un mais plusieurs langages. En tant que webmaster ou développeur d’applications web, il faut impérativement les connaître.</a:t>
            </a:r>
          </a:p>
          <a:p>
            <a:endParaRPr lang="fr-FR" sz="1600" b="1" u="sng" dirty="0"/>
          </a:p>
          <a:p>
            <a:r>
              <a:rPr lang="fr-FR" sz="1600" b="1" dirty="0"/>
              <a:t>Pour un site statique : HTML, CSS et JavaScript</a:t>
            </a:r>
          </a:p>
          <a:p>
            <a:endParaRPr lang="fr-FR" sz="1600" b="1" dirty="0"/>
          </a:p>
          <a:p>
            <a:r>
              <a:rPr lang="fr-FR" sz="1600" b="1" dirty="0"/>
              <a:t>HTML</a:t>
            </a:r>
            <a:r>
              <a:rPr lang="fr-FR" sz="1600" dirty="0"/>
              <a:t>  (</a:t>
            </a:r>
            <a:r>
              <a:rPr lang="fr-FR" sz="1600" i="1" dirty="0"/>
              <a:t>HyperText </a:t>
            </a:r>
            <a:r>
              <a:rPr lang="fr-FR" sz="1600" i="1" dirty="0" err="1"/>
              <a:t>Markup</a:t>
            </a:r>
            <a:r>
              <a:rPr lang="fr-FR" sz="1600" i="1" dirty="0"/>
              <a:t> </a:t>
            </a:r>
            <a:r>
              <a:rPr lang="fr-FR" sz="1600" i="1" dirty="0" err="1"/>
              <a:t>Language</a:t>
            </a:r>
            <a:r>
              <a:rPr lang="fr-FR" sz="1600" dirty="0"/>
              <a:t>) : c'est le langage à la base des sites web. Son rôle est de gérer et organiser le contenu. C'est donc en HTML que vous écrirez ce qui doit être affiché sur la page : du texte, des liens, des images….Simple à apprendre, il fonctionne à partir de balises. </a:t>
            </a:r>
          </a:p>
          <a:p>
            <a:endParaRPr lang="fr-FR" sz="1600" i="1" dirty="0">
              <a:solidFill>
                <a:schemeClr val="tx2">
                  <a:lumMod val="60000"/>
                  <a:lumOff val="40000"/>
                </a:schemeClr>
              </a:solidFill>
            </a:endParaRPr>
          </a:p>
          <a:p>
            <a:r>
              <a:rPr lang="fr-FR" sz="1600" b="1" dirty="0"/>
              <a:t>CSS</a:t>
            </a:r>
            <a:r>
              <a:rPr lang="fr-FR" sz="1600" dirty="0"/>
              <a:t> (</a:t>
            </a:r>
            <a:r>
              <a:rPr lang="fr-FR" sz="1600" i="1" dirty="0" err="1"/>
              <a:t>Cascading</a:t>
            </a:r>
            <a:r>
              <a:rPr lang="fr-FR" sz="1600" i="1" dirty="0"/>
              <a:t> Style </a:t>
            </a:r>
            <a:r>
              <a:rPr lang="fr-FR" sz="1600" i="1" dirty="0" err="1"/>
              <a:t>Sheets</a:t>
            </a:r>
            <a:r>
              <a:rPr lang="fr-FR" sz="1600" dirty="0"/>
              <a:t>, aussi appelées </a:t>
            </a:r>
            <a:r>
              <a:rPr lang="fr-FR" sz="1600" i="1" dirty="0"/>
              <a:t>Feuilles de style</a:t>
            </a:r>
            <a:r>
              <a:rPr lang="fr-FR" sz="1600" dirty="0"/>
              <a:t>) : c'est le langage de mise en forme des sites web. Alors que le HTML permet d'écrire le contenu de vos pages web et de les structurer, le langage CSS s'occupe de la mise en forme et de la mise en page. Son </a:t>
            </a:r>
            <a:r>
              <a:rPr lang="fr-FR" sz="1600"/>
              <a:t>rôle est </a:t>
            </a:r>
            <a:r>
              <a:rPr lang="fr-FR" sz="1600" dirty="0"/>
              <a:t>de gérer l'apparence de la page web (agencement, positionnement, décoration, couleurs, taille du texte…).</a:t>
            </a:r>
          </a:p>
          <a:p>
            <a:endParaRPr lang="fr-FR" sz="1600" dirty="0"/>
          </a:p>
          <a:p>
            <a:r>
              <a:rPr lang="fr-FR" sz="1600" b="1" dirty="0"/>
              <a:t>JAVASCRIPT</a:t>
            </a:r>
            <a:r>
              <a:rPr lang="fr-FR" sz="1600" dirty="0"/>
              <a:t> : c'est le langage qui sert à dire au Navigateur Web comment la page Web doit réagir.</a:t>
            </a:r>
          </a:p>
          <a:p>
            <a:endParaRPr lang="fr-FR" sz="1600" dirty="0"/>
          </a:p>
          <a:p>
            <a:r>
              <a:rPr lang="fr-FR" sz="1600" dirty="0"/>
              <a:t>Ces langages sont la base de tous les sites web. Lorsque le serveur envoie la page web au client, il envoie en fait du code en langage HTML, CSS et JAVASCRIPT.</a:t>
            </a:r>
          </a:p>
          <a:p>
            <a:endParaRPr lang="fr-FR" sz="1600" dirty="0"/>
          </a:p>
          <a:p>
            <a:r>
              <a:rPr lang="fr-FR" sz="1600" dirty="0"/>
              <a:t>Le problème, c'est que lorsqu'on connaît </a:t>
            </a:r>
            <a:r>
              <a:rPr lang="fr-FR" sz="1600" b="1" dirty="0"/>
              <a:t>seulement</a:t>
            </a:r>
            <a:r>
              <a:rPr lang="fr-FR" sz="1600" dirty="0"/>
              <a:t> HTML, CSS et JAVASCRIPT, on ne peut produire que des sites statiques… et non des sites dynamiques ! Pour ces derniers, il est nécessaire de manipuler d'autres langages en plus de HTML, CSS et JAVASCRIPT.</a:t>
            </a:r>
          </a:p>
        </p:txBody>
      </p:sp>
      <p:sp>
        <p:nvSpPr>
          <p:cNvPr id="4" name="Espace réservé du numéro de diapositive 3"/>
          <p:cNvSpPr>
            <a:spLocks noGrp="1"/>
          </p:cNvSpPr>
          <p:nvPr>
            <p:ph type="sldNum" sz="quarter" idx="12"/>
          </p:nvPr>
        </p:nvSpPr>
        <p:spPr/>
        <p:txBody>
          <a:bodyPr/>
          <a:lstStyle/>
          <a:p>
            <a:fld id="{4288E5F3-43F0-4A48-867C-0B8238BE41BA}" type="slidenum">
              <a:rPr lang="fr-FR" smtClean="0"/>
              <a:pPr/>
              <a:t>5</a:t>
            </a:fld>
            <a:endParaRPr lang="fr-FR"/>
          </a:p>
        </p:txBody>
      </p:sp>
    </p:spTree>
    <p:extLst>
      <p:ext uri="{BB962C8B-B14F-4D97-AF65-F5344CB8AC3E}">
        <p14:creationId xmlns:p14="http://schemas.microsoft.com/office/powerpoint/2010/main" val="1210367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95536" y="404664"/>
            <a:ext cx="8424936" cy="6186309"/>
          </a:xfrm>
          <a:prstGeom prst="rect">
            <a:avLst/>
          </a:prstGeom>
          <a:noFill/>
        </p:spPr>
        <p:txBody>
          <a:bodyPr wrap="square" rtlCol="0">
            <a:spAutoFit/>
          </a:bodyPr>
          <a:lstStyle/>
          <a:p>
            <a:r>
              <a:rPr lang="fr-FR" b="1" dirty="0"/>
              <a:t>Pour un site dynamique : ajoutez PHP et MySQL</a:t>
            </a:r>
          </a:p>
          <a:p>
            <a:endParaRPr lang="fr-FR" b="1" dirty="0"/>
          </a:p>
          <a:p>
            <a:r>
              <a:rPr lang="fr-FR" b="1" dirty="0"/>
              <a:t>PHP</a:t>
            </a:r>
            <a:r>
              <a:rPr lang="fr-FR" dirty="0"/>
              <a:t> : c'est un langage que seuls les serveurs comprennent et qui permet de rendre votre site dynamique. C'est PHP qui « génère » la page web comme on l'a vu sur un des schémas précédents.</a:t>
            </a:r>
          </a:p>
          <a:p>
            <a:endParaRPr lang="fr-FR" dirty="0"/>
          </a:p>
          <a:p>
            <a:r>
              <a:rPr lang="fr-FR" dirty="0"/>
              <a:t>Il peut fonctionner seul, mais il ne prend vraiment de l'intérêt que s'il est combiné à un outil tel que MySQL. </a:t>
            </a:r>
          </a:p>
          <a:p>
            <a:endParaRPr lang="fr-FR" dirty="0"/>
          </a:p>
          <a:p>
            <a:r>
              <a:rPr lang="fr-FR" b="1" dirty="0"/>
              <a:t>MySQL</a:t>
            </a:r>
            <a:r>
              <a:rPr lang="fr-FR" dirty="0"/>
              <a:t> : c'est ce qu'on appelle un SGBD (Système de Gestion de Base de Données). Pour faire simple, son rôle est d'enregistrer des données de manière organisée afin de vous aider à les retrouver facilement plus tard. C'est grâce à MySQL que vous pourrez enregistrer la liste des membres de votre site, les messages postés sur le forum, etc. Le langage qui permet de communiquer avec la base de données s'appelle le SQL. </a:t>
            </a:r>
          </a:p>
          <a:p>
            <a:endParaRPr lang="fr-FR" dirty="0"/>
          </a:p>
          <a:p>
            <a:r>
              <a:rPr lang="fr-FR" b="1" dirty="0"/>
              <a:t>Les autres langages</a:t>
            </a:r>
          </a:p>
          <a:p>
            <a:endParaRPr lang="fr-FR" b="1" dirty="0"/>
          </a:p>
          <a:p>
            <a:r>
              <a:rPr lang="fr-FR" dirty="0"/>
              <a:t>HTML,CSS et JAVASCRIPT n'ont pas de concurrents car ce sont des standards. Tout le monde est censé les connaître et les utiliser sur tous les sites web.</a:t>
            </a:r>
          </a:p>
          <a:p>
            <a:r>
              <a:rPr lang="fr-FR" dirty="0"/>
              <a:t>En revanche, pour ce qui est des sites dynamiques, PHP et MySQL sont loin d'être les seuls : ASP.NET,  JAVA,  RUBY on RAILS,  ORACLE, MICROSOFT SQL SERVER, POSTGRESQL…</a:t>
            </a:r>
            <a:endParaRPr lang="fr-FR" b="1" dirty="0"/>
          </a:p>
        </p:txBody>
      </p:sp>
      <p:sp>
        <p:nvSpPr>
          <p:cNvPr id="4" name="Espace réservé du numéro de diapositive 3"/>
          <p:cNvSpPr>
            <a:spLocks noGrp="1"/>
          </p:cNvSpPr>
          <p:nvPr>
            <p:ph type="sldNum" sz="quarter" idx="12"/>
          </p:nvPr>
        </p:nvSpPr>
        <p:spPr/>
        <p:txBody>
          <a:bodyPr/>
          <a:lstStyle/>
          <a:p>
            <a:fld id="{4288E5F3-43F0-4A48-867C-0B8238BE41BA}" type="slidenum">
              <a:rPr lang="fr-FR" smtClean="0"/>
              <a:pPr/>
              <a:t>6</a:t>
            </a:fld>
            <a:endParaRPr lang="fr-FR"/>
          </a:p>
        </p:txBody>
      </p:sp>
    </p:spTree>
    <p:extLst>
      <p:ext uri="{BB962C8B-B14F-4D97-AF65-F5344CB8AC3E}">
        <p14:creationId xmlns:p14="http://schemas.microsoft.com/office/powerpoint/2010/main" val="2954895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467544" y="548680"/>
            <a:ext cx="8424936" cy="5109091"/>
          </a:xfrm>
          <a:prstGeom prst="rect">
            <a:avLst/>
          </a:prstGeom>
          <a:noFill/>
        </p:spPr>
        <p:txBody>
          <a:bodyPr wrap="square" rtlCol="0">
            <a:spAutoFit/>
          </a:bodyPr>
          <a:lstStyle/>
          <a:p>
            <a:r>
              <a:rPr lang="fr-FR" sz="2000" b="1" dirty="0"/>
              <a:t>4. </a:t>
            </a:r>
            <a:r>
              <a:rPr lang="fr-FR" sz="2000" b="1" u="sng" dirty="0"/>
              <a:t>De quels programmes  a- t-on besoin ? </a:t>
            </a:r>
          </a:p>
          <a:p>
            <a:endParaRPr lang="fr-FR" dirty="0"/>
          </a:p>
          <a:p>
            <a:r>
              <a:rPr lang="fr-FR" dirty="0"/>
              <a:t>Selon que l'on crée un site statique ou un site dynamique, on a besoin de logiciels différents. </a:t>
            </a:r>
          </a:p>
          <a:p>
            <a:endParaRPr lang="fr-FR" dirty="0"/>
          </a:p>
          <a:p>
            <a:r>
              <a:rPr lang="fr-FR" b="1" dirty="0"/>
              <a:t>Avec un site statique</a:t>
            </a:r>
          </a:p>
          <a:p>
            <a:endParaRPr lang="fr-FR" b="1" dirty="0"/>
          </a:p>
          <a:p>
            <a:r>
              <a:rPr lang="fr-FR" b="1" dirty="0"/>
              <a:t>Un éditeur de texte</a:t>
            </a:r>
            <a:r>
              <a:rPr lang="fr-FR" dirty="0"/>
              <a:t> : en théorie, un programme tel que le Bloc-notes livré avec Windows suffit, bien qu'il soit recommandé d'utiliser un outil un peu plus évolué comme Notepad++ ou ADOBE DREAMWEAVER. </a:t>
            </a:r>
          </a:p>
          <a:p>
            <a:endParaRPr lang="fr-FR" b="1" dirty="0"/>
          </a:p>
          <a:p>
            <a:r>
              <a:rPr lang="fr-FR" b="1" dirty="0"/>
              <a:t>Un navigateur web</a:t>
            </a:r>
            <a:r>
              <a:rPr lang="fr-FR" dirty="0"/>
              <a:t> : il permet de tester la page web. Vous pouvez utiliser par exemple Mozilla Firefox, Internet Explorer, Google Chrome, </a:t>
            </a:r>
            <a:r>
              <a:rPr lang="fr-FR" dirty="0" err="1"/>
              <a:t>Opera</a:t>
            </a:r>
            <a:r>
              <a:rPr lang="fr-FR" dirty="0"/>
              <a:t>, Safari, ou tout autre navigateur auquel vous êtes habitués pour aller sur le web. Il est conseillé de tester son site régulièrement sur différents navigateurs.</a:t>
            </a:r>
          </a:p>
          <a:p>
            <a:endParaRPr lang="fr-FR" dirty="0"/>
          </a:p>
          <a:p>
            <a:r>
              <a:rPr lang="fr-FR" dirty="0"/>
              <a:t>Cependant, pour la création de sites internet dynamiques, ces outils ne suffisent pas. Il est nécessaire d'installer des programmes supplémentaires.</a:t>
            </a:r>
          </a:p>
        </p:txBody>
      </p:sp>
      <p:sp>
        <p:nvSpPr>
          <p:cNvPr id="5" name="Espace réservé du numéro de diapositive 4"/>
          <p:cNvSpPr>
            <a:spLocks noGrp="1"/>
          </p:cNvSpPr>
          <p:nvPr>
            <p:ph type="sldNum" sz="quarter" idx="12"/>
          </p:nvPr>
        </p:nvSpPr>
        <p:spPr/>
        <p:txBody>
          <a:bodyPr/>
          <a:lstStyle/>
          <a:p>
            <a:fld id="{4288E5F3-43F0-4A48-867C-0B8238BE41BA}" type="slidenum">
              <a:rPr lang="fr-FR" smtClean="0"/>
              <a:pPr/>
              <a:t>7</a:t>
            </a:fld>
            <a:endParaRPr lang="fr-FR"/>
          </a:p>
        </p:txBody>
      </p:sp>
    </p:spTree>
    <p:extLst>
      <p:ext uri="{BB962C8B-B14F-4D97-AF65-F5344CB8AC3E}">
        <p14:creationId xmlns:p14="http://schemas.microsoft.com/office/powerpoint/2010/main" val="602735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95536" y="548680"/>
            <a:ext cx="8568952" cy="5909310"/>
          </a:xfrm>
          <a:prstGeom prst="rect">
            <a:avLst/>
          </a:prstGeom>
          <a:noFill/>
        </p:spPr>
        <p:txBody>
          <a:bodyPr wrap="square" rtlCol="0">
            <a:spAutoFit/>
          </a:bodyPr>
          <a:lstStyle/>
          <a:p>
            <a:r>
              <a:rPr lang="fr-FR" b="1" dirty="0"/>
              <a:t>Avec un site dynamique</a:t>
            </a:r>
          </a:p>
          <a:p>
            <a:endParaRPr lang="fr-FR" b="1" dirty="0"/>
          </a:p>
          <a:p>
            <a:r>
              <a:rPr lang="fr-FR" dirty="0"/>
              <a:t>Pour que votre ordinateur puisse lire du PHP, il faut qu'il se comporte comme un serveur. Rassurez-vous, vous n'avez pas besoin d'acheter une machine spéciale pour cela : il suffit simplement d'installer les mêmes programmes que ceux que l'on trouve sur les serveurs qui délivrent les sites web aux internautes.</a:t>
            </a:r>
          </a:p>
          <a:p>
            <a:endParaRPr lang="fr-FR" b="1" dirty="0"/>
          </a:p>
          <a:p>
            <a:r>
              <a:rPr lang="fr-FR" b="1" dirty="0"/>
              <a:t>Apache</a:t>
            </a:r>
            <a:r>
              <a:rPr lang="fr-FR" dirty="0"/>
              <a:t> : c'est ce qu'on appelle un serveur web. Il s'agit du plus important de tous les programmes, car c'est lui qui est chargé de délivrer les pages web aux visiteurs. Cependant, Apache ne gère que les sites web statiques (il ne peut traiter que des pages HTML). Il faut donc le compléter avec d'autres programmes.</a:t>
            </a:r>
          </a:p>
          <a:p>
            <a:endParaRPr lang="fr-FR" dirty="0"/>
          </a:p>
          <a:p>
            <a:r>
              <a:rPr lang="fr-FR" b="1" dirty="0"/>
              <a:t>PHP</a:t>
            </a:r>
            <a:r>
              <a:rPr lang="fr-FR" dirty="0"/>
              <a:t> : c'est un plug-in pour Apache qui le rend capable de traiter des pages web dynamiques en PHP. En clair, en combinant Apache et PHP, notre ordinateur sera capable de lire des pages web en PHP.</a:t>
            </a:r>
          </a:p>
          <a:p>
            <a:endParaRPr lang="fr-FR" dirty="0"/>
          </a:p>
          <a:p>
            <a:r>
              <a:rPr lang="fr-FR" b="1" dirty="0"/>
              <a:t>MySQL</a:t>
            </a:r>
            <a:r>
              <a:rPr lang="fr-FR" dirty="0"/>
              <a:t> : c'est le logiciel de gestion de bases de données. Il permet d'enregistrer des données de manière organisée. </a:t>
            </a:r>
          </a:p>
          <a:p>
            <a:endParaRPr lang="fr-FR" dirty="0"/>
          </a:p>
          <a:p>
            <a:r>
              <a:rPr lang="fr-FR" dirty="0"/>
              <a:t>Il existe plusieurs paquetages tout prêts pour Windows. Nous utiliserons WAMP Server qui a l'avantage d'être régulièrement mis à jour et disponible en français.</a:t>
            </a:r>
          </a:p>
        </p:txBody>
      </p:sp>
      <p:sp>
        <p:nvSpPr>
          <p:cNvPr id="4" name="Espace réservé du numéro de diapositive 3"/>
          <p:cNvSpPr>
            <a:spLocks noGrp="1"/>
          </p:cNvSpPr>
          <p:nvPr>
            <p:ph type="sldNum" sz="quarter" idx="12"/>
          </p:nvPr>
        </p:nvSpPr>
        <p:spPr/>
        <p:txBody>
          <a:bodyPr/>
          <a:lstStyle/>
          <a:p>
            <a:fld id="{4288E5F3-43F0-4A48-867C-0B8238BE41BA}" type="slidenum">
              <a:rPr lang="fr-FR" smtClean="0"/>
              <a:pPr/>
              <a:t>8</a:t>
            </a:fld>
            <a:endParaRPr lang="fr-FR"/>
          </a:p>
        </p:txBody>
      </p:sp>
    </p:spTree>
    <p:extLst>
      <p:ext uri="{BB962C8B-B14F-4D97-AF65-F5344CB8AC3E}">
        <p14:creationId xmlns:p14="http://schemas.microsoft.com/office/powerpoint/2010/main" val="299700857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959</TotalTime>
  <Words>1325</Words>
  <Application>Microsoft Office PowerPoint</Application>
  <PresentationFormat>Affichage à l'écran (4:3)</PresentationFormat>
  <Paragraphs>99</Paragraphs>
  <Slides>8</Slides>
  <Notes>8</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8</vt:i4>
      </vt:variant>
    </vt:vector>
  </HeadingPairs>
  <TitlesOfParts>
    <vt:vector size="11" baseType="lpstr">
      <vt:lpstr>Arial</vt:lpstr>
      <vt:lpstr>Calibri</vt:lpstr>
      <vt:lpstr>Thème Office</vt:lpstr>
      <vt:lpstr>PROGRAMMATION DE CLIENTS WEB</vt:lpstr>
      <vt:lpstr>PARTIE 1 : GENERALITE</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EN CREATION DE SITE INTERNET AVANCÉ</dc:title>
  <dc:creator>Samuel</dc:creator>
  <cp:lastModifiedBy>serge ouhia</cp:lastModifiedBy>
  <cp:revision>138</cp:revision>
  <cp:lastPrinted>2013-12-27T11:48:04Z</cp:lastPrinted>
  <dcterms:created xsi:type="dcterms:W3CDTF">2013-12-22T21:16:09Z</dcterms:created>
  <dcterms:modified xsi:type="dcterms:W3CDTF">2023-07-24T10:19:53Z</dcterms:modified>
</cp:coreProperties>
</file>