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24" autoAdjust="0"/>
  </p:normalViewPr>
  <p:slideViewPr>
    <p:cSldViewPr>
      <p:cViewPr>
        <p:scale>
          <a:sx n="68" d="100"/>
          <a:sy n="68" d="100"/>
        </p:scale>
        <p:origin x="-1434"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abidjan-immobilier.ne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ctrTitle"/>
          </p:nvPr>
        </p:nvSpPr>
        <p:spPr>
          <a:xfrm>
            <a:off x="685800" y="1673223"/>
            <a:ext cx="7772400" cy="1470025"/>
          </a:xfrm>
        </p:spPr>
        <p:txBody>
          <a:bodyPr>
            <a:normAutofit/>
          </a:bodyPr>
          <a:lstStyle/>
          <a:p>
            <a:r>
              <a:rPr lang="fr-FR" dirty="0" smtClean="0"/>
              <a:t>PROGRAMMATION DE CLIENTS WEB</a:t>
            </a:r>
            <a:endParaRPr lang="fr-FR" dirty="0"/>
          </a:p>
        </p:txBody>
      </p:sp>
      <p:sp>
        <p:nvSpPr>
          <p:cNvPr id="5" name="Sous-titre 2"/>
          <p:cNvSpPr>
            <a:spLocks noGrp="1"/>
          </p:cNvSpPr>
          <p:nvPr>
            <p:ph type="subTitle" idx="1"/>
          </p:nvPr>
        </p:nvSpPr>
        <p:spPr>
          <a:xfrm>
            <a:off x="755576" y="3429000"/>
            <a:ext cx="7704856" cy="1944216"/>
          </a:xfrm>
        </p:spPr>
        <p:txBody>
          <a:bodyPr>
            <a:normAutofit fontScale="85000" lnSpcReduction="20000"/>
          </a:bodyPr>
          <a:lstStyle/>
          <a:p>
            <a:r>
              <a:rPr lang="fr-FR" sz="1800" i="1" dirty="0"/>
              <a:t>FORMATEUR : </a:t>
            </a:r>
            <a:endParaRPr lang="fr-FR" sz="1800" i="1" dirty="0" smtClean="0"/>
          </a:p>
          <a:p>
            <a:r>
              <a:rPr lang="fr-FR" sz="1800" b="1" i="1" u="sng" dirty="0" smtClean="0"/>
              <a:t>Samuel KOTEI-NIKOI</a:t>
            </a:r>
            <a:r>
              <a:rPr lang="fr-FR" sz="1800" i="1" dirty="0" smtClean="0"/>
              <a:t>,</a:t>
            </a:r>
            <a:r>
              <a:rPr lang="fr-FR" sz="1800" i="1" dirty="0"/>
              <a:t/>
            </a:r>
            <a:br>
              <a:rPr lang="fr-FR" sz="1800" i="1" dirty="0"/>
            </a:br>
            <a:r>
              <a:rPr lang="fr-FR" sz="1800" i="1" dirty="0" smtClean="0"/>
              <a:t>Ingénieur de Conception en Informatique,</a:t>
            </a:r>
          </a:p>
          <a:p>
            <a:r>
              <a:rPr lang="fr-FR" sz="1800" i="1" dirty="0" smtClean="0"/>
              <a:t>Expert en Gestion de Projets Web,</a:t>
            </a:r>
          </a:p>
          <a:p>
            <a:r>
              <a:rPr lang="fr-FR" sz="1800" i="1" dirty="0" smtClean="0"/>
              <a:t>Formateur en langages de programmation web,</a:t>
            </a:r>
          </a:p>
          <a:p>
            <a:r>
              <a:rPr lang="fr-FR" sz="1800" i="1" dirty="0" smtClean="0"/>
              <a:t>Directeur Général </a:t>
            </a:r>
            <a:r>
              <a:rPr lang="fr-FR" sz="1800" b="1" i="1" dirty="0" smtClean="0"/>
              <a:t>NIKKOSA COMMUNICATION</a:t>
            </a:r>
            <a:r>
              <a:rPr lang="fr-FR" sz="1800" i="1" dirty="0" smtClean="0"/>
              <a:t>,</a:t>
            </a:r>
          </a:p>
          <a:p>
            <a:r>
              <a:rPr lang="fr-FR" sz="1800" i="1" dirty="0" smtClean="0"/>
              <a:t>Fondateur du portail </a:t>
            </a:r>
            <a:r>
              <a:rPr lang="fr-FR" sz="1800" i="1" dirty="0" smtClean="0">
                <a:hlinkClick r:id="rId2"/>
              </a:rPr>
              <a:t>www.abidjan-immobilier.net</a:t>
            </a:r>
            <a:r>
              <a:rPr lang="fr-FR" sz="1800" i="1" dirty="0" smtClean="0"/>
              <a:t>,</a:t>
            </a:r>
          </a:p>
          <a:p>
            <a:r>
              <a:rPr lang="fr-FR" sz="1800" i="1" dirty="0" smtClean="0"/>
              <a:t>GSM : +225 07 35 47 28 / Email : nikkosa@yahoo.fr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721804" y="139080"/>
            <a:ext cx="7772400" cy="108012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400" b="0" i="0" u="none" strike="noStrike" kern="1200" cap="none" spc="0" normalizeH="0" baseline="0" noProof="0" dirty="0" smtClean="0">
                <a:ln>
                  <a:noFill/>
                </a:ln>
                <a:solidFill>
                  <a:schemeClr val="tx1"/>
                </a:solidFill>
                <a:effectLst/>
                <a:uLnTx/>
                <a:uFillTx/>
                <a:latin typeface="+mj-lt"/>
                <a:ea typeface="+mj-ea"/>
                <a:cs typeface="+mj-cs"/>
              </a:rPr>
              <a:t>PARTIE 3 : CSS3</a:t>
            </a:r>
            <a:endParaRPr kumimoji="0" lang="fr-FR"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ZoneTexte 5"/>
          <p:cNvSpPr txBox="1"/>
          <p:nvPr/>
        </p:nvSpPr>
        <p:spPr>
          <a:xfrm>
            <a:off x="304800" y="1657290"/>
            <a:ext cx="8280920" cy="400110"/>
          </a:xfrm>
          <a:prstGeom prst="rect">
            <a:avLst/>
          </a:prstGeom>
          <a:noFill/>
        </p:spPr>
        <p:txBody>
          <a:bodyPr wrap="square" rtlCol="0">
            <a:spAutoFit/>
          </a:bodyPr>
          <a:lstStyle/>
          <a:p>
            <a:r>
              <a:rPr lang="fr-FR" sz="2000" b="1" u="sng" dirty="0" smtClean="0"/>
              <a:t>1. A quoi sert le CSS ?</a:t>
            </a:r>
          </a:p>
        </p:txBody>
      </p:sp>
      <p:sp>
        <p:nvSpPr>
          <p:cNvPr id="6" name="Rectangle 5"/>
          <p:cNvSpPr/>
          <p:nvPr/>
        </p:nvSpPr>
        <p:spPr>
          <a:xfrm>
            <a:off x="228600" y="2093655"/>
            <a:ext cx="8686800" cy="2554545"/>
          </a:xfrm>
          <a:prstGeom prst="rect">
            <a:avLst/>
          </a:prstGeom>
        </p:spPr>
        <p:txBody>
          <a:bodyPr wrap="square">
            <a:spAutoFit/>
          </a:bodyPr>
          <a:lstStyle/>
          <a:p>
            <a:r>
              <a:rPr lang="fr-FR" sz="1600" dirty="0" smtClean="0"/>
              <a:t>CSS ? C'est ce langage qui vous permet de choisir la couleur de votre texte.</a:t>
            </a:r>
            <a:br>
              <a:rPr lang="fr-FR" sz="1600" dirty="0" smtClean="0"/>
            </a:br>
            <a:r>
              <a:rPr lang="fr-FR" sz="1600" dirty="0" smtClean="0"/>
              <a:t>Lui qui vous permet de sélectionner la police utilisée sur votre site.</a:t>
            </a:r>
            <a:br>
              <a:rPr lang="fr-FR" sz="1600" dirty="0" smtClean="0"/>
            </a:br>
            <a:r>
              <a:rPr lang="fr-FR" sz="1600" dirty="0" smtClean="0"/>
              <a:t>Lui encore qui permet de définir la taille du texte, les bordures, le fond…</a:t>
            </a:r>
          </a:p>
          <a:p>
            <a:r>
              <a:rPr lang="fr-FR" sz="1600" dirty="0" smtClean="0"/>
              <a:t>Et aussi, c'est lui qui permet de faire la mise en page de votre site. Vous pourrez dire : je veux que mon menu soit à gauche et occupe telle largeur, que l'en-tête de mon site soit calé en haut et qu'il soit toujours visible, etc.</a:t>
            </a:r>
          </a:p>
          <a:p>
            <a:r>
              <a:rPr lang="fr-FR" sz="1600" dirty="0" smtClean="0"/>
              <a:t>C’est ce langage qui vous permettra de mettre en forme votre site internet.</a:t>
            </a:r>
          </a:p>
          <a:p>
            <a:endParaRPr lang="fr-FR" sz="1600" dirty="0" smtClean="0"/>
          </a:p>
          <a:p>
            <a:r>
              <a:rPr lang="fr-FR" sz="1600" dirty="0" smtClean="0"/>
              <a:t>Grâce au HTML, nous avons pu rédiger le contenu de notre site mais il est brut. Le CSS vient compléter ce code pour mettre en forme tout cela et donner au contenu l'apparence que l'on souhaite.</a:t>
            </a:r>
          </a:p>
        </p:txBody>
      </p:sp>
      <p:sp>
        <p:nvSpPr>
          <p:cNvPr id="7" name="Rectangle 6"/>
          <p:cNvSpPr/>
          <p:nvPr/>
        </p:nvSpPr>
        <p:spPr>
          <a:xfrm>
            <a:off x="304800" y="4705290"/>
            <a:ext cx="2507418" cy="400110"/>
          </a:xfrm>
          <a:prstGeom prst="rect">
            <a:avLst/>
          </a:prstGeom>
        </p:spPr>
        <p:txBody>
          <a:bodyPr wrap="none">
            <a:spAutoFit/>
          </a:bodyPr>
          <a:lstStyle/>
          <a:p>
            <a:r>
              <a:rPr lang="fr-FR" sz="2000" b="1" u="sng" dirty="0" smtClean="0"/>
              <a:t>2. Où écrit-on le CSS ?</a:t>
            </a:r>
            <a:endParaRPr lang="fr-FR" sz="2000" b="1" u="sng" dirty="0"/>
          </a:p>
        </p:txBody>
      </p:sp>
      <p:sp>
        <p:nvSpPr>
          <p:cNvPr id="1025" name="Rectangle 1"/>
          <p:cNvSpPr>
            <a:spLocks noChangeArrowheads="1"/>
          </p:cNvSpPr>
          <p:nvPr/>
        </p:nvSpPr>
        <p:spPr bwMode="auto">
          <a:xfrm>
            <a:off x="228600" y="5229761"/>
            <a:ext cx="8763000" cy="1323439"/>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Vous avez le choix car on peut écrire du code en langage CSS à trois endroits différents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dans un fichier</a:t>
            </a:r>
            <a:r>
              <a:rPr kumimoji="0" lang="fr-FR" sz="1600" b="0" i="0" u="none" strike="noStrike" cap="none" normalizeH="0" baseline="0" dirty="0" smtClean="0">
                <a:ln>
                  <a:noFill/>
                </a:ln>
                <a:solidFill>
                  <a:srgbClr val="000000"/>
                </a:solidFill>
                <a:effectLst/>
                <a:cs typeface="Courier New" pitchFamily="49" charset="0"/>
              </a:rPr>
              <a:t>.css </a:t>
            </a:r>
            <a:r>
              <a:rPr kumimoji="0" lang="fr-FR" sz="1600" b="0" i="0" u="none" strike="noStrike" cap="none" normalizeH="0" baseline="0" dirty="0" smtClean="0">
                <a:ln>
                  <a:noFill/>
                </a:ln>
                <a:solidFill>
                  <a:srgbClr val="FF0000"/>
                </a:solidFill>
                <a:effectLst/>
                <a:cs typeface="Arial" pitchFamily="34" charset="0"/>
              </a:rPr>
              <a:t>(</a:t>
            </a:r>
            <a:r>
              <a:rPr kumimoji="0" lang="fr-FR" sz="1600" b="0" i="1" u="none" strike="noStrike" cap="none" normalizeH="0" baseline="0" dirty="0" smtClean="0">
                <a:ln>
                  <a:noFill/>
                </a:ln>
                <a:solidFill>
                  <a:srgbClr val="FF0000"/>
                </a:solidFill>
                <a:effectLst/>
                <a:cs typeface="Arial" pitchFamily="34" charset="0"/>
              </a:rPr>
              <a:t>méthode la plus recommandée</a:t>
            </a:r>
            <a:r>
              <a:rPr kumimoji="0" lang="fr-FR" sz="1600" b="0" i="0" u="none" strike="noStrike" cap="none" normalizeH="0" baseline="0" dirty="0" smtClean="0">
                <a:ln>
                  <a:noFill/>
                </a:ln>
                <a:solidFill>
                  <a:srgbClr val="FF0000"/>
                </a:solidFill>
                <a:effectLst/>
                <a:cs typeface="Arial" pitchFamily="34" charset="0"/>
              </a:rPr>
              <a:t>)</a:t>
            </a:r>
            <a:r>
              <a:rPr kumimoji="0" lang="fr-FR" sz="1600" b="0" i="0" u="none" strike="noStrike" cap="none" normalizeH="0" baseline="0" dirty="0" smtClean="0">
                <a:ln>
                  <a:noFill/>
                </a:ln>
                <a:solidFill>
                  <a:srgbClr val="000000"/>
                </a:solidFill>
                <a:effectLst/>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dans l'en-tête </a:t>
            </a:r>
            <a:r>
              <a:rPr kumimoji="0" lang="fr-FR" sz="1600" b="0" i="0" u="none" strike="noStrike" cap="none" normalizeH="0" baseline="0" dirty="0" smtClean="0">
                <a:ln>
                  <a:noFill/>
                </a:ln>
                <a:solidFill>
                  <a:srgbClr val="000000"/>
                </a:solidFill>
                <a:effectLst/>
                <a:cs typeface="Courier New" pitchFamily="49" charset="0"/>
              </a:rPr>
              <a:t>&lt;</a:t>
            </a:r>
            <a:r>
              <a:rPr kumimoji="0" lang="fr-FR" sz="1600" b="0" i="0" u="none" strike="noStrike" cap="none" normalizeH="0" baseline="0" dirty="0" err="1" smtClean="0">
                <a:ln>
                  <a:noFill/>
                </a:ln>
                <a:solidFill>
                  <a:srgbClr val="000000"/>
                </a:solidFill>
                <a:effectLst/>
                <a:cs typeface="Courier New" pitchFamily="49" charset="0"/>
              </a:rPr>
              <a:t>head</a:t>
            </a:r>
            <a:r>
              <a:rPr kumimoji="0" lang="fr-FR" sz="1600" b="0" i="0" u="none" strike="noStrike" cap="none" normalizeH="0" baseline="0" dirty="0" smtClean="0">
                <a:ln>
                  <a:noFill/>
                </a:ln>
                <a:solidFill>
                  <a:srgbClr val="000000"/>
                </a:solidFill>
                <a:effectLst/>
                <a:cs typeface="Courier New" pitchFamily="49" charset="0"/>
              </a:rPr>
              <a:t>&gt; </a:t>
            </a:r>
            <a:r>
              <a:rPr kumimoji="0" lang="fr-FR" sz="1600" b="0" i="0" u="none" strike="noStrike" cap="none" normalizeH="0" baseline="0" dirty="0" smtClean="0">
                <a:ln>
                  <a:noFill/>
                </a:ln>
                <a:solidFill>
                  <a:srgbClr val="000000"/>
                </a:solidFill>
                <a:effectLst/>
                <a:cs typeface="Arial" pitchFamily="34" charset="0"/>
              </a:rPr>
              <a:t>du fichier HTML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directement dans les balises du fichier HTML </a:t>
            </a:r>
            <a:r>
              <a:rPr kumimoji="0" lang="fr-FR" sz="1600" b="0" i="1" u="none" strike="noStrike" cap="none" normalizeH="0" baseline="0" dirty="0" smtClean="0">
                <a:ln>
                  <a:noFill/>
                </a:ln>
                <a:solidFill>
                  <a:srgbClr val="000000"/>
                </a:solidFill>
                <a:effectLst/>
                <a:cs typeface="Arial" pitchFamily="34" charset="0"/>
              </a:rPr>
              <a:t>via</a:t>
            </a:r>
            <a:r>
              <a:rPr kumimoji="0" lang="fr-FR" sz="1600" b="0" i="0" u="none" strike="noStrike" cap="none" normalizeH="0" baseline="0" dirty="0" smtClean="0">
                <a:ln>
                  <a:noFill/>
                </a:ln>
                <a:solidFill>
                  <a:srgbClr val="000000"/>
                </a:solidFill>
                <a:effectLst/>
                <a:cs typeface="Arial" pitchFamily="34" charset="0"/>
              </a:rPr>
              <a:t> un attribut </a:t>
            </a:r>
            <a:r>
              <a:rPr kumimoji="0" lang="fr-FR" sz="1600" b="0" i="0" u="none" strike="noStrike" cap="none" normalizeH="0" baseline="0" dirty="0" smtClean="0">
                <a:ln>
                  <a:noFill/>
                </a:ln>
                <a:solidFill>
                  <a:srgbClr val="000000"/>
                </a:solidFill>
                <a:effectLst/>
                <a:cs typeface="Courier New" pitchFamily="49" charset="0"/>
              </a:rPr>
              <a:t>style </a:t>
            </a:r>
            <a:r>
              <a:rPr kumimoji="0" lang="fr-FR" sz="1600" b="0" i="0" u="none" strike="noStrike" cap="none" normalizeH="0" baseline="0" dirty="0" smtClean="0">
                <a:ln>
                  <a:noFill/>
                </a:ln>
                <a:solidFill>
                  <a:srgbClr val="FF0000"/>
                </a:solidFill>
                <a:effectLst/>
                <a:cs typeface="Arial" pitchFamily="34" charset="0"/>
              </a:rPr>
              <a:t>(</a:t>
            </a:r>
            <a:r>
              <a:rPr kumimoji="0" lang="fr-FR" sz="1600" b="0" i="1" u="none" strike="noStrike" cap="none" normalizeH="0" baseline="0" dirty="0" smtClean="0">
                <a:ln>
                  <a:noFill/>
                </a:ln>
                <a:solidFill>
                  <a:srgbClr val="FF0000"/>
                </a:solidFill>
                <a:effectLst/>
                <a:cs typeface="Arial" pitchFamily="34" charset="0"/>
              </a:rPr>
              <a:t>méthode la moins recommandée</a:t>
            </a:r>
            <a:r>
              <a:rPr kumimoji="0" lang="fr-FR" sz="1600" b="0" i="0" u="none" strike="noStrike" cap="none" normalizeH="0" baseline="0" dirty="0" smtClean="0">
                <a:ln>
                  <a:noFill/>
                </a:ln>
                <a:solidFill>
                  <a:srgbClr val="FF0000"/>
                </a:solidFill>
                <a:effectLst/>
                <a:cs typeface="Arial" pitchFamily="34" charset="0"/>
              </a:rPr>
              <a:t>)</a:t>
            </a:r>
            <a:r>
              <a:rPr kumimoji="0" lang="fr-FR" sz="1600" b="0" i="0" u="none" strike="noStrike" cap="none" normalizeH="0" baseline="0" dirty="0" smtClean="0">
                <a:ln>
                  <a:noFill/>
                </a:ln>
                <a:solidFill>
                  <a:srgbClr val="000000"/>
                </a:solidFill>
                <a:effectLst/>
                <a:cs typeface="Arial" pitchFamily="34" charset="0"/>
              </a:rPr>
              <a:t>.</a:t>
            </a:r>
          </a:p>
        </p:txBody>
      </p:sp>
      <p:sp>
        <p:nvSpPr>
          <p:cNvPr id="9" name="ZoneTexte 5"/>
          <p:cNvSpPr txBox="1"/>
          <p:nvPr/>
        </p:nvSpPr>
        <p:spPr>
          <a:xfrm>
            <a:off x="329680" y="1143000"/>
            <a:ext cx="8280920" cy="461665"/>
          </a:xfrm>
          <a:prstGeom prst="rect">
            <a:avLst/>
          </a:prstGeom>
          <a:noFill/>
        </p:spPr>
        <p:txBody>
          <a:bodyPr wrap="square" rtlCol="0">
            <a:spAutoFit/>
          </a:bodyPr>
          <a:lstStyle/>
          <a:p>
            <a:r>
              <a:rPr lang="fr-FR" sz="2400" b="1" u="sng" dirty="0" smtClean="0"/>
              <a:t>A. Mise en place du CSS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ChangeArrowheads="1"/>
          </p:cNvSpPr>
          <p:nvPr/>
        </p:nvSpPr>
        <p:spPr bwMode="auto">
          <a:xfrm>
            <a:off x="152400" y="124361"/>
            <a:ext cx="8839200" cy="83099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On</a:t>
            </a:r>
            <a:r>
              <a:rPr kumimoji="0" lang="fr-FR" sz="1600" b="0" i="0" u="none" strike="noStrike" cap="none" normalizeH="0" dirty="0" smtClean="0">
                <a:ln>
                  <a:noFill/>
                </a:ln>
                <a:solidFill>
                  <a:schemeClr val="tx1"/>
                </a:solidFill>
                <a:effectLst/>
                <a:cs typeface="Arial" pitchFamily="34" charset="0"/>
              </a:rPr>
              <a:t> </a:t>
            </a:r>
            <a:r>
              <a:rPr kumimoji="0" lang="fr-FR" sz="1600" b="0" i="0" u="none" strike="noStrike" cap="none" normalizeH="0" baseline="0" dirty="0" smtClean="0">
                <a:ln>
                  <a:noFill/>
                </a:ln>
                <a:solidFill>
                  <a:schemeClr val="tx1"/>
                </a:solidFill>
                <a:effectLst/>
                <a:cs typeface="Arial" pitchFamily="34" charset="0"/>
              </a:rPr>
              <a:t>écrit le plus souvent le code CSS dans un fichier spécial ayant l'extension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css</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(contrairement aux fichiers HTML qui ont l'extension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.html</a:t>
            </a:r>
            <a:r>
              <a:rPr kumimoji="0" lang="fr-FR" sz="1600" b="0" i="0" u="none" strike="noStrike" cap="none" normalizeH="0" baseline="0" dirty="0" smtClean="0">
                <a:ln>
                  <a:noFill/>
                </a:ln>
                <a:solidFill>
                  <a:schemeClr val="tx1"/>
                </a:solidFill>
                <a:effectLst/>
                <a:cs typeface="Arial" pitchFamily="34" charset="0"/>
              </a:rPr>
              <a:t>). C'est la méthode la plus pratique et la plus souple. Cela nous évite de tout mélanger dans un même fichier.</a:t>
            </a:r>
          </a:p>
        </p:txBody>
      </p:sp>
      <p:sp>
        <p:nvSpPr>
          <p:cNvPr id="5" name="Rectangle 4"/>
          <p:cNvSpPr/>
          <p:nvPr/>
        </p:nvSpPr>
        <p:spPr>
          <a:xfrm>
            <a:off x="304800" y="1066800"/>
            <a:ext cx="4280595" cy="400110"/>
          </a:xfrm>
          <a:prstGeom prst="rect">
            <a:avLst/>
          </a:prstGeom>
        </p:spPr>
        <p:txBody>
          <a:bodyPr wrap="none">
            <a:spAutoFit/>
          </a:bodyPr>
          <a:lstStyle/>
          <a:p>
            <a:r>
              <a:rPr lang="fr-FR" sz="2000" b="1" u="sng" dirty="0" smtClean="0"/>
              <a:t>3. Comment faire appel au fichier </a:t>
            </a:r>
            <a:r>
              <a:rPr lang="fr-FR" sz="2000" b="1" u="sng" dirty="0" err="1" smtClean="0"/>
              <a:t>css</a:t>
            </a:r>
            <a:r>
              <a:rPr lang="fr-FR" sz="2000" b="1" u="sng" dirty="0" smtClean="0"/>
              <a:t> ?</a:t>
            </a:r>
            <a:endParaRPr lang="fr-FR" sz="2000" b="1" u="sng" dirty="0"/>
          </a:p>
        </p:txBody>
      </p:sp>
      <p:sp>
        <p:nvSpPr>
          <p:cNvPr id="6" name="Rectangle 5"/>
          <p:cNvSpPr/>
          <p:nvPr/>
        </p:nvSpPr>
        <p:spPr>
          <a:xfrm>
            <a:off x="304800" y="2005548"/>
            <a:ext cx="8458200" cy="3785652"/>
          </a:xfrm>
          <a:prstGeom prst="rect">
            <a:avLst/>
          </a:prstGeom>
        </p:spPr>
        <p:txBody>
          <a:bodyPr wrap="square">
            <a:spAutoFit/>
          </a:bodyPr>
          <a:lstStyle/>
          <a:p>
            <a:r>
              <a:rPr lang="fr-FR" sz="1600" dirty="0" smtClean="0">
                <a:solidFill>
                  <a:schemeClr val="tx2">
                    <a:lumMod val="60000"/>
                    <a:lumOff val="40000"/>
                  </a:schemeClr>
                </a:solidFill>
              </a:rPr>
              <a:t>&lt;!DOCTYPE html&gt;</a:t>
            </a:r>
          </a:p>
          <a:p>
            <a:r>
              <a:rPr lang="fr-FR" sz="1600" dirty="0" smtClean="0">
                <a:solidFill>
                  <a:schemeClr val="tx2">
                    <a:lumMod val="60000"/>
                    <a:lumOff val="40000"/>
                  </a:schemeClr>
                </a:solidFill>
              </a:rPr>
              <a:t>&lt;html&gt;</a:t>
            </a:r>
          </a:p>
          <a:p>
            <a:r>
              <a:rPr lang="fr-FR" sz="1600" dirty="0" smtClean="0">
                <a:solidFill>
                  <a:schemeClr val="tx2">
                    <a:lumMod val="60000"/>
                    <a:lumOff val="40000"/>
                  </a:schemeClr>
                </a:solidFill>
              </a:rPr>
              <a:t>    &lt;</a:t>
            </a:r>
            <a:r>
              <a:rPr lang="fr-FR" sz="1600" dirty="0" err="1" smtClean="0">
                <a:solidFill>
                  <a:schemeClr val="tx2">
                    <a:lumMod val="60000"/>
                    <a:lumOff val="40000"/>
                  </a:schemeClr>
                </a:solidFill>
              </a:rPr>
              <a:t>head</a:t>
            </a:r>
            <a:r>
              <a:rPr lang="fr-FR" sz="1600" dirty="0" smtClean="0">
                <a:solidFill>
                  <a:schemeClr val="tx2">
                    <a:lumMod val="60000"/>
                    <a:lumOff val="40000"/>
                  </a:schemeClr>
                </a:solidFill>
              </a:rPr>
              <a:t>&gt;</a:t>
            </a:r>
          </a:p>
          <a:p>
            <a:r>
              <a:rPr lang="fr-FR" sz="1600" dirty="0" smtClean="0">
                <a:solidFill>
                  <a:schemeClr val="tx2">
                    <a:lumMod val="60000"/>
                    <a:lumOff val="40000"/>
                  </a:schemeClr>
                </a:solidFill>
              </a:rPr>
              <a:t>        &lt;</a:t>
            </a:r>
            <a:r>
              <a:rPr lang="fr-FR" sz="1600" dirty="0" err="1" smtClean="0">
                <a:solidFill>
                  <a:schemeClr val="tx2">
                    <a:lumMod val="60000"/>
                    <a:lumOff val="40000"/>
                  </a:schemeClr>
                </a:solidFill>
              </a:rPr>
              <a:t>meta</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charset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utf</a:t>
            </a:r>
            <a:r>
              <a:rPr lang="fr-FR" sz="1600" dirty="0" smtClean="0">
                <a:solidFill>
                  <a:schemeClr val="tx2">
                    <a:lumMod val="60000"/>
                    <a:lumOff val="40000"/>
                  </a:schemeClr>
                </a:solidFill>
              </a:rPr>
              <a:t>-8" /&gt;</a:t>
            </a:r>
          </a:p>
          <a:p>
            <a:r>
              <a:rPr lang="fr-FR" sz="1600" dirty="0" smtClean="0">
                <a:solidFill>
                  <a:schemeClr val="tx2">
                    <a:lumMod val="60000"/>
                    <a:lumOff val="40000"/>
                  </a:schemeClr>
                </a:solidFill>
              </a:rPr>
              <a:t>        </a:t>
            </a:r>
            <a:r>
              <a:rPr lang="fr-FR" sz="1600" b="1" dirty="0" smtClean="0">
                <a:solidFill>
                  <a:srgbClr val="FF0000"/>
                </a:solidFill>
              </a:rPr>
              <a:t>&lt;</a:t>
            </a:r>
            <a:r>
              <a:rPr lang="fr-FR" sz="1600" b="1" dirty="0" err="1" smtClean="0">
                <a:solidFill>
                  <a:srgbClr val="FF0000"/>
                </a:solidFill>
              </a:rPr>
              <a:t>link</a:t>
            </a:r>
            <a:r>
              <a:rPr lang="fr-FR" sz="1600" b="1" dirty="0" smtClean="0">
                <a:solidFill>
                  <a:srgbClr val="FF0000"/>
                </a:solidFill>
              </a:rPr>
              <a:t> </a:t>
            </a:r>
            <a:r>
              <a:rPr lang="fr-FR" sz="1600" b="1" dirty="0" err="1" smtClean="0">
                <a:solidFill>
                  <a:srgbClr val="FF0000"/>
                </a:solidFill>
              </a:rPr>
              <a:t>rel</a:t>
            </a:r>
            <a:r>
              <a:rPr lang="fr-FR" sz="1600" b="1" dirty="0" smtClean="0">
                <a:solidFill>
                  <a:srgbClr val="FF0000"/>
                </a:solidFill>
              </a:rPr>
              <a:t>="</a:t>
            </a:r>
            <a:r>
              <a:rPr lang="fr-FR" sz="1600" b="1" dirty="0" err="1" smtClean="0">
                <a:solidFill>
                  <a:srgbClr val="FF0000"/>
                </a:solidFill>
              </a:rPr>
              <a:t>stylesheet</a:t>
            </a:r>
            <a:r>
              <a:rPr lang="fr-FR" sz="1600" b="1" dirty="0" smtClean="0">
                <a:solidFill>
                  <a:srgbClr val="FF0000"/>
                </a:solidFill>
              </a:rPr>
              <a:t>" </a:t>
            </a:r>
            <a:r>
              <a:rPr lang="fr-FR" sz="1600" b="1" dirty="0" err="1" smtClean="0">
                <a:solidFill>
                  <a:srgbClr val="FF0000"/>
                </a:solidFill>
              </a:rPr>
              <a:t>href</a:t>
            </a:r>
            <a:r>
              <a:rPr lang="fr-FR" sz="1600" b="1" dirty="0" smtClean="0">
                <a:solidFill>
                  <a:srgbClr val="FF0000"/>
                </a:solidFill>
              </a:rPr>
              <a:t>="style.css" /&gt;</a:t>
            </a:r>
          </a:p>
          <a:p>
            <a:r>
              <a:rPr lang="fr-FR" sz="1600" dirty="0" smtClean="0">
                <a:solidFill>
                  <a:schemeClr val="tx2">
                    <a:lumMod val="60000"/>
                    <a:lumOff val="40000"/>
                  </a:schemeClr>
                </a:solidFill>
              </a:rPr>
              <a:t>        &lt;</a:t>
            </a:r>
            <a:r>
              <a:rPr lang="fr-FR" sz="1600" dirty="0" err="1" smtClean="0">
                <a:solidFill>
                  <a:schemeClr val="tx2">
                    <a:lumMod val="60000"/>
                    <a:lumOff val="40000"/>
                  </a:schemeClr>
                </a:solidFill>
              </a:rPr>
              <a:t>title</a:t>
            </a:r>
            <a:r>
              <a:rPr lang="fr-FR" sz="1600" dirty="0" smtClean="0">
                <a:solidFill>
                  <a:schemeClr val="tx2">
                    <a:lumMod val="60000"/>
                    <a:lumOff val="40000"/>
                  </a:schemeClr>
                </a:solidFill>
              </a:rPr>
              <a:t>&gt;Premiers tests du CSS&lt;/</a:t>
            </a:r>
            <a:r>
              <a:rPr lang="fr-FR" sz="1600" dirty="0" err="1" smtClean="0">
                <a:solidFill>
                  <a:schemeClr val="tx2">
                    <a:lumMod val="60000"/>
                    <a:lumOff val="40000"/>
                  </a:schemeClr>
                </a:solidFill>
              </a:rPr>
              <a:t>title</a:t>
            </a:r>
            <a:r>
              <a:rPr lang="fr-FR" sz="1600" dirty="0" smtClean="0">
                <a:solidFill>
                  <a:schemeClr val="tx2">
                    <a:lumMod val="60000"/>
                    <a:lumOff val="40000"/>
                  </a:schemeClr>
                </a:solidFill>
              </a:rPr>
              <a:t>&gt;</a:t>
            </a:r>
          </a:p>
          <a:p>
            <a:r>
              <a:rPr lang="fr-FR" sz="1600" dirty="0" smtClean="0">
                <a:solidFill>
                  <a:schemeClr val="tx2">
                    <a:lumMod val="60000"/>
                    <a:lumOff val="40000"/>
                  </a:schemeClr>
                </a:solidFill>
              </a:rPr>
              <a:t>    &lt;/</a:t>
            </a:r>
            <a:r>
              <a:rPr lang="fr-FR" sz="1600" dirty="0" err="1" smtClean="0">
                <a:solidFill>
                  <a:schemeClr val="tx2">
                    <a:lumMod val="60000"/>
                    <a:lumOff val="40000"/>
                  </a:schemeClr>
                </a:solidFill>
              </a:rPr>
              <a:t>head</a:t>
            </a:r>
            <a:r>
              <a:rPr lang="fr-FR" sz="1600" dirty="0" smtClean="0">
                <a:solidFill>
                  <a:schemeClr val="tx2">
                    <a:lumMod val="60000"/>
                    <a:lumOff val="40000"/>
                  </a:schemeClr>
                </a:solidFill>
              </a:rPr>
              <a:t>&gt;</a:t>
            </a:r>
          </a:p>
          <a:p>
            <a:endParaRPr lang="fr-FR" sz="1600" dirty="0" smtClean="0">
              <a:solidFill>
                <a:schemeClr val="tx2">
                  <a:lumMod val="60000"/>
                  <a:lumOff val="40000"/>
                </a:schemeClr>
              </a:solidFill>
            </a:endParaRPr>
          </a:p>
          <a:p>
            <a:r>
              <a:rPr lang="fr-FR" sz="1600" dirty="0" smtClean="0">
                <a:solidFill>
                  <a:schemeClr val="tx2">
                    <a:lumMod val="60000"/>
                    <a:lumOff val="40000"/>
                  </a:schemeClr>
                </a:solidFill>
              </a:rPr>
              <a:t>    &lt;body&gt;</a:t>
            </a:r>
          </a:p>
          <a:p>
            <a:r>
              <a:rPr lang="fr-FR" sz="1600" dirty="0" smtClean="0">
                <a:solidFill>
                  <a:schemeClr val="tx2">
                    <a:lumMod val="60000"/>
                    <a:lumOff val="40000"/>
                  </a:schemeClr>
                </a:solidFill>
              </a:rPr>
              <a:t>        &lt;h1&gt;Mon super site&lt;/h1&gt;</a:t>
            </a:r>
          </a:p>
          <a:p>
            <a:r>
              <a:rPr lang="fr-FR" sz="1600" dirty="0" smtClean="0">
                <a:solidFill>
                  <a:schemeClr val="tx2">
                    <a:lumMod val="60000"/>
                    <a:lumOff val="40000"/>
                  </a:schemeClr>
                </a:solidFill>
              </a:rPr>
              <a:t>        </a:t>
            </a:r>
          </a:p>
          <a:p>
            <a:r>
              <a:rPr lang="fr-FR" sz="1600" dirty="0" smtClean="0">
                <a:solidFill>
                  <a:schemeClr val="tx2">
                    <a:lumMod val="60000"/>
                    <a:lumOff val="40000"/>
                  </a:schemeClr>
                </a:solidFill>
              </a:rPr>
              <a:t>        &lt;p&gt;Bonjour et bienvenue sur mon site !&lt;/p&gt;</a:t>
            </a:r>
          </a:p>
          <a:p>
            <a:r>
              <a:rPr lang="fr-FR" sz="1600" dirty="0" smtClean="0">
                <a:solidFill>
                  <a:schemeClr val="tx2">
                    <a:lumMod val="60000"/>
                    <a:lumOff val="40000"/>
                  </a:schemeClr>
                </a:solidFill>
              </a:rPr>
              <a:t>        &lt;p&gt;Pour le moment, mon site est un peu &lt;</a:t>
            </a:r>
            <a:r>
              <a:rPr lang="fr-FR" sz="1600" dirty="0" err="1" smtClean="0">
                <a:solidFill>
                  <a:schemeClr val="tx2">
                    <a:lumMod val="60000"/>
                    <a:lumOff val="40000"/>
                  </a:schemeClr>
                </a:solidFill>
              </a:rPr>
              <a:t>em</a:t>
            </a:r>
            <a:r>
              <a:rPr lang="fr-FR" sz="1600" dirty="0" smtClean="0">
                <a:solidFill>
                  <a:schemeClr val="tx2">
                    <a:lumMod val="60000"/>
                    <a:lumOff val="40000"/>
                  </a:schemeClr>
                </a:solidFill>
              </a:rPr>
              <a:t>&gt;vide&lt;/</a:t>
            </a:r>
            <a:r>
              <a:rPr lang="fr-FR" sz="1600" dirty="0" err="1" smtClean="0">
                <a:solidFill>
                  <a:schemeClr val="tx2">
                    <a:lumMod val="60000"/>
                    <a:lumOff val="40000"/>
                  </a:schemeClr>
                </a:solidFill>
              </a:rPr>
              <a:t>em</a:t>
            </a:r>
            <a:r>
              <a:rPr lang="fr-FR" sz="1600" dirty="0" smtClean="0">
                <a:solidFill>
                  <a:schemeClr val="tx2">
                    <a:lumMod val="60000"/>
                    <a:lumOff val="40000"/>
                  </a:schemeClr>
                </a:solidFill>
              </a:rPr>
              <a:t>&gt;. Patientez encore un peu !&lt;/p&gt;</a:t>
            </a:r>
          </a:p>
          <a:p>
            <a:r>
              <a:rPr lang="fr-FR" sz="1600" dirty="0" smtClean="0">
                <a:solidFill>
                  <a:schemeClr val="tx2">
                    <a:lumMod val="60000"/>
                    <a:lumOff val="40000"/>
                  </a:schemeClr>
                </a:solidFill>
              </a:rPr>
              <a:t>    &lt;/body&gt;</a:t>
            </a:r>
          </a:p>
          <a:p>
            <a:r>
              <a:rPr lang="fr-FR" sz="1600" dirty="0" smtClean="0">
                <a:solidFill>
                  <a:schemeClr val="tx2">
                    <a:lumMod val="60000"/>
                    <a:lumOff val="40000"/>
                  </a:schemeClr>
                </a:solidFill>
              </a:rPr>
              <a:t>&lt;/html&gt;</a:t>
            </a:r>
            <a:endParaRPr lang="fr-FR" sz="1600" dirty="0">
              <a:solidFill>
                <a:schemeClr val="tx2">
                  <a:lumMod val="60000"/>
                  <a:lumOff val="40000"/>
                </a:schemeClr>
              </a:solidFill>
            </a:endParaRPr>
          </a:p>
        </p:txBody>
      </p:sp>
      <p:sp>
        <p:nvSpPr>
          <p:cNvPr id="7" name="TextBox 6"/>
          <p:cNvSpPr txBox="1"/>
          <p:nvPr/>
        </p:nvSpPr>
        <p:spPr>
          <a:xfrm>
            <a:off x="381000" y="1524000"/>
            <a:ext cx="3995774" cy="369332"/>
          </a:xfrm>
          <a:prstGeom prst="rect">
            <a:avLst/>
          </a:prstGeom>
          <a:noFill/>
        </p:spPr>
        <p:txBody>
          <a:bodyPr wrap="none" rtlCol="0">
            <a:spAutoFit/>
          </a:bodyPr>
          <a:lstStyle/>
          <a:p>
            <a:r>
              <a:rPr lang="fr-FR" dirty="0" smtClean="0"/>
              <a:t>Considérons le bout de code ci-dessous :</a:t>
            </a:r>
            <a:endParaRPr lang="fr-FR" dirty="0"/>
          </a:p>
        </p:txBody>
      </p:sp>
      <p:sp>
        <p:nvSpPr>
          <p:cNvPr id="8" name="TextBox 7"/>
          <p:cNvSpPr txBox="1"/>
          <p:nvPr/>
        </p:nvSpPr>
        <p:spPr>
          <a:xfrm>
            <a:off x="152400" y="5968425"/>
            <a:ext cx="8839200" cy="584775"/>
          </a:xfrm>
          <a:prstGeom prst="rect">
            <a:avLst/>
          </a:prstGeom>
          <a:noFill/>
        </p:spPr>
        <p:txBody>
          <a:bodyPr wrap="square" rtlCol="0">
            <a:spAutoFit/>
          </a:bodyPr>
          <a:lstStyle/>
          <a:p>
            <a:r>
              <a:rPr lang="fr-FR" sz="1600" dirty="0" smtClean="0"/>
              <a:t>L’instruction qui nous permet de faire appel au CSS est la balise </a:t>
            </a:r>
            <a:r>
              <a:rPr lang="fr-FR" sz="1600" b="1" dirty="0" smtClean="0">
                <a:solidFill>
                  <a:srgbClr val="FF0000"/>
                </a:solidFill>
              </a:rPr>
              <a:t>&lt;</a:t>
            </a:r>
            <a:r>
              <a:rPr lang="fr-FR" sz="1600" b="1" dirty="0" err="1" smtClean="0">
                <a:solidFill>
                  <a:srgbClr val="FF0000"/>
                </a:solidFill>
              </a:rPr>
              <a:t>link</a:t>
            </a:r>
            <a:r>
              <a:rPr lang="fr-FR" sz="1600" b="1" dirty="0" smtClean="0">
                <a:solidFill>
                  <a:srgbClr val="FF0000"/>
                </a:solidFill>
              </a:rPr>
              <a:t> </a:t>
            </a:r>
            <a:r>
              <a:rPr lang="fr-FR" sz="1600" b="1" dirty="0" err="1" smtClean="0">
                <a:solidFill>
                  <a:srgbClr val="FF0000"/>
                </a:solidFill>
              </a:rPr>
              <a:t>rel</a:t>
            </a:r>
            <a:r>
              <a:rPr lang="fr-FR" sz="1600" b="1" dirty="0" smtClean="0">
                <a:solidFill>
                  <a:srgbClr val="FF0000"/>
                </a:solidFill>
              </a:rPr>
              <a:t>="</a:t>
            </a:r>
            <a:r>
              <a:rPr lang="fr-FR" sz="1600" b="1" dirty="0" err="1" smtClean="0">
                <a:solidFill>
                  <a:srgbClr val="FF0000"/>
                </a:solidFill>
              </a:rPr>
              <a:t>stylesheet</a:t>
            </a:r>
            <a:r>
              <a:rPr lang="fr-FR" sz="1600" b="1" dirty="0" smtClean="0">
                <a:solidFill>
                  <a:srgbClr val="FF0000"/>
                </a:solidFill>
              </a:rPr>
              <a:t>" </a:t>
            </a:r>
            <a:r>
              <a:rPr lang="fr-FR" sz="1600" b="1" dirty="0" err="1" smtClean="0">
                <a:solidFill>
                  <a:srgbClr val="FF0000"/>
                </a:solidFill>
              </a:rPr>
              <a:t>href</a:t>
            </a:r>
            <a:r>
              <a:rPr lang="fr-FR" sz="1600" b="1" dirty="0" smtClean="0">
                <a:solidFill>
                  <a:srgbClr val="FF0000"/>
                </a:solidFill>
              </a:rPr>
              <a:t>="style.css" /&gt; </a:t>
            </a:r>
            <a:r>
              <a:rPr lang="fr-FR" sz="1600" dirty="0" smtClean="0"/>
              <a:t>que l’on place entre les balise </a:t>
            </a:r>
            <a:r>
              <a:rPr lang="fr-FR" sz="1600" dirty="0" smtClean="0">
                <a:solidFill>
                  <a:schemeClr val="tx2">
                    <a:lumMod val="60000"/>
                    <a:lumOff val="40000"/>
                  </a:schemeClr>
                </a:solidFill>
              </a:rPr>
              <a:t>&lt;</a:t>
            </a:r>
            <a:r>
              <a:rPr lang="fr-FR" sz="1600" dirty="0" err="1" smtClean="0">
                <a:solidFill>
                  <a:schemeClr val="tx2">
                    <a:lumMod val="60000"/>
                    <a:lumOff val="40000"/>
                  </a:schemeClr>
                </a:solidFill>
              </a:rPr>
              <a:t>head</a:t>
            </a:r>
            <a:r>
              <a:rPr lang="fr-FR" sz="1600" dirty="0" smtClean="0">
                <a:solidFill>
                  <a:schemeClr val="tx2">
                    <a:lumMod val="60000"/>
                    <a:lumOff val="40000"/>
                  </a:schemeClr>
                </a:solidFill>
              </a:rPr>
              <a:t>&gt; </a:t>
            </a:r>
            <a:r>
              <a:rPr lang="fr-FR" sz="1600" dirty="0" smtClean="0"/>
              <a:t>de notre code HTML. </a:t>
            </a:r>
            <a:endParaRPr lang="fr-FR" sz="1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3850670" cy="400110"/>
          </a:xfrm>
          <a:prstGeom prst="rect">
            <a:avLst/>
          </a:prstGeom>
        </p:spPr>
        <p:txBody>
          <a:bodyPr wrap="none">
            <a:spAutoFit/>
          </a:bodyPr>
          <a:lstStyle/>
          <a:p>
            <a:r>
              <a:rPr lang="fr-FR" sz="2000" b="1" u="sng" dirty="0" smtClean="0"/>
              <a:t>4. Le contenu de notre fichier </a:t>
            </a:r>
            <a:r>
              <a:rPr lang="fr-FR" sz="2000" b="1" u="sng" dirty="0" err="1" smtClean="0"/>
              <a:t>css</a:t>
            </a:r>
            <a:r>
              <a:rPr lang="fr-FR" sz="2000" b="1" u="sng" dirty="0" smtClean="0"/>
              <a:t> ?</a:t>
            </a:r>
            <a:endParaRPr lang="fr-FR" sz="2000" b="1" u="sng" dirty="0"/>
          </a:p>
        </p:txBody>
      </p:sp>
      <p:sp>
        <p:nvSpPr>
          <p:cNvPr id="5" name="Rectangle 4"/>
          <p:cNvSpPr/>
          <p:nvPr/>
        </p:nvSpPr>
        <p:spPr>
          <a:xfrm>
            <a:off x="381000" y="685800"/>
            <a:ext cx="8458200" cy="584775"/>
          </a:xfrm>
          <a:prstGeom prst="rect">
            <a:avLst/>
          </a:prstGeom>
        </p:spPr>
        <p:txBody>
          <a:bodyPr wrap="square">
            <a:spAutoFit/>
          </a:bodyPr>
          <a:lstStyle/>
          <a:p>
            <a:r>
              <a:rPr lang="fr-FR" sz="1600" dirty="0" smtClean="0"/>
              <a:t>Ecrivons dans un nouveau fichier vide à l’aide de notre éditeur de texte (par exemple Sublime </a:t>
            </a:r>
            <a:r>
              <a:rPr lang="fr-FR" sz="1600" dirty="0" err="1" smtClean="0"/>
              <a:t>Text</a:t>
            </a:r>
            <a:r>
              <a:rPr lang="fr-FR" sz="1600" dirty="0" smtClean="0"/>
              <a:t>) le bout de code CSS ci-dessous :</a:t>
            </a:r>
            <a:endParaRPr lang="fr-FR" sz="1600" dirty="0"/>
          </a:p>
        </p:txBody>
      </p:sp>
      <p:sp>
        <p:nvSpPr>
          <p:cNvPr id="6" name="Rectangle 5"/>
          <p:cNvSpPr/>
          <p:nvPr/>
        </p:nvSpPr>
        <p:spPr>
          <a:xfrm>
            <a:off x="457200" y="1295400"/>
            <a:ext cx="8153400" cy="1200329"/>
          </a:xfrm>
          <a:prstGeom prst="rect">
            <a:avLst/>
          </a:prstGeom>
        </p:spPr>
        <p:txBody>
          <a:bodyPr wrap="square">
            <a:spAutoFit/>
          </a:bodyPr>
          <a:lstStyle/>
          <a:p>
            <a:r>
              <a:rPr lang="fr-FR" dirty="0" smtClean="0">
                <a:solidFill>
                  <a:schemeClr val="tx2">
                    <a:lumMod val="60000"/>
                    <a:lumOff val="40000"/>
                  </a:schemeClr>
                </a:solidFill>
              </a:rPr>
              <a:t>p</a:t>
            </a:r>
          </a:p>
          <a:p>
            <a:r>
              <a:rPr lang="fr-FR" dirty="0" smtClean="0">
                <a:solidFill>
                  <a:schemeClr val="tx2">
                    <a:lumMod val="60000"/>
                    <a:lumOff val="40000"/>
                  </a:schemeClr>
                </a:solidFill>
              </a:rPr>
              <a:t>{</a:t>
            </a:r>
          </a:p>
          <a:p>
            <a:r>
              <a:rPr lang="fr-FR" dirty="0" smtClean="0">
                <a:solidFill>
                  <a:schemeClr val="tx2">
                    <a:lumMod val="60000"/>
                    <a:lumOff val="40000"/>
                  </a:schemeClr>
                </a:solidFill>
              </a:rPr>
              <a:t>    </a:t>
            </a:r>
            <a:r>
              <a:rPr lang="fr-FR" dirty="0" err="1" smtClean="0">
                <a:solidFill>
                  <a:schemeClr val="tx2">
                    <a:lumMod val="60000"/>
                    <a:lumOff val="40000"/>
                  </a:schemeClr>
                </a:solidFill>
              </a:rPr>
              <a:t>color</a:t>
            </a:r>
            <a:r>
              <a:rPr lang="fr-FR" dirty="0" smtClean="0">
                <a:solidFill>
                  <a:schemeClr val="tx2">
                    <a:lumMod val="60000"/>
                    <a:lumOff val="40000"/>
                  </a:schemeClr>
                </a:solidFill>
              </a:rPr>
              <a:t>: </a:t>
            </a:r>
            <a:r>
              <a:rPr lang="fr-FR" dirty="0" err="1" smtClean="0">
                <a:solidFill>
                  <a:schemeClr val="tx2">
                    <a:lumMod val="60000"/>
                    <a:lumOff val="40000"/>
                  </a:schemeClr>
                </a:solidFill>
              </a:rPr>
              <a:t>blue</a:t>
            </a:r>
            <a:r>
              <a:rPr lang="fr-FR" dirty="0" smtClean="0">
                <a:solidFill>
                  <a:schemeClr val="tx2">
                    <a:lumMod val="60000"/>
                    <a:lumOff val="40000"/>
                  </a:schemeClr>
                </a:solidFill>
              </a:rPr>
              <a:t>;</a:t>
            </a:r>
          </a:p>
          <a:p>
            <a:r>
              <a:rPr lang="fr-FR" dirty="0" smtClean="0">
                <a:solidFill>
                  <a:schemeClr val="tx2">
                    <a:lumMod val="60000"/>
                    <a:lumOff val="40000"/>
                  </a:schemeClr>
                </a:solidFill>
              </a:rPr>
              <a:t>}</a:t>
            </a:r>
            <a:endParaRPr lang="fr-FR" dirty="0">
              <a:solidFill>
                <a:schemeClr val="tx2">
                  <a:lumMod val="60000"/>
                  <a:lumOff val="40000"/>
                </a:schemeClr>
              </a:solidFill>
            </a:endParaRPr>
          </a:p>
        </p:txBody>
      </p:sp>
      <p:sp>
        <p:nvSpPr>
          <p:cNvPr id="16385" name="Rectangle 1"/>
          <p:cNvSpPr>
            <a:spLocks noChangeArrowheads="1"/>
          </p:cNvSpPr>
          <p:nvPr/>
        </p:nvSpPr>
        <p:spPr bwMode="auto">
          <a:xfrm>
            <a:off x="152400" y="2590799"/>
            <a:ext cx="88392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Enregistrons le fichier en lui donnant un nom qui se termine par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.css</a:t>
            </a:r>
            <a:r>
              <a:rPr kumimoji="0" lang="fr-FR" sz="1600" b="0" i="0" u="none" strike="noStrike" cap="none" normalizeH="0" baseline="0" dirty="0" smtClean="0">
                <a:ln>
                  <a:noFill/>
                </a:ln>
                <a:solidFill>
                  <a:schemeClr val="tx1"/>
                </a:solidFill>
                <a:effectLst/>
                <a:cs typeface="Arial" pitchFamily="34" charset="0"/>
              </a:rPr>
              <a:t>, comme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style.css</a:t>
            </a:r>
            <a:r>
              <a:rPr kumimoji="0" lang="fr-FR" sz="1600" b="0" i="0" u="none" strike="noStrike" cap="none" normalizeH="0" baseline="0" dirty="0" smtClean="0">
                <a:ln>
                  <a:noFill/>
                </a:ln>
                <a:solidFill>
                  <a:schemeClr val="tx1"/>
                </a:solidFill>
                <a:effectLst/>
                <a:cs typeface="Arial" pitchFamily="34" charset="0"/>
              </a:rPr>
              <a:t>. Plaçons ce </a:t>
            </a:r>
            <a:r>
              <a:rPr kumimoji="0" lang="fr-FR" sz="1600" b="1" i="0" u="none" strike="noStrike" cap="none" normalizeH="0" baseline="0" dirty="0" smtClean="0">
                <a:ln>
                  <a:noFill/>
                </a:ln>
                <a:solidFill>
                  <a:schemeClr val="tx2">
                    <a:lumMod val="60000"/>
                    <a:lumOff val="40000"/>
                  </a:schemeClr>
                </a:solidFill>
                <a:effectLst/>
                <a:cs typeface="Arial" pitchFamily="34" charset="0"/>
              </a:rPr>
              <a:t>fichier</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.css</a:t>
            </a:r>
            <a:r>
              <a:rPr lang="fr-FR" sz="1600" dirty="0" smtClean="0">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dans le même dossier que notre fichier </a:t>
            </a:r>
            <a:r>
              <a:rPr kumimoji="0" lang="fr-FR" sz="1600" b="0" i="0" u="none" strike="noStrike" cap="none" normalizeH="0" baseline="0" dirty="0" smtClean="0">
                <a:ln>
                  <a:noFill/>
                </a:ln>
                <a:solidFill>
                  <a:schemeClr val="tx1"/>
                </a:solidFill>
                <a:effectLst/>
                <a:cs typeface="Courier New" pitchFamily="49" charset="0"/>
              </a:rPr>
              <a:t>.html</a:t>
            </a:r>
            <a:r>
              <a:rPr kumimoji="0" lang="fr-FR" sz="1600" b="0" i="0" u="none" strike="noStrike" cap="none" normalizeH="0" baseline="0" dirty="0" smtClean="0">
                <a:ln>
                  <a:noFill/>
                </a:ln>
                <a:solidFill>
                  <a:schemeClr val="tx1"/>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fr-FR" sz="1600" dirty="0" smtClean="0">
                <a:cs typeface="Arial" pitchFamily="34" charset="0"/>
              </a:rPr>
              <a:t>En testant notre fichier .html on devrait avoir un résultat tel que présenté sur la figure ci-dessous:</a:t>
            </a:r>
          </a:p>
        </p:txBody>
      </p:sp>
      <p:pic>
        <p:nvPicPr>
          <p:cNvPr id="8" name="Picture 7" descr="5.JPG"/>
          <p:cNvPicPr>
            <a:picLocks noChangeAspect="1"/>
          </p:cNvPicPr>
          <p:nvPr/>
        </p:nvPicPr>
        <p:blipFill>
          <a:blip r:embed="rId2"/>
          <a:stretch>
            <a:fillRect/>
          </a:stretch>
        </p:blipFill>
        <p:spPr>
          <a:xfrm>
            <a:off x="1968940" y="3581400"/>
            <a:ext cx="4889060" cy="3067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4964372" cy="400110"/>
          </a:xfrm>
          <a:prstGeom prst="rect">
            <a:avLst/>
          </a:prstGeom>
        </p:spPr>
        <p:txBody>
          <a:bodyPr wrap="none">
            <a:spAutoFit/>
          </a:bodyPr>
          <a:lstStyle/>
          <a:p>
            <a:r>
              <a:rPr lang="fr-FR" sz="2000" b="1" u="sng" dirty="0" smtClean="0"/>
              <a:t>5. Comment appliquer un style à une balise ?</a:t>
            </a:r>
            <a:endParaRPr lang="fr-FR" sz="2000" b="1" u="sng" dirty="0"/>
          </a:p>
        </p:txBody>
      </p:sp>
      <p:sp>
        <p:nvSpPr>
          <p:cNvPr id="5" name="Rectangle 4"/>
          <p:cNvSpPr/>
          <p:nvPr/>
        </p:nvSpPr>
        <p:spPr>
          <a:xfrm>
            <a:off x="304800" y="685800"/>
            <a:ext cx="8610600" cy="1323439"/>
          </a:xfrm>
          <a:prstGeom prst="rect">
            <a:avLst/>
          </a:prstGeom>
        </p:spPr>
        <p:txBody>
          <a:bodyPr wrap="square">
            <a:spAutoFit/>
          </a:bodyPr>
          <a:lstStyle/>
          <a:p>
            <a:r>
              <a:rPr lang="fr-FR" sz="1600" dirty="0" smtClean="0"/>
              <a:t>Considérons le code ci-dessous : </a:t>
            </a:r>
          </a:p>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color</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blue</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17409" name="Rectangle 1"/>
          <p:cNvSpPr>
            <a:spLocks noChangeArrowheads="1"/>
          </p:cNvSpPr>
          <p:nvPr/>
        </p:nvSpPr>
        <p:spPr bwMode="auto">
          <a:xfrm>
            <a:off x="228600" y="2057400"/>
            <a:ext cx="8763000" cy="304698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Dans un code CSS comme celui-ci, on trouve trois éléments différents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rgbClr val="FF0000"/>
                </a:solidFill>
                <a:effectLst/>
                <a:cs typeface="Arial" pitchFamily="34" charset="0"/>
              </a:rPr>
              <a:t>Des noms de balises</a:t>
            </a:r>
            <a:r>
              <a:rPr kumimoji="0" lang="fr-FR" sz="1600" b="0" i="0" u="none" strike="noStrike" cap="none" normalizeH="0" baseline="0" dirty="0" smtClean="0">
                <a:ln>
                  <a:noFill/>
                </a:ln>
                <a:solidFill>
                  <a:srgbClr val="000000"/>
                </a:solidFill>
                <a:effectLst/>
                <a:cs typeface="Arial" pitchFamily="34" charset="0"/>
              </a:rPr>
              <a:t> : on écrit les noms des balises dont on veut modifier l'apparence. Par exemple, si on veut modifier l'apparence de tous les paragraphes </a:t>
            </a:r>
            <a:r>
              <a:rPr kumimoji="0" lang="fr-FR" sz="1600" b="1" i="0" u="none" strike="noStrike" cap="none" normalizeH="0" baseline="0" dirty="0" smtClean="0">
                <a:ln>
                  <a:noFill/>
                </a:ln>
                <a:solidFill>
                  <a:schemeClr val="accent1"/>
                </a:solidFill>
                <a:effectLst/>
                <a:cs typeface="Courier New" pitchFamily="49" charset="0"/>
              </a:rPr>
              <a:t>&lt;p&gt;</a:t>
            </a:r>
            <a:r>
              <a:rPr kumimoji="0" lang="fr-FR" sz="1600" b="0" i="0" u="none" strike="noStrike" cap="none" normalizeH="0" baseline="0" dirty="0" smtClean="0">
                <a:ln>
                  <a:noFill/>
                </a:ln>
                <a:solidFill>
                  <a:srgbClr val="000000"/>
                </a:solidFill>
                <a:effectLst/>
                <a:cs typeface="Arial" pitchFamily="34" charset="0"/>
              </a:rPr>
              <a:t>, on doit écrire </a:t>
            </a:r>
            <a:r>
              <a:rPr kumimoji="0" lang="fr-FR" sz="1600" b="1" i="0" u="none" strike="noStrike" cap="none" normalizeH="0" baseline="0" dirty="0" smtClean="0">
                <a:ln>
                  <a:noFill/>
                </a:ln>
                <a:solidFill>
                  <a:schemeClr val="accent1"/>
                </a:solidFill>
                <a:effectLst/>
                <a:cs typeface="Courier New" pitchFamily="49" charset="0"/>
              </a:rPr>
              <a:t>p</a:t>
            </a:r>
            <a:r>
              <a:rPr kumimoji="0" lang="fr-FR" sz="1600" b="0" i="0" u="none" strike="noStrike" cap="none" normalizeH="0" baseline="0" dirty="0" smtClean="0">
                <a:ln>
                  <a:noFill/>
                </a:ln>
                <a:solidFill>
                  <a:srgbClr val="000000"/>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rgbClr val="FF0000"/>
                </a:solidFill>
                <a:effectLst/>
                <a:cs typeface="Arial" pitchFamily="34" charset="0"/>
              </a:rPr>
              <a:t>Des propriétés CSS</a:t>
            </a:r>
            <a:r>
              <a:rPr kumimoji="0" lang="fr-FR" sz="1600" b="0" i="0" u="none" strike="noStrike" cap="none" normalizeH="0" baseline="0" dirty="0" smtClean="0">
                <a:ln>
                  <a:noFill/>
                </a:ln>
                <a:solidFill>
                  <a:srgbClr val="000000"/>
                </a:solidFill>
                <a:effectLst/>
                <a:cs typeface="Arial" pitchFamily="34" charset="0"/>
              </a:rPr>
              <a:t> : les « effets de style » de la page sont rangés dans des propriétés. Il y a par exemple la propriété </a:t>
            </a:r>
            <a:r>
              <a:rPr kumimoji="0" lang="fr-FR" sz="1600" b="1" i="0" u="none" strike="noStrike" cap="none" normalizeH="0" baseline="0" dirty="0" err="1" smtClean="0">
                <a:ln>
                  <a:noFill/>
                </a:ln>
                <a:solidFill>
                  <a:schemeClr val="accent1"/>
                </a:solidFill>
                <a:effectLst/>
                <a:cs typeface="Courier New" pitchFamily="49" charset="0"/>
              </a:rPr>
              <a:t>color</a:t>
            </a:r>
            <a:r>
              <a:rPr kumimoji="0" lang="fr-FR" sz="1600" b="0" i="0" u="none" strike="noStrike" cap="none" normalizeH="0" baseline="0" dirty="0" smtClean="0">
                <a:ln>
                  <a:noFill/>
                </a:ln>
                <a:solidFill>
                  <a:srgbClr val="000000"/>
                </a:solidFill>
                <a:effectLst/>
                <a:cs typeface="Courier New" pitchFamily="49" charset="0"/>
              </a:rPr>
              <a:t> </a:t>
            </a:r>
            <a:r>
              <a:rPr kumimoji="0" lang="fr-FR" sz="1600" b="0" i="0" u="none" strike="noStrike" cap="none" normalizeH="0" baseline="0" dirty="0" smtClean="0">
                <a:ln>
                  <a:noFill/>
                </a:ln>
                <a:solidFill>
                  <a:srgbClr val="000000"/>
                </a:solidFill>
                <a:effectLst/>
                <a:cs typeface="Arial" pitchFamily="34" charset="0"/>
              </a:rPr>
              <a:t>qui permet d'indiquer la couleur du texte, </a:t>
            </a:r>
            <a:r>
              <a:rPr kumimoji="0" lang="fr-FR" sz="1600" b="1" i="0" u="none" strike="noStrike" cap="none" normalizeH="0" baseline="0" dirty="0" smtClean="0">
                <a:ln>
                  <a:noFill/>
                </a:ln>
                <a:solidFill>
                  <a:schemeClr val="accent1"/>
                </a:solidFill>
                <a:effectLst/>
                <a:cs typeface="Courier New" pitchFamily="49" charset="0"/>
              </a:rPr>
              <a:t>font-size</a:t>
            </a:r>
            <a:r>
              <a:rPr kumimoji="0" lang="fr-FR" sz="1600" b="0" i="0" u="none" strike="noStrike" cap="none" normalizeH="0" baseline="0" dirty="0" smtClean="0">
                <a:ln>
                  <a:noFill/>
                </a:ln>
                <a:solidFill>
                  <a:srgbClr val="000000"/>
                </a:solidFill>
                <a:effectLst/>
                <a:cs typeface="Courier New" pitchFamily="49" charset="0"/>
              </a:rPr>
              <a:t> </a:t>
            </a:r>
            <a:r>
              <a:rPr kumimoji="0" lang="fr-FR" sz="1600" b="0" i="0" u="none" strike="noStrike" cap="none" normalizeH="0" baseline="0" dirty="0" smtClean="0">
                <a:ln>
                  <a:noFill/>
                </a:ln>
                <a:solidFill>
                  <a:srgbClr val="000000"/>
                </a:solidFill>
                <a:effectLst/>
                <a:cs typeface="Arial" pitchFamily="34" charset="0"/>
              </a:rPr>
              <a:t>qui permet d'indiquer la taille du texte, etc. Il existe beaucoup de propriétés CSS.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rgbClr val="FF0000"/>
                </a:solidFill>
                <a:effectLst/>
                <a:cs typeface="Arial" pitchFamily="34" charset="0"/>
              </a:rPr>
              <a:t>Les valeurs</a:t>
            </a:r>
            <a:r>
              <a:rPr kumimoji="0" lang="fr-FR" sz="1600" b="0" i="0" u="none" strike="noStrike" cap="none" normalizeH="0" baseline="0" dirty="0" smtClean="0">
                <a:ln>
                  <a:noFill/>
                </a:ln>
                <a:solidFill>
                  <a:srgbClr val="000000"/>
                </a:solidFill>
                <a:effectLst/>
                <a:cs typeface="Arial" pitchFamily="34" charset="0"/>
              </a:rPr>
              <a:t> : pour chaque propriété CSS, on doit indiquer une valeur. Par exemple, pour la propriété </a:t>
            </a:r>
            <a:r>
              <a:rPr kumimoji="0" lang="fr-FR" sz="1600" b="1" i="0" u="none" strike="noStrike" cap="none" normalizeH="0" baseline="0" dirty="0" err="1" smtClean="0">
                <a:ln>
                  <a:noFill/>
                </a:ln>
                <a:effectLst/>
                <a:cs typeface="Courier New" pitchFamily="49" charset="0"/>
              </a:rPr>
              <a:t>color</a:t>
            </a:r>
            <a:r>
              <a:rPr kumimoji="0" lang="fr-FR" sz="1600" b="0" i="0" u="none" strike="noStrike" cap="none" normalizeH="0" baseline="0" dirty="0" smtClean="0">
                <a:ln>
                  <a:noFill/>
                </a:ln>
                <a:solidFill>
                  <a:srgbClr val="000000"/>
                </a:solidFill>
                <a:effectLst/>
                <a:cs typeface="Arial" pitchFamily="34" charset="0"/>
              </a:rPr>
              <a:t>, il faut indiquer le nom de la couleur. Pour </a:t>
            </a:r>
            <a:r>
              <a:rPr kumimoji="0" lang="fr-FR" sz="1600" b="1" i="0" u="none" strike="noStrike" cap="none" normalizeH="0" baseline="0" dirty="0" smtClean="0">
                <a:ln>
                  <a:noFill/>
                </a:ln>
                <a:solidFill>
                  <a:srgbClr val="000000"/>
                </a:solidFill>
                <a:effectLst/>
                <a:cs typeface="Courier New" pitchFamily="49" charset="0"/>
              </a:rPr>
              <a:t>font-size</a:t>
            </a:r>
            <a:r>
              <a:rPr kumimoji="0" lang="fr-FR" sz="1600" b="0" i="0" u="none" strike="noStrike" cap="none" normalizeH="0" baseline="0" dirty="0" smtClean="0">
                <a:ln>
                  <a:noFill/>
                </a:ln>
                <a:solidFill>
                  <a:srgbClr val="000000"/>
                </a:solidFill>
                <a:effectLst/>
                <a:cs typeface="Arial" pitchFamily="34" charset="0"/>
              </a:rPr>
              <a:t>, il faut indiquer quelle taille on veut,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28600"/>
            <a:ext cx="8686800" cy="338554"/>
          </a:xfrm>
          <a:prstGeom prst="rect">
            <a:avLst/>
          </a:prstGeom>
        </p:spPr>
        <p:txBody>
          <a:bodyPr wrap="square">
            <a:spAutoFit/>
          </a:bodyPr>
          <a:lstStyle/>
          <a:p>
            <a:r>
              <a:rPr lang="fr-FR" sz="1600" dirty="0" smtClean="0"/>
              <a:t>Schématiquement, une feuille de style CSS ressemble donc à cela :</a:t>
            </a:r>
            <a:endParaRPr lang="fr-FR" sz="1600" dirty="0"/>
          </a:p>
        </p:txBody>
      </p:sp>
      <p:sp>
        <p:nvSpPr>
          <p:cNvPr id="5" name="Rectangle 4"/>
          <p:cNvSpPr/>
          <p:nvPr/>
        </p:nvSpPr>
        <p:spPr>
          <a:xfrm>
            <a:off x="304800" y="751344"/>
            <a:ext cx="8610600" cy="4770537"/>
          </a:xfrm>
          <a:prstGeom prst="rect">
            <a:avLst/>
          </a:prstGeom>
        </p:spPr>
        <p:txBody>
          <a:bodyPr wrap="square">
            <a:spAutoFit/>
          </a:bodyPr>
          <a:lstStyle/>
          <a:p>
            <a:r>
              <a:rPr lang="fr-FR" sz="1600" dirty="0" smtClean="0">
                <a:solidFill>
                  <a:schemeClr val="tx2">
                    <a:lumMod val="60000"/>
                    <a:lumOff val="40000"/>
                  </a:schemeClr>
                </a:solidFill>
              </a:rPr>
              <a:t>balise1</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propriete1: valeur1;</a:t>
            </a:r>
          </a:p>
          <a:p>
            <a:r>
              <a:rPr lang="fr-FR" sz="1600" dirty="0" smtClean="0">
                <a:solidFill>
                  <a:schemeClr val="tx2">
                    <a:lumMod val="60000"/>
                    <a:lumOff val="40000"/>
                  </a:schemeClr>
                </a:solidFill>
              </a:rPr>
              <a:t>    propriete2: valeur2;</a:t>
            </a:r>
          </a:p>
          <a:p>
            <a:r>
              <a:rPr lang="fr-FR" sz="1600" dirty="0" smtClean="0">
                <a:solidFill>
                  <a:schemeClr val="tx2">
                    <a:lumMod val="60000"/>
                    <a:lumOff val="40000"/>
                  </a:schemeClr>
                </a:solidFill>
              </a:rPr>
              <a:t>    propriete3: valeur3;</a:t>
            </a:r>
          </a:p>
          <a:p>
            <a:r>
              <a:rPr lang="fr-FR" sz="1600" dirty="0" smtClean="0">
                <a:solidFill>
                  <a:schemeClr val="tx2">
                    <a:lumMod val="60000"/>
                    <a:lumOff val="40000"/>
                  </a:schemeClr>
                </a:solidFill>
              </a:rPr>
              <a:t>}</a:t>
            </a:r>
          </a:p>
          <a:p>
            <a:endParaRPr lang="fr-FR" sz="1600" dirty="0" smtClean="0">
              <a:solidFill>
                <a:schemeClr val="tx2">
                  <a:lumMod val="60000"/>
                  <a:lumOff val="40000"/>
                </a:schemeClr>
              </a:solidFill>
            </a:endParaRPr>
          </a:p>
          <a:p>
            <a:r>
              <a:rPr lang="fr-FR" sz="1600" dirty="0" smtClean="0">
                <a:solidFill>
                  <a:schemeClr val="tx2">
                    <a:lumMod val="60000"/>
                    <a:lumOff val="40000"/>
                  </a:schemeClr>
                </a:solidFill>
              </a:rPr>
              <a:t>balise2</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propriete1: valeur1;</a:t>
            </a:r>
          </a:p>
          <a:p>
            <a:r>
              <a:rPr lang="fr-FR" sz="1600" dirty="0" smtClean="0">
                <a:solidFill>
                  <a:schemeClr val="tx2">
                    <a:lumMod val="60000"/>
                    <a:lumOff val="40000"/>
                  </a:schemeClr>
                </a:solidFill>
              </a:rPr>
              <a:t>    propriete2: valeur2;</a:t>
            </a:r>
          </a:p>
          <a:p>
            <a:r>
              <a:rPr lang="fr-FR" sz="1600" dirty="0" smtClean="0">
                <a:solidFill>
                  <a:schemeClr val="tx2">
                    <a:lumMod val="60000"/>
                    <a:lumOff val="40000"/>
                  </a:schemeClr>
                </a:solidFill>
              </a:rPr>
              <a:t>    propriete3: valeur3;</a:t>
            </a:r>
          </a:p>
          <a:p>
            <a:r>
              <a:rPr lang="fr-FR" sz="1600" dirty="0" smtClean="0">
                <a:solidFill>
                  <a:schemeClr val="tx2">
                    <a:lumMod val="60000"/>
                    <a:lumOff val="40000"/>
                  </a:schemeClr>
                </a:solidFill>
              </a:rPr>
              <a:t>    propriete4: valeur4;</a:t>
            </a:r>
          </a:p>
          <a:p>
            <a:r>
              <a:rPr lang="fr-FR" sz="1600" dirty="0" smtClean="0">
                <a:solidFill>
                  <a:schemeClr val="tx2">
                    <a:lumMod val="60000"/>
                    <a:lumOff val="40000"/>
                  </a:schemeClr>
                </a:solidFill>
              </a:rPr>
              <a:t>}</a:t>
            </a:r>
          </a:p>
          <a:p>
            <a:endParaRPr lang="fr-FR" sz="1600" dirty="0" smtClean="0">
              <a:solidFill>
                <a:schemeClr val="tx2">
                  <a:lumMod val="60000"/>
                  <a:lumOff val="40000"/>
                </a:schemeClr>
              </a:solidFill>
            </a:endParaRPr>
          </a:p>
          <a:p>
            <a:r>
              <a:rPr lang="fr-FR" sz="1600" dirty="0" smtClean="0">
                <a:solidFill>
                  <a:schemeClr val="tx2">
                    <a:lumMod val="60000"/>
                    <a:lumOff val="40000"/>
                  </a:schemeClr>
                </a:solidFill>
              </a:rPr>
              <a:t>balise3</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propriete1: valeur1;</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ChangeArrowheads="1"/>
          </p:cNvSpPr>
          <p:nvPr/>
        </p:nvSpPr>
        <p:spPr bwMode="auto">
          <a:xfrm>
            <a:off x="152400" y="30540"/>
            <a:ext cx="8839200" cy="156966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Dans cet extrait de code on repère les balises, propriétés et valeurs dont on vient de vous parler.</a:t>
            </a:r>
          </a:p>
          <a:p>
            <a:pPr marL="0" marR="0" lvl="0" indent="0" algn="l" defTabSz="914400" rtl="0" eaLnBrk="0" fontAlgn="base" latinLnBrk="0" hangingPunct="0">
              <a:lnSpc>
                <a:spcPct val="100000"/>
              </a:lnSpc>
              <a:spcBef>
                <a:spcPct val="0"/>
              </a:spcBef>
              <a:spcAft>
                <a:spcPct val="0"/>
              </a:spcAft>
              <a:buClrTx/>
              <a:buSzTx/>
              <a:buFontTx/>
              <a:buNone/>
              <a:tabLst/>
            </a:pPr>
            <a:r>
              <a:rPr lang="fr-FR" sz="1600" dirty="0" smtClean="0">
                <a:cs typeface="Arial" pitchFamily="34" charset="0"/>
              </a:rPr>
              <a:t>O</a:t>
            </a:r>
            <a:r>
              <a:rPr kumimoji="0" lang="fr-FR" sz="1600" b="0" i="0" u="none" strike="noStrike" cap="none" normalizeH="0" baseline="0" dirty="0" smtClean="0">
                <a:ln>
                  <a:noFill/>
                </a:ln>
                <a:solidFill>
                  <a:schemeClr val="tx1"/>
                </a:solidFill>
                <a:effectLst/>
                <a:cs typeface="Arial" pitchFamily="34" charset="0"/>
              </a:rPr>
              <a:t>n écrit le nom de la balise (par exemple </a:t>
            </a:r>
            <a:r>
              <a:rPr kumimoji="0" lang="fr-FR" sz="1600" b="0" i="0" u="none" strike="noStrike" cap="none" normalizeH="0" baseline="0" dirty="0" smtClean="0">
                <a:ln>
                  <a:noFill/>
                </a:ln>
                <a:solidFill>
                  <a:schemeClr val="tx1"/>
                </a:solidFill>
                <a:effectLst/>
                <a:cs typeface="Courier New" pitchFamily="49" charset="0"/>
              </a:rPr>
              <a:t>h1</a:t>
            </a:r>
            <a:r>
              <a:rPr kumimoji="0" lang="fr-FR" sz="1600" b="0" i="0" u="none" strike="noStrike" cap="none" normalizeH="0" baseline="0" dirty="0" smtClean="0">
                <a:ln>
                  <a:noFill/>
                </a:ln>
                <a:solidFill>
                  <a:schemeClr val="tx1"/>
                </a:solidFill>
                <a:effectLst/>
                <a:cs typeface="Arial" pitchFamily="34" charset="0"/>
              </a:rPr>
              <a:t>) et on ouvre des accolades pour, à l'intérieur, mettre les propriétés et valeurs que l'on souhaite.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On peut mettre autant de propriétés que l'on veut à l'intérieur des accolades.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Chaque propriété est suivie du symbole « deux-points » ( : ) puis de la valeur correspondante. Enfin, chaque ligne se termine par un point-virgule ( ; ).</a:t>
            </a:r>
          </a:p>
        </p:txBody>
      </p:sp>
      <p:sp>
        <p:nvSpPr>
          <p:cNvPr id="5" name="Rectangle 4"/>
          <p:cNvSpPr/>
          <p:nvPr/>
        </p:nvSpPr>
        <p:spPr>
          <a:xfrm>
            <a:off x="228600" y="1765042"/>
            <a:ext cx="8610600" cy="5016758"/>
          </a:xfrm>
          <a:prstGeom prst="rect">
            <a:avLst/>
          </a:prstGeom>
        </p:spPr>
        <p:txBody>
          <a:bodyPr wrap="square">
            <a:spAutoFit/>
          </a:bodyPr>
          <a:lstStyle/>
          <a:p>
            <a:r>
              <a:rPr lang="fr-FR" sz="1600" dirty="0" smtClean="0"/>
              <a:t>Le code écrit plus haut signifie donc en français : « Je veux que tous mes paragraphes soient écrits en bleu. ». </a:t>
            </a:r>
          </a:p>
          <a:p>
            <a:r>
              <a:rPr lang="fr-FR" dirty="0" smtClean="0">
                <a:solidFill>
                  <a:schemeClr val="tx2">
                    <a:lumMod val="60000"/>
                    <a:lumOff val="40000"/>
                  </a:schemeClr>
                </a:solidFill>
              </a:rPr>
              <a:t>p</a:t>
            </a:r>
          </a:p>
          <a:p>
            <a:r>
              <a:rPr lang="fr-FR" dirty="0" smtClean="0">
                <a:solidFill>
                  <a:schemeClr val="tx2">
                    <a:lumMod val="60000"/>
                    <a:lumOff val="40000"/>
                  </a:schemeClr>
                </a:solidFill>
              </a:rPr>
              <a:t>{</a:t>
            </a:r>
          </a:p>
          <a:p>
            <a:r>
              <a:rPr lang="fr-FR" dirty="0" smtClean="0">
                <a:solidFill>
                  <a:schemeClr val="tx2">
                    <a:lumMod val="60000"/>
                    <a:lumOff val="40000"/>
                  </a:schemeClr>
                </a:solidFill>
              </a:rPr>
              <a:t>    </a:t>
            </a:r>
            <a:r>
              <a:rPr lang="fr-FR" dirty="0" err="1" smtClean="0">
                <a:solidFill>
                  <a:schemeClr val="tx2">
                    <a:lumMod val="60000"/>
                    <a:lumOff val="40000"/>
                  </a:schemeClr>
                </a:solidFill>
              </a:rPr>
              <a:t>color</a:t>
            </a:r>
            <a:r>
              <a:rPr lang="fr-FR" dirty="0" smtClean="0">
                <a:solidFill>
                  <a:schemeClr val="tx2">
                    <a:lumMod val="60000"/>
                    <a:lumOff val="40000"/>
                  </a:schemeClr>
                </a:solidFill>
              </a:rPr>
              <a:t>: </a:t>
            </a:r>
            <a:r>
              <a:rPr lang="fr-FR" dirty="0" err="1" smtClean="0">
                <a:solidFill>
                  <a:schemeClr val="tx2">
                    <a:lumMod val="60000"/>
                    <a:lumOff val="40000"/>
                  </a:schemeClr>
                </a:solidFill>
              </a:rPr>
              <a:t>blue</a:t>
            </a:r>
            <a:r>
              <a:rPr lang="fr-FR" dirty="0" smtClean="0">
                <a:solidFill>
                  <a:schemeClr val="tx2">
                    <a:lumMod val="60000"/>
                    <a:lumOff val="40000"/>
                  </a:schemeClr>
                </a:solidFill>
              </a:rPr>
              <a:t>;</a:t>
            </a:r>
          </a:p>
          <a:p>
            <a:r>
              <a:rPr lang="fr-FR" dirty="0" smtClean="0">
                <a:solidFill>
                  <a:schemeClr val="tx2">
                    <a:lumMod val="60000"/>
                    <a:lumOff val="40000"/>
                  </a:schemeClr>
                </a:solidFill>
              </a:rPr>
              <a:t>}</a:t>
            </a:r>
          </a:p>
          <a:p>
            <a:endParaRPr lang="fr-FR" dirty="0" smtClean="0">
              <a:solidFill>
                <a:schemeClr val="tx2">
                  <a:lumMod val="60000"/>
                  <a:lumOff val="40000"/>
                </a:schemeClr>
              </a:solidFill>
            </a:endParaRPr>
          </a:p>
          <a:p>
            <a:r>
              <a:rPr lang="fr-FR" dirty="0" smtClean="0"/>
              <a:t>Si on désire appliquer le même style à des balises différentes, il suffit de d’écrire le nom de ces balises sur la même ligne en les séparant par des virgules comme présenté dans le code ci-dessous. Cette méthode évite de répéter plusieurs fois les mêmes déclarations.</a:t>
            </a:r>
          </a:p>
          <a:p>
            <a:endParaRPr lang="fr-FR" dirty="0" smtClean="0"/>
          </a:p>
          <a:p>
            <a:r>
              <a:rPr lang="fr-FR" dirty="0" smtClean="0">
                <a:solidFill>
                  <a:schemeClr val="tx2">
                    <a:lumMod val="60000"/>
                    <a:lumOff val="40000"/>
                  </a:schemeClr>
                </a:solidFill>
              </a:rPr>
              <a:t>h1, </a:t>
            </a:r>
            <a:r>
              <a:rPr lang="fr-FR" dirty="0" err="1" smtClean="0">
                <a:solidFill>
                  <a:schemeClr val="tx2">
                    <a:lumMod val="60000"/>
                    <a:lumOff val="40000"/>
                  </a:schemeClr>
                </a:solidFill>
              </a:rPr>
              <a:t>em</a:t>
            </a:r>
            <a:r>
              <a:rPr lang="fr-FR" dirty="0" smtClean="0">
                <a:solidFill>
                  <a:schemeClr val="tx2">
                    <a:lumMod val="60000"/>
                    <a:lumOff val="40000"/>
                  </a:schemeClr>
                </a:solidFill>
              </a:rPr>
              <a:t>, </a:t>
            </a:r>
          </a:p>
          <a:p>
            <a:r>
              <a:rPr lang="fr-FR" dirty="0" smtClean="0">
                <a:solidFill>
                  <a:schemeClr val="tx2">
                    <a:lumMod val="60000"/>
                    <a:lumOff val="40000"/>
                  </a:schemeClr>
                </a:solidFill>
              </a:rPr>
              <a:t>{</a:t>
            </a:r>
          </a:p>
          <a:p>
            <a:r>
              <a:rPr lang="fr-FR" dirty="0" smtClean="0">
                <a:solidFill>
                  <a:schemeClr val="tx2">
                    <a:lumMod val="60000"/>
                    <a:lumOff val="40000"/>
                  </a:schemeClr>
                </a:solidFill>
              </a:rPr>
              <a:t>    </a:t>
            </a:r>
            <a:r>
              <a:rPr lang="fr-FR" dirty="0" err="1" smtClean="0">
                <a:solidFill>
                  <a:schemeClr val="tx2">
                    <a:lumMod val="60000"/>
                    <a:lumOff val="40000"/>
                  </a:schemeClr>
                </a:solidFill>
              </a:rPr>
              <a:t>color</a:t>
            </a:r>
            <a:r>
              <a:rPr lang="fr-FR" dirty="0" smtClean="0">
                <a:solidFill>
                  <a:schemeClr val="tx2">
                    <a:lumMod val="60000"/>
                    <a:lumOff val="40000"/>
                  </a:schemeClr>
                </a:solidFill>
              </a:rPr>
              <a:t>: </a:t>
            </a:r>
            <a:r>
              <a:rPr lang="fr-FR" dirty="0" err="1" smtClean="0">
                <a:solidFill>
                  <a:schemeClr val="tx2">
                    <a:lumMod val="60000"/>
                    <a:lumOff val="40000"/>
                  </a:schemeClr>
                </a:solidFill>
              </a:rPr>
              <a:t>blue</a:t>
            </a:r>
            <a:r>
              <a:rPr lang="fr-FR" dirty="0" smtClean="0">
                <a:solidFill>
                  <a:schemeClr val="tx2">
                    <a:lumMod val="60000"/>
                    <a:lumOff val="40000"/>
                  </a:schemeClr>
                </a:solidFill>
              </a:rPr>
              <a:t>;</a:t>
            </a:r>
          </a:p>
          <a:p>
            <a:r>
              <a:rPr lang="fr-FR" dirty="0" smtClean="0">
                <a:solidFill>
                  <a:schemeClr val="tx2">
                    <a:lumMod val="60000"/>
                    <a:lumOff val="40000"/>
                  </a:schemeClr>
                </a:solidFill>
              </a:rPr>
              <a:t>}</a:t>
            </a:r>
          </a:p>
          <a:p>
            <a:endParaRPr lang="fr-FR" dirty="0" smtClean="0">
              <a:solidFill>
                <a:schemeClr val="tx2">
                  <a:lumMod val="60000"/>
                  <a:lumOff val="40000"/>
                </a:schemeClr>
              </a:solidFill>
            </a:endParaRPr>
          </a:p>
          <a:p>
            <a:r>
              <a:rPr lang="fr-FR" dirty="0" smtClean="0"/>
              <a:t>Le code ci-dessus signifie donc que nos titres &lt;h1&gt; et nos textes importants &lt;</a:t>
            </a:r>
            <a:r>
              <a:rPr lang="fr-FR" dirty="0" err="1" smtClean="0"/>
              <a:t>em</a:t>
            </a:r>
            <a:r>
              <a:rPr lang="fr-FR" dirty="0" smtClean="0"/>
              <a:t>&gt; doivent s'afficher en bleu.</a:t>
            </a:r>
            <a:endParaRPr lang="fr-FR" dirty="0" smtClean="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3125151" cy="400110"/>
          </a:xfrm>
          <a:prstGeom prst="rect">
            <a:avLst/>
          </a:prstGeom>
        </p:spPr>
        <p:txBody>
          <a:bodyPr wrap="none">
            <a:spAutoFit/>
          </a:bodyPr>
          <a:lstStyle/>
          <a:p>
            <a:r>
              <a:rPr lang="fr-FR" sz="2000" b="1" u="sng" dirty="0" smtClean="0"/>
              <a:t>6. Les commentaires en CSS</a:t>
            </a:r>
            <a:endParaRPr lang="fr-FR" sz="2000" b="1" u="sng" dirty="0"/>
          </a:p>
        </p:txBody>
      </p:sp>
      <p:sp>
        <p:nvSpPr>
          <p:cNvPr id="5" name="Rectangle 4"/>
          <p:cNvSpPr/>
          <p:nvPr/>
        </p:nvSpPr>
        <p:spPr>
          <a:xfrm>
            <a:off x="152400" y="609600"/>
            <a:ext cx="8763000" cy="830997"/>
          </a:xfrm>
          <a:prstGeom prst="rect">
            <a:avLst/>
          </a:prstGeom>
        </p:spPr>
        <p:txBody>
          <a:bodyPr wrap="square">
            <a:spAutoFit/>
          </a:bodyPr>
          <a:lstStyle/>
          <a:p>
            <a:r>
              <a:rPr lang="fr-FR" sz="1600" dirty="0" smtClean="0"/>
              <a:t>Comme en HTML, il est possible de mettre des commentaires. Les commentaires ne seront pas affichés, ils servent simplement à indiquer des informations pour vous, par exemple pour vous y retrouver dans un long fichier CSS.</a:t>
            </a:r>
            <a:endParaRPr lang="fr-FR" sz="1600" dirty="0"/>
          </a:p>
        </p:txBody>
      </p:sp>
      <p:sp>
        <p:nvSpPr>
          <p:cNvPr id="20481" name="Rectangle 1"/>
          <p:cNvSpPr>
            <a:spLocks noChangeArrowheads="1"/>
          </p:cNvSpPr>
          <p:nvPr/>
        </p:nvSpPr>
        <p:spPr bwMode="auto">
          <a:xfrm>
            <a:off x="152400" y="1524000"/>
            <a:ext cx="88392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Pour faire un commentaire, il suffit de taper</a:t>
            </a:r>
            <a:r>
              <a:rPr kumimoji="0" lang="fr-FR" sz="1600" b="0" i="0" u="none" strike="noStrike" cap="none" normalizeH="0" dirty="0" smtClean="0">
                <a:ln>
                  <a:noFill/>
                </a:ln>
                <a:solidFill>
                  <a:schemeClr val="tx1"/>
                </a:solidFill>
                <a:effectLst/>
                <a:cs typeface="Arial" pitchFamily="34" charset="0"/>
              </a:rPr>
              <a:t>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a:t>
            </a:r>
            <a:r>
              <a:rPr kumimoji="0" lang="fr-FR" sz="1600" b="0" i="0" u="none" strike="noStrike" cap="none" normalizeH="0" baseline="0" dirty="0" smtClean="0">
                <a:ln>
                  <a:noFill/>
                </a:ln>
                <a:solidFill>
                  <a:schemeClr val="tx1"/>
                </a:solidFill>
                <a:effectLst/>
                <a:cs typeface="Arial" pitchFamily="34" charset="0"/>
              </a:rPr>
              <a:t>, suivi de votre commentaire, puis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pour terminer votre commentaire.</a:t>
            </a:r>
            <a:br>
              <a:rPr kumimoji="0" lang="fr-FR" sz="1600" b="0" i="0" u="none" strike="noStrike" cap="none" normalizeH="0" baseline="0" dirty="0" smtClean="0">
                <a:ln>
                  <a:noFill/>
                </a:ln>
                <a:solidFill>
                  <a:schemeClr val="tx1"/>
                </a:solidFill>
                <a:effectLst/>
                <a:cs typeface="Arial" pitchFamily="34" charset="0"/>
              </a:rPr>
            </a:br>
            <a:r>
              <a:rPr kumimoji="0" lang="fr-FR" sz="1600" b="0" i="0" u="none" strike="noStrike" cap="none" normalizeH="0" baseline="0" dirty="0" smtClean="0">
                <a:ln>
                  <a:noFill/>
                </a:ln>
                <a:solidFill>
                  <a:schemeClr val="tx1"/>
                </a:solidFill>
                <a:effectLst/>
                <a:cs typeface="Arial" pitchFamily="34" charset="0"/>
              </a:rPr>
              <a:t>Vos commentaires peuvent être écrits sur une ou plusieurs lignes. Par exemple : </a:t>
            </a:r>
          </a:p>
        </p:txBody>
      </p:sp>
      <p:sp>
        <p:nvSpPr>
          <p:cNvPr id="7" name="Rectangle 6"/>
          <p:cNvSpPr/>
          <p:nvPr/>
        </p:nvSpPr>
        <p:spPr>
          <a:xfrm>
            <a:off x="228600" y="2438400"/>
            <a:ext cx="8686800" cy="2800767"/>
          </a:xfrm>
          <a:prstGeom prst="rect">
            <a:avLst/>
          </a:prstGeom>
        </p:spPr>
        <p:txBody>
          <a:bodyPr wrap="square">
            <a:spAutoFit/>
          </a:bodyPr>
          <a:lstStyle/>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style.css</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p>
          <a:p>
            <a:r>
              <a:rPr lang="fr-FR" sz="1600" dirty="0" smtClean="0">
                <a:solidFill>
                  <a:schemeClr val="tx2">
                    <a:lumMod val="60000"/>
                    <a:lumOff val="40000"/>
                  </a:schemeClr>
                </a:solidFill>
              </a:rPr>
              <a:t>Par KOTEI SAMUEL</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p>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color</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blue</a:t>
            </a:r>
            <a:r>
              <a:rPr lang="fr-FR" sz="1600" dirty="0" smtClean="0">
                <a:solidFill>
                  <a:schemeClr val="tx2">
                    <a:lumMod val="60000"/>
                    <a:lumOff val="40000"/>
                  </a:schemeClr>
                </a:solidFill>
              </a:rPr>
              <a:t>; /* Les paragraphes seront en bleu */</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4953215" cy="400110"/>
          </a:xfrm>
          <a:prstGeom prst="rect">
            <a:avLst/>
          </a:prstGeom>
        </p:spPr>
        <p:txBody>
          <a:bodyPr wrap="none">
            <a:spAutoFit/>
          </a:bodyPr>
          <a:lstStyle/>
          <a:p>
            <a:r>
              <a:rPr lang="fr-FR" sz="2000" b="1" dirty="0" smtClean="0"/>
              <a:t>7</a:t>
            </a:r>
            <a:r>
              <a:rPr lang="fr-FR" sz="2000" b="1" dirty="0" smtClean="0"/>
              <a:t>.  </a:t>
            </a:r>
            <a:r>
              <a:rPr lang="fr-FR" sz="2000" b="1" u="sng" dirty="0" smtClean="0"/>
              <a:t>Appliquer un style aux attributs class et id</a:t>
            </a:r>
          </a:p>
        </p:txBody>
      </p:sp>
      <p:sp>
        <p:nvSpPr>
          <p:cNvPr id="5" name="Rectangle 4"/>
          <p:cNvSpPr/>
          <p:nvPr/>
        </p:nvSpPr>
        <p:spPr>
          <a:xfrm>
            <a:off x="228600" y="685800"/>
            <a:ext cx="8610600" cy="4278094"/>
          </a:xfrm>
          <a:prstGeom prst="rect">
            <a:avLst/>
          </a:prstGeom>
        </p:spPr>
        <p:txBody>
          <a:bodyPr wrap="square">
            <a:spAutoFit/>
          </a:bodyPr>
          <a:lstStyle/>
          <a:p>
            <a:r>
              <a:rPr lang="fr-FR" sz="1600" dirty="0" smtClean="0"/>
              <a:t>Jusqu’ici, ce que nous avons appris possède un défaut : cela implique par exemple que TOUS les paragraphes possèdent la même présentation (ici, ils seront donc tous écrits en bleu).</a:t>
            </a:r>
          </a:p>
          <a:p>
            <a:endParaRPr lang="fr-FR" sz="1600" dirty="0" smtClean="0"/>
          </a:p>
          <a:p>
            <a:r>
              <a:rPr lang="fr-FR" sz="1600" dirty="0" smtClean="0"/>
              <a:t>Comment faire pour que certains paragraphes seulement soient écrits d'une manière différente ?</a:t>
            </a:r>
          </a:p>
          <a:p>
            <a:r>
              <a:rPr lang="fr-FR" sz="1600" dirty="0" smtClean="0"/>
              <a:t>Pour résoudre le problème, on peut utiliser des attributs spéciaux </a:t>
            </a:r>
            <a:r>
              <a:rPr lang="fr-FR" sz="1600" i="1" dirty="0" smtClean="0"/>
              <a:t>qui fonctionnent sur toutes les balises</a:t>
            </a:r>
            <a:r>
              <a:rPr lang="fr-FR" sz="1600" dirty="0" smtClean="0"/>
              <a:t> :</a:t>
            </a:r>
          </a:p>
          <a:p>
            <a:pPr>
              <a:buFont typeface="Arial" pitchFamily="34" charset="0"/>
              <a:buChar char="•"/>
            </a:pPr>
            <a:r>
              <a:rPr lang="fr-FR" sz="1600" b="1" dirty="0" smtClean="0">
                <a:solidFill>
                  <a:srgbClr val="FF0000"/>
                </a:solidFill>
              </a:rPr>
              <a:t>l'attribut class;</a:t>
            </a:r>
          </a:p>
          <a:p>
            <a:pPr>
              <a:buFont typeface="Arial" pitchFamily="34" charset="0"/>
              <a:buChar char="•"/>
            </a:pPr>
            <a:r>
              <a:rPr lang="fr-FR" sz="1600" b="1" dirty="0" smtClean="0">
                <a:solidFill>
                  <a:srgbClr val="FF0000"/>
                </a:solidFill>
              </a:rPr>
              <a:t>l'attribut id.</a:t>
            </a:r>
          </a:p>
          <a:p>
            <a:pPr>
              <a:buFont typeface="Arial" pitchFamily="34" charset="0"/>
              <a:buChar char="•"/>
            </a:pPr>
            <a:endParaRPr lang="fr-FR" sz="1600" b="1" dirty="0" smtClean="0">
              <a:solidFill>
                <a:srgbClr val="FF0000"/>
              </a:solidFill>
            </a:endParaRPr>
          </a:p>
          <a:p>
            <a:r>
              <a:rPr lang="fr-FR" sz="1600" dirty="0" smtClean="0"/>
              <a:t>Ces deux attributs peuvent se mettre dans n’importe quelle balise et fonctionnent de la même manière sauf que </a:t>
            </a:r>
            <a:r>
              <a:rPr lang="fr-FR" sz="1600" dirty="0" smtClean="0">
                <a:solidFill>
                  <a:srgbClr val="FF0000"/>
                </a:solidFill>
              </a:rPr>
              <a:t>l’attribut </a:t>
            </a:r>
            <a:r>
              <a:rPr lang="fr-FR" sz="1600" b="1" dirty="0" smtClean="0">
                <a:solidFill>
                  <a:srgbClr val="FF0000"/>
                </a:solidFill>
              </a:rPr>
              <a:t>id </a:t>
            </a:r>
            <a:r>
              <a:rPr lang="fr-FR" sz="1600" dirty="0" smtClean="0">
                <a:solidFill>
                  <a:srgbClr val="FF0000"/>
                </a:solidFill>
              </a:rPr>
              <a:t>doit être utilisé une seule fois sur la page (Il s’agit d’un identifiant unique.)</a:t>
            </a:r>
          </a:p>
          <a:p>
            <a:endParaRPr lang="fr-FR" sz="1600" b="1" dirty="0" smtClean="0"/>
          </a:p>
          <a:p>
            <a:r>
              <a:rPr lang="en-US" sz="1600" b="1" dirty="0" smtClean="0">
                <a:solidFill>
                  <a:schemeClr val="tx2">
                    <a:lumMod val="40000"/>
                    <a:lumOff val="60000"/>
                  </a:schemeClr>
                </a:solidFill>
              </a:rPr>
              <a:t>&lt;h1 class=""&gt; &lt;/h1&gt;</a:t>
            </a:r>
          </a:p>
          <a:p>
            <a:r>
              <a:rPr lang="en-US" sz="1600" b="1" dirty="0" smtClean="0">
                <a:solidFill>
                  <a:schemeClr val="tx2">
                    <a:lumMod val="40000"/>
                    <a:lumOff val="60000"/>
                  </a:schemeClr>
                </a:solidFill>
              </a:rPr>
              <a:t>&lt;p class=""&gt; &lt;/p&gt;</a:t>
            </a:r>
          </a:p>
          <a:p>
            <a:r>
              <a:rPr lang="en-US" sz="1600" b="1" dirty="0" smtClean="0">
                <a:solidFill>
                  <a:schemeClr val="tx2">
                    <a:lumMod val="40000"/>
                    <a:lumOff val="60000"/>
                  </a:schemeClr>
                </a:solidFill>
              </a:rPr>
              <a:t>&lt;</a:t>
            </a:r>
            <a:r>
              <a:rPr lang="en-US" sz="1600" b="1" dirty="0" err="1" smtClean="0">
                <a:solidFill>
                  <a:schemeClr val="tx2">
                    <a:lumMod val="40000"/>
                    <a:lumOff val="60000"/>
                  </a:schemeClr>
                </a:solidFill>
              </a:rPr>
              <a:t>img</a:t>
            </a:r>
            <a:r>
              <a:rPr lang="en-US" sz="1600" b="1" dirty="0" smtClean="0">
                <a:solidFill>
                  <a:schemeClr val="tx2">
                    <a:lumMod val="40000"/>
                    <a:lumOff val="60000"/>
                  </a:schemeClr>
                </a:solidFill>
              </a:rPr>
              <a:t> id="" /&gt;</a:t>
            </a:r>
          </a:p>
          <a:p>
            <a:r>
              <a:rPr lang="en-US" sz="1600" b="1" dirty="0" smtClean="0">
                <a:solidFill>
                  <a:schemeClr val="tx2">
                    <a:lumMod val="40000"/>
                    <a:lumOff val="60000"/>
                  </a:schemeClr>
                </a:solidFill>
              </a:rPr>
              <a:t>&lt;p id=""&gt; &lt;/p&gt;</a:t>
            </a:r>
          </a:p>
        </p:txBody>
      </p:sp>
      <p:graphicFrame>
        <p:nvGraphicFramePr>
          <p:cNvPr id="7" name="Table 6"/>
          <p:cNvGraphicFramePr>
            <a:graphicFrameLocks noGrp="1"/>
          </p:cNvGraphicFramePr>
          <p:nvPr/>
        </p:nvGraphicFramePr>
        <p:xfrm>
          <a:off x="304800" y="5008880"/>
          <a:ext cx="8458200" cy="1574800"/>
        </p:xfrm>
        <a:graphic>
          <a:graphicData uri="http://schemas.openxmlformats.org/drawingml/2006/table">
            <a:tbl>
              <a:tblPr firstRow="1" bandRow="1">
                <a:tableStyleId>{5C22544A-7EE6-4342-B048-85BDC9FD1C3A}</a:tableStyleId>
              </a:tblPr>
              <a:tblGrid>
                <a:gridCol w="4229100"/>
                <a:gridCol w="4229100"/>
              </a:tblGrid>
              <a:tr h="508000">
                <a:tc>
                  <a:txBody>
                    <a:bodyPr/>
                    <a:lstStyle/>
                    <a:p>
                      <a:pPr algn="ctr"/>
                      <a:r>
                        <a:rPr lang="fr-FR" dirty="0" smtClean="0"/>
                        <a:t>Syntaxe de l’attribut id en CSS</a:t>
                      </a:r>
                      <a:endParaRPr lang="fr-FR" dirty="0"/>
                    </a:p>
                  </a:txBody>
                  <a:tcPr/>
                </a:tc>
                <a:tc>
                  <a:txBody>
                    <a:bodyPr/>
                    <a:lstStyle/>
                    <a:p>
                      <a:pPr algn="ctr"/>
                      <a:r>
                        <a:rPr lang="fr-FR" dirty="0" smtClean="0"/>
                        <a:t>Syntaxe</a:t>
                      </a:r>
                      <a:r>
                        <a:rPr lang="fr-FR" baseline="0" dirty="0" smtClean="0"/>
                        <a:t> de l’attribut class en CSS</a:t>
                      </a:r>
                      <a:endParaRPr lang="fr-FR" dirty="0"/>
                    </a:p>
                  </a:txBody>
                  <a:tcPr/>
                </a:tc>
              </a:tr>
              <a:tr h="1016000">
                <a:tc>
                  <a:txBody>
                    <a:bodyPr/>
                    <a:lstStyle/>
                    <a:p>
                      <a:r>
                        <a:rPr lang="fr-FR" sz="1600" b="1" dirty="0" smtClean="0"/>
                        <a:t>#</a:t>
                      </a:r>
                      <a:r>
                        <a:rPr lang="fr-FR" sz="1600" b="1" dirty="0" err="1" smtClean="0"/>
                        <a:t>Nom_de</a:t>
                      </a:r>
                      <a:r>
                        <a:rPr lang="fr-FR" sz="1600" b="1" baseline="0" dirty="0" err="1" smtClean="0"/>
                        <a:t>_id</a:t>
                      </a:r>
                      <a:endParaRPr lang="fr-FR" sz="1600" b="1" dirty="0" smtClean="0"/>
                    </a:p>
                    <a:p>
                      <a:r>
                        <a:rPr lang="fr-FR" sz="1600" dirty="0" smtClean="0"/>
                        <a:t>{</a:t>
                      </a:r>
                    </a:p>
                    <a:p>
                      <a:r>
                        <a:rPr lang="fr-FR" sz="1600" dirty="0" smtClean="0"/>
                        <a:t>    /* Indiquez ici les propriétés et leur</a:t>
                      </a:r>
                      <a:r>
                        <a:rPr lang="fr-FR" sz="1600" baseline="0" dirty="0" smtClean="0"/>
                        <a:t> </a:t>
                      </a:r>
                      <a:r>
                        <a:rPr lang="fr-FR" sz="1600" dirty="0" smtClean="0"/>
                        <a:t>valeur*/</a:t>
                      </a:r>
                    </a:p>
                    <a:p>
                      <a:r>
                        <a:rPr lang="fr-FR" sz="1600" dirty="0" smtClean="0"/>
                        <a:t>}</a:t>
                      </a:r>
                      <a:endParaRPr lang="fr-FR" sz="1600" dirty="0"/>
                    </a:p>
                  </a:txBody>
                  <a:tcPr/>
                </a:tc>
                <a:tc>
                  <a:txBody>
                    <a:bodyPr/>
                    <a:lstStyle/>
                    <a:p>
                      <a:r>
                        <a:rPr lang="fr-FR" sz="1600" b="1" dirty="0" smtClean="0"/>
                        <a:t>.</a:t>
                      </a:r>
                      <a:r>
                        <a:rPr lang="fr-FR" sz="1600" b="1" dirty="0" err="1" smtClean="0"/>
                        <a:t>Nom_de_class</a:t>
                      </a:r>
                      <a:endParaRPr lang="fr-FR" sz="1600" b="1" dirty="0" smtClean="0"/>
                    </a:p>
                    <a:p>
                      <a:r>
                        <a:rPr lang="fr-FR" sz="1600" dirty="0" smtClean="0"/>
                        <a:t>{</a:t>
                      </a:r>
                    </a:p>
                    <a:p>
                      <a:r>
                        <a:rPr lang="fr-FR" sz="1600" dirty="0" smtClean="0"/>
                        <a:t>     /* Indiquez ici les propriétés et leur</a:t>
                      </a:r>
                      <a:r>
                        <a:rPr lang="fr-FR" sz="1600" baseline="0" dirty="0" smtClean="0"/>
                        <a:t> </a:t>
                      </a:r>
                      <a:r>
                        <a:rPr lang="fr-FR" sz="1600" dirty="0" smtClean="0"/>
                        <a:t>valeur*/</a:t>
                      </a:r>
                    </a:p>
                    <a:p>
                      <a:r>
                        <a:rPr lang="fr-FR" sz="1600" dirty="0" smtClean="0"/>
                        <a:t>}</a:t>
                      </a:r>
                      <a:endParaRPr lang="fr-FR" sz="1600" dirty="0"/>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2888227" cy="400110"/>
          </a:xfrm>
          <a:prstGeom prst="rect">
            <a:avLst/>
          </a:prstGeom>
        </p:spPr>
        <p:txBody>
          <a:bodyPr wrap="none">
            <a:spAutoFit/>
          </a:bodyPr>
          <a:lstStyle/>
          <a:p>
            <a:r>
              <a:rPr lang="fr-FR" sz="2000" b="1" dirty="0" smtClean="0"/>
              <a:t>6. </a:t>
            </a:r>
            <a:r>
              <a:rPr lang="fr-FR" sz="2000" b="1" u="sng" dirty="0" smtClean="0"/>
              <a:t>Les balises universelles</a:t>
            </a:r>
            <a:endParaRPr lang="fr-FR" sz="2000" b="1" u="sng" dirty="0"/>
          </a:p>
        </p:txBody>
      </p:sp>
      <p:sp>
        <p:nvSpPr>
          <p:cNvPr id="21505" name="Rectangle 1"/>
          <p:cNvSpPr>
            <a:spLocks noChangeArrowheads="1"/>
          </p:cNvSpPr>
          <p:nvPr/>
        </p:nvSpPr>
        <p:spPr bwMode="auto">
          <a:xfrm>
            <a:off x="76200" y="616803"/>
            <a:ext cx="8915400" cy="107721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Il arrivera parfois que vous ayez besoin d'appliquer une </a:t>
            </a:r>
            <a:r>
              <a:rPr kumimoji="0" lang="fr-FR" sz="1600" b="0" i="0" u="none" strike="noStrike" cap="none" normalizeH="0" baseline="0" dirty="0" smtClean="0">
                <a:ln>
                  <a:noFill/>
                </a:ln>
                <a:solidFill>
                  <a:schemeClr val="tx1"/>
                </a:solidFill>
                <a:effectLst/>
                <a:cs typeface="Courier New" pitchFamily="49" charset="0"/>
              </a:rPr>
              <a:t>class </a:t>
            </a:r>
            <a:r>
              <a:rPr kumimoji="0" lang="fr-FR" sz="1600" b="0" i="0" u="none" strike="noStrike" cap="none" normalizeH="0" baseline="0" dirty="0" smtClean="0">
                <a:ln>
                  <a:noFill/>
                </a:ln>
                <a:solidFill>
                  <a:schemeClr val="tx1"/>
                </a:solidFill>
                <a:effectLst/>
                <a:cs typeface="Arial" pitchFamily="34" charset="0"/>
              </a:rPr>
              <a:t>(ou un </a:t>
            </a:r>
            <a:r>
              <a:rPr kumimoji="0" lang="fr-FR" sz="1600" b="0" i="0" u="none" strike="noStrike" cap="none" normalizeH="0" baseline="0" dirty="0" smtClean="0">
                <a:ln>
                  <a:noFill/>
                </a:ln>
                <a:solidFill>
                  <a:schemeClr val="tx1"/>
                </a:solidFill>
                <a:effectLst/>
                <a:cs typeface="Courier New" pitchFamily="49" charset="0"/>
              </a:rPr>
              <a:t>id</a:t>
            </a:r>
            <a:r>
              <a:rPr kumimoji="0" lang="fr-FR" sz="1600" b="0" i="0" u="none" strike="noStrike" cap="none" normalizeH="0" baseline="0" dirty="0" smtClean="0">
                <a:ln>
                  <a:noFill/>
                </a:ln>
                <a:solidFill>
                  <a:schemeClr val="tx1"/>
                </a:solidFill>
                <a:effectLst/>
                <a:cs typeface="Arial" pitchFamily="34" charset="0"/>
              </a:rPr>
              <a:t>) à certains mots qui, à l'origine, ne sont pas entourés par des balises.</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En effet, le problème de </a:t>
            </a:r>
            <a:r>
              <a:rPr kumimoji="0" lang="fr-FR" sz="1600" b="0" i="0" u="none" strike="noStrike" cap="none" normalizeH="0" baseline="0" dirty="0" smtClean="0">
                <a:ln>
                  <a:noFill/>
                </a:ln>
                <a:solidFill>
                  <a:schemeClr val="tx1"/>
                </a:solidFill>
                <a:effectLst/>
                <a:cs typeface="Courier New" pitchFamily="49" charset="0"/>
              </a:rPr>
              <a:t>class</a:t>
            </a:r>
            <a:r>
              <a:rPr kumimoji="0" lang="fr-FR" sz="1600" b="0" i="0" u="none" strike="noStrike" cap="none" normalizeH="0" baseline="0" dirty="0" smtClean="0">
                <a:ln>
                  <a:noFill/>
                </a:ln>
                <a:solidFill>
                  <a:schemeClr val="tx1"/>
                </a:solidFill>
                <a:effectLst/>
                <a:cs typeface="Arial" pitchFamily="34" charset="0"/>
              </a:rPr>
              <a:t>, c'est qu'il s'agit d'un attribut. Vous ne pouvez donc en mettre que sur une balise. Si, par exemple, je veux modifier uniquement « bienvenue » dans le paragraphe suivant :</a:t>
            </a:r>
          </a:p>
        </p:txBody>
      </p:sp>
      <p:sp>
        <p:nvSpPr>
          <p:cNvPr id="6" name="Rectangle 5"/>
          <p:cNvSpPr/>
          <p:nvPr/>
        </p:nvSpPr>
        <p:spPr>
          <a:xfrm>
            <a:off x="76200" y="1752600"/>
            <a:ext cx="3955827" cy="338554"/>
          </a:xfrm>
          <a:prstGeom prst="rect">
            <a:avLst/>
          </a:prstGeom>
        </p:spPr>
        <p:txBody>
          <a:bodyPr wrap="none">
            <a:spAutoFit/>
          </a:bodyPr>
          <a:lstStyle/>
          <a:p>
            <a:r>
              <a:rPr lang="fr-FR" sz="1600" b="1" dirty="0" smtClean="0"/>
              <a:t>&lt;p&gt;Bonjour et bienvenue sur mon site !&lt;/p&gt;</a:t>
            </a:r>
            <a:endParaRPr lang="fr-FR" sz="1600" b="1" dirty="0"/>
          </a:p>
        </p:txBody>
      </p:sp>
      <p:sp>
        <p:nvSpPr>
          <p:cNvPr id="21506" name="Rectangle 2"/>
          <p:cNvSpPr>
            <a:spLocks noChangeArrowheads="1"/>
          </p:cNvSpPr>
          <p:nvPr/>
        </p:nvSpPr>
        <p:spPr bwMode="auto">
          <a:xfrm>
            <a:off x="152400" y="2133600"/>
            <a:ext cx="8839200" cy="452431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Cela serait facile à faire s'il y avait une balise autour de « bienvenue » mais, malheureusement il n'y en a pas. Par chance, on a inventé… la balise</a:t>
            </a:r>
            <a:r>
              <a:rPr kumimoji="0" lang="fr-FR" sz="1600" b="0" i="0" u="none" strike="noStrike" cap="none" normalizeH="0" dirty="0" smtClean="0">
                <a:ln>
                  <a:noFill/>
                </a:ln>
                <a:solidFill>
                  <a:schemeClr val="tx1"/>
                </a:solidFill>
                <a:effectLst/>
                <a:cs typeface="Arial" pitchFamily="34" charset="0"/>
              </a:rPr>
              <a:t> « </a:t>
            </a:r>
            <a:r>
              <a:rPr kumimoji="0" lang="fr-FR" sz="1600" b="0" i="0" u="none" strike="noStrike" cap="none" normalizeH="0" baseline="0" dirty="0" smtClean="0">
                <a:ln>
                  <a:noFill/>
                </a:ln>
                <a:solidFill>
                  <a:schemeClr val="tx1"/>
                </a:solidFill>
                <a:effectLst/>
                <a:cs typeface="Arial" pitchFamily="34" charset="0"/>
              </a:rPr>
              <a:t>qui-ne-sert-à-rien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En fait, on a inventé deux balises dites </a:t>
            </a:r>
            <a:r>
              <a:rPr kumimoji="0" lang="fr-FR" sz="1600" b="1" i="0" u="none" strike="noStrike" cap="none" normalizeH="0" baseline="0" dirty="0" smtClean="0">
                <a:ln>
                  <a:noFill/>
                </a:ln>
                <a:solidFill>
                  <a:schemeClr val="tx1"/>
                </a:solidFill>
                <a:effectLst/>
                <a:cs typeface="Arial" pitchFamily="34" charset="0"/>
              </a:rPr>
              <a:t>universelles</a:t>
            </a:r>
            <a:r>
              <a:rPr kumimoji="0" lang="fr-FR" sz="1600" b="0" i="0" u="none" strike="noStrike" cap="none" normalizeH="0" baseline="0" dirty="0" smtClean="0">
                <a:ln>
                  <a:noFill/>
                </a:ln>
                <a:solidFill>
                  <a:schemeClr val="tx1"/>
                </a:solidFill>
                <a:effectLst/>
                <a:cs typeface="Arial" pitchFamily="34" charset="0"/>
              </a:rPr>
              <a:t>, qui n'ont aucune signification particulière (elles n'indiquent pas que le mot est important, par exemple). Il y a une différence minime (mais significative !) entre ces deux balises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accent1">
                    <a:lumMod val="75000"/>
                  </a:schemeClr>
                </a:solidFill>
                <a:effectLst/>
                <a:cs typeface="Courier New" pitchFamily="49" charset="0"/>
              </a:rPr>
              <a:t>&lt;</a:t>
            </a:r>
            <a:r>
              <a:rPr kumimoji="0" lang="fr-FR" sz="1600" b="1" i="0" u="none" strike="noStrike" cap="none" normalizeH="0" baseline="0" dirty="0" err="1" smtClean="0">
                <a:ln>
                  <a:noFill/>
                </a:ln>
                <a:solidFill>
                  <a:schemeClr val="accent1">
                    <a:lumMod val="75000"/>
                  </a:schemeClr>
                </a:solidFill>
                <a:effectLst/>
                <a:cs typeface="Courier New" pitchFamily="49" charset="0"/>
              </a:rPr>
              <a:t>span</a:t>
            </a:r>
            <a:r>
              <a:rPr kumimoji="0" lang="fr-FR" sz="1600" b="1" i="0" u="none" strike="noStrike" cap="none" normalizeH="0" baseline="0" dirty="0" smtClean="0">
                <a:ln>
                  <a:noFill/>
                </a:ln>
                <a:solidFill>
                  <a:schemeClr val="accent1">
                    <a:lumMod val="75000"/>
                  </a:schemeClr>
                </a:solidFill>
                <a:effectLst/>
                <a:cs typeface="Courier New" pitchFamily="49" charset="0"/>
              </a:rPr>
              <a:t>&gt; &lt;/</a:t>
            </a:r>
            <a:r>
              <a:rPr kumimoji="0" lang="fr-FR" sz="1600" b="1" i="0" u="none" strike="noStrike" cap="none" normalizeH="0" baseline="0" dirty="0" err="1" smtClean="0">
                <a:ln>
                  <a:noFill/>
                </a:ln>
                <a:solidFill>
                  <a:schemeClr val="accent1">
                    <a:lumMod val="75000"/>
                  </a:schemeClr>
                </a:solidFill>
                <a:effectLst/>
                <a:cs typeface="Courier New" pitchFamily="49" charset="0"/>
              </a:rPr>
              <a:t>span</a:t>
            </a:r>
            <a:r>
              <a:rPr kumimoji="0" lang="fr-FR" sz="1600" b="1" i="0" u="none" strike="noStrike" cap="none" normalizeH="0" baseline="0" dirty="0" smtClean="0">
                <a:ln>
                  <a:noFill/>
                </a:ln>
                <a:solidFill>
                  <a:schemeClr val="accent1">
                    <a:lumMod val="75000"/>
                  </a:schemeClr>
                </a:solidFill>
                <a:effectLst/>
                <a:cs typeface="Courier New" pitchFamily="49" charset="0"/>
              </a:rPr>
              <a:t>&gt;</a:t>
            </a:r>
            <a:r>
              <a:rPr kumimoji="0" lang="fr-FR" sz="1600" b="1" i="0" u="none" strike="noStrike" cap="none" normalizeH="0" baseline="0" dirty="0" smtClean="0">
                <a:ln>
                  <a:noFill/>
                </a:ln>
                <a:solidFill>
                  <a:schemeClr val="accent1">
                    <a:lumMod val="75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c'est une balise de type </a:t>
            </a:r>
            <a:r>
              <a:rPr kumimoji="0" lang="fr-FR" sz="1600" b="1" i="0" u="none" strike="noStrike" cap="none" normalizeH="0" baseline="0" dirty="0" err="1" smtClean="0">
                <a:ln>
                  <a:noFill/>
                </a:ln>
                <a:solidFill>
                  <a:srgbClr val="000000"/>
                </a:solidFill>
                <a:effectLst/>
                <a:cs typeface="Arial" pitchFamily="34" charset="0"/>
              </a:rPr>
              <a:t>inline</a:t>
            </a:r>
            <a:r>
              <a:rPr kumimoji="0" lang="fr-FR" sz="1600" b="0" i="0" u="none" strike="noStrike" cap="none" normalizeH="0" baseline="0" dirty="0" smtClean="0">
                <a:ln>
                  <a:noFill/>
                </a:ln>
                <a:solidFill>
                  <a:srgbClr val="000000"/>
                </a:solidFill>
                <a:effectLst/>
                <a:cs typeface="Arial" pitchFamily="34" charset="0"/>
              </a:rPr>
              <a:t>, c'est-à-dire une balise que l'on place au sein d'un paragraphe de texte, pour sélectionner certains mots uniquement. Les balises </a:t>
            </a:r>
            <a:r>
              <a:rPr kumimoji="0" lang="fr-FR" sz="1600" b="0" i="0" u="none" strike="noStrike" cap="none" normalizeH="0" baseline="0" dirty="0" smtClean="0">
                <a:ln>
                  <a:noFill/>
                </a:ln>
                <a:solidFill>
                  <a:srgbClr val="000000"/>
                </a:solidFill>
                <a:effectLst/>
                <a:cs typeface="Courier New" pitchFamily="49" charset="0"/>
              </a:rPr>
              <a:t>&lt;</a:t>
            </a:r>
            <a:r>
              <a:rPr kumimoji="0" lang="fr-FR" sz="1600" b="0" i="0" u="none" strike="noStrike" cap="none" normalizeH="0" baseline="0" dirty="0" err="1" smtClean="0">
                <a:ln>
                  <a:noFill/>
                </a:ln>
                <a:solidFill>
                  <a:srgbClr val="000000"/>
                </a:solidFill>
                <a:effectLst/>
                <a:cs typeface="Courier New" pitchFamily="49" charset="0"/>
              </a:rPr>
              <a:t>strong</a:t>
            </a:r>
            <a:r>
              <a:rPr kumimoji="0" lang="fr-FR" sz="1600" b="0" i="0" u="none" strike="noStrike" cap="none" normalizeH="0" baseline="0" dirty="0" smtClean="0">
                <a:ln>
                  <a:noFill/>
                </a:ln>
                <a:solidFill>
                  <a:srgbClr val="000000"/>
                </a:solidFill>
                <a:effectLst/>
                <a:cs typeface="Courier New" pitchFamily="49" charset="0"/>
              </a:rPr>
              <a:t>&gt;</a:t>
            </a:r>
            <a:r>
              <a:rPr kumimoji="0" lang="fr-FR" sz="1600" b="0" i="0" u="none" strike="noStrike" cap="none" normalizeH="0" baseline="0" dirty="0" smtClean="0">
                <a:ln>
                  <a:noFill/>
                </a:ln>
                <a:solidFill>
                  <a:srgbClr val="000000"/>
                </a:solidFill>
                <a:effectLst/>
                <a:cs typeface="Arial" pitchFamily="34" charset="0"/>
              </a:rPr>
              <a:t>et</a:t>
            </a:r>
            <a:r>
              <a:rPr kumimoji="0" lang="fr-FR" sz="1600" b="0" i="0" u="none" strike="noStrike" cap="none" normalizeH="0" baseline="0" dirty="0" smtClean="0">
                <a:ln>
                  <a:noFill/>
                </a:ln>
                <a:solidFill>
                  <a:srgbClr val="000000"/>
                </a:solidFill>
                <a:effectLst/>
                <a:cs typeface="Courier New" pitchFamily="49" charset="0"/>
              </a:rPr>
              <a:t>&lt;</a:t>
            </a:r>
            <a:r>
              <a:rPr kumimoji="0" lang="fr-FR" sz="1600" b="0" i="0" u="none" strike="noStrike" cap="none" normalizeH="0" baseline="0" dirty="0" err="1" smtClean="0">
                <a:ln>
                  <a:noFill/>
                </a:ln>
                <a:solidFill>
                  <a:srgbClr val="000000"/>
                </a:solidFill>
                <a:effectLst/>
                <a:cs typeface="Courier New" pitchFamily="49" charset="0"/>
              </a:rPr>
              <a:t>em</a:t>
            </a:r>
            <a:r>
              <a:rPr kumimoji="0" lang="fr-FR" sz="1600" b="0" i="0" u="none" strike="noStrike" cap="none" normalizeH="0" baseline="0" dirty="0" smtClean="0">
                <a:ln>
                  <a:noFill/>
                </a:ln>
                <a:solidFill>
                  <a:srgbClr val="000000"/>
                </a:solidFill>
                <a:effectLst/>
                <a:cs typeface="Courier New" pitchFamily="49" charset="0"/>
              </a:rPr>
              <a:t>&gt; </a:t>
            </a:r>
            <a:r>
              <a:rPr kumimoji="0" lang="fr-FR" sz="1600" b="0" i="0" u="none" strike="noStrike" cap="none" normalizeH="0" baseline="0" dirty="0" smtClean="0">
                <a:ln>
                  <a:noFill/>
                </a:ln>
                <a:solidFill>
                  <a:srgbClr val="000000"/>
                </a:solidFill>
                <a:effectLst/>
                <a:cs typeface="Arial" pitchFamily="34" charset="0"/>
              </a:rPr>
              <a:t>sont de la même famille. Cette balise s'utilise donc au milieu d'un paragraphe et c'est celle dont nous allons nous servir pour colorer « bienvenue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accent1">
                    <a:lumMod val="75000"/>
                  </a:schemeClr>
                </a:solidFill>
                <a:effectLst/>
                <a:cs typeface="Courier New" pitchFamily="49" charset="0"/>
              </a:rPr>
              <a:t>&lt;</a:t>
            </a:r>
            <a:r>
              <a:rPr kumimoji="0" lang="fr-FR" sz="1600" b="1" i="0" u="none" strike="noStrike" cap="none" normalizeH="0" baseline="0" dirty="0" err="1" smtClean="0">
                <a:ln>
                  <a:noFill/>
                </a:ln>
                <a:solidFill>
                  <a:schemeClr val="accent1">
                    <a:lumMod val="75000"/>
                  </a:schemeClr>
                </a:solidFill>
                <a:effectLst/>
                <a:cs typeface="Courier New" pitchFamily="49" charset="0"/>
              </a:rPr>
              <a:t>div</a:t>
            </a:r>
            <a:r>
              <a:rPr kumimoji="0" lang="fr-FR" sz="1600" b="1" i="0" u="none" strike="noStrike" cap="none" normalizeH="0" baseline="0" dirty="0" smtClean="0">
                <a:ln>
                  <a:noFill/>
                </a:ln>
                <a:solidFill>
                  <a:schemeClr val="accent1">
                    <a:lumMod val="75000"/>
                  </a:schemeClr>
                </a:solidFill>
                <a:effectLst/>
                <a:cs typeface="Courier New" pitchFamily="49" charset="0"/>
              </a:rPr>
              <a:t>&gt; &lt;/</a:t>
            </a:r>
            <a:r>
              <a:rPr kumimoji="0" lang="fr-FR" sz="1600" b="1" i="0" u="none" strike="noStrike" cap="none" normalizeH="0" baseline="0" dirty="0" err="1" smtClean="0">
                <a:ln>
                  <a:noFill/>
                </a:ln>
                <a:solidFill>
                  <a:schemeClr val="accent1">
                    <a:lumMod val="75000"/>
                  </a:schemeClr>
                </a:solidFill>
                <a:effectLst/>
                <a:cs typeface="Courier New" pitchFamily="49" charset="0"/>
              </a:rPr>
              <a:t>div</a:t>
            </a:r>
            <a:r>
              <a:rPr kumimoji="0" lang="fr-FR" sz="1600" b="1" i="0" u="none" strike="noStrike" cap="none" normalizeH="0" baseline="0" dirty="0" smtClean="0">
                <a:ln>
                  <a:noFill/>
                </a:ln>
                <a:solidFill>
                  <a:schemeClr val="accent1">
                    <a:lumMod val="75000"/>
                  </a:schemeClr>
                </a:solidFill>
                <a:effectLst/>
                <a:cs typeface="Courier New" pitchFamily="49" charset="0"/>
              </a:rPr>
              <a:t>&gt;</a:t>
            </a:r>
            <a:r>
              <a:rPr kumimoji="0" lang="fr-FR" sz="1600" b="1" i="0" u="none" strike="noStrike" cap="none" normalizeH="0" baseline="0" dirty="0" smtClean="0">
                <a:ln>
                  <a:noFill/>
                </a:ln>
                <a:solidFill>
                  <a:schemeClr val="accent1">
                    <a:lumMod val="75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c'est une balise de type </a:t>
            </a:r>
            <a:r>
              <a:rPr kumimoji="0" lang="fr-FR" sz="1600" b="1" i="0" u="none" strike="noStrike" cap="none" normalizeH="0" baseline="0" dirty="0" smtClean="0">
                <a:ln>
                  <a:noFill/>
                </a:ln>
                <a:solidFill>
                  <a:srgbClr val="000000"/>
                </a:solidFill>
                <a:effectLst/>
                <a:cs typeface="Arial" pitchFamily="34" charset="0"/>
              </a:rPr>
              <a:t>block</a:t>
            </a:r>
            <a:r>
              <a:rPr kumimoji="0" lang="fr-FR" sz="1600" b="0" i="0" u="none" strike="noStrike" cap="none" normalizeH="0" baseline="0" dirty="0" smtClean="0">
                <a:ln>
                  <a:noFill/>
                </a:ln>
                <a:solidFill>
                  <a:srgbClr val="000000"/>
                </a:solidFill>
                <a:effectLst/>
                <a:cs typeface="Arial" pitchFamily="34" charset="0"/>
              </a:rPr>
              <a:t>, qui entoure un bloc de texte. Les balises </a:t>
            </a:r>
            <a:r>
              <a:rPr kumimoji="0" lang="fr-FR" sz="1600" b="0" i="0" u="none" strike="noStrike" cap="none" normalizeH="0" baseline="0" dirty="0" smtClean="0">
                <a:ln>
                  <a:noFill/>
                </a:ln>
                <a:solidFill>
                  <a:srgbClr val="000000"/>
                </a:solidFill>
                <a:effectLst/>
                <a:cs typeface="Courier New" pitchFamily="49" charset="0"/>
              </a:rPr>
              <a:t>&lt;p&gt;</a:t>
            </a:r>
            <a:r>
              <a:rPr kumimoji="0" lang="fr-FR" sz="1600" b="0" i="0" u="none" strike="noStrike" cap="none" normalizeH="0" baseline="0" dirty="0" smtClean="0">
                <a:ln>
                  <a:noFill/>
                </a:ln>
                <a:solidFill>
                  <a:srgbClr val="000000"/>
                </a:solidFill>
                <a:effectLst/>
                <a:cs typeface="Arial" pitchFamily="34" charset="0"/>
              </a:rPr>
              <a:t>, </a:t>
            </a:r>
            <a:r>
              <a:rPr kumimoji="0" lang="fr-FR" sz="1600" b="0" i="0" u="none" strike="noStrike" cap="none" normalizeH="0" baseline="0" dirty="0" smtClean="0">
                <a:ln>
                  <a:noFill/>
                </a:ln>
                <a:solidFill>
                  <a:srgbClr val="000000"/>
                </a:solidFill>
                <a:effectLst/>
                <a:cs typeface="Courier New" pitchFamily="49" charset="0"/>
              </a:rPr>
              <a:t>&lt;h1&gt;</a:t>
            </a:r>
            <a:r>
              <a:rPr kumimoji="0" lang="fr-FR" sz="1600" b="0" i="0" u="none" strike="noStrike" cap="none" normalizeH="0" baseline="0" dirty="0" smtClean="0">
                <a:ln>
                  <a:noFill/>
                </a:ln>
                <a:solidFill>
                  <a:srgbClr val="000000"/>
                </a:solidFill>
                <a:effectLst/>
                <a:cs typeface="Arial" pitchFamily="34" charset="0"/>
              </a:rPr>
              <a:t>, etc. sont de la même famille. Ces balises ont quelque chose en commun : elles créent un nouveau « bloc » dans la page et provoquent donc obligatoirement un retour à la ligne. </a:t>
            </a:r>
            <a:r>
              <a:rPr kumimoji="0" lang="fr-FR" sz="1600" b="0" i="0" u="none" strike="noStrike" cap="none" normalizeH="0" baseline="0" dirty="0" smtClean="0">
                <a:ln>
                  <a:noFill/>
                </a:ln>
                <a:solidFill>
                  <a:srgbClr val="000000"/>
                </a:solidFill>
                <a:effectLst/>
                <a:cs typeface="Courier New" pitchFamily="49" charset="0"/>
              </a:rPr>
              <a:t>&lt;</a:t>
            </a:r>
            <a:r>
              <a:rPr kumimoji="0" lang="fr-FR" sz="1600" b="0" i="0" u="none" strike="noStrike" cap="none" normalizeH="0" baseline="0" dirty="0" err="1" smtClean="0">
                <a:ln>
                  <a:noFill/>
                </a:ln>
                <a:solidFill>
                  <a:srgbClr val="000000"/>
                </a:solidFill>
                <a:effectLst/>
                <a:cs typeface="Courier New" pitchFamily="49" charset="0"/>
              </a:rPr>
              <a:t>div</a:t>
            </a:r>
            <a:r>
              <a:rPr kumimoji="0" lang="fr-FR" sz="1600" b="0" i="0" u="none" strike="noStrike" cap="none" normalizeH="0" baseline="0" dirty="0" smtClean="0">
                <a:ln>
                  <a:noFill/>
                </a:ln>
                <a:solidFill>
                  <a:srgbClr val="000000"/>
                </a:solidFill>
                <a:effectLst/>
                <a:cs typeface="Courier New" pitchFamily="49" charset="0"/>
              </a:rPr>
              <a:t>&gt; </a:t>
            </a:r>
            <a:r>
              <a:rPr kumimoji="0" lang="fr-FR" sz="1600" b="0" i="0" u="none" strike="noStrike" cap="none" normalizeH="0" baseline="0" dirty="0" smtClean="0">
                <a:ln>
                  <a:noFill/>
                </a:ln>
                <a:solidFill>
                  <a:srgbClr val="000000"/>
                </a:solidFill>
                <a:effectLst/>
                <a:cs typeface="Arial" pitchFamily="34" charset="0"/>
              </a:rPr>
              <a:t>est une balise fréquemment utilisée dans la construction d'un design, comme nous le verrons plus tard.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Pour le moment donc, nous allons utiliser plutôt la balise</a:t>
            </a:r>
            <a:r>
              <a:rPr kumimoji="0" lang="fr-FR" sz="1600" b="0" i="0" u="none" strike="noStrike" cap="none" normalizeH="0" baseline="0" dirty="0" smtClean="0">
                <a:ln>
                  <a:noFill/>
                </a:ln>
                <a:solidFill>
                  <a:schemeClr val="tx1"/>
                </a:solidFill>
                <a:effectLst/>
                <a:cs typeface="Courier New" pitchFamily="49" charset="0"/>
              </a:rPr>
              <a:t>&lt;</a:t>
            </a:r>
            <a:r>
              <a:rPr kumimoji="0" lang="fr-FR" sz="1600" b="0" i="0" u="none" strike="noStrike" cap="none" normalizeH="0" baseline="0" dirty="0" err="1" smtClean="0">
                <a:ln>
                  <a:noFill/>
                </a:ln>
                <a:solidFill>
                  <a:schemeClr val="tx1"/>
                </a:solidFill>
                <a:effectLst/>
                <a:cs typeface="Courier New" pitchFamily="49" charset="0"/>
              </a:rPr>
              <a:t>span</a:t>
            </a:r>
            <a:r>
              <a:rPr kumimoji="0" lang="fr-FR" sz="1600" b="0" i="0" u="none" strike="noStrike" cap="none" normalizeH="0" baseline="0" dirty="0" smtClean="0">
                <a:ln>
                  <a:noFill/>
                </a:ln>
                <a:solidFill>
                  <a:schemeClr val="tx1"/>
                </a:solidFill>
                <a:effectLst/>
                <a:cs typeface="Courier New" pitchFamily="49" charset="0"/>
              </a:rPr>
              <a:t>&gt;</a:t>
            </a:r>
            <a:r>
              <a:rPr kumimoji="0" lang="fr-FR" sz="1600" b="0" i="0" u="none" strike="noStrike" cap="none" normalizeH="0" baseline="0" dirty="0" smtClean="0">
                <a:ln>
                  <a:noFill/>
                </a:ln>
                <a:solidFill>
                  <a:schemeClr val="tx1"/>
                </a:solidFill>
                <a:effectLst/>
                <a:cs typeface="Arial" pitchFamily="34" charset="0"/>
              </a:rPr>
              <a:t>. On la met autour de « bienvenue », on lui ajoute une classe (du nom qu'on veut), et on crée le CSS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
            <a:ext cx="8610600" cy="369332"/>
          </a:xfrm>
          <a:prstGeom prst="rect">
            <a:avLst/>
          </a:prstGeom>
        </p:spPr>
        <p:txBody>
          <a:bodyPr wrap="square">
            <a:spAutoFit/>
          </a:bodyPr>
          <a:lstStyle/>
          <a:p>
            <a:r>
              <a:rPr lang="fr-FR" dirty="0" smtClean="0">
                <a:solidFill>
                  <a:schemeClr val="accent1">
                    <a:lumMod val="75000"/>
                  </a:schemeClr>
                </a:solidFill>
              </a:rPr>
              <a:t>&lt;p&gt;Bonjour et </a:t>
            </a:r>
            <a:r>
              <a:rPr lang="fr-FR" b="1" dirty="0" smtClean="0">
                <a:solidFill>
                  <a:schemeClr val="accent1">
                    <a:lumMod val="75000"/>
                  </a:schemeClr>
                </a:solidFill>
              </a:rPr>
              <a:t>&lt;</a:t>
            </a:r>
            <a:r>
              <a:rPr lang="fr-FR" b="1" dirty="0" err="1" smtClean="0">
                <a:solidFill>
                  <a:schemeClr val="accent1">
                    <a:lumMod val="75000"/>
                  </a:schemeClr>
                </a:solidFill>
              </a:rPr>
              <a:t>span</a:t>
            </a:r>
            <a:r>
              <a:rPr lang="fr-FR" b="1" dirty="0" smtClean="0">
                <a:solidFill>
                  <a:schemeClr val="accent1">
                    <a:lumMod val="75000"/>
                  </a:schemeClr>
                </a:solidFill>
              </a:rPr>
              <a:t> class="salutations"&gt;</a:t>
            </a:r>
            <a:r>
              <a:rPr lang="fr-FR" dirty="0" smtClean="0">
                <a:solidFill>
                  <a:schemeClr val="accent1">
                    <a:lumMod val="75000"/>
                  </a:schemeClr>
                </a:solidFill>
              </a:rPr>
              <a:t>bienvenue</a:t>
            </a:r>
            <a:r>
              <a:rPr lang="fr-FR" b="1" dirty="0" smtClean="0">
                <a:solidFill>
                  <a:schemeClr val="accent1">
                    <a:lumMod val="75000"/>
                  </a:schemeClr>
                </a:solidFill>
              </a:rPr>
              <a:t>&lt;/</a:t>
            </a:r>
            <a:r>
              <a:rPr lang="fr-FR" b="1" dirty="0" err="1" smtClean="0">
                <a:solidFill>
                  <a:schemeClr val="accent1">
                    <a:lumMod val="75000"/>
                  </a:schemeClr>
                </a:solidFill>
              </a:rPr>
              <a:t>span</a:t>
            </a:r>
            <a:r>
              <a:rPr lang="fr-FR" b="1" dirty="0" smtClean="0">
                <a:solidFill>
                  <a:schemeClr val="accent1">
                    <a:lumMod val="75000"/>
                  </a:schemeClr>
                </a:solidFill>
              </a:rPr>
              <a:t>&gt; </a:t>
            </a:r>
            <a:r>
              <a:rPr lang="fr-FR" dirty="0" smtClean="0">
                <a:solidFill>
                  <a:schemeClr val="accent1">
                    <a:lumMod val="75000"/>
                  </a:schemeClr>
                </a:solidFill>
              </a:rPr>
              <a:t>sur mon site !&lt;/p&gt;</a:t>
            </a:r>
            <a:endParaRPr lang="fr-FR" dirty="0">
              <a:solidFill>
                <a:schemeClr val="accent1">
                  <a:lumMod val="75000"/>
                </a:schemeClr>
              </a:solidFill>
            </a:endParaRPr>
          </a:p>
        </p:txBody>
      </p:sp>
      <p:sp>
        <p:nvSpPr>
          <p:cNvPr id="5" name="Rectangle 4"/>
          <p:cNvSpPr/>
          <p:nvPr/>
        </p:nvSpPr>
        <p:spPr>
          <a:xfrm>
            <a:off x="381000" y="838200"/>
            <a:ext cx="4572000" cy="1200329"/>
          </a:xfrm>
          <a:prstGeom prst="rect">
            <a:avLst/>
          </a:prstGeom>
        </p:spPr>
        <p:txBody>
          <a:bodyPr>
            <a:spAutoFit/>
          </a:bodyPr>
          <a:lstStyle/>
          <a:p>
            <a:r>
              <a:rPr lang="fr-FR" dirty="0" smtClean="0">
                <a:solidFill>
                  <a:schemeClr val="accent1">
                    <a:lumMod val="75000"/>
                  </a:schemeClr>
                </a:solidFill>
              </a:rPr>
              <a:t>.salutations</a:t>
            </a:r>
          </a:p>
          <a:p>
            <a:r>
              <a:rPr lang="fr-FR" dirty="0" smtClean="0">
                <a:solidFill>
                  <a:schemeClr val="accent1">
                    <a:lumMod val="75000"/>
                  </a:schemeClr>
                </a:solidFill>
              </a:rPr>
              <a:t>{</a:t>
            </a:r>
          </a:p>
          <a:p>
            <a:r>
              <a:rPr lang="fr-FR" dirty="0" smtClean="0">
                <a:solidFill>
                  <a:schemeClr val="accent1">
                    <a:lumMod val="75000"/>
                  </a:schemeClr>
                </a:solidFill>
              </a:rPr>
              <a:t>    </a:t>
            </a:r>
            <a:r>
              <a:rPr lang="fr-FR" dirty="0" err="1" smtClean="0">
                <a:solidFill>
                  <a:schemeClr val="accent1">
                    <a:lumMod val="75000"/>
                  </a:schemeClr>
                </a:solidFill>
              </a:rPr>
              <a:t>color</a:t>
            </a:r>
            <a:r>
              <a:rPr lang="fr-FR" dirty="0" smtClean="0">
                <a:solidFill>
                  <a:schemeClr val="accent1">
                    <a:lumMod val="75000"/>
                  </a:schemeClr>
                </a:solidFill>
              </a:rPr>
              <a:t>: </a:t>
            </a:r>
            <a:r>
              <a:rPr lang="fr-FR" dirty="0" err="1" smtClean="0">
                <a:solidFill>
                  <a:schemeClr val="accent1">
                    <a:lumMod val="75000"/>
                  </a:schemeClr>
                </a:solidFill>
              </a:rPr>
              <a:t>blue</a:t>
            </a:r>
            <a:r>
              <a:rPr lang="fr-FR" dirty="0" smtClean="0">
                <a:solidFill>
                  <a:schemeClr val="accent1">
                    <a:lumMod val="75000"/>
                  </a:schemeClr>
                </a:solidFill>
              </a:rPr>
              <a:t>;</a:t>
            </a:r>
          </a:p>
          <a:p>
            <a:r>
              <a:rPr lang="fr-FR" dirty="0" smtClean="0">
                <a:solidFill>
                  <a:schemeClr val="accent1">
                    <a:lumMod val="75000"/>
                  </a:schemeClr>
                </a:solidFill>
              </a:rPr>
              <a:t>}</a:t>
            </a:r>
            <a:endParaRPr lang="fr-FR" dirty="0">
              <a:solidFill>
                <a:schemeClr val="accent1">
                  <a:lumMod val="75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5"/>
          <p:cNvSpPr txBox="1"/>
          <p:nvPr/>
        </p:nvSpPr>
        <p:spPr>
          <a:xfrm>
            <a:off x="329680" y="152400"/>
            <a:ext cx="8280920" cy="461665"/>
          </a:xfrm>
          <a:prstGeom prst="rect">
            <a:avLst/>
          </a:prstGeom>
          <a:noFill/>
        </p:spPr>
        <p:txBody>
          <a:bodyPr wrap="square" rtlCol="0">
            <a:spAutoFit/>
          </a:bodyPr>
          <a:lstStyle/>
          <a:p>
            <a:r>
              <a:rPr lang="fr-FR" sz="2400" b="1" u="sng" dirty="0" smtClean="0"/>
              <a:t>B. Formatage de texte </a:t>
            </a:r>
          </a:p>
        </p:txBody>
      </p:sp>
      <p:sp>
        <p:nvSpPr>
          <p:cNvPr id="5" name="Rectangle 4"/>
          <p:cNvSpPr/>
          <p:nvPr/>
        </p:nvSpPr>
        <p:spPr>
          <a:xfrm>
            <a:off x="304800" y="609600"/>
            <a:ext cx="8610600" cy="646331"/>
          </a:xfrm>
          <a:prstGeom prst="rect">
            <a:avLst/>
          </a:prstGeom>
        </p:spPr>
        <p:txBody>
          <a:bodyPr wrap="square">
            <a:spAutoFit/>
          </a:bodyPr>
          <a:lstStyle/>
          <a:p>
            <a:r>
              <a:rPr lang="fr-FR" b="1" dirty="0" smtClean="0"/>
              <a:t>Le formatage de texte </a:t>
            </a:r>
            <a:r>
              <a:rPr lang="fr-FR" dirty="0" smtClean="0"/>
              <a:t>signifie que l'on va modifier l'apparence du texte (on dit qu'on le </a:t>
            </a:r>
          </a:p>
          <a:p>
            <a:r>
              <a:rPr lang="fr-FR" dirty="0" smtClean="0"/>
              <a:t>« met en forme »).</a:t>
            </a:r>
            <a:endParaRPr lang="fr-FR" dirty="0"/>
          </a:p>
        </p:txBody>
      </p:sp>
      <p:sp>
        <p:nvSpPr>
          <p:cNvPr id="6" name="Rectangle 5"/>
          <p:cNvSpPr/>
          <p:nvPr/>
        </p:nvSpPr>
        <p:spPr>
          <a:xfrm>
            <a:off x="304800" y="1352490"/>
            <a:ext cx="1264192" cy="400110"/>
          </a:xfrm>
          <a:prstGeom prst="rect">
            <a:avLst/>
          </a:prstGeom>
        </p:spPr>
        <p:txBody>
          <a:bodyPr wrap="none">
            <a:spAutoFit/>
          </a:bodyPr>
          <a:lstStyle/>
          <a:p>
            <a:r>
              <a:rPr lang="fr-FR" sz="2000" b="1" dirty="0" smtClean="0"/>
              <a:t>1. </a:t>
            </a:r>
            <a:r>
              <a:rPr lang="fr-FR" sz="2000" b="1" u="sng" dirty="0" smtClean="0"/>
              <a:t>La taille</a:t>
            </a:r>
            <a:endParaRPr lang="fr-FR" sz="2000" b="1" u="sng" dirty="0"/>
          </a:p>
        </p:txBody>
      </p:sp>
      <p:sp>
        <p:nvSpPr>
          <p:cNvPr id="1025" name="Rectangle 1"/>
          <p:cNvSpPr>
            <a:spLocks noChangeArrowheads="1"/>
          </p:cNvSpPr>
          <p:nvPr/>
        </p:nvSpPr>
        <p:spPr bwMode="auto">
          <a:xfrm>
            <a:off x="152400" y="1828800"/>
            <a:ext cx="8763000" cy="2059510"/>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Pour modifier la taille du texte, on utilise la propriété CSS </a:t>
            </a:r>
            <a:r>
              <a:rPr kumimoji="0" lang="fr-FR" sz="1600" b="1" i="0" u="none" strike="noStrike" cap="none" normalizeH="0" baseline="0" dirty="0" smtClean="0">
                <a:ln>
                  <a:noFill/>
                </a:ln>
                <a:solidFill>
                  <a:srgbClr val="FF0000"/>
                </a:solidFill>
                <a:effectLst/>
                <a:cs typeface="Courier New" pitchFamily="49" charset="0"/>
              </a:rPr>
              <a:t>font-size</a:t>
            </a:r>
            <a:r>
              <a:rPr kumimoji="0" lang="fr-FR" sz="1600" b="0" i="0" u="none" strike="noStrike" cap="none" normalizeH="0" baseline="0" dirty="0" smtClean="0">
                <a:ln>
                  <a:noFill/>
                </a:ln>
                <a:solidFill>
                  <a:schemeClr val="tx1"/>
                </a:solidFill>
                <a:effectLst/>
                <a:cs typeface="Arial" pitchFamily="34" charset="0"/>
              </a:rPr>
              <a:t>. Pour se faire plusieurs techniques sont proposées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Indiquer une </a:t>
            </a:r>
            <a:r>
              <a:rPr kumimoji="0" lang="fr-FR" sz="1600" b="1" i="0" u="none" strike="noStrike" cap="none" normalizeH="0" baseline="0" dirty="0" smtClean="0">
                <a:ln>
                  <a:noFill/>
                </a:ln>
                <a:solidFill>
                  <a:srgbClr val="000000"/>
                </a:solidFill>
                <a:effectLst/>
                <a:cs typeface="Arial" pitchFamily="34" charset="0"/>
              </a:rPr>
              <a:t>taille absolue</a:t>
            </a:r>
            <a:r>
              <a:rPr kumimoji="0" lang="fr-FR" sz="1600" b="0" i="0" u="none" strike="noStrike" cap="none" normalizeH="0" baseline="0" dirty="0" smtClean="0">
                <a:ln>
                  <a:noFill/>
                </a:ln>
                <a:solidFill>
                  <a:srgbClr val="000000"/>
                </a:solidFill>
                <a:effectLst/>
                <a:cs typeface="Arial" pitchFamily="34" charset="0"/>
              </a:rPr>
              <a:t> : en pixels, en centimètres ou millimètres. Cette méthode est très précise mais il est conseillé de ne l'utiliser que si c'est absolument nécessaire, car on risque d'indiquer une taille trop petite pour certains lecteurs.</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Indiquer une </a:t>
            </a:r>
            <a:r>
              <a:rPr kumimoji="0" lang="fr-FR" sz="1600" b="1" i="0" u="none" strike="noStrike" cap="none" normalizeH="0" baseline="0" dirty="0" smtClean="0">
                <a:ln>
                  <a:noFill/>
                </a:ln>
                <a:solidFill>
                  <a:srgbClr val="000000"/>
                </a:solidFill>
                <a:effectLst/>
                <a:cs typeface="Arial" pitchFamily="34" charset="0"/>
              </a:rPr>
              <a:t>taille relative</a:t>
            </a:r>
            <a:r>
              <a:rPr kumimoji="0" lang="fr-FR" sz="1600" b="0" i="0" u="none" strike="noStrike" cap="none" normalizeH="0" baseline="0" dirty="0" smtClean="0">
                <a:ln>
                  <a:noFill/>
                </a:ln>
                <a:solidFill>
                  <a:srgbClr val="000000"/>
                </a:solidFill>
                <a:effectLst/>
                <a:cs typeface="Arial" pitchFamily="34" charset="0"/>
              </a:rPr>
              <a:t> : en pourcentage, « </a:t>
            </a:r>
            <a:r>
              <a:rPr kumimoji="0" lang="fr-FR" sz="1600" b="0" i="0" u="none" strike="noStrike" cap="none" normalizeH="0" baseline="0" dirty="0" err="1" smtClean="0">
                <a:ln>
                  <a:noFill/>
                </a:ln>
                <a:solidFill>
                  <a:srgbClr val="000000"/>
                </a:solidFill>
                <a:effectLst/>
                <a:cs typeface="Arial" pitchFamily="34" charset="0"/>
              </a:rPr>
              <a:t>em</a:t>
            </a:r>
            <a:r>
              <a:rPr kumimoji="0" lang="fr-FR" sz="1600" b="0" i="0" u="none" strike="noStrike" cap="none" normalizeH="0" baseline="0" dirty="0" smtClean="0">
                <a:ln>
                  <a:noFill/>
                </a:ln>
                <a:solidFill>
                  <a:srgbClr val="000000"/>
                </a:solidFill>
                <a:effectLst/>
                <a:cs typeface="Arial" pitchFamily="34" charset="0"/>
              </a:rPr>
              <a:t> » ou « ex », cette technique a l'avantage d'être plus souple. Elle s'adapte plus facilement aux préférences de taille des visiteurs.</a:t>
            </a:r>
          </a:p>
        </p:txBody>
      </p:sp>
      <p:sp>
        <p:nvSpPr>
          <p:cNvPr id="8" name="Rectangle 7"/>
          <p:cNvSpPr/>
          <p:nvPr/>
        </p:nvSpPr>
        <p:spPr>
          <a:xfrm>
            <a:off x="457200" y="3886200"/>
            <a:ext cx="2351349" cy="400110"/>
          </a:xfrm>
          <a:prstGeom prst="rect">
            <a:avLst/>
          </a:prstGeom>
        </p:spPr>
        <p:txBody>
          <a:bodyPr wrap="none">
            <a:spAutoFit/>
          </a:bodyPr>
          <a:lstStyle/>
          <a:p>
            <a:r>
              <a:rPr lang="fr-FR" sz="2000" b="1" smtClean="0"/>
              <a:t>a. </a:t>
            </a:r>
            <a:r>
              <a:rPr lang="fr-FR" sz="2000" b="1" u="sng" smtClean="0"/>
              <a:t>Une taille absolue</a:t>
            </a:r>
            <a:endParaRPr lang="fr-FR" sz="2000" b="1" u="sng" dirty="0"/>
          </a:p>
        </p:txBody>
      </p:sp>
      <p:sp>
        <p:nvSpPr>
          <p:cNvPr id="9" name="Rectangle 8"/>
          <p:cNvSpPr/>
          <p:nvPr/>
        </p:nvSpPr>
        <p:spPr>
          <a:xfrm>
            <a:off x="152400" y="4343400"/>
            <a:ext cx="8763000" cy="584775"/>
          </a:xfrm>
          <a:prstGeom prst="rect">
            <a:avLst/>
          </a:prstGeom>
        </p:spPr>
        <p:txBody>
          <a:bodyPr wrap="square">
            <a:spAutoFit/>
          </a:bodyPr>
          <a:lstStyle/>
          <a:p>
            <a:pPr lvl="0" eaLnBrk="0" fontAlgn="base" hangingPunct="0">
              <a:spcBef>
                <a:spcPct val="0"/>
              </a:spcBef>
              <a:spcAft>
                <a:spcPct val="0"/>
              </a:spcAft>
            </a:pPr>
            <a:r>
              <a:rPr lang="fr-FR" sz="1600" dirty="0" smtClean="0">
                <a:cs typeface="Arial" pitchFamily="34" charset="0"/>
              </a:rPr>
              <a:t>Pour indiquer une taille absolue, on utilise généralement les pixels. Pour avoir un texte de 16 pixels de hauteur, vous devez donc écrire :</a:t>
            </a:r>
          </a:p>
        </p:txBody>
      </p:sp>
      <p:sp>
        <p:nvSpPr>
          <p:cNvPr id="10" name="Rectangle 9"/>
          <p:cNvSpPr/>
          <p:nvPr/>
        </p:nvSpPr>
        <p:spPr>
          <a:xfrm>
            <a:off x="228600" y="4953000"/>
            <a:ext cx="1640577" cy="369332"/>
          </a:xfrm>
          <a:prstGeom prst="rect">
            <a:avLst/>
          </a:prstGeom>
        </p:spPr>
        <p:txBody>
          <a:bodyPr wrap="none">
            <a:spAutoFit/>
          </a:bodyPr>
          <a:lstStyle/>
          <a:p>
            <a:r>
              <a:rPr lang="fr-FR" b="1" dirty="0" smtClean="0">
                <a:solidFill>
                  <a:schemeClr val="tx2">
                    <a:lumMod val="60000"/>
                    <a:lumOff val="40000"/>
                  </a:schemeClr>
                </a:solidFill>
              </a:rPr>
              <a:t>font-size: 16px;</a:t>
            </a:r>
            <a:endParaRPr lang="fr-FR" b="1" dirty="0">
              <a:solidFill>
                <a:schemeClr val="tx2">
                  <a:lumMod val="60000"/>
                  <a:lumOff val="40000"/>
                </a:schemeClr>
              </a:solidFill>
            </a:endParaRPr>
          </a:p>
        </p:txBody>
      </p:sp>
      <p:sp>
        <p:nvSpPr>
          <p:cNvPr id="11" name="Rectangle 10"/>
          <p:cNvSpPr/>
          <p:nvPr/>
        </p:nvSpPr>
        <p:spPr>
          <a:xfrm>
            <a:off x="304800" y="5334000"/>
            <a:ext cx="8686800" cy="369332"/>
          </a:xfrm>
          <a:prstGeom prst="rect">
            <a:avLst/>
          </a:prstGeom>
        </p:spPr>
        <p:txBody>
          <a:bodyPr wrap="square">
            <a:spAutoFit/>
          </a:bodyPr>
          <a:lstStyle/>
          <a:p>
            <a:r>
              <a:rPr lang="fr-FR" dirty="0" smtClean="0"/>
              <a:t>Les lettres auront une taille de 16 pixels, comme le montre la figure suivante.</a:t>
            </a:r>
            <a:endParaRPr lang="fr-FR" dirty="0"/>
          </a:p>
        </p:txBody>
      </p:sp>
      <p:pic>
        <p:nvPicPr>
          <p:cNvPr id="12" name="Picture 11" descr="6.jpg"/>
          <p:cNvPicPr>
            <a:picLocks noChangeAspect="1"/>
          </p:cNvPicPr>
          <p:nvPr/>
        </p:nvPicPr>
        <p:blipFill>
          <a:blip r:embed="rId2"/>
          <a:stretch>
            <a:fillRect/>
          </a:stretch>
        </p:blipFill>
        <p:spPr>
          <a:xfrm>
            <a:off x="3352800" y="5761672"/>
            <a:ext cx="1447800" cy="922973"/>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304800"/>
            <a:ext cx="6059416" cy="369332"/>
          </a:xfrm>
          <a:prstGeom prst="rect">
            <a:avLst/>
          </a:prstGeom>
          <a:noFill/>
        </p:spPr>
        <p:txBody>
          <a:bodyPr wrap="none" rtlCol="0">
            <a:spAutoFit/>
          </a:bodyPr>
          <a:lstStyle/>
          <a:p>
            <a:r>
              <a:rPr lang="fr-FR" dirty="0" smtClean="0"/>
              <a:t>Ci-dessous un exemple d’utilisation à tester dans le fichier .</a:t>
            </a:r>
            <a:r>
              <a:rPr lang="fr-FR" dirty="0" err="1" smtClean="0"/>
              <a:t>css</a:t>
            </a:r>
            <a:r>
              <a:rPr lang="fr-FR" dirty="0" smtClean="0"/>
              <a:t>:</a:t>
            </a:r>
            <a:endParaRPr lang="fr-FR" dirty="0"/>
          </a:p>
        </p:txBody>
      </p:sp>
      <p:sp>
        <p:nvSpPr>
          <p:cNvPr id="6" name="Rectangle 5"/>
          <p:cNvSpPr/>
          <p:nvPr/>
        </p:nvSpPr>
        <p:spPr>
          <a:xfrm>
            <a:off x="304800" y="685800"/>
            <a:ext cx="4572000" cy="2062103"/>
          </a:xfrm>
          <a:prstGeom prst="rect">
            <a:avLst/>
          </a:prstGeom>
        </p:spPr>
        <p:txBody>
          <a:bodyPr>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font-size: 14px; /* Paragraphes de 14 pixels */</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h1</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font-size: 40px; /* Titres de 40 pixels */</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7" name="Rectangle 6"/>
          <p:cNvSpPr/>
          <p:nvPr/>
        </p:nvSpPr>
        <p:spPr>
          <a:xfrm>
            <a:off x="457200" y="2819400"/>
            <a:ext cx="2470356" cy="400110"/>
          </a:xfrm>
          <a:prstGeom prst="rect">
            <a:avLst/>
          </a:prstGeom>
        </p:spPr>
        <p:txBody>
          <a:bodyPr wrap="none">
            <a:spAutoFit/>
          </a:bodyPr>
          <a:lstStyle/>
          <a:p>
            <a:r>
              <a:rPr lang="fr-FR" sz="2000" b="1" dirty="0" smtClean="0"/>
              <a:t>b. </a:t>
            </a:r>
            <a:r>
              <a:rPr lang="fr-FR" sz="2000" b="1" u="sng" dirty="0" smtClean="0"/>
              <a:t>Une valeur relative</a:t>
            </a:r>
            <a:endParaRPr lang="fr-FR" sz="2000" b="1" u="sng" dirty="0"/>
          </a:p>
        </p:txBody>
      </p:sp>
      <p:sp>
        <p:nvSpPr>
          <p:cNvPr id="25601" name="Rectangle 1"/>
          <p:cNvSpPr>
            <a:spLocks noChangeArrowheads="1"/>
          </p:cNvSpPr>
          <p:nvPr/>
        </p:nvSpPr>
        <p:spPr bwMode="auto">
          <a:xfrm>
            <a:off x="76200" y="3276600"/>
            <a:ext cx="8915400" cy="280076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C'est la méthode recommandée car le texte s'adapte alors plus facilement aux préférences de tous les visiteurs.</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Il y a plusieurs moyens d'indiquer une valeur relative. Vous pouvez par exemple écrire la taille avec des mots en anglais comme ceux-ci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xx-</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small</a:t>
            </a:r>
            <a:r>
              <a:rPr kumimoji="0" lang="fr-FR" sz="1600" b="1" i="0" u="none" strike="noStrike" cap="none" normalizeH="0" baseline="0" dirty="0" smtClean="0">
                <a:ln>
                  <a:noFill/>
                </a:ln>
                <a:solidFill>
                  <a:schemeClr val="tx2">
                    <a:lumMod val="60000"/>
                    <a:lumOff val="40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minuscule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x-</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small</a:t>
            </a:r>
            <a:r>
              <a:rPr kumimoji="0" lang="fr-FR" sz="1600" b="1" i="0" u="none" strike="noStrike" cap="none" normalizeH="0" baseline="0" dirty="0" smtClean="0">
                <a:ln>
                  <a:noFill/>
                </a:ln>
                <a:solidFill>
                  <a:schemeClr val="tx2">
                    <a:lumMod val="60000"/>
                    <a:lumOff val="40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très petit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small</a:t>
            </a:r>
            <a:r>
              <a:rPr kumimoji="0" lang="fr-FR" sz="1600" b="1" i="0" u="none" strike="noStrike" cap="none" normalizeH="0" baseline="0" dirty="0" smtClean="0">
                <a:ln>
                  <a:noFill/>
                </a:ln>
                <a:solidFill>
                  <a:schemeClr val="tx2">
                    <a:lumMod val="60000"/>
                    <a:lumOff val="40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petit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medium</a:t>
            </a:r>
            <a:r>
              <a:rPr kumimoji="0" lang="fr-FR" sz="1600" b="1" i="0" u="none" strike="noStrike" cap="none" normalizeH="0" baseline="0" dirty="0" smtClean="0">
                <a:ln>
                  <a:noFill/>
                </a:ln>
                <a:solidFill>
                  <a:schemeClr val="tx2">
                    <a:lumMod val="60000"/>
                    <a:lumOff val="40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moyen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large</a:t>
            </a:r>
            <a:r>
              <a:rPr kumimoji="0" lang="fr-FR" sz="1600" b="1" i="0" u="none" strike="noStrike" cap="none" normalizeH="0" baseline="0" dirty="0" smtClean="0">
                <a:ln>
                  <a:noFill/>
                </a:ln>
                <a:solidFill>
                  <a:schemeClr val="tx2">
                    <a:lumMod val="60000"/>
                    <a:lumOff val="40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grand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x-large</a:t>
            </a:r>
            <a:r>
              <a:rPr kumimoji="0" lang="fr-FR" sz="1600" b="1" i="0" u="none" strike="noStrike" cap="none" normalizeH="0" baseline="0" dirty="0" smtClean="0">
                <a:ln>
                  <a:noFill/>
                </a:ln>
                <a:solidFill>
                  <a:schemeClr val="tx2">
                    <a:lumMod val="60000"/>
                    <a:lumOff val="40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très grand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xx-large</a:t>
            </a:r>
            <a:r>
              <a:rPr kumimoji="0" lang="fr-FR" sz="1600" b="1" i="0" u="none" strike="noStrike" cap="none" normalizeH="0" baseline="0" dirty="0" smtClean="0">
                <a:ln>
                  <a:noFill/>
                </a:ln>
                <a:solidFill>
                  <a:schemeClr val="tx2">
                    <a:lumMod val="60000"/>
                    <a:lumOff val="40000"/>
                  </a:schemeClr>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euh… gigantesque.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18646"/>
            <a:ext cx="8686800" cy="338554"/>
          </a:xfrm>
          <a:prstGeom prst="rect">
            <a:avLst/>
          </a:prstGeom>
          <a:noFill/>
        </p:spPr>
        <p:txBody>
          <a:bodyPr wrap="square" rtlCol="0">
            <a:spAutoFit/>
          </a:bodyPr>
          <a:lstStyle/>
          <a:p>
            <a:r>
              <a:rPr lang="fr-FR" sz="1600" u="sng" dirty="0" smtClean="0"/>
              <a:t>Exemple d’utilisation:</a:t>
            </a:r>
          </a:p>
        </p:txBody>
      </p:sp>
      <p:sp>
        <p:nvSpPr>
          <p:cNvPr id="5" name="TextBox 4"/>
          <p:cNvSpPr txBox="1"/>
          <p:nvPr/>
        </p:nvSpPr>
        <p:spPr>
          <a:xfrm>
            <a:off x="228600" y="376297"/>
            <a:ext cx="1671035" cy="2062103"/>
          </a:xfrm>
          <a:prstGeom prst="rect">
            <a:avLst/>
          </a:prstGeom>
          <a:noFill/>
        </p:spPr>
        <p:txBody>
          <a:bodyPr wrap="none" rtlCol="0">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font-size: </a:t>
            </a:r>
            <a:r>
              <a:rPr lang="fr-FR" sz="1600" dirty="0" err="1" smtClean="0">
                <a:solidFill>
                  <a:schemeClr val="tx2">
                    <a:lumMod val="60000"/>
                    <a:lumOff val="40000"/>
                  </a:schemeClr>
                </a:solidFill>
              </a:rPr>
              <a:t>small</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h1</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font-size: large;</a:t>
            </a:r>
          </a:p>
          <a:p>
            <a:r>
              <a:rPr lang="fr-FR" sz="1600" dirty="0" smtClean="0">
                <a:solidFill>
                  <a:schemeClr val="tx2">
                    <a:lumMod val="60000"/>
                    <a:lumOff val="40000"/>
                  </a:schemeClr>
                </a:solidFill>
              </a:rPr>
              <a:t>}</a:t>
            </a:r>
          </a:p>
        </p:txBody>
      </p:sp>
      <p:sp>
        <p:nvSpPr>
          <p:cNvPr id="26625" name="Rectangle 1"/>
          <p:cNvSpPr>
            <a:spLocks noChangeArrowheads="1"/>
          </p:cNvSpPr>
          <p:nvPr/>
        </p:nvSpPr>
        <p:spPr bwMode="auto">
          <a:xfrm>
            <a:off x="152400" y="2410361"/>
            <a:ext cx="8839200" cy="1323439"/>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Cette technique a un défaut : il n'y a que sept tailles disponibles (car il n'y a que sept noms). </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Il existe d'autres moyens. La meilleure technique consiste à indiquer la taille en « </a:t>
            </a:r>
            <a:r>
              <a:rPr kumimoji="0" lang="fr-FR" sz="1600" b="0" i="0" u="none" strike="noStrike" cap="none" normalizeH="0" baseline="0" dirty="0" err="1" smtClean="0">
                <a:ln>
                  <a:noFill/>
                </a:ln>
                <a:solidFill>
                  <a:schemeClr val="tx1"/>
                </a:solidFill>
                <a:effectLst/>
                <a:cs typeface="Arial" pitchFamily="34" charset="0"/>
              </a:rPr>
              <a:t>em</a:t>
            </a:r>
            <a:r>
              <a:rPr kumimoji="0" lang="fr-FR" sz="1600" b="0" i="0" u="none" strike="noStrike" cap="none" normalizeH="0" baseline="0" dirty="0" smtClean="0">
                <a:ln>
                  <a:noFill/>
                </a:ln>
                <a:solidFill>
                  <a:schemeClr val="tx1"/>
                </a:solidFill>
                <a:effectLst/>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Si vous écrivez </a:t>
            </a:r>
            <a:r>
              <a:rPr kumimoji="0" lang="fr-FR" sz="1600" b="0" i="0" u="none" strike="noStrike" cap="none" normalizeH="0" baseline="0" dirty="0" smtClean="0">
                <a:ln>
                  <a:noFill/>
                </a:ln>
                <a:solidFill>
                  <a:srgbClr val="000000"/>
                </a:solidFill>
                <a:effectLst/>
                <a:cs typeface="Courier New" pitchFamily="49" charset="0"/>
              </a:rPr>
              <a:t>1em</a:t>
            </a:r>
            <a:r>
              <a:rPr kumimoji="0" lang="fr-FR" sz="1600" b="0" i="0" u="none" strike="noStrike" cap="none" normalizeH="0" baseline="0" dirty="0" smtClean="0">
                <a:ln>
                  <a:noFill/>
                </a:ln>
                <a:solidFill>
                  <a:srgbClr val="000000"/>
                </a:solidFill>
                <a:effectLst/>
                <a:cs typeface="Arial" pitchFamily="34" charset="0"/>
              </a:rPr>
              <a:t>, le texte a une taille normale.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Si vous voulez grossir le texte, vous pouvez inscrire une valeur supérieure à 1, comme </a:t>
            </a:r>
            <a:r>
              <a:rPr kumimoji="0" lang="fr-FR" sz="1600" b="0" i="0" u="none" strike="noStrike" cap="none" normalizeH="0" baseline="0" dirty="0" smtClean="0">
                <a:ln>
                  <a:noFill/>
                </a:ln>
                <a:solidFill>
                  <a:srgbClr val="000000"/>
                </a:solidFill>
                <a:effectLst/>
                <a:cs typeface="Courier New" pitchFamily="49" charset="0"/>
              </a:rPr>
              <a:t>1.3em</a:t>
            </a:r>
            <a:r>
              <a:rPr kumimoji="0" lang="fr-FR" sz="1600" b="0" i="0" u="none" strike="noStrike" cap="none" normalizeH="0" baseline="0" dirty="0" smtClean="0">
                <a:ln>
                  <a:noFill/>
                </a:ln>
                <a:solidFill>
                  <a:srgbClr val="000000"/>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Si vous voulez réduire le texte, inscrivez une valeur inférieure à 1, comme </a:t>
            </a:r>
            <a:r>
              <a:rPr kumimoji="0" lang="fr-FR" sz="1600" b="0" i="0" u="none" strike="noStrike" cap="none" normalizeH="0" baseline="0" dirty="0" smtClean="0">
                <a:ln>
                  <a:noFill/>
                </a:ln>
                <a:solidFill>
                  <a:srgbClr val="000000"/>
                </a:solidFill>
                <a:effectLst/>
                <a:cs typeface="Courier New" pitchFamily="49" charset="0"/>
              </a:rPr>
              <a:t>0.8em</a:t>
            </a:r>
            <a:r>
              <a:rPr kumimoji="0" lang="fr-FR" sz="1600" b="0" i="0" u="none" strike="noStrike" cap="none" normalizeH="0" baseline="0" dirty="0" smtClean="0">
                <a:ln>
                  <a:noFill/>
                </a:ln>
                <a:solidFill>
                  <a:srgbClr val="000000"/>
                </a:solidFill>
                <a:effectLst/>
                <a:cs typeface="Arial" pitchFamily="34" charset="0"/>
              </a:rPr>
              <a:t>.</a:t>
            </a:r>
          </a:p>
        </p:txBody>
      </p:sp>
      <p:sp>
        <p:nvSpPr>
          <p:cNvPr id="7" name="Rectangle 6"/>
          <p:cNvSpPr/>
          <p:nvPr/>
        </p:nvSpPr>
        <p:spPr>
          <a:xfrm>
            <a:off x="152400" y="3758625"/>
            <a:ext cx="8763000" cy="584775"/>
          </a:xfrm>
          <a:prstGeom prst="rect">
            <a:avLst/>
          </a:prstGeom>
        </p:spPr>
        <p:txBody>
          <a:bodyPr wrap="square">
            <a:spAutoFit/>
          </a:bodyPr>
          <a:lstStyle/>
          <a:p>
            <a:r>
              <a:rPr lang="fr-FR" sz="1600" dirty="0" smtClean="0">
                <a:solidFill>
                  <a:srgbClr val="FF0000"/>
                </a:solidFill>
              </a:rPr>
              <a:t>Faites attention : pour les nombres décimaux, il faut mettre un point et non une virgule. Vous devez donc écrire « 1.4em » et non pas « 1,4em » !</a:t>
            </a:r>
            <a:endParaRPr lang="fr-FR" sz="1600" dirty="0">
              <a:solidFill>
                <a:srgbClr val="FF0000"/>
              </a:solidFill>
            </a:endParaRPr>
          </a:p>
        </p:txBody>
      </p:sp>
      <p:sp>
        <p:nvSpPr>
          <p:cNvPr id="8" name="TextBox 7"/>
          <p:cNvSpPr txBox="1"/>
          <p:nvPr/>
        </p:nvSpPr>
        <p:spPr>
          <a:xfrm>
            <a:off x="381000" y="4343400"/>
            <a:ext cx="8686800" cy="338554"/>
          </a:xfrm>
          <a:prstGeom prst="rect">
            <a:avLst/>
          </a:prstGeom>
          <a:noFill/>
        </p:spPr>
        <p:txBody>
          <a:bodyPr wrap="square" rtlCol="0">
            <a:spAutoFit/>
          </a:bodyPr>
          <a:lstStyle/>
          <a:p>
            <a:r>
              <a:rPr lang="fr-FR" sz="1600" u="sng" dirty="0" smtClean="0"/>
              <a:t>Exemple d’utilisation:</a:t>
            </a:r>
          </a:p>
        </p:txBody>
      </p:sp>
      <p:sp>
        <p:nvSpPr>
          <p:cNvPr id="9" name="Rectangle 8"/>
          <p:cNvSpPr/>
          <p:nvPr/>
        </p:nvSpPr>
        <p:spPr>
          <a:xfrm>
            <a:off x="228600" y="4648200"/>
            <a:ext cx="8458200" cy="2062103"/>
          </a:xfrm>
          <a:prstGeom prst="rect">
            <a:avLst/>
          </a:prstGeom>
        </p:spPr>
        <p:txBody>
          <a:bodyPr wrap="square">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font-size: 0.8em;</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h1</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font-size: 1.3em;</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76200"/>
            <a:ext cx="1372492" cy="400110"/>
          </a:xfrm>
          <a:prstGeom prst="rect">
            <a:avLst/>
          </a:prstGeom>
        </p:spPr>
        <p:txBody>
          <a:bodyPr wrap="none">
            <a:spAutoFit/>
          </a:bodyPr>
          <a:lstStyle/>
          <a:p>
            <a:r>
              <a:rPr lang="fr-FR" sz="2000" b="1" dirty="0" smtClean="0"/>
              <a:t>2. </a:t>
            </a:r>
            <a:r>
              <a:rPr lang="fr-FR" sz="2000" b="1" u="sng" dirty="0" smtClean="0"/>
              <a:t>La police</a:t>
            </a:r>
            <a:endParaRPr lang="fr-FR" sz="2000" b="1" u="sng" dirty="0"/>
          </a:p>
        </p:txBody>
      </p:sp>
      <p:sp>
        <p:nvSpPr>
          <p:cNvPr id="5" name="Rectangle 4"/>
          <p:cNvSpPr/>
          <p:nvPr/>
        </p:nvSpPr>
        <p:spPr>
          <a:xfrm>
            <a:off x="304800" y="533400"/>
            <a:ext cx="8610600" cy="1077218"/>
          </a:xfrm>
          <a:prstGeom prst="rect">
            <a:avLst/>
          </a:prstGeom>
        </p:spPr>
        <p:txBody>
          <a:bodyPr wrap="square">
            <a:spAutoFit/>
          </a:bodyPr>
          <a:lstStyle/>
          <a:p>
            <a:r>
              <a:rPr lang="fr-FR" sz="1600" dirty="0" smtClean="0"/>
              <a:t>Dans la gestion des polices, il se pose un problème : pour qu'une police s'affiche correctement, il faut que tous les internautes l'aient. Si un internaute n'a pas la même police que vous, son navigateur prendra une police par défaut (une police standard) qui n'aura peut-être rien à voir avec ce à quoi vous vous attendiez.</a:t>
            </a:r>
          </a:p>
        </p:txBody>
      </p:sp>
      <p:sp>
        <p:nvSpPr>
          <p:cNvPr id="6" name="Rectangle 5"/>
          <p:cNvSpPr/>
          <p:nvPr/>
        </p:nvSpPr>
        <p:spPr>
          <a:xfrm>
            <a:off x="381000" y="1795046"/>
            <a:ext cx="2343911" cy="338554"/>
          </a:xfrm>
          <a:prstGeom prst="rect">
            <a:avLst/>
          </a:prstGeom>
        </p:spPr>
        <p:txBody>
          <a:bodyPr wrap="none">
            <a:spAutoFit/>
          </a:bodyPr>
          <a:lstStyle/>
          <a:p>
            <a:r>
              <a:rPr lang="fr-FR" sz="1600" b="1" u="sng" dirty="0" smtClean="0"/>
              <a:t>Modifier la police utilisée</a:t>
            </a:r>
            <a:endParaRPr lang="fr-FR" sz="1600" b="1" u="sng" dirty="0"/>
          </a:p>
        </p:txBody>
      </p:sp>
      <p:sp>
        <p:nvSpPr>
          <p:cNvPr id="27649" name="Rectangle 1"/>
          <p:cNvSpPr>
            <a:spLocks noChangeArrowheads="1"/>
          </p:cNvSpPr>
          <p:nvPr/>
        </p:nvSpPr>
        <p:spPr bwMode="auto">
          <a:xfrm>
            <a:off x="152400" y="2209800"/>
            <a:ext cx="88392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propriété CSS qui permet d'indiquer la police à utiliser est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font-</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family</a:t>
            </a:r>
            <a:r>
              <a:rPr kumimoji="0" lang="fr-FR" sz="1600" b="0" i="0" u="none" strike="noStrike" cap="none" normalizeH="0" baseline="0" dirty="0" smtClean="0">
                <a:ln>
                  <a:noFill/>
                </a:ln>
                <a:solidFill>
                  <a:schemeClr val="tx1"/>
                </a:solidFill>
                <a:effectLst/>
                <a:cs typeface="Arial" pitchFamily="34" charset="0"/>
              </a:rPr>
              <a:t>. Vous devez écrire le nom de la police comme ceci : </a:t>
            </a:r>
          </a:p>
        </p:txBody>
      </p:sp>
      <p:sp>
        <p:nvSpPr>
          <p:cNvPr id="8" name="Rectangle 7"/>
          <p:cNvSpPr/>
          <p:nvPr/>
        </p:nvSpPr>
        <p:spPr>
          <a:xfrm>
            <a:off x="228600" y="2819400"/>
            <a:ext cx="4572000" cy="1077218"/>
          </a:xfrm>
          <a:prstGeom prst="rect">
            <a:avLst/>
          </a:prstGeom>
        </p:spPr>
        <p:txBody>
          <a:bodyPr>
            <a:spAutoFit/>
          </a:bodyPr>
          <a:lstStyle/>
          <a:p>
            <a:r>
              <a:rPr lang="fr-FR" sz="1600" dirty="0" smtClean="0">
                <a:solidFill>
                  <a:schemeClr val="tx2">
                    <a:lumMod val="60000"/>
                    <a:lumOff val="40000"/>
                  </a:schemeClr>
                </a:solidFill>
              </a:rPr>
              <a:t>balise</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a:t>
            </a:r>
            <a:r>
              <a:rPr lang="fr-FR" sz="1600" dirty="0" err="1" smtClean="0">
                <a:solidFill>
                  <a:schemeClr val="tx2">
                    <a:lumMod val="60000"/>
                    <a:lumOff val="40000"/>
                  </a:schemeClr>
                </a:solidFill>
              </a:rPr>
              <a:t>family</a:t>
            </a:r>
            <a:r>
              <a:rPr lang="fr-FR" sz="1600" dirty="0" smtClean="0">
                <a:solidFill>
                  <a:schemeClr val="tx2">
                    <a:lumMod val="60000"/>
                    <a:lumOff val="40000"/>
                  </a:schemeClr>
                </a:solidFill>
              </a:rPr>
              <a:t>: police;</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9" name="Rectangle 8"/>
          <p:cNvSpPr/>
          <p:nvPr/>
        </p:nvSpPr>
        <p:spPr>
          <a:xfrm>
            <a:off x="228600" y="3962400"/>
            <a:ext cx="8686800" cy="584775"/>
          </a:xfrm>
          <a:prstGeom prst="rect">
            <a:avLst/>
          </a:prstGeom>
        </p:spPr>
        <p:txBody>
          <a:bodyPr wrap="square">
            <a:spAutoFit/>
          </a:bodyPr>
          <a:lstStyle/>
          <a:p>
            <a:r>
              <a:rPr lang="fr-FR" sz="1600" dirty="0" smtClean="0"/>
              <a:t>Pour éviter les problèmes si l'internaute n'a pas la même police que vous, on précise en général plusieurs noms de police, séparés par des virgules :</a:t>
            </a:r>
            <a:endParaRPr lang="fr-FR" sz="1600" dirty="0"/>
          </a:p>
        </p:txBody>
      </p:sp>
      <p:sp>
        <p:nvSpPr>
          <p:cNvPr id="10" name="Rectangle 9"/>
          <p:cNvSpPr/>
          <p:nvPr/>
        </p:nvSpPr>
        <p:spPr>
          <a:xfrm>
            <a:off x="228600" y="4648200"/>
            <a:ext cx="8686800" cy="1077218"/>
          </a:xfrm>
          <a:prstGeom prst="rect">
            <a:avLst/>
          </a:prstGeom>
        </p:spPr>
        <p:txBody>
          <a:bodyPr wrap="square">
            <a:spAutoFit/>
          </a:bodyPr>
          <a:lstStyle/>
          <a:p>
            <a:r>
              <a:rPr lang="fr-FR" sz="1600" dirty="0" smtClean="0">
                <a:solidFill>
                  <a:schemeClr val="tx2">
                    <a:lumMod val="60000"/>
                    <a:lumOff val="40000"/>
                  </a:schemeClr>
                </a:solidFill>
              </a:rPr>
              <a:t>balise</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a:t>
            </a:r>
            <a:r>
              <a:rPr lang="fr-FR" sz="1600" dirty="0" err="1" smtClean="0">
                <a:solidFill>
                  <a:schemeClr val="tx2">
                    <a:lumMod val="60000"/>
                    <a:lumOff val="40000"/>
                  </a:schemeClr>
                </a:solidFill>
              </a:rPr>
              <a:t>family</a:t>
            </a:r>
            <a:r>
              <a:rPr lang="fr-FR" sz="1600" dirty="0" smtClean="0">
                <a:solidFill>
                  <a:schemeClr val="tx2">
                    <a:lumMod val="60000"/>
                    <a:lumOff val="40000"/>
                  </a:schemeClr>
                </a:solidFill>
              </a:rPr>
              <a:t>: police1, police2, police3, police4;</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ChangeArrowheads="1"/>
          </p:cNvSpPr>
          <p:nvPr/>
        </p:nvSpPr>
        <p:spPr bwMode="auto">
          <a:xfrm>
            <a:off x="76200" y="76200"/>
            <a:ext cx="89154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Le navigateur essaiera d'abord d'utiliser la </a:t>
            </a:r>
            <a:r>
              <a:rPr kumimoji="0" lang="fr-FR" sz="1600" b="0" i="0" u="none" strike="noStrike" cap="none" normalizeH="0" baseline="0" dirty="0" smtClean="0">
                <a:ln>
                  <a:noFill/>
                </a:ln>
                <a:solidFill>
                  <a:schemeClr val="tx1"/>
                </a:solidFill>
                <a:effectLst/>
                <a:cs typeface="Courier New" pitchFamily="49" charset="0"/>
              </a:rPr>
              <a:t>police1</a:t>
            </a:r>
            <a:r>
              <a:rPr kumimoji="0" lang="fr-FR" sz="1600" b="0" i="0" u="none" strike="noStrike" cap="none" normalizeH="0" baseline="0" dirty="0" smtClean="0">
                <a:ln>
                  <a:noFill/>
                </a:ln>
                <a:solidFill>
                  <a:schemeClr val="tx1"/>
                </a:solidFill>
                <a:effectLst/>
                <a:cs typeface="Arial" pitchFamily="34" charset="0"/>
              </a:rPr>
              <a:t>. S'il ne l'a pas, il essaiera la </a:t>
            </a:r>
            <a:r>
              <a:rPr kumimoji="0" lang="fr-FR" sz="1600" b="0" i="0" u="none" strike="noStrike" cap="none" normalizeH="0" baseline="0" dirty="0" smtClean="0">
                <a:ln>
                  <a:noFill/>
                </a:ln>
                <a:solidFill>
                  <a:schemeClr val="tx1"/>
                </a:solidFill>
                <a:effectLst/>
                <a:cs typeface="Courier New" pitchFamily="49" charset="0"/>
              </a:rPr>
              <a:t>police2</a:t>
            </a:r>
            <a:r>
              <a:rPr kumimoji="0" lang="fr-FR" sz="1600" b="0" i="0" u="none" strike="noStrike" cap="none" normalizeH="0" baseline="0" dirty="0" smtClean="0">
                <a:ln>
                  <a:noFill/>
                </a:ln>
                <a:solidFill>
                  <a:schemeClr val="tx1"/>
                </a:solidFill>
                <a:effectLst/>
                <a:cs typeface="Arial" pitchFamily="34" charset="0"/>
              </a:rPr>
              <a:t>. S'il ne l'a pas, il passera à la </a:t>
            </a:r>
            <a:r>
              <a:rPr kumimoji="0" lang="fr-FR" sz="1600" b="0" i="0" u="none" strike="noStrike" cap="none" normalizeH="0" baseline="0" dirty="0" smtClean="0">
                <a:ln>
                  <a:noFill/>
                </a:ln>
                <a:solidFill>
                  <a:schemeClr val="tx1"/>
                </a:solidFill>
                <a:effectLst/>
                <a:cs typeface="Courier New" pitchFamily="49" charset="0"/>
              </a:rPr>
              <a:t>police3</a:t>
            </a:r>
            <a:r>
              <a:rPr kumimoji="0" lang="fr-FR" sz="1600" b="0" i="0" u="none" strike="noStrike" cap="none" normalizeH="0" baseline="0" dirty="0" smtClean="0">
                <a:ln>
                  <a:noFill/>
                </a:ln>
                <a:solidFill>
                  <a:schemeClr val="tx1"/>
                </a:solidFill>
                <a:effectLst/>
                <a:cs typeface="Arial" pitchFamily="34" charset="0"/>
              </a:rPr>
              <a:t>, et ainsi de suite.</a:t>
            </a:r>
          </a:p>
        </p:txBody>
      </p:sp>
      <p:sp>
        <p:nvSpPr>
          <p:cNvPr id="5" name="Rectangle 4"/>
          <p:cNvSpPr/>
          <p:nvPr/>
        </p:nvSpPr>
        <p:spPr>
          <a:xfrm>
            <a:off x="152400" y="849868"/>
            <a:ext cx="8839200" cy="338554"/>
          </a:xfrm>
          <a:prstGeom prst="rect">
            <a:avLst/>
          </a:prstGeom>
        </p:spPr>
        <p:txBody>
          <a:bodyPr wrap="square">
            <a:spAutoFit/>
          </a:bodyPr>
          <a:lstStyle/>
          <a:p>
            <a:r>
              <a:rPr lang="fr-FR" sz="1600" dirty="0" smtClean="0"/>
              <a:t>Voici une liste de polices qui fonctionnent bien sur la plupart des navigateurs :</a:t>
            </a:r>
          </a:p>
        </p:txBody>
      </p:sp>
      <p:sp>
        <p:nvSpPr>
          <p:cNvPr id="6" name="Rectangle 5"/>
          <p:cNvSpPr/>
          <p:nvPr/>
        </p:nvSpPr>
        <p:spPr>
          <a:xfrm>
            <a:off x="228600" y="1295400"/>
            <a:ext cx="8686800" cy="2585323"/>
          </a:xfrm>
          <a:prstGeom prst="rect">
            <a:avLst/>
          </a:prstGeom>
        </p:spPr>
        <p:txBody>
          <a:bodyPr wrap="square">
            <a:spAutoFit/>
          </a:bodyPr>
          <a:lstStyle/>
          <a:p>
            <a:pPr>
              <a:buFont typeface="Arial" pitchFamily="34" charset="0"/>
              <a:buChar char="•"/>
            </a:pPr>
            <a:r>
              <a:rPr lang="en-US" dirty="0" smtClean="0"/>
              <a:t>Arial ;</a:t>
            </a:r>
          </a:p>
          <a:p>
            <a:pPr>
              <a:buFont typeface="Arial" pitchFamily="34" charset="0"/>
              <a:buChar char="•"/>
            </a:pPr>
            <a:r>
              <a:rPr lang="en-US" dirty="0" smtClean="0"/>
              <a:t>Arial Black ;</a:t>
            </a:r>
          </a:p>
          <a:p>
            <a:pPr>
              <a:buFont typeface="Arial" pitchFamily="34" charset="0"/>
              <a:buChar char="•"/>
            </a:pPr>
            <a:r>
              <a:rPr lang="en-US" dirty="0" smtClean="0"/>
              <a:t>Comic Sans MS ;</a:t>
            </a:r>
          </a:p>
          <a:p>
            <a:pPr>
              <a:buFont typeface="Arial" pitchFamily="34" charset="0"/>
              <a:buChar char="•"/>
            </a:pPr>
            <a:r>
              <a:rPr lang="en-US" dirty="0" smtClean="0"/>
              <a:t>Courier New ;</a:t>
            </a:r>
          </a:p>
          <a:p>
            <a:pPr>
              <a:buFont typeface="Arial" pitchFamily="34" charset="0"/>
              <a:buChar char="•"/>
            </a:pPr>
            <a:r>
              <a:rPr lang="en-US" dirty="0" smtClean="0"/>
              <a:t>Georgia ;</a:t>
            </a:r>
          </a:p>
          <a:p>
            <a:pPr>
              <a:buFont typeface="Arial" pitchFamily="34" charset="0"/>
              <a:buChar char="•"/>
            </a:pPr>
            <a:r>
              <a:rPr lang="en-US" dirty="0" smtClean="0"/>
              <a:t>Impact ;</a:t>
            </a:r>
          </a:p>
          <a:p>
            <a:pPr>
              <a:buFont typeface="Arial" pitchFamily="34" charset="0"/>
              <a:buChar char="•"/>
            </a:pPr>
            <a:r>
              <a:rPr lang="en-US" dirty="0" smtClean="0"/>
              <a:t>Times New Roman ;</a:t>
            </a:r>
          </a:p>
          <a:p>
            <a:pPr>
              <a:buFont typeface="Arial" pitchFamily="34" charset="0"/>
              <a:buChar char="•"/>
            </a:pPr>
            <a:r>
              <a:rPr lang="en-US" dirty="0" smtClean="0"/>
              <a:t>Trebuchet MS ;</a:t>
            </a:r>
          </a:p>
          <a:p>
            <a:pPr>
              <a:buFont typeface="Arial" pitchFamily="34" charset="0"/>
              <a:buChar char="•"/>
            </a:pPr>
            <a:r>
              <a:rPr lang="en-US" dirty="0" smtClean="0"/>
              <a:t>Verdana.</a:t>
            </a:r>
            <a:endParaRPr lang="en-US" dirty="0"/>
          </a:p>
        </p:txBody>
      </p:sp>
      <p:sp>
        <p:nvSpPr>
          <p:cNvPr id="7" name="TextBox 6"/>
          <p:cNvSpPr txBox="1"/>
          <p:nvPr/>
        </p:nvSpPr>
        <p:spPr>
          <a:xfrm>
            <a:off x="304800" y="3886200"/>
            <a:ext cx="992003" cy="338554"/>
          </a:xfrm>
          <a:prstGeom prst="rect">
            <a:avLst/>
          </a:prstGeom>
          <a:noFill/>
        </p:spPr>
        <p:txBody>
          <a:bodyPr wrap="none" rtlCol="0">
            <a:spAutoFit/>
          </a:bodyPr>
          <a:lstStyle/>
          <a:p>
            <a:r>
              <a:rPr lang="fr-FR" sz="1600" u="sng" dirty="0" smtClean="0"/>
              <a:t>Exemple :</a:t>
            </a:r>
            <a:endParaRPr lang="fr-FR" sz="1600" u="sng" dirty="0"/>
          </a:p>
        </p:txBody>
      </p:sp>
      <p:sp>
        <p:nvSpPr>
          <p:cNvPr id="8" name="Rectangle 7"/>
          <p:cNvSpPr/>
          <p:nvPr/>
        </p:nvSpPr>
        <p:spPr>
          <a:xfrm>
            <a:off x="304800" y="4256782"/>
            <a:ext cx="8686800" cy="1077218"/>
          </a:xfrm>
          <a:prstGeom prst="rect">
            <a:avLst/>
          </a:prstGeom>
        </p:spPr>
        <p:txBody>
          <a:bodyPr wrap="square">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a:t>
            </a:r>
            <a:r>
              <a:rPr lang="fr-FR" sz="1600" dirty="0" err="1" smtClean="0">
                <a:solidFill>
                  <a:schemeClr val="tx2">
                    <a:lumMod val="60000"/>
                    <a:lumOff val="40000"/>
                  </a:schemeClr>
                </a:solidFill>
              </a:rPr>
              <a:t>family</a:t>
            </a:r>
            <a:r>
              <a:rPr lang="fr-FR" sz="1600" dirty="0" smtClean="0">
                <a:solidFill>
                  <a:schemeClr val="tx2">
                    <a:lumMod val="60000"/>
                    <a:lumOff val="40000"/>
                  </a:schemeClr>
                </a:solidFill>
              </a:rPr>
              <a:t>: Impact, "Arial Black", Arial, </a:t>
            </a:r>
            <a:r>
              <a:rPr lang="fr-FR" sz="1600" dirty="0" err="1" smtClean="0">
                <a:solidFill>
                  <a:schemeClr val="tx2">
                    <a:lumMod val="60000"/>
                    <a:lumOff val="40000"/>
                  </a:schemeClr>
                </a:solidFill>
              </a:rPr>
              <a:t>Verdana</a:t>
            </a:r>
            <a:r>
              <a:rPr lang="fr-FR" sz="1600" dirty="0" smtClean="0">
                <a:solidFill>
                  <a:schemeClr val="tx2">
                    <a:lumMod val="60000"/>
                    <a:lumOff val="40000"/>
                  </a:schemeClr>
                </a:solidFill>
              </a:rPr>
              <a:t>, sans-</a:t>
            </a:r>
            <a:r>
              <a:rPr lang="fr-FR" sz="1600" dirty="0" err="1" smtClean="0">
                <a:solidFill>
                  <a:schemeClr val="tx2">
                    <a:lumMod val="60000"/>
                    <a:lumOff val="40000"/>
                  </a:schemeClr>
                </a:solidFill>
              </a:rPr>
              <a:t>serif</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9" name="Rectangle 8"/>
          <p:cNvSpPr/>
          <p:nvPr/>
        </p:nvSpPr>
        <p:spPr>
          <a:xfrm>
            <a:off x="304800" y="5410200"/>
            <a:ext cx="8686800" cy="646331"/>
          </a:xfrm>
          <a:prstGeom prst="rect">
            <a:avLst/>
          </a:prstGeom>
        </p:spPr>
        <p:txBody>
          <a:bodyPr wrap="square">
            <a:spAutoFit/>
          </a:bodyPr>
          <a:lstStyle/>
          <a:p>
            <a:r>
              <a:rPr lang="fr-FR" dirty="0" smtClean="0"/>
              <a:t>Si le nom de la police comporte des espaces, il est conseillé de l'entourer de guillemets, comme  le cas de  « Arial Black ».</a:t>
            </a:r>
            <a:endParaRPr lang="fr-F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76200"/>
            <a:ext cx="3012235" cy="400110"/>
          </a:xfrm>
          <a:prstGeom prst="rect">
            <a:avLst/>
          </a:prstGeom>
        </p:spPr>
        <p:txBody>
          <a:bodyPr wrap="none">
            <a:spAutoFit/>
          </a:bodyPr>
          <a:lstStyle/>
          <a:p>
            <a:r>
              <a:rPr lang="fr-FR" sz="2000" b="1" dirty="0" smtClean="0"/>
              <a:t>3. </a:t>
            </a:r>
            <a:r>
              <a:rPr lang="fr-FR" sz="2000" b="1" u="sng" dirty="0" smtClean="0"/>
              <a:t>Italique, gras, souligné…</a:t>
            </a:r>
          </a:p>
        </p:txBody>
      </p:sp>
      <p:sp>
        <p:nvSpPr>
          <p:cNvPr id="5" name="Rectangle 4"/>
          <p:cNvSpPr/>
          <p:nvPr/>
        </p:nvSpPr>
        <p:spPr>
          <a:xfrm>
            <a:off x="609600" y="533400"/>
            <a:ext cx="1919628" cy="369332"/>
          </a:xfrm>
          <a:prstGeom prst="rect">
            <a:avLst/>
          </a:prstGeom>
        </p:spPr>
        <p:txBody>
          <a:bodyPr wrap="none">
            <a:spAutoFit/>
          </a:bodyPr>
          <a:lstStyle/>
          <a:p>
            <a:r>
              <a:rPr lang="fr-FR" b="1" u="sng" dirty="0" smtClean="0"/>
              <a:t>Mettre en italique</a:t>
            </a:r>
            <a:endParaRPr lang="fr-FR" b="1" u="sng" dirty="0"/>
          </a:p>
        </p:txBody>
      </p:sp>
      <p:sp>
        <p:nvSpPr>
          <p:cNvPr id="29697" name="Rectangle 1"/>
          <p:cNvSpPr>
            <a:spLocks noChangeArrowheads="1"/>
          </p:cNvSpPr>
          <p:nvPr/>
        </p:nvSpPr>
        <p:spPr bwMode="auto">
          <a:xfrm>
            <a:off x="152400" y="961072"/>
            <a:ext cx="8839200" cy="2062103"/>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fr-FR" sz="1600" dirty="0" smtClean="0">
                <a:cs typeface="Arial" pitchFamily="34" charset="0"/>
              </a:rPr>
              <a:t>E</a:t>
            </a:r>
            <a:r>
              <a:rPr kumimoji="0" lang="fr-FR" sz="1600" b="0" i="0" u="none" strike="noStrike" cap="none" normalizeH="0" baseline="0" dirty="0" smtClean="0">
                <a:ln>
                  <a:noFill/>
                </a:ln>
                <a:solidFill>
                  <a:schemeClr val="tx1"/>
                </a:solidFill>
                <a:effectLst/>
                <a:cs typeface="Arial" pitchFamily="34" charset="0"/>
              </a:rPr>
              <a:t>n CSS, pour mettre en italique, on utilise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font-style</a:t>
            </a:r>
            <a:r>
              <a:rPr kumimoji="0" lang="fr-FR" sz="1600" b="0" i="0" u="none" strike="noStrike" cap="none" normalizeH="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qui peut prendre trois valeurs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italic</a:t>
            </a:r>
            <a:r>
              <a:rPr kumimoji="0" lang="fr-FR" sz="1600" b="0" i="0" u="none" strike="noStrike" cap="none" normalizeH="0" baseline="0" dirty="0" smtClean="0">
                <a:ln>
                  <a:noFill/>
                </a:ln>
                <a:solidFill>
                  <a:srgbClr val="000000"/>
                </a:solidFill>
                <a:effectLst/>
                <a:cs typeface="Arial" pitchFamily="34" charset="0"/>
              </a:rPr>
              <a:t>: le texte sera mis en italique.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strike="noStrike" cap="none" normalizeH="0" baseline="0" dirty="0" smtClean="0">
                <a:ln>
                  <a:noFill/>
                </a:ln>
                <a:solidFill>
                  <a:schemeClr val="tx2">
                    <a:lumMod val="60000"/>
                    <a:lumOff val="40000"/>
                  </a:schemeClr>
                </a:solidFill>
                <a:effectLst/>
                <a:cs typeface="Courier New" pitchFamily="49" charset="0"/>
              </a:rPr>
              <a:t>obliqu</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e</a:t>
            </a:r>
            <a:r>
              <a:rPr kumimoji="0" lang="fr-FR" sz="1600" b="0" i="0" u="none" strike="noStrike" cap="none" normalizeH="0" baseline="0" dirty="0" smtClean="0">
                <a:ln>
                  <a:noFill/>
                </a:ln>
                <a:solidFill>
                  <a:srgbClr val="000000"/>
                </a:solidFill>
                <a:effectLst/>
                <a:cs typeface="Arial" pitchFamily="34" charset="0"/>
              </a:rPr>
              <a:t>: le texte sera passé en oblique (les lettres sont penchées, le résultat est légèrement différent de l'italique proprement dit).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normal</a:t>
            </a:r>
            <a:r>
              <a:rPr kumimoji="0" lang="fr-FR" sz="1600" b="0" i="0" u="none" strike="noStrike" cap="none" normalizeH="0" baseline="0" dirty="0" smtClean="0">
                <a:ln>
                  <a:noFill/>
                </a:ln>
                <a:solidFill>
                  <a:srgbClr val="000000"/>
                </a:solidFill>
                <a:effectLst/>
                <a:cs typeface="Arial" pitchFamily="34" charset="0"/>
              </a:rPr>
              <a:t>: le texte sera normal (par défaut). Cela vous permet d'annuler une mise en italique. Par exemple, si vous voulez que les textes entre </a:t>
            </a:r>
            <a:r>
              <a:rPr kumimoji="0" lang="fr-FR" sz="1600" b="0" i="0" u="none" strike="noStrike" cap="none" normalizeH="0" baseline="0" dirty="0" smtClean="0">
                <a:ln>
                  <a:noFill/>
                </a:ln>
                <a:solidFill>
                  <a:srgbClr val="000000"/>
                </a:solidFill>
                <a:effectLst/>
                <a:cs typeface="Courier New" pitchFamily="49" charset="0"/>
              </a:rPr>
              <a:t>&lt;</a:t>
            </a:r>
            <a:r>
              <a:rPr kumimoji="0" lang="fr-FR" sz="1600" b="0" i="0" u="none" strike="noStrike" cap="none" normalizeH="0" baseline="0" dirty="0" err="1" smtClean="0">
                <a:ln>
                  <a:noFill/>
                </a:ln>
                <a:solidFill>
                  <a:srgbClr val="000000"/>
                </a:solidFill>
                <a:effectLst/>
                <a:cs typeface="Courier New" pitchFamily="49" charset="0"/>
              </a:rPr>
              <a:t>em</a:t>
            </a:r>
            <a:r>
              <a:rPr kumimoji="0" lang="fr-FR" sz="1600" b="0" i="0" u="none" strike="noStrike" cap="none" normalizeH="0" baseline="0" dirty="0" smtClean="0">
                <a:ln>
                  <a:noFill/>
                </a:ln>
                <a:solidFill>
                  <a:srgbClr val="000000"/>
                </a:solidFill>
                <a:effectLst/>
                <a:cs typeface="Courier New" pitchFamily="49" charset="0"/>
              </a:rPr>
              <a:t>&gt; </a:t>
            </a:r>
            <a:r>
              <a:rPr kumimoji="0" lang="fr-FR" sz="1600" b="0" i="0" u="none" strike="noStrike" cap="none" normalizeH="0" baseline="0" dirty="0" smtClean="0">
                <a:ln>
                  <a:noFill/>
                </a:ln>
                <a:solidFill>
                  <a:srgbClr val="000000"/>
                </a:solidFill>
                <a:effectLst/>
                <a:cs typeface="Arial" pitchFamily="34" charset="0"/>
              </a:rPr>
              <a:t>ne soient plus en italique, vous devrez écrire :</a:t>
            </a:r>
          </a:p>
        </p:txBody>
      </p:sp>
      <p:sp>
        <p:nvSpPr>
          <p:cNvPr id="7" name="Rectangle 6"/>
          <p:cNvSpPr/>
          <p:nvPr/>
        </p:nvSpPr>
        <p:spPr>
          <a:xfrm>
            <a:off x="152400" y="3124200"/>
            <a:ext cx="4572000" cy="1200329"/>
          </a:xfrm>
          <a:prstGeom prst="rect">
            <a:avLst/>
          </a:prstGeom>
        </p:spPr>
        <p:txBody>
          <a:bodyPr>
            <a:spAutoFit/>
          </a:bodyPr>
          <a:lstStyle/>
          <a:p>
            <a:r>
              <a:rPr lang="fr-FR" dirty="0" err="1" smtClean="0">
                <a:solidFill>
                  <a:schemeClr val="tx2">
                    <a:lumMod val="60000"/>
                    <a:lumOff val="40000"/>
                  </a:schemeClr>
                </a:solidFill>
              </a:rPr>
              <a:t>em</a:t>
            </a:r>
            <a:endParaRPr lang="fr-FR" dirty="0" smtClean="0">
              <a:solidFill>
                <a:schemeClr val="tx2">
                  <a:lumMod val="60000"/>
                  <a:lumOff val="40000"/>
                </a:schemeClr>
              </a:solidFill>
            </a:endParaRPr>
          </a:p>
          <a:p>
            <a:r>
              <a:rPr lang="fr-FR" dirty="0" smtClean="0">
                <a:solidFill>
                  <a:schemeClr val="tx2">
                    <a:lumMod val="60000"/>
                    <a:lumOff val="40000"/>
                  </a:schemeClr>
                </a:solidFill>
              </a:rPr>
              <a:t>{</a:t>
            </a:r>
          </a:p>
          <a:p>
            <a:r>
              <a:rPr lang="fr-FR" dirty="0" smtClean="0">
                <a:solidFill>
                  <a:schemeClr val="tx2">
                    <a:lumMod val="60000"/>
                    <a:lumOff val="40000"/>
                  </a:schemeClr>
                </a:solidFill>
              </a:rPr>
              <a:t>    font-style: normal;</a:t>
            </a:r>
          </a:p>
          <a:p>
            <a:r>
              <a:rPr lang="fr-FR" dirty="0" smtClean="0">
                <a:solidFill>
                  <a:schemeClr val="tx2">
                    <a:lumMod val="60000"/>
                    <a:lumOff val="40000"/>
                  </a:schemeClr>
                </a:solidFill>
              </a:rPr>
              <a:t>}</a:t>
            </a:r>
            <a:endParaRPr lang="fr-FR" dirty="0">
              <a:solidFill>
                <a:schemeClr val="tx2">
                  <a:lumMod val="60000"/>
                  <a:lumOff val="40000"/>
                </a:schemeClr>
              </a:solidFill>
            </a:endParaRPr>
          </a:p>
        </p:txBody>
      </p:sp>
      <p:sp>
        <p:nvSpPr>
          <p:cNvPr id="29698" name="Rectangle 2"/>
          <p:cNvSpPr>
            <a:spLocks noChangeArrowheads="1"/>
          </p:cNvSpPr>
          <p:nvPr/>
        </p:nvSpPr>
        <p:spPr bwMode="auto">
          <a:xfrm>
            <a:off x="91974" y="4343400"/>
            <a:ext cx="8290026" cy="33855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Ainsi, dans l'exemple suivant, je me sers </a:t>
            </a:r>
            <a:r>
              <a:rPr kumimoji="0" lang="fr-FR" sz="1600" b="0" i="0" u="none" strike="noStrike" cap="none" normalizeH="0" baseline="0" dirty="0" err="1" smtClean="0">
                <a:ln>
                  <a:noFill/>
                </a:ln>
                <a:solidFill>
                  <a:schemeClr val="tx1"/>
                </a:solidFill>
                <a:effectLst/>
                <a:cs typeface="Arial" pitchFamily="34" charset="0"/>
              </a:rPr>
              <a:t>de</a:t>
            </a:r>
            <a:r>
              <a:rPr kumimoji="0" lang="fr-FR" sz="1600" b="0" i="0" u="none" strike="noStrike" cap="none" normalizeH="0" baseline="0" dirty="0" err="1" smtClean="0">
                <a:ln>
                  <a:noFill/>
                </a:ln>
                <a:solidFill>
                  <a:schemeClr val="tx1"/>
                </a:solidFill>
                <a:effectLst/>
                <a:cs typeface="Courier New" pitchFamily="49" charset="0"/>
              </a:rPr>
              <a:t>font</a:t>
            </a:r>
            <a:r>
              <a:rPr kumimoji="0" lang="fr-FR" sz="1600" b="0" i="0" u="none" strike="noStrike" cap="none" normalizeH="0" baseline="0" dirty="0" smtClean="0">
                <a:ln>
                  <a:noFill/>
                </a:ln>
                <a:solidFill>
                  <a:schemeClr val="tx1"/>
                </a:solidFill>
                <a:effectLst/>
                <a:cs typeface="Courier New" pitchFamily="49" charset="0"/>
              </a:rPr>
              <a:t>-</a:t>
            </a:r>
            <a:r>
              <a:rPr kumimoji="0" lang="fr-FR" sz="1600" b="0" i="0" u="none" strike="noStrike" cap="none" normalizeH="0" baseline="0" dirty="0" err="1" smtClean="0">
                <a:ln>
                  <a:noFill/>
                </a:ln>
                <a:solidFill>
                  <a:schemeClr val="tx1"/>
                </a:solidFill>
                <a:effectLst/>
                <a:cs typeface="Courier New" pitchFamily="49" charset="0"/>
              </a:rPr>
              <a:t>style</a:t>
            </a:r>
            <a:r>
              <a:rPr kumimoji="0" lang="fr-FR" sz="1600" b="0" i="0" u="none" strike="noStrike" cap="none" normalizeH="0" baseline="0" dirty="0" err="1" smtClean="0">
                <a:ln>
                  <a:noFill/>
                </a:ln>
                <a:solidFill>
                  <a:schemeClr val="tx1"/>
                </a:solidFill>
                <a:effectLst/>
                <a:cs typeface="Arial" pitchFamily="34" charset="0"/>
              </a:rPr>
              <a:t>pour</a:t>
            </a:r>
            <a:r>
              <a:rPr kumimoji="0" lang="fr-FR" sz="1600" b="0" i="0" u="none" strike="noStrike" cap="none" normalizeH="0" baseline="0" dirty="0" smtClean="0">
                <a:ln>
                  <a:noFill/>
                </a:ln>
                <a:solidFill>
                  <a:schemeClr val="tx1"/>
                </a:solidFill>
                <a:effectLst/>
                <a:cs typeface="Arial" pitchFamily="34" charset="0"/>
              </a:rPr>
              <a:t> mettre en italique tous mes titres</a:t>
            </a:r>
            <a:r>
              <a:rPr kumimoji="0" lang="fr-FR" sz="1600" b="0" i="0" u="none" strike="noStrike" cap="none" normalizeH="0" baseline="0" dirty="0" smtClean="0">
                <a:ln>
                  <a:noFill/>
                </a:ln>
                <a:solidFill>
                  <a:schemeClr val="tx1"/>
                </a:solidFill>
                <a:effectLst/>
                <a:cs typeface="Courier New" pitchFamily="49" charset="0"/>
              </a:rPr>
              <a:t>&lt;h2&gt;</a:t>
            </a:r>
            <a:r>
              <a:rPr kumimoji="0" lang="fr-FR" sz="1600" b="0" i="0" u="none" strike="noStrike" cap="none" normalizeH="0" baseline="0" dirty="0" smtClean="0">
                <a:ln>
                  <a:noFill/>
                </a:ln>
                <a:solidFill>
                  <a:schemeClr val="tx1"/>
                </a:solidFill>
                <a:effectLst/>
                <a:cs typeface="Arial" pitchFamily="34" charset="0"/>
              </a:rPr>
              <a:t>: </a:t>
            </a:r>
          </a:p>
        </p:txBody>
      </p:sp>
      <p:sp>
        <p:nvSpPr>
          <p:cNvPr id="9" name="Rectangle 8"/>
          <p:cNvSpPr/>
          <p:nvPr/>
        </p:nvSpPr>
        <p:spPr>
          <a:xfrm>
            <a:off x="152400" y="4800600"/>
            <a:ext cx="4572000" cy="1077218"/>
          </a:xfrm>
          <a:prstGeom prst="rect">
            <a:avLst/>
          </a:prstGeom>
        </p:spPr>
        <p:txBody>
          <a:bodyPr>
            <a:spAutoFit/>
          </a:bodyPr>
          <a:lstStyle/>
          <a:p>
            <a:r>
              <a:rPr lang="fr-FR" sz="1600" dirty="0" smtClean="0">
                <a:solidFill>
                  <a:schemeClr val="tx2">
                    <a:lumMod val="60000"/>
                    <a:lumOff val="40000"/>
                  </a:schemeClr>
                </a:solidFill>
              </a:rPr>
              <a:t>h2</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font-style: </a:t>
            </a:r>
            <a:r>
              <a:rPr lang="fr-FR" sz="1600" dirty="0" err="1" smtClean="0">
                <a:solidFill>
                  <a:schemeClr val="tx2">
                    <a:lumMod val="60000"/>
                    <a:lumOff val="40000"/>
                  </a:schemeClr>
                </a:solidFill>
              </a:rPr>
              <a:t>italic</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164068"/>
            <a:ext cx="1588192" cy="369332"/>
          </a:xfrm>
          <a:prstGeom prst="rect">
            <a:avLst/>
          </a:prstGeom>
        </p:spPr>
        <p:txBody>
          <a:bodyPr wrap="none">
            <a:spAutoFit/>
          </a:bodyPr>
          <a:lstStyle/>
          <a:p>
            <a:r>
              <a:rPr lang="fr-FR" b="1" u="sng" dirty="0" smtClean="0"/>
              <a:t>Mettre en gras</a:t>
            </a:r>
            <a:endParaRPr lang="fr-FR" b="1" u="sng" dirty="0"/>
          </a:p>
        </p:txBody>
      </p:sp>
      <p:sp>
        <p:nvSpPr>
          <p:cNvPr id="30721" name="Rectangle 1"/>
          <p:cNvSpPr>
            <a:spLocks noChangeArrowheads="1"/>
          </p:cNvSpPr>
          <p:nvPr/>
        </p:nvSpPr>
        <p:spPr bwMode="auto">
          <a:xfrm>
            <a:off x="152400" y="533400"/>
            <a:ext cx="8839200" cy="156966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propriété CSS pour mettre en gras est </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font-</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weigh</a:t>
            </a:r>
            <a:r>
              <a:rPr kumimoji="0" lang="fr-FR" sz="1600" b="0" i="0" u="none" strike="noStrike" cap="none" normalizeH="0" baseline="0" dirty="0" err="1" smtClean="0">
                <a:ln>
                  <a:noFill/>
                </a:ln>
                <a:solidFill>
                  <a:schemeClr val="tx1"/>
                </a:solidFill>
                <a:effectLst/>
                <a:cs typeface="Courier New" pitchFamily="49" charset="0"/>
              </a:rPr>
              <a:t>t</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et prend les valeurs suivantes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bold</a:t>
            </a:r>
            <a:r>
              <a:rPr kumimoji="0" lang="fr-FR" sz="1600" b="0" i="0" u="none" strike="noStrike" cap="none" normalizeH="0" baseline="0" dirty="0" smtClean="0">
                <a:ln>
                  <a:noFill/>
                </a:ln>
                <a:solidFill>
                  <a:srgbClr val="000000"/>
                </a:solidFill>
                <a:effectLst/>
                <a:cs typeface="Arial" pitchFamily="34" charset="0"/>
              </a:rPr>
              <a:t>: le texte sera en gras ;</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normal</a:t>
            </a:r>
            <a:r>
              <a:rPr kumimoji="0" lang="fr-FR" sz="1600" b="0" i="0" u="none" strike="noStrike" cap="none" normalizeH="0" baseline="0" dirty="0" smtClean="0">
                <a:ln>
                  <a:noFill/>
                </a:ln>
                <a:solidFill>
                  <a:srgbClr val="000000"/>
                </a:solidFill>
                <a:effectLst/>
                <a:cs typeface="Arial" pitchFamily="34" charset="0"/>
              </a:rPr>
              <a:t>: le texte sera écrit normalement (par défaut).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Voici par exemple comment écrire les titres en gras :</a:t>
            </a:r>
          </a:p>
        </p:txBody>
      </p:sp>
      <p:sp>
        <p:nvSpPr>
          <p:cNvPr id="6" name="Rectangle 5"/>
          <p:cNvSpPr/>
          <p:nvPr/>
        </p:nvSpPr>
        <p:spPr>
          <a:xfrm>
            <a:off x="228600" y="2209800"/>
            <a:ext cx="4572000" cy="1077218"/>
          </a:xfrm>
          <a:prstGeom prst="rect">
            <a:avLst/>
          </a:prstGeom>
        </p:spPr>
        <p:txBody>
          <a:bodyPr>
            <a:spAutoFit/>
          </a:bodyPr>
          <a:lstStyle/>
          <a:p>
            <a:r>
              <a:rPr lang="fr-FR" sz="1600" dirty="0" smtClean="0">
                <a:solidFill>
                  <a:schemeClr val="tx2">
                    <a:lumMod val="60000"/>
                    <a:lumOff val="40000"/>
                  </a:schemeClr>
                </a:solidFill>
              </a:rPr>
              <a:t>h1</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font-</a:t>
            </a:r>
            <a:r>
              <a:rPr lang="fr-FR" sz="1600" dirty="0" err="1" smtClean="0">
                <a:solidFill>
                  <a:schemeClr val="tx2">
                    <a:lumMod val="60000"/>
                    <a:lumOff val="40000"/>
                  </a:schemeClr>
                </a:solidFill>
              </a:rPr>
              <a:t>weight</a:t>
            </a:r>
            <a:r>
              <a:rPr lang="fr-FR" sz="1600" dirty="0" smtClean="0">
                <a:solidFill>
                  <a:schemeClr val="tx2">
                    <a:lumMod val="60000"/>
                    <a:lumOff val="40000"/>
                  </a:schemeClr>
                </a:solidFill>
              </a:rPr>
              <a:t>: bold;</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7" name="Rectangle 6"/>
          <p:cNvSpPr/>
          <p:nvPr/>
        </p:nvSpPr>
        <p:spPr>
          <a:xfrm>
            <a:off x="762000" y="3364468"/>
            <a:ext cx="3581237" cy="369332"/>
          </a:xfrm>
          <a:prstGeom prst="rect">
            <a:avLst/>
          </a:prstGeom>
        </p:spPr>
        <p:txBody>
          <a:bodyPr wrap="none">
            <a:spAutoFit/>
          </a:bodyPr>
          <a:lstStyle/>
          <a:p>
            <a:r>
              <a:rPr lang="fr-FR" b="1" u="sng" dirty="0" smtClean="0"/>
              <a:t>Soulignement et autres décorations</a:t>
            </a:r>
            <a:endParaRPr lang="fr-FR" b="1" u="sng" dirty="0"/>
          </a:p>
        </p:txBody>
      </p:sp>
      <p:sp>
        <p:nvSpPr>
          <p:cNvPr id="30722" name="Rectangle 2"/>
          <p:cNvSpPr>
            <a:spLocks noChangeArrowheads="1"/>
          </p:cNvSpPr>
          <p:nvPr/>
        </p:nvSpPr>
        <p:spPr bwMode="auto">
          <a:xfrm>
            <a:off x="76200" y="3787676"/>
            <a:ext cx="8915400" cy="2308324"/>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propriété CSS </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text</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decoration</a:t>
            </a:r>
            <a:r>
              <a:rPr kumimoji="0" lang="fr-FR" sz="1600" b="0" i="0" u="none" strike="noStrike" cap="none" normalizeH="0" baseline="0" dirty="0" smtClean="0">
                <a:ln>
                  <a:noFill/>
                </a:ln>
                <a:solidFill>
                  <a:schemeClr val="tx1"/>
                </a:solidFill>
                <a:effectLst/>
                <a:cs typeface="Arial" pitchFamily="34" charset="0"/>
              </a:rPr>
              <a:t> permet, entre autres, de souligner le texte, mais pas seulement. Voici les différentes valeurs qu'elle peut prendre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underline</a:t>
            </a:r>
            <a:r>
              <a:rPr kumimoji="0" lang="fr-FR" sz="1600" b="0" i="0" u="none" strike="noStrike" cap="none" normalizeH="0" baseline="0" dirty="0" smtClean="0">
                <a:ln>
                  <a:noFill/>
                </a:ln>
                <a:solidFill>
                  <a:srgbClr val="000000"/>
                </a:solidFill>
                <a:effectLst/>
                <a:cs typeface="Arial" pitchFamily="34" charset="0"/>
              </a:rPr>
              <a:t>: souligné.</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strike="noStrike" cap="none" normalizeH="0" baseline="0" dirty="0" smtClean="0">
                <a:ln>
                  <a:noFill/>
                </a:ln>
                <a:solidFill>
                  <a:schemeClr val="tx2">
                    <a:lumMod val="60000"/>
                    <a:lumOff val="40000"/>
                  </a:schemeClr>
                </a:solidFill>
                <a:effectLst/>
                <a:cs typeface="Courier New" pitchFamily="49" charset="0"/>
              </a:rPr>
              <a:t>line-</a:t>
            </a:r>
            <a:r>
              <a:rPr kumimoji="0" lang="fr-FR" sz="1600" b="1" i="0" strike="noStrike" cap="none" normalizeH="0" baseline="0" dirty="0" err="1" smtClean="0">
                <a:ln>
                  <a:noFill/>
                </a:ln>
                <a:solidFill>
                  <a:schemeClr val="tx2">
                    <a:lumMod val="60000"/>
                    <a:lumOff val="40000"/>
                  </a:schemeClr>
                </a:solidFill>
                <a:effectLst/>
                <a:cs typeface="Courier New" pitchFamily="49" charset="0"/>
              </a:rPr>
              <a:t>through</a:t>
            </a:r>
            <a:r>
              <a:rPr kumimoji="0" lang="fr-FR" sz="1600" b="0" i="0" u="none" strike="noStrike" cap="none" normalizeH="0" baseline="0" dirty="0" smtClean="0">
                <a:ln>
                  <a:noFill/>
                </a:ln>
                <a:solidFill>
                  <a:srgbClr val="000000"/>
                </a:solidFill>
                <a:effectLst/>
                <a:cs typeface="Arial" pitchFamily="34" charset="0"/>
              </a:rPr>
              <a:t>: barré.</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overline</a:t>
            </a:r>
            <a:r>
              <a:rPr kumimoji="0" lang="fr-FR" sz="1600" b="0" i="0" u="none" strike="noStrike" cap="none" normalizeH="0" baseline="0" dirty="0" smtClean="0">
                <a:ln>
                  <a:noFill/>
                </a:ln>
                <a:solidFill>
                  <a:srgbClr val="000000"/>
                </a:solidFill>
                <a:effectLst/>
                <a:cs typeface="Arial" pitchFamily="34" charset="0"/>
              </a:rPr>
              <a:t>: ligne au-dessus.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blink</a:t>
            </a:r>
            <a:r>
              <a:rPr kumimoji="0" lang="fr-FR" sz="1600" b="0" i="0" u="none" strike="noStrike" cap="none" normalizeH="0" baseline="0" dirty="0" smtClean="0">
                <a:ln>
                  <a:noFill/>
                </a:ln>
                <a:solidFill>
                  <a:srgbClr val="000000"/>
                </a:solidFill>
                <a:effectLst/>
                <a:cs typeface="Arial" pitchFamily="34" charset="0"/>
              </a:rPr>
              <a:t>: clignotant. Ne fonctionne pas sur tous les navigateurs (Internet Explorer et Google Chrome, notamment).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none</a:t>
            </a:r>
            <a:r>
              <a:rPr kumimoji="0" lang="fr-FR" sz="1600" b="0" i="0" u="none" strike="noStrike" cap="none" normalizeH="0" baseline="0" dirty="0" smtClean="0">
                <a:ln>
                  <a:noFill/>
                </a:ln>
                <a:solidFill>
                  <a:srgbClr val="000000"/>
                </a:solidFill>
                <a:effectLst/>
                <a:cs typeface="Arial" pitchFamily="34" charset="0"/>
              </a:rPr>
              <a:t>: normal (par défaut).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Le CSS suivant va vous permettre de tester les effets de </a:t>
            </a:r>
            <a:r>
              <a:rPr kumimoji="0" lang="fr-FR" sz="1600" b="1" i="0" u="none" strike="noStrike" cap="none" normalizeH="0" baseline="0" dirty="0" err="1" smtClean="0">
                <a:ln>
                  <a:noFill/>
                </a:ln>
                <a:solidFill>
                  <a:schemeClr val="tx1"/>
                </a:solidFill>
                <a:effectLst/>
                <a:cs typeface="Courier New" pitchFamily="49" charset="0"/>
              </a:rPr>
              <a:t>text</a:t>
            </a:r>
            <a:r>
              <a:rPr kumimoji="0" lang="fr-FR" sz="1600" b="1" i="0" u="none" strike="noStrike" cap="none" normalizeH="0" baseline="0" dirty="0" smtClean="0">
                <a:ln>
                  <a:noFill/>
                </a:ln>
                <a:solidFill>
                  <a:schemeClr val="tx1"/>
                </a:solidFill>
                <a:effectLst/>
                <a:cs typeface="Courier New" pitchFamily="49" charset="0"/>
              </a:rPr>
              <a:t>-</a:t>
            </a:r>
            <a:r>
              <a:rPr kumimoji="0" lang="fr-FR" sz="1600" b="1" i="0" u="none" strike="noStrike" cap="none" normalizeH="0" baseline="0" dirty="0" err="1" smtClean="0">
                <a:ln>
                  <a:noFill/>
                </a:ln>
                <a:solidFill>
                  <a:schemeClr val="tx1"/>
                </a:solidFill>
                <a:effectLst/>
                <a:cs typeface="Courier New" pitchFamily="49" charset="0"/>
              </a:rPr>
              <a:t>decoration</a:t>
            </a:r>
            <a:r>
              <a:rPr kumimoji="0" lang="fr-FR" sz="1600" b="0" i="0" u="none" strike="noStrike" cap="none" normalizeH="0" baseline="0" dirty="0" smtClean="0">
                <a:ln>
                  <a:noFill/>
                </a:ln>
                <a:solidFill>
                  <a:schemeClr val="tx1"/>
                </a:solidFill>
                <a:effectLst/>
                <a:cs typeface="Arial" pitchFamily="34" charset="0"/>
              </a:rPr>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
            <a:ext cx="8610600" cy="4031873"/>
          </a:xfrm>
          <a:prstGeom prst="rect">
            <a:avLst/>
          </a:prstGeom>
        </p:spPr>
        <p:txBody>
          <a:bodyPr wrap="square">
            <a:spAutoFit/>
          </a:bodyPr>
          <a:lstStyle/>
          <a:p>
            <a:r>
              <a:rPr lang="fr-FR" sz="1600" dirty="0" smtClean="0">
                <a:solidFill>
                  <a:schemeClr val="tx2">
                    <a:lumMod val="60000"/>
                    <a:lumOff val="40000"/>
                  </a:schemeClr>
                </a:solidFill>
              </a:rPr>
              <a:t>h1</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decoration</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blink</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.souligne</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decoration</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underline</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.barre</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decoration</a:t>
            </a:r>
            <a:r>
              <a:rPr lang="fr-FR" sz="1600" dirty="0" smtClean="0">
                <a:solidFill>
                  <a:schemeClr val="tx2">
                    <a:lumMod val="60000"/>
                    <a:lumOff val="40000"/>
                  </a:schemeClr>
                </a:solidFill>
              </a:rPr>
              <a:t>: line-</a:t>
            </a:r>
            <a:r>
              <a:rPr lang="fr-FR" sz="1600" dirty="0" err="1" smtClean="0">
                <a:solidFill>
                  <a:schemeClr val="tx2">
                    <a:lumMod val="60000"/>
                    <a:lumOff val="40000"/>
                  </a:schemeClr>
                </a:solidFill>
              </a:rPr>
              <a:t>through</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r>
              <a:rPr lang="fr-FR" sz="1600" dirty="0" err="1" smtClean="0">
                <a:solidFill>
                  <a:schemeClr val="tx2">
                    <a:lumMod val="60000"/>
                    <a:lumOff val="40000"/>
                  </a:schemeClr>
                </a:solidFill>
              </a:rPr>
              <a:t>ligne_dessus</a:t>
            </a:r>
            <a:endParaRPr lang="fr-FR" sz="1600" dirty="0" smtClean="0">
              <a:solidFill>
                <a:schemeClr val="tx2">
                  <a:lumMod val="60000"/>
                  <a:lumOff val="40000"/>
                </a:schemeClr>
              </a:solidFill>
            </a:endParaRP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decoration</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overline</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76200"/>
            <a:ext cx="1784656" cy="400110"/>
          </a:xfrm>
          <a:prstGeom prst="rect">
            <a:avLst/>
          </a:prstGeom>
        </p:spPr>
        <p:txBody>
          <a:bodyPr wrap="none">
            <a:spAutoFit/>
          </a:bodyPr>
          <a:lstStyle/>
          <a:p>
            <a:r>
              <a:rPr lang="fr-FR" sz="2000" b="1" dirty="0" smtClean="0"/>
              <a:t>4. </a:t>
            </a:r>
            <a:r>
              <a:rPr lang="fr-FR" sz="2000" b="1" u="sng" dirty="0" smtClean="0"/>
              <a:t>L’alignement</a:t>
            </a:r>
          </a:p>
        </p:txBody>
      </p:sp>
      <p:sp>
        <p:nvSpPr>
          <p:cNvPr id="31745" name="Rectangle 1"/>
          <p:cNvSpPr>
            <a:spLocks noChangeArrowheads="1"/>
          </p:cNvSpPr>
          <p:nvPr/>
        </p:nvSpPr>
        <p:spPr bwMode="auto">
          <a:xfrm>
            <a:off x="76200" y="533400"/>
            <a:ext cx="8915400" cy="3293209"/>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Le langage CSS nous permet de faire tous les alignements connus : à gauche, centré, à droite et justifié.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On utilise la propriété </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text</a:t>
            </a:r>
            <a:r>
              <a:rPr kumimoji="0" lang="fr-FR" sz="1600" b="1" i="0" u="none" strike="noStrike" cap="none" normalizeH="0" baseline="0" dirty="0" smtClean="0">
                <a:ln>
                  <a:noFill/>
                </a:ln>
                <a:solidFill>
                  <a:schemeClr val="tx2">
                    <a:lumMod val="60000"/>
                    <a:lumOff val="40000"/>
                  </a:schemeClr>
                </a:solidFill>
                <a:effectLst/>
                <a:cs typeface="Courier New" pitchFamily="49" charset="0"/>
              </a:rPr>
              <a:t>-</a:t>
            </a: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align</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et on indique l'alignement désiré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left</a:t>
            </a:r>
            <a:r>
              <a:rPr kumimoji="0" lang="fr-FR" sz="1600" b="0" i="0" u="none" strike="noStrike" cap="none" normalizeH="0" baseline="0" dirty="0" smtClean="0">
                <a:ln>
                  <a:noFill/>
                </a:ln>
                <a:solidFill>
                  <a:srgbClr val="000000"/>
                </a:solidFill>
                <a:effectLst/>
                <a:cs typeface="Arial" pitchFamily="34" charset="0"/>
              </a:rPr>
              <a:t>: le texte sera aligné à gauche (c'est le réglage par défaut).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center</a:t>
            </a:r>
            <a:r>
              <a:rPr kumimoji="0" lang="fr-FR" sz="1600" b="0" i="0" u="none" strike="noStrike" cap="none" normalizeH="0" baseline="0" dirty="0" smtClean="0">
                <a:ln>
                  <a:noFill/>
                </a:ln>
                <a:solidFill>
                  <a:srgbClr val="000000"/>
                </a:solidFill>
                <a:effectLst/>
                <a:cs typeface="Arial" pitchFamily="34" charset="0"/>
              </a:rPr>
              <a:t>: le texte sera centré.</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right</a:t>
            </a:r>
            <a:r>
              <a:rPr kumimoji="0" lang="fr-FR" sz="1600" b="0" i="0" u="none" strike="noStrike" cap="none" normalizeH="0" baseline="0" dirty="0" smtClean="0">
                <a:ln>
                  <a:noFill/>
                </a:ln>
                <a:solidFill>
                  <a:srgbClr val="000000"/>
                </a:solidFill>
                <a:effectLst/>
                <a:cs typeface="Arial" pitchFamily="34" charset="0"/>
              </a:rPr>
              <a:t>: le texte sera aligné à droite.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justify</a:t>
            </a:r>
            <a:r>
              <a:rPr kumimoji="0" lang="fr-FR" sz="1600" b="0" i="0" u="none" strike="noStrike" cap="none" normalizeH="0" baseline="0" dirty="0" smtClean="0">
                <a:ln>
                  <a:noFill/>
                </a:ln>
                <a:solidFill>
                  <a:srgbClr val="000000"/>
                </a:solidFill>
                <a:effectLst/>
                <a:cs typeface="Arial" pitchFamily="34" charset="0"/>
              </a:rPr>
              <a:t>: le texte sera « justifié ». Justifier le texte permet de faire en sorte qu'il prenne toute la largeur possible sans laisser d'espace blanc à la fin des lignes. Les textes des journaux, par exemple, sont toujours justifiés.</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Regardez les différents alignements sur cet exemple :</a:t>
            </a:r>
          </a:p>
        </p:txBody>
      </p:sp>
      <p:sp>
        <p:nvSpPr>
          <p:cNvPr id="6" name="Rectangle 5"/>
          <p:cNvSpPr/>
          <p:nvPr/>
        </p:nvSpPr>
        <p:spPr>
          <a:xfrm>
            <a:off x="228600" y="3811012"/>
            <a:ext cx="8686800" cy="3046988"/>
          </a:xfrm>
          <a:prstGeom prst="rect">
            <a:avLst/>
          </a:prstGeom>
        </p:spPr>
        <p:txBody>
          <a:bodyPr wrap="square">
            <a:spAutoFit/>
          </a:bodyPr>
          <a:lstStyle/>
          <a:p>
            <a:r>
              <a:rPr lang="fr-FR" sz="1600" dirty="0" smtClean="0">
                <a:solidFill>
                  <a:schemeClr val="tx2">
                    <a:lumMod val="60000"/>
                    <a:lumOff val="40000"/>
                  </a:schemeClr>
                </a:solidFill>
              </a:rPr>
              <a:t>h1</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align</a:t>
            </a:r>
            <a:r>
              <a:rPr lang="fr-FR" sz="1600" dirty="0" smtClean="0">
                <a:solidFill>
                  <a:schemeClr val="tx2">
                    <a:lumMod val="60000"/>
                    <a:lumOff val="40000"/>
                  </a:schemeClr>
                </a:solidFill>
              </a:rPr>
              <a:t>: center;</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align</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justify</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.signature</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align</a:t>
            </a:r>
            <a:r>
              <a:rPr lang="fr-FR" sz="1600" dirty="0" smtClean="0">
                <a:solidFill>
                  <a:schemeClr val="tx2">
                    <a:lumMod val="60000"/>
                    <a:lumOff val="40000"/>
                  </a:schemeClr>
                </a:solidFill>
              </a:rPr>
              <a:t>: right;</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76200"/>
            <a:ext cx="1746119" cy="400110"/>
          </a:xfrm>
          <a:prstGeom prst="rect">
            <a:avLst/>
          </a:prstGeom>
        </p:spPr>
        <p:txBody>
          <a:bodyPr wrap="none">
            <a:spAutoFit/>
          </a:bodyPr>
          <a:lstStyle/>
          <a:p>
            <a:r>
              <a:rPr lang="fr-FR" sz="2000" b="1" dirty="0" smtClean="0"/>
              <a:t>5. </a:t>
            </a:r>
            <a:r>
              <a:rPr lang="fr-FR" sz="2000" b="1" u="sng" dirty="0" smtClean="0"/>
              <a:t>Les flottants</a:t>
            </a:r>
          </a:p>
        </p:txBody>
      </p:sp>
      <p:sp>
        <p:nvSpPr>
          <p:cNvPr id="5" name="Rectangle 4"/>
          <p:cNvSpPr/>
          <p:nvPr/>
        </p:nvSpPr>
        <p:spPr>
          <a:xfrm>
            <a:off x="228600" y="533400"/>
            <a:ext cx="8686800" cy="830997"/>
          </a:xfrm>
          <a:prstGeom prst="rect">
            <a:avLst/>
          </a:prstGeom>
        </p:spPr>
        <p:txBody>
          <a:bodyPr wrap="square">
            <a:spAutoFit/>
          </a:bodyPr>
          <a:lstStyle/>
          <a:p>
            <a:r>
              <a:rPr lang="fr-FR" sz="1600" dirty="0" smtClean="0"/>
              <a:t>Le CSS nous permet de faire flotter un élément autour du texte. On dit aussi qu'on fait un « habillage ».</a:t>
            </a:r>
          </a:p>
          <a:p>
            <a:r>
              <a:rPr lang="fr-FR" sz="1600" dirty="0" smtClean="0"/>
              <a:t>Pour que vous voyiez bien de quoi on parle, la figure suivante vous montre ce que nous allons apprendre à faire.</a:t>
            </a:r>
          </a:p>
        </p:txBody>
      </p:sp>
      <p:pic>
        <p:nvPicPr>
          <p:cNvPr id="6" name="Picture 5" descr="7.png"/>
          <p:cNvPicPr>
            <a:picLocks noChangeAspect="1"/>
          </p:cNvPicPr>
          <p:nvPr/>
        </p:nvPicPr>
        <p:blipFill>
          <a:blip r:embed="rId2"/>
          <a:stretch>
            <a:fillRect/>
          </a:stretch>
        </p:blipFill>
        <p:spPr>
          <a:xfrm>
            <a:off x="2541760" y="1447800"/>
            <a:ext cx="3325640" cy="2209800"/>
          </a:xfrm>
          <a:prstGeom prst="rect">
            <a:avLst/>
          </a:prstGeom>
        </p:spPr>
      </p:pic>
      <p:sp>
        <p:nvSpPr>
          <p:cNvPr id="7" name="TextBox 6"/>
          <p:cNvSpPr txBox="1"/>
          <p:nvPr/>
        </p:nvSpPr>
        <p:spPr>
          <a:xfrm>
            <a:off x="228600" y="3810000"/>
            <a:ext cx="3567067" cy="369332"/>
          </a:xfrm>
          <a:prstGeom prst="rect">
            <a:avLst/>
          </a:prstGeom>
          <a:noFill/>
        </p:spPr>
        <p:txBody>
          <a:bodyPr wrap="none" rtlCol="0">
            <a:spAutoFit/>
          </a:bodyPr>
          <a:lstStyle/>
          <a:p>
            <a:r>
              <a:rPr lang="fr-FR" dirty="0" smtClean="0"/>
              <a:t>La propriété qui fait flotter est </a:t>
            </a:r>
            <a:r>
              <a:rPr lang="fr-FR" b="1" dirty="0" err="1" smtClean="0">
                <a:solidFill>
                  <a:schemeClr val="tx2">
                    <a:lumMod val="60000"/>
                    <a:lumOff val="40000"/>
                  </a:schemeClr>
                </a:solidFill>
              </a:rPr>
              <a:t>float</a:t>
            </a:r>
            <a:r>
              <a:rPr lang="fr-FR" dirty="0" smtClean="0"/>
              <a:t>.</a:t>
            </a:r>
            <a:endParaRPr lang="fr-FR" dirty="0"/>
          </a:p>
        </p:txBody>
      </p:sp>
      <p:sp>
        <p:nvSpPr>
          <p:cNvPr id="33793" name="Rectangle 1"/>
          <p:cNvSpPr>
            <a:spLocks noChangeArrowheads="1"/>
          </p:cNvSpPr>
          <p:nvPr/>
        </p:nvSpPr>
        <p:spPr bwMode="auto">
          <a:xfrm>
            <a:off x="228600" y="4343400"/>
            <a:ext cx="8839200" cy="1815882"/>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Cette propriété peut prendre deux valeurs très simples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left</a:t>
            </a:r>
            <a:r>
              <a:rPr kumimoji="0" lang="fr-FR" sz="1600" b="0" i="0" u="none" strike="noStrike" cap="none" normalizeH="0" baseline="0" dirty="0" smtClean="0">
                <a:ln>
                  <a:noFill/>
                </a:ln>
                <a:solidFill>
                  <a:srgbClr val="000000"/>
                </a:solidFill>
                <a:effectLst/>
                <a:cs typeface="Arial" pitchFamily="34" charset="0"/>
              </a:rPr>
              <a:t>: l'élément flottera à gauche.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right</a:t>
            </a:r>
            <a:r>
              <a:rPr kumimoji="0" lang="fr-FR" sz="1600" b="0" i="0" u="none" strike="noStrike" cap="none" normalizeH="0" baseline="0" dirty="0" smtClean="0">
                <a:ln>
                  <a:noFill/>
                </a:ln>
                <a:solidFill>
                  <a:srgbClr val="000000"/>
                </a:solidFill>
                <a:effectLst/>
                <a:cs typeface="Arial" pitchFamily="34" charset="0"/>
              </a:rPr>
              <a:t>: l'élément flottera</a:t>
            </a:r>
            <a:r>
              <a:rPr kumimoji="0" lang="fr-FR" sz="1600" b="0" i="0" u="none" strike="noStrike" cap="none" normalizeH="0" dirty="0" smtClean="0">
                <a:ln>
                  <a:noFill/>
                </a:ln>
                <a:solidFill>
                  <a:srgbClr val="000000"/>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à droite.</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L'utilisation des flottants est très simple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sz="1600" b="0" i="0" u="none" strike="noStrike" cap="none" normalizeH="0" baseline="0" dirty="0" smtClean="0">
                <a:ln>
                  <a:noFill/>
                </a:ln>
                <a:solidFill>
                  <a:srgbClr val="000000"/>
                </a:solidFill>
                <a:effectLst/>
                <a:cs typeface="Arial" pitchFamily="34" charset="0"/>
              </a:rPr>
              <a:t>Vous appliquez un </a:t>
            </a:r>
            <a:r>
              <a:rPr kumimoji="0" lang="fr-FR" sz="1600" b="0" i="0" u="none" strike="noStrike" cap="none" normalizeH="0" baseline="0" dirty="0" err="1" smtClean="0">
                <a:ln>
                  <a:noFill/>
                </a:ln>
                <a:solidFill>
                  <a:srgbClr val="000000"/>
                </a:solidFill>
                <a:effectLst/>
                <a:cs typeface="Courier New" pitchFamily="49" charset="0"/>
              </a:rPr>
              <a:t>float</a:t>
            </a:r>
            <a:r>
              <a:rPr kumimoji="0" lang="fr-FR" sz="1600" b="0" i="0" u="none" strike="noStrike" cap="none" normalizeH="0" baseline="0" dirty="0" smtClean="0">
                <a:ln>
                  <a:noFill/>
                </a:ln>
                <a:solidFill>
                  <a:srgbClr val="000000"/>
                </a:solidFill>
                <a:effectLst/>
                <a:cs typeface="Courier New" pitchFamily="49" charset="0"/>
              </a:rPr>
              <a:t> </a:t>
            </a:r>
            <a:r>
              <a:rPr kumimoji="0" lang="fr-FR" sz="1600" b="0" i="0" u="none" strike="noStrike" cap="none" normalizeH="0" baseline="0" dirty="0" smtClean="0">
                <a:ln>
                  <a:noFill/>
                </a:ln>
                <a:solidFill>
                  <a:srgbClr val="000000"/>
                </a:solidFill>
                <a:effectLst/>
                <a:cs typeface="Arial" pitchFamily="34" charset="0"/>
              </a:rPr>
              <a:t>à une balise.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fr-FR" sz="1600" b="0" i="0" u="none" strike="noStrike" cap="none" normalizeH="0" baseline="0" dirty="0" smtClean="0">
                <a:ln>
                  <a:noFill/>
                </a:ln>
                <a:solidFill>
                  <a:srgbClr val="000000"/>
                </a:solidFill>
                <a:effectLst/>
                <a:cs typeface="Arial" pitchFamily="34" charset="0"/>
              </a:rPr>
              <a:t>Puis vous continuez à écrire du texte à la suite normalement.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152400"/>
            <a:ext cx="2354299" cy="369332"/>
          </a:xfrm>
          <a:prstGeom prst="rect">
            <a:avLst/>
          </a:prstGeom>
        </p:spPr>
        <p:txBody>
          <a:bodyPr wrap="none">
            <a:spAutoFit/>
          </a:bodyPr>
          <a:lstStyle/>
          <a:p>
            <a:r>
              <a:rPr lang="fr-FR" b="1" u="sng" smtClean="0"/>
              <a:t>Faire flotter une image</a:t>
            </a:r>
            <a:endParaRPr lang="fr-FR" b="1" u="sng" dirty="0"/>
          </a:p>
        </p:txBody>
      </p:sp>
      <p:sp>
        <p:nvSpPr>
          <p:cNvPr id="5" name="Rectangle 4"/>
          <p:cNvSpPr/>
          <p:nvPr/>
        </p:nvSpPr>
        <p:spPr>
          <a:xfrm>
            <a:off x="228600" y="609600"/>
            <a:ext cx="8610600" cy="369332"/>
          </a:xfrm>
          <a:prstGeom prst="rect">
            <a:avLst/>
          </a:prstGeom>
        </p:spPr>
        <p:txBody>
          <a:bodyPr wrap="square">
            <a:spAutoFit/>
          </a:bodyPr>
          <a:lstStyle/>
          <a:p>
            <a:r>
              <a:rPr lang="fr-FR" dirty="0" smtClean="0"/>
              <a:t>Ci-dessous le code HTML que nous devons taper dans un premier temps :</a:t>
            </a:r>
            <a:endParaRPr lang="fr-FR" dirty="0"/>
          </a:p>
        </p:txBody>
      </p:sp>
      <p:sp>
        <p:nvSpPr>
          <p:cNvPr id="6" name="Rectangle 5"/>
          <p:cNvSpPr/>
          <p:nvPr/>
        </p:nvSpPr>
        <p:spPr>
          <a:xfrm>
            <a:off x="304800" y="1066800"/>
            <a:ext cx="8610600" cy="1323439"/>
          </a:xfrm>
          <a:prstGeom prst="rect">
            <a:avLst/>
          </a:prstGeom>
        </p:spPr>
        <p:txBody>
          <a:bodyPr wrap="square">
            <a:spAutoFit/>
          </a:bodyPr>
          <a:lstStyle/>
          <a:p>
            <a:r>
              <a:rPr lang="fr-FR" sz="1600" dirty="0" smtClean="0">
                <a:solidFill>
                  <a:schemeClr val="tx2">
                    <a:lumMod val="60000"/>
                    <a:lumOff val="40000"/>
                  </a:schemeClr>
                </a:solidFill>
              </a:rPr>
              <a:t>&lt;p&gt;</a:t>
            </a:r>
          </a:p>
          <a:p>
            <a:r>
              <a:rPr lang="fr-FR" sz="1600" dirty="0" smtClean="0">
                <a:solidFill>
                  <a:schemeClr val="tx2">
                    <a:lumMod val="60000"/>
                    <a:lumOff val="40000"/>
                  </a:schemeClr>
                </a:solidFill>
              </a:rPr>
              <a:t>	&lt;</a:t>
            </a:r>
            <a:r>
              <a:rPr lang="fr-FR" sz="1600" dirty="0" err="1" smtClean="0">
                <a:solidFill>
                  <a:schemeClr val="tx2">
                    <a:lumMod val="60000"/>
                    <a:lumOff val="40000"/>
                  </a:schemeClr>
                </a:solidFill>
              </a:rPr>
              <a:t>img</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src</a:t>
            </a:r>
            <a:r>
              <a:rPr lang="fr-FR" sz="1600" dirty="0" smtClean="0">
                <a:solidFill>
                  <a:schemeClr val="tx2">
                    <a:lumMod val="60000"/>
                    <a:lumOff val="40000"/>
                  </a:schemeClr>
                </a:solidFill>
              </a:rPr>
              <a:t>="flash.gif" class="</a:t>
            </a:r>
            <a:r>
              <a:rPr lang="fr-FR" sz="1600" dirty="0" err="1" smtClean="0">
                <a:solidFill>
                  <a:schemeClr val="tx2">
                    <a:lumMod val="60000"/>
                    <a:lumOff val="40000"/>
                  </a:schemeClr>
                </a:solidFill>
              </a:rPr>
              <a:t>imageflottante</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alt</a:t>
            </a:r>
            <a:r>
              <a:rPr lang="fr-FR" sz="1600" dirty="0" smtClean="0">
                <a:solidFill>
                  <a:schemeClr val="tx2">
                    <a:lumMod val="60000"/>
                    <a:lumOff val="40000"/>
                  </a:schemeClr>
                </a:solidFill>
              </a:rPr>
              <a:t>="Image flottante" /&gt; </a:t>
            </a:r>
          </a:p>
          <a:p>
            <a:r>
              <a:rPr lang="fr-FR" sz="1600" dirty="0" smtClean="0">
                <a:solidFill>
                  <a:schemeClr val="tx2">
                    <a:lumMod val="60000"/>
                    <a:lumOff val="40000"/>
                  </a:schemeClr>
                </a:solidFill>
              </a:rPr>
              <a:t>	Ceci est un texte normal de paragraphe, écrit à la suite de l'image et qui  l'habillera car 	l'image est flottante.</a:t>
            </a:r>
          </a:p>
          <a:p>
            <a:r>
              <a:rPr lang="fr-FR" sz="1600" dirty="0" smtClean="0">
                <a:solidFill>
                  <a:schemeClr val="tx2">
                    <a:lumMod val="60000"/>
                    <a:lumOff val="40000"/>
                  </a:schemeClr>
                </a:solidFill>
              </a:rPr>
              <a:t>&lt;/p&gt;</a:t>
            </a:r>
            <a:endParaRPr lang="fr-FR" sz="1600" dirty="0">
              <a:solidFill>
                <a:schemeClr val="tx2">
                  <a:lumMod val="60000"/>
                  <a:lumOff val="40000"/>
                </a:schemeClr>
              </a:solidFill>
            </a:endParaRPr>
          </a:p>
        </p:txBody>
      </p:sp>
      <p:sp>
        <p:nvSpPr>
          <p:cNvPr id="7" name="Rectangle 6"/>
          <p:cNvSpPr/>
          <p:nvPr/>
        </p:nvSpPr>
        <p:spPr>
          <a:xfrm>
            <a:off x="304800" y="2590800"/>
            <a:ext cx="8610600" cy="584775"/>
          </a:xfrm>
          <a:prstGeom prst="rect">
            <a:avLst/>
          </a:prstGeom>
        </p:spPr>
        <p:txBody>
          <a:bodyPr wrap="square">
            <a:spAutoFit/>
          </a:bodyPr>
          <a:lstStyle/>
          <a:p>
            <a:r>
              <a:rPr lang="fr-FR" sz="1600" dirty="0" smtClean="0">
                <a:solidFill>
                  <a:srgbClr val="FF0000"/>
                </a:solidFill>
              </a:rPr>
              <a:t>Vous devez placer l'élément flottant en premier dans le code HTML. Si vous placez l'image après le paragraphe, l'effet ne fonctionnera pas.</a:t>
            </a:r>
            <a:endParaRPr lang="fr-FR" sz="1600" dirty="0">
              <a:solidFill>
                <a:srgbClr val="FF0000"/>
              </a:solidFill>
            </a:endParaRPr>
          </a:p>
        </p:txBody>
      </p:sp>
      <p:sp>
        <p:nvSpPr>
          <p:cNvPr id="8" name="Rectangle 7"/>
          <p:cNvSpPr/>
          <p:nvPr/>
        </p:nvSpPr>
        <p:spPr>
          <a:xfrm>
            <a:off x="381000" y="3352800"/>
            <a:ext cx="8382000" cy="369332"/>
          </a:xfrm>
          <a:prstGeom prst="rect">
            <a:avLst/>
          </a:prstGeom>
        </p:spPr>
        <p:txBody>
          <a:bodyPr wrap="square">
            <a:spAutoFit/>
          </a:bodyPr>
          <a:lstStyle/>
          <a:p>
            <a:r>
              <a:rPr lang="fr-FR" dirty="0" smtClean="0"/>
              <a:t>Ci-dessous le bout de code CSS qui permet de faire flotter l'image à gauche :</a:t>
            </a:r>
            <a:endParaRPr lang="fr-FR" dirty="0"/>
          </a:p>
        </p:txBody>
      </p:sp>
      <p:sp>
        <p:nvSpPr>
          <p:cNvPr id="9" name="Rectangle 8"/>
          <p:cNvSpPr/>
          <p:nvPr/>
        </p:nvSpPr>
        <p:spPr>
          <a:xfrm>
            <a:off x="457200" y="3810000"/>
            <a:ext cx="4572000" cy="1077218"/>
          </a:xfrm>
          <a:prstGeom prst="rect">
            <a:avLst/>
          </a:prstGeom>
        </p:spPr>
        <p:txBody>
          <a:bodyPr>
            <a:spAutoFit/>
          </a:bodyPr>
          <a:lstStyle/>
          <a:p>
            <a:r>
              <a:rPr lang="fr-FR" sz="1600" dirty="0" smtClean="0">
                <a:solidFill>
                  <a:schemeClr val="tx2">
                    <a:lumMod val="60000"/>
                    <a:lumOff val="40000"/>
                  </a:schemeClr>
                </a:solidFill>
              </a:rPr>
              <a:t>.</a:t>
            </a:r>
            <a:r>
              <a:rPr lang="fr-FR" sz="1600" dirty="0" err="1" smtClean="0">
                <a:solidFill>
                  <a:schemeClr val="tx2">
                    <a:lumMod val="60000"/>
                    <a:lumOff val="40000"/>
                  </a:schemeClr>
                </a:solidFill>
              </a:rPr>
              <a:t>imageflottante</a:t>
            </a:r>
            <a:endParaRPr lang="fr-FR" sz="1600" dirty="0" smtClean="0">
              <a:solidFill>
                <a:schemeClr val="tx2">
                  <a:lumMod val="60000"/>
                  <a:lumOff val="40000"/>
                </a:schemeClr>
              </a:solidFill>
            </a:endParaRP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float</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left</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152400"/>
            <a:ext cx="2015616" cy="369332"/>
          </a:xfrm>
          <a:prstGeom prst="rect">
            <a:avLst/>
          </a:prstGeom>
        </p:spPr>
        <p:txBody>
          <a:bodyPr wrap="none">
            <a:spAutoFit/>
          </a:bodyPr>
          <a:lstStyle/>
          <a:p>
            <a:r>
              <a:rPr lang="fr-FR" b="1" u="sng" dirty="0" smtClean="0"/>
              <a:t>Stopper un flottant</a:t>
            </a:r>
            <a:endParaRPr lang="fr-FR" b="1" u="sng" dirty="0"/>
          </a:p>
        </p:txBody>
      </p:sp>
      <p:sp>
        <p:nvSpPr>
          <p:cNvPr id="34817" name="Rectangle 1"/>
          <p:cNvSpPr>
            <a:spLocks noChangeArrowheads="1"/>
          </p:cNvSpPr>
          <p:nvPr/>
        </p:nvSpPr>
        <p:spPr bwMode="auto">
          <a:xfrm>
            <a:off x="152400" y="609600"/>
            <a:ext cx="8839200" cy="107721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Quand vous mettez en place un flottant, le texte autour l'habille. Mais comment faire si vous voulez qu'au bout d'un moment le texte continue </a:t>
            </a:r>
            <a:r>
              <a:rPr kumimoji="0" lang="fr-FR" sz="1600" b="0" u="none" strike="noStrike" cap="none" normalizeH="0" baseline="0" dirty="0" smtClean="0">
                <a:ln>
                  <a:noFill/>
                </a:ln>
                <a:solidFill>
                  <a:schemeClr val="tx1"/>
                </a:solidFill>
                <a:effectLst/>
                <a:cs typeface="Arial" pitchFamily="34" charset="0"/>
              </a:rPr>
              <a:t>en</a:t>
            </a:r>
            <a:r>
              <a:rPr kumimoji="0" lang="fr-FR" sz="1600" b="0" i="1" u="none" strike="noStrike" cap="none" normalizeH="0" baseline="0" dirty="0" smtClean="0">
                <a:ln>
                  <a:noFill/>
                </a:ln>
                <a:solidFill>
                  <a:schemeClr val="tx1"/>
                </a:solidFill>
                <a:effectLst/>
                <a:cs typeface="Arial" pitchFamily="34" charset="0"/>
              </a:rPr>
              <a:t> </a:t>
            </a:r>
            <a:r>
              <a:rPr kumimoji="0" lang="fr-FR" sz="1600" b="0" u="none" strike="noStrike" cap="none" normalizeH="0" baseline="0" dirty="0" smtClean="0">
                <a:ln>
                  <a:noFill/>
                </a:ln>
                <a:solidFill>
                  <a:schemeClr val="tx1"/>
                </a:solidFill>
                <a:effectLst/>
                <a:cs typeface="Arial" pitchFamily="34" charset="0"/>
              </a:rPr>
              <a:t>dessous</a:t>
            </a:r>
            <a:r>
              <a:rPr kumimoji="0" lang="fr-FR" sz="1600" b="0" i="0" u="none" strike="noStrike" cap="none" normalizeH="0" baseline="0" dirty="0" smtClean="0">
                <a:ln>
                  <a:noFill/>
                </a:ln>
                <a:solidFill>
                  <a:schemeClr val="tx1"/>
                </a:solidFill>
                <a:effectLst/>
                <a:cs typeface="Arial" pitchFamily="34" charset="0"/>
              </a:rPr>
              <a:t> du flottant ? On pourrait enchaîner plusieurs</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Courier New" pitchFamily="49" charset="0"/>
              </a:rPr>
              <a:t>&lt;</a:t>
            </a:r>
            <a:r>
              <a:rPr kumimoji="0" lang="fr-FR" sz="1600" b="0" i="0" u="none" strike="noStrike" cap="none" normalizeH="0" baseline="0" dirty="0" err="1" smtClean="0">
                <a:ln>
                  <a:noFill/>
                </a:ln>
                <a:solidFill>
                  <a:schemeClr val="tx1"/>
                </a:solidFill>
                <a:effectLst/>
                <a:cs typeface="Courier New" pitchFamily="49" charset="0"/>
              </a:rPr>
              <a:t>br</a:t>
            </a:r>
            <a:r>
              <a:rPr kumimoji="0" lang="fr-FR" sz="1600" b="0" i="0" u="none" strike="noStrike" cap="none" normalizeH="0" baseline="0" dirty="0" smtClean="0">
                <a:ln>
                  <a:noFill/>
                </a:ln>
                <a:solidFill>
                  <a:schemeClr val="tx1"/>
                </a:solidFill>
                <a:effectLst/>
                <a:cs typeface="Courier New" pitchFamily="49" charset="0"/>
              </a:rPr>
              <a:t> /&gt; </a:t>
            </a:r>
            <a:r>
              <a:rPr kumimoji="0" lang="fr-FR" sz="1600" b="0" i="0" u="none" strike="noStrike" cap="none" normalizeH="0" baseline="0" dirty="0" smtClean="0">
                <a:ln>
                  <a:noFill/>
                </a:ln>
                <a:solidFill>
                  <a:schemeClr val="tx1"/>
                </a:solidFill>
                <a:effectLst/>
                <a:cs typeface="Arial" pitchFamily="34" charset="0"/>
              </a:rPr>
              <a:t>à la suite mais cela ne serait ni élégant ni très propre…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En gros, on aimerait pouvoir obtenir le même résultat qu'à la figure suivante.</a:t>
            </a:r>
          </a:p>
        </p:txBody>
      </p:sp>
      <p:pic>
        <p:nvPicPr>
          <p:cNvPr id="6" name="Picture 5" descr="8.jpg"/>
          <p:cNvPicPr>
            <a:picLocks noChangeAspect="1"/>
          </p:cNvPicPr>
          <p:nvPr/>
        </p:nvPicPr>
        <p:blipFill>
          <a:blip r:embed="rId2"/>
          <a:stretch>
            <a:fillRect/>
          </a:stretch>
        </p:blipFill>
        <p:spPr>
          <a:xfrm>
            <a:off x="2895600" y="1828800"/>
            <a:ext cx="2897108" cy="1219200"/>
          </a:xfrm>
          <a:prstGeom prst="rect">
            <a:avLst/>
          </a:prstGeom>
        </p:spPr>
      </p:pic>
      <p:sp>
        <p:nvSpPr>
          <p:cNvPr id="34818" name="Rectangle 2"/>
          <p:cNvSpPr>
            <a:spLocks noChangeArrowheads="1"/>
          </p:cNvSpPr>
          <p:nvPr/>
        </p:nvSpPr>
        <p:spPr bwMode="auto">
          <a:xfrm>
            <a:off x="152400" y="3200400"/>
            <a:ext cx="8839200" cy="58477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u="none" strike="noStrike" cap="none" normalizeH="0" baseline="0" dirty="0" smtClean="0">
                <a:ln>
                  <a:noFill/>
                </a:ln>
                <a:solidFill>
                  <a:schemeClr val="tx1"/>
                </a:solidFill>
                <a:effectLst/>
                <a:cs typeface="Arial" pitchFamily="34" charset="0"/>
              </a:rPr>
              <a:t>Il existe en fait une propriété CSS qui permet de dire : « Stop, ce texte doit être en-dessous du flottant et non plus à côté ». C'est la propriété</a:t>
            </a:r>
            <a:r>
              <a:rPr kumimoji="0" lang="fr-FR" sz="1600" b="1" u="none" strike="noStrike" cap="none" normalizeH="0" baseline="0" dirty="0" smtClean="0">
                <a:ln>
                  <a:noFill/>
                </a:ln>
                <a:solidFill>
                  <a:schemeClr val="tx2">
                    <a:lumMod val="60000"/>
                    <a:lumOff val="40000"/>
                  </a:schemeClr>
                </a:solidFill>
                <a:effectLst/>
                <a:cs typeface="Arial" pitchFamily="34" charset="0"/>
              </a:rPr>
              <a:t> </a:t>
            </a:r>
            <a:r>
              <a:rPr kumimoji="0" lang="fr-FR" sz="1600" b="1" u="none" strike="noStrike" cap="none" normalizeH="0" baseline="0" dirty="0" err="1" smtClean="0">
                <a:ln>
                  <a:noFill/>
                </a:ln>
                <a:solidFill>
                  <a:schemeClr val="tx2">
                    <a:lumMod val="60000"/>
                    <a:lumOff val="40000"/>
                  </a:schemeClr>
                </a:solidFill>
                <a:effectLst/>
                <a:cs typeface="Courier New" pitchFamily="49" charset="0"/>
              </a:rPr>
              <a:t>clear</a:t>
            </a:r>
            <a:r>
              <a:rPr kumimoji="0" lang="fr-FR" sz="1600" b="0" u="none" strike="noStrike" cap="none" normalizeH="0" baseline="0" dirty="0" smtClean="0">
                <a:ln>
                  <a:noFill/>
                </a:ln>
                <a:solidFill>
                  <a:schemeClr val="tx1"/>
                </a:solidFill>
                <a:effectLst/>
                <a:cs typeface="Arial" pitchFamily="34" charset="0"/>
              </a:rPr>
              <a:t>, qui peut prendre ces trois valeurs : </a:t>
            </a:r>
          </a:p>
        </p:txBody>
      </p:sp>
      <p:sp>
        <p:nvSpPr>
          <p:cNvPr id="34819" name="Rectangle 3"/>
          <p:cNvSpPr>
            <a:spLocks noChangeArrowheads="1"/>
          </p:cNvSpPr>
          <p:nvPr/>
        </p:nvSpPr>
        <p:spPr bwMode="auto">
          <a:xfrm>
            <a:off x="152400" y="3810000"/>
            <a:ext cx="8686800" cy="107721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left</a:t>
            </a:r>
            <a:r>
              <a:rPr kumimoji="0" lang="fr-FR" sz="1600" b="0" i="0" u="none" strike="noStrike" cap="none" normalizeH="0" baseline="0" dirty="0" smtClean="0">
                <a:ln>
                  <a:noFill/>
                </a:ln>
                <a:solidFill>
                  <a:srgbClr val="000000"/>
                </a:solidFill>
                <a:effectLst/>
                <a:cs typeface="Arial" pitchFamily="34" charset="0"/>
              </a:rPr>
              <a:t>: le texte se poursuit en-dessous après un </a:t>
            </a:r>
            <a:r>
              <a:rPr kumimoji="0" lang="fr-FR" sz="1600" b="0" i="0" u="none" strike="noStrike" cap="none" normalizeH="0" baseline="0" dirty="0" err="1" smtClean="0">
                <a:ln>
                  <a:noFill/>
                </a:ln>
                <a:solidFill>
                  <a:srgbClr val="000000"/>
                </a:solidFill>
                <a:effectLst/>
                <a:cs typeface="Courier New" pitchFamily="49" charset="0"/>
              </a:rPr>
              <a:t>float</a:t>
            </a:r>
            <a:r>
              <a:rPr kumimoji="0" lang="fr-FR" sz="1600" b="0" i="0" u="none" strike="noStrike" cap="none" normalizeH="0" baseline="0" dirty="0" smtClean="0">
                <a:ln>
                  <a:noFill/>
                </a:ln>
                <a:solidFill>
                  <a:srgbClr val="000000"/>
                </a:solidFill>
                <a:effectLst/>
                <a:cs typeface="Courier New" pitchFamily="49" charset="0"/>
              </a:rPr>
              <a:t>: </a:t>
            </a:r>
            <a:r>
              <a:rPr kumimoji="0" lang="fr-FR" sz="1600" b="0" i="0" u="none" strike="noStrike" cap="none" normalizeH="0" baseline="0" dirty="0" err="1" smtClean="0">
                <a:ln>
                  <a:noFill/>
                </a:ln>
                <a:solidFill>
                  <a:srgbClr val="000000"/>
                </a:solidFill>
                <a:effectLst/>
                <a:cs typeface="Courier New" pitchFamily="49" charset="0"/>
              </a:rPr>
              <a:t>left</a:t>
            </a:r>
            <a:r>
              <a:rPr kumimoji="0" lang="fr-FR" sz="1600" b="0" i="0" u="none" strike="noStrike" cap="none" normalizeH="0" baseline="0" dirty="0" smtClean="0">
                <a:ln>
                  <a:noFill/>
                </a:ln>
                <a:solidFill>
                  <a:srgbClr val="000000"/>
                </a:solidFill>
                <a:effectLst/>
                <a:cs typeface="Courier New" pitchFamily="49" charset="0"/>
              </a:rPr>
              <a:t>;</a:t>
            </a: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right</a:t>
            </a:r>
            <a:r>
              <a:rPr kumimoji="0" lang="fr-FR" sz="1600" b="0" i="0" u="none" strike="noStrike" cap="none" normalizeH="0" baseline="0" dirty="0" smtClean="0">
                <a:ln>
                  <a:noFill/>
                </a:ln>
                <a:solidFill>
                  <a:srgbClr val="000000"/>
                </a:solidFill>
                <a:effectLst/>
                <a:cs typeface="Arial" pitchFamily="34" charset="0"/>
              </a:rPr>
              <a:t>: le texte se poursuit en-dessous après un </a:t>
            </a:r>
            <a:r>
              <a:rPr kumimoji="0" lang="fr-FR" sz="1600" b="0" i="0" u="none" strike="noStrike" cap="none" normalizeH="0" baseline="0" dirty="0" err="1" smtClean="0">
                <a:ln>
                  <a:noFill/>
                </a:ln>
                <a:solidFill>
                  <a:srgbClr val="000000"/>
                </a:solidFill>
                <a:effectLst/>
                <a:cs typeface="Courier New" pitchFamily="49" charset="0"/>
              </a:rPr>
              <a:t>float</a:t>
            </a:r>
            <a:r>
              <a:rPr kumimoji="0" lang="fr-FR" sz="1600" b="0" i="0" u="none" strike="noStrike" cap="none" normalizeH="0" baseline="0" dirty="0" smtClean="0">
                <a:ln>
                  <a:noFill/>
                </a:ln>
                <a:solidFill>
                  <a:srgbClr val="000000"/>
                </a:solidFill>
                <a:effectLst/>
                <a:cs typeface="Courier New" pitchFamily="49" charset="0"/>
              </a:rPr>
              <a:t>: right;</a:t>
            </a: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both</a:t>
            </a:r>
            <a:r>
              <a:rPr kumimoji="0" lang="fr-FR" sz="1600" b="0" i="0" u="none" strike="noStrike" cap="none" normalizeH="0" baseline="0" dirty="0" smtClean="0">
                <a:ln>
                  <a:noFill/>
                </a:ln>
                <a:solidFill>
                  <a:srgbClr val="000000"/>
                </a:solidFill>
                <a:effectLst/>
                <a:cs typeface="Arial" pitchFamily="34" charset="0"/>
              </a:rPr>
              <a:t>: le texte se poursuit en-dessous, que ce soit après un </a:t>
            </a:r>
            <a:r>
              <a:rPr kumimoji="0" lang="fr-FR" sz="1600" b="0" i="0" u="none" strike="noStrike" cap="none" normalizeH="0" baseline="0" dirty="0" err="1" smtClean="0">
                <a:ln>
                  <a:noFill/>
                </a:ln>
                <a:solidFill>
                  <a:srgbClr val="000000"/>
                </a:solidFill>
                <a:effectLst/>
                <a:cs typeface="Courier New" pitchFamily="49" charset="0"/>
              </a:rPr>
              <a:t>float</a:t>
            </a:r>
            <a:r>
              <a:rPr kumimoji="0" lang="fr-FR" sz="1600" b="0" i="0" u="none" strike="noStrike" cap="none" normalizeH="0" baseline="0" dirty="0" smtClean="0">
                <a:ln>
                  <a:noFill/>
                </a:ln>
                <a:solidFill>
                  <a:srgbClr val="000000"/>
                </a:solidFill>
                <a:effectLst/>
                <a:cs typeface="Courier New" pitchFamily="49" charset="0"/>
              </a:rPr>
              <a:t>: </a:t>
            </a:r>
            <a:r>
              <a:rPr kumimoji="0" lang="fr-FR" sz="1600" b="0" i="0" u="none" strike="noStrike" cap="none" normalizeH="0" baseline="0" dirty="0" err="1" smtClean="0">
                <a:ln>
                  <a:noFill/>
                </a:ln>
                <a:solidFill>
                  <a:srgbClr val="000000"/>
                </a:solidFill>
                <a:effectLst/>
                <a:cs typeface="Courier New" pitchFamily="49" charset="0"/>
              </a:rPr>
              <a:t>left</a:t>
            </a:r>
            <a:r>
              <a:rPr kumimoji="0" lang="fr-FR" sz="1600" b="0" i="0" u="none" strike="noStrike" cap="none" normalizeH="0" baseline="0" dirty="0" smtClean="0">
                <a:ln>
                  <a:noFill/>
                </a:ln>
                <a:solidFill>
                  <a:srgbClr val="000000"/>
                </a:solidFill>
                <a:effectLst/>
                <a:cs typeface="Courier New" pitchFamily="49" charset="0"/>
              </a:rPr>
              <a:t>; </a:t>
            </a:r>
            <a:r>
              <a:rPr kumimoji="0" lang="fr-FR" sz="1600" b="0" i="0" u="none" strike="noStrike" cap="none" normalizeH="0" baseline="0" dirty="0" smtClean="0">
                <a:ln>
                  <a:noFill/>
                </a:ln>
                <a:solidFill>
                  <a:srgbClr val="000000"/>
                </a:solidFill>
                <a:effectLst/>
                <a:cs typeface="Arial" pitchFamily="34" charset="0"/>
              </a:rPr>
              <a:t>ou après un </a:t>
            </a:r>
            <a:r>
              <a:rPr kumimoji="0" lang="fr-FR" sz="1600" b="0" i="0" u="none" strike="noStrike" cap="none" normalizeH="0" baseline="0" dirty="0" err="1" smtClean="0">
                <a:ln>
                  <a:noFill/>
                </a:ln>
                <a:solidFill>
                  <a:srgbClr val="000000"/>
                </a:solidFill>
                <a:effectLst/>
                <a:cs typeface="Courier New" pitchFamily="49" charset="0"/>
              </a:rPr>
              <a:t>float</a:t>
            </a:r>
            <a:r>
              <a:rPr kumimoji="0" lang="fr-FR" sz="1600" b="0" i="0" u="none" strike="noStrike" cap="none" normalizeH="0" baseline="0" dirty="0" smtClean="0">
                <a:ln>
                  <a:noFill/>
                </a:ln>
                <a:solidFill>
                  <a:srgbClr val="000000"/>
                </a:solidFill>
                <a:effectLst/>
                <a:cs typeface="Courier New" pitchFamily="49" charset="0"/>
              </a:rPr>
              <a:t>: right;</a:t>
            </a:r>
            <a:r>
              <a:rPr kumimoji="0" lang="fr-FR" sz="1600" b="0" i="0" u="none" strike="noStrike" cap="none" normalizeH="0" baseline="0" dirty="0" smtClean="0">
                <a:ln>
                  <a:noFill/>
                </a:ln>
                <a:solidFill>
                  <a:srgbClr val="000000"/>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endParaRPr kumimoji="0" lang="fr-FR" sz="1600" b="0" i="0" u="none" strike="noStrike" cap="none" normalizeH="0" baseline="0" dirty="0" smtClean="0">
              <a:ln>
                <a:noFill/>
              </a:ln>
              <a:solidFill>
                <a:schemeClr val="tx1"/>
              </a:solidFill>
              <a:effectLst/>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ChangeArrowheads="1"/>
          </p:cNvSpPr>
          <p:nvPr/>
        </p:nvSpPr>
        <p:spPr bwMode="auto">
          <a:xfrm>
            <a:off x="152400" y="147935"/>
            <a:ext cx="89154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Pour simplifier, on va utiliser tout le temps le </a:t>
            </a:r>
            <a:r>
              <a:rPr kumimoji="0" lang="fr-FR" sz="1600" b="0" i="0" u="none" strike="noStrike" cap="none" normalizeH="0" baseline="0" dirty="0" err="1" smtClean="0">
                <a:ln>
                  <a:noFill/>
                </a:ln>
                <a:solidFill>
                  <a:schemeClr val="tx1"/>
                </a:solidFill>
                <a:effectLst/>
                <a:cs typeface="Courier New" pitchFamily="49" charset="0"/>
              </a:rPr>
              <a:t>clear</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err="1" smtClean="0">
                <a:ln>
                  <a:noFill/>
                </a:ln>
                <a:solidFill>
                  <a:schemeClr val="tx1"/>
                </a:solidFill>
                <a:effectLst/>
                <a:cs typeface="Courier New" pitchFamily="49" charset="0"/>
              </a:rPr>
              <a:t>both</a:t>
            </a:r>
            <a:r>
              <a:rPr kumimoji="0" lang="fr-FR" sz="1600" b="0" i="0" u="none" strike="noStrike" cap="none" normalizeH="0" baseline="0" dirty="0" smtClean="0">
                <a:ln>
                  <a:noFill/>
                </a:ln>
                <a:solidFill>
                  <a:schemeClr val="tx1"/>
                </a:solidFill>
                <a:effectLst/>
                <a:cs typeface="Arial" pitchFamily="34" charset="0"/>
              </a:rPr>
              <a:t>, qui marche après un flottant à gauche et après un flottant à droite (cela fonctionne donc à tous les coups). Pour illustrer son fonctionnement, on va prendre ce code HTML : </a:t>
            </a:r>
          </a:p>
        </p:txBody>
      </p:sp>
      <p:sp>
        <p:nvSpPr>
          <p:cNvPr id="5" name="Rectangle 4"/>
          <p:cNvSpPr/>
          <p:nvPr/>
        </p:nvSpPr>
        <p:spPr>
          <a:xfrm>
            <a:off x="228600" y="1143000"/>
            <a:ext cx="8686800" cy="1323439"/>
          </a:xfrm>
          <a:prstGeom prst="rect">
            <a:avLst/>
          </a:prstGeom>
        </p:spPr>
        <p:txBody>
          <a:bodyPr wrap="square">
            <a:spAutoFit/>
          </a:bodyPr>
          <a:lstStyle/>
          <a:p>
            <a:r>
              <a:rPr lang="fr-FR" sz="1600" dirty="0" smtClean="0">
                <a:solidFill>
                  <a:schemeClr val="tx2">
                    <a:lumMod val="60000"/>
                    <a:lumOff val="40000"/>
                  </a:schemeClr>
                </a:solidFill>
              </a:rPr>
              <a:t>&lt;p&gt;</a:t>
            </a:r>
          </a:p>
          <a:p>
            <a:r>
              <a:rPr lang="fr-FR" sz="1600" dirty="0" smtClean="0">
                <a:solidFill>
                  <a:schemeClr val="tx2">
                    <a:lumMod val="60000"/>
                    <a:lumOff val="40000"/>
                  </a:schemeClr>
                </a:solidFill>
              </a:rPr>
              <a:t>	&lt;</a:t>
            </a:r>
            <a:r>
              <a:rPr lang="fr-FR" sz="1600" dirty="0" err="1" smtClean="0">
                <a:solidFill>
                  <a:schemeClr val="tx2">
                    <a:lumMod val="60000"/>
                    <a:lumOff val="40000"/>
                  </a:schemeClr>
                </a:solidFill>
              </a:rPr>
              <a:t>img</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src</a:t>
            </a:r>
            <a:r>
              <a:rPr lang="fr-FR" sz="1600" dirty="0" smtClean="0">
                <a:solidFill>
                  <a:schemeClr val="tx2">
                    <a:lumMod val="60000"/>
                    <a:lumOff val="40000"/>
                  </a:schemeClr>
                </a:solidFill>
              </a:rPr>
              <a:t>="flash.gif" class="</a:t>
            </a:r>
            <a:r>
              <a:rPr lang="fr-FR" sz="1600" dirty="0" err="1" smtClean="0">
                <a:solidFill>
                  <a:schemeClr val="tx2">
                    <a:lumMod val="60000"/>
                    <a:lumOff val="40000"/>
                  </a:schemeClr>
                </a:solidFill>
              </a:rPr>
              <a:t>imageflottante</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alt</a:t>
            </a:r>
            <a:r>
              <a:rPr lang="fr-FR" sz="1600" dirty="0" smtClean="0">
                <a:solidFill>
                  <a:schemeClr val="tx2">
                    <a:lumMod val="60000"/>
                    <a:lumOff val="40000"/>
                  </a:schemeClr>
                </a:solidFill>
              </a:rPr>
              <a:t>="Image flottante" /&gt;</a:t>
            </a:r>
          </a:p>
          <a:p>
            <a:r>
              <a:rPr lang="fr-FR" sz="1600" dirty="0" smtClean="0">
                <a:solidFill>
                  <a:schemeClr val="tx2">
                    <a:lumMod val="60000"/>
                    <a:lumOff val="40000"/>
                  </a:schemeClr>
                </a:solidFill>
              </a:rPr>
              <a:t>&lt;/p&gt;</a:t>
            </a:r>
          </a:p>
          <a:p>
            <a:r>
              <a:rPr lang="fr-FR" sz="1600" dirty="0" smtClean="0">
                <a:solidFill>
                  <a:schemeClr val="tx2">
                    <a:lumMod val="60000"/>
                    <a:lumOff val="40000"/>
                  </a:schemeClr>
                </a:solidFill>
              </a:rPr>
              <a:t>&lt;p&gt;Ce texte est écrit à côté de l'image flottante.&lt;/p&gt;</a:t>
            </a:r>
          </a:p>
          <a:p>
            <a:r>
              <a:rPr lang="fr-FR" sz="1600" dirty="0" smtClean="0">
                <a:solidFill>
                  <a:schemeClr val="tx2">
                    <a:lumMod val="60000"/>
                    <a:lumOff val="40000"/>
                  </a:schemeClr>
                </a:solidFill>
              </a:rPr>
              <a:t>&lt;p class="dessous"&gt;Ce texte est écrit sous l'image flottante.&lt;/p&gt;</a:t>
            </a:r>
            <a:endParaRPr lang="fr-FR" sz="1600" dirty="0">
              <a:solidFill>
                <a:schemeClr val="tx2">
                  <a:lumMod val="60000"/>
                  <a:lumOff val="40000"/>
                </a:schemeClr>
              </a:solidFill>
            </a:endParaRPr>
          </a:p>
        </p:txBody>
      </p:sp>
      <p:sp>
        <p:nvSpPr>
          <p:cNvPr id="6" name="Rectangle 5"/>
          <p:cNvSpPr/>
          <p:nvPr/>
        </p:nvSpPr>
        <p:spPr>
          <a:xfrm>
            <a:off x="304800" y="2709446"/>
            <a:ext cx="1483740" cy="338554"/>
          </a:xfrm>
          <a:prstGeom prst="rect">
            <a:avLst/>
          </a:prstGeom>
        </p:spPr>
        <p:txBody>
          <a:bodyPr wrap="none">
            <a:spAutoFit/>
          </a:bodyPr>
          <a:lstStyle/>
          <a:p>
            <a:r>
              <a:rPr lang="fr-FR" sz="1600" dirty="0" smtClean="0"/>
              <a:t>Et ce code CSS :</a:t>
            </a:r>
            <a:endParaRPr lang="fr-FR" sz="1600" dirty="0"/>
          </a:p>
        </p:txBody>
      </p:sp>
      <p:sp>
        <p:nvSpPr>
          <p:cNvPr id="7" name="Rectangle 6"/>
          <p:cNvSpPr/>
          <p:nvPr/>
        </p:nvSpPr>
        <p:spPr>
          <a:xfrm>
            <a:off x="304800" y="3195697"/>
            <a:ext cx="8458200" cy="2062103"/>
          </a:xfrm>
          <a:prstGeom prst="rect">
            <a:avLst/>
          </a:prstGeom>
        </p:spPr>
        <p:txBody>
          <a:bodyPr wrap="square">
            <a:spAutoFit/>
          </a:bodyPr>
          <a:lstStyle/>
          <a:p>
            <a:r>
              <a:rPr lang="fr-FR" sz="1600" dirty="0" smtClean="0">
                <a:solidFill>
                  <a:schemeClr val="tx2">
                    <a:lumMod val="60000"/>
                    <a:lumOff val="40000"/>
                  </a:schemeClr>
                </a:solidFill>
              </a:rPr>
              <a:t>.</a:t>
            </a:r>
            <a:r>
              <a:rPr lang="fr-FR" sz="1600" dirty="0" err="1" smtClean="0">
                <a:solidFill>
                  <a:schemeClr val="tx2">
                    <a:lumMod val="60000"/>
                    <a:lumOff val="40000"/>
                  </a:schemeClr>
                </a:solidFill>
              </a:rPr>
              <a:t>imageflottante</a:t>
            </a:r>
            <a:endParaRPr lang="fr-FR" sz="1600" dirty="0" smtClean="0">
              <a:solidFill>
                <a:schemeClr val="tx2">
                  <a:lumMod val="60000"/>
                  <a:lumOff val="40000"/>
                </a:schemeClr>
              </a:solidFill>
            </a:endParaRP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float</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left</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.dessous</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clear</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both</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36866" name="Rectangle 2"/>
          <p:cNvSpPr>
            <a:spLocks noChangeArrowheads="1"/>
          </p:cNvSpPr>
          <p:nvPr/>
        </p:nvSpPr>
        <p:spPr bwMode="auto">
          <a:xfrm>
            <a:off x="76200" y="5562599"/>
            <a:ext cx="8839200" cy="3385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On applique un </a:t>
            </a:r>
            <a:r>
              <a:rPr kumimoji="0" lang="fr-FR" sz="1600" b="0" i="0" u="none" strike="noStrike" cap="none" normalizeH="0" baseline="0" dirty="0" err="1" smtClean="0">
                <a:ln>
                  <a:noFill/>
                </a:ln>
                <a:solidFill>
                  <a:schemeClr val="tx1"/>
                </a:solidFill>
                <a:effectLst/>
                <a:cs typeface="Courier New" pitchFamily="49" charset="0"/>
              </a:rPr>
              <a:t>clear</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err="1" smtClean="0">
                <a:ln>
                  <a:noFill/>
                </a:ln>
                <a:solidFill>
                  <a:schemeClr val="tx1"/>
                </a:solidFill>
                <a:effectLst/>
                <a:cs typeface="Courier New" pitchFamily="49" charset="0"/>
              </a:rPr>
              <a:t>both</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au paragraphe que l'on veut voir continuer sous l'image flottante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5"/>
          <p:cNvSpPr txBox="1"/>
          <p:nvPr/>
        </p:nvSpPr>
        <p:spPr>
          <a:xfrm>
            <a:off x="329680" y="152400"/>
            <a:ext cx="8280920" cy="461665"/>
          </a:xfrm>
          <a:prstGeom prst="rect">
            <a:avLst/>
          </a:prstGeom>
          <a:noFill/>
        </p:spPr>
        <p:txBody>
          <a:bodyPr wrap="square" rtlCol="0">
            <a:spAutoFit/>
          </a:bodyPr>
          <a:lstStyle/>
          <a:p>
            <a:r>
              <a:rPr lang="fr-FR" sz="2400" b="1" dirty="0" smtClean="0"/>
              <a:t>C. </a:t>
            </a:r>
            <a:r>
              <a:rPr lang="fr-FR" sz="2400" b="1" u="sng" dirty="0" smtClean="0"/>
              <a:t>Ajout de couleur et de fond</a:t>
            </a:r>
          </a:p>
        </p:txBody>
      </p:sp>
      <p:sp>
        <p:nvSpPr>
          <p:cNvPr id="5" name="Rectangle 4"/>
          <p:cNvSpPr/>
          <p:nvPr/>
        </p:nvSpPr>
        <p:spPr>
          <a:xfrm>
            <a:off x="329680" y="614065"/>
            <a:ext cx="2210157" cy="400110"/>
          </a:xfrm>
          <a:prstGeom prst="rect">
            <a:avLst/>
          </a:prstGeom>
        </p:spPr>
        <p:txBody>
          <a:bodyPr wrap="none">
            <a:spAutoFit/>
          </a:bodyPr>
          <a:lstStyle/>
          <a:p>
            <a:r>
              <a:rPr lang="fr-FR" sz="2000" b="1" dirty="0" smtClean="0"/>
              <a:t>1. </a:t>
            </a:r>
            <a:r>
              <a:rPr lang="fr-FR" sz="2000" b="1" u="sng" dirty="0" smtClean="0"/>
              <a:t>Couleur du texte</a:t>
            </a:r>
            <a:endParaRPr lang="fr-FR" sz="2000" b="1" u="sng" dirty="0"/>
          </a:p>
        </p:txBody>
      </p:sp>
      <p:sp>
        <p:nvSpPr>
          <p:cNvPr id="6" name="Rectangle 1"/>
          <p:cNvSpPr>
            <a:spLocks noChangeArrowheads="1"/>
          </p:cNvSpPr>
          <p:nvPr/>
        </p:nvSpPr>
        <p:spPr bwMode="auto">
          <a:xfrm>
            <a:off x="35942" y="1014175"/>
            <a:ext cx="8955657"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Vous connaissez déjà la propriété qui permet de modifier la couleur du texte : il s'agit de </a:t>
            </a:r>
            <a:r>
              <a:rPr kumimoji="0" lang="fr-FR" sz="1600" b="0" i="0" u="none" strike="noStrike" cap="none" normalizeH="0" baseline="0" dirty="0" err="1" smtClean="0">
                <a:ln>
                  <a:noFill/>
                </a:ln>
                <a:solidFill>
                  <a:schemeClr val="tx2">
                    <a:lumMod val="60000"/>
                    <a:lumOff val="40000"/>
                  </a:schemeClr>
                </a:solidFill>
                <a:effectLst/>
                <a:latin typeface="+mn-lt"/>
                <a:cs typeface="Courier New" panose="02070309020205020404" pitchFamily="49" charset="0"/>
              </a:rPr>
              <a:t>color</a:t>
            </a:r>
            <a:r>
              <a:rPr kumimoji="0" lang="fr-FR" sz="1600" b="0" i="0" u="none" strike="noStrike" cap="none" normalizeH="0" baseline="0" dirty="0" smtClean="0">
                <a:ln>
                  <a:noFill/>
                </a:ln>
                <a:solidFill>
                  <a:schemeClr val="tx1"/>
                </a:solidFill>
                <a:effectLst/>
                <a:latin typeface="+mn-lt"/>
              </a:rPr>
              <a:t>. Nous allons nous intéresser aux différentes façons d'indiquer la couleur, car il y en a plusieurs. </a:t>
            </a:r>
          </a:p>
        </p:txBody>
      </p:sp>
      <p:sp>
        <p:nvSpPr>
          <p:cNvPr id="7" name="Rectangle 6"/>
          <p:cNvSpPr/>
          <p:nvPr/>
        </p:nvSpPr>
        <p:spPr>
          <a:xfrm>
            <a:off x="345495" y="1676400"/>
            <a:ext cx="3270895" cy="369332"/>
          </a:xfrm>
          <a:prstGeom prst="rect">
            <a:avLst/>
          </a:prstGeom>
        </p:spPr>
        <p:txBody>
          <a:bodyPr wrap="none">
            <a:spAutoFit/>
          </a:bodyPr>
          <a:lstStyle/>
          <a:p>
            <a:r>
              <a:rPr lang="fr-FR" b="1" dirty="0" smtClean="0"/>
              <a:t>a. </a:t>
            </a:r>
            <a:r>
              <a:rPr lang="fr-FR" b="1" u="sng" dirty="0" smtClean="0"/>
              <a:t>Indiquer </a:t>
            </a:r>
            <a:r>
              <a:rPr lang="fr-FR" b="1" u="sng" dirty="0"/>
              <a:t>le nom de la couleur</a:t>
            </a:r>
            <a:endParaRPr lang="fr-FR" b="1" i="0" u="sng" dirty="0">
              <a:effectLst/>
            </a:endParaRPr>
          </a:p>
        </p:txBody>
      </p:sp>
      <p:sp>
        <p:nvSpPr>
          <p:cNvPr id="8" name="Rectangle 7"/>
          <p:cNvSpPr/>
          <p:nvPr/>
        </p:nvSpPr>
        <p:spPr>
          <a:xfrm>
            <a:off x="35940" y="2123183"/>
            <a:ext cx="6974460" cy="830997"/>
          </a:xfrm>
          <a:prstGeom prst="rect">
            <a:avLst/>
          </a:prstGeom>
        </p:spPr>
        <p:txBody>
          <a:bodyPr wrap="square">
            <a:spAutoFit/>
          </a:bodyPr>
          <a:lstStyle/>
          <a:p>
            <a:pPr algn="just"/>
            <a:r>
              <a:rPr lang="fr-FR" sz="1600" dirty="0"/>
              <a:t>La méthode la plus simple et la plus pratique pour choisir une couleur consiste à taper son nom </a:t>
            </a:r>
            <a:r>
              <a:rPr lang="fr-FR" sz="1600" dirty="0" smtClean="0"/>
              <a:t>(</a:t>
            </a:r>
            <a:r>
              <a:rPr lang="fr-FR" sz="1600" i="1" dirty="0" smtClean="0"/>
              <a:t>en anglais</a:t>
            </a:r>
            <a:r>
              <a:rPr lang="fr-FR" sz="1600" dirty="0" smtClean="0"/>
              <a:t>). </a:t>
            </a:r>
            <a:r>
              <a:rPr lang="fr-FR" sz="1600" dirty="0"/>
              <a:t>Le seul défaut de cette méthode est qu'il n'existe que seize couleurs dites « standard ».</a:t>
            </a:r>
          </a:p>
        </p:txBody>
      </p:sp>
      <p:pic>
        <p:nvPicPr>
          <p:cNvPr id="9" name="Image 8"/>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162800" y="2045732"/>
            <a:ext cx="1600200" cy="4628270"/>
          </a:xfrm>
          <a:prstGeom prst="rect">
            <a:avLst/>
          </a:prstGeom>
        </p:spPr>
      </p:pic>
      <p:sp>
        <p:nvSpPr>
          <p:cNvPr id="10" name="Rectangle 9"/>
          <p:cNvSpPr/>
          <p:nvPr/>
        </p:nvSpPr>
        <p:spPr>
          <a:xfrm>
            <a:off x="38814" y="2971800"/>
            <a:ext cx="6895385" cy="338554"/>
          </a:xfrm>
          <a:prstGeom prst="rect">
            <a:avLst/>
          </a:prstGeom>
        </p:spPr>
        <p:txBody>
          <a:bodyPr wrap="square">
            <a:spAutoFit/>
          </a:bodyPr>
          <a:lstStyle/>
          <a:p>
            <a:r>
              <a:rPr lang="fr-FR" sz="1600" dirty="0" smtClean="0"/>
              <a:t>Pour passer tous les titres en rouge, on peut donc écrire :</a:t>
            </a:r>
            <a:endParaRPr lang="fr-FR" sz="1600" dirty="0"/>
          </a:p>
        </p:txBody>
      </p:sp>
      <p:sp>
        <p:nvSpPr>
          <p:cNvPr id="11" name="ZoneTexte 10"/>
          <p:cNvSpPr txBox="1"/>
          <p:nvPr/>
        </p:nvSpPr>
        <p:spPr>
          <a:xfrm>
            <a:off x="35940" y="3295471"/>
            <a:ext cx="1361142" cy="1200329"/>
          </a:xfrm>
          <a:prstGeom prst="rect">
            <a:avLst/>
          </a:prstGeom>
          <a:noFill/>
        </p:spPr>
        <p:txBody>
          <a:bodyPr wrap="none" rtlCol="0">
            <a:spAutoFit/>
          </a:bodyPr>
          <a:lstStyle/>
          <a:p>
            <a:r>
              <a:rPr lang="fr-FR" dirty="0">
                <a:solidFill>
                  <a:schemeClr val="tx2">
                    <a:lumMod val="60000"/>
                    <a:lumOff val="40000"/>
                  </a:schemeClr>
                </a:solidFill>
              </a:rPr>
              <a:t>h1</a:t>
            </a:r>
          </a:p>
          <a:p>
            <a:r>
              <a:rPr lang="fr-FR" dirty="0">
                <a:solidFill>
                  <a:schemeClr val="tx2">
                    <a:lumMod val="60000"/>
                    <a:lumOff val="40000"/>
                  </a:schemeClr>
                </a:solidFill>
              </a:rPr>
              <a:t>{</a:t>
            </a:r>
          </a:p>
          <a:p>
            <a:r>
              <a:rPr lang="fr-FR" dirty="0">
                <a:solidFill>
                  <a:schemeClr val="tx2">
                    <a:lumMod val="60000"/>
                    <a:lumOff val="40000"/>
                  </a:schemeClr>
                </a:solidFill>
              </a:rPr>
              <a:t>    </a:t>
            </a:r>
            <a:r>
              <a:rPr lang="fr-FR" dirty="0" err="1">
                <a:solidFill>
                  <a:schemeClr val="tx2">
                    <a:lumMod val="60000"/>
                    <a:lumOff val="40000"/>
                  </a:schemeClr>
                </a:solidFill>
              </a:rPr>
              <a:t>color</a:t>
            </a:r>
            <a:r>
              <a:rPr lang="fr-FR" dirty="0">
                <a:solidFill>
                  <a:schemeClr val="tx2">
                    <a:lumMod val="60000"/>
                    <a:lumOff val="40000"/>
                  </a:schemeClr>
                </a:solidFill>
              </a:rPr>
              <a:t>: </a:t>
            </a:r>
            <a:r>
              <a:rPr lang="fr-FR" dirty="0" err="1" smtClean="0">
                <a:solidFill>
                  <a:schemeClr val="tx2">
                    <a:lumMod val="60000"/>
                    <a:lumOff val="40000"/>
                  </a:schemeClr>
                </a:solidFill>
              </a:rPr>
              <a:t>red</a:t>
            </a:r>
            <a:r>
              <a:rPr lang="fr-FR" dirty="0" smtClean="0">
                <a:solidFill>
                  <a:schemeClr val="tx2">
                    <a:lumMod val="60000"/>
                    <a:lumOff val="40000"/>
                  </a:schemeClr>
                </a:solidFill>
              </a:rPr>
              <a:t>;</a:t>
            </a:r>
            <a:endParaRPr lang="fr-FR" dirty="0">
              <a:solidFill>
                <a:schemeClr val="tx2">
                  <a:lumMod val="60000"/>
                  <a:lumOff val="40000"/>
                </a:schemeClr>
              </a:solidFill>
            </a:endParaRPr>
          </a:p>
          <a:p>
            <a:r>
              <a:rPr lang="fr-FR" dirty="0">
                <a:solidFill>
                  <a:schemeClr val="tx2">
                    <a:lumMod val="60000"/>
                    <a:lumOff val="40000"/>
                  </a:schemeClr>
                </a:solidFill>
              </a:rPr>
              <a:t>}</a:t>
            </a:r>
          </a:p>
        </p:txBody>
      </p:sp>
    </p:spTree>
    <p:extLst>
      <p:ext uri="{BB962C8B-B14F-4D97-AF65-F5344CB8AC3E}">
        <p14:creationId xmlns="" xmlns:p14="http://schemas.microsoft.com/office/powerpoint/2010/main" val="148987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41042"/>
            <a:ext cx="8686800" cy="4031873"/>
          </a:xfrm>
          <a:prstGeom prst="rect">
            <a:avLst/>
          </a:prstGeom>
        </p:spPr>
        <p:txBody>
          <a:bodyPr wrap="square">
            <a:spAutoFit/>
          </a:bodyPr>
          <a:lstStyle/>
          <a:p>
            <a:pPr algn="just"/>
            <a:r>
              <a:rPr lang="fr-FR" sz="1600" b="1" dirty="0" smtClean="0"/>
              <a:t>b. </a:t>
            </a:r>
            <a:r>
              <a:rPr lang="fr-FR" sz="1600" b="1" u="sng" dirty="0" smtClean="0"/>
              <a:t>La notation hexadécimale</a:t>
            </a:r>
          </a:p>
          <a:p>
            <a:pPr algn="just"/>
            <a:endParaRPr lang="fr-FR" sz="1600" b="1" u="sng" dirty="0"/>
          </a:p>
          <a:p>
            <a:pPr algn="just"/>
            <a:r>
              <a:rPr lang="fr-FR" sz="1600" dirty="0" smtClean="0"/>
              <a:t>Il existe </a:t>
            </a:r>
            <a:r>
              <a:rPr lang="fr-FR" sz="1600" dirty="0"/>
              <a:t>en CSS plusieurs façons de choisir une couleur parmi toutes celles qui existent. </a:t>
            </a:r>
            <a:endParaRPr lang="fr-FR" sz="1600" dirty="0" smtClean="0"/>
          </a:p>
          <a:p>
            <a:pPr algn="just"/>
            <a:r>
              <a:rPr lang="fr-FR" sz="1600" dirty="0" smtClean="0"/>
              <a:t>La </a:t>
            </a:r>
            <a:r>
              <a:rPr lang="fr-FR" sz="1600" dirty="0"/>
              <a:t>première </a:t>
            </a:r>
            <a:r>
              <a:rPr lang="fr-FR" sz="1600" dirty="0" smtClean="0"/>
              <a:t>est </a:t>
            </a:r>
            <a:r>
              <a:rPr lang="fr-FR" sz="1600" dirty="0"/>
              <a:t>la notation hexadécimale. Elle est couramment utilisée sur le </a:t>
            </a:r>
            <a:r>
              <a:rPr lang="fr-FR" sz="1600" dirty="0" smtClean="0"/>
              <a:t>Web.</a:t>
            </a:r>
          </a:p>
          <a:p>
            <a:pPr algn="just"/>
            <a:endParaRPr lang="fr-FR" sz="1600" dirty="0"/>
          </a:p>
          <a:p>
            <a:pPr algn="just"/>
            <a:r>
              <a:rPr lang="fr-FR" sz="1600" dirty="0"/>
              <a:t>Un nom de couleur en hexadécimal, cela ressemble à : </a:t>
            </a:r>
            <a:r>
              <a:rPr lang="fr-FR" sz="1600" dirty="0">
                <a:solidFill>
                  <a:srgbClr val="FF0000"/>
                </a:solidFill>
              </a:rPr>
              <a:t>#FF5A28</a:t>
            </a:r>
            <a:r>
              <a:rPr lang="fr-FR" sz="1600" dirty="0"/>
              <a:t>. </a:t>
            </a:r>
            <a:endParaRPr lang="fr-FR" sz="1600" dirty="0" smtClean="0"/>
          </a:p>
          <a:p>
            <a:pPr algn="just"/>
            <a:r>
              <a:rPr lang="fr-FR" sz="1600" dirty="0" smtClean="0"/>
              <a:t>Pour </a:t>
            </a:r>
            <a:r>
              <a:rPr lang="fr-FR" sz="1600" dirty="0"/>
              <a:t>faire simple, c'est une combinaison de lettres et de chiffres qui indiquent une couleur</a:t>
            </a:r>
            <a:r>
              <a:rPr lang="fr-FR" sz="1600" dirty="0" smtClean="0"/>
              <a:t>.</a:t>
            </a:r>
          </a:p>
          <a:p>
            <a:pPr algn="just"/>
            <a:r>
              <a:rPr lang="fr-FR" sz="1600" dirty="0"/>
              <a:t/>
            </a:r>
            <a:br>
              <a:rPr lang="fr-FR" sz="1600" dirty="0"/>
            </a:br>
            <a:r>
              <a:rPr lang="fr-FR" sz="1600" dirty="0"/>
              <a:t>On doit toujours commencer par écrire un dièse </a:t>
            </a:r>
            <a:r>
              <a:rPr lang="fr-FR" sz="1600" dirty="0">
                <a:solidFill>
                  <a:srgbClr val="FF0000"/>
                </a:solidFill>
              </a:rPr>
              <a:t>(#)</a:t>
            </a:r>
            <a:r>
              <a:rPr lang="fr-FR" sz="1600" dirty="0"/>
              <a:t>, suivi de six lettres ou chiffres allant de 0 à 9 et de A à F</a:t>
            </a:r>
            <a:r>
              <a:rPr lang="fr-FR" sz="1600" dirty="0" smtClean="0"/>
              <a:t>.</a:t>
            </a:r>
          </a:p>
          <a:p>
            <a:pPr algn="just"/>
            <a:r>
              <a:rPr lang="fr-FR" sz="1600" dirty="0"/>
              <a:t/>
            </a:r>
            <a:br>
              <a:rPr lang="fr-FR" sz="1600" dirty="0"/>
            </a:br>
            <a:r>
              <a:rPr lang="fr-FR" sz="1600" dirty="0"/>
              <a:t>Ces lettres ou chiffres fonctionnent deux par deux. Les deux premiers indiquent une quantité de rouge, les deux suivants une quantité de vert et les deux derniers une quantité de bleu. En mélangeant ces quantités (qui sont les composantes </a:t>
            </a:r>
            <a:r>
              <a:rPr lang="fr-FR" sz="1600" dirty="0">
                <a:solidFill>
                  <a:srgbClr val="FF0000"/>
                </a:solidFill>
              </a:rPr>
              <a:t>Rouge-Vert-Bleu de la couleur</a:t>
            </a:r>
            <a:r>
              <a:rPr lang="fr-FR" sz="1600" dirty="0"/>
              <a:t>) on peut obtenir la couleur qu'on veut.</a:t>
            </a:r>
          </a:p>
          <a:p>
            <a:pPr algn="just"/>
            <a:r>
              <a:rPr lang="fr-FR" sz="1600" dirty="0"/>
              <a:t>Ainsi, </a:t>
            </a:r>
            <a:r>
              <a:rPr lang="fr-FR" sz="1600" dirty="0">
                <a:solidFill>
                  <a:srgbClr val="FF0000"/>
                </a:solidFill>
              </a:rPr>
              <a:t>#000000 </a:t>
            </a:r>
            <a:r>
              <a:rPr lang="fr-FR" sz="1600" dirty="0"/>
              <a:t>correspond à la couleur noire et </a:t>
            </a:r>
            <a:r>
              <a:rPr lang="fr-FR" sz="1600" dirty="0">
                <a:solidFill>
                  <a:srgbClr val="FF0000"/>
                </a:solidFill>
              </a:rPr>
              <a:t>#FFFFFF </a:t>
            </a:r>
            <a:r>
              <a:rPr lang="fr-FR" sz="1600" dirty="0"/>
              <a:t>à la couleur blanche. </a:t>
            </a:r>
            <a:endParaRPr lang="fr-FR" sz="1600" b="1" u="sng" dirty="0"/>
          </a:p>
        </p:txBody>
      </p:sp>
      <p:sp>
        <p:nvSpPr>
          <p:cNvPr id="5" name="ZoneTexte 4"/>
          <p:cNvSpPr txBox="1"/>
          <p:nvPr/>
        </p:nvSpPr>
        <p:spPr>
          <a:xfrm>
            <a:off x="304800" y="4343400"/>
            <a:ext cx="8686800" cy="830997"/>
          </a:xfrm>
          <a:prstGeom prst="rect">
            <a:avLst/>
          </a:prstGeom>
          <a:noFill/>
        </p:spPr>
        <p:txBody>
          <a:bodyPr wrap="square" rtlCol="0">
            <a:spAutoFit/>
          </a:bodyPr>
          <a:lstStyle/>
          <a:p>
            <a:r>
              <a:rPr lang="fr-FR" sz="1600" dirty="0"/>
              <a:t>Certains logiciels de dessin, comme Photoshop, </a:t>
            </a:r>
            <a:r>
              <a:rPr lang="fr-FR" sz="1600" b="1" dirty="0" err="1" smtClean="0"/>
              <a:t>Gimp</a:t>
            </a:r>
            <a:r>
              <a:rPr lang="fr-FR" sz="1600" dirty="0" smtClean="0"/>
              <a:t>,</a:t>
            </a:r>
            <a:r>
              <a:rPr lang="fr-FR" sz="1600" dirty="0"/>
              <a:t> </a:t>
            </a:r>
            <a:r>
              <a:rPr lang="fr-FR" sz="1600" b="1" dirty="0"/>
              <a:t>Paint.NET</a:t>
            </a:r>
            <a:r>
              <a:rPr lang="fr-FR" sz="1600" dirty="0" smtClean="0"/>
              <a:t>, </a:t>
            </a:r>
            <a:r>
              <a:rPr lang="fr-FR" sz="1600" b="1" dirty="0" smtClean="0"/>
              <a:t>Adobe </a:t>
            </a:r>
            <a:r>
              <a:rPr lang="fr-FR" sz="1600" b="1" dirty="0" err="1" smtClean="0"/>
              <a:t>Fireworks</a:t>
            </a:r>
            <a:r>
              <a:rPr lang="fr-FR" sz="1600" b="1" dirty="0" smtClean="0"/>
              <a:t> </a:t>
            </a:r>
            <a:r>
              <a:rPr lang="fr-FR" sz="1600" dirty="0"/>
              <a:t>vous indiquent les couleurs en hexadécimal. Il vous est alors facile de copier-coller le code hexadécimal d'une couleur dans votre fichier CSS.</a:t>
            </a:r>
          </a:p>
        </p:txBody>
      </p:sp>
      <p:sp>
        <p:nvSpPr>
          <p:cNvPr id="6" name="Rectangle 5"/>
          <p:cNvSpPr/>
          <p:nvPr/>
        </p:nvSpPr>
        <p:spPr>
          <a:xfrm>
            <a:off x="304800" y="5181600"/>
            <a:ext cx="4572000" cy="1077218"/>
          </a:xfrm>
          <a:prstGeom prst="rect">
            <a:avLst/>
          </a:prstGeom>
        </p:spPr>
        <p:txBody>
          <a:bodyPr>
            <a:spAutoFit/>
          </a:bodyPr>
          <a:lstStyle/>
          <a:p>
            <a:r>
              <a:rPr lang="fr-FR" sz="1600" dirty="0">
                <a:solidFill>
                  <a:schemeClr val="tx2">
                    <a:lumMod val="60000"/>
                    <a:lumOff val="40000"/>
                  </a:schemeClr>
                </a:solidFill>
              </a:rPr>
              <a:t>p</a:t>
            </a:r>
          </a:p>
          <a:p>
            <a:r>
              <a:rPr lang="fr-FR" sz="1600" dirty="0">
                <a:solidFill>
                  <a:schemeClr val="tx2">
                    <a:lumMod val="60000"/>
                    <a:lumOff val="40000"/>
                  </a:schemeClr>
                </a:solidFill>
              </a:rPr>
              <a:t>{</a:t>
            </a:r>
          </a:p>
          <a:p>
            <a:r>
              <a:rPr lang="fr-FR" sz="1600" dirty="0">
                <a:solidFill>
                  <a:schemeClr val="tx2">
                    <a:lumMod val="60000"/>
                    <a:lumOff val="40000"/>
                  </a:schemeClr>
                </a:solidFill>
              </a:rPr>
              <a:t>    </a:t>
            </a:r>
            <a:r>
              <a:rPr lang="fr-FR" sz="1600" dirty="0" err="1">
                <a:solidFill>
                  <a:schemeClr val="tx2">
                    <a:lumMod val="60000"/>
                    <a:lumOff val="40000"/>
                  </a:schemeClr>
                </a:solidFill>
              </a:rPr>
              <a:t>color</a:t>
            </a:r>
            <a:r>
              <a:rPr lang="fr-FR" sz="1600" dirty="0">
                <a:solidFill>
                  <a:schemeClr val="tx2">
                    <a:lumMod val="60000"/>
                    <a:lumOff val="40000"/>
                  </a:schemeClr>
                </a:solidFill>
              </a:rPr>
              <a:t>: #FFFFFF;</a:t>
            </a:r>
          </a:p>
          <a:p>
            <a:r>
              <a:rPr lang="fr-FR" sz="1600" dirty="0">
                <a:solidFill>
                  <a:schemeClr val="tx2">
                    <a:lumMod val="60000"/>
                    <a:lumOff val="40000"/>
                  </a:schemeClr>
                </a:solidFill>
              </a:rPr>
              <a:t>}</a:t>
            </a:r>
          </a:p>
        </p:txBody>
      </p:sp>
    </p:spTree>
    <p:extLst>
      <p:ext uri="{BB962C8B-B14F-4D97-AF65-F5344CB8AC3E}">
        <p14:creationId xmlns="" xmlns:p14="http://schemas.microsoft.com/office/powerpoint/2010/main" val="2994558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
            <a:ext cx="2149243" cy="400110"/>
          </a:xfrm>
          <a:prstGeom prst="rect">
            <a:avLst/>
          </a:prstGeom>
        </p:spPr>
        <p:txBody>
          <a:bodyPr wrap="none">
            <a:spAutoFit/>
          </a:bodyPr>
          <a:lstStyle/>
          <a:p>
            <a:r>
              <a:rPr lang="fr-FR" sz="2000" b="1" dirty="0" smtClean="0"/>
              <a:t>2. </a:t>
            </a:r>
            <a:r>
              <a:rPr lang="fr-FR" sz="2000" b="1" u="sng" dirty="0" smtClean="0"/>
              <a:t>Couleur de fond</a:t>
            </a:r>
            <a:endParaRPr lang="fr-FR" sz="2000" b="1" u="sng" dirty="0"/>
          </a:p>
        </p:txBody>
      </p:sp>
      <p:sp>
        <p:nvSpPr>
          <p:cNvPr id="5" name="Rectangle 1"/>
          <p:cNvSpPr>
            <a:spLocks noChangeArrowheads="1"/>
          </p:cNvSpPr>
          <p:nvPr/>
        </p:nvSpPr>
        <p:spPr bwMode="auto">
          <a:xfrm>
            <a:off x="228600" y="628710"/>
            <a:ext cx="8763000" cy="181588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Pour indiquer une couleur de fond, on utilise la propriété CSS </a:t>
            </a:r>
            <a:r>
              <a:rPr kumimoji="0" lang="fr-FR" sz="1600" b="0" i="0" u="none" strike="noStrike" cap="none" normalizeH="0" baseline="0" dirty="0" smtClean="0">
                <a:ln>
                  <a:noFill/>
                </a:ln>
                <a:solidFill>
                  <a:schemeClr val="tx2">
                    <a:lumMod val="60000"/>
                    <a:lumOff val="40000"/>
                  </a:schemeClr>
                </a:solidFill>
                <a:effectLst/>
                <a:latin typeface="+mn-lt"/>
                <a:cs typeface="Courier New" panose="02070309020205020404" pitchFamily="49" charset="0"/>
              </a:rPr>
              <a:t>background-</a:t>
            </a:r>
            <a:r>
              <a:rPr kumimoji="0" lang="fr-FR" sz="1600" b="0" i="0" u="none" strike="noStrike" cap="none" normalizeH="0" baseline="0" dirty="0" err="1" smtClean="0">
                <a:ln>
                  <a:noFill/>
                </a:ln>
                <a:solidFill>
                  <a:schemeClr val="tx2">
                    <a:lumMod val="60000"/>
                    <a:lumOff val="40000"/>
                  </a:schemeClr>
                </a:solidFill>
                <a:effectLst/>
                <a:latin typeface="+mn-lt"/>
                <a:cs typeface="Courier New" panose="02070309020205020404" pitchFamily="49" charset="0"/>
              </a:rPr>
              <a:t>color</a:t>
            </a:r>
            <a:r>
              <a:rPr kumimoji="0" lang="fr-FR" sz="1600" b="0" i="0" u="none" strike="noStrike" cap="none" normalizeH="0" baseline="0" dirty="0" smtClean="0">
                <a:ln>
                  <a:noFill/>
                </a:ln>
                <a:solidFill>
                  <a:schemeClr val="tx1"/>
                </a:solidFill>
                <a:effectLst/>
                <a:latin typeface="+mn-lt"/>
              </a:rPr>
              <a:t>. Elle s'utilise de la même manière que la propriété </a:t>
            </a:r>
            <a:r>
              <a:rPr kumimoji="0" lang="fr-FR" sz="1600" b="0" i="0" u="none" strike="noStrike" cap="none" normalizeH="0" baseline="0" dirty="0" err="1" smtClean="0">
                <a:ln>
                  <a:noFill/>
                </a:ln>
                <a:solidFill>
                  <a:schemeClr val="tx1"/>
                </a:solidFill>
                <a:effectLst/>
                <a:latin typeface="+mn-lt"/>
                <a:cs typeface="Courier New" panose="02070309020205020404" pitchFamily="49" charset="0"/>
              </a:rPr>
              <a:t>color</a:t>
            </a:r>
            <a:r>
              <a:rPr kumimoji="0" lang="fr-FR" sz="1600" b="0" i="0" u="none" strike="noStrike" cap="none" normalizeH="0" baseline="0" dirty="0" smtClean="0">
                <a:ln>
                  <a:noFill/>
                </a:ln>
                <a:solidFill>
                  <a:schemeClr val="tx1"/>
                </a:solidFill>
                <a:effectLst/>
                <a:latin typeface="+mn-lt"/>
              </a:rPr>
              <a:t>, c'est-à-dire que vous pouvez taper le nom d'une couleur ou  l'écrire en notation hexadécimale.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Pour indiquer la couleur de fond de la page web, il faut travailler sur la balise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&lt;body&gt;</a:t>
            </a:r>
            <a:r>
              <a:rPr kumimoji="0" lang="fr-FR" sz="1600" b="0" i="0" u="none" strike="noStrike" cap="none" normalizeH="0" baseline="0" dirty="0" smtClean="0">
                <a:ln>
                  <a:noFill/>
                </a:ln>
                <a:solidFill>
                  <a:schemeClr val="tx1"/>
                </a:solidFill>
                <a:effectLst/>
                <a:latin typeface="+mn-lt"/>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cs typeface="Courier New" panose="02070309020205020404" pitchFamily="49" charset="0"/>
              </a:rPr>
              <a:t>&lt;body&gt; </a:t>
            </a:r>
            <a:r>
              <a:rPr kumimoji="0" lang="fr-FR" sz="1600" b="0" i="0" u="none" strike="noStrike" cap="none" normalizeH="0" baseline="0" dirty="0" smtClean="0">
                <a:ln>
                  <a:noFill/>
                </a:ln>
                <a:solidFill>
                  <a:schemeClr val="tx1"/>
                </a:solidFill>
                <a:effectLst/>
                <a:latin typeface="+mn-lt"/>
              </a:rPr>
              <a:t>correspond à l'ensemble de la page web, c'est donc en modifiant sa couleur de fond que l'on changera la couleur d'arrière-plan de la page.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Regardez très attentivement ce fichier CSS :</a:t>
            </a:r>
          </a:p>
        </p:txBody>
      </p:sp>
      <p:sp>
        <p:nvSpPr>
          <p:cNvPr id="6" name="Rectangle 5"/>
          <p:cNvSpPr/>
          <p:nvPr/>
        </p:nvSpPr>
        <p:spPr>
          <a:xfrm>
            <a:off x="194094" y="2461845"/>
            <a:ext cx="8797506" cy="1754326"/>
          </a:xfrm>
          <a:prstGeom prst="rect">
            <a:avLst/>
          </a:prstGeom>
        </p:spPr>
        <p:txBody>
          <a:bodyPr wrap="square">
            <a:spAutoFit/>
          </a:bodyPr>
          <a:lstStyle/>
          <a:p>
            <a:r>
              <a:rPr lang="fr-FR" dirty="0">
                <a:solidFill>
                  <a:schemeClr val="tx2">
                    <a:lumMod val="60000"/>
                    <a:lumOff val="40000"/>
                  </a:schemeClr>
                </a:solidFill>
              </a:rPr>
              <a:t>/* On travaille sur la balise body, donc sur TOUTE la page */</a:t>
            </a:r>
          </a:p>
          <a:p>
            <a:r>
              <a:rPr lang="fr-FR" dirty="0">
                <a:solidFill>
                  <a:schemeClr val="tx2">
                    <a:lumMod val="60000"/>
                    <a:lumOff val="40000"/>
                  </a:schemeClr>
                </a:solidFill>
              </a:rPr>
              <a:t>body</a:t>
            </a:r>
          </a:p>
          <a:p>
            <a:r>
              <a:rPr lang="fr-FR" dirty="0">
                <a:solidFill>
                  <a:schemeClr val="tx2">
                    <a:lumMod val="60000"/>
                    <a:lumOff val="40000"/>
                  </a:schemeClr>
                </a:solidFill>
              </a:rPr>
              <a:t>{</a:t>
            </a:r>
          </a:p>
          <a:p>
            <a:r>
              <a:rPr lang="fr-FR" dirty="0">
                <a:solidFill>
                  <a:schemeClr val="tx2">
                    <a:lumMod val="60000"/>
                    <a:lumOff val="40000"/>
                  </a:schemeClr>
                </a:solidFill>
              </a:rPr>
              <a:t>    background-</a:t>
            </a:r>
            <a:r>
              <a:rPr lang="fr-FR" dirty="0" err="1">
                <a:solidFill>
                  <a:schemeClr val="tx2">
                    <a:lumMod val="60000"/>
                    <a:lumOff val="40000"/>
                  </a:schemeClr>
                </a:solidFill>
              </a:rPr>
              <a:t>color</a:t>
            </a:r>
            <a:r>
              <a:rPr lang="fr-FR" dirty="0">
                <a:solidFill>
                  <a:schemeClr val="tx2">
                    <a:lumMod val="60000"/>
                    <a:lumOff val="40000"/>
                  </a:schemeClr>
                </a:solidFill>
              </a:rPr>
              <a:t>: black; </a:t>
            </a:r>
            <a:r>
              <a:rPr lang="fr-FR" dirty="0" smtClean="0">
                <a:solidFill>
                  <a:schemeClr val="tx2">
                    <a:lumMod val="60000"/>
                    <a:lumOff val="40000"/>
                  </a:schemeClr>
                </a:solidFill>
              </a:rPr>
              <a:t> /* </a:t>
            </a:r>
            <a:r>
              <a:rPr lang="fr-FR" dirty="0">
                <a:solidFill>
                  <a:schemeClr val="tx2">
                    <a:lumMod val="60000"/>
                    <a:lumOff val="40000"/>
                  </a:schemeClr>
                </a:solidFill>
              </a:rPr>
              <a:t>Le fond de la page sera noir */</a:t>
            </a:r>
          </a:p>
          <a:p>
            <a:r>
              <a:rPr lang="fr-FR" dirty="0">
                <a:solidFill>
                  <a:schemeClr val="tx2">
                    <a:lumMod val="60000"/>
                    <a:lumOff val="40000"/>
                  </a:schemeClr>
                </a:solidFill>
              </a:rPr>
              <a:t>    </a:t>
            </a:r>
            <a:r>
              <a:rPr lang="fr-FR" dirty="0" err="1">
                <a:solidFill>
                  <a:schemeClr val="tx2">
                    <a:lumMod val="60000"/>
                    <a:lumOff val="40000"/>
                  </a:schemeClr>
                </a:solidFill>
              </a:rPr>
              <a:t>color</a:t>
            </a:r>
            <a:r>
              <a:rPr lang="fr-FR" dirty="0">
                <a:solidFill>
                  <a:schemeClr val="tx2">
                    <a:lumMod val="60000"/>
                    <a:lumOff val="40000"/>
                  </a:schemeClr>
                </a:solidFill>
              </a:rPr>
              <a:t>: white; </a:t>
            </a:r>
            <a:r>
              <a:rPr lang="fr-FR" dirty="0" smtClean="0">
                <a:solidFill>
                  <a:schemeClr val="tx2">
                    <a:lumMod val="60000"/>
                    <a:lumOff val="40000"/>
                  </a:schemeClr>
                </a:solidFill>
              </a:rPr>
              <a:t> /* </a:t>
            </a:r>
            <a:r>
              <a:rPr lang="fr-FR" dirty="0">
                <a:solidFill>
                  <a:schemeClr val="tx2">
                    <a:lumMod val="60000"/>
                    <a:lumOff val="40000"/>
                  </a:schemeClr>
                </a:solidFill>
              </a:rPr>
              <a:t>Le texte de la page sera blanc */</a:t>
            </a:r>
          </a:p>
          <a:p>
            <a:r>
              <a:rPr lang="fr-FR" dirty="0">
                <a:solidFill>
                  <a:schemeClr val="tx2">
                    <a:lumMod val="60000"/>
                    <a:lumOff val="40000"/>
                  </a:schemeClr>
                </a:solidFill>
              </a:rPr>
              <a:t>}</a:t>
            </a:r>
          </a:p>
        </p:txBody>
      </p:sp>
      <p:sp>
        <p:nvSpPr>
          <p:cNvPr id="7" name="Rectangle 6"/>
          <p:cNvSpPr/>
          <p:nvPr/>
        </p:nvSpPr>
        <p:spPr>
          <a:xfrm>
            <a:off x="168042" y="4419600"/>
            <a:ext cx="8823557" cy="584775"/>
          </a:xfrm>
          <a:prstGeom prst="rect">
            <a:avLst/>
          </a:prstGeom>
        </p:spPr>
        <p:txBody>
          <a:bodyPr wrap="square">
            <a:spAutoFit/>
          </a:bodyPr>
          <a:lstStyle/>
          <a:p>
            <a:r>
              <a:rPr lang="fr-FR" sz="1600" dirty="0" smtClean="0">
                <a:solidFill>
                  <a:srgbClr val="FF0000"/>
                </a:solidFill>
              </a:rPr>
              <a:t>NB: En </a:t>
            </a:r>
            <a:r>
              <a:rPr lang="fr-FR" sz="1600" dirty="0">
                <a:solidFill>
                  <a:srgbClr val="FF0000"/>
                </a:solidFill>
              </a:rPr>
              <a:t>CSS, si vous appliquez un style à une balise, toutes les balises qui se trouvent à l'intérieur prendront le même style</a:t>
            </a:r>
            <a:r>
              <a:rPr lang="fr-FR" sz="1600" dirty="0" smtClean="0">
                <a:solidFill>
                  <a:srgbClr val="FF0000"/>
                </a:solidFill>
              </a:rPr>
              <a:t>. </a:t>
            </a:r>
            <a:r>
              <a:rPr lang="fr-FR" sz="1600" dirty="0">
                <a:solidFill>
                  <a:srgbClr val="FF0000"/>
                </a:solidFill>
              </a:rPr>
              <a:t>Ce phénomène s'appelle </a:t>
            </a:r>
            <a:r>
              <a:rPr lang="fr-FR" sz="1600" b="1" dirty="0">
                <a:solidFill>
                  <a:srgbClr val="FF0000"/>
                </a:solidFill>
              </a:rPr>
              <a:t>l'héritage</a:t>
            </a:r>
            <a:r>
              <a:rPr lang="fr-FR" sz="1600" dirty="0">
                <a:solidFill>
                  <a:srgbClr val="FF0000"/>
                </a:solidFill>
              </a:rPr>
              <a:t>. </a:t>
            </a:r>
          </a:p>
        </p:txBody>
      </p:sp>
    </p:spTree>
    <p:extLst>
      <p:ext uri="{BB962C8B-B14F-4D97-AF65-F5344CB8AC3E}">
        <p14:creationId xmlns="" xmlns:p14="http://schemas.microsoft.com/office/powerpoint/2010/main" val="25139641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
            <a:ext cx="1968552" cy="400110"/>
          </a:xfrm>
          <a:prstGeom prst="rect">
            <a:avLst/>
          </a:prstGeom>
        </p:spPr>
        <p:txBody>
          <a:bodyPr wrap="none">
            <a:spAutoFit/>
          </a:bodyPr>
          <a:lstStyle/>
          <a:p>
            <a:r>
              <a:rPr lang="fr-FR" sz="2000" b="1" dirty="0" smtClean="0"/>
              <a:t>2. </a:t>
            </a:r>
            <a:r>
              <a:rPr lang="fr-FR" sz="2000" b="1" u="sng" dirty="0" smtClean="0"/>
              <a:t>Image de fond</a:t>
            </a:r>
            <a:endParaRPr lang="fr-FR" sz="2000" b="1" u="sng" dirty="0"/>
          </a:p>
        </p:txBody>
      </p:sp>
      <p:sp>
        <p:nvSpPr>
          <p:cNvPr id="5" name="Rectangle 4"/>
          <p:cNvSpPr/>
          <p:nvPr/>
        </p:nvSpPr>
        <p:spPr>
          <a:xfrm>
            <a:off x="152400" y="651714"/>
            <a:ext cx="8839200" cy="369332"/>
          </a:xfrm>
          <a:prstGeom prst="rect">
            <a:avLst/>
          </a:prstGeom>
        </p:spPr>
        <p:txBody>
          <a:bodyPr wrap="square">
            <a:spAutoFit/>
          </a:bodyPr>
          <a:lstStyle/>
          <a:p>
            <a:r>
              <a:rPr lang="fr-FR" dirty="0" smtClean="0"/>
              <a:t>Dans les exemples qui suivent, nous allons modifier l'image de fond de la page. </a:t>
            </a:r>
            <a:endParaRPr lang="fr-FR" dirty="0"/>
          </a:p>
        </p:txBody>
      </p:sp>
      <p:sp>
        <p:nvSpPr>
          <p:cNvPr id="6" name="ZoneTexte 5"/>
          <p:cNvSpPr txBox="1"/>
          <p:nvPr/>
        </p:nvSpPr>
        <p:spPr>
          <a:xfrm>
            <a:off x="152400" y="1021046"/>
            <a:ext cx="2862835" cy="338554"/>
          </a:xfrm>
          <a:prstGeom prst="rect">
            <a:avLst/>
          </a:prstGeom>
          <a:noFill/>
        </p:spPr>
        <p:txBody>
          <a:bodyPr wrap="none" rtlCol="0">
            <a:spAutoFit/>
          </a:bodyPr>
          <a:lstStyle/>
          <a:p>
            <a:r>
              <a:rPr lang="fr-FR" sz="1600" b="1" dirty="0" smtClean="0"/>
              <a:t>a. </a:t>
            </a:r>
            <a:r>
              <a:rPr lang="fr-FR" sz="1600" b="1" u="sng" dirty="0" smtClean="0"/>
              <a:t>Appliquer </a:t>
            </a:r>
            <a:r>
              <a:rPr lang="fr-FR" sz="1600" b="1" u="sng" dirty="0"/>
              <a:t>une image de </a:t>
            </a:r>
            <a:r>
              <a:rPr lang="fr-FR" sz="1600" b="1" u="sng" dirty="0" smtClean="0"/>
              <a:t>fond</a:t>
            </a:r>
            <a:endParaRPr lang="fr-FR" sz="1600" b="1" u="sng" dirty="0"/>
          </a:p>
        </p:txBody>
      </p:sp>
      <p:sp>
        <p:nvSpPr>
          <p:cNvPr id="7" name="Rectangle 1"/>
          <p:cNvSpPr>
            <a:spLocks noChangeArrowheads="1"/>
          </p:cNvSpPr>
          <p:nvPr/>
        </p:nvSpPr>
        <p:spPr bwMode="auto">
          <a:xfrm>
            <a:off x="152400" y="1381780"/>
            <a:ext cx="88392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La propriété permettant d'indiquer une image de fond est </a:t>
            </a:r>
            <a:r>
              <a:rPr kumimoji="0" lang="fr-FR" sz="1600" b="1" i="0" u="none" strike="noStrike" cap="none" normalizeH="0" baseline="0" dirty="0" smtClean="0">
                <a:ln>
                  <a:noFill/>
                </a:ln>
                <a:solidFill>
                  <a:srgbClr val="FF0000"/>
                </a:solidFill>
                <a:effectLst/>
                <a:latin typeface="+mn-lt"/>
                <a:cs typeface="Courier New" panose="02070309020205020404" pitchFamily="49" charset="0"/>
              </a:rPr>
              <a:t>background-image</a:t>
            </a:r>
            <a:r>
              <a:rPr kumimoji="0" lang="fr-FR" sz="1600" b="0" i="0" u="none" strike="noStrike" cap="none" normalizeH="0" baseline="0" dirty="0" smtClean="0">
                <a:ln>
                  <a:noFill/>
                </a:ln>
                <a:solidFill>
                  <a:schemeClr val="tx1"/>
                </a:solidFill>
                <a:effectLst/>
                <a:latin typeface="+mn-lt"/>
              </a:rPr>
              <a:t>. Comme valeur, on doit renseigner </a:t>
            </a:r>
            <a:r>
              <a:rPr kumimoji="0" lang="fr-FR" sz="1600" b="0" i="0" u="none" strike="noStrike" cap="none" normalizeH="0" baseline="0" dirty="0" smtClean="0">
                <a:ln>
                  <a:noFill/>
                </a:ln>
                <a:solidFill>
                  <a:srgbClr val="FF0000"/>
                </a:solidFill>
                <a:effectLst/>
                <a:latin typeface="+mn-lt"/>
                <a:cs typeface="Courier New" panose="02070309020205020404" pitchFamily="49" charset="0"/>
              </a:rPr>
              <a:t>url("nom_de_l_image.png")</a:t>
            </a:r>
            <a:r>
              <a:rPr kumimoji="0" lang="fr-FR" sz="1600" b="0" i="0" u="none" strike="noStrike" cap="none" normalizeH="0" baseline="0" dirty="0" smtClean="0">
                <a:ln>
                  <a:noFill/>
                </a:ln>
                <a:solidFill>
                  <a:schemeClr val="tx1"/>
                </a:solidFill>
                <a:effectLst/>
                <a:latin typeface="+mn-lt"/>
              </a:rPr>
              <a:t>. Par exemple : </a:t>
            </a:r>
          </a:p>
        </p:txBody>
      </p:sp>
      <p:sp>
        <p:nvSpPr>
          <p:cNvPr id="8" name="Rectangle 7"/>
          <p:cNvSpPr/>
          <p:nvPr/>
        </p:nvSpPr>
        <p:spPr>
          <a:xfrm>
            <a:off x="228600" y="1981200"/>
            <a:ext cx="4572000" cy="1077218"/>
          </a:xfrm>
          <a:prstGeom prst="rect">
            <a:avLst/>
          </a:prstGeom>
        </p:spPr>
        <p:txBody>
          <a:bodyPr>
            <a:spAutoFit/>
          </a:bodyPr>
          <a:lstStyle/>
          <a:p>
            <a:r>
              <a:rPr lang="fr-FR" sz="1600" dirty="0">
                <a:solidFill>
                  <a:schemeClr val="accent1">
                    <a:lumMod val="75000"/>
                  </a:schemeClr>
                </a:solidFill>
              </a:rPr>
              <a:t>body</a:t>
            </a:r>
          </a:p>
          <a:p>
            <a:r>
              <a:rPr lang="fr-FR" sz="1600" dirty="0">
                <a:solidFill>
                  <a:schemeClr val="accent1">
                    <a:lumMod val="75000"/>
                  </a:schemeClr>
                </a:solidFill>
              </a:rPr>
              <a:t>{</a:t>
            </a:r>
          </a:p>
          <a:p>
            <a:r>
              <a:rPr lang="fr-FR" sz="1600" dirty="0">
                <a:solidFill>
                  <a:schemeClr val="accent1">
                    <a:lumMod val="75000"/>
                  </a:schemeClr>
                </a:solidFill>
              </a:rPr>
              <a:t>    background-image: url("neige.png");</a:t>
            </a:r>
          </a:p>
          <a:p>
            <a:r>
              <a:rPr lang="fr-FR" sz="1600" dirty="0">
                <a:solidFill>
                  <a:schemeClr val="accent1">
                    <a:lumMod val="75000"/>
                  </a:schemeClr>
                </a:solidFill>
              </a:rPr>
              <a:t>}</a:t>
            </a:r>
          </a:p>
        </p:txBody>
      </p:sp>
      <p:sp>
        <p:nvSpPr>
          <p:cNvPr id="9" name="Rectangle 8"/>
          <p:cNvSpPr/>
          <p:nvPr/>
        </p:nvSpPr>
        <p:spPr>
          <a:xfrm>
            <a:off x="152400" y="3124200"/>
            <a:ext cx="8686800" cy="338554"/>
          </a:xfrm>
          <a:prstGeom prst="rect">
            <a:avLst/>
          </a:prstGeom>
        </p:spPr>
        <p:txBody>
          <a:bodyPr wrap="square">
            <a:spAutoFit/>
          </a:bodyPr>
          <a:lstStyle/>
          <a:p>
            <a:r>
              <a:rPr lang="fr-FR" sz="1600" b="1" dirty="0" smtClean="0"/>
              <a:t>b. </a:t>
            </a:r>
            <a:r>
              <a:rPr lang="fr-FR" sz="1600" b="1" u="sng" dirty="0" smtClean="0"/>
              <a:t>Options </a:t>
            </a:r>
            <a:r>
              <a:rPr lang="fr-FR" sz="1600" b="1" u="sng" dirty="0"/>
              <a:t>disponibles pour l'image de fond</a:t>
            </a:r>
            <a:endParaRPr lang="fr-FR" sz="1600" b="1" i="0" u="sng" dirty="0">
              <a:effectLst/>
            </a:endParaRPr>
          </a:p>
        </p:txBody>
      </p:sp>
      <p:sp>
        <p:nvSpPr>
          <p:cNvPr id="10" name="Rectangle 2"/>
          <p:cNvSpPr>
            <a:spLocks noChangeArrowheads="1"/>
          </p:cNvSpPr>
          <p:nvPr/>
        </p:nvSpPr>
        <p:spPr bwMode="auto">
          <a:xfrm>
            <a:off x="152400" y="3453825"/>
            <a:ext cx="89154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On peut compléter la propriété </a:t>
            </a:r>
            <a:r>
              <a:rPr kumimoji="0" lang="fr-FR" sz="1600" b="1" i="0" u="none" strike="noStrike" cap="none" normalizeH="0" baseline="0" dirty="0" smtClean="0">
                <a:ln>
                  <a:noFill/>
                </a:ln>
                <a:solidFill>
                  <a:schemeClr val="tx1"/>
                </a:solidFill>
                <a:effectLst/>
                <a:latin typeface="+mn-lt"/>
                <a:cs typeface="Courier New" panose="02070309020205020404" pitchFamily="49" charset="0"/>
              </a:rPr>
              <a:t>background-image</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 </a:t>
            </a:r>
            <a:r>
              <a:rPr kumimoji="0" lang="fr-FR" sz="1600" b="0" i="0" u="none" strike="noStrike" cap="none" normalizeH="0" baseline="0" dirty="0" smtClean="0">
                <a:ln>
                  <a:noFill/>
                </a:ln>
                <a:solidFill>
                  <a:schemeClr val="tx1"/>
                </a:solidFill>
                <a:effectLst/>
                <a:latin typeface="+mn-lt"/>
              </a:rPr>
              <a:t>que nous venons de voir par plusieurs autres propriétés qui permettent de changer le comportement de l'image de fond. </a:t>
            </a:r>
          </a:p>
        </p:txBody>
      </p:sp>
      <p:sp>
        <p:nvSpPr>
          <p:cNvPr id="11" name="Rectangle 3"/>
          <p:cNvSpPr>
            <a:spLocks noChangeArrowheads="1"/>
          </p:cNvSpPr>
          <p:nvPr/>
        </p:nvSpPr>
        <p:spPr bwMode="auto">
          <a:xfrm>
            <a:off x="275797" y="4165168"/>
            <a:ext cx="8411003" cy="31032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sng" strike="noStrike" cap="none" normalizeH="0" baseline="0" dirty="0" smtClean="0">
                <a:ln>
                  <a:noFill/>
                </a:ln>
                <a:solidFill>
                  <a:schemeClr val="tx1"/>
                </a:solidFill>
                <a:effectLst/>
                <a:cs typeface="Courier New" panose="02070309020205020404" pitchFamily="49" charset="0"/>
              </a:rPr>
              <a:t>background-</a:t>
            </a:r>
            <a:r>
              <a:rPr kumimoji="0" lang="fr-FR" sz="1600" b="1" i="0" u="sng" strike="noStrike" cap="none" normalizeH="0" baseline="0" dirty="0" err="1" smtClean="0">
                <a:ln>
                  <a:noFill/>
                </a:ln>
                <a:solidFill>
                  <a:schemeClr val="tx1"/>
                </a:solidFill>
                <a:effectLst/>
                <a:cs typeface="Courier New" panose="02070309020205020404" pitchFamily="49" charset="0"/>
              </a:rPr>
              <a:t>attachment</a:t>
            </a:r>
            <a:r>
              <a:rPr kumimoji="0" lang="fr-FR" sz="1600" b="1" i="0" u="sng" strike="noStrike" cap="none" normalizeH="0" baseline="0" dirty="0" smtClean="0">
                <a:ln>
                  <a:noFill/>
                </a:ln>
                <a:solidFill>
                  <a:schemeClr val="tx1"/>
                </a:solidFill>
                <a:effectLst/>
              </a:rPr>
              <a:t>: fixer le fond</a:t>
            </a:r>
          </a:p>
        </p:txBody>
      </p:sp>
      <p:sp>
        <p:nvSpPr>
          <p:cNvPr id="12" name="Rectangle 4"/>
          <p:cNvSpPr>
            <a:spLocks noChangeArrowheads="1"/>
          </p:cNvSpPr>
          <p:nvPr/>
        </p:nvSpPr>
        <p:spPr bwMode="auto">
          <a:xfrm>
            <a:off x="186690" y="4495800"/>
            <a:ext cx="8846820" cy="107721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rPr>
              <a:t>La propriété CSS </a:t>
            </a:r>
            <a:r>
              <a:rPr kumimoji="0" lang="fr-FR" sz="1600" b="1" i="0" u="none" strike="noStrike" cap="none" normalizeH="0" baseline="0" dirty="0" smtClean="0">
                <a:ln>
                  <a:noFill/>
                </a:ln>
                <a:solidFill>
                  <a:srgbClr val="FF0000"/>
                </a:solidFill>
                <a:effectLst/>
                <a:cs typeface="Courier New" panose="02070309020205020404" pitchFamily="49" charset="0"/>
              </a:rPr>
              <a:t>background-</a:t>
            </a:r>
            <a:r>
              <a:rPr kumimoji="0" lang="fr-FR" sz="1600" b="1" i="0" u="none" strike="noStrike" cap="none" normalizeH="0" baseline="0" dirty="0" err="1" smtClean="0">
                <a:ln>
                  <a:noFill/>
                </a:ln>
                <a:solidFill>
                  <a:srgbClr val="FF0000"/>
                </a:solidFill>
                <a:effectLst/>
                <a:cs typeface="Courier New" panose="02070309020205020404" pitchFamily="49" charset="0"/>
              </a:rPr>
              <a:t>attachment</a:t>
            </a:r>
            <a:r>
              <a:rPr kumimoji="0" lang="fr-FR" sz="1600" b="0" i="0" u="none" strike="noStrike" cap="none" normalizeH="0" baseline="0" dirty="0" smtClean="0">
                <a:ln>
                  <a:noFill/>
                </a:ln>
                <a:solidFill>
                  <a:schemeClr val="tx1"/>
                </a:solidFill>
                <a:effectLst/>
                <a:cs typeface="Courier New" panose="02070309020205020404" pitchFamily="49" charset="0"/>
              </a:rPr>
              <a:t> </a:t>
            </a:r>
            <a:r>
              <a:rPr kumimoji="0" lang="fr-FR" sz="1600" b="0" i="0" u="none" strike="noStrike" cap="none" normalizeH="0" baseline="0" dirty="0" smtClean="0">
                <a:ln>
                  <a:noFill/>
                </a:ln>
                <a:solidFill>
                  <a:schemeClr val="tx1"/>
                </a:solidFill>
                <a:effectLst/>
              </a:rPr>
              <a:t>permet de « </a:t>
            </a:r>
            <a:r>
              <a:rPr kumimoji="0" lang="fr-FR" sz="1600" b="1" i="0" u="none" strike="noStrike" cap="none" normalizeH="0" baseline="0" dirty="0" smtClean="0">
                <a:ln>
                  <a:noFill/>
                </a:ln>
                <a:solidFill>
                  <a:schemeClr val="tx1"/>
                </a:solidFill>
                <a:effectLst/>
              </a:rPr>
              <a:t>fixer</a:t>
            </a:r>
            <a:r>
              <a:rPr kumimoji="0" lang="fr-FR" sz="1600" b="0" i="0" u="none" strike="noStrike" cap="none" normalizeH="0" baseline="0" dirty="0" smtClean="0">
                <a:ln>
                  <a:noFill/>
                </a:ln>
                <a:solidFill>
                  <a:schemeClr val="tx1"/>
                </a:solidFill>
                <a:effectLst/>
              </a:rPr>
              <a:t> » le fond. L'effet obtenu est intéressant car on voit alors le texte « glisser » par-dessus le fond. Deux valeurs sont disponibles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err="1" smtClean="0">
                <a:ln>
                  <a:noFill/>
                </a:ln>
                <a:solidFill>
                  <a:srgbClr val="FF0000"/>
                </a:solidFill>
                <a:effectLst/>
                <a:cs typeface="Courier New" panose="02070309020205020404" pitchFamily="49" charset="0"/>
              </a:rPr>
              <a:t>fixed</a:t>
            </a:r>
            <a:r>
              <a:rPr kumimoji="0" lang="fr-FR" sz="1600" b="0" i="0" u="none" strike="noStrike" cap="none" normalizeH="0" baseline="0" dirty="0" smtClean="0">
                <a:ln>
                  <a:noFill/>
                </a:ln>
                <a:solidFill>
                  <a:srgbClr val="000000"/>
                </a:solidFill>
                <a:effectLst/>
              </a:rPr>
              <a:t>: l'image de fond reste fixe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FF0000"/>
                </a:solidFill>
                <a:effectLst/>
                <a:cs typeface="Courier New" panose="02070309020205020404" pitchFamily="49" charset="0"/>
              </a:rPr>
              <a:t>scroll</a:t>
            </a:r>
            <a:r>
              <a:rPr kumimoji="0" lang="fr-FR" sz="1600" b="0" i="0" u="none" strike="noStrike" cap="none" normalizeH="0" baseline="0" dirty="0" smtClean="0">
                <a:ln>
                  <a:noFill/>
                </a:ln>
                <a:solidFill>
                  <a:srgbClr val="000000"/>
                </a:solidFill>
                <a:effectLst/>
              </a:rPr>
              <a:t>: l'image de fond défile avec le texte (par défaut).</a:t>
            </a:r>
          </a:p>
        </p:txBody>
      </p:sp>
      <p:sp>
        <p:nvSpPr>
          <p:cNvPr id="13" name="Rectangle 12"/>
          <p:cNvSpPr/>
          <p:nvPr/>
        </p:nvSpPr>
        <p:spPr>
          <a:xfrm>
            <a:off x="186690" y="5491197"/>
            <a:ext cx="8534400" cy="1323439"/>
          </a:xfrm>
          <a:prstGeom prst="rect">
            <a:avLst/>
          </a:prstGeom>
        </p:spPr>
        <p:txBody>
          <a:bodyPr wrap="square">
            <a:spAutoFit/>
          </a:bodyPr>
          <a:lstStyle/>
          <a:p>
            <a:r>
              <a:rPr lang="fr-FR" sz="1600" dirty="0">
                <a:solidFill>
                  <a:schemeClr val="tx2">
                    <a:lumMod val="60000"/>
                    <a:lumOff val="40000"/>
                  </a:schemeClr>
                </a:solidFill>
              </a:rPr>
              <a:t>body</a:t>
            </a:r>
          </a:p>
          <a:p>
            <a:r>
              <a:rPr lang="fr-FR" sz="1600" dirty="0">
                <a:solidFill>
                  <a:schemeClr val="tx2">
                    <a:lumMod val="60000"/>
                    <a:lumOff val="40000"/>
                  </a:schemeClr>
                </a:solidFill>
              </a:rPr>
              <a:t>{</a:t>
            </a:r>
          </a:p>
          <a:p>
            <a:r>
              <a:rPr lang="fr-FR" sz="1600" dirty="0">
                <a:solidFill>
                  <a:schemeClr val="tx2">
                    <a:lumMod val="60000"/>
                    <a:lumOff val="40000"/>
                  </a:schemeClr>
                </a:solidFill>
              </a:rPr>
              <a:t>    background-image: url("neige.png");</a:t>
            </a:r>
          </a:p>
          <a:p>
            <a:r>
              <a:rPr lang="fr-FR" sz="1600" dirty="0">
                <a:solidFill>
                  <a:schemeClr val="tx2">
                    <a:lumMod val="60000"/>
                    <a:lumOff val="40000"/>
                  </a:schemeClr>
                </a:solidFill>
              </a:rPr>
              <a:t>    background-</a:t>
            </a:r>
            <a:r>
              <a:rPr lang="fr-FR" sz="1600" dirty="0" err="1">
                <a:solidFill>
                  <a:schemeClr val="tx2">
                    <a:lumMod val="60000"/>
                    <a:lumOff val="40000"/>
                  </a:schemeClr>
                </a:solidFill>
              </a:rPr>
              <a:t>attachment</a:t>
            </a:r>
            <a:r>
              <a:rPr lang="fr-FR" sz="1600" dirty="0">
                <a:solidFill>
                  <a:schemeClr val="tx2">
                    <a:lumMod val="60000"/>
                    <a:lumOff val="40000"/>
                  </a:schemeClr>
                </a:solidFill>
              </a:rPr>
              <a:t>: </a:t>
            </a:r>
            <a:r>
              <a:rPr lang="fr-FR" sz="1600" dirty="0" err="1">
                <a:solidFill>
                  <a:schemeClr val="tx2">
                    <a:lumMod val="60000"/>
                    <a:lumOff val="40000"/>
                  </a:schemeClr>
                </a:solidFill>
              </a:rPr>
              <a:t>fixed</a:t>
            </a:r>
            <a:r>
              <a:rPr lang="fr-FR" sz="1600" dirty="0">
                <a:solidFill>
                  <a:schemeClr val="tx2">
                    <a:lumMod val="60000"/>
                    <a:lumOff val="40000"/>
                  </a:schemeClr>
                </a:solidFill>
              </a:rPr>
              <a:t>; /* Le fond restera fixe */</a:t>
            </a:r>
          </a:p>
          <a:p>
            <a:r>
              <a:rPr lang="fr-FR" sz="1600" dirty="0">
                <a:solidFill>
                  <a:schemeClr val="tx2">
                    <a:lumMod val="60000"/>
                    <a:lumOff val="40000"/>
                  </a:schemeClr>
                </a:solidFill>
              </a:rPr>
              <a:t>}</a:t>
            </a:r>
          </a:p>
        </p:txBody>
      </p:sp>
    </p:spTree>
    <p:extLst>
      <p:ext uri="{BB962C8B-B14F-4D97-AF65-F5344CB8AC3E}">
        <p14:creationId xmlns="" xmlns:p14="http://schemas.microsoft.com/office/powerpoint/2010/main" val="29626056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19749" y="146879"/>
            <a:ext cx="3285451" cy="31032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sng" strike="noStrike" cap="none" normalizeH="0" baseline="0" dirty="0" smtClean="0">
                <a:ln>
                  <a:noFill/>
                </a:ln>
                <a:solidFill>
                  <a:schemeClr val="tx1"/>
                </a:solidFill>
                <a:effectLst/>
                <a:cs typeface="Courier New" panose="02070309020205020404" pitchFamily="49" charset="0"/>
              </a:rPr>
              <a:t>background-</a:t>
            </a:r>
            <a:r>
              <a:rPr kumimoji="0" lang="fr-FR" sz="1600" b="1" i="0" u="sng" strike="noStrike" cap="none" normalizeH="0" baseline="0" dirty="0" err="1" smtClean="0">
                <a:ln>
                  <a:noFill/>
                </a:ln>
                <a:solidFill>
                  <a:schemeClr val="tx1"/>
                </a:solidFill>
                <a:effectLst/>
                <a:cs typeface="Courier New" panose="02070309020205020404" pitchFamily="49" charset="0"/>
              </a:rPr>
              <a:t>repeat</a:t>
            </a:r>
            <a:r>
              <a:rPr kumimoji="0" lang="fr-FR" sz="1600" b="1" i="0" u="sng" strike="noStrike" cap="none" normalizeH="0" baseline="0" dirty="0" smtClean="0">
                <a:ln>
                  <a:noFill/>
                </a:ln>
                <a:solidFill>
                  <a:schemeClr val="tx1"/>
                </a:solidFill>
                <a:effectLst/>
              </a:rPr>
              <a:t>: répétition du fond</a:t>
            </a:r>
          </a:p>
        </p:txBody>
      </p:sp>
      <p:sp>
        <p:nvSpPr>
          <p:cNvPr id="5" name="Rectangle 2"/>
          <p:cNvSpPr>
            <a:spLocks noChangeArrowheads="1"/>
          </p:cNvSpPr>
          <p:nvPr/>
        </p:nvSpPr>
        <p:spPr bwMode="auto">
          <a:xfrm>
            <a:off x="152400" y="381000"/>
            <a:ext cx="8839200" cy="156966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rPr>
              <a:t>Par défaut, l'image de fond est répétée en mosaïque. Vous pouvez changer cela avec la propriété </a:t>
            </a:r>
            <a:r>
              <a:rPr kumimoji="0" lang="fr-FR" sz="1600" b="0" i="0" u="none" strike="noStrike" cap="none" normalizeH="0" baseline="0" dirty="0" smtClean="0">
                <a:ln>
                  <a:noFill/>
                </a:ln>
                <a:solidFill>
                  <a:schemeClr val="tx1"/>
                </a:solidFill>
                <a:effectLst/>
                <a:cs typeface="Courier New" panose="02070309020205020404" pitchFamily="49" charset="0"/>
              </a:rPr>
              <a:t>background-</a:t>
            </a:r>
            <a:r>
              <a:rPr kumimoji="0" lang="fr-FR" sz="1600" b="0" i="0" u="none" strike="noStrike" cap="none" normalizeH="0" baseline="0" dirty="0" err="1" smtClean="0">
                <a:ln>
                  <a:noFill/>
                </a:ln>
                <a:solidFill>
                  <a:schemeClr val="tx1"/>
                </a:solidFill>
                <a:effectLst/>
                <a:cs typeface="Courier New" panose="02070309020205020404" pitchFamily="49" charset="0"/>
              </a:rPr>
              <a:t>repeat</a:t>
            </a:r>
            <a:r>
              <a:rPr kumimoji="0" lang="fr-FR" sz="16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chemeClr val="tx2">
                    <a:lumMod val="60000"/>
                    <a:lumOff val="40000"/>
                  </a:schemeClr>
                </a:solidFill>
                <a:effectLst/>
                <a:cs typeface="Courier New" panose="02070309020205020404" pitchFamily="49" charset="0"/>
              </a:rPr>
              <a:t>no-</a:t>
            </a:r>
            <a:r>
              <a:rPr kumimoji="0" lang="fr-FR" sz="1600" b="0" i="0" u="none" strike="noStrike" cap="none" normalizeH="0" baseline="0" dirty="0" err="1" smtClean="0">
                <a:ln>
                  <a:noFill/>
                </a:ln>
                <a:solidFill>
                  <a:schemeClr val="tx2">
                    <a:lumMod val="60000"/>
                    <a:lumOff val="40000"/>
                  </a:schemeClr>
                </a:solidFill>
                <a:effectLst/>
                <a:cs typeface="Courier New" panose="02070309020205020404" pitchFamily="49" charset="0"/>
              </a:rPr>
              <a:t>repeat</a:t>
            </a:r>
            <a:r>
              <a:rPr kumimoji="0" lang="fr-FR" sz="1600" b="0" i="0" u="none" strike="noStrike" cap="none" normalizeH="0" baseline="0" dirty="0" smtClean="0">
                <a:ln>
                  <a:noFill/>
                </a:ln>
                <a:solidFill>
                  <a:srgbClr val="000000"/>
                </a:solidFill>
                <a:effectLst/>
              </a:rPr>
              <a:t>: le fond ne sera pas répété. L'image sera donc unique sur la page.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err="1" smtClean="0">
                <a:ln>
                  <a:noFill/>
                </a:ln>
                <a:solidFill>
                  <a:schemeClr val="tx2">
                    <a:lumMod val="60000"/>
                    <a:lumOff val="40000"/>
                  </a:schemeClr>
                </a:solidFill>
                <a:effectLst/>
                <a:cs typeface="Courier New" panose="02070309020205020404" pitchFamily="49" charset="0"/>
              </a:rPr>
              <a:t>repeat</a:t>
            </a:r>
            <a:r>
              <a:rPr kumimoji="0" lang="fr-FR" sz="1600" b="0" i="0" u="none" strike="noStrike" cap="none" normalizeH="0" baseline="0" dirty="0" smtClean="0">
                <a:ln>
                  <a:noFill/>
                </a:ln>
                <a:solidFill>
                  <a:schemeClr val="tx2">
                    <a:lumMod val="60000"/>
                    <a:lumOff val="40000"/>
                  </a:schemeClr>
                </a:solidFill>
                <a:effectLst/>
                <a:cs typeface="Courier New" panose="02070309020205020404" pitchFamily="49" charset="0"/>
              </a:rPr>
              <a:t>-x</a:t>
            </a:r>
            <a:r>
              <a:rPr kumimoji="0" lang="fr-FR" sz="1600" b="0" i="0" u="none" strike="noStrike" cap="none" normalizeH="0" baseline="0" dirty="0" smtClean="0">
                <a:ln>
                  <a:noFill/>
                </a:ln>
                <a:solidFill>
                  <a:srgbClr val="000000"/>
                </a:solidFill>
                <a:effectLst/>
              </a:rPr>
              <a:t>: le fond sera répété uniquement sur la première ligne, horizontalement.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err="1" smtClean="0">
                <a:ln>
                  <a:noFill/>
                </a:ln>
                <a:solidFill>
                  <a:schemeClr val="tx2">
                    <a:lumMod val="60000"/>
                    <a:lumOff val="40000"/>
                  </a:schemeClr>
                </a:solidFill>
                <a:effectLst/>
                <a:cs typeface="Courier New" panose="02070309020205020404" pitchFamily="49" charset="0"/>
              </a:rPr>
              <a:t>repeat</a:t>
            </a:r>
            <a:r>
              <a:rPr kumimoji="0" lang="fr-FR" sz="1600" b="0" i="0" u="none" strike="noStrike" cap="none" normalizeH="0" baseline="0" dirty="0" smtClean="0">
                <a:ln>
                  <a:noFill/>
                </a:ln>
                <a:solidFill>
                  <a:schemeClr val="tx2">
                    <a:lumMod val="60000"/>
                    <a:lumOff val="40000"/>
                  </a:schemeClr>
                </a:solidFill>
                <a:effectLst/>
                <a:cs typeface="Courier New" panose="02070309020205020404" pitchFamily="49" charset="0"/>
              </a:rPr>
              <a:t>-y</a:t>
            </a:r>
            <a:r>
              <a:rPr kumimoji="0" lang="fr-FR" sz="1600" b="0" i="0" u="none" strike="noStrike" cap="none" normalizeH="0" baseline="0" dirty="0" smtClean="0">
                <a:ln>
                  <a:noFill/>
                </a:ln>
                <a:solidFill>
                  <a:srgbClr val="000000"/>
                </a:solidFill>
                <a:effectLst/>
              </a:rPr>
              <a:t>: le fond sera répété uniquement sur la première colonne, verticalement.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err="1" smtClean="0">
                <a:ln>
                  <a:noFill/>
                </a:ln>
                <a:solidFill>
                  <a:schemeClr val="tx2">
                    <a:lumMod val="60000"/>
                    <a:lumOff val="40000"/>
                  </a:schemeClr>
                </a:solidFill>
                <a:effectLst/>
                <a:cs typeface="Courier New" panose="02070309020205020404" pitchFamily="49" charset="0"/>
              </a:rPr>
              <a:t>repeat</a:t>
            </a:r>
            <a:r>
              <a:rPr kumimoji="0" lang="fr-FR" sz="1600" b="0" i="0" u="none" strike="noStrike" cap="none" normalizeH="0" baseline="0" dirty="0" smtClean="0">
                <a:ln>
                  <a:noFill/>
                </a:ln>
                <a:solidFill>
                  <a:srgbClr val="000000"/>
                </a:solidFill>
                <a:effectLst/>
              </a:rPr>
              <a:t>: le fond sera répété en mosaïque (par défaut).</a:t>
            </a:r>
          </a:p>
        </p:txBody>
      </p:sp>
      <p:sp>
        <p:nvSpPr>
          <p:cNvPr id="6" name="Rectangle 5"/>
          <p:cNvSpPr/>
          <p:nvPr/>
        </p:nvSpPr>
        <p:spPr>
          <a:xfrm>
            <a:off x="228600" y="2029361"/>
            <a:ext cx="4572000" cy="1323439"/>
          </a:xfrm>
          <a:prstGeom prst="rect">
            <a:avLst/>
          </a:prstGeom>
        </p:spPr>
        <p:txBody>
          <a:bodyPr>
            <a:spAutoFit/>
          </a:bodyPr>
          <a:lstStyle/>
          <a:p>
            <a:r>
              <a:rPr lang="fr-FR" sz="1600" dirty="0">
                <a:solidFill>
                  <a:schemeClr val="tx2">
                    <a:lumMod val="60000"/>
                    <a:lumOff val="40000"/>
                  </a:schemeClr>
                </a:solidFill>
              </a:rPr>
              <a:t>body</a:t>
            </a:r>
          </a:p>
          <a:p>
            <a:r>
              <a:rPr lang="fr-FR" sz="1600" dirty="0">
                <a:solidFill>
                  <a:schemeClr val="tx2">
                    <a:lumMod val="60000"/>
                    <a:lumOff val="40000"/>
                  </a:schemeClr>
                </a:solidFill>
              </a:rPr>
              <a:t>{</a:t>
            </a:r>
          </a:p>
          <a:p>
            <a:r>
              <a:rPr lang="fr-FR" sz="1600" dirty="0">
                <a:solidFill>
                  <a:schemeClr val="tx2">
                    <a:lumMod val="60000"/>
                    <a:lumOff val="40000"/>
                  </a:schemeClr>
                </a:solidFill>
              </a:rPr>
              <a:t>    background-image: url("soleil.png");</a:t>
            </a:r>
          </a:p>
          <a:p>
            <a:r>
              <a:rPr lang="fr-FR" sz="1600" dirty="0">
                <a:solidFill>
                  <a:schemeClr val="tx2">
                    <a:lumMod val="60000"/>
                    <a:lumOff val="40000"/>
                  </a:schemeClr>
                </a:solidFill>
              </a:rPr>
              <a:t>    background-</a:t>
            </a:r>
            <a:r>
              <a:rPr lang="fr-FR" sz="1600" dirty="0" err="1">
                <a:solidFill>
                  <a:schemeClr val="tx2">
                    <a:lumMod val="60000"/>
                    <a:lumOff val="40000"/>
                  </a:schemeClr>
                </a:solidFill>
              </a:rPr>
              <a:t>repeat</a:t>
            </a:r>
            <a:r>
              <a:rPr lang="fr-FR" sz="1600" dirty="0">
                <a:solidFill>
                  <a:schemeClr val="tx2">
                    <a:lumMod val="60000"/>
                    <a:lumOff val="40000"/>
                  </a:schemeClr>
                </a:solidFill>
              </a:rPr>
              <a:t>: no-</a:t>
            </a:r>
            <a:r>
              <a:rPr lang="fr-FR" sz="1600" dirty="0" err="1">
                <a:solidFill>
                  <a:schemeClr val="tx2">
                    <a:lumMod val="60000"/>
                    <a:lumOff val="40000"/>
                  </a:schemeClr>
                </a:solidFill>
              </a:rPr>
              <a:t>repeat</a:t>
            </a:r>
            <a:r>
              <a:rPr lang="fr-FR" sz="1600" dirty="0">
                <a:solidFill>
                  <a:schemeClr val="tx2">
                    <a:lumMod val="60000"/>
                    <a:lumOff val="40000"/>
                  </a:schemeClr>
                </a:solidFill>
              </a:rPr>
              <a:t>;</a:t>
            </a:r>
          </a:p>
          <a:p>
            <a:r>
              <a:rPr lang="fr-FR" sz="1600" dirty="0">
                <a:solidFill>
                  <a:schemeClr val="tx2">
                    <a:lumMod val="60000"/>
                    <a:lumOff val="40000"/>
                  </a:schemeClr>
                </a:solidFill>
              </a:rPr>
              <a:t>}</a:t>
            </a:r>
          </a:p>
        </p:txBody>
      </p:sp>
      <p:sp>
        <p:nvSpPr>
          <p:cNvPr id="7" name="Rectangle 3"/>
          <p:cNvSpPr>
            <a:spLocks noChangeArrowheads="1"/>
          </p:cNvSpPr>
          <p:nvPr/>
        </p:nvSpPr>
        <p:spPr bwMode="auto">
          <a:xfrm>
            <a:off x="259080" y="3352800"/>
            <a:ext cx="8732520" cy="31032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sng" strike="noStrike" cap="none" normalizeH="0" baseline="0" dirty="0" smtClean="0">
                <a:ln>
                  <a:noFill/>
                </a:ln>
                <a:solidFill>
                  <a:schemeClr val="tx1"/>
                </a:solidFill>
                <a:effectLst/>
                <a:cs typeface="Courier New" panose="02070309020205020404" pitchFamily="49" charset="0"/>
              </a:rPr>
              <a:t>background-position</a:t>
            </a:r>
            <a:r>
              <a:rPr kumimoji="0" lang="fr-FR" sz="1600" b="1" i="0" u="sng" strike="noStrike" cap="none" normalizeH="0" baseline="0" dirty="0" smtClean="0">
                <a:ln>
                  <a:noFill/>
                </a:ln>
                <a:solidFill>
                  <a:schemeClr val="tx1"/>
                </a:solidFill>
                <a:effectLst/>
              </a:rPr>
              <a:t>: position du fond</a:t>
            </a:r>
          </a:p>
        </p:txBody>
      </p:sp>
      <p:sp>
        <p:nvSpPr>
          <p:cNvPr id="8" name="Rectangle 4"/>
          <p:cNvSpPr>
            <a:spLocks noChangeArrowheads="1"/>
          </p:cNvSpPr>
          <p:nvPr/>
        </p:nvSpPr>
        <p:spPr bwMode="auto">
          <a:xfrm>
            <a:off x="129540" y="3705761"/>
            <a:ext cx="8862060" cy="132343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On peut indiquer où doit se trouver l'image de fond avec </a:t>
            </a:r>
            <a:r>
              <a:rPr kumimoji="0" lang="fr-FR" sz="1600" b="1" i="0" strike="noStrike" cap="none" normalizeH="0" baseline="0" dirty="0" smtClean="0">
                <a:ln>
                  <a:noFill/>
                </a:ln>
                <a:solidFill>
                  <a:srgbClr val="FF0000"/>
                </a:solidFill>
                <a:effectLst/>
                <a:latin typeface="+mn-lt"/>
                <a:cs typeface="Courier New" panose="02070309020205020404" pitchFamily="49" charset="0"/>
              </a:rPr>
              <a:t>background-position</a:t>
            </a:r>
            <a:r>
              <a:rPr kumimoji="0" lang="fr-FR" sz="1600" b="0" i="0" u="none" strike="noStrike" cap="none" normalizeH="0" baseline="0" dirty="0" smtClean="0">
                <a:ln>
                  <a:noFill/>
                </a:ln>
                <a:solidFill>
                  <a:schemeClr val="tx1"/>
                </a:solidFill>
                <a:effectLst/>
                <a:latin typeface="+mn-lt"/>
              </a:rPr>
              <a:t>. Cette propriété n'est intéressante que si elle est combinée avec </a:t>
            </a:r>
            <a:r>
              <a:rPr kumimoji="0" lang="fr-FR" sz="1600" b="1" i="0" u="none" strike="noStrike" cap="none" normalizeH="0" baseline="0" dirty="0" smtClean="0">
                <a:ln>
                  <a:noFill/>
                </a:ln>
                <a:solidFill>
                  <a:schemeClr val="tx1"/>
                </a:solidFill>
                <a:effectLst/>
                <a:latin typeface="+mn-lt"/>
                <a:cs typeface="Courier New" panose="02070309020205020404" pitchFamily="49" charset="0"/>
              </a:rPr>
              <a:t>background-</a:t>
            </a:r>
            <a:r>
              <a:rPr kumimoji="0" lang="fr-FR" sz="1600" b="1" i="0" u="none" strike="noStrike" cap="none" normalizeH="0" baseline="0" dirty="0" err="1" smtClean="0">
                <a:ln>
                  <a:noFill/>
                </a:ln>
                <a:solidFill>
                  <a:schemeClr val="tx1"/>
                </a:solidFill>
                <a:effectLst/>
                <a:latin typeface="+mn-lt"/>
                <a:cs typeface="Courier New" panose="02070309020205020404" pitchFamily="49" charset="0"/>
              </a:rPr>
              <a:t>repeat</a:t>
            </a:r>
            <a:r>
              <a:rPr kumimoji="0" lang="fr-FR" sz="1600" b="1" i="0" u="none" strike="noStrike" cap="none" normalizeH="0" baseline="0" dirty="0" smtClean="0">
                <a:ln>
                  <a:noFill/>
                </a:ln>
                <a:solidFill>
                  <a:schemeClr val="tx1"/>
                </a:solidFill>
                <a:effectLst/>
                <a:latin typeface="+mn-lt"/>
                <a:cs typeface="Courier New" panose="02070309020205020404" pitchFamily="49" charset="0"/>
              </a:rPr>
              <a:t>: no-</a:t>
            </a:r>
            <a:r>
              <a:rPr kumimoji="0" lang="fr-FR" sz="1600" b="1" i="0" u="none" strike="noStrike" cap="none" normalizeH="0" baseline="0" dirty="0" err="1" smtClean="0">
                <a:ln>
                  <a:noFill/>
                </a:ln>
                <a:solidFill>
                  <a:schemeClr val="tx1"/>
                </a:solidFill>
                <a:effectLst/>
                <a:latin typeface="+mn-lt"/>
                <a:cs typeface="Courier New" panose="02070309020205020404" pitchFamily="49" charset="0"/>
              </a:rPr>
              <a:t>repeat</a:t>
            </a:r>
            <a:r>
              <a:rPr kumimoji="0" lang="fr-FR" sz="1600" b="1" i="0" u="none" strike="noStrike" cap="none" normalizeH="0" baseline="0" dirty="0" smtClean="0">
                <a:ln>
                  <a:noFill/>
                </a:ln>
                <a:solidFill>
                  <a:schemeClr val="tx1"/>
                </a:solidFill>
                <a:effectLst/>
                <a:latin typeface="+mn-lt"/>
                <a:cs typeface="Courier New" panose="02070309020205020404" pitchFamily="49" charset="0"/>
              </a:rPr>
              <a:t>; </a:t>
            </a:r>
            <a:r>
              <a:rPr kumimoji="0" lang="fr-FR" sz="1600" b="0" i="0" u="none" strike="noStrike" cap="none" normalizeH="0" baseline="0" dirty="0" smtClean="0">
                <a:ln>
                  <a:noFill/>
                </a:ln>
                <a:solidFill>
                  <a:schemeClr val="tx1"/>
                </a:solidFill>
                <a:effectLst/>
                <a:latin typeface="+mn-lt"/>
              </a:rPr>
              <a:t>(un fond qui ne se répète pas).</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Vous devez donner à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background-position </a:t>
            </a:r>
            <a:r>
              <a:rPr kumimoji="0" lang="fr-FR" sz="1600" b="0" i="0" u="none" strike="noStrike" cap="none" normalizeH="0" baseline="0" dirty="0" smtClean="0">
                <a:ln>
                  <a:noFill/>
                </a:ln>
                <a:solidFill>
                  <a:schemeClr val="tx1"/>
                </a:solidFill>
                <a:effectLst/>
                <a:latin typeface="+mn-lt"/>
              </a:rPr>
              <a:t>deux valeurs en pixels pour indiquer la position du fond par rapport au coin supérieur gauche de la page (ou du paragraphe, si vous appliquez le fond à un paragraphe). </a:t>
            </a:r>
          </a:p>
        </p:txBody>
      </p:sp>
    </p:spTree>
    <p:extLst>
      <p:ext uri="{BB962C8B-B14F-4D97-AF65-F5344CB8AC3E}">
        <p14:creationId xmlns="" xmlns:p14="http://schemas.microsoft.com/office/powerpoint/2010/main" val="17969178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 y="76200"/>
            <a:ext cx="2904641" cy="338554"/>
          </a:xfrm>
          <a:prstGeom prst="rect">
            <a:avLst/>
          </a:prstGeom>
        </p:spPr>
        <p:txBody>
          <a:bodyPr wrap="none">
            <a:spAutoFit/>
          </a:bodyPr>
          <a:lstStyle/>
          <a:p>
            <a:r>
              <a:rPr lang="fr-FR" sz="1600" dirty="0">
                <a:solidFill>
                  <a:schemeClr val="tx2">
                    <a:lumMod val="60000"/>
                    <a:lumOff val="40000"/>
                  </a:schemeClr>
                </a:solidFill>
              </a:rPr>
              <a:t>background-position: 30px 50px;</a:t>
            </a:r>
          </a:p>
        </p:txBody>
      </p:sp>
      <p:sp>
        <p:nvSpPr>
          <p:cNvPr id="5" name="Rectangle 1"/>
          <p:cNvSpPr>
            <a:spLocks noChangeArrowheads="1"/>
          </p:cNvSpPr>
          <p:nvPr/>
        </p:nvSpPr>
        <p:spPr bwMode="auto">
          <a:xfrm>
            <a:off x="38100" y="414754"/>
            <a:ext cx="8877300" cy="230832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votre fond sera placé à 30 pixels de la gauche et à 50 pixels du haut. Il est aussi possible d'utiliser ces valeurs en anglais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chemeClr val="tx2">
                    <a:lumMod val="60000"/>
                    <a:lumOff val="40000"/>
                  </a:schemeClr>
                </a:solidFill>
                <a:effectLst/>
                <a:latin typeface="+mn-lt"/>
                <a:cs typeface="Courier New" panose="02070309020205020404" pitchFamily="49" charset="0"/>
              </a:rPr>
              <a:t>top</a:t>
            </a:r>
            <a:r>
              <a:rPr kumimoji="0" lang="fr-FR" sz="1600" b="0" i="0" u="none" strike="noStrike" cap="none" normalizeH="0" baseline="0" dirty="0" smtClean="0">
                <a:ln>
                  <a:noFill/>
                </a:ln>
                <a:solidFill>
                  <a:schemeClr val="tx2">
                    <a:lumMod val="60000"/>
                    <a:lumOff val="40000"/>
                  </a:schemeClr>
                </a:solidFill>
                <a:effectLst/>
                <a:latin typeface="+mn-lt"/>
              </a:rPr>
              <a:t>: </a:t>
            </a:r>
            <a:r>
              <a:rPr kumimoji="0" lang="fr-FR" sz="1600" b="0" i="0" u="none" strike="noStrike" cap="none" normalizeH="0" baseline="0" dirty="0" smtClean="0">
                <a:ln>
                  <a:noFill/>
                </a:ln>
                <a:solidFill>
                  <a:srgbClr val="000000"/>
                </a:solidFill>
                <a:effectLst/>
                <a:latin typeface="+mn-lt"/>
              </a:rPr>
              <a:t>en haut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err="1" smtClean="0">
                <a:ln>
                  <a:noFill/>
                </a:ln>
                <a:solidFill>
                  <a:schemeClr val="tx2">
                    <a:lumMod val="60000"/>
                    <a:lumOff val="40000"/>
                  </a:schemeClr>
                </a:solidFill>
                <a:effectLst/>
                <a:latin typeface="+mn-lt"/>
                <a:cs typeface="Courier New" panose="02070309020205020404" pitchFamily="49" charset="0"/>
              </a:rPr>
              <a:t>bottom</a:t>
            </a:r>
            <a:r>
              <a:rPr kumimoji="0" lang="fr-FR" sz="1600" b="0" i="0" u="none" strike="noStrike" cap="none" normalizeH="0" baseline="0" dirty="0" smtClean="0">
                <a:ln>
                  <a:noFill/>
                </a:ln>
                <a:solidFill>
                  <a:schemeClr val="tx2">
                    <a:lumMod val="60000"/>
                    <a:lumOff val="40000"/>
                  </a:schemeClr>
                </a:solidFill>
                <a:effectLst/>
                <a:latin typeface="+mn-lt"/>
              </a:rPr>
              <a:t>: </a:t>
            </a:r>
            <a:r>
              <a:rPr kumimoji="0" lang="fr-FR" sz="1600" b="0" i="0" u="none" strike="noStrike" cap="none" normalizeH="0" baseline="0" dirty="0" smtClean="0">
                <a:ln>
                  <a:noFill/>
                </a:ln>
                <a:solidFill>
                  <a:srgbClr val="000000"/>
                </a:solidFill>
                <a:effectLst/>
                <a:latin typeface="+mn-lt"/>
              </a:rPr>
              <a:t>en bas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err="1" smtClean="0">
                <a:ln>
                  <a:noFill/>
                </a:ln>
                <a:solidFill>
                  <a:schemeClr val="tx2">
                    <a:lumMod val="60000"/>
                    <a:lumOff val="40000"/>
                  </a:schemeClr>
                </a:solidFill>
                <a:effectLst/>
                <a:latin typeface="+mn-lt"/>
                <a:cs typeface="Courier New" panose="02070309020205020404" pitchFamily="49" charset="0"/>
              </a:rPr>
              <a:t>left</a:t>
            </a:r>
            <a:r>
              <a:rPr kumimoji="0" lang="fr-FR" sz="1600" b="0" i="0" u="none" strike="noStrike" cap="none" normalizeH="0" baseline="0" dirty="0" smtClean="0">
                <a:ln>
                  <a:noFill/>
                </a:ln>
                <a:solidFill>
                  <a:schemeClr val="tx2">
                    <a:lumMod val="60000"/>
                    <a:lumOff val="40000"/>
                  </a:schemeClr>
                </a:solidFill>
                <a:effectLst/>
                <a:latin typeface="+mn-lt"/>
              </a:rPr>
              <a:t>: </a:t>
            </a:r>
            <a:r>
              <a:rPr kumimoji="0" lang="fr-FR" sz="1600" b="0" i="0" u="none" strike="noStrike" cap="none" normalizeH="0" baseline="0" dirty="0" smtClean="0">
                <a:ln>
                  <a:noFill/>
                </a:ln>
                <a:solidFill>
                  <a:srgbClr val="000000"/>
                </a:solidFill>
                <a:effectLst/>
                <a:latin typeface="+mn-lt"/>
              </a:rPr>
              <a:t>à gauche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chemeClr val="tx2">
                    <a:lumMod val="60000"/>
                    <a:lumOff val="40000"/>
                  </a:schemeClr>
                </a:solidFill>
                <a:effectLst/>
                <a:latin typeface="+mn-lt"/>
                <a:cs typeface="Courier New" panose="02070309020205020404" pitchFamily="49" charset="0"/>
              </a:rPr>
              <a:t>center</a:t>
            </a:r>
            <a:r>
              <a:rPr kumimoji="0" lang="fr-FR" sz="1600" b="0" i="0" u="none" strike="noStrike" cap="none" normalizeH="0" baseline="0" dirty="0" smtClean="0">
                <a:ln>
                  <a:noFill/>
                </a:ln>
                <a:solidFill>
                  <a:schemeClr val="tx2">
                    <a:lumMod val="60000"/>
                    <a:lumOff val="40000"/>
                  </a:schemeClr>
                </a:solidFill>
                <a:effectLst/>
                <a:latin typeface="+mn-lt"/>
              </a:rPr>
              <a:t>: </a:t>
            </a:r>
            <a:r>
              <a:rPr kumimoji="0" lang="fr-FR" sz="1600" b="0" i="0" u="none" strike="noStrike" cap="none" normalizeH="0" baseline="0" dirty="0" smtClean="0">
                <a:ln>
                  <a:noFill/>
                </a:ln>
                <a:solidFill>
                  <a:srgbClr val="000000"/>
                </a:solidFill>
                <a:effectLst/>
                <a:latin typeface="+mn-lt"/>
              </a:rPr>
              <a:t>centré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chemeClr val="tx2">
                    <a:lumMod val="60000"/>
                    <a:lumOff val="40000"/>
                  </a:schemeClr>
                </a:solidFill>
                <a:effectLst/>
                <a:latin typeface="+mn-lt"/>
                <a:cs typeface="Courier New" panose="02070309020205020404" pitchFamily="49" charset="0"/>
              </a:rPr>
              <a:t>right</a:t>
            </a:r>
            <a:r>
              <a:rPr kumimoji="0" lang="fr-FR" sz="1600" b="0" i="0" u="none" strike="noStrike" cap="none" normalizeH="0" baseline="0" dirty="0" smtClean="0">
                <a:ln>
                  <a:noFill/>
                </a:ln>
                <a:solidFill>
                  <a:schemeClr val="tx2">
                    <a:lumMod val="60000"/>
                    <a:lumOff val="40000"/>
                  </a:schemeClr>
                </a:solidFill>
                <a:effectLst/>
                <a:latin typeface="+mn-lt"/>
              </a:rPr>
              <a:t>: </a:t>
            </a:r>
            <a:r>
              <a:rPr kumimoji="0" lang="fr-FR" sz="1600" b="0" i="0" u="none" strike="noStrike" cap="none" normalizeH="0" baseline="0" dirty="0" smtClean="0">
                <a:ln>
                  <a:noFill/>
                </a:ln>
                <a:solidFill>
                  <a:srgbClr val="000000"/>
                </a:solidFill>
                <a:effectLst/>
                <a:latin typeface="+mn-lt"/>
              </a:rPr>
              <a:t>à droite.</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Il est possible de combiner ces mots. Par exemple, pour aligner une image en haut à droite, vous taperez:</a:t>
            </a:r>
          </a:p>
        </p:txBody>
      </p:sp>
      <p:sp>
        <p:nvSpPr>
          <p:cNvPr id="6" name="Rectangle 5"/>
          <p:cNvSpPr/>
          <p:nvPr/>
        </p:nvSpPr>
        <p:spPr>
          <a:xfrm>
            <a:off x="38100" y="2633246"/>
            <a:ext cx="2777492" cy="338554"/>
          </a:xfrm>
          <a:prstGeom prst="rect">
            <a:avLst/>
          </a:prstGeom>
        </p:spPr>
        <p:txBody>
          <a:bodyPr wrap="none">
            <a:spAutoFit/>
          </a:bodyPr>
          <a:lstStyle/>
          <a:p>
            <a:r>
              <a:rPr lang="fr-FR" sz="1600" dirty="0">
                <a:solidFill>
                  <a:schemeClr val="tx2">
                    <a:lumMod val="60000"/>
                    <a:lumOff val="40000"/>
                  </a:schemeClr>
                </a:solidFill>
              </a:rPr>
              <a:t>background-position: top right;</a:t>
            </a:r>
          </a:p>
        </p:txBody>
      </p:sp>
      <p:sp>
        <p:nvSpPr>
          <p:cNvPr id="8" name="Rectangle 3"/>
          <p:cNvSpPr>
            <a:spLocks noChangeArrowheads="1"/>
          </p:cNvSpPr>
          <p:nvPr/>
        </p:nvSpPr>
        <p:spPr bwMode="auto">
          <a:xfrm>
            <a:off x="0" y="2996625"/>
            <a:ext cx="89154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Ainsi, si je veux afficher un soleil en image de fond, en un unique exemplaire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no-</a:t>
            </a:r>
            <a:r>
              <a:rPr kumimoji="0" lang="fr-FR" sz="1600" b="0" i="0" u="none" strike="noStrike" cap="none" normalizeH="0" baseline="0" dirty="0" err="1" smtClean="0">
                <a:ln>
                  <a:noFill/>
                </a:ln>
                <a:solidFill>
                  <a:schemeClr val="tx1"/>
                </a:solidFill>
                <a:effectLst/>
                <a:latin typeface="+mn-lt"/>
                <a:cs typeface="Courier New" panose="02070309020205020404" pitchFamily="49" charset="0"/>
              </a:rPr>
              <a:t>repeat</a:t>
            </a:r>
            <a:r>
              <a:rPr kumimoji="0" lang="fr-FR" sz="1600" b="0" i="0" u="none" strike="noStrike" cap="none" normalizeH="0" baseline="0" dirty="0" smtClean="0">
                <a:ln>
                  <a:noFill/>
                </a:ln>
                <a:solidFill>
                  <a:schemeClr val="tx1"/>
                </a:solidFill>
                <a:effectLst/>
                <a:latin typeface="+mn-lt"/>
              </a:rPr>
              <a:t>), toujours visible (</a:t>
            </a:r>
            <a:r>
              <a:rPr kumimoji="0" lang="fr-FR" sz="1600" b="0" i="0" u="none" strike="noStrike" cap="none" normalizeH="0" baseline="0" dirty="0" err="1" smtClean="0">
                <a:ln>
                  <a:noFill/>
                </a:ln>
                <a:solidFill>
                  <a:schemeClr val="tx1"/>
                </a:solidFill>
                <a:effectLst/>
                <a:latin typeface="+mn-lt"/>
                <a:cs typeface="Courier New" panose="02070309020205020404" pitchFamily="49" charset="0"/>
              </a:rPr>
              <a:t>fixed</a:t>
            </a:r>
            <a:r>
              <a:rPr kumimoji="0" lang="fr-FR" sz="1600" b="0" i="0" u="none" strike="noStrike" cap="none" normalizeH="0" baseline="0" dirty="0" smtClean="0">
                <a:ln>
                  <a:noFill/>
                </a:ln>
                <a:solidFill>
                  <a:schemeClr val="tx1"/>
                </a:solidFill>
                <a:effectLst/>
                <a:latin typeface="+mn-lt"/>
              </a:rPr>
              <a:t>) et positionné en haut à droite (</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top right</a:t>
            </a:r>
            <a:r>
              <a:rPr kumimoji="0" lang="fr-FR" sz="1600" b="0" i="0" u="none" strike="noStrike" cap="none" normalizeH="0" baseline="0" dirty="0" smtClean="0">
                <a:ln>
                  <a:noFill/>
                </a:ln>
                <a:solidFill>
                  <a:schemeClr val="tx1"/>
                </a:solidFill>
                <a:effectLst/>
                <a:latin typeface="+mn-lt"/>
              </a:rPr>
              <a:t>), je vais écrire ceci : </a:t>
            </a:r>
          </a:p>
        </p:txBody>
      </p:sp>
      <p:sp>
        <p:nvSpPr>
          <p:cNvPr id="9" name="Rectangle 8"/>
          <p:cNvSpPr/>
          <p:nvPr/>
        </p:nvSpPr>
        <p:spPr>
          <a:xfrm>
            <a:off x="38100" y="3699689"/>
            <a:ext cx="8877300" cy="1815882"/>
          </a:xfrm>
          <a:prstGeom prst="rect">
            <a:avLst/>
          </a:prstGeom>
        </p:spPr>
        <p:txBody>
          <a:bodyPr wrap="square">
            <a:spAutoFit/>
          </a:bodyPr>
          <a:lstStyle/>
          <a:p>
            <a:r>
              <a:rPr lang="fr-FR" sz="1600" dirty="0">
                <a:solidFill>
                  <a:schemeClr val="tx2">
                    <a:lumMod val="60000"/>
                    <a:lumOff val="40000"/>
                  </a:schemeClr>
                </a:solidFill>
              </a:rPr>
              <a:t>body</a:t>
            </a:r>
          </a:p>
          <a:p>
            <a:r>
              <a:rPr lang="fr-FR" sz="1600" dirty="0">
                <a:solidFill>
                  <a:schemeClr val="tx2">
                    <a:lumMod val="60000"/>
                    <a:lumOff val="40000"/>
                  </a:schemeClr>
                </a:solidFill>
              </a:rPr>
              <a:t>{</a:t>
            </a:r>
          </a:p>
          <a:p>
            <a:r>
              <a:rPr lang="fr-FR" sz="1600" dirty="0">
                <a:solidFill>
                  <a:schemeClr val="tx2">
                    <a:lumMod val="60000"/>
                    <a:lumOff val="40000"/>
                  </a:schemeClr>
                </a:solidFill>
              </a:rPr>
              <a:t>    background-image: url("soleil.png");</a:t>
            </a:r>
          </a:p>
          <a:p>
            <a:r>
              <a:rPr lang="fr-FR" sz="1600" dirty="0">
                <a:solidFill>
                  <a:schemeClr val="tx2">
                    <a:lumMod val="60000"/>
                    <a:lumOff val="40000"/>
                  </a:schemeClr>
                </a:solidFill>
              </a:rPr>
              <a:t>    background-</a:t>
            </a:r>
            <a:r>
              <a:rPr lang="fr-FR" sz="1600" dirty="0" err="1">
                <a:solidFill>
                  <a:schemeClr val="tx2">
                    <a:lumMod val="60000"/>
                    <a:lumOff val="40000"/>
                  </a:schemeClr>
                </a:solidFill>
              </a:rPr>
              <a:t>attachment</a:t>
            </a:r>
            <a:r>
              <a:rPr lang="fr-FR" sz="1600" dirty="0">
                <a:solidFill>
                  <a:schemeClr val="tx2">
                    <a:lumMod val="60000"/>
                    <a:lumOff val="40000"/>
                  </a:schemeClr>
                </a:solidFill>
              </a:rPr>
              <a:t>: </a:t>
            </a:r>
            <a:r>
              <a:rPr lang="fr-FR" sz="1600" dirty="0" err="1">
                <a:solidFill>
                  <a:schemeClr val="tx2">
                    <a:lumMod val="60000"/>
                    <a:lumOff val="40000"/>
                  </a:schemeClr>
                </a:solidFill>
              </a:rPr>
              <a:t>fixed</a:t>
            </a:r>
            <a:r>
              <a:rPr lang="fr-FR" sz="1600" dirty="0">
                <a:solidFill>
                  <a:schemeClr val="tx2">
                    <a:lumMod val="60000"/>
                    <a:lumOff val="40000"/>
                  </a:schemeClr>
                </a:solidFill>
              </a:rPr>
              <a:t>; /* Le fond restera fixe */</a:t>
            </a:r>
          </a:p>
          <a:p>
            <a:r>
              <a:rPr lang="fr-FR" sz="1600" dirty="0">
                <a:solidFill>
                  <a:schemeClr val="tx2">
                    <a:lumMod val="60000"/>
                    <a:lumOff val="40000"/>
                  </a:schemeClr>
                </a:solidFill>
              </a:rPr>
              <a:t>    background-</a:t>
            </a:r>
            <a:r>
              <a:rPr lang="fr-FR" sz="1600" dirty="0" err="1">
                <a:solidFill>
                  <a:schemeClr val="tx2">
                    <a:lumMod val="60000"/>
                    <a:lumOff val="40000"/>
                  </a:schemeClr>
                </a:solidFill>
              </a:rPr>
              <a:t>repeat</a:t>
            </a:r>
            <a:r>
              <a:rPr lang="fr-FR" sz="1600" dirty="0">
                <a:solidFill>
                  <a:schemeClr val="tx2">
                    <a:lumMod val="60000"/>
                    <a:lumOff val="40000"/>
                  </a:schemeClr>
                </a:solidFill>
              </a:rPr>
              <a:t>: no-</a:t>
            </a:r>
            <a:r>
              <a:rPr lang="fr-FR" sz="1600" dirty="0" err="1">
                <a:solidFill>
                  <a:schemeClr val="tx2">
                    <a:lumMod val="60000"/>
                    <a:lumOff val="40000"/>
                  </a:schemeClr>
                </a:solidFill>
              </a:rPr>
              <a:t>repeat</a:t>
            </a:r>
            <a:r>
              <a:rPr lang="fr-FR" sz="1600" dirty="0">
                <a:solidFill>
                  <a:schemeClr val="tx2">
                    <a:lumMod val="60000"/>
                    <a:lumOff val="40000"/>
                  </a:schemeClr>
                </a:solidFill>
              </a:rPr>
              <a:t>; /* Le fond ne sera pas répété */</a:t>
            </a:r>
          </a:p>
          <a:p>
            <a:r>
              <a:rPr lang="fr-FR" sz="1600" dirty="0">
                <a:solidFill>
                  <a:schemeClr val="tx2">
                    <a:lumMod val="60000"/>
                    <a:lumOff val="40000"/>
                  </a:schemeClr>
                </a:solidFill>
              </a:rPr>
              <a:t>    background-position: top right; /* Le fond sera placé en haut à droite */</a:t>
            </a:r>
          </a:p>
          <a:p>
            <a:r>
              <a:rPr lang="fr-FR" sz="1600" dirty="0">
                <a:solidFill>
                  <a:schemeClr val="tx2">
                    <a:lumMod val="60000"/>
                    <a:lumOff val="40000"/>
                  </a:schemeClr>
                </a:solidFill>
              </a:rPr>
              <a:t>}</a:t>
            </a:r>
          </a:p>
        </p:txBody>
      </p:sp>
    </p:spTree>
    <p:extLst>
      <p:ext uri="{BB962C8B-B14F-4D97-AF65-F5344CB8AC3E}">
        <p14:creationId xmlns="" xmlns:p14="http://schemas.microsoft.com/office/powerpoint/2010/main" val="16158849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304800" y="228600"/>
            <a:ext cx="3519195" cy="2362200"/>
          </a:xfrm>
          <a:prstGeom prst="rect">
            <a:avLst/>
          </a:prstGeom>
        </p:spPr>
      </p:pic>
      <p:sp>
        <p:nvSpPr>
          <p:cNvPr id="5" name="Rectangle 4"/>
          <p:cNvSpPr/>
          <p:nvPr/>
        </p:nvSpPr>
        <p:spPr>
          <a:xfrm>
            <a:off x="228600" y="2667000"/>
            <a:ext cx="1537216" cy="338554"/>
          </a:xfrm>
          <a:prstGeom prst="rect">
            <a:avLst/>
          </a:prstGeom>
        </p:spPr>
        <p:txBody>
          <a:bodyPr wrap="none">
            <a:spAutoFit/>
          </a:bodyPr>
          <a:lstStyle/>
          <a:p>
            <a:r>
              <a:rPr lang="fr-FR" sz="1600" b="1" u="sng" dirty="0"/>
              <a:t>La transparence</a:t>
            </a:r>
            <a:endParaRPr lang="fr-FR" sz="1600" b="1" i="0" u="sng" dirty="0">
              <a:effectLst/>
            </a:endParaRPr>
          </a:p>
        </p:txBody>
      </p:sp>
      <p:sp>
        <p:nvSpPr>
          <p:cNvPr id="6" name="Rectangle 1"/>
          <p:cNvSpPr>
            <a:spLocks noChangeArrowheads="1"/>
          </p:cNvSpPr>
          <p:nvPr/>
        </p:nvSpPr>
        <p:spPr bwMode="auto">
          <a:xfrm>
            <a:off x="228600" y="3094866"/>
            <a:ext cx="8763000" cy="277253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Le CSS nous permet de jouer très facilement avec les niveaux de transparence des éléments ! Pour cela, nous allons utiliser des fonctionnalités de CSS3 : la propriété </a:t>
            </a:r>
            <a:r>
              <a:rPr kumimoji="0" lang="fr-FR" sz="1600" b="1" i="0" u="none" strike="noStrike" cap="none" normalizeH="0" baseline="0" dirty="0" err="1" smtClean="0">
                <a:ln>
                  <a:noFill/>
                </a:ln>
                <a:solidFill>
                  <a:srgbClr val="FF0000"/>
                </a:solidFill>
                <a:effectLst/>
                <a:latin typeface="+mn-lt"/>
                <a:cs typeface="Courier New" panose="02070309020205020404" pitchFamily="49" charset="0"/>
              </a:rPr>
              <a:t>opacity</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 </a:t>
            </a:r>
            <a:r>
              <a:rPr kumimoji="0" lang="fr-FR" sz="1600" b="0" i="0" u="none" strike="noStrike" cap="none" normalizeH="0" baseline="0" dirty="0" smtClean="0">
                <a:ln>
                  <a:noFill/>
                </a:ln>
                <a:solidFill>
                  <a:schemeClr val="tx1"/>
                </a:solidFill>
                <a:effectLst/>
                <a:latin typeface="+mn-lt"/>
              </a:rPr>
              <a:t>et la notation </a:t>
            </a:r>
            <a:r>
              <a:rPr kumimoji="0" lang="fr-FR" sz="1600" b="0" i="0" u="none" strike="noStrike" cap="none" normalizeH="0" baseline="0" dirty="0" err="1" smtClean="0">
                <a:ln>
                  <a:noFill/>
                </a:ln>
                <a:solidFill>
                  <a:srgbClr val="FF0000"/>
                </a:solidFill>
                <a:effectLst/>
                <a:latin typeface="+mn-lt"/>
              </a:rPr>
              <a:t>RGBa</a:t>
            </a:r>
            <a:r>
              <a:rPr kumimoji="0" lang="fr-FR" sz="1600" b="0" i="0" u="none" strike="noStrike" cap="none" normalizeH="0" baseline="0" dirty="0" smtClean="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dirty="0" smtClean="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mn-lt"/>
              </a:rPr>
              <a:t>La propriété </a:t>
            </a:r>
            <a:r>
              <a:rPr kumimoji="0" lang="fr-FR" sz="1600" b="1" i="0" u="none" strike="noStrike" cap="none" normalizeH="0" baseline="0" dirty="0" err="1" smtClean="0">
                <a:ln>
                  <a:noFill/>
                </a:ln>
                <a:solidFill>
                  <a:schemeClr val="tx1"/>
                </a:solidFill>
                <a:effectLst/>
                <a:latin typeface="+mn-lt"/>
                <a:cs typeface="Courier New" panose="02070309020205020404" pitchFamily="49" charset="0"/>
              </a:rPr>
              <a:t>opacity</a:t>
            </a:r>
            <a:endParaRPr kumimoji="0" lang="fr-FR" sz="1600" b="1" i="0" u="none" strike="noStrike" cap="none" normalizeH="0" baseline="0" dirty="0" smtClean="0">
              <a:ln>
                <a:noFill/>
              </a:ln>
              <a:solidFill>
                <a:schemeClr val="tx1"/>
              </a:solidFill>
              <a:effectLst/>
              <a:latin typeface="+mn-lt"/>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dirty="0" smtClean="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La propriété </a:t>
            </a:r>
            <a:r>
              <a:rPr kumimoji="0" lang="fr-FR" sz="1600" b="1" i="0" u="none" strike="noStrike" cap="none" normalizeH="0" baseline="0" dirty="0" err="1" smtClean="0">
                <a:ln>
                  <a:noFill/>
                </a:ln>
                <a:solidFill>
                  <a:schemeClr val="tx1"/>
                </a:solidFill>
                <a:effectLst/>
                <a:latin typeface="+mn-lt"/>
                <a:cs typeface="Courier New" panose="02070309020205020404" pitchFamily="49" charset="0"/>
              </a:rPr>
              <a:t>opacity</a:t>
            </a:r>
            <a:r>
              <a:rPr kumimoji="0" lang="fr-FR" sz="1600" b="0" i="0" u="none" strike="noStrike" cap="none" normalizeH="0" baseline="0" dirty="0" smtClean="0">
                <a:ln>
                  <a:noFill/>
                </a:ln>
                <a:solidFill>
                  <a:schemeClr val="tx1"/>
                </a:solidFill>
                <a:effectLst/>
                <a:latin typeface="+mn-lt"/>
              </a:rPr>
              <a:t>, très simple, permet d'indiquer le niveau d'opacité (c'est l'inverse de la transparence).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rgbClr val="000000"/>
                </a:solidFill>
                <a:effectLst/>
                <a:latin typeface="+mn-lt"/>
              </a:rPr>
              <a:t>Avec une valeur de 1</a:t>
            </a:r>
            <a:r>
              <a:rPr kumimoji="0" lang="fr-FR" sz="1600" b="0" i="0" u="none" strike="noStrike" cap="none" normalizeH="0" baseline="0" dirty="0" smtClean="0">
                <a:ln>
                  <a:noFill/>
                </a:ln>
                <a:solidFill>
                  <a:srgbClr val="000000"/>
                </a:solidFill>
                <a:effectLst/>
                <a:latin typeface="+mn-lt"/>
              </a:rPr>
              <a:t>, l'élément sera totalement opaque : c'est le comportement par défaut.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rgbClr val="000000"/>
                </a:solidFill>
                <a:effectLst/>
                <a:latin typeface="+mn-lt"/>
              </a:rPr>
              <a:t>Avec une valeur de 0</a:t>
            </a:r>
            <a:r>
              <a:rPr kumimoji="0" lang="fr-FR" sz="1600" b="0" i="0" u="none" strike="noStrike" cap="none" normalizeH="0" baseline="0" dirty="0" smtClean="0">
                <a:ln>
                  <a:noFill/>
                </a:ln>
                <a:solidFill>
                  <a:srgbClr val="000000"/>
                </a:solidFill>
                <a:effectLst/>
                <a:latin typeface="+mn-lt"/>
              </a:rPr>
              <a:t>, l'élément sera totalement transparent.</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mn-lt"/>
              </a:rPr>
              <a:t>Il faut donc choisir une valeur comprise entre 0 et 1. Ainsi, avec une valeur de 0.6, votre élément sera opaque à 60%… et on verra donc à travers !</a:t>
            </a:r>
          </a:p>
        </p:txBody>
      </p:sp>
    </p:spTree>
    <p:extLst>
      <p:ext uri="{BB962C8B-B14F-4D97-AF65-F5344CB8AC3E}">
        <p14:creationId xmlns="" xmlns:p14="http://schemas.microsoft.com/office/powerpoint/2010/main" val="23573588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396716"/>
            <a:ext cx="4572000" cy="1077218"/>
          </a:xfrm>
          <a:prstGeom prst="rect">
            <a:avLst/>
          </a:prstGeom>
        </p:spPr>
        <p:txBody>
          <a:bodyPr>
            <a:spAutoFit/>
          </a:bodyPr>
          <a:lstStyle/>
          <a:p>
            <a:r>
              <a:rPr lang="fr-FR" sz="1600" dirty="0">
                <a:solidFill>
                  <a:schemeClr val="tx2">
                    <a:lumMod val="60000"/>
                    <a:lumOff val="40000"/>
                  </a:schemeClr>
                </a:solidFill>
              </a:rPr>
              <a:t>p</a:t>
            </a:r>
          </a:p>
          <a:p>
            <a:r>
              <a:rPr lang="fr-FR" sz="1600" dirty="0">
                <a:solidFill>
                  <a:schemeClr val="tx2">
                    <a:lumMod val="60000"/>
                    <a:lumOff val="40000"/>
                  </a:schemeClr>
                </a:solidFill>
              </a:rPr>
              <a:t>{</a:t>
            </a:r>
          </a:p>
          <a:p>
            <a:r>
              <a:rPr lang="fr-FR" sz="1600" dirty="0">
                <a:solidFill>
                  <a:schemeClr val="tx2">
                    <a:lumMod val="60000"/>
                    <a:lumOff val="40000"/>
                  </a:schemeClr>
                </a:solidFill>
              </a:rPr>
              <a:t>    </a:t>
            </a:r>
            <a:r>
              <a:rPr lang="fr-FR" sz="1600" dirty="0" err="1">
                <a:solidFill>
                  <a:schemeClr val="tx2">
                    <a:lumMod val="60000"/>
                    <a:lumOff val="40000"/>
                  </a:schemeClr>
                </a:solidFill>
              </a:rPr>
              <a:t>opacity</a:t>
            </a:r>
            <a:r>
              <a:rPr lang="fr-FR" sz="1600" dirty="0">
                <a:solidFill>
                  <a:schemeClr val="tx2">
                    <a:lumMod val="60000"/>
                    <a:lumOff val="40000"/>
                  </a:schemeClr>
                </a:solidFill>
              </a:rPr>
              <a:t>: 0.6;</a:t>
            </a:r>
          </a:p>
          <a:p>
            <a:r>
              <a:rPr lang="fr-FR" sz="1600" dirty="0">
                <a:solidFill>
                  <a:schemeClr val="tx2">
                    <a:lumMod val="60000"/>
                    <a:lumOff val="40000"/>
                  </a:schemeClr>
                </a:solidFill>
              </a:rPr>
              <a:t>}</a:t>
            </a:r>
          </a:p>
        </p:txBody>
      </p:sp>
      <p:sp>
        <p:nvSpPr>
          <p:cNvPr id="5" name="Rectangle 4"/>
          <p:cNvSpPr/>
          <p:nvPr/>
        </p:nvSpPr>
        <p:spPr>
          <a:xfrm>
            <a:off x="116813" y="65782"/>
            <a:ext cx="2931187" cy="338554"/>
          </a:xfrm>
          <a:prstGeom prst="rect">
            <a:avLst/>
          </a:prstGeom>
        </p:spPr>
        <p:txBody>
          <a:bodyPr wrap="none">
            <a:spAutoFit/>
          </a:bodyPr>
          <a:lstStyle/>
          <a:p>
            <a:pPr lvl="0" eaLnBrk="0" fontAlgn="base" hangingPunct="0">
              <a:spcBef>
                <a:spcPct val="0"/>
              </a:spcBef>
              <a:spcAft>
                <a:spcPct val="0"/>
              </a:spcAft>
            </a:pPr>
            <a:r>
              <a:rPr lang="fr-FR" sz="1600" smtClean="0"/>
              <a:t>Voici comment on peut l'utiliser :</a:t>
            </a:r>
            <a:endParaRPr lang="fr-FR" sz="1600" dirty="0"/>
          </a:p>
        </p:txBody>
      </p:sp>
      <p:sp>
        <p:nvSpPr>
          <p:cNvPr id="6" name="Rectangle 5"/>
          <p:cNvSpPr/>
          <p:nvPr/>
        </p:nvSpPr>
        <p:spPr>
          <a:xfrm>
            <a:off x="152400" y="1473934"/>
            <a:ext cx="8839200" cy="338554"/>
          </a:xfrm>
          <a:prstGeom prst="rect">
            <a:avLst/>
          </a:prstGeom>
        </p:spPr>
        <p:txBody>
          <a:bodyPr wrap="square">
            <a:spAutoFit/>
          </a:bodyPr>
          <a:lstStyle/>
          <a:p>
            <a:r>
              <a:rPr lang="fr-FR" sz="1600" dirty="0"/>
              <a:t>Voici un exemple qui va nous permettre d'apprécier la transparence. </a:t>
            </a:r>
            <a:endParaRPr lang="fr-FR" sz="1600" dirty="0" smtClean="0"/>
          </a:p>
        </p:txBody>
      </p:sp>
      <p:sp>
        <p:nvSpPr>
          <p:cNvPr id="7" name="Rectangle 6"/>
          <p:cNvSpPr/>
          <p:nvPr/>
        </p:nvSpPr>
        <p:spPr>
          <a:xfrm>
            <a:off x="137160" y="1788556"/>
            <a:ext cx="8854440" cy="2800767"/>
          </a:xfrm>
          <a:prstGeom prst="rect">
            <a:avLst/>
          </a:prstGeom>
        </p:spPr>
        <p:txBody>
          <a:bodyPr wrap="square">
            <a:spAutoFit/>
          </a:bodyPr>
          <a:lstStyle/>
          <a:p>
            <a:r>
              <a:rPr lang="fr-FR" sz="1600" dirty="0">
                <a:solidFill>
                  <a:schemeClr val="tx2">
                    <a:lumMod val="60000"/>
                    <a:lumOff val="40000"/>
                  </a:schemeClr>
                </a:solidFill>
              </a:rPr>
              <a:t>body</a:t>
            </a:r>
          </a:p>
          <a:p>
            <a:r>
              <a:rPr lang="fr-FR" sz="1600" dirty="0">
                <a:solidFill>
                  <a:schemeClr val="tx2">
                    <a:lumMod val="60000"/>
                    <a:lumOff val="40000"/>
                  </a:schemeClr>
                </a:solidFill>
              </a:rPr>
              <a:t>{</a:t>
            </a:r>
          </a:p>
          <a:p>
            <a:r>
              <a:rPr lang="fr-FR" sz="1600" dirty="0">
                <a:solidFill>
                  <a:schemeClr val="tx2">
                    <a:lumMod val="60000"/>
                    <a:lumOff val="40000"/>
                  </a:schemeClr>
                </a:solidFill>
              </a:rPr>
              <a:t>    background: url('neige.png');</a:t>
            </a:r>
          </a:p>
          <a:p>
            <a:r>
              <a:rPr lang="fr-FR" sz="1600" dirty="0">
                <a:solidFill>
                  <a:schemeClr val="tx2">
                    <a:lumMod val="60000"/>
                    <a:lumOff val="40000"/>
                  </a:schemeClr>
                </a:solidFill>
              </a:rPr>
              <a:t>}</a:t>
            </a:r>
          </a:p>
          <a:p>
            <a:endParaRPr lang="fr-FR" sz="1600" dirty="0">
              <a:solidFill>
                <a:schemeClr val="tx2">
                  <a:lumMod val="60000"/>
                  <a:lumOff val="40000"/>
                </a:schemeClr>
              </a:solidFill>
            </a:endParaRPr>
          </a:p>
          <a:p>
            <a:r>
              <a:rPr lang="fr-FR" sz="1600" dirty="0">
                <a:solidFill>
                  <a:schemeClr val="tx2">
                    <a:lumMod val="60000"/>
                    <a:lumOff val="40000"/>
                  </a:schemeClr>
                </a:solidFill>
              </a:rPr>
              <a:t>p</a:t>
            </a:r>
          </a:p>
          <a:p>
            <a:r>
              <a:rPr lang="fr-FR" sz="1600" dirty="0">
                <a:solidFill>
                  <a:schemeClr val="tx2">
                    <a:lumMod val="60000"/>
                    <a:lumOff val="40000"/>
                  </a:schemeClr>
                </a:solidFill>
              </a:rPr>
              <a:t>{</a:t>
            </a:r>
          </a:p>
          <a:p>
            <a:r>
              <a:rPr lang="fr-FR" sz="1600" dirty="0">
                <a:solidFill>
                  <a:schemeClr val="tx2">
                    <a:lumMod val="60000"/>
                    <a:lumOff val="40000"/>
                  </a:schemeClr>
                </a:solidFill>
              </a:rPr>
              <a:t>    background-</a:t>
            </a:r>
            <a:r>
              <a:rPr lang="fr-FR" sz="1600" dirty="0" err="1">
                <a:solidFill>
                  <a:schemeClr val="tx2">
                    <a:lumMod val="60000"/>
                    <a:lumOff val="40000"/>
                  </a:schemeClr>
                </a:solidFill>
              </a:rPr>
              <a:t>color</a:t>
            </a:r>
            <a:r>
              <a:rPr lang="fr-FR" sz="1600" dirty="0">
                <a:solidFill>
                  <a:schemeClr val="tx2">
                    <a:lumMod val="60000"/>
                    <a:lumOff val="40000"/>
                  </a:schemeClr>
                </a:solidFill>
              </a:rPr>
              <a:t>: black;</a:t>
            </a:r>
          </a:p>
          <a:p>
            <a:r>
              <a:rPr lang="fr-FR" sz="1600" dirty="0">
                <a:solidFill>
                  <a:schemeClr val="tx2">
                    <a:lumMod val="60000"/>
                    <a:lumOff val="40000"/>
                  </a:schemeClr>
                </a:solidFill>
              </a:rPr>
              <a:t>    </a:t>
            </a:r>
            <a:r>
              <a:rPr lang="fr-FR" sz="1600" dirty="0" err="1">
                <a:solidFill>
                  <a:schemeClr val="tx2">
                    <a:lumMod val="60000"/>
                    <a:lumOff val="40000"/>
                  </a:schemeClr>
                </a:solidFill>
              </a:rPr>
              <a:t>color</a:t>
            </a:r>
            <a:r>
              <a:rPr lang="fr-FR" sz="1600" dirty="0">
                <a:solidFill>
                  <a:schemeClr val="tx2">
                    <a:lumMod val="60000"/>
                    <a:lumOff val="40000"/>
                  </a:schemeClr>
                </a:solidFill>
              </a:rPr>
              <a:t>: white;</a:t>
            </a:r>
          </a:p>
          <a:p>
            <a:r>
              <a:rPr lang="fr-FR" sz="1600" dirty="0">
                <a:solidFill>
                  <a:schemeClr val="tx2">
                    <a:lumMod val="60000"/>
                    <a:lumOff val="40000"/>
                  </a:schemeClr>
                </a:solidFill>
              </a:rPr>
              <a:t>    </a:t>
            </a:r>
            <a:r>
              <a:rPr lang="fr-FR" sz="1600" dirty="0" err="1">
                <a:solidFill>
                  <a:schemeClr val="tx2">
                    <a:lumMod val="60000"/>
                    <a:lumOff val="40000"/>
                  </a:schemeClr>
                </a:solidFill>
              </a:rPr>
              <a:t>opacity</a:t>
            </a:r>
            <a:r>
              <a:rPr lang="fr-FR" sz="1600" dirty="0">
                <a:solidFill>
                  <a:schemeClr val="tx2">
                    <a:lumMod val="60000"/>
                    <a:lumOff val="40000"/>
                  </a:schemeClr>
                </a:solidFill>
              </a:rPr>
              <a:t>: 0.3;</a:t>
            </a:r>
          </a:p>
          <a:p>
            <a:r>
              <a:rPr lang="fr-FR" sz="1600" dirty="0">
                <a:solidFill>
                  <a:schemeClr val="tx2">
                    <a:lumMod val="60000"/>
                    <a:lumOff val="40000"/>
                  </a:schemeClr>
                </a:solidFill>
              </a:rPr>
              <a:t>}</a:t>
            </a:r>
          </a:p>
        </p:txBody>
      </p:sp>
    </p:spTree>
    <p:extLst>
      <p:ext uri="{BB962C8B-B14F-4D97-AF65-F5344CB8AC3E}">
        <p14:creationId xmlns="" xmlns:p14="http://schemas.microsoft.com/office/powerpoint/2010/main" val="2634704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76200"/>
            <a:ext cx="1657120" cy="338554"/>
          </a:xfrm>
          <a:prstGeom prst="rect">
            <a:avLst/>
          </a:prstGeom>
        </p:spPr>
        <p:txBody>
          <a:bodyPr wrap="none">
            <a:spAutoFit/>
          </a:bodyPr>
          <a:lstStyle/>
          <a:p>
            <a:r>
              <a:rPr lang="fr-FR" sz="1600" b="1" dirty="0"/>
              <a:t>La notation </a:t>
            </a:r>
            <a:r>
              <a:rPr lang="fr-FR" sz="1600" b="1" dirty="0" err="1"/>
              <a:t>RGBa</a:t>
            </a:r>
            <a:endParaRPr lang="fr-FR" sz="1600" b="1" i="0" dirty="0">
              <a:effectLst/>
            </a:endParaRPr>
          </a:p>
        </p:txBody>
      </p:sp>
      <p:sp>
        <p:nvSpPr>
          <p:cNvPr id="5" name="Rectangle 4"/>
          <p:cNvSpPr/>
          <p:nvPr/>
        </p:nvSpPr>
        <p:spPr>
          <a:xfrm>
            <a:off x="137160" y="437614"/>
            <a:ext cx="8854440" cy="1077218"/>
          </a:xfrm>
          <a:prstGeom prst="rect">
            <a:avLst/>
          </a:prstGeom>
        </p:spPr>
        <p:txBody>
          <a:bodyPr wrap="square">
            <a:spAutoFit/>
          </a:bodyPr>
          <a:lstStyle/>
          <a:p>
            <a:r>
              <a:rPr lang="fr-FR" sz="1600" dirty="0"/>
              <a:t>CSS3 nous propose une autre façon de jouer avec la transparence : la notation </a:t>
            </a:r>
            <a:r>
              <a:rPr lang="fr-FR" sz="1600" b="1" dirty="0" err="1">
                <a:solidFill>
                  <a:schemeClr val="tx2">
                    <a:lumMod val="60000"/>
                    <a:lumOff val="40000"/>
                  </a:schemeClr>
                </a:solidFill>
              </a:rPr>
              <a:t>RGBa</a:t>
            </a:r>
            <a:r>
              <a:rPr lang="fr-FR" sz="1600" dirty="0"/>
              <a:t>. Il s'agit en fait de la notation RGB </a:t>
            </a:r>
            <a:r>
              <a:rPr lang="fr-FR" sz="1600" dirty="0" smtClean="0"/>
              <a:t>(</a:t>
            </a:r>
            <a:r>
              <a:rPr lang="fr-FR" sz="1600" dirty="0" err="1" smtClean="0"/>
              <a:t>Red</a:t>
            </a:r>
            <a:r>
              <a:rPr lang="fr-FR" sz="1600" dirty="0" smtClean="0"/>
              <a:t>, Green, </a:t>
            </a:r>
            <a:r>
              <a:rPr lang="fr-FR" sz="1600" dirty="0"/>
              <a:t>B</a:t>
            </a:r>
            <a:r>
              <a:rPr lang="fr-FR" sz="1600" dirty="0" smtClean="0"/>
              <a:t>lue), avec </a:t>
            </a:r>
            <a:r>
              <a:rPr lang="fr-FR" sz="1600" dirty="0"/>
              <a:t>un quatrième paramètre : le niveau de transparence (appelé « canal alpha »). De la même façon que précédemment, avec une valeur de 1, le fond est complètement opaque. Avec une valeur inférieure à 1, il est transparent.</a:t>
            </a:r>
          </a:p>
        </p:txBody>
      </p:sp>
      <p:sp>
        <p:nvSpPr>
          <p:cNvPr id="6" name="Rectangle 5"/>
          <p:cNvSpPr/>
          <p:nvPr/>
        </p:nvSpPr>
        <p:spPr>
          <a:xfrm>
            <a:off x="152400" y="1514832"/>
            <a:ext cx="8915400" cy="1077218"/>
          </a:xfrm>
          <a:prstGeom prst="rect">
            <a:avLst/>
          </a:prstGeom>
        </p:spPr>
        <p:txBody>
          <a:bodyPr wrap="square">
            <a:spAutoFit/>
          </a:bodyPr>
          <a:lstStyle/>
          <a:p>
            <a:r>
              <a:rPr lang="fr-FR" sz="1600" dirty="0">
                <a:solidFill>
                  <a:schemeClr val="tx2">
                    <a:lumMod val="60000"/>
                    <a:lumOff val="40000"/>
                  </a:schemeClr>
                </a:solidFill>
              </a:rPr>
              <a:t>p</a:t>
            </a:r>
          </a:p>
          <a:p>
            <a:r>
              <a:rPr lang="fr-FR" sz="1600" dirty="0">
                <a:solidFill>
                  <a:schemeClr val="tx2">
                    <a:lumMod val="60000"/>
                    <a:lumOff val="40000"/>
                  </a:schemeClr>
                </a:solidFill>
              </a:rPr>
              <a:t>{</a:t>
            </a:r>
          </a:p>
          <a:p>
            <a:r>
              <a:rPr lang="fr-FR" sz="1600" dirty="0">
                <a:solidFill>
                  <a:schemeClr val="tx2">
                    <a:lumMod val="60000"/>
                    <a:lumOff val="40000"/>
                  </a:schemeClr>
                </a:solidFill>
              </a:rPr>
              <a:t>    background-</a:t>
            </a:r>
            <a:r>
              <a:rPr lang="fr-FR" sz="1600" dirty="0" err="1">
                <a:solidFill>
                  <a:schemeClr val="tx2">
                    <a:lumMod val="60000"/>
                    <a:lumOff val="40000"/>
                  </a:schemeClr>
                </a:solidFill>
              </a:rPr>
              <a:t>color</a:t>
            </a:r>
            <a:r>
              <a:rPr lang="fr-FR" sz="1600" dirty="0">
                <a:solidFill>
                  <a:schemeClr val="tx2">
                    <a:lumMod val="60000"/>
                    <a:lumOff val="40000"/>
                  </a:schemeClr>
                </a:solidFill>
              </a:rPr>
              <a:t>: </a:t>
            </a:r>
            <a:r>
              <a:rPr lang="fr-FR" sz="1600" dirty="0" err="1">
                <a:solidFill>
                  <a:schemeClr val="tx2">
                    <a:lumMod val="60000"/>
                    <a:lumOff val="40000"/>
                  </a:schemeClr>
                </a:solidFill>
              </a:rPr>
              <a:t>rgba</a:t>
            </a:r>
            <a:r>
              <a:rPr lang="fr-FR" sz="1600" dirty="0">
                <a:solidFill>
                  <a:schemeClr val="tx2">
                    <a:lumMod val="60000"/>
                    <a:lumOff val="40000"/>
                  </a:schemeClr>
                </a:solidFill>
              </a:rPr>
              <a:t>(255, 0, 0, 0.5); /* Fond rouge à moitié transparent */</a:t>
            </a:r>
          </a:p>
          <a:p>
            <a:r>
              <a:rPr lang="fr-FR" sz="1600" dirty="0">
                <a:solidFill>
                  <a:schemeClr val="tx2">
                    <a:lumMod val="60000"/>
                    <a:lumOff val="40000"/>
                  </a:schemeClr>
                </a:solidFill>
              </a:rPr>
              <a:t>}</a:t>
            </a:r>
          </a:p>
        </p:txBody>
      </p:sp>
      <p:sp>
        <p:nvSpPr>
          <p:cNvPr id="7" name="Rectangle 1"/>
          <p:cNvSpPr>
            <a:spLocks noChangeArrowheads="1"/>
          </p:cNvSpPr>
          <p:nvPr/>
        </p:nvSpPr>
        <p:spPr bwMode="auto">
          <a:xfrm>
            <a:off x="106680" y="2592050"/>
            <a:ext cx="8953500" cy="132343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fr-FR" sz="1600" b="0" i="0" u="none" strike="noStrike" cap="none" normalizeH="0" baseline="0" dirty="0" smtClean="0">
                <a:ln>
                  <a:noFill/>
                </a:ln>
                <a:solidFill>
                  <a:schemeClr val="tx1"/>
                </a:solidFill>
                <a:effectLst/>
                <a:latin typeface="+mn-lt"/>
              </a:rPr>
              <a:t>Vous pouvez obtenir exactement le même effet qu'avec </a:t>
            </a:r>
            <a:r>
              <a:rPr kumimoji="0" lang="fr-FR" sz="1600" b="1" i="0" u="none" strike="noStrike" cap="none" normalizeH="0" baseline="0" dirty="0" err="1" smtClean="0">
                <a:ln>
                  <a:noFill/>
                </a:ln>
                <a:solidFill>
                  <a:schemeClr val="tx1"/>
                </a:solidFill>
                <a:effectLst/>
                <a:latin typeface="+mn-lt"/>
                <a:cs typeface="Courier New" panose="02070309020205020404" pitchFamily="49" charset="0"/>
              </a:rPr>
              <a:t>opacity</a:t>
            </a:r>
            <a:r>
              <a:rPr kumimoji="0" lang="fr-FR" sz="1600" b="0" i="0" u="none" strike="noStrike" cap="none" normalizeH="0" baseline="0" dirty="0" smtClean="0">
                <a:ln>
                  <a:noFill/>
                </a:ln>
                <a:solidFill>
                  <a:schemeClr val="tx1"/>
                </a:solidFill>
                <a:effectLst/>
                <a:latin typeface="+mn-lt"/>
                <a:cs typeface="Courier New" panose="02070309020205020404" pitchFamily="49" charset="0"/>
              </a:rPr>
              <a:t> </a:t>
            </a:r>
            <a:r>
              <a:rPr kumimoji="0" lang="fr-FR" sz="1600" b="0" i="0" u="none" strike="noStrike" cap="none" normalizeH="0" baseline="0" dirty="0" smtClean="0">
                <a:ln>
                  <a:noFill/>
                </a:ln>
                <a:solidFill>
                  <a:schemeClr val="tx1"/>
                </a:solidFill>
                <a:effectLst/>
                <a:latin typeface="+mn-lt"/>
              </a:rPr>
              <a:t>juste en jouant avec la notation </a:t>
            </a:r>
            <a:r>
              <a:rPr kumimoji="0" lang="fr-FR" sz="1600" b="1" i="0" u="none" strike="noStrike" cap="none" normalizeH="0" baseline="0" dirty="0" err="1" smtClean="0">
                <a:ln>
                  <a:noFill/>
                </a:ln>
                <a:solidFill>
                  <a:schemeClr val="tx1"/>
                </a:solidFill>
                <a:effectLst/>
                <a:latin typeface="+mn-lt"/>
              </a:rPr>
              <a:t>RGBa</a:t>
            </a:r>
            <a:r>
              <a:rPr lang="fr-FR" sz="1600" dirty="0">
                <a:latin typeface="+mn-lt"/>
              </a:rPr>
              <a:t>.</a:t>
            </a:r>
            <a:r>
              <a:rPr kumimoji="0" lang="fr-FR" sz="1600" b="0" i="0" u="none" strike="noStrike" cap="none" normalizeH="0" baseline="0" dirty="0" smtClean="0">
                <a:ln>
                  <a:noFill/>
                </a:ln>
                <a:solidFill>
                  <a:schemeClr val="tx1"/>
                </a:solidFill>
                <a:effectLst/>
                <a:latin typeface="+mn-lt"/>
              </a:rPr>
              <a:t> </a:t>
            </a:r>
            <a:br>
              <a:rPr kumimoji="0" lang="fr-FR" sz="1600" b="0" i="0" u="none" strike="noStrike" cap="none" normalizeH="0" baseline="0" dirty="0" smtClean="0">
                <a:ln>
                  <a:noFill/>
                </a:ln>
                <a:solidFill>
                  <a:schemeClr val="tx1"/>
                </a:solidFill>
                <a:effectLst/>
                <a:latin typeface="+mn-lt"/>
              </a:rPr>
            </a:br>
            <a:r>
              <a:rPr lang="fr-FR" sz="1600" dirty="0">
                <a:latin typeface="+mn-lt"/>
              </a:rPr>
              <a:t>Pour les navigateurs plus anciens, il est recommandé d'indiquer la notation RGB classique en plus de </a:t>
            </a:r>
            <a:r>
              <a:rPr lang="fr-FR" sz="1600" dirty="0" err="1">
                <a:latin typeface="+mn-lt"/>
              </a:rPr>
              <a:t>RGBa</a:t>
            </a:r>
            <a:r>
              <a:rPr lang="fr-FR" sz="1600" dirty="0">
                <a:latin typeface="+mn-lt"/>
              </a:rPr>
              <a:t>. </a:t>
            </a:r>
            <a:endParaRPr lang="fr-FR" sz="1600" dirty="0" smtClean="0">
              <a:latin typeface="+mn-lt"/>
            </a:endParaRPr>
          </a:p>
          <a:p>
            <a:pPr lvl="0"/>
            <a:r>
              <a:rPr kumimoji="0" lang="fr-FR" sz="1600" b="0" i="0" u="none" strike="noStrike" cap="none" normalizeH="0" baseline="0" dirty="0" smtClean="0">
                <a:ln>
                  <a:noFill/>
                </a:ln>
                <a:solidFill>
                  <a:schemeClr val="tx1"/>
                </a:solidFill>
                <a:effectLst/>
                <a:latin typeface="+mn-lt"/>
              </a:rPr>
              <a:t>Pour </a:t>
            </a:r>
            <a:r>
              <a:rPr lang="fr-FR" sz="1600" dirty="0" smtClean="0">
                <a:latin typeface="+mn-lt"/>
              </a:rPr>
              <a:t>ces navigateurs</a:t>
            </a:r>
            <a:r>
              <a:rPr kumimoji="0" lang="fr-FR" sz="1600" b="0" i="0" u="none" strike="noStrike" cap="none" normalizeH="0" baseline="0" dirty="0" smtClean="0">
                <a:ln>
                  <a:noFill/>
                </a:ln>
                <a:solidFill>
                  <a:schemeClr val="tx1"/>
                </a:solidFill>
                <a:effectLst/>
                <a:latin typeface="+mn-lt"/>
              </a:rPr>
              <a:t>, le fond ne sera pas transparent mais, au moins, il y aura bien une couleur d'arrière-plan.</a:t>
            </a:r>
          </a:p>
        </p:txBody>
      </p:sp>
      <p:sp>
        <p:nvSpPr>
          <p:cNvPr id="8" name="Rectangle 7"/>
          <p:cNvSpPr/>
          <p:nvPr/>
        </p:nvSpPr>
        <p:spPr>
          <a:xfrm>
            <a:off x="114300" y="3915489"/>
            <a:ext cx="8755380" cy="1323439"/>
          </a:xfrm>
          <a:prstGeom prst="rect">
            <a:avLst/>
          </a:prstGeom>
        </p:spPr>
        <p:txBody>
          <a:bodyPr wrap="square">
            <a:spAutoFit/>
          </a:bodyPr>
          <a:lstStyle/>
          <a:p>
            <a:r>
              <a:rPr lang="fr-FR" sz="1600" dirty="0">
                <a:solidFill>
                  <a:schemeClr val="tx2">
                    <a:lumMod val="60000"/>
                    <a:lumOff val="40000"/>
                  </a:schemeClr>
                </a:solidFill>
              </a:rPr>
              <a:t>p</a:t>
            </a:r>
          </a:p>
          <a:p>
            <a:r>
              <a:rPr lang="fr-FR" sz="1600" dirty="0">
                <a:solidFill>
                  <a:schemeClr val="tx2">
                    <a:lumMod val="60000"/>
                    <a:lumOff val="40000"/>
                  </a:schemeClr>
                </a:solidFill>
              </a:rPr>
              <a:t>{</a:t>
            </a:r>
          </a:p>
          <a:p>
            <a:r>
              <a:rPr lang="fr-FR" sz="1600" dirty="0">
                <a:solidFill>
                  <a:schemeClr val="tx2">
                    <a:lumMod val="60000"/>
                    <a:lumOff val="40000"/>
                  </a:schemeClr>
                </a:solidFill>
              </a:rPr>
              <a:t>    background-</a:t>
            </a:r>
            <a:r>
              <a:rPr lang="fr-FR" sz="1600" dirty="0" err="1">
                <a:solidFill>
                  <a:schemeClr val="tx2">
                    <a:lumMod val="60000"/>
                    <a:lumOff val="40000"/>
                  </a:schemeClr>
                </a:solidFill>
              </a:rPr>
              <a:t>color</a:t>
            </a:r>
            <a:r>
              <a:rPr lang="fr-FR" sz="1600" dirty="0">
                <a:solidFill>
                  <a:schemeClr val="tx2">
                    <a:lumMod val="60000"/>
                    <a:lumOff val="40000"/>
                  </a:schemeClr>
                </a:solidFill>
              </a:rPr>
              <a:t>: </a:t>
            </a:r>
            <a:r>
              <a:rPr lang="fr-FR" sz="1600" dirty="0" err="1">
                <a:solidFill>
                  <a:schemeClr val="tx2">
                    <a:lumMod val="60000"/>
                    <a:lumOff val="40000"/>
                  </a:schemeClr>
                </a:solidFill>
              </a:rPr>
              <a:t>rgb</a:t>
            </a:r>
            <a:r>
              <a:rPr lang="fr-FR" sz="1600" dirty="0">
                <a:solidFill>
                  <a:schemeClr val="tx2">
                    <a:lumMod val="60000"/>
                    <a:lumOff val="40000"/>
                  </a:schemeClr>
                </a:solidFill>
              </a:rPr>
              <a:t>(255,0,0); /* Pour les navigateurs anciens */</a:t>
            </a:r>
          </a:p>
          <a:p>
            <a:r>
              <a:rPr lang="fr-FR" sz="1600" dirty="0">
                <a:solidFill>
                  <a:schemeClr val="tx2">
                    <a:lumMod val="60000"/>
                    <a:lumOff val="40000"/>
                  </a:schemeClr>
                </a:solidFill>
              </a:rPr>
              <a:t>    background-</a:t>
            </a:r>
            <a:r>
              <a:rPr lang="fr-FR" sz="1600" dirty="0" err="1">
                <a:solidFill>
                  <a:schemeClr val="tx2">
                    <a:lumMod val="60000"/>
                    <a:lumOff val="40000"/>
                  </a:schemeClr>
                </a:solidFill>
              </a:rPr>
              <a:t>color</a:t>
            </a:r>
            <a:r>
              <a:rPr lang="fr-FR" sz="1600" dirty="0">
                <a:solidFill>
                  <a:schemeClr val="tx2">
                    <a:lumMod val="60000"/>
                    <a:lumOff val="40000"/>
                  </a:schemeClr>
                </a:solidFill>
              </a:rPr>
              <a:t>: </a:t>
            </a:r>
            <a:r>
              <a:rPr lang="fr-FR" sz="1600" dirty="0" err="1">
                <a:solidFill>
                  <a:schemeClr val="tx2">
                    <a:lumMod val="60000"/>
                    <a:lumOff val="40000"/>
                  </a:schemeClr>
                </a:solidFill>
              </a:rPr>
              <a:t>rgba</a:t>
            </a:r>
            <a:r>
              <a:rPr lang="fr-FR" sz="1600" dirty="0">
                <a:solidFill>
                  <a:schemeClr val="tx2">
                    <a:lumMod val="60000"/>
                    <a:lumOff val="40000"/>
                  </a:schemeClr>
                </a:solidFill>
              </a:rPr>
              <a:t>(255,0,0,0.5); /* Pour les navigateurs plus récents */</a:t>
            </a:r>
          </a:p>
          <a:p>
            <a:r>
              <a:rPr lang="fr-FR" sz="1600" dirty="0">
                <a:solidFill>
                  <a:schemeClr val="tx2">
                    <a:lumMod val="60000"/>
                    <a:lumOff val="40000"/>
                  </a:schemeClr>
                </a:solidFill>
              </a:rPr>
              <a:t>}</a:t>
            </a:r>
          </a:p>
        </p:txBody>
      </p:sp>
    </p:spTree>
    <p:extLst>
      <p:ext uri="{BB962C8B-B14F-4D97-AF65-F5344CB8AC3E}">
        <p14:creationId xmlns="" xmlns:p14="http://schemas.microsoft.com/office/powerpoint/2010/main" val="114185440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5"/>
          <p:cNvSpPr txBox="1"/>
          <p:nvPr/>
        </p:nvSpPr>
        <p:spPr>
          <a:xfrm>
            <a:off x="329680" y="152400"/>
            <a:ext cx="8280920" cy="461665"/>
          </a:xfrm>
          <a:prstGeom prst="rect">
            <a:avLst/>
          </a:prstGeom>
          <a:noFill/>
        </p:spPr>
        <p:txBody>
          <a:bodyPr wrap="square" rtlCol="0">
            <a:spAutoFit/>
          </a:bodyPr>
          <a:lstStyle/>
          <a:p>
            <a:r>
              <a:rPr lang="fr-FR" sz="2400" b="1" dirty="0" smtClean="0"/>
              <a:t>D. </a:t>
            </a:r>
            <a:r>
              <a:rPr lang="fr-FR" sz="2400" b="1" u="sng" dirty="0" smtClean="0"/>
              <a:t>Création de bordures et ombres</a:t>
            </a:r>
          </a:p>
        </p:txBody>
      </p:sp>
      <p:sp>
        <p:nvSpPr>
          <p:cNvPr id="5" name="Rectangle 4"/>
          <p:cNvSpPr/>
          <p:nvPr/>
        </p:nvSpPr>
        <p:spPr>
          <a:xfrm>
            <a:off x="357158" y="642918"/>
            <a:ext cx="2177006" cy="369332"/>
          </a:xfrm>
          <a:prstGeom prst="rect">
            <a:avLst/>
          </a:prstGeom>
        </p:spPr>
        <p:txBody>
          <a:bodyPr wrap="none">
            <a:spAutoFit/>
          </a:bodyPr>
          <a:lstStyle/>
          <a:p>
            <a:r>
              <a:rPr lang="fr-FR" b="1" dirty="0" smtClean="0"/>
              <a:t>1. </a:t>
            </a:r>
            <a:r>
              <a:rPr lang="fr-FR" b="1" u="sng" dirty="0" smtClean="0"/>
              <a:t>Bordures standard</a:t>
            </a:r>
            <a:endParaRPr lang="fr-FR" b="1" u="sng" dirty="0"/>
          </a:p>
        </p:txBody>
      </p:sp>
      <p:sp>
        <p:nvSpPr>
          <p:cNvPr id="1026" name="Rectangle 2"/>
          <p:cNvSpPr>
            <a:spLocks noChangeArrowheads="1"/>
          </p:cNvSpPr>
          <p:nvPr/>
        </p:nvSpPr>
        <p:spPr bwMode="auto">
          <a:xfrm>
            <a:off x="142876" y="1101756"/>
            <a:ext cx="8858280" cy="5016758"/>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Le CSS vous offre un large choix de bordures pour décorer votre page. De nombreuses propriétés CSS vous permettent de modifier l'apparence de vos bordures : </a:t>
            </a:r>
            <a:r>
              <a:rPr kumimoji="0" lang="fr-FR" sz="1600" b="1" i="0" u="none" strike="noStrike" cap="none" normalizeH="0" baseline="0" dirty="0" smtClean="0">
                <a:ln>
                  <a:noFill/>
                </a:ln>
                <a:solidFill>
                  <a:srgbClr val="FF0000"/>
                </a:solidFill>
                <a:effectLst/>
                <a:cs typeface="Courier New" pitchFamily="49" charset="0"/>
              </a:rPr>
              <a:t>border-</a:t>
            </a:r>
            <a:r>
              <a:rPr kumimoji="0" lang="fr-FR" sz="1600" b="1" i="0" u="none" strike="noStrike" cap="none" normalizeH="0" baseline="0" dirty="0" err="1" smtClean="0">
                <a:ln>
                  <a:noFill/>
                </a:ln>
                <a:solidFill>
                  <a:srgbClr val="FF0000"/>
                </a:solidFill>
                <a:effectLst/>
                <a:cs typeface="Courier New" pitchFamily="49" charset="0"/>
              </a:rPr>
              <a:t>width</a:t>
            </a:r>
            <a:r>
              <a:rPr kumimoji="0" lang="fr-FR" sz="1600" b="1" i="0" u="none" strike="noStrike" cap="none" normalizeH="0" baseline="0" dirty="0" smtClean="0">
                <a:ln>
                  <a:noFill/>
                </a:ln>
                <a:solidFill>
                  <a:srgbClr val="FF0000"/>
                </a:solidFill>
                <a:effectLst/>
                <a:cs typeface="Arial" pitchFamily="34" charset="0"/>
              </a:rPr>
              <a:t>, </a:t>
            </a:r>
            <a:r>
              <a:rPr kumimoji="0" lang="fr-FR" sz="1600" b="1" i="0" u="none" strike="noStrike" cap="none" normalizeH="0" baseline="0" dirty="0" smtClean="0">
                <a:ln>
                  <a:noFill/>
                </a:ln>
                <a:solidFill>
                  <a:srgbClr val="FF0000"/>
                </a:solidFill>
                <a:effectLst/>
                <a:cs typeface="Courier New" pitchFamily="49" charset="0"/>
              </a:rPr>
              <a:t>border-</a:t>
            </a:r>
            <a:r>
              <a:rPr kumimoji="0" lang="fr-FR" sz="1600" b="1" i="0" u="none" strike="noStrike" cap="none" normalizeH="0" baseline="0" dirty="0" err="1" smtClean="0">
                <a:ln>
                  <a:noFill/>
                </a:ln>
                <a:solidFill>
                  <a:srgbClr val="FF0000"/>
                </a:solidFill>
                <a:effectLst/>
                <a:cs typeface="Courier New" pitchFamily="49" charset="0"/>
              </a:rPr>
              <a:t>color</a:t>
            </a:r>
            <a:r>
              <a:rPr kumimoji="0" lang="fr-FR" sz="1600" b="1" i="0" u="none" strike="noStrike" cap="none" normalizeH="0" baseline="0" dirty="0" smtClean="0">
                <a:ln>
                  <a:noFill/>
                </a:ln>
                <a:solidFill>
                  <a:srgbClr val="FF0000"/>
                </a:solidFill>
                <a:effectLst/>
                <a:cs typeface="Arial" pitchFamily="34" charset="0"/>
              </a:rPr>
              <a:t>, </a:t>
            </a:r>
            <a:r>
              <a:rPr kumimoji="0" lang="fr-FR" sz="1600" b="1" i="0" u="none" strike="noStrike" cap="none" normalizeH="0" baseline="0" dirty="0" smtClean="0">
                <a:ln>
                  <a:noFill/>
                </a:ln>
                <a:solidFill>
                  <a:srgbClr val="FF0000"/>
                </a:solidFill>
                <a:effectLst/>
                <a:cs typeface="Courier New" pitchFamily="49" charset="0"/>
              </a:rPr>
              <a:t>border-style </a:t>
            </a:r>
            <a:r>
              <a:rPr kumimoji="0" lang="fr-FR" sz="1600" b="0" i="0" u="none" strike="noStrike" cap="none" normalizeH="0" baseline="0" dirty="0" smtClean="0">
                <a:ln>
                  <a:noFill/>
                </a:ln>
                <a:solidFill>
                  <a:schemeClr val="tx1"/>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Pour </a:t>
            </a:r>
            <a:r>
              <a:rPr kumimoji="0" lang="fr-FR" sz="1600" b="1" i="0" u="none" strike="noStrike" cap="none" normalizeH="0" baseline="0" dirty="0" smtClean="0">
                <a:ln>
                  <a:noFill/>
                </a:ln>
                <a:solidFill>
                  <a:srgbClr val="FF0000"/>
                </a:solidFill>
                <a:effectLst/>
                <a:cs typeface="Courier New" pitchFamily="49" charset="0"/>
              </a:rPr>
              <a:t>border</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on peut utiliser jusqu'à trois valeurs pour modifier l'apparence de la bordure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rgbClr val="000000"/>
                </a:solidFill>
                <a:effectLst/>
                <a:cs typeface="Arial" pitchFamily="34" charset="0"/>
              </a:rPr>
              <a:t>La largeur</a:t>
            </a:r>
            <a:r>
              <a:rPr kumimoji="0" lang="fr-FR" sz="1600" b="0" i="0" u="none" strike="noStrike" cap="none" normalizeH="0" baseline="0" dirty="0" smtClean="0">
                <a:ln>
                  <a:noFill/>
                </a:ln>
                <a:solidFill>
                  <a:srgbClr val="000000"/>
                </a:solidFill>
                <a:effectLst/>
                <a:cs typeface="Arial" pitchFamily="34" charset="0"/>
              </a:rPr>
              <a:t> : indiquez la largeur de votre bordure. Mettez une valeur en pixels (comme</a:t>
            </a:r>
            <a:r>
              <a:rPr kumimoji="0" lang="fr-FR" sz="1600" b="0" i="0" u="none" strike="noStrike" cap="none" normalizeH="0" baseline="0" dirty="0" smtClean="0">
                <a:ln>
                  <a:noFill/>
                </a:ln>
                <a:solidFill>
                  <a:srgbClr val="000000"/>
                </a:solidFill>
                <a:effectLst/>
                <a:cs typeface="Courier New" pitchFamily="49" charset="0"/>
              </a:rPr>
              <a:t>2px</a:t>
            </a:r>
            <a:r>
              <a:rPr kumimoji="0" lang="fr-FR" sz="1600" b="0" i="0" u="none" strike="noStrike" cap="none" normalizeH="0" baseline="0" dirty="0" smtClean="0">
                <a:ln>
                  <a:noFill/>
                </a:ln>
                <a:solidFill>
                  <a:srgbClr val="000000"/>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rgbClr val="000000"/>
                </a:solidFill>
                <a:effectLst/>
                <a:cs typeface="Arial" pitchFamily="34" charset="0"/>
              </a:rPr>
              <a:t>La couleur</a:t>
            </a:r>
            <a:r>
              <a:rPr kumimoji="0" lang="fr-FR" sz="1600" b="0" i="0" u="none" strike="noStrike" cap="none" normalizeH="0" baseline="0" dirty="0" smtClean="0">
                <a:ln>
                  <a:noFill/>
                </a:ln>
                <a:solidFill>
                  <a:srgbClr val="000000"/>
                </a:solidFill>
                <a:effectLst/>
                <a:cs typeface="Arial" pitchFamily="34" charset="0"/>
              </a:rPr>
              <a:t> : c'est la couleur de votre bordure. Utilisez, comme on l'a appris, soit un nom de couleur (</a:t>
            </a:r>
            <a:r>
              <a:rPr kumimoji="0" lang="fr-FR" sz="1600" b="0" i="0" u="none" strike="noStrike" cap="none" normalizeH="0" baseline="0" dirty="0" err="1" smtClean="0">
                <a:ln>
                  <a:noFill/>
                </a:ln>
                <a:solidFill>
                  <a:srgbClr val="000000"/>
                </a:solidFill>
                <a:effectLst/>
                <a:cs typeface="Courier New" pitchFamily="49" charset="0"/>
              </a:rPr>
              <a:t>black</a:t>
            </a:r>
            <a:r>
              <a:rPr kumimoji="0" lang="fr-FR" sz="1600" b="0" i="0" u="none" strike="noStrike" cap="none" normalizeH="0" baseline="0" dirty="0" err="1" smtClean="0">
                <a:ln>
                  <a:noFill/>
                </a:ln>
                <a:solidFill>
                  <a:srgbClr val="000000"/>
                </a:solidFill>
                <a:effectLst/>
                <a:cs typeface="Arial" pitchFamily="34" charset="0"/>
              </a:rPr>
              <a:t>,</a:t>
            </a:r>
            <a:r>
              <a:rPr kumimoji="0" lang="fr-FR" sz="1600" b="0" i="0" u="none" strike="noStrike" cap="none" normalizeH="0" baseline="0" dirty="0" err="1" smtClean="0">
                <a:ln>
                  <a:noFill/>
                </a:ln>
                <a:solidFill>
                  <a:srgbClr val="000000"/>
                </a:solidFill>
                <a:effectLst/>
                <a:cs typeface="Courier New" pitchFamily="49" charset="0"/>
              </a:rPr>
              <a:t>red</a:t>
            </a:r>
            <a:r>
              <a:rPr kumimoji="0" lang="fr-FR" sz="1600" b="0" i="0" u="none" strike="noStrike" cap="none" normalizeH="0" baseline="0" dirty="0" smtClean="0">
                <a:ln>
                  <a:noFill/>
                </a:ln>
                <a:solidFill>
                  <a:srgbClr val="000000"/>
                </a:solidFill>
                <a:effectLst/>
                <a:cs typeface="Arial" pitchFamily="34" charset="0"/>
              </a:rPr>
              <a:t>,…), soit une valeur hexadécimale (</a:t>
            </a:r>
            <a:r>
              <a:rPr kumimoji="0" lang="fr-FR" sz="1600" b="0" i="0" u="none" strike="noStrike" cap="none" normalizeH="0" baseline="0" dirty="0" smtClean="0">
                <a:ln>
                  <a:noFill/>
                </a:ln>
                <a:solidFill>
                  <a:srgbClr val="000000"/>
                </a:solidFill>
                <a:effectLst/>
                <a:cs typeface="Courier New" pitchFamily="49" charset="0"/>
              </a:rPr>
              <a:t>#FF0000</a:t>
            </a:r>
            <a:r>
              <a:rPr kumimoji="0" lang="fr-FR" sz="1600" b="0" i="0" u="none" strike="noStrike" cap="none" normalizeH="0" baseline="0" dirty="0" smtClean="0">
                <a:ln>
                  <a:noFill/>
                </a:ln>
                <a:solidFill>
                  <a:srgbClr val="000000"/>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rgbClr val="000000"/>
                </a:solidFill>
                <a:effectLst/>
                <a:cs typeface="Arial" pitchFamily="34" charset="0"/>
              </a:rPr>
              <a:t>Le type de bordure</a:t>
            </a:r>
            <a:r>
              <a:rPr kumimoji="0" lang="fr-FR" sz="1600" b="0" i="0" u="none" strike="noStrike" cap="none" normalizeH="0" baseline="0" dirty="0" smtClean="0">
                <a:ln>
                  <a:noFill/>
                </a:ln>
                <a:solidFill>
                  <a:srgbClr val="000000"/>
                </a:solidFill>
                <a:effectLst/>
                <a:cs typeface="Arial" pitchFamily="34" charset="0"/>
              </a:rPr>
              <a:t> : là, vous avez le choix. Votre bordure peut être un simple trait, ou des pointillés, ou encore des tirets, etc. Voici les différentes valeurs disponibles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none</a:t>
            </a:r>
            <a:r>
              <a:rPr kumimoji="0" lang="fr-FR" sz="1600" b="0" i="0" u="none" strike="noStrike" cap="none" normalizeH="0" baseline="0" dirty="0" smtClean="0">
                <a:ln>
                  <a:noFill/>
                </a:ln>
                <a:solidFill>
                  <a:srgbClr val="000000"/>
                </a:solidFill>
                <a:effectLst/>
                <a:cs typeface="Arial" pitchFamily="34" charset="0"/>
              </a:rPr>
              <a:t>: pas de bordure (par défaut)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solid</a:t>
            </a:r>
            <a:r>
              <a:rPr kumimoji="0" lang="fr-FR" sz="1600" b="0" i="0" u="none" strike="noStrike" cap="none" normalizeH="0" baseline="0" dirty="0" smtClean="0">
                <a:ln>
                  <a:noFill/>
                </a:ln>
                <a:solidFill>
                  <a:srgbClr val="000000"/>
                </a:solidFill>
                <a:effectLst/>
                <a:cs typeface="Arial" pitchFamily="34" charset="0"/>
              </a:rPr>
              <a:t>: un trait simple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dotted</a:t>
            </a:r>
            <a:r>
              <a:rPr kumimoji="0" lang="fr-FR" sz="1600" b="0" i="0" u="none" strike="noStrike" cap="none" normalizeH="0" baseline="0" dirty="0" smtClean="0">
                <a:ln>
                  <a:noFill/>
                </a:ln>
                <a:solidFill>
                  <a:srgbClr val="000000"/>
                </a:solidFill>
                <a:effectLst/>
                <a:cs typeface="Arial" pitchFamily="34" charset="0"/>
              </a:rPr>
              <a:t>: pointillés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dashed</a:t>
            </a:r>
            <a:r>
              <a:rPr kumimoji="0" lang="fr-FR" sz="1600" b="0" i="0" u="none" strike="noStrike" cap="none" normalizeH="0" baseline="0" dirty="0" smtClean="0">
                <a:ln>
                  <a:noFill/>
                </a:ln>
                <a:solidFill>
                  <a:srgbClr val="000000"/>
                </a:solidFill>
                <a:effectLst/>
                <a:cs typeface="Arial" pitchFamily="34" charset="0"/>
              </a:rPr>
              <a:t>: tirets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double</a:t>
            </a:r>
            <a:r>
              <a:rPr kumimoji="0" lang="fr-FR" sz="1600" b="0" i="0" u="none" strike="noStrike" cap="none" normalizeH="0" baseline="0" dirty="0" smtClean="0">
                <a:ln>
                  <a:noFill/>
                </a:ln>
                <a:solidFill>
                  <a:srgbClr val="000000"/>
                </a:solidFill>
                <a:effectLst/>
                <a:cs typeface="Arial" pitchFamily="34" charset="0"/>
              </a:rPr>
              <a:t>: bordure double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smtClean="0">
                <a:ln>
                  <a:noFill/>
                </a:ln>
                <a:solidFill>
                  <a:schemeClr val="tx2">
                    <a:lumMod val="60000"/>
                    <a:lumOff val="40000"/>
                  </a:schemeClr>
                </a:solidFill>
                <a:effectLst/>
                <a:cs typeface="Courier New" pitchFamily="49" charset="0"/>
              </a:rPr>
              <a:t>groove</a:t>
            </a:r>
            <a:r>
              <a:rPr kumimoji="0" lang="fr-FR" sz="1600" b="0" i="0" u="none" strike="noStrike" cap="none" normalizeH="0" baseline="0" dirty="0" smtClean="0">
                <a:ln>
                  <a:noFill/>
                </a:ln>
                <a:solidFill>
                  <a:srgbClr val="000000"/>
                </a:solidFill>
                <a:effectLst/>
                <a:cs typeface="Arial" pitchFamily="34" charset="0"/>
              </a:rPr>
              <a:t>: en relief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ridge</a:t>
            </a:r>
            <a:r>
              <a:rPr kumimoji="0" lang="fr-FR" sz="1600" b="0" i="0" u="none" strike="noStrike" cap="none" normalizeH="0" baseline="0" dirty="0" smtClean="0">
                <a:ln>
                  <a:noFill/>
                </a:ln>
                <a:solidFill>
                  <a:srgbClr val="000000"/>
                </a:solidFill>
                <a:effectLst/>
                <a:cs typeface="Arial" pitchFamily="34" charset="0"/>
              </a:rPr>
              <a:t>: autre effet relief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inset</a:t>
            </a:r>
            <a:r>
              <a:rPr kumimoji="0" lang="fr-FR" sz="1600" b="0" i="0" u="none" strike="noStrike" cap="none" normalizeH="0" baseline="0" dirty="0" smtClean="0">
                <a:ln>
                  <a:noFill/>
                </a:ln>
                <a:solidFill>
                  <a:srgbClr val="000000"/>
                </a:solidFill>
                <a:effectLst/>
                <a:cs typeface="Arial" pitchFamily="34" charset="0"/>
              </a:rPr>
              <a:t>: effet 3D global enfoncé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chemeClr val="tx2">
                    <a:lumMod val="60000"/>
                    <a:lumOff val="40000"/>
                  </a:schemeClr>
                </a:solidFill>
                <a:effectLst/>
                <a:cs typeface="Courier New" pitchFamily="49" charset="0"/>
              </a:rPr>
              <a:t>outset</a:t>
            </a:r>
            <a:r>
              <a:rPr kumimoji="0" lang="fr-FR" sz="1600" b="0" i="0" u="none" strike="noStrike" cap="none" normalizeH="0" baseline="0" dirty="0" smtClean="0">
                <a:ln>
                  <a:noFill/>
                </a:ln>
                <a:solidFill>
                  <a:srgbClr val="000000"/>
                </a:solidFill>
                <a:effectLst/>
                <a:cs typeface="Arial" pitchFamily="34" charset="0"/>
              </a:rPr>
              <a:t>: effet 3D global surélevé.</a:t>
            </a:r>
          </a:p>
          <a:p>
            <a:pPr marL="457200" marR="0" lvl="1"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Ainsi, pour avoir une bordure bleue, en tirets, épaisse de 3 pixels autour de mes titres, je vais écrire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4282" y="142852"/>
            <a:ext cx="8715436" cy="1200329"/>
          </a:xfrm>
          <a:prstGeom prst="rect">
            <a:avLst/>
          </a:prstGeom>
        </p:spPr>
        <p:txBody>
          <a:bodyPr wrap="square">
            <a:spAutoFit/>
          </a:bodyPr>
          <a:lstStyle/>
          <a:p>
            <a:r>
              <a:rPr lang="fr-FR" dirty="0" smtClean="0">
                <a:solidFill>
                  <a:schemeClr val="tx2">
                    <a:lumMod val="60000"/>
                    <a:lumOff val="40000"/>
                  </a:schemeClr>
                </a:solidFill>
              </a:rPr>
              <a:t>h1</a:t>
            </a:r>
          </a:p>
          <a:p>
            <a:r>
              <a:rPr lang="fr-FR" dirty="0" smtClean="0">
                <a:solidFill>
                  <a:schemeClr val="tx2">
                    <a:lumMod val="60000"/>
                    <a:lumOff val="40000"/>
                  </a:schemeClr>
                </a:solidFill>
              </a:rPr>
              <a:t>{</a:t>
            </a:r>
          </a:p>
          <a:p>
            <a:r>
              <a:rPr lang="fr-FR" dirty="0" smtClean="0">
                <a:solidFill>
                  <a:schemeClr val="tx2">
                    <a:lumMod val="60000"/>
                    <a:lumOff val="40000"/>
                  </a:schemeClr>
                </a:solidFill>
              </a:rPr>
              <a:t>    border: 3px </a:t>
            </a:r>
            <a:r>
              <a:rPr lang="fr-FR" dirty="0" err="1" smtClean="0">
                <a:solidFill>
                  <a:schemeClr val="tx2">
                    <a:lumMod val="60000"/>
                    <a:lumOff val="40000"/>
                  </a:schemeClr>
                </a:solidFill>
              </a:rPr>
              <a:t>blue</a:t>
            </a:r>
            <a:r>
              <a:rPr lang="fr-FR" dirty="0" smtClean="0">
                <a:solidFill>
                  <a:schemeClr val="tx2">
                    <a:lumMod val="60000"/>
                    <a:lumOff val="40000"/>
                  </a:schemeClr>
                </a:solidFill>
              </a:rPr>
              <a:t> </a:t>
            </a:r>
            <a:r>
              <a:rPr lang="fr-FR" dirty="0" err="1" smtClean="0">
                <a:solidFill>
                  <a:schemeClr val="tx2">
                    <a:lumMod val="60000"/>
                    <a:lumOff val="40000"/>
                  </a:schemeClr>
                </a:solidFill>
              </a:rPr>
              <a:t>dashed</a:t>
            </a:r>
            <a:r>
              <a:rPr lang="fr-FR" dirty="0" smtClean="0">
                <a:solidFill>
                  <a:schemeClr val="tx2">
                    <a:lumMod val="60000"/>
                    <a:lumOff val="40000"/>
                  </a:schemeClr>
                </a:solidFill>
              </a:rPr>
              <a:t>;</a:t>
            </a:r>
          </a:p>
          <a:p>
            <a:r>
              <a:rPr lang="fr-FR" dirty="0" smtClean="0">
                <a:solidFill>
                  <a:schemeClr val="tx2">
                    <a:lumMod val="60000"/>
                    <a:lumOff val="40000"/>
                  </a:schemeClr>
                </a:solidFill>
              </a:rPr>
              <a:t>}</a:t>
            </a:r>
            <a:endParaRPr lang="fr-FR" dirty="0">
              <a:solidFill>
                <a:schemeClr val="tx2">
                  <a:lumMod val="60000"/>
                  <a:lumOff val="40000"/>
                </a:schemeClr>
              </a:solidFill>
            </a:endParaRPr>
          </a:p>
        </p:txBody>
      </p:sp>
      <p:sp>
        <p:nvSpPr>
          <p:cNvPr id="5" name="Rectangle 4"/>
          <p:cNvSpPr/>
          <p:nvPr/>
        </p:nvSpPr>
        <p:spPr>
          <a:xfrm>
            <a:off x="285720" y="1428736"/>
            <a:ext cx="8643998" cy="338554"/>
          </a:xfrm>
          <a:prstGeom prst="rect">
            <a:avLst/>
          </a:prstGeom>
        </p:spPr>
        <p:txBody>
          <a:bodyPr wrap="square">
            <a:spAutoFit/>
          </a:bodyPr>
          <a:lstStyle/>
          <a:p>
            <a:r>
              <a:rPr lang="fr-FR" sz="1600" dirty="0" smtClean="0"/>
              <a:t>La figure suivante vous présente les différents styles de bordures que vous pouvez utiliser.</a:t>
            </a:r>
            <a:endParaRPr lang="fr-FR" sz="1600" dirty="0"/>
          </a:p>
        </p:txBody>
      </p:sp>
      <p:pic>
        <p:nvPicPr>
          <p:cNvPr id="6" name="Picture 5" descr="11.png"/>
          <p:cNvPicPr>
            <a:picLocks noChangeAspect="1"/>
          </p:cNvPicPr>
          <p:nvPr/>
        </p:nvPicPr>
        <p:blipFill>
          <a:blip r:embed="rId2"/>
          <a:stretch>
            <a:fillRect/>
          </a:stretch>
        </p:blipFill>
        <p:spPr>
          <a:xfrm>
            <a:off x="1714480" y="2071678"/>
            <a:ext cx="5842513" cy="314327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7158" y="142852"/>
            <a:ext cx="2241126" cy="369332"/>
          </a:xfrm>
          <a:prstGeom prst="rect">
            <a:avLst/>
          </a:prstGeom>
        </p:spPr>
        <p:txBody>
          <a:bodyPr wrap="none">
            <a:spAutoFit/>
          </a:bodyPr>
          <a:lstStyle/>
          <a:p>
            <a:r>
              <a:rPr lang="fr-FR" b="1" dirty="0" smtClean="0"/>
              <a:t>2. </a:t>
            </a:r>
            <a:r>
              <a:rPr lang="fr-FR" b="1" u="sng" dirty="0" smtClean="0"/>
              <a:t>Bordures arrondies</a:t>
            </a:r>
            <a:endParaRPr lang="fr-FR" b="1" u="sng" dirty="0"/>
          </a:p>
        </p:txBody>
      </p:sp>
      <p:sp>
        <p:nvSpPr>
          <p:cNvPr id="48130" name="Rectangle 2"/>
          <p:cNvSpPr>
            <a:spLocks noChangeArrowheads="1"/>
          </p:cNvSpPr>
          <p:nvPr/>
        </p:nvSpPr>
        <p:spPr bwMode="auto">
          <a:xfrm>
            <a:off x="214314" y="500042"/>
            <a:ext cx="8786842" cy="83099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Depuis l’arrivée du CSS3, il est possible de créer facilement des bordures arrondies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propriété </a:t>
            </a:r>
            <a:r>
              <a:rPr kumimoji="0" lang="fr-FR" sz="1600" b="1" i="0" u="none" strike="noStrike" cap="none" normalizeH="0" baseline="0" dirty="0" smtClean="0">
                <a:ln>
                  <a:noFill/>
                </a:ln>
                <a:solidFill>
                  <a:srgbClr val="FF0000"/>
                </a:solidFill>
                <a:effectLst/>
                <a:cs typeface="Courier New" pitchFamily="49" charset="0"/>
              </a:rPr>
              <a:t>border-radius</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va nous permettre d'arrondir facilement les angles de n'importe quel élément. Il suffit d'indiquer</a:t>
            </a:r>
            <a:r>
              <a:rPr kumimoji="0" lang="fr-FR" sz="1600" b="0" i="0" u="none" strike="noStrike" cap="none" normalizeH="0" dirty="0" smtClean="0">
                <a:ln>
                  <a:noFill/>
                </a:ln>
                <a:solidFill>
                  <a:schemeClr val="tx1"/>
                </a:solidFill>
                <a:effectLst/>
                <a:cs typeface="Arial" pitchFamily="34" charset="0"/>
              </a:rPr>
              <a:t> </a:t>
            </a:r>
            <a:r>
              <a:rPr kumimoji="0" lang="fr-FR" sz="1600" b="0" i="0" u="none" strike="noStrike" cap="none" normalizeH="0" baseline="0" dirty="0" smtClean="0">
                <a:ln>
                  <a:noFill/>
                </a:ln>
                <a:solidFill>
                  <a:schemeClr val="tx1"/>
                </a:solidFill>
                <a:effectLst/>
                <a:cs typeface="Arial" pitchFamily="34" charset="0"/>
              </a:rPr>
              <a:t>la taille (« l'importance ») de l'arrondi en pixels :</a:t>
            </a:r>
          </a:p>
        </p:txBody>
      </p:sp>
      <p:sp>
        <p:nvSpPr>
          <p:cNvPr id="7" name="Rectangle 6"/>
          <p:cNvSpPr/>
          <p:nvPr/>
        </p:nvSpPr>
        <p:spPr>
          <a:xfrm>
            <a:off x="285720" y="1357298"/>
            <a:ext cx="4572000" cy="1077218"/>
          </a:xfrm>
          <a:prstGeom prst="rect">
            <a:avLst/>
          </a:prstGeom>
        </p:spPr>
        <p:txBody>
          <a:bodyPr>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border-radius: 10px;</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8" name="Rectangle 7"/>
          <p:cNvSpPr/>
          <p:nvPr/>
        </p:nvSpPr>
        <p:spPr>
          <a:xfrm>
            <a:off x="357158" y="2500306"/>
            <a:ext cx="8501122" cy="338554"/>
          </a:xfrm>
          <a:prstGeom prst="rect">
            <a:avLst/>
          </a:prstGeom>
        </p:spPr>
        <p:txBody>
          <a:bodyPr wrap="square">
            <a:spAutoFit/>
          </a:bodyPr>
          <a:lstStyle/>
          <a:p>
            <a:r>
              <a:rPr lang="fr-FR" sz="1600" dirty="0" smtClean="0"/>
              <a:t>L'arrondi se voit notamment si l'élément a des bordures, comme sur la figure suivante.</a:t>
            </a:r>
            <a:endParaRPr lang="fr-FR" sz="1600" dirty="0"/>
          </a:p>
        </p:txBody>
      </p:sp>
      <p:pic>
        <p:nvPicPr>
          <p:cNvPr id="9" name="Picture 8" descr="9.JPG"/>
          <p:cNvPicPr>
            <a:picLocks noChangeAspect="1"/>
          </p:cNvPicPr>
          <p:nvPr/>
        </p:nvPicPr>
        <p:blipFill>
          <a:blip r:embed="rId2"/>
          <a:stretch>
            <a:fillRect/>
          </a:stretch>
        </p:blipFill>
        <p:spPr>
          <a:xfrm>
            <a:off x="214282" y="2786058"/>
            <a:ext cx="6858048" cy="2128360"/>
          </a:xfrm>
          <a:prstGeom prst="rect">
            <a:avLst/>
          </a:prstGeom>
        </p:spPr>
      </p:pic>
      <p:sp>
        <p:nvSpPr>
          <p:cNvPr id="10" name="Rectangle 9"/>
          <p:cNvSpPr/>
          <p:nvPr/>
        </p:nvSpPr>
        <p:spPr>
          <a:xfrm>
            <a:off x="357158" y="4416990"/>
            <a:ext cx="8572560" cy="369332"/>
          </a:xfrm>
          <a:prstGeom prst="rect">
            <a:avLst/>
          </a:prstGeom>
        </p:spPr>
        <p:txBody>
          <a:bodyPr wrap="square">
            <a:spAutoFit/>
          </a:bodyPr>
          <a:lstStyle/>
          <a:p>
            <a:r>
              <a:rPr lang="fr-FR" dirty="0" smtClean="0"/>
              <a:t>… ou s'il a une couleur de fond, comme sur la figure suivante.</a:t>
            </a:r>
            <a:endParaRPr lang="fr-FR" dirty="0"/>
          </a:p>
        </p:txBody>
      </p:sp>
      <p:pic>
        <p:nvPicPr>
          <p:cNvPr id="11" name="Picture 10" descr="10.JPG"/>
          <p:cNvPicPr>
            <a:picLocks noChangeAspect="1"/>
          </p:cNvPicPr>
          <p:nvPr/>
        </p:nvPicPr>
        <p:blipFill>
          <a:blip r:embed="rId3"/>
          <a:stretch>
            <a:fillRect/>
          </a:stretch>
        </p:blipFill>
        <p:spPr>
          <a:xfrm>
            <a:off x="285720" y="4929198"/>
            <a:ext cx="6905106" cy="1357322"/>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2844" y="142852"/>
            <a:ext cx="8786874" cy="338554"/>
          </a:xfrm>
          <a:prstGeom prst="rect">
            <a:avLst/>
          </a:prstGeom>
        </p:spPr>
        <p:txBody>
          <a:bodyPr wrap="square">
            <a:spAutoFit/>
          </a:bodyPr>
          <a:lstStyle/>
          <a:p>
            <a:r>
              <a:rPr lang="fr-FR" sz="1600" dirty="0" smtClean="0"/>
              <a:t>On peut aussi préciser la forme de l'arrondi pour chaque coin. Dans ce cas, indiquez quatre valeurs :</a:t>
            </a:r>
            <a:endParaRPr lang="fr-FR" sz="1600" dirty="0"/>
          </a:p>
        </p:txBody>
      </p:sp>
      <p:sp>
        <p:nvSpPr>
          <p:cNvPr id="5" name="Rectangle 4"/>
          <p:cNvSpPr/>
          <p:nvPr/>
        </p:nvSpPr>
        <p:spPr>
          <a:xfrm>
            <a:off x="214282" y="500042"/>
            <a:ext cx="4572000" cy="1077218"/>
          </a:xfrm>
          <a:prstGeom prst="rect">
            <a:avLst/>
          </a:prstGeom>
        </p:spPr>
        <p:txBody>
          <a:bodyPr>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border-radius: 10px 5px 10px 5px;</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6" name="Rectangle 5"/>
          <p:cNvSpPr/>
          <p:nvPr/>
        </p:nvSpPr>
        <p:spPr>
          <a:xfrm>
            <a:off x="285720" y="1571612"/>
            <a:ext cx="8715436" cy="1323439"/>
          </a:xfrm>
          <a:prstGeom prst="rect">
            <a:avLst/>
          </a:prstGeom>
        </p:spPr>
        <p:txBody>
          <a:bodyPr wrap="square">
            <a:spAutoFit/>
          </a:bodyPr>
          <a:lstStyle/>
          <a:p>
            <a:r>
              <a:rPr lang="fr-FR" sz="1600" dirty="0" smtClean="0"/>
              <a:t>Les valeurs correspondent aux angles suivants dans cet ordre :</a:t>
            </a:r>
          </a:p>
          <a:p>
            <a:pPr>
              <a:buFont typeface="Arial" pitchFamily="34" charset="0"/>
              <a:buChar char="•"/>
            </a:pPr>
            <a:r>
              <a:rPr lang="fr-FR" sz="1600" b="1" dirty="0" smtClean="0">
                <a:solidFill>
                  <a:schemeClr val="tx2">
                    <a:lumMod val="60000"/>
                    <a:lumOff val="40000"/>
                  </a:schemeClr>
                </a:solidFill>
              </a:rPr>
              <a:t>en haut à gauche ;</a:t>
            </a:r>
          </a:p>
          <a:p>
            <a:pPr>
              <a:buFont typeface="Arial" pitchFamily="34" charset="0"/>
              <a:buChar char="•"/>
            </a:pPr>
            <a:r>
              <a:rPr lang="fr-FR" sz="1600" b="1" dirty="0" smtClean="0">
                <a:solidFill>
                  <a:schemeClr val="tx2">
                    <a:lumMod val="60000"/>
                    <a:lumOff val="40000"/>
                  </a:schemeClr>
                </a:solidFill>
              </a:rPr>
              <a:t>en haut à droite ;</a:t>
            </a:r>
          </a:p>
          <a:p>
            <a:pPr>
              <a:buFont typeface="Arial" pitchFamily="34" charset="0"/>
              <a:buChar char="•"/>
            </a:pPr>
            <a:r>
              <a:rPr lang="fr-FR" sz="1600" b="1" dirty="0" smtClean="0">
                <a:solidFill>
                  <a:schemeClr val="tx2">
                    <a:lumMod val="60000"/>
                    <a:lumOff val="40000"/>
                  </a:schemeClr>
                </a:solidFill>
              </a:rPr>
              <a:t>en bas à droite ;</a:t>
            </a:r>
          </a:p>
          <a:p>
            <a:pPr>
              <a:buFont typeface="Arial" pitchFamily="34" charset="0"/>
              <a:buChar char="•"/>
            </a:pPr>
            <a:r>
              <a:rPr lang="fr-FR" sz="1600" b="1" dirty="0" smtClean="0">
                <a:solidFill>
                  <a:schemeClr val="tx2">
                    <a:lumMod val="60000"/>
                    <a:lumOff val="40000"/>
                  </a:schemeClr>
                </a:solidFill>
              </a:rPr>
              <a:t>en bas à gauche.</a:t>
            </a:r>
            <a:endParaRPr lang="fr-FR" sz="1600" b="1" dirty="0">
              <a:solidFill>
                <a:schemeClr val="tx2">
                  <a:lumMod val="60000"/>
                  <a:lumOff val="40000"/>
                </a:schemeClr>
              </a:solidFill>
            </a:endParaRPr>
          </a:p>
        </p:txBody>
      </p:sp>
      <p:sp>
        <p:nvSpPr>
          <p:cNvPr id="7" name="Rectangle 6"/>
          <p:cNvSpPr/>
          <p:nvPr/>
        </p:nvSpPr>
        <p:spPr>
          <a:xfrm>
            <a:off x="214282" y="2928934"/>
            <a:ext cx="2241126" cy="369332"/>
          </a:xfrm>
          <a:prstGeom prst="rect">
            <a:avLst/>
          </a:prstGeom>
        </p:spPr>
        <p:txBody>
          <a:bodyPr wrap="none">
            <a:spAutoFit/>
          </a:bodyPr>
          <a:lstStyle/>
          <a:p>
            <a:r>
              <a:rPr lang="fr-FR" b="1" dirty="0" smtClean="0"/>
              <a:t>2. </a:t>
            </a:r>
            <a:r>
              <a:rPr lang="fr-FR" b="1" u="sng" dirty="0" smtClean="0"/>
              <a:t>Bordures arrondies</a:t>
            </a:r>
            <a:endParaRPr lang="fr-FR" b="1" u="sng" dirty="0"/>
          </a:p>
        </p:txBody>
      </p:sp>
      <p:sp>
        <p:nvSpPr>
          <p:cNvPr id="8" name="Rectangle 7"/>
          <p:cNvSpPr/>
          <p:nvPr/>
        </p:nvSpPr>
        <p:spPr>
          <a:xfrm>
            <a:off x="357158" y="3357562"/>
            <a:ext cx="8572560" cy="1477328"/>
          </a:xfrm>
          <a:prstGeom prst="rect">
            <a:avLst/>
          </a:prstGeom>
        </p:spPr>
        <p:txBody>
          <a:bodyPr wrap="square">
            <a:spAutoFit/>
          </a:bodyPr>
          <a:lstStyle/>
          <a:p>
            <a:r>
              <a:rPr lang="fr-FR" dirty="0" smtClean="0"/>
              <a:t>Les ombres font partie des nouveautés récentes proposées par CSS3. Aujourd'hui, il suffit d'une seule ligne de CSS pour ajouter des ombres dans une page !</a:t>
            </a:r>
          </a:p>
          <a:p>
            <a:r>
              <a:rPr lang="fr-FR" dirty="0" smtClean="0"/>
              <a:t>Nous allons ici découvrir deux types d'ombres :</a:t>
            </a:r>
          </a:p>
          <a:p>
            <a:pPr>
              <a:buFont typeface="Arial" pitchFamily="34" charset="0"/>
              <a:buChar char="•"/>
            </a:pPr>
            <a:r>
              <a:rPr lang="fr-FR" b="1" dirty="0" smtClean="0">
                <a:solidFill>
                  <a:schemeClr val="tx2">
                    <a:lumMod val="60000"/>
                    <a:lumOff val="40000"/>
                  </a:schemeClr>
                </a:solidFill>
              </a:rPr>
              <a:t>les ombres des boîtes ;</a:t>
            </a:r>
          </a:p>
          <a:p>
            <a:pPr>
              <a:buFont typeface="Arial" pitchFamily="34" charset="0"/>
              <a:buChar char="•"/>
            </a:pPr>
            <a:r>
              <a:rPr lang="fr-FR" b="1" dirty="0" smtClean="0">
                <a:solidFill>
                  <a:schemeClr val="tx2">
                    <a:lumMod val="60000"/>
                    <a:lumOff val="40000"/>
                  </a:schemeClr>
                </a:solidFill>
              </a:rPr>
              <a:t>les ombres du texte.</a:t>
            </a:r>
            <a:endParaRPr lang="fr-FR" b="1" dirty="0">
              <a:solidFill>
                <a:schemeClr val="tx2">
                  <a:lumMod val="60000"/>
                  <a:lumOff val="40000"/>
                </a:schemeClr>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ChangeArrowheads="1"/>
          </p:cNvSpPr>
          <p:nvPr/>
        </p:nvSpPr>
        <p:spPr bwMode="auto">
          <a:xfrm>
            <a:off x="142876" y="142852"/>
            <a:ext cx="8786842" cy="366739"/>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1" i="0" u="sng" strike="noStrike" cap="none" normalizeH="0" baseline="0" dirty="0" smtClean="0">
                <a:ln>
                  <a:noFill/>
                </a:ln>
                <a:solidFill>
                  <a:schemeClr val="tx1"/>
                </a:solidFill>
                <a:effectLst/>
                <a:cs typeface="Courier New" pitchFamily="49" charset="0"/>
              </a:rPr>
              <a:t>box-</a:t>
            </a:r>
            <a:r>
              <a:rPr kumimoji="0" lang="fr-FR" b="1" i="0" u="sng" strike="noStrike" cap="none" normalizeH="0" baseline="0" dirty="0" err="1" smtClean="0">
                <a:ln>
                  <a:noFill/>
                </a:ln>
                <a:solidFill>
                  <a:schemeClr val="tx1"/>
                </a:solidFill>
                <a:effectLst/>
                <a:cs typeface="Courier New" pitchFamily="49" charset="0"/>
              </a:rPr>
              <a:t>shadow</a:t>
            </a:r>
            <a:r>
              <a:rPr kumimoji="0" lang="fr-FR" b="1" i="0" u="sng" strike="noStrike" cap="none" normalizeH="0" baseline="0" dirty="0" smtClean="0">
                <a:ln>
                  <a:noFill/>
                </a:ln>
                <a:solidFill>
                  <a:schemeClr val="tx1"/>
                </a:solidFill>
                <a:effectLst/>
                <a:cs typeface="Arial" pitchFamily="34" charset="0"/>
              </a:rPr>
              <a:t>: les ombres des boîtes</a:t>
            </a:r>
          </a:p>
        </p:txBody>
      </p:sp>
      <p:sp>
        <p:nvSpPr>
          <p:cNvPr id="50178" name="Rectangle 2"/>
          <p:cNvSpPr>
            <a:spLocks noChangeArrowheads="1"/>
          </p:cNvSpPr>
          <p:nvPr/>
        </p:nvSpPr>
        <p:spPr bwMode="auto">
          <a:xfrm>
            <a:off x="71406" y="428604"/>
            <a:ext cx="8929718" cy="2062103"/>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propriété </a:t>
            </a:r>
            <a:r>
              <a:rPr kumimoji="0" lang="fr-FR" sz="1600" b="1" i="0" u="none" strike="noStrike" cap="none" normalizeH="0" baseline="0" dirty="0" smtClean="0">
                <a:ln>
                  <a:noFill/>
                </a:ln>
                <a:solidFill>
                  <a:srgbClr val="FF0000"/>
                </a:solidFill>
                <a:effectLst/>
                <a:cs typeface="Courier New" pitchFamily="49" charset="0"/>
              </a:rPr>
              <a:t>box-</a:t>
            </a:r>
            <a:r>
              <a:rPr kumimoji="0" lang="fr-FR" sz="1600" b="1" i="0" u="none" strike="noStrike" cap="none" normalizeH="0" baseline="0" dirty="0" err="1" smtClean="0">
                <a:ln>
                  <a:noFill/>
                </a:ln>
                <a:solidFill>
                  <a:srgbClr val="FF0000"/>
                </a:solidFill>
                <a:effectLst/>
                <a:cs typeface="Courier New" pitchFamily="49" charset="0"/>
              </a:rPr>
              <a:t>shadow</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s'applique à tout le bloc et prend quatre valeurs dans l'ordre suivant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sz="1600" b="0" i="0" u="none" strike="noStrike" cap="none" normalizeH="0" baseline="0" dirty="0" smtClean="0">
                <a:ln>
                  <a:noFill/>
                </a:ln>
                <a:effectLst/>
                <a:cs typeface="Arial" pitchFamily="34" charset="0"/>
              </a:rPr>
              <a:t>le décalage horizontal de l'ombre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fr-FR" sz="1600" b="0" i="0" u="none" strike="noStrike" cap="none" normalizeH="0" baseline="0" dirty="0" smtClean="0">
                <a:ln>
                  <a:noFill/>
                </a:ln>
                <a:effectLst/>
                <a:cs typeface="Arial" pitchFamily="34" charset="0"/>
              </a:rPr>
              <a:t>le décalage vertical de l'ombre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fr-FR" sz="1600" b="0" i="0" u="none" strike="noStrike" cap="none" normalizeH="0" baseline="0" dirty="0" smtClean="0">
                <a:ln>
                  <a:noFill/>
                </a:ln>
                <a:effectLst/>
                <a:cs typeface="Arial" pitchFamily="34" charset="0"/>
              </a:rPr>
              <a:t>l'adoucissement du dégradé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fr-FR" sz="1600" b="0" i="0" u="none" strike="noStrike" cap="none" normalizeH="0" baseline="0" dirty="0" smtClean="0">
                <a:ln>
                  <a:noFill/>
                </a:ln>
                <a:effectLst/>
                <a:cs typeface="Arial" pitchFamily="34" charset="0"/>
              </a:rPr>
              <a:t>la couleur de l'ombre.</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Par exemple, pour une ombre noire de 6 pixels, sans adoucissement, on écrira :</a:t>
            </a:r>
          </a:p>
        </p:txBody>
      </p:sp>
      <p:sp>
        <p:nvSpPr>
          <p:cNvPr id="6" name="Rectangle 5"/>
          <p:cNvSpPr/>
          <p:nvPr/>
        </p:nvSpPr>
        <p:spPr>
          <a:xfrm>
            <a:off x="142844" y="2500306"/>
            <a:ext cx="8786874" cy="1077218"/>
          </a:xfrm>
          <a:prstGeom prst="rect">
            <a:avLst/>
          </a:prstGeom>
        </p:spPr>
        <p:txBody>
          <a:bodyPr wrap="square">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box-</a:t>
            </a:r>
            <a:r>
              <a:rPr lang="fr-FR" sz="1600" dirty="0" err="1" smtClean="0">
                <a:solidFill>
                  <a:schemeClr val="tx2">
                    <a:lumMod val="60000"/>
                    <a:lumOff val="40000"/>
                  </a:schemeClr>
                </a:solidFill>
              </a:rPr>
              <a:t>shadow</a:t>
            </a:r>
            <a:r>
              <a:rPr lang="fr-FR" sz="1600" dirty="0" smtClean="0">
                <a:solidFill>
                  <a:schemeClr val="tx2">
                    <a:lumMod val="60000"/>
                    <a:lumOff val="40000"/>
                  </a:schemeClr>
                </a:solidFill>
              </a:rPr>
              <a:t>: 6px </a:t>
            </a:r>
            <a:r>
              <a:rPr lang="fr-FR" sz="1600" dirty="0" err="1" smtClean="0">
                <a:solidFill>
                  <a:schemeClr val="tx2">
                    <a:lumMod val="60000"/>
                    <a:lumOff val="40000"/>
                  </a:schemeClr>
                </a:solidFill>
              </a:rPr>
              <a:t>6px</a:t>
            </a:r>
            <a:r>
              <a:rPr lang="fr-FR" sz="1600" dirty="0" smtClean="0">
                <a:solidFill>
                  <a:schemeClr val="tx2">
                    <a:lumMod val="60000"/>
                    <a:lumOff val="40000"/>
                  </a:schemeClr>
                </a:solidFill>
              </a:rPr>
              <a:t> 0px black;</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7" name="Rectangle 6"/>
          <p:cNvSpPr/>
          <p:nvPr/>
        </p:nvSpPr>
        <p:spPr>
          <a:xfrm>
            <a:off x="142844" y="3643314"/>
            <a:ext cx="8715436" cy="646331"/>
          </a:xfrm>
          <a:prstGeom prst="rect">
            <a:avLst/>
          </a:prstGeom>
        </p:spPr>
        <p:txBody>
          <a:bodyPr wrap="square">
            <a:spAutoFit/>
          </a:bodyPr>
          <a:lstStyle/>
          <a:p>
            <a:r>
              <a:rPr lang="fr-FR" dirty="0" smtClean="0"/>
              <a:t>Cela donne le résultat illustré à la figure suivante (on a ajouté une bordure au paragraphe pour qu'on voie mieux l'effet).</a:t>
            </a:r>
            <a:endParaRPr lang="fr-FR" dirty="0"/>
          </a:p>
        </p:txBody>
      </p:sp>
      <p:pic>
        <p:nvPicPr>
          <p:cNvPr id="8" name="Picture 7" descr="11.JPG"/>
          <p:cNvPicPr>
            <a:picLocks noChangeAspect="1"/>
          </p:cNvPicPr>
          <p:nvPr/>
        </p:nvPicPr>
        <p:blipFill>
          <a:blip r:embed="rId2"/>
          <a:stretch>
            <a:fillRect/>
          </a:stretch>
        </p:blipFill>
        <p:spPr>
          <a:xfrm>
            <a:off x="142844" y="4357694"/>
            <a:ext cx="8839262" cy="2071702"/>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4282" y="214290"/>
            <a:ext cx="8715436" cy="923330"/>
          </a:xfrm>
          <a:prstGeom prst="rect">
            <a:avLst/>
          </a:prstGeom>
        </p:spPr>
        <p:txBody>
          <a:bodyPr wrap="square">
            <a:spAutoFit/>
          </a:bodyPr>
          <a:lstStyle/>
          <a:p>
            <a:r>
              <a:rPr lang="fr-FR" dirty="0" smtClean="0"/>
              <a:t>Ajoutons un adoucissement grâce au troisième paramètre (figure suivante). L'adoucissement peut être faible (inférieur au décalage), normal (égal au décalage) ou élevé (supérieur au décalage). Essayons un décalage normal :</a:t>
            </a:r>
            <a:endParaRPr lang="fr-FR" dirty="0"/>
          </a:p>
        </p:txBody>
      </p:sp>
      <p:sp>
        <p:nvSpPr>
          <p:cNvPr id="6" name="Rectangle 5"/>
          <p:cNvSpPr/>
          <p:nvPr/>
        </p:nvSpPr>
        <p:spPr>
          <a:xfrm>
            <a:off x="285720" y="1214422"/>
            <a:ext cx="8643998" cy="1077218"/>
          </a:xfrm>
          <a:prstGeom prst="rect">
            <a:avLst/>
          </a:prstGeom>
        </p:spPr>
        <p:txBody>
          <a:bodyPr wrap="square">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box-</a:t>
            </a:r>
            <a:r>
              <a:rPr lang="fr-FR" sz="1600" dirty="0" err="1" smtClean="0">
                <a:solidFill>
                  <a:schemeClr val="tx2">
                    <a:lumMod val="60000"/>
                    <a:lumOff val="40000"/>
                  </a:schemeClr>
                </a:solidFill>
              </a:rPr>
              <a:t>shadow</a:t>
            </a:r>
            <a:r>
              <a:rPr lang="fr-FR" sz="1600" dirty="0" smtClean="0">
                <a:solidFill>
                  <a:schemeClr val="tx2">
                    <a:lumMod val="60000"/>
                    <a:lumOff val="40000"/>
                  </a:schemeClr>
                </a:solidFill>
              </a:rPr>
              <a:t>: 6px </a:t>
            </a:r>
            <a:r>
              <a:rPr lang="fr-FR" sz="1600" dirty="0" err="1" smtClean="0">
                <a:solidFill>
                  <a:schemeClr val="tx2">
                    <a:lumMod val="60000"/>
                    <a:lumOff val="40000"/>
                  </a:schemeClr>
                </a:solidFill>
              </a:rPr>
              <a:t>6px</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6px</a:t>
            </a:r>
            <a:r>
              <a:rPr lang="fr-FR" sz="1600" dirty="0" smtClean="0">
                <a:solidFill>
                  <a:schemeClr val="tx2">
                    <a:lumMod val="60000"/>
                    <a:lumOff val="40000"/>
                  </a:schemeClr>
                </a:solidFill>
              </a:rPr>
              <a:t> black;</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pic>
        <p:nvPicPr>
          <p:cNvPr id="7" name="Picture 6" descr="12.JPG"/>
          <p:cNvPicPr>
            <a:picLocks noChangeAspect="1"/>
          </p:cNvPicPr>
          <p:nvPr/>
        </p:nvPicPr>
        <p:blipFill>
          <a:blip r:embed="rId2"/>
          <a:stretch>
            <a:fillRect/>
          </a:stretch>
        </p:blipFill>
        <p:spPr>
          <a:xfrm>
            <a:off x="214282" y="2331797"/>
            <a:ext cx="8715436" cy="2025897"/>
          </a:xfrm>
          <a:prstGeom prst="rect">
            <a:avLst/>
          </a:prstGeom>
        </p:spPr>
      </p:pic>
      <p:sp>
        <p:nvSpPr>
          <p:cNvPr id="52226" name="Rectangle 2"/>
          <p:cNvSpPr>
            <a:spLocks noChangeArrowheads="1"/>
          </p:cNvSpPr>
          <p:nvPr/>
        </p:nvSpPr>
        <p:spPr bwMode="auto">
          <a:xfrm>
            <a:off x="142876" y="4357694"/>
            <a:ext cx="8929718"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On peut aussi rajouter une cinquième valeur facultative :</a:t>
            </a:r>
            <a:r>
              <a:rPr kumimoji="0" lang="fr-FR" sz="1600" b="0" i="0" u="none" strike="noStrike" cap="none" normalizeH="0" baseline="0" dirty="0" err="1" smtClean="0">
                <a:ln>
                  <a:noFill/>
                </a:ln>
                <a:solidFill>
                  <a:schemeClr val="tx1"/>
                </a:solidFill>
                <a:effectLst/>
                <a:cs typeface="Courier New" pitchFamily="49" charset="0"/>
              </a:rPr>
              <a:t>inset</a:t>
            </a:r>
            <a:r>
              <a:rPr kumimoji="0" lang="fr-FR" sz="1600" b="0" i="0" u="none" strike="noStrike" cap="none" normalizeH="0" baseline="0" dirty="0" smtClean="0">
                <a:ln>
                  <a:noFill/>
                </a:ln>
                <a:solidFill>
                  <a:schemeClr val="tx1"/>
                </a:solidFill>
                <a:effectLst/>
                <a:cs typeface="Arial" pitchFamily="34" charset="0"/>
              </a:rPr>
              <a:t>. Dans ce cas, l'ombre sera placée à l'intérieur du bloc, pour donner un effet enfoncé : </a:t>
            </a:r>
          </a:p>
        </p:txBody>
      </p:sp>
      <p:sp>
        <p:nvSpPr>
          <p:cNvPr id="9" name="Rectangle 8"/>
          <p:cNvSpPr/>
          <p:nvPr/>
        </p:nvSpPr>
        <p:spPr>
          <a:xfrm>
            <a:off x="285720" y="5072074"/>
            <a:ext cx="8572560" cy="1077218"/>
          </a:xfrm>
          <a:prstGeom prst="rect">
            <a:avLst/>
          </a:prstGeom>
        </p:spPr>
        <p:txBody>
          <a:bodyPr wrap="square">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box-</a:t>
            </a:r>
            <a:r>
              <a:rPr lang="fr-FR" sz="1600" dirty="0" err="1" smtClean="0">
                <a:solidFill>
                  <a:schemeClr val="tx2">
                    <a:lumMod val="60000"/>
                    <a:lumOff val="40000"/>
                  </a:schemeClr>
                </a:solidFill>
              </a:rPr>
              <a:t>shadow</a:t>
            </a:r>
            <a:r>
              <a:rPr lang="fr-FR" sz="1600" dirty="0" smtClean="0">
                <a:solidFill>
                  <a:schemeClr val="tx2">
                    <a:lumMod val="60000"/>
                    <a:lumOff val="40000"/>
                  </a:schemeClr>
                </a:solidFill>
              </a:rPr>
              <a:t>: 6px </a:t>
            </a:r>
            <a:r>
              <a:rPr lang="fr-FR" sz="1600" dirty="0" err="1" smtClean="0">
                <a:solidFill>
                  <a:schemeClr val="tx2">
                    <a:lumMod val="60000"/>
                    <a:lumOff val="40000"/>
                  </a:schemeClr>
                </a:solidFill>
              </a:rPr>
              <a:t>6px</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6px</a:t>
            </a:r>
            <a:r>
              <a:rPr lang="fr-FR" sz="1600" dirty="0" smtClean="0">
                <a:solidFill>
                  <a:schemeClr val="tx2">
                    <a:lumMod val="60000"/>
                    <a:lumOff val="40000"/>
                  </a:schemeClr>
                </a:solidFill>
              </a:rPr>
              <a:t> black </a:t>
            </a:r>
            <a:r>
              <a:rPr lang="fr-FR" sz="1600" dirty="0" err="1" smtClean="0">
                <a:solidFill>
                  <a:schemeClr val="tx2">
                    <a:lumMod val="60000"/>
                    <a:lumOff val="40000"/>
                  </a:schemeClr>
                </a:solidFill>
              </a:rPr>
              <a:t>inset</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
          <p:cNvSpPr>
            <a:spLocks noChangeArrowheads="1"/>
          </p:cNvSpPr>
          <p:nvPr/>
        </p:nvSpPr>
        <p:spPr bwMode="auto">
          <a:xfrm>
            <a:off x="111175" y="142852"/>
            <a:ext cx="8532791" cy="366739"/>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1" i="0" u="sng" strike="noStrike" cap="none" normalizeH="0" baseline="0" dirty="0" err="1" smtClean="0">
                <a:ln>
                  <a:noFill/>
                </a:ln>
                <a:solidFill>
                  <a:schemeClr val="tx1"/>
                </a:solidFill>
                <a:effectLst/>
                <a:cs typeface="Courier New" pitchFamily="49" charset="0"/>
              </a:rPr>
              <a:t>text</a:t>
            </a:r>
            <a:r>
              <a:rPr kumimoji="0" lang="fr-FR" b="1" i="0" u="sng" strike="noStrike" cap="none" normalizeH="0" baseline="0" dirty="0" smtClean="0">
                <a:ln>
                  <a:noFill/>
                </a:ln>
                <a:solidFill>
                  <a:schemeClr val="tx1"/>
                </a:solidFill>
                <a:effectLst/>
                <a:cs typeface="Courier New" pitchFamily="49" charset="0"/>
              </a:rPr>
              <a:t>-</a:t>
            </a:r>
            <a:r>
              <a:rPr kumimoji="0" lang="fr-FR" b="1" i="0" u="sng" strike="noStrike" cap="none" normalizeH="0" baseline="0" dirty="0" err="1" smtClean="0">
                <a:ln>
                  <a:noFill/>
                </a:ln>
                <a:solidFill>
                  <a:schemeClr val="tx1"/>
                </a:solidFill>
                <a:effectLst/>
                <a:cs typeface="Courier New" pitchFamily="49" charset="0"/>
              </a:rPr>
              <a:t>shadow</a:t>
            </a:r>
            <a:r>
              <a:rPr kumimoji="0" lang="fr-FR" b="1" i="0" u="sng" strike="noStrike" cap="none" normalizeH="0" baseline="0" dirty="0" smtClean="0">
                <a:ln>
                  <a:noFill/>
                </a:ln>
                <a:solidFill>
                  <a:schemeClr val="tx1"/>
                </a:solidFill>
                <a:effectLst/>
                <a:cs typeface="Arial" pitchFamily="34" charset="0"/>
              </a:rPr>
              <a:t>: l'ombre du texte</a:t>
            </a:r>
          </a:p>
        </p:txBody>
      </p:sp>
      <p:sp>
        <p:nvSpPr>
          <p:cNvPr id="53250" name="Rectangle 2"/>
          <p:cNvSpPr>
            <a:spLocks noChangeArrowheads="1"/>
          </p:cNvSpPr>
          <p:nvPr/>
        </p:nvSpPr>
        <p:spPr bwMode="auto">
          <a:xfrm>
            <a:off x="0" y="500042"/>
            <a:ext cx="8929718"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Avec </a:t>
            </a:r>
            <a:r>
              <a:rPr kumimoji="0" lang="fr-FR" sz="1600" b="1" i="0" u="none" strike="noStrike" cap="none" normalizeH="0" baseline="0" dirty="0" err="1" smtClean="0">
                <a:ln>
                  <a:noFill/>
                </a:ln>
                <a:solidFill>
                  <a:srgbClr val="FF0000"/>
                </a:solidFill>
                <a:effectLst/>
                <a:cs typeface="Courier New" pitchFamily="49" charset="0"/>
              </a:rPr>
              <a:t>text</a:t>
            </a:r>
            <a:r>
              <a:rPr kumimoji="0" lang="fr-FR" sz="1600" b="1" i="0" u="none" strike="noStrike" cap="none" normalizeH="0" baseline="0" dirty="0" smtClean="0">
                <a:ln>
                  <a:noFill/>
                </a:ln>
                <a:solidFill>
                  <a:srgbClr val="FF0000"/>
                </a:solidFill>
                <a:effectLst/>
                <a:cs typeface="Courier New" pitchFamily="49" charset="0"/>
              </a:rPr>
              <a:t>-</a:t>
            </a:r>
            <a:r>
              <a:rPr kumimoji="0" lang="fr-FR" sz="1600" b="1" i="0" u="none" strike="noStrike" cap="none" normalizeH="0" baseline="0" dirty="0" err="1" smtClean="0">
                <a:ln>
                  <a:noFill/>
                </a:ln>
                <a:solidFill>
                  <a:srgbClr val="FF0000"/>
                </a:solidFill>
                <a:effectLst/>
                <a:cs typeface="Courier New" pitchFamily="49" charset="0"/>
              </a:rPr>
              <a:t>shadow</a:t>
            </a:r>
            <a:r>
              <a:rPr kumimoji="0" lang="fr-FR" sz="1600" b="0" i="0" u="none" strike="noStrike" cap="none" normalizeH="0" baseline="0" dirty="0" smtClean="0">
                <a:ln>
                  <a:noFill/>
                </a:ln>
                <a:solidFill>
                  <a:schemeClr val="tx1"/>
                </a:solidFill>
                <a:effectLst/>
                <a:cs typeface="Arial" pitchFamily="34" charset="0"/>
              </a:rPr>
              <a:t>, vous pouvez ajouter une ombre directement sur les lettres de votre texte ! Les valeurs fonctionnent exactement de la même façon que </a:t>
            </a:r>
            <a:r>
              <a:rPr kumimoji="0" lang="fr-FR" sz="1600" b="1" i="0" u="none" strike="noStrike" cap="none" normalizeH="0" baseline="0" dirty="0" smtClean="0">
                <a:ln>
                  <a:noFill/>
                </a:ln>
                <a:solidFill>
                  <a:schemeClr val="tx1"/>
                </a:solidFill>
                <a:effectLst/>
                <a:cs typeface="Courier New" pitchFamily="49" charset="0"/>
              </a:rPr>
              <a:t>box-</a:t>
            </a:r>
            <a:r>
              <a:rPr kumimoji="0" lang="fr-FR" sz="1600" b="1" i="0" u="none" strike="noStrike" cap="none" normalizeH="0" baseline="0" dirty="0" err="1" smtClean="0">
                <a:ln>
                  <a:noFill/>
                </a:ln>
                <a:solidFill>
                  <a:schemeClr val="tx1"/>
                </a:solidFill>
                <a:effectLst/>
                <a:cs typeface="Courier New" pitchFamily="49" charset="0"/>
              </a:rPr>
              <a:t>shadow</a:t>
            </a:r>
            <a:r>
              <a:rPr kumimoji="0" lang="fr-FR" sz="1600" b="0" i="0" u="none" strike="noStrike" cap="none" normalizeH="0" baseline="0" dirty="0" smtClean="0">
                <a:ln>
                  <a:noFill/>
                </a:ln>
                <a:solidFill>
                  <a:schemeClr val="tx1"/>
                </a:solidFill>
                <a:effectLst/>
                <a:cs typeface="Arial" pitchFamily="34" charset="0"/>
              </a:rPr>
              <a:t>: décalage, adoucissement et couleur. </a:t>
            </a:r>
          </a:p>
        </p:txBody>
      </p:sp>
      <p:sp>
        <p:nvSpPr>
          <p:cNvPr id="6" name="Rectangle 5"/>
          <p:cNvSpPr/>
          <p:nvPr/>
        </p:nvSpPr>
        <p:spPr>
          <a:xfrm>
            <a:off x="142876" y="1142984"/>
            <a:ext cx="8786842" cy="1077218"/>
          </a:xfrm>
          <a:prstGeom prst="rect">
            <a:avLst/>
          </a:prstGeom>
        </p:spPr>
        <p:txBody>
          <a:bodyPr wrap="square">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shadow</a:t>
            </a:r>
            <a:r>
              <a:rPr lang="fr-FR" sz="1600" dirty="0" smtClean="0">
                <a:solidFill>
                  <a:schemeClr val="tx2">
                    <a:lumMod val="60000"/>
                    <a:lumOff val="40000"/>
                  </a:schemeClr>
                </a:solidFill>
              </a:rPr>
              <a:t>: 2px </a:t>
            </a:r>
            <a:r>
              <a:rPr lang="fr-FR" sz="1600" dirty="0" err="1" smtClean="0">
                <a:solidFill>
                  <a:schemeClr val="tx2">
                    <a:lumMod val="60000"/>
                    <a:lumOff val="40000"/>
                  </a:schemeClr>
                </a:solidFill>
              </a:rPr>
              <a:t>2px</a:t>
            </a:r>
            <a:r>
              <a:rPr lang="fr-FR" sz="1600" dirty="0" smtClean="0">
                <a:solidFill>
                  <a:schemeClr val="tx2">
                    <a:lumMod val="60000"/>
                    <a:lumOff val="40000"/>
                  </a:schemeClr>
                </a:solidFill>
              </a:rPr>
              <a:t> 4px black;</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sp>
        <p:nvSpPr>
          <p:cNvPr id="7" name="Rectangle 6"/>
          <p:cNvSpPr/>
          <p:nvPr/>
        </p:nvSpPr>
        <p:spPr>
          <a:xfrm>
            <a:off x="214282" y="2285992"/>
            <a:ext cx="8643998" cy="338554"/>
          </a:xfrm>
          <a:prstGeom prst="rect">
            <a:avLst/>
          </a:prstGeom>
        </p:spPr>
        <p:txBody>
          <a:bodyPr wrap="square">
            <a:spAutoFit/>
          </a:bodyPr>
          <a:lstStyle/>
          <a:p>
            <a:r>
              <a:rPr lang="fr-FR" sz="1600" dirty="0" smtClean="0"/>
              <a:t>Le résultat est illustré à la figure suivante.</a:t>
            </a:r>
            <a:endParaRPr lang="fr-FR" sz="1600" dirty="0"/>
          </a:p>
        </p:txBody>
      </p:sp>
      <p:pic>
        <p:nvPicPr>
          <p:cNvPr id="8" name="Picture 7" descr="13.JPG"/>
          <p:cNvPicPr>
            <a:picLocks noChangeAspect="1"/>
          </p:cNvPicPr>
          <p:nvPr/>
        </p:nvPicPr>
        <p:blipFill>
          <a:blip r:embed="rId2"/>
          <a:stretch>
            <a:fillRect/>
          </a:stretch>
        </p:blipFill>
        <p:spPr>
          <a:xfrm>
            <a:off x="142844" y="2643182"/>
            <a:ext cx="8786874" cy="169668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881</TotalTime>
  <Words>4112</Words>
  <Application>Microsoft Office PowerPoint</Application>
  <PresentationFormat>On-screen Show (4:3)</PresentationFormat>
  <Paragraphs>570</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PROGRAMMATION DE CLIENTS WEB</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PROGRAMMATION DE CLIENTS WEB</dc:title>
  <dc:creator>NIKKOSA</dc:creator>
  <cp:lastModifiedBy>LYDIA</cp:lastModifiedBy>
  <cp:revision>151</cp:revision>
  <dcterms:created xsi:type="dcterms:W3CDTF">2006-08-16T00:00:00Z</dcterms:created>
  <dcterms:modified xsi:type="dcterms:W3CDTF">2023-07-26T13:09:09Z</dcterms:modified>
</cp:coreProperties>
</file>