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bidjan-immobilier.net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ctrTitle"/>
          </p:nvPr>
        </p:nvSpPr>
        <p:spPr>
          <a:xfrm>
            <a:off x="685800" y="1673223"/>
            <a:ext cx="7772400" cy="1470025"/>
          </a:xfrm>
        </p:spPr>
        <p:txBody>
          <a:bodyPr>
            <a:normAutofit/>
          </a:bodyPr>
          <a:lstStyle/>
          <a:p>
            <a:r>
              <a:rPr lang="fr-FR" dirty="0" smtClean="0"/>
              <a:t>PROGRAMMATION DE CLIENTS WEB</a:t>
            </a:r>
            <a:endParaRPr lang="fr-FR" dirty="0"/>
          </a:p>
        </p:txBody>
      </p:sp>
      <p:sp>
        <p:nvSpPr>
          <p:cNvPr id="5" name="Sous-titre 2"/>
          <p:cNvSpPr>
            <a:spLocks noGrp="1"/>
          </p:cNvSpPr>
          <p:nvPr>
            <p:ph type="subTitle" idx="1"/>
          </p:nvPr>
        </p:nvSpPr>
        <p:spPr>
          <a:xfrm>
            <a:off x="755576" y="3429000"/>
            <a:ext cx="7704856" cy="1944216"/>
          </a:xfrm>
        </p:spPr>
        <p:txBody>
          <a:bodyPr>
            <a:normAutofit fontScale="85000" lnSpcReduction="20000"/>
          </a:bodyPr>
          <a:lstStyle/>
          <a:p>
            <a:r>
              <a:rPr lang="fr-FR" sz="1800" i="1" dirty="0"/>
              <a:t>FORMATEUR : </a:t>
            </a:r>
            <a:endParaRPr lang="fr-FR" sz="1800" i="1" dirty="0" smtClean="0"/>
          </a:p>
          <a:p>
            <a:r>
              <a:rPr lang="fr-FR" sz="1800" b="1" i="1" u="sng" dirty="0" smtClean="0"/>
              <a:t>Samuel KOTEI-NIKOI</a:t>
            </a:r>
            <a:r>
              <a:rPr lang="fr-FR" sz="1800" i="1" dirty="0" smtClean="0"/>
              <a:t>,</a:t>
            </a:r>
            <a:r>
              <a:rPr lang="fr-FR" sz="1800" i="1" dirty="0"/>
              <a:t/>
            </a:r>
            <a:br>
              <a:rPr lang="fr-FR" sz="1800" i="1" dirty="0"/>
            </a:br>
            <a:r>
              <a:rPr lang="fr-FR" sz="1800" i="1" dirty="0" smtClean="0"/>
              <a:t>Ingénieur de Conception en Informatique,</a:t>
            </a:r>
          </a:p>
          <a:p>
            <a:r>
              <a:rPr lang="fr-FR" sz="1800" i="1" dirty="0" smtClean="0"/>
              <a:t>Expert en Gestion de Projets Web,</a:t>
            </a:r>
          </a:p>
          <a:p>
            <a:r>
              <a:rPr lang="fr-FR" sz="1800" i="1" dirty="0" smtClean="0"/>
              <a:t>Formateur en langages de programmation web,</a:t>
            </a:r>
          </a:p>
          <a:p>
            <a:r>
              <a:rPr lang="fr-FR" sz="1800" i="1" dirty="0" smtClean="0"/>
              <a:t>Directeur Général </a:t>
            </a:r>
            <a:r>
              <a:rPr lang="fr-FR" sz="1800" b="1" i="1" dirty="0" smtClean="0"/>
              <a:t>NIKKOSA COMMUNICATION</a:t>
            </a:r>
            <a:r>
              <a:rPr lang="fr-FR" sz="1800" i="1" dirty="0" smtClean="0"/>
              <a:t>,</a:t>
            </a:r>
          </a:p>
          <a:p>
            <a:r>
              <a:rPr lang="fr-FR" sz="1800" i="1" dirty="0" smtClean="0"/>
              <a:t>Fondateur du portail </a:t>
            </a:r>
            <a:r>
              <a:rPr lang="fr-FR" sz="1800" i="1" dirty="0" smtClean="0">
                <a:hlinkClick r:id="rId2"/>
              </a:rPr>
              <a:t>www.abidjan-immobilier.net</a:t>
            </a:r>
            <a:r>
              <a:rPr lang="fr-FR" sz="1800" i="1" dirty="0" smtClean="0"/>
              <a:t>,</a:t>
            </a:r>
          </a:p>
          <a:p>
            <a:r>
              <a:rPr lang="fr-FR" sz="1800" i="1" dirty="0" smtClean="0"/>
              <a:t>GSM : +225 07 35 47 28 / Email : nikkosa@yahoo.fr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721804" y="7620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PARTIE 6 : LES FORMULAIRES</a:t>
            </a: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169075"/>
            <a:ext cx="8686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/>
              <a:t>Toute page HTML peut être enrichie de formulaires interactifs, qui invitent vos visiteurs à renseigner des informations : saisir du texte, sélectionner des options, valider avec un bouton… tout est possible !</a:t>
            </a:r>
          </a:p>
          <a:p>
            <a:endParaRPr lang="fr-FR" sz="1600" dirty="0" smtClean="0"/>
          </a:p>
          <a:p>
            <a:r>
              <a:rPr lang="fr-FR" sz="1600" dirty="0" smtClean="0"/>
              <a:t>Nous arrivons cependant aux limites du langage HTML car il faut ensuite pouvoir analyser les informations que le visiteur a saisies… et cela ne peut pas se faire en langage HTML. Comme nous allons le voir, le traitement des résultats doit s'effectuer dans un autre langage, par exemple le PHP.</a:t>
            </a:r>
            <a:endParaRPr lang="fr-FR" sz="1600" dirty="0"/>
          </a:p>
        </p:txBody>
      </p:sp>
      <p:sp>
        <p:nvSpPr>
          <p:cNvPr id="6" name="Rectangle 5"/>
          <p:cNvSpPr/>
          <p:nvPr/>
        </p:nvSpPr>
        <p:spPr>
          <a:xfrm>
            <a:off x="381000" y="2819400"/>
            <a:ext cx="2312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/>
              <a:t>A. </a:t>
            </a:r>
            <a:r>
              <a:rPr lang="fr-FR" b="1" u="sng" dirty="0" smtClean="0"/>
              <a:t>Créer un formulaire</a:t>
            </a:r>
            <a:endParaRPr lang="fr-FR" b="1" u="sng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52400" y="3276600"/>
            <a:ext cx="8839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Si</a:t>
            </a:r>
            <a:r>
              <a:rPr kumimoji="0" lang="fr-FR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vous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désirez insérer un formulaire dans votre page HTML, vous devez pour commencer écrire une balise 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&lt;</a:t>
            </a: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form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&gt; &lt;/</a:t>
            </a: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form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 C'est la balise principale du formulaire, elle permet d'en indiquer le début et la fin. 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4191000"/>
            <a:ext cx="8458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&lt;p&gt;Texte avant le formulaire&lt;/p&gt;</a:t>
            </a:r>
          </a:p>
          <a:p>
            <a:endParaRPr lang="fr-FR" sz="16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&lt;p&gt;Texte à l'intérieur du formulaire&lt;/p&gt;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&lt;/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&gt;</a:t>
            </a:r>
          </a:p>
          <a:p>
            <a:endParaRPr lang="fr-FR" sz="16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&lt;p&gt;Texte après le formulaire&lt;/p&gt;</a:t>
            </a:r>
            <a:endParaRPr lang="fr-FR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228600"/>
            <a:ext cx="8686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/>
              <a:t>Maintenant prenons un exemple pour faciliter la compréhension sur l’utilisation des formulaires. </a:t>
            </a:r>
          </a:p>
          <a:p>
            <a:r>
              <a:rPr lang="fr-FR" sz="1600" dirty="0" smtClean="0"/>
              <a:t>Supposons que votre visiteur vienne de taper un commentaire dans votre formulaire, par exemple un message qu'il aimerait publier sur vos forums. Ce message doit être </a:t>
            </a:r>
            <a:r>
              <a:rPr lang="fr-FR" sz="1600" i="1" dirty="0" smtClean="0"/>
              <a:t>envoyé</a:t>
            </a:r>
            <a:r>
              <a:rPr lang="fr-FR" sz="1600" dirty="0" smtClean="0"/>
              <a:t> pour que vous puissiez le recevoir et l'afficher pour vos autres visiteurs.</a:t>
            </a:r>
          </a:p>
          <a:p>
            <a:r>
              <a:rPr lang="fr-FR" sz="1600" dirty="0" smtClean="0"/>
              <a:t>Dans ce cas nous avons deux problèmes qui se présentent à nous :</a:t>
            </a:r>
          </a:p>
          <a:p>
            <a:r>
              <a:rPr lang="fr-FR" sz="1600" b="1" dirty="0" smtClean="0"/>
              <a:t>Problème n°1</a:t>
            </a:r>
            <a:r>
              <a:rPr lang="fr-FR" sz="1600" dirty="0" smtClean="0"/>
              <a:t> : comment envoyer le texte saisi par le visiteur ? Par quel moyen ?</a:t>
            </a:r>
          </a:p>
          <a:p>
            <a:r>
              <a:rPr lang="fr-FR" sz="1600" b="1" dirty="0" smtClean="0"/>
              <a:t>Problème n°2</a:t>
            </a:r>
            <a:r>
              <a:rPr lang="fr-FR" sz="1600" dirty="0" smtClean="0"/>
              <a:t> : une fois que les données ont été envoyées, comment les traiter ? Souhaitez-vous recevoir le message automatiquement par mail ou préférez-vous qu'un programme se charge de l'enregistrer quelque part, puis de l'afficher sur une page visible par tout le monde ?</a:t>
            </a:r>
            <a:endParaRPr lang="fr-FR" sz="1600" dirty="0"/>
          </a:p>
        </p:txBody>
      </p:sp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76200" y="2557046"/>
            <a:ext cx="8524513" cy="3385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Pour fournir les réponses à ces deux problèmes, vous devez ajouter deux attributs à la balise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&lt;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form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:</a:t>
            </a:r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2400" y="2895600"/>
            <a:ext cx="8763000" cy="353943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fr-FR" sz="1600" b="1" dirty="0" smtClean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method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cet attribut indique par quel moyen les données vont être envoyées (réponse au 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problème n°1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). Il existe deux solutions pour envoyer des données sur le Web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Courier New" pitchFamily="49" charset="0"/>
              </a:rPr>
              <a:t>method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Courier New" pitchFamily="49" charset="0"/>
              </a:rPr>
              <a:t>="</a:t>
            </a: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Courier New" pitchFamily="49" charset="0"/>
              </a:rPr>
              <a:t>get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Courier New" pitchFamily="49" charset="0"/>
              </a:rPr>
              <a:t>"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Arial" pitchFamily="34" charset="0"/>
              </a:rPr>
              <a:t>: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c'est une méthode en général assez peu adaptée car elle est limitée à 255 caractères. La particularité vient du fait que les informations seront envoyées dans l'adresse de la page (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urier New" pitchFamily="49" charset="0"/>
              </a:rPr>
              <a:t>http://…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). La plupart du temps, il est recommandé</a:t>
            </a:r>
            <a:r>
              <a:rPr kumimoji="0" lang="fr-FR" sz="16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d'utiliser l'autre méthode :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Courier New" pitchFamily="49" charset="0"/>
              </a:rPr>
              <a:t>post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Courier New" pitchFamily="49" charset="0"/>
              </a:rPr>
              <a:t>method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Courier New" pitchFamily="49" charset="0"/>
              </a:rPr>
              <a:t>="post"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Arial" pitchFamily="34" charset="0"/>
              </a:rPr>
              <a:t>: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c'est la méthode la plus utilisée pour les formulaires car elle permet d'envoyer un grand nombre d'informations. Les données saisies dans le formulaire ne transitent pas par la barre d'adresse.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action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: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c'est l'adresse de la page ou du programme qui va </a:t>
            </a:r>
            <a:r>
              <a:rPr kumimoji="0" lang="fr-FR" sz="16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traiter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 les informations (réponse au 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problème n°2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). Cette page se chargera de vous envoyer un e-mail avec le message si c'est ce que vous voulez, ou bien d'enregistrer le message avec tous les autres dans une base de données.</a:t>
            </a:r>
            <a:b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</a:b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Cela ne peut pas se faire en HTML et CSS, on utilisera en général le langage PHP.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76200" y="141982"/>
            <a:ext cx="8991600" cy="107721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On va donc maintenant compléter la balise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&lt;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form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&gt;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avec les deux attributs qu'on vient de voir.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Pour </a:t>
            </a: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method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, je va mettre la valeur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post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</a:t>
            </a:r>
            <a:b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Pour 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action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, on</a:t>
            </a:r>
            <a:r>
              <a:rPr kumimoji="0" lang="fr-FR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va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taper le nom d'une page fictive en PHP (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traitement.php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). C'est cette page qui sera appelée lorsque le visiteur cliquera sur le bouton d'envoi du formulaire.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1371600"/>
            <a:ext cx="8763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&lt;p&gt;Texte avant le formulaire&lt;/p&gt;</a:t>
            </a:r>
          </a:p>
          <a:p>
            <a:endParaRPr lang="fr-FR" sz="16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method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="post" action="traitement.php"&gt;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&lt;p&gt;Texte à l'intérieur du formulaire&lt;/p&gt;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&lt;/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&gt;</a:t>
            </a:r>
          </a:p>
          <a:p>
            <a:endParaRPr lang="fr-FR" sz="16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&lt;p&gt;Texte après le formulaire&lt;/p&gt;</a:t>
            </a:r>
            <a:endParaRPr lang="fr-FR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3352800"/>
            <a:ext cx="28432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/>
              <a:t>Les zones de saisie basiques</a:t>
            </a:r>
            <a:endParaRPr lang="fr-FR" b="1" u="sng" dirty="0"/>
          </a:p>
        </p:txBody>
      </p:sp>
      <p:sp>
        <p:nvSpPr>
          <p:cNvPr id="2" name="Rectangle 1"/>
          <p:cNvSpPr/>
          <p:nvPr/>
        </p:nvSpPr>
        <p:spPr>
          <a:xfrm>
            <a:off x="76200" y="3822918"/>
            <a:ext cx="8915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/>
              <a:t>Nous </a:t>
            </a:r>
            <a:r>
              <a:rPr lang="fr-FR" sz="1600" dirty="0"/>
              <a:t>allons passer en revue les différentes balises HTML permettant de saisir du texte dans un formulaire.</a:t>
            </a:r>
            <a:br>
              <a:rPr lang="fr-FR" sz="1600" dirty="0"/>
            </a:br>
            <a:r>
              <a:rPr lang="fr-FR" sz="1600" dirty="0"/>
              <a:t>Il faut savoir qu'il y a deux zones de texte différentes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0000"/>
                </a:solidFill>
              </a:rPr>
              <a:t>La zone de texte </a:t>
            </a:r>
            <a:r>
              <a:rPr lang="fr-FR" sz="1600" b="1" dirty="0" err="1">
                <a:solidFill>
                  <a:srgbClr val="000000"/>
                </a:solidFill>
              </a:rPr>
              <a:t>monoligne</a:t>
            </a:r>
            <a:r>
              <a:rPr lang="fr-FR" sz="1600" dirty="0">
                <a:solidFill>
                  <a:srgbClr val="000000"/>
                </a:solidFill>
              </a:rPr>
              <a:t> : comme son nom l'indique, on ne peut y écrire qu'une seule ligne. Elle sert à saisir des textes courts, par exemple un pseudo.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0000"/>
                </a:solidFill>
              </a:rPr>
              <a:t>La zone de texte </a:t>
            </a:r>
            <a:r>
              <a:rPr lang="fr-FR" sz="1600" b="1" dirty="0" err="1">
                <a:solidFill>
                  <a:srgbClr val="000000"/>
                </a:solidFill>
              </a:rPr>
              <a:t>multiligne</a:t>
            </a:r>
            <a:r>
              <a:rPr lang="fr-FR" sz="1600" dirty="0">
                <a:solidFill>
                  <a:srgbClr val="000000"/>
                </a:solidFill>
              </a:rPr>
              <a:t> : cette zone de texte permet d'écrire une quantité importante de texte sur plusieurs </a:t>
            </a:r>
            <a:r>
              <a:rPr lang="fr-FR" sz="1600" dirty="0" smtClean="0">
                <a:solidFill>
                  <a:srgbClr val="000000"/>
                </a:solidFill>
              </a:rPr>
              <a:t>lignes.</a:t>
            </a:r>
            <a:endParaRPr lang="fr-FR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" y="8786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/>
              <a:t>Zone de texte </a:t>
            </a:r>
            <a:r>
              <a:rPr lang="fr-FR" b="1" dirty="0" err="1" smtClean="0"/>
              <a:t>monoligne</a:t>
            </a:r>
            <a:endParaRPr lang="fr-FR" b="1" dirty="0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76200" y="440323"/>
            <a:ext cx="673421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Pour insérer une zone de texte dans une ligne, on va utiliser la balise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cs typeface="Courier New" panose="02070309020205020404" pitchFamily="49" charset="0"/>
              </a:rPr>
              <a:t>&lt;input /&gt;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effectLst/>
                <a:latin typeface="+mn-lt"/>
              </a:rPr>
              <a:t>.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" y="778877"/>
            <a:ext cx="8915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/>
              <a:t>Pour créer une zone de texte à une ligne, on doit écrire :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" y="1069776"/>
            <a:ext cx="19609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text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/&gt;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" y="1376063"/>
            <a:ext cx="8915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/>
              <a:t>Ce n'est pas encore suffisant : il faut donner un nom à votre zone de texte.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389" y="1714617"/>
            <a:ext cx="33577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text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="pseudo" /&gt;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827" y="2174792"/>
            <a:ext cx="20415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Zone de mot de passe</a:t>
            </a:r>
            <a:endParaRPr lang="fr-FR" sz="1600" b="1" i="0" dirty="0">
              <a:effectLst/>
            </a:endParaRP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83389" y="2513346"/>
            <a:ext cx="891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Vous pouvez facilement faire en sorte que la zone de texte se comporte comme une « zone de mot de passe », c'est-à-dire une zone où on ne voit pas à l'écran les caractères saisis. Pour créer ce type de zone de saisie, utilisez l'attribut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+mn-lt"/>
                <a:cs typeface="Courier New" panose="02070309020205020404" pitchFamily="49" charset="0"/>
              </a:rPr>
              <a:t>type="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+mn-lt"/>
                <a:cs typeface="Courier New" panose="02070309020205020404" pitchFamily="49" charset="0"/>
              </a:rPr>
              <a:t>password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+mn-lt"/>
                <a:cs typeface="Courier New" panose="02070309020205020404" pitchFamily="49" charset="0"/>
              </a:rPr>
              <a:t>"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effectLst/>
                <a:latin typeface="+mn-lt"/>
              </a:rPr>
              <a:t>.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94" y="3343040"/>
            <a:ext cx="36526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=« 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password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" 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="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pass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" 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" y="3716100"/>
            <a:ext cx="2503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Zone de texte </a:t>
            </a:r>
            <a:r>
              <a:rPr lang="fr-FR" b="1" dirty="0" err="1"/>
              <a:t>multiligne</a:t>
            </a:r>
            <a:endParaRPr lang="fr-FR" b="1" i="0" dirty="0">
              <a:effectLst/>
            </a:endParaRPr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76200" y="4109502"/>
            <a:ext cx="89679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Pour créer une zone de texte 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multiligne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on change de balise : nous allons utiliser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&lt;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textarea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&gt; &lt;/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textarea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516" y="4472126"/>
            <a:ext cx="87356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method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="post" action="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traitement.php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&lt;p&gt;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&lt;label for="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ameliorer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"&gt;Comment pensez-vous que je pourrais améliorer mon site ?&lt;/label&gt;&lt;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textarea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ameliorer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id="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ameliorer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"&gt;&lt;/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textarea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&lt;/p&gt;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&lt;/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1473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" y="0"/>
            <a:ext cx="2864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/>
              <a:t>Les zones de saisie enrichies</a:t>
            </a:r>
            <a:endParaRPr lang="fr-FR" b="1" i="0" u="sng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" y="369332"/>
            <a:ext cx="7136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E-mail</a:t>
            </a:r>
            <a:endParaRPr lang="fr-FR" sz="1600" b="1" i="0" dirty="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" y="673380"/>
            <a:ext cx="20938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type="email" /&gt;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" y="1033046"/>
            <a:ext cx="9156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/>
              <a:t>Une URL</a:t>
            </a:r>
            <a:endParaRPr lang="fr-FR" sz="1600" b="1" i="0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647" y="1270206"/>
            <a:ext cx="18630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type="url" /&gt;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74647" y="1661254"/>
            <a:ext cx="20551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Numéro de téléphone</a:t>
            </a:r>
            <a:endParaRPr lang="fr-FR" sz="1600" b="1" i="0" dirty="0"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786" y="1905000"/>
            <a:ext cx="18528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type="tel" /&gt;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647" y="2296048"/>
            <a:ext cx="8812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Nombre</a:t>
            </a:r>
            <a:endParaRPr lang="fr-FR" sz="1600" b="1" i="0" dirty="0">
              <a:effectLst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647" y="2537936"/>
            <a:ext cx="22974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number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/&gt;</a:t>
            </a: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4647" y="3015984"/>
            <a:ext cx="8916953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Vous pouvez personnaliser le fonctionnement du champ avec les attributs suivants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min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: valeur minimale autorisée.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max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: valeur maximale autorisée.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step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: c'est le « pas » de déplacement. Si vous indiquez un pas de 2, le champ n'acceptera que des valeurs de 2 en 2 (par exemple 0, 2, 4, 6…).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786" y="4385405"/>
            <a:ext cx="11135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Un curseur</a:t>
            </a:r>
            <a:endParaRPr lang="fr-FR" sz="1600" b="1" i="0" dirty="0">
              <a:effectLst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76200" y="4673025"/>
            <a:ext cx="8991600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 type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range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permet de sélectionner un nombre avec un curseur (aussi appelé </a:t>
            </a:r>
            <a:r>
              <a:rPr kumimoji="0" lang="fr-FR" sz="16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slider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), comme à la figure suivante :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47" y="5222070"/>
            <a:ext cx="21071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type="range" /&gt;</a:t>
            </a:r>
          </a:p>
        </p:txBody>
      </p:sp>
    </p:spTree>
    <p:extLst>
      <p:ext uri="{BB962C8B-B14F-4D97-AF65-F5344CB8AC3E}">
        <p14:creationId xmlns:p14="http://schemas.microsoft.com/office/powerpoint/2010/main" val="318630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" y="42446"/>
            <a:ext cx="5841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Date</a:t>
            </a:r>
            <a:endParaRPr lang="fr-FR" sz="1600" b="1" i="0" dirty="0">
              <a:effectLst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6200" y="366623"/>
            <a:ext cx="6267678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Différents types de champs de sélection de date existent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date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: pour la date (05/08/1985 par exemple) 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time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: pour l'heure (13:37 par exemple) 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week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: pour la semaine 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month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: pour le mois 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datetime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: pour la date et l'heure (avec gestion du décalage horaire) 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datetime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-local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pour la date et l'heure (sans gestion du décalage horaire).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" y="2322016"/>
            <a:ext cx="10700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smtClean="0"/>
              <a:t>Recherche</a:t>
            </a:r>
            <a:endParaRPr lang="fr-FR" sz="1600" b="1" i="0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" y="2633246"/>
            <a:ext cx="8915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/>
              <a:t>On peut créer un champ de recherche comme ceci :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" y="2926645"/>
            <a:ext cx="21805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search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/&gt;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252" y="3361997"/>
            <a:ext cx="2376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/>
              <a:t>Les éléments d'options</a:t>
            </a:r>
            <a:endParaRPr lang="fr-FR" b="1" i="0" u="sng" dirty="0">
              <a:effectLst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3452" y="3688140"/>
            <a:ext cx="88981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/>
              <a:t>HTML vous offre une ribambelle d'éléments d'options à utiliser dans votre formulaire. Ce sont des éléments qui demandent au visiteur de faire un choix parmi une liste de possibilités. Nous allons passer en revue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</a:rPr>
              <a:t>les cases à cocher 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</a:rPr>
              <a:t>les zones d'options 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</a:rPr>
              <a:t>les listes déroulantes.</a:t>
            </a:r>
            <a:endParaRPr lang="fr-FR" sz="16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784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" y="76200"/>
            <a:ext cx="17180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Les cases à cocher</a:t>
            </a:r>
            <a:endParaRPr lang="fr-FR" sz="1600" b="1" i="0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" y="414754"/>
            <a:ext cx="417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&lt;input type="</a:t>
            </a:r>
            <a:r>
              <a:rPr lang="fr-FR" dirty="0" err="1">
                <a:solidFill>
                  <a:srgbClr val="FF0000"/>
                </a:solidFill>
              </a:rPr>
              <a:t>checkbox</a:t>
            </a:r>
            <a:r>
              <a:rPr lang="fr-FR" dirty="0">
                <a:solidFill>
                  <a:srgbClr val="FF0000"/>
                </a:solidFill>
              </a:rPr>
              <a:t>" </a:t>
            </a:r>
            <a:r>
              <a:rPr lang="fr-FR" dirty="0" err="1">
                <a:solidFill>
                  <a:srgbClr val="FF0000"/>
                </a:solidFill>
              </a:rPr>
              <a:t>name</a:t>
            </a:r>
            <a:r>
              <a:rPr lang="fr-FR" dirty="0">
                <a:solidFill>
                  <a:srgbClr val="FF0000"/>
                </a:solidFill>
              </a:rPr>
              <a:t>="choix" /&gt;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874455"/>
            <a:ext cx="8839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method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="post" action="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traitement.php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&lt;p&gt;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Cochez les aliments que vous aimez manger :&lt;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&lt;input type="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checkbox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="frites" id="frites" /&gt; &lt;label for="frites"&gt;Frites&lt;/label&gt;&lt;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&lt;input type="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checkbox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="steak" id="steak" /&gt; &lt;label for="steak"&gt;Steak haché&lt;/label&gt;&lt;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&lt;input type="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checkbox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epinards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id="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epinards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/&gt; &lt;label for="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epinards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"&gt;Epinards&lt;/label&gt;&lt;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&lt;input type="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checkbox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="huitres" id="huitres" /&gt; &lt;label for="huitres"&gt;Huitres&lt;/label&gt;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&lt;/p&gt;</a:t>
            </a:r>
          </a:p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&lt;/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955" y="3519369"/>
            <a:ext cx="18346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Les zones d'options</a:t>
            </a:r>
            <a:endParaRPr lang="fr-FR" sz="1600" b="1" i="0" dirty="0">
              <a:effectLst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04955" y="4055587"/>
            <a:ext cx="8924745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Les zones d'options vous permettent de faire un choix (et un seul) parmi une liste de possibilités. Elles ressemblent un peu aux cases à cocher mais il y a une petite difficulté supplémentaire : elles doivent être organisées en groupes. Les options d'un même groupe possèdent le même nom (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name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), mais chaque option doit avoir une valeur (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value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 différente.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La balise à utiliser est toujours un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cs typeface="Courier New" panose="02070309020205020404" pitchFamily="49" charset="0"/>
              </a:rPr>
              <a:t>&lt;input /&gt;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avec cette fois la valeur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cs typeface="Courier New" panose="02070309020205020404" pitchFamily="49" charset="0"/>
              </a:rPr>
              <a:t>radio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pour l'attribut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type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662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8763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method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="post" action="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traitement.php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&lt;p&gt;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Veuillez indiquer la tranche d'âge dans laquelle vous vous situez </a:t>
            </a:r>
            <a:r>
              <a:rPr lang="fr-F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 &lt;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&lt;input type="radio" 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age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value="moins15" id="moins15" /&gt; &lt;label for="moins15"&gt;Moins de 15 ans&lt;/label&gt;&lt;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&lt;input type="radio" 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age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value="medium15-25" id="medium15-25" /&gt; &lt;label for="medium15-25"&gt;15-25 ans&lt;/label&gt;&lt;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&lt;input type="radio" 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age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value="medium25-40" id="medium25-40" /&gt; &lt;label for="medium25-40"&gt;25-40 ans&lt;/label&gt;&lt;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&lt;input type="radio" 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age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value="plus40" id="plus40" /&gt; &lt;label for="plus40"&gt;Encore plus vieux que ça ?!&lt;/label&gt;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&lt;/p&gt;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&lt;/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1932605"/>
            <a:ext cx="19971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Les listes déroulantes</a:t>
            </a:r>
            <a:endParaRPr lang="fr-FR" sz="1600" b="1" i="0" dirty="0">
              <a:effectLst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2400" y="2271159"/>
            <a:ext cx="8839200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Les listes déroulantes sont un autre moyen élégant de faire un choix parmi plusieurs possibilités. Le fonctionnement est un peu différent. On va utiliser la balise 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cs typeface="Courier New" panose="02070309020205020404" pitchFamily="49" charset="0"/>
              </a:rPr>
              <a:t>&lt;select&gt; &lt;/select&gt;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qui indique le début et la fin de la liste déroulante. On ajoute l'attribut 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name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à la balise pour donner un nom à la liste.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Puis, à l'intérieur du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&lt;select&gt; &lt;/select&gt;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nous allons placer plusieurs balises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cs typeface="Courier New" panose="02070309020205020404" pitchFamily="49" charset="0"/>
              </a:rPr>
              <a:t>&lt;option&gt; &lt;/option&gt;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(une par choix possible). On ajoute à chacune d'elles un attribut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cs typeface="Courier New" panose="02070309020205020404" pitchFamily="49" charset="0"/>
              </a:rPr>
              <a:t>value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urier New" panose="02070309020205020404" pitchFamily="49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pour pouvoir identifier ce que le visiteur a choisi.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" y="3840819"/>
            <a:ext cx="8763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method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="post" action="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traitement.php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&lt;p&gt;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&lt;label for="pays"&gt;Dans quel pays habitez-vous ?&lt;/label&gt;&lt;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&lt;select 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name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="pays" id="pays"&gt;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&lt;option value="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france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"&gt;France&lt;/option&gt;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&lt;option value="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espagne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"&gt;Espagne&lt;/option&gt;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&lt;option value="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italie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"&gt;Italie&lt;/option&gt;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&lt;option value="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royaume-uni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"&gt;Royaume-Uni&lt;/option&gt;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&lt;option value="canada"&gt;Canada&lt;/option&gt;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&lt;option value="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etats-unis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"&gt;États-Unis&lt;/option&gt;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&lt;option value="chine"&gt;Chine&lt;/option&gt;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&lt;option value="japon"&gt;Japon&lt;/option&gt;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&lt;/select&gt;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&lt;/p&gt;</a:t>
            </a:r>
          </a:p>
          <a:p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&lt;/</a:t>
            </a:r>
            <a:r>
              <a:rPr lang="fr-FR" sz="12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form</a:t>
            </a:r>
            <a:r>
              <a:rPr lang="fr-FR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9119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5254" y="76200"/>
            <a:ext cx="171354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Le bouton d'envoi</a:t>
            </a:r>
            <a:endParaRPr lang="fr-FR" sz="1600" b="1" i="0" dirty="0">
              <a:effectLst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5254" y="504110"/>
            <a:ext cx="8723946" cy="20621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Pour créer un bouton d’envoi la balise à utiliser est</a:t>
            </a:r>
            <a:r>
              <a:rPr kumimoji="0" lang="fr-FR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&lt;input /&gt; </a:t>
            </a:r>
            <a:r>
              <a:rPr lang="fr-FR" sz="1600" dirty="0"/>
              <a:t>.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Elle existe en quatre versions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type="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submit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"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le principal bouton d'envoi de formulaire. C'est celui que vous utiliserez le plus souvent. Le visiteur sera conduit à la page indiquée dans l'attribut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action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du formulaire.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type="reset"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remise à zéro du formulaire.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type="image"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équivalent du bouton 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submit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, présenté cette fois sous forme d'image. Rajoutez l'attribut 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src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pour indiquer l'URL de l'image.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type="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button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anose="02070309020205020404" pitchFamily="49" charset="0"/>
              </a:rPr>
              <a:t>"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bouton générique, qui n'aura (par défaut) aucun effet. En général, ce bouton est géré en JavaScript pour exécuter des actions sur la page.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29631" y="2655569"/>
            <a:ext cx="36368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&lt;input type="</a:t>
            </a:r>
            <a:r>
              <a:rPr lang="fr-FR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submit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 value="Envoyer" /&gt;</a:t>
            </a:r>
          </a:p>
        </p:txBody>
      </p:sp>
    </p:spTree>
    <p:extLst>
      <p:ext uri="{BB962C8B-B14F-4D97-AF65-F5344CB8AC3E}">
        <p14:creationId xmlns:p14="http://schemas.microsoft.com/office/powerpoint/2010/main" val="94227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1638</Words>
  <Application>Microsoft Office PowerPoint</Application>
  <PresentationFormat>Affichage à l'écran (4:3)</PresentationFormat>
  <Paragraphs>143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PROGRAMMATION DE CLIENTS WEB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PROGRAMMATION DE CLIENTS WEB</dc:title>
  <dc:creator>NIKKOSA</dc:creator>
  <cp:lastModifiedBy>NIKKOSA</cp:lastModifiedBy>
  <cp:revision>38</cp:revision>
  <dcterms:created xsi:type="dcterms:W3CDTF">2006-08-16T00:00:00Z</dcterms:created>
  <dcterms:modified xsi:type="dcterms:W3CDTF">2020-02-13T21:01:25Z</dcterms:modified>
</cp:coreProperties>
</file>