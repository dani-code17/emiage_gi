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9948" y="628650"/>
            <a:ext cx="10992103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13330" y="3572967"/>
            <a:ext cx="7165339" cy="1671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rgbClr val="FFC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rgbClr val="FFC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rgbClr val="FFC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rgbClr val="FFC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76" y="9144"/>
            <a:ext cx="1600200" cy="1600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502142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1269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5496" y="691083"/>
            <a:ext cx="840994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heavy">
                <a:solidFill>
                  <a:srgbClr val="FFC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3932" y="1238758"/>
            <a:ext cx="5504180" cy="4612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heavy">
                <a:solidFill>
                  <a:srgbClr val="FFC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9" Type="http://schemas.openxmlformats.org/officeDocument/2006/relationships/image" Target="../media/image132.png"/><Relationship Id="rId21" Type="http://schemas.openxmlformats.org/officeDocument/2006/relationships/image" Target="../media/image114.png"/><Relationship Id="rId34" Type="http://schemas.openxmlformats.org/officeDocument/2006/relationships/image" Target="../media/image127.png"/><Relationship Id="rId42" Type="http://schemas.openxmlformats.org/officeDocument/2006/relationships/image" Target="../media/image135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22.png"/><Relationship Id="rId41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32" Type="http://schemas.openxmlformats.org/officeDocument/2006/relationships/image" Target="../media/image125.png"/><Relationship Id="rId37" Type="http://schemas.openxmlformats.org/officeDocument/2006/relationships/image" Target="../media/image130.png"/><Relationship Id="rId40" Type="http://schemas.openxmlformats.org/officeDocument/2006/relationships/image" Target="../media/image133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36" Type="http://schemas.openxmlformats.org/officeDocument/2006/relationships/image" Target="../media/image129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124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23.png"/><Relationship Id="rId35" Type="http://schemas.openxmlformats.org/officeDocument/2006/relationships/image" Target="../media/image128.png"/><Relationship Id="rId43" Type="http://schemas.openxmlformats.org/officeDocument/2006/relationships/image" Target="../media/image136.png"/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26.png"/><Relationship Id="rId38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57617" y="1371600"/>
            <a:ext cx="9820275" cy="39958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6360" algn="ctr">
              <a:lnSpc>
                <a:spcPct val="100000"/>
              </a:lnSpc>
              <a:spcBef>
                <a:spcPts val="100"/>
              </a:spcBef>
            </a:pPr>
            <a:r>
              <a:rPr sz="4800" spc="-280" dirty="0">
                <a:solidFill>
                  <a:srgbClr val="EBEBEB"/>
                </a:solidFill>
                <a:latin typeface="Verdana"/>
                <a:cs typeface="Verdana"/>
              </a:rPr>
              <a:t>Les</a:t>
            </a:r>
            <a:r>
              <a:rPr sz="4800" spc="-360" dirty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sz="4800" spc="280" dirty="0">
                <a:solidFill>
                  <a:srgbClr val="EBEBEB"/>
                </a:solidFill>
                <a:latin typeface="Verdana"/>
                <a:cs typeface="Verdana"/>
              </a:rPr>
              <a:t>d</a:t>
            </a:r>
            <a:r>
              <a:rPr sz="4800" spc="-20" dirty="0">
                <a:solidFill>
                  <a:srgbClr val="EBEBEB"/>
                </a:solidFill>
                <a:latin typeface="Verdana"/>
                <a:cs typeface="Verdana"/>
              </a:rPr>
              <a:t>onnées</a:t>
            </a:r>
            <a:r>
              <a:rPr sz="4800" spc="-360" dirty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sz="4800" spc="-150" dirty="0">
                <a:solidFill>
                  <a:srgbClr val="EBEBEB"/>
                </a:solidFill>
                <a:latin typeface="Verdana"/>
                <a:cs typeface="Verdana"/>
              </a:rPr>
              <a:t>se</a:t>
            </a:r>
            <a:r>
              <a:rPr sz="4800" spc="-280" dirty="0">
                <a:solidFill>
                  <a:srgbClr val="EBEBEB"/>
                </a:solidFill>
                <a:latin typeface="Verdana"/>
                <a:cs typeface="Verdana"/>
              </a:rPr>
              <a:t>m</a:t>
            </a:r>
            <a:r>
              <a:rPr sz="4800" spc="-370" dirty="0">
                <a:solidFill>
                  <a:srgbClr val="EBEBEB"/>
                </a:solidFill>
                <a:latin typeface="Verdana"/>
                <a:cs typeface="Verdana"/>
              </a:rPr>
              <a:t>i</a:t>
            </a:r>
            <a:r>
              <a:rPr sz="4800" spc="-590" dirty="0">
                <a:solidFill>
                  <a:srgbClr val="EBEBEB"/>
                </a:solidFill>
                <a:latin typeface="Verdana"/>
                <a:cs typeface="Verdana"/>
              </a:rPr>
              <a:t>-</a:t>
            </a:r>
            <a:r>
              <a:rPr sz="4800" spc="-200" dirty="0">
                <a:solidFill>
                  <a:srgbClr val="EBEBEB"/>
                </a:solidFill>
                <a:latin typeface="Verdana"/>
                <a:cs typeface="Verdana"/>
              </a:rPr>
              <a:t>structurées</a:t>
            </a:r>
            <a:endParaRPr sz="4800" dirty="0">
              <a:latin typeface="Verdana"/>
              <a:cs typeface="Verdana"/>
            </a:endParaRPr>
          </a:p>
          <a:p>
            <a:pPr marL="3175" algn="ctr">
              <a:lnSpc>
                <a:spcPct val="100000"/>
              </a:lnSpc>
              <a:spcBef>
                <a:spcPts val="45"/>
              </a:spcBef>
            </a:pPr>
            <a:r>
              <a:rPr lang="fr-FR" sz="2800" i="1" spc="-270" dirty="0">
                <a:solidFill>
                  <a:srgbClr val="EBEBEB"/>
                </a:solidFill>
                <a:latin typeface="Verdana"/>
                <a:cs typeface="Verdana"/>
              </a:rPr>
              <a:t>Licence 2 MIAGE</a:t>
            </a:r>
          </a:p>
          <a:p>
            <a:pPr marL="3175" algn="ctr">
              <a:lnSpc>
                <a:spcPct val="100000"/>
              </a:lnSpc>
              <a:spcBef>
                <a:spcPts val="45"/>
              </a:spcBef>
            </a:pPr>
            <a:endParaRPr lang="fr-FR" sz="2800" i="1" spc="-270" dirty="0">
              <a:solidFill>
                <a:srgbClr val="EBEBEB"/>
              </a:solidFill>
              <a:latin typeface="Verdana"/>
              <a:cs typeface="Verdana"/>
            </a:endParaRPr>
          </a:p>
          <a:p>
            <a:pPr marL="3175" algn="ctr">
              <a:lnSpc>
                <a:spcPct val="100000"/>
              </a:lnSpc>
              <a:spcBef>
                <a:spcPts val="45"/>
              </a:spcBef>
            </a:pPr>
            <a:endParaRPr lang="fr-FR" sz="2800" i="1" spc="-270" dirty="0">
              <a:solidFill>
                <a:srgbClr val="EBEBEB"/>
              </a:solidFill>
              <a:latin typeface="Verdana"/>
              <a:cs typeface="Verdana"/>
            </a:endParaRPr>
          </a:p>
          <a:p>
            <a:pPr marL="3175" algn="ctr">
              <a:lnSpc>
                <a:spcPct val="100000"/>
              </a:lnSpc>
              <a:spcBef>
                <a:spcPts val="45"/>
              </a:spcBef>
            </a:pPr>
            <a:endParaRPr lang="fr-FR" sz="2800" i="1" spc="-270" dirty="0">
              <a:solidFill>
                <a:srgbClr val="EBEBEB"/>
              </a:solidFill>
              <a:latin typeface="Verdana"/>
              <a:cs typeface="Verdana"/>
            </a:endParaRPr>
          </a:p>
          <a:p>
            <a:pPr marL="3175" algn="ctr">
              <a:lnSpc>
                <a:spcPct val="100000"/>
              </a:lnSpc>
              <a:spcBef>
                <a:spcPts val="45"/>
              </a:spcBef>
            </a:pPr>
            <a:endParaRPr sz="2800" dirty="0">
              <a:latin typeface="Verdana"/>
              <a:cs typeface="Verdana"/>
            </a:endParaRPr>
          </a:p>
          <a:p>
            <a:pPr marL="6830695" marR="5080" indent="-641985">
              <a:lnSpc>
                <a:spcPts val="2700"/>
              </a:lnSpc>
              <a:spcBef>
                <a:spcPts val="765"/>
              </a:spcBef>
            </a:pP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«</a:t>
            </a:r>
            <a:r>
              <a:rPr sz="2500" i="1" spc="-1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Chapitre</a:t>
            </a:r>
            <a:r>
              <a:rPr sz="2500" i="1" spc="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1</a:t>
            </a:r>
            <a:r>
              <a:rPr sz="2500" i="1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: Contexte</a:t>
            </a:r>
            <a:r>
              <a:rPr sz="2500" i="1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et </a:t>
            </a:r>
            <a:r>
              <a:rPr sz="2500" i="1" spc="-68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problématiques»</a:t>
            </a:r>
            <a:endParaRPr sz="2500" dirty="0">
              <a:latin typeface="Arial"/>
              <a:cs typeface="Arial"/>
            </a:endParaRPr>
          </a:p>
          <a:p>
            <a:pPr marL="12700" marR="7089775">
              <a:lnSpc>
                <a:spcPts val="2630"/>
              </a:lnSpc>
            </a:pPr>
            <a:r>
              <a:rPr lang="fr-FR" sz="1700" b="1" spc="-30" dirty="0">
                <a:solidFill>
                  <a:srgbClr val="FFFFB3"/>
                </a:solidFill>
                <a:latin typeface="Tahoma"/>
                <a:cs typeface="Tahoma"/>
              </a:rPr>
              <a:t>Dr KANGA Koffi</a:t>
            </a:r>
            <a:endParaRPr sz="17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83" y="553212"/>
            <a:ext cx="3804666" cy="12291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3932" y="704214"/>
            <a:ext cx="3105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u="none" spc="-90" dirty="0">
                <a:latin typeface="Verdana"/>
                <a:cs typeface="Verdana"/>
              </a:rPr>
              <a:t>Le</a:t>
            </a:r>
            <a:r>
              <a:rPr sz="4400" b="0" u="none" spc="-330" dirty="0">
                <a:latin typeface="Verdana"/>
                <a:cs typeface="Verdana"/>
              </a:rPr>
              <a:t> </a:t>
            </a:r>
            <a:r>
              <a:rPr sz="4400" b="0" u="none" spc="540" dirty="0">
                <a:latin typeface="Verdana"/>
                <a:cs typeface="Verdana"/>
              </a:rPr>
              <a:t>c</a:t>
            </a:r>
            <a:r>
              <a:rPr sz="4400" b="0" u="none" spc="-20" dirty="0">
                <a:latin typeface="Verdana"/>
                <a:cs typeface="Verdana"/>
              </a:rPr>
              <a:t>ontenu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344013"/>
            <a:ext cx="11889740" cy="420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  <a:tab pos="1978660" algn="l"/>
              </a:tabLst>
            </a:pPr>
            <a:r>
              <a:rPr sz="2000" b="1" spc="-40" dirty="0">
                <a:solidFill>
                  <a:srgbClr val="EE52A4"/>
                </a:solidFill>
                <a:latin typeface="Tahoma"/>
                <a:cs typeface="Tahoma"/>
              </a:rPr>
              <a:t>Chapitre1</a:t>
            </a:r>
            <a:r>
              <a:rPr sz="2000" b="1" spc="95" dirty="0">
                <a:solidFill>
                  <a:srgbClr val="EE52A4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EE52A4"/>
                </a:solidFill>
                <a:latin typeface="Tahoma"/>
                <a:cs typeface="Tahoma"/>
              </a:rPr>
              <a:t>:	</a:t>
            </a:r>
            <a:r>
              <a:rPr sz="2000" b="1" i="1" spc="-145" dirty="0">
                <a:solidFill>
                  <a:srgbClr val="7D2812"/>
                </a:solidFill>
                <a:latin typeface="Verdana"/>
                <a:cs typeface="Verdana"/>
              </a:rPr>
              <a:t>Contexte</a:t>
            </a:r>
            <a:r>
              <a:rPr sz="2000" b="1" i="1" spc="-1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80" dirty="0">
                <a:solidFill>
                  <a:srgbClr val="7D2812"/>
                </a:solidFill>
                <a:latin typeface="Verdana"/>
                <a:cs typeface="Verdana"/>
              </a:rPr>
              <a:t>et</a:t>
            </a:r>
            <a:r>
              <a:rPr sz="2000" b="1" i="1" spc="-1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7D2812"/>
                </a:solidFill>
                <a:latin typeface="Verdana"/>
                <a:cs typeface="Verdana"/>
              </a:rPr>
              <a:t>problématique</a:t>
            </a:r>
            <a:r>
              <a:rPr sz="2000" b="1" i="1" spc="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90" dirty="0">
                <a:solidFill>
                  <a:srgbClr val="7D2812"/>
                </a:solidFill>
                <a:latin typeface="Verdana"/>
                <a:cs typeface="Verdana"/>
              </a:rPr>
              <a:t>(nouvelles</a:t>
            </a:r>
            <a:r>
              <a:rPr sz="2000" b="1" i="1" spc="-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45" dirty="0">
                <a:solidFill>
                  <a:srgbClr val="7D2812"/>
                </a:solidFill>
                <a:latin typeface="Verdana"/>
                <a:cs typeface="Verdana"/>
              </a:rPr>
              <a:t>applications,</a:t>
            </a:r>
            <a:r>
              <a:rPr sz="2000" b="1" i="1" spc="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85" dirty="0">
                <a:solidFill>
                  <a:srgbClr val="7D2812"/>
                </a:solidFill>
                <a:latin typeface="Verdana"/>
                <a:cs typeface="Verdana"/>
              </a:rPr>
              <a:t>échange</a:t>
            </a:r>
            <a:r>
              <a:rPr sz="2000" b="1" i="1" spc="-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65" dirty="0">
                <a:solidFill>
                  <a:srgbClr val="7D2812"/>
                </a:solidFill>
                <a:latin typeface="Verdana"/>
                <a:cs typeface="Verdana"/>
              </a:rPr>
              <a:t>de</a:t>
            </a:r>
            <a:r>
              <a:rPr sz="2000" b="1" i="1" spc="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7D2812"/>
                </a:solidFill>
                <a:latin typeface="Verdana"/>
                <a:cs typeface="Verdana"/>
              </a:rPr>
              <a:t>données</a:t>
            </a:r>
            <a:r>
              <a:rPr sz="2000" b="1" i="1" spc="-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04" dirty="0">
                <a:solidFill>
                  <a:srgbClr val="7D2812"/>
                </a:solidFill>
                <a:latin typeface="Verdana"/>
                <a:cs typeface="Verdana"/>
              </a:rPr>
              <a:t>entre </a:t>
            </a:r>
            <a:r>
              <a:rPr sz="2000" b="1" i="1" spc="-67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35" dirty="0">
                <a:solidFill>
                  <a:srgbClr val="7D2812"/>
                </a:solidFill>
                <a:latin typeface="Verdana"/>
                <a:cs typeface="Verdana"/>
              </a:rPr>
              <a:t>applications</a:t>
            </a:r>
            <a:r>
              <a:rPr sz="2000" b="1" spc="-135" dirty="0">
                <a:solidFill>
                  <a:srgbClr val="7D2812"/>
                </a:solidFill>
                <a:latin typeface="Tahoma"/>
                <a:cs typeface="Tahoma"/>
              </a:rPr>
              <a:t>,</a:t>
            </a:r>
            <a:r>
              <a:rPr sz="2000" b="1" spc="-35" dirty="0">
                <a:solidFill>
                  <a:srgbClr val="7D2812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7D2812"/>
                </a:solidFill>
                <a:latin typeface="Tahoma"/>
                <a:cs typeface="Tahoma"/>
              </a:rPr>
              <a:t>documents</a:t>
            </a:r>
            <a:r>
              <a:rPr sz="2000" b="1" spc="-65" dirty="0">
                <a:solidFill>
                  <a:srgbClr val="7D2812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rgbClr val="7D2812"/>
                </a:solidFill>
                <a:latin typeface="Tahoma"/>
                <a:cs typeface="Tahoma"/>
              </a:rPr>
              <a:t>structurée,</a:t>
            </a:r>
            <a:r>
              <a:rPr sz="2000" b="1" spc="-55" dirty="0">
                <a:solidFill>
                  <a:srgbClr val="7D2812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7D2812"/>
                </a:solidFill>
                <a:latin typeface="Tahoma"/>
                <a:cs typeface="Tahoma"/>
              </a:rPr>
              <a:t>semi-structurés,</a:t>
            </a:r>
            <a:r>
              <a:rPr sz="2000" b="1" spc="-90" dirty="0">
                <a:solidFill>
                  <a:srgbClr val="7D2812"/>
                </a:solidFill>
                <a:latin typeface="Verdana"/>
                <a:cs typeface="Verdana"/>
              </a:rPr>
              <a:t>…</a:t>
            </a:r>
            <a:r>
              <a:rPr sz="2000" b="1" spc="-90" dirty="0">
                <a:solidFill>
                  <a:srgbClr val="7D2812"/>
                </a:solidFill>
                <a:latin typeface="Tahoma"/>
                <a:cs typeface="Tahoma"/>
              </a:rPr>
              <a:t>.</a:t>
            </a:r>
            <a:r>
              <a:rPr sz="2000" b="1" spc="-55" dirty="0">
                <a:solidFill>
                  <a:srgbClr val="7D2812"/>
                </a:solidFill>
                <a:latin typeface="Tahoma"/>
                <a:cs typeface="Tahoma"/>
              </a:rPr>
              <a:t> </a:t>
            </a:r>
            <a:r>
              <a:rPr sz="2000" b="1" spc="-150" dirty="0">
                <a:solidFill>
                  <a:srgbClr val="7D2812"/>
                </a:solidFill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B31166"/>
              </a:buClr>
              <a:buFont typeface="Wingdings"/>
              <a:buChar char=""/>
            </a:pPr>
            <a:endParaRPr sz="1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  <a:tab pos="1778635" algn="l"/>
              </a:tabLst>
            </a:pPr>
            <a:r>
              <a:rPr sz="2000" b="1" spc="75" dirty="0">
                <a:solidFill>
                  <a:srgbClr val="EE52A4"/>
                </a:solidFill>
                <a:latin typeface="Tahoma"/>
                <a:cs typeface="Tahoma"/>
              </a:rPr>
              <a:t>C</a:t>
            </a:r>
            <a:r>
              <a:rPr sz="2000" b="1" spc="65" dirty="0">
                <a:solidFill>
                  <a:srgbClr val="EE52A4"/>
                </a:solidFill>
                <a:latin typeface="Tahoma"/>
                <a:cs typeface="Tahoma"/>
              </a:rPr>
              <a:t>h</a:t>
            </a:r>
            <a:r>
              <a:rPr sz="2000" b="1" spc="85" dirty="0">
                <a:solidFill>
                  <a:srgbClr val="EE52A4"/>
                </a:solidFill>
                <a:latin typeface="Tahoma"/>
                <a:cs typeface="Tahoma"/>
              </a:rPr>
              <a:t>ap</a:t>
            </a:r>
            <a:r>
              <a:rPr sz="2000" b="1" spc="-180" dirty="0">
                <a:solidFill>
                  <a:srgbClr val="EE52A4"/>
                </a:solidFill>
                <a:latin typeface="Tahoma"/>
                <a:cs typeface="Tahoma"/>
              </a:rPr>
              <a:t>it</a:t>
            </a:r>
            <a:r>
              <a:rPr sz="2000" b="1" spc="-229" dirty="0">
                <a:solidFill>
                  <a:srgbClr val="EE52A4"/>
                </a:solidFill>
                <a:latin typeface="Tahoma"/>
                <a:cs typeface="Tahoma"/>
              </a:rPr>
              <a:t>r</a:t>
            </a:r>
            <a:r>
              <a:rPr sz="2000" b="1" spc="95" dirty="0">
                <a:solidFill>
                  <a:srgbClr val="EE52A4"/>
                </a:solidFill>
                <a:latin typeface="Tahoma"/>
                <a:cs typeface="Tahoma"/>
              </a:rPr>
              <a:t>e</a:t>
            </a:r>
            <a:r>
              <a:rPr sz="2000" b="1" spc="-25" dirty="0">
                <a:solidFill>
                  <a:srgbClr val="EE52A4"/>
                </a:solidFill>
                <a:latin typeface="Tahoma"/>
                <a:cs typeface="Tahoma"/>
              </a:rPr>
              <a:t> </a:t>
            </a:r>
            <a:r>
              <a:rPr sz="2000" b="1" spc="-150" dirty="0">
                <a:solidFill>
                  <a:srgbClr val="EE52A4"/>
                </a:solidFill>
                <a:latin typeface="Tahoma"/>
                <a:cs typeface="Tahoma"/>
              </a:rPr>
              <a:t>2</a:t>
            </a:r>
            <a:r>
              <a:rPr sz="2000" b="1" dirty="0">
                <a:solidFill>
                  <a:srgbClr val="EE52A4"/>
                </a:solidFill>
                <a:latin typeface="Tahoma"/>
                <a:cs typeface="Tahoma"/>
              </a:rPr>
              <a:t>	</a:t>
            </a:r>
            <a:r>
              <a:rPr sz="2000" b="1" i="1" spc="-245" dirty="0">
                <a:solidFill>
                  <a:srgbClr val="EE52A4"/>
                </a:solidFill>
                <a:latin typeface="Verdana"/>
                <a:cs typeface="Verdana"/>
              </a:rPr>
              <a:t>:</a:t>
            </a:r>
            <a:r>
              <a:rPr sz="2000" b="1" i="1" spc="-120" dirty="0">
                <a:solidFill>
                  <a:srgbClr val="EE52A4"/>
                </a:solidFill>
                <a:latin typeface="Verdana"/>
                <a:cs typeface="Verdana"/>
              </a:rPr>
              <a:t> </a:t>
            </a:r>
            <a:r>
              <a:rPr sz="2000" b="1" i="1" spc="-240" dirty="0">
                <a:solidFill>
                  <a:srgbClr val="7D2812"/>
                </a:solidFill>
                <a:latin typeface="Verdana"/>
                <a:cs typeface="Verdana"/>
              </a:rPr>
              <a:t>XM</a:t>
            </a:r>
            <a:r>
              <a:rPr sz="2000" b="1" i="1" spc="-175" dirty="0">
                <a:solidFill>
                  <a:srgbClr val="7D2812"/>
                </a:solidFill>
                <a:latin typeface="Verdana"/>
                <a:cs typeface="Verdana"/>
              </a:rPr>
              <a:t>L</a:t>
            </a:r>
            <a:r>
              <a:rPr sz="2000" b="1" i="1" spc="-14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335" dirty="0">
                <a:solidFill>
                  <a:srgbClr val="7D2812"/>
                </a:solidFill>
                <a:latin typeface="Verdana"/>
                <a:cs typeface="Verdana"/>
              </a:rPr>
              <a:t>(</a:t>
            </a:r>
            <a:r>
              <a:rPr sz="2000" b="1" i="1" spc="-315" dirty="0">
                <a:solidFill>
                  <a:srgbClr val="7D2812"/>
                </a:solidFill>
                <a:latin typeface="Verdana"/>
                <a:cs typeface="Verdana"/>
              </a:rPr>
              <a:t>s</a:t>
            </a:r>
            <a:r>
              <a:rPr sz="2000" b="1" i="1" spc="-175" dirty="0">
                <a:solidFill>
                  <a:srgbClr val="7D2812"/>
                </a:solidFill>
                <a:latin typeface="Verdana"/>
                <a:cs typeface="Verdana"/>
              </a:rPr>
              <a:t>ynt</a:t>
            </a:r>
            <a:r>
              <a:rPr sz="2000" b="1" i="1" spc="-200" dirty="0">
                <a:solidFill>
                  <a:srgbClr val="7D2812"/>
                </a:solidFill>
                <a:latin typeface="Verdana"/>
                <a:cs typeface="Verdana"/>
              </a:rPr>
              <a:t>a</a:t>
            </a:r>
            <a:r>
              <a:rPr sz="2000" b="1" i="1" spc="-135" dirty="0">
                <a:solidFill>
                  <a:srgbClr val="7D2812"/>
                </a:solidFill>
                <a:latin typeface="Verdana"/>
                <a:cs typeface="Verdana"/>
              </a:rPr>
              <a:t>x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e</a:t>
            </a:r>
            <a:r>
              <a:rPr sz="2000" b="1" i="1" spc="-114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40" dirty="0">
                <a:solidFill>
                  <a:srgbClr val="7D2812"/>
                </a:solidFill>
                <a:latin typeface="Verdana"/>
                <a:cs typeface="Verdana"/>
              </a:rPr>
              <a:t>XM</a:t>
            </a:r>
            <a:r>
              <a:rPr sz="2000" b="1" i="1" spc="-185" dirty="0">
                <a:solidFill>
                  <a:srgbClr val="7D2812"/>
                </a:solidFill>
                <a:latin typeface="Verdana"/>
                <a:cs typeface="Verdana"/>
              </a:rPr>
              <a:t>L</a:t>
            </a:r>
            <a:r>
              <a:rPr sz="2000" b="1" i="1" spc="-165" dirty="0">
                <a:solidFill>
                  <a:srgbClr val="7D2812"/>
                </a:solidFill>
                <a:latin typeface="Verdana"/>
                <a:cs typeface="Verdana"/>
              </a:rPr>
              <a:t>,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90" dirty="0">
                <a:solidFill>
                  <a:srgbClr val="7D2812"/>
                </a:solidFill>
                <a:latin typeface="Verdana"/>
                <a:cs typeface="Verdana"/>
              </a:rPr>
              <a:t>e</a:t>
            </a:r>
            <a:r>
              <a:rPr sz="2000" b="1" i="1" spc="-175" dirty="0">
                <a:solidFill>
                  <a:srgbClr val="7D2812"/>
                </a:solidFill>
                <a:latin typeface="Verdana"/>
                <a:cs typeface="Verdana"/>
              </a:rPr>
              <a:t>s</a:t>
            </a:r>
            <a:r>
              <a:rPr sz="2000" b="1" i="1" spc="-50" dirty="0">
                <a:solidFill>
                  <a:srgbClr val="7D2812"/>
                </a:solidFill>
                <a:latin typeface="Verdana"/>
                <a:cs typeface="Verdana"/>
              </a:rPr>
              <a:t>p</a:t>
            </a:r>
            <a:r>
              <a:rPr sz="2000" b="1" i="1" spc="-55" dirty="0">
                <a:solidFill>
                  <a:srgbClr val="7D2812"/>
                </a:solidFill>
                <a:latin typeface="Verdana"/>
                <a:cs typeface="Verdana"/>
              </a:rPr>
              <a:t>a</a:t>
            </a:r>
            <a:r>
              <a:rPr sz="2000" b="1" i="1" spc="-90" dirty="0">
                <a:solidFill>
                  <a:srgbClr val="7D2812"/>
                </a:solidFill>
                <a:latin typeface="Verdana"/>
                <a:cs typeface="Verdana"/>
              </a:rPr>
              <a:t>ce</a:t>
            </a:r>
            <a:r>
              <a:rPr sz="2000" b="1" i="1" spc="-80" dirty="0">
                <a:solidFill>
                  <a:srgbClr val="7D2812"/>
                </a:solidFill>
                <a:latin typeface="Verdana"/>
                <a:cs typeface="Verdana"/>
              </a:rPr>
              <a:t>s</a:t>
            </a:r>
            <a:r>
              <a:rPr sz="2000" b="1" i="1" spc="-14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70" dirty="0">
                <a:solidFill>
                  <a:srgbClr val="7D2812"/>
                </a:solidFill>
                <a:latin typeface="Verdana"/>
                <a:cs typeface="Verdana"/>
              </a:rPr>
              <a:t>d</a:t>
            </a:r>
            <a:r>
              <a:rPr sz="2000" b="1" i="1" spc="-60" dirty="0">
                <a:solidFill>
                  <a:srgbClr val="7D2812"/>
                </a:solidFill>
                <a:latin typeface="Verdana"/>
                <a:cs typeface="Verdana"/>
              </a:rPr>
              <a:t>e</a:t>
            </a:r>
            <a:r>
              <a:rPr sz="2000" b="1" i="1" spc="-13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35" dirty="0">
                <a:solidFill>
                  <a:srgbClr val="7D2812"/>
                </a:solidFill>
                <a:latin typeface="Verdana"/>
                <a:cs typeface="Verdana"/>
              </a:rPr>
              <a:t>nom</a:t>
            </a:r>
            <a:r>
              <a:rPr sz="2000" b="1" i="1" spc="-180" dirty="0">
                <a:solidFill>
                  <a:srgbClr val="7D2812"/>
                </a:solidFill>
                <a:latin typeface="Verdana"/>
                <a:cs typeface="Verdana"/>
              </a:rPr>
              <a:t>s</a:t>
            </a:r>
            <a:r>
              <a:rPr sz="2000" b="1" i="1" spc="-165" dirty="0">
                <a:solidFill>
                  <a:srgbClr val="7D2812"/>
                </a:solidFill>
                <a:latin typeface="Verdana"/>
                <a:cs typeface="Verdana"/>
              </a:rPr>
              <a:t>,</a:t>
            </a:r>
            <a:r>
              <a:rPr sz="2000" b="1" i="1" spc="-100" dirty="0">
                <a:solidFill>
                  <a:srgbClr val="7D2812"/>
                </a:solidFill>
                <a:latin typeface="Verdana"/>
                <a:cs typeface="Verdana"/>
              </a:rPr>
              <a:t>…</a:t>
            </a:r>
            <a:r>
              <a:rPr sz="2000" b="1" i="1" spc="-325" dirty="0">
                <a:solidFill>
                  <a:srgbClr val="7D2812"/>
                </a:solidFill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B31166"/>
              </a:buClr>
              <a:buFont typeface="Wingdings"/>
              <a:buChar char=""/>
            </a:pP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  <a:tab pos="1778635" algn="l"/>
              </a:tabLst>
            </a:pPr>
            <a:r>
              <a:rPr sz="2000" b="1" spc="-25" dirty="0">
                <a:solidFill>
                  <a:srgbClr val="EE52A4"/>
                </a:solidFill>
                <a:latin typeface="Tahoma"/>
                <a:cs typeface="Tahoma"/>
              </a:rPr>
              <a:t>Chapitre</a:t>
            </a:r>
            <a:r>
              <a:rPr sz="2000" b="1" spc="-15" dirty="0">
                <a:solidFill>
                  <a:srgbClr val="EE52A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EE52A4"/>
                </a:solidFill>
                <a:latin typeface="Tahoma"/>
                <a:cs typeface="Tahoma"/>
              </a:rPr>
              <a:t>3	</a:t>
            </a:r>
            <a:r>
              <a:rPr sz="2000" b="1" i="1" spc="-245" dirty="0">
                <a:solidFill>
                  <a:srgbClr val="EE52A4"/>
                </a:solidFill>
                <a:latin typeface="Verdana"/>
                <a:cs typeface="Verdana"/>
              </a:rPr>
              <a:t>:</a:t>
            </a:r>
            <a:r>
              <a:rPr sz="2000" b="1" i="1" spc="-120" dirty="0">
                <a:solidFill>
                  <a:srgbClr val="EE52A4"/>
                </a:solidFill>
                <a:latin typeface="Verdana"/>
                <a:cs typeface="Verdana"/>
              </a:rPr>
              <a:t> </a:t>
            </a:r>
            <a:r>
              <a:rPr sz="2000" b="1" i="1" spc="-210" dirty="0">
                <a:solidFill>
                  <a:srgbClr val="7D2812"/>
                </a:solidFill>
                <a:latin typeface="Verdana"/>
                <a:cs typeface="Verdana"/>
              </a:rPr>
              <a:t>La</a:t>
            </a:r>
            <a:r>
              <a:rPr sz="2000" b="1" i="1" spc="-12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7D2812"/>
                </a:solidFill>
                <a:latin typeface="Verdana"/>
                <a:cs typeface="Verdana"/>
              </a:rPr>
              <a:t>validation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7D2812"/>
                </a:solidFill>
                <a:latin typeface="Verdana"/>
                <a:cs typeface="Verdana"/>
              </a:rPr>
              <a:t>d’un</a:t>
            </a:r>
            <a:r>
              <a:rPr sz="2000" b="1" i="1" spc="-12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45" dirty="0">
                <a:solidFill>
                  <a:srgbClr val="7D2812"/>
                </a:solidFill>
                <a:latin typeface="Verdana"/>
                <a:cs typeface="Verdana"/>
              </a:rPr>
              <a:t>document </a:t>
            </a:r>
            <a:r>
              <a:rPr sz="2000" b="1" i="1" spc="-220" dirty="0">
                <a:solidFill>
                  <a:srgbClr val="7D2812"/>
                </a:solidFill>
                <a:latin typeface="Verdana"/>
                <a:cs typeface="Verdana"/>
              </a:rPr>
              <a:t>XML</a:t>
            </a:r>
            <a:r>
              <a:rPr sz="2000" b="1" i="1" spc="-13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340" dirty="0">
                <a:solidFill>
                  <a:srgbClr val="7D2812"/>
                </a:solidFill>
                <a:latin typeface="Verdana"/>
                <a:cs typeface="Verdana"/>
              </a:rPr>
              <a:t>(DTD)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B31166"/>
              </a:buClr>
              <a:buFont typeface="Wingdings"/>
              <a:buChar char=""/>
            </a:pP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25" dirty="0">
                <a:solidFill>
                  <a:srgbClr val="EE52A4"/>
                </a:solidFill>
                <a:latin typeface="Tahoma"/>
                <a:cs typeface="Tahoma"/>
              </a:rPr>
              <a:t>Chapitre</a:t>
            </a:r>
            <a:r>
              <a:rPr sz="2000" b="1" spc="-20" dirty="0">
                <a:solidFill>
                  <a:srgbClr val="EE52A4"/>
                </a:solidFill>
                <a:latin typeface="Tahoma"/>
                <a:cs typeface="Tahoma"/>
              </a:rPr>
              <a:t> </a:t>
            </a:r>
            <a:r>
              <a:rPr sz="2000" b="1" i="1" spc="-300" dirty="0">
                <a:solidFill>
                  <a:srgbClr val="EE52A4"/>
                </a:solidFill>
                <a:latin typeface="Verdana"/>
                <a:cs typeface="Verdana"/>
              </a:rPr>
              <a:t>4</a:t>
            </a:r>
            <a:r>
              <a:rPr sz="2000" b="1" i="1" spc="-140" dirty="0">
                <a:solidFill>
                  <a:srgbClr val="EE52A4"/>
                </a:solidFill>
                <a:latin typeface="Verdana"/>
                <a:cs typeface="Verdana"/>
              </a:rPr>
              <a:t> </a:t>
            </a:r>
            <a:r>
              <a:rPr sz="2000" i="1" spc="-355" dirty="0">
                <a:solidFill>
                  <a:srgbClr val="EE52A4"/>
                </a:solidFill>
                <a:latin typeface="Verdana"/>
                <a:cs typeface="Verdana"/>
              </a:rPr>
              <a:t>:</a:t>
            </a:r>
            <a:r>
              <a:rPr sz="2000" i="1" spc="-150" dirty="0">
                <a:solidFill>
                  <a:srgbClr val="EE52A4"/>
                </a:solidFill>
                <a:latin typeface="Verdana"/>
                <a:cs typeface="Verdana"/>
              </a:rPr>
              <a:t> </a:t>
            </a:r>
            <a:r>
              <a:rPr sz="2000" b="1" i="1" spc="-220" dirty="0">
                <a:solidFill>
                  <a:srgbClr val="7D2812"/>
                </a:solidFill>
                <a:latin typeface="Verdana"/>
                <a:cs typeface="Verdana"/>
              </a:rPr>
              <a:t>XML</a:t>
            </a:r>
            <a:r>
              <a:rPr sz="2000" b="1" i="1" spc="-13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80" dirty="0">
                <a:solidFill>
                  <a:srgbClr val="7D2812"/>
                </a:solidFill>
                <a:latin typeface="Verdana"/>
                <a:cs typeface="Verdana"/>
              </a:rPr>
              <a:t>et</a:t>
            </a:r>
            <a:r>
              <a:rPr sz="2000" b="1" i="1" spc="-12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85" dirty="0">
                <a:solidFill>
                  <a:srgbClr val="7D2812"/>
                </a:solidFill>
                <a:latin typeface="Verdana"/>
                <a:cs typeface="Verdana"/>
              </a:rPr>
              <a:t>les</a:t>
            </a:r>
            <a:r>
              <a:rPr sz="2000" b="1" i="1" spc="-15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55" dirty="0">
                <a:solidFill>
                  <a:srgbClr val="7D2812"/>
                </a:solidFill>
                <a:latin typeface="Verdana"/>
                <a:cs typeface="Verdana"/>
              </a:rPr>
              <a:t>bases</a:t>
            </a:r>
            <a:r>
              <a:rPr sz="2000" b="1" i="1" spc="-13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65" dirty="0">
                <a:solidFill>
                  <a:srgbClr val="7D2812"/>
                </a:solidFill>
                <a:latin typeface="Verdana"/>
                <a:cs typeface="Verdana"/>
              </a:rPr>
              <a:t>de</a:t>
            </a:r>
            <a:r>
              <a:rPr sz="2000" b="1" i="1" spc="-114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50" dirty="0">
                <a:solidFill>
                  <a:srgbClr val="7D2812"/>
                </a:solidFill>
                <a:latin typeface="Verdana"/>
                <a:cs typeface="Verdana"/>
              </a:rPr>
              <a:t>données </a:t>
            </a:r>
            <a:r>
              <a:rPr sz="2000" b="1" i="1" spc="-315" dirty="0">
                <a:solidFill>
                  <a:srgbClr val="7D2812"/>
                </a:solidFill>
                <a:latin typeface="Verdana"/>
                <a:cs typeface="Verdana"/>
              </a:rPr>
              <a:t>(BD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20" dirty="0">
                <a:solidFill>
                  <a:srgbClr val="7D2812"/>
                </a:solidFill>
                <a:latin typeface="Verdana"/>
                <a:cs typeface="Verdana"/>
              </a:rPr>
              <a:t>XML</a:t>
            </a:r>
            <a:r>
              <a:rPr sz="2000" b="1" i="1" spc="-12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85" dirty="0">
                <a:solidFill>
                  <a:srgbClr val="7D2812"/>
                </a:solidFill>
                <a:latin typeface="Verdana"/>
                <a:cs typeface="Verdana"/>
              </a:rPr>
              <a:t>natives,</a:t>
            </a:r>
            <a:r>
              <a:rPr sz="2000" b="1" i="1" spc="-14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60" dirty="0">
                <a:solidFill>
                  <a:srgbClr val="7D2812"/>
                </a:solidFill>
                <a:latin typeface="Verdana"/>
                <a:cs typeface="Verdana"/>
              </a:rPr>
              <a:t>XQuery</a:t>
            </a:r>
            <a:r>
              <a:rPr sz="2000" b="1" i="1" spc="-14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65" dirty="0">
                <a:solidFill>
                  <a:srgbClr val="7D2812"/>
                </a:solidFill>
                <a:latin typeface="Verdana"/>
                <a:cs typeface="Verdana"/>
              </a:rPr>
              <a:t>,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35" dirty="0">
                <a:solidFill>
                  <a:srgbClr val="7D2812"/>
                </a:solidFill>
                <a:latin typeface="Verdana"/>
                <a:cs typeface="Verdana"/>
              </a:rPr>
              <a:t>SGBD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00" dirty="0">
                <a:solidFill>
                  <a:srgbClr val="7D2812"/>
                </a:solidFill>
                <a:latin typeface="Verdana"/>
                <a:cs typeface="Verdana"/>
              </a:rPr>
              <a:t>hybrides)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B31166"/>
              </a:buClr>
              <a:buFont typeface="Wingdings"/>
              <a:buChar char=""/>
            </a:pP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  <a:tab pos="355600" algn="l"/>
                <a:tab pos="1922145" algn="l"/>
              </a:tabLst>
            </a:pPr>
            <a:r>
              <a:rPr sz="2000" b="1" spc="-25" dirty="0">
                <a:solidFill>
                  <a:srgbClr val="EE52A4"/>
                </a:solidFill>
                <a:latin typeface="Tahoma"/>
                <a:cs typeface="Tahoma"/>
              </a:rPr>
              <a:t>Chapitre</a:t>
            </a:r>
            <a:r>
              <a:rPr sz="2000" b="1" spc="-15" dirty="0">
                <a:solidFill>
                  <a:srgbClr val="EE52A4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EE52A4"/>
                </a:solidFill>
                <a:latin typeface="Tahoma"/>
                <a:cs typeface="Tahoma"/>
              </a:rPr>
              <a:t>5</a:t>
            </a:r>
            <a:r>
              <a:rPr sz="2000" b="1" spc="-25" dirty="0">
                <a:solidFill>
                  <a:srgbClr val="EE52A4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EE52A4"/>
                </a:solidFill>
                <a:latin typeface="Tahoma"/>
                <a:cs typeface="Tahoma"/>
              </a:rPr>
              <a:t>:	</a:t>
            </a:r>
            <a:r>
              <a:rPr sz="2000" b="1" i="1" spc="-250" dirty="0">
                <a:solidFill>
                  <a:srgbClr val="7D2812"/>
                </a:solidFill>
                <a:latin typeface="Verdana"/>
                <a:cs typeface="Verdana"/>
              </a:rPr>
              <a:t>Les</a:t>
            </a:r>
            <a:r>
              <a:rPr sz="2000" b="1" i="1" spc="-14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25" dirty="0">
                <a:solidFill>
                  <a:srgbClr val="7D2812"/>
                </a:solidFill>
                <a:latin typeface="Verdana"/>
                <a:cs typeface="Verdana"/>
              </a:rPr>
              <a:t>langages </a:t>
            </a:r>
            <a:r>
              <a:rPr sz="2000" b="1" i="1" spc="-65" dirty="0">
                <a:solidFill>
                  <a:srgbClr val="7D2812"/>
                </a:solidFill>
                <a:latin typeface="Verdana"/>
                <a:cs typeface="Verdana"/>
              </a:rPr>
              <a:t>de</a:t>
            </a:r>
            <a:r>
              <a:rPr sz="2000" b="1" i="1" spc="-12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80" dirty="0">
                <a:solidFill>
                  <a:srgbClr val="7D2812"/>
                </a:solidFill>
                <a:latin typeface="Verdana"/>
                <a:cs typeface="Verdana"/>
              </a:rPr>
              <a:t>programmation</a:t>
            </a:r>
            <a:r>
              <a:rPr sz="2000" b="1" i="1" spc="-14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40" dirty="0">
                <a:solidFill>
                  <a:srgbClr val="7D2812"/>
                </a:solidFill>
                <a:latin typeface="Verdana"/>
                <a:cs typeface="Verdana"/>
              </a:rPr>
              <a:t>avec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20" dirty="0">
                <a:solidFill>
                  <a:srgbClr val="7D2812"/>
                </a:solidFill>
                <a:latin typeface="Verdana"/>
                <a:cs typeface="Verdana"/>
              </a:rPr>
              <a:t>XML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80" dirty="0">
                <a:solidFill>
                  <a:srgbClr val="7D2812"/>
                </a:solidFill>
                <a:latin typeface="Verdana"/>
                <a:cs typeface="Verdana"/>
              </a:rPr>
              <a:t>:PHP,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05" dirty="0">
                <a:solidFill>
                  <a:srgbClr val="7D2812"/>
                </a:solidFill>
                <a:latin typeface="Verdana"/>
                <a:cs typeface="Verdana"/>
              </a:rPr>
              <a:t>JAVA</a:t>
            </a:r>
            <a:r>
              <a:rPr sz="2000" b="1" i="1" spc="-14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40" dirty="0">
                <a:solidFill>
                  <a:srgbClr val="7D2812"/>
                </a:solidFill>
                <a:latin typeface="Verdana"/>
                <a:cs typeface="Verdana"/>
              </a:rPr>
              <a:t>avec</a:t>
            </a:r>
            <a:r>
              <a:rPr sz="2000" b="1" i="1" spc="-12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140" dirty="0">
                <a:solidFill>
                  <a:srgbClr val="7D2812"/>
                </a:solidFill>
                <a:latin typeface="Verdana"/>
                <a:cs typeface="Verdana"/>
              </a:rPr>
              <a:t>DOM,</a:t>
            </a:r>
            <a:r>
              <a:rPr sz="2000" b="1" i="1" spc="-135" dirty="0">
                <a:solidFill>
                  <a:srgbClr val="7D2812"/>
                </a:solidFill>
                <a:latin typeface="Verdana"/>
                <a:cs typeface="Verdana"/>
              </a:rPr>
              <a:t> </a:t>
            </a:r>
            <a:r>
              <a:rPr sz="2000" b="1" i="1" spc="-200" dirty="0">
                <a:solidFill>
                  <a:srgbClr val="7D2812"/>
                </a:solidFill>
                <a:latin typeface="Verdana"/>
                <a:cs typeface="Verdana"/>
              </a:rPr>
              <a:t>SAX,</a:t>
            </a:r>
            <a:r>
              <a:rPr sz="2000" b="1" i="1" spc="-130" dirty="0">
                <a:solidFill>
                  <a:srgbClr val="7D2812"/>
                </a:solidFill>
                <a:latin typeface="Verdana"/>
                <a:cs typeface="Verdana"/>
              </a:rPr>
              <a:t> ….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sz="2000" b="1" i="1" u="heavy" spc="-2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M</a:t>
            </a:r>
            <a:r>
              <a:rPr sz="2000" b="1" i="1" u="heavy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i</a:t>
            </a:r>
            <a:r>
              <a:rPr sz="2000" b="1" i="1" u="heavy" spc="-229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n</a:t>
            </a:r>
            <a:r>
              <a:rPr sz="2000" b="1" i="1" u="heavy" spc="-20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i</a:t>
            </a:r>
            <a:r>
              <a:rPr sz="2000" b="1" i="1" u="heavy" spc="-1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 </a:t>
            </a:r>
            <a:r>
              <a:rPr sz="2000" b="1" i="1" u="heavy" spc="-25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p</a:t>
            </a:r>
            <a:r>
              <a:rPr sz="2000" b="1" i="1" u="heavy" spc="-1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r</a:t>
            </a:r>
            <a:r>
              <a:rPr sz="2000" b="1" i="1" u="heavy" spc="-1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oje</a:t>
            </a:r>
            <a:r>
              <a:rPr sz="2000" b="1" i="1" u="heavy" spc="-3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t</a:t>
            </a:r>
            <a:r>
              <a:rPr sz="2000" b="1" i="1" u="heavy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Verdana"/>
                <a:cs typeface="Verdana"/>
              </a:rPr>
              <a:t> </a:t>
            </a:r>
            <a:r>
              <a:rPr sz="2000" b="1" i="1" spc="-245" dirty="0">
                <a:solidFill>
                  <a:srgbClr val="006FC0"/>
                </a:solidFill>
                <a:latin typeface="Verdana"/>
                <a:cs typeface="Verdana"/>
              </a:rPr>
              <a:t>:</a:t>
            </a:r>
            <a:r>
              <a:rPr sz="2000" b="1" i="1" spc="-13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i="1" spc="-254" dirty="0">
                <a:solidFill>
                  <a:srgbClr val="006FC0"/>
                </a:solidFill>
                <a:latin typeface="Verdana"/>
                <a:cs typeface="Verdana"/>
              </a:rPr>
              <a:t>p</a:t>
            </a:r>
            <a:r>
              <a:rPr sz="2000" b="1" i="1" spc="-195" dirty="0">
                <a:solidFill>
                  <a:srgbClr val="006FC0"/>
                </a:solidFill>
                <a:latin typeface="Verdana"/>
                <a:cs typeface="Verdana"/>
              </a:rPr>
              <a:t>rog</a:t>
            </a:r>
            <a:r>
              <a:rPr sz="2000" b="1" i="1" spc="-155" dirty="0">
                <a:solidFill>
                  <a:srgbClr val="006FC0"/>
                </a:solidFill>
                <a:latin typeface="Verdana"/>
                <a:cs typeface="Verdana"/>
              </a:rPr>
              <a:t>r</a:t>
            </a:r>
            <a:r>
              <a:rPr sz="2000" b="1" i="1" spc="-100" dirty="0">
                <a:solidFill>
                  <a:srgbClr val="006FC0"/>
                </a:solidFill>
                <a:latin typeface="Verdana"/>
                <a:cs typeface="Verdana"/>
              </a:rPr>
              <a:t>a</a:t>
            </a:r>
            <a:r>
              <a:rPr sz="2000" b="1" i="1" spc="-160" dirty="0">
                <a:solidFill>
                  <a:srgbClr val="006FC0"/>
                </a:solidFill>
                <a:latin typeface="Verdana"/>
                <a:cs typeface="Verdana"/>
              </a:rPr>
              <a:t>m</a:t>
            </a:r>
            <a:r>
              <a:rPr sz="2000" b="1" i="1" spc="-150" dirty="0">
                <a:solidFill>
                  <a:srgbClr val="006FC0"/>
                </a:solidFill>
                <a:latin typeface="Verdana"/>
                <a:cs typeface="Verdana"/>
              </a:rPr>
              <a:t>m</a:t>
            </a:r>
            <a:r>
              <a:rPr sz="2000" b="1" i="1" spc="-105" dirty="0">
                <a:solidFill>
                  <a:srgbClr val="006FC0"/>
                </a:solidFill>
                <a:latin typeface="Verdana"/>
                <a:cs typeface="Verdana"/>
              </a:rPr>
              <a:t>a</a:t>
            </a:r>
            <a:r>
              <a:rPr sz="2000" b="1" i="1" spc="-204" dirty="0">
                <a:solidFill>
                  <a:srgbClr val="006FC0"/>
                </a:solidFill>
                <a:latin typeface="Verdana"/>
                <a:cs typeface="Verdana"/>
              </a:rPr>
              <a:t>tion</a:t>
            </a:r>
            <a:r>
              <a:rPr sz="2000" b="1" i="1" spc="-14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i="1" spc="-240" dirty="0">
                <a:solidFill>
                  <a:srgbClr val="006FC0"/>
                </a:solidFill>
                <a:latin typeface="Verdana"/>
                <a:cs typeface="Verdana"/>
              </a:rPr>
              <a:t>XM</a:t>
            </a:r>
            <a:r>
              <a:rPr sz="2000" b="1" i="1" spc="-185" dirty="0">
                <a:solidFill>
                  <a:srgbClr val="006FC0"/>
                </a:solidFill>
                <a:latin typeface="Verdana"/>
                <a:cs typeface="Verdana"/>
              </a:rPr>
              <a:t>L</a:t>
            </a:r>
            <a:r>
              <a:rPr sz="2000" b="1" i="1" spc="-165" dirty="0">
                <a:solidFill>
                  <a:srgbClr val="006FC0"/>
                </a:solidFill>
                <a:latin typeface="Verdana"/>
                <a:cs typeface="Verdana"/>
              </a:rPr>
              <a:t>,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83" y="813816"/>
            <a:ext cx="3281934" cy="12291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3932" y="968451"/>
            <a:ext cx="2429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spc="-105" dirty="0"/>
              <a:t>Objectifs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4213859"/>
            <a:ext cx="12192000" cy="1901189"/>
            <a:chOff x="0" y="4213859"/>
            <a:chExt cx="12192000" cy="190118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7423" y="4213859"/>
              <a:ext cx="1799081" cy="6774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3407" y="4213859"/>
              <a:ext cx="509777" cy="6774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00088" y="4213859"/>
              <a:ext cx="5391911" cy="6774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840" y="4762499"/>
              <a:ext cx="4708398" cy="6774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9140" y="4762499"/>
              <a:ext cx="509777" cy="6774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55820" y="4762499"/>
              <a:ext cx="4933950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5541263"/>
              <a:ext cx="450342" cy="51128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840" y="5437631"/>
              <a:ext cx="2832354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73095" y="5437631"/>
              <a:ext cx="5324094" cy="6774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94092" y="5437631"/>
              <a:ext cx="707898" cy="677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98892" y="5437631"/>
              <a:ext cx="677418" cy="67741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8739" y="2326004"/>
            <a:ext cx="11943080" cy="358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solidFill>
                  <a:srgbClr val="404040"/>
                </a:solidFill>
                <a:latin typeface="Verdana"/>
                <a:cs typeface="Verdana"/>
              </a:rPr>
              <a:t>Cette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matière</a:t>
            </a:r>
            <a:r>
              <a:rPr sz="24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Verdana"/>
                <a:cs typeface="Verdana"/>
              </a:rPr>
              <a:t>va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404040"/>
                </a:solidFill>
                <a:latin typeface="Verdana"/>
                <a:cs typeface="Verdana"/>
              </a:rPr>
              <a:t>permettre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aux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étudiants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30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endParaRPr sz="2400" dirty="0">
              <a:latin typeface="Verdana"/>
              <a:cs typeface="Verdana"/>
            </a:endParaRPr>
          </a:p>
          <a:p>
            <a:pPr marL="355600" marR="935990" indent="-342900">
              <a:lnSpc>
                <a:spcPct val="150000"/>
              </a:lnSpc>
              <a:spcBef>
                <a:spcPts val="1535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Faire</a:t>
            </a:r>
            <a:r>
              <a:rPr sz="24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Verdana"/>
                <a:cs typeface="Verdana"/>
              </a:rPr>
              <a:t>différence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entre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Verdana"/>
                <a:cs typeface="Verdana"/>
              </a:rPr>
              <a:t>données</a:t>
            </a:r>
            <a:r>
              <a:rPr sz="24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spc="-105" dirty="0">
                <a:solidFill>
                  <a:srgbClr val="006FC0"/>
                </a:solidFill>
                <a:latin typeface="Tahoma"/>
                <a:cs typeface="Tahoma"/>
              </a:rPr>
              <a:t>structurées/semi-structurées</a:t>
            </a:r>
            <a:r>
              <a:rPr sz="2400" b="1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b="1" spc="-55" dirty="0">
                <a:solidFill>
                  <a:srgbClr val="006FC0"/>
                </a:solidFill>
                <a:latin typeface="Tahoma"/>
                <a:cs typeface="Tahoma"/>
              </a:rPr>
              <a:t>non </a:t>
            </a:r>
            <a:r>
              <a:rPr sz="2400" b="1" spc="-6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b="1" spc="-110" dirty="0">
                <a:solidFill>
                  <a:srgbClr val="006FC0"/>
                </a:solidFill>
                <a:latin typeface="Tahoma"/>
                <a:cs typeface="Tahoma"/>
              </a:rPr>
              <a:t>structurées</a:t>
            </a:r>
            <a:r>
              <a:rPr sz="2400" b="1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(introduction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404040"/>
                </a:solidFill>
                <a:latin typeface="Verdana"/>
                <a:cs typeface="Verdana"/>
              </a:rPr>
              <a:t>BIG </a:t>
            </a:r>
            <a:r>
              <a:rPr sz="2400" spc="-70" dirty="0">
                <a:solidFill>
                  <a:srgbClr val="404040"/>
                </a:solidFill>
                <a:latin typeface="Verdana"/>
                <a:cs typeface="Verdana"/>
              </a:rPr>
              <a:t>DATA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…).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50000"/>
              </a:lnSpc>
              <a:spcBef>
                <a:spcPts val="1010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Avoir</a:t>
            </a:r>
            <a:r>
              <a:rPr sz="24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Verdana"/>
                <a:cs typeface="Verdana"/>
              </a:rPr>
              <a:t>connaissances</a:t>
            </a:r>
            <a:r>
              <a:rPr sz="24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80" dirty="0" err="1">
                <a:solidFill>
                  <a:srgbClr val="404040"/>
                </a:solidFill>
                <a:latin typeface="Verdana"/>
                <a:cs typeface="Verdana"/>
              </a:rPr>
              <a:t>liées</a:t>
            </a:r>
            <a:r>
              <a:rPr sz="24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Verdana"/>
                <a:cs typeface="Verdana"/>
              </a:rPr>
              <a:t>aux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641BEB"/>
                </a:solidFill>
                <a:latin typeface="Verdana"/>
                <a:cs typeface="Verdana"/>
              </a:rPr>
              <a:t>formats</a:t>
            </a:r>
            <a:r>
              <a:rPr sz="2400" spc="-17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75" dirty="0">
                <a:solidFill>
                  <a:srgbClr val="641BEB"/>
                </a:solidFill>
                <a:latin typeface="Verdana"/>
                <a:cs typeface="Verdana"/>
              </a:rPr>
              <a:t>d’échanges</a:t>
            </a:r>
            <a:r>
              <a:rPr sz="2400" spc="-17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641BEB"/>
                </a:solidFill>
                <a:latin typeface="Verdana"/>
                <a:cs typeface="Verdana"/>
              </a:rPr>
              <a:t>et</a:t>
            </a:r>
            <a:r>
              <a:rPr sz="2400" spc="-17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641BEB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641BEB"/>
                </a:solidFill>
                <a:latin typeface="Verdana"/>
                <a:cs typeface="Verdana"/>
              </a:rPr>
              <a:t>transportation</a:t>
            </a:r>
            <a:r>
              <a:rPr sz="2400" spc="-21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641BEB"/>
                </a:solidFill>
                <a:latin typeface="Verdana"/>
                <a:cs typeface="Verdana"/>
              </a:rPr>
              <a:t>de </a:t>
            </a:r>
            <a:r>
              <a:rPr sz="2400" spc="-83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641BEB"/>
                </a:solidFill>
                <a:latin typeface="Verdana"/>
                <a:cs typeface="Verdana"/>
              </a:rPr>
              <a:t>données</a:t>
            </a:r>
            <a:r>
              <a:rPr sz="2400" spc="-17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641BEB"/>
                </a:solidFill>
                <a:latin typeface="Verdana"/>
                <a:cs typeface="Verdana"/>
              </a:rPr>
              <a:t>entre</a:t>
            </a:r>
            <a:r>
              <a:rPr sz="2400" spc="-17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641BEB"/>
                </a:solidFill>
                <a:latin typeface="Verdana"/>
                <a:cs typeface="Verdana"/>
              </a:rPr>
              <a:t>les</a:t>
            </a:r>
            <a:r>
              <a:rPr sz="2400" spc="-18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641BEB"/>
                </a:solidFill>
                <a:latin typeface="Verdana"/>
                <a:cs typeface="Verdana"/>
              </a:rPr>
              <a:t>systèmes</a:t>
            </a:r>
            <a:r>
              <a:rPr sz="2400" spc="-16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641BEB"/>
                </a:solidFill>
                <a:latin typeface="Verdana"/>
                <a:cs typeface="Verdana"/>
              </a:rPr>
              <a:t>d’informations</a:t>
            </a:r>
            <a:r>
              <a:rPr sz="2400" spc="-21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641BEB"/>
                </a:solidFill>
                <a:latin typeface="Verdana"/>
                <a:cs typeface="Verdana"/>
              </a:rPr>
              <a:t>(XML,</a:t>
            </a:r>
            <a:r>
              <a:rPr sz="2400" spc="-20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641BEB"/>
                </a:solidFill>
                <a:latin typeface="Verdana"/>
                <a:cs typeface="Verdana"/>
              </a:rPr>
              <a:t>JSON,</a:t>
            </a:r>
            <a:r>
              <a:rPr sz="2400" spc="-16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641BEB"/>
                </a:solidFill>
                <a:latin typeface="Verdana"/>
                <a:cs typeface="Verdana"/>
              </a:rPr>
              <a:t>CSV).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440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400" spc="-120" dirty="0">
                <a:solidFill>
                  <a:srgbClr val="001F5F"/>
                </a:solidFill>
                <a:latin typeface="Verdana"/>
                <a:cs typeface="Verdana"/>
              </a:rPr>
              <a:t>Savoir</a:t>
            </a:r>
            <a:r>
              <a:rPr sz="2400" spc="-225" dirty="0">
                <a:solidFill>
                  <a:srgbClr val="001F5F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001F5F"/>
                </a:solidFill>
                <a:latin typeface="Verdana"/>
                <a:cs typeface="Verdana"/>
              </a:rPr>
              <a:t>utilisez</a:t>
            </a:r>
            <a:r>
              <a:rPr sz="2400" spc="-200" dirty="0">
                <a:solidFill>
                  <a:srgbClr val="001F5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001F5F"/>
                </a:solidFill>
                <a:latin typeface="Verdana"/>
                <a:cs typeface="Verdana"/>
              </a:rPr>
              <a:t>les</a:t>
            </a:r>
            <a:r>
              <a:rPr sz="2400" spc="-155" dirty="0">
                <a:solidFill>
                  <a:srgbClr val="001F5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7D1233"/>
                </a:solidFill>
                <a:latin typeface="Verdana"/>
                <a:cs typeface="Verdana"/>
              </a:rPr>
              <a:t>technologies</a:t>
            </a:r>
            <a:r>
              <a:rPr sz="2400" spc="-210" dirty="0">
                <a:solidFill>
                  <a:srgbClr val="7D1233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7D1233"/>
                </a:solidFill>
                <a:latin typeface="Verdana"/>
                <a:cs typeface="Verdana"/>
              </a:rPr>
              <a:t>XML</a:t>
            </a:r>
            <a:r>
              <a:rPr sz="2400" spc="-175" dirty="0">
                <a:solidFill>
                  <a:srgbClr val="7D1233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7D1233"/>
                </a:solidFill>
                <a:latin typeface="Verdana"/>
                <a:cs typeface="Verdana"/>
              </a:rPr>
              <a:t>(XPath,</a:t>
            </a:r>
            <a:r>
              <a:rPr sz="2400" spc="-185" dirty="0">
                <a:solidFill>
                  <a:srgbClr val="7D1233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7D1233"/>
                </a:solidFill>
                <a:latin typeface="Verdana"/>
                <a:cs typeface="Verdana"/>
              </a:rPr>
              <a:t>XQuery….).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9" y="391668"/>
              <a:ext cx="3269741" cy="1229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7835" y="391668"/>
              <a:ext cx="1189482" cy="122910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96892" y="543559"/>
            <a:ext cx="2879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u="none" spc="-15" dirty="0">
                <a:latin typeface="Verdana"/>
                <a:cs typeface="Verdana"/>
              </a:rPr>
              <a:t>Chapit</a:t>
            </a:r>
            <a:r>
              <a:rPr sz="4400" b="0" u="none" spc="-30" dirty="0">
                <a:latin typeface="Verdana"/>
                <a:cs typeface="Verdana"/>
              </a:rPr>
              <a:t>r</a:t>
            </a:r>
            <a:r>
              <a:rPr sz="4400" b="0" u="none" spc="240" dirty="0">
                <a:latin typeface="Verdana"/>
                <a:cs typeface="Verdana"/>
              </a:rPr>
              <a:t>e</a:t>
            </a:r>
            <a:r>
              <a:rPr sz="4400" b="0" u="none" spc="-340" dirty="0">
                <a:latin typeface="Verdana"/>
                <a:cs typeface="Verdana"/>
              </a:rPr>
              <a:t> </a:t>
            </a:r>
            <a:r>
              <a:rPr sz="4400" b="0" u="none" spc="-360" dirty="0">
                <a:latin typeface="Verdana"/>
                <a:cs typeface="Verdana"/>
              </a:rPr>
              <a:t>1</a:t>
            </a:r>
            <a:endParaRPr sz="4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4807" y="1062227"/>
            <a:ext cx="5798058" cy="122910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87420" y="1214374"/>
            <a:ext cx="50971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00" dirty="0">
                <a:solidFill>
                  <a:srgbClr val="FFC000"/>
                </a:solidFill>
                <a:latin typeface="Verdana"/>
                <a:cs typeface="Verdana"/>
              </a:rPr>
              <a:t>Concepts</a:t>
            </a:r>
            <a:r>
              <a:rPr sz="4400" spc="-35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4400" spc="245" dirty="0">
                <a:solidFill>
                  <a:srgbClr val="FFC000"/>
                </a:solidFill>
                <a:latin typeface="Verdana"/>
                <a:cs typeface="Verdana"/>
              </a:rPr>
              <a:t>de</a:t>
            </a:r>
            <a:r>
              <a:rPr sz="4400" spc="-35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4400" spc="65" dirty="0">
                <a:solidFill>
                  <a:srgbClr val="FFC000"/>
                </a:solidFill>
                <a:latin typeface="Verdana"/>
                <a:cs typeface="Verdana"/>
              </a:rPr>
              <a:t>base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2497073"/>
            <a:ext cx="9065260" cy="2753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1" spc="-155" dirty="0">
                <a:solidFill>
                  <a:srgbClr val="404040"/>
                </a:solidFill>
                <a:latin typeface="Tahoma"/>
                <a:cs typeface="Tahoma"/>
              </a:rPr>
              <a:t>Les</a:t>
            </a:r>
            <a:r>
              <a:rPr sz="2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ahoma"/>
                <a:cs typeface="Tahoma"/>
              </a:rPr>
              <a:t>données</a:t>
            </a:r>
            <a:r>
              <a:rPr sz="28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105" dirty="0">
                <a:solidFill>
                  <a:srgbClr val="404040"/>
                </a:solidFill>
                <a:latin typeface="Tahoma"/>
                <a:cs typeface="Tahoma"/>
              </a:rPr>
              <a:t>informatiques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67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1" spc="-75" dirty="0">
                <a:solidFill>
                  <a:srgbClr val="404040"/>
                </a:solidFill>
                <a:latin typeface="Tahoma"/>
                <a:cs typeface="Tahoma"/>
              </a:rPr>
              <a:t>Problèmes</a:t>
            </a:r>
            <a:r>
              <a:rPr sz="2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105" dirty="0">
                <a:solidFill>
                  <a:srgbClr val="404040"/>
                </a:solidFill>
                <a:latin typeface="Tahoma"/>
                <a:cs typeface="Tahoma"/>
              </a:rPr>
              <a:t>et</a:t>
            </a:r>
            <a:r>
              <a:rPr sz="2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30" dirty="0">
                <a:solidFill>
                  <a:srgbClr val="404040"/>
                </a:solidFill>
                <a:latin typeface="Tahoma"/>
                <a:cs typeface="Tahoma"/>
              </a:rPr>
              <a:t>nouveaux</a:t>
            </a:r>
            <a:r>
              <a:rPr sz="28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90" dirty="0">
                <a:solidFill>
                  <a:srgbClr val="404040"/>
                </a:solidFill>
                <a:latin typeface="Tahoma"/>
                <a:cs typeface="Tahoma"/>
              </a:rPr>
              <a:t>besoins</a:t>
            </a:r>
            <a:r>
              <a:rPr sz="2800" spc="-9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69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1" spc="-60" dirty="0">
                <a:solidFill>
                  <a:srgbClr val="404040"/>
                </a:solidFill>
                <a:latin typeface="Tahoma"/>
                <a:cs typeface="Tahoma"/>
              </a:rPr>
              <a:t>Documents</a:t>
            </a:r>
            <a:r>
              <a:rPr sz="2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140" dirty="0">
                <a:solidFill>
                  <a:srgbClr val="404040"/>
                </a:solidFill>
                <a:latin typeface="Tahoma"/>
                <a:cs typeface="Tahoma"/>
              </a:rPr>
              <a:t>structuré,</a:t>
            </a:r>
            <a:r>
              <a:rPr sz="2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114" dirty="0">
                <a:solidFill>
                  <a:srgbClr val="404040"/>
                </a:solidFill>
                <a:latin typeface="Tahoma"/>
                <a:cs typeface="Tahoma"/>
              </a:rPr>
              <a:t>semi-structuré,</a:t>
            </a:r>
            <a:r>
              <a:rPr sz="2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60" dirty="0">
                <a:solidFill>
                  <a:srgbClr val="404040"/>
                </a:solidFill>
                <a:latin typeface="Tahoma"/>
                <a:cs typeface="Tahoma"/>
              </a:rPr>
              <a:t>non</a:t>
            </a:r>
            <a:r>
              <a:rPr sz="2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155" dirty="0">
                <a:solidFill>
                  <a:srgbClr val="404040"/>
                </a:solidFill>
                <a:latin typeface="Tahoma"/>
                <a:cs typeface="Tahoma"/>
              </a:rPr>
              <a:t>structuré</a:t>
            </a:r>
            <a:r>
              <a:rPr sz="2800" spc="-155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67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1" spc="-130" dirty="0">
                <a:solidFill>
                  <a:srgbClr val="404040"/>
                </a:solidFill>
                <a:latin typeface="Tahoma"/>
                <a:cs typeface="Tahoma"/>
              </a:rPr>
              <a:t>Introduction</a:t>
            </a:r>
            <a:r>
              <a:rPr sz="2800" b="1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-130" dirty="0">
                <a:solidFill>
                  <a:srgbClr val="404040"/>
                </a:solidFill>
                <a:latin typeface="Tahoma"/>
                <a:cs typeface="Tahoma"/>
              </a:rPr>
              <a:t>XML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464311"/>
            <a:ext cx="84740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u="none" spc="-130" dirty="0"/>
              <a:t>Explosion</a:t>
            </a:r>
            <a:r>
              <a:rPr u="none" spc="-55" dirty="0"/>
              <a:t> </a:t>
            </a:r>
            <a:r>
              <a:rPr u="none" spc="135" dirty="0"/>
              <a:t>de</a:t>
            </a:r>
            <a:r>
              <a:rPr u="none" spc="-55" dirty="0"/>
              <a:t> </a:t>
            </a:r>
            <a:r>
              <a:rPr u="none" spc="-10" dirty="0"/>
              <a:t>données</a:t>
            </a:r>
            <a:r>
              <a:rPr u="none" spc="-55" dirty="0"/>
              <a:t> </a:t>
            </a:r>
            <a:r>
              <a:rPr u="none" spc="-40" dirty="0"/>
              <a:t>manipulées</a:t>
            </a:r>
            <a:r>
              <a:rPr u="none" spc="-55" dirty="0"/>
              <a:t> </a:t>
            </a:r>
            <a:r>
              <a:rPr u="none" spc="-35" dirty="0"/>
              <a:t>par </a:t>
            </a:r>
            <a:r>
              <a:rPr u="none" spc="-1040" dirty="0"/>
              <a:t> </a:t>
            </a:r>
            <a:r>
              <a:rPr u="none" spc="-110" dirty="0"/>
              <a:t>les</a:t>
            </a:r>
            <a:r>
              <a:rPr u="none" spc="-45" dirty="0"/>
              <a:t> </a:t>
            </a:r>
            <a:r>
              <a:rPr u="none" spc="-655" dirty="0"/>
              <a:t>S</a:t>
            </a:r>
            <a:r>
              <a:rPr u="none" spc="-495" dirty="0"/>
              <a:t>I</a:t>
            </a:r>
            <a:r>
              <a:rPr u="none" spc="-50" dirty="0"/>
              <a:t> </a:t>
            </a:r>
            <a:r>
              <a:rPr u="none" spc="-300" dirty="0"/>
              <a:t>:</a:t>
            </a:r>
            <a:r>
              <a:rPr u="none" spc="-35" dirty="0"/>
              <a:t> </a:t>
            </a:r>
            <a:r>
              <a:rPr u="none" spc="-50" dirty="0"/>
              <a:t>type,</a:t>
            </a:r>
            <a:r>
              <a:rPr u="none" spc="-45" dirty="0"/>
              <a:t> </a:t>
            </a:r>
            <a:r>
              <a:rPr u="none" spc="-90" dirty="0"/>
              <a:t>vol</a:t>
            </a:r>
            <a:r>
              <a:rPr u="none" spc="-120" dirty="0"/>
              <a:t>u</a:t>
            </a:r>
            <a:r>
              <a:rPr u="none" dirty="0"/>
              <a:t>me,</a:t>
            </a:r>
            <a:r>
              <a:rPr u="none" spc="-60" dirty="0"/>
              <a:t> </a:t>
            </a:r>
            <a:r>
              <a:rPr u="none" spc="-180" dirty="0">
                <a:latin typeface="Verdana"/>
                <a:cs typeface="Verdana"/>
              </a:rPr>
              <a:t>…</a:t>
            </a:r>
            <a:r>
              <a:rPr u="none" spc="-120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244622"/>
            <a:ext cx="12036425" cy="424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2900">
              <a:lnSpc>
                <a:spcPct val="150000"/>
              </a:lnSpc>
              <a:spcBef>
                <a:spcPts val="10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  <a:tab pos="1191895" algn="l"/>
                <a:tab pos="2988945" algn="l"/>
                <a:tab pos="4274185" algn="l"/>
                <a:tab pos="4645660" algn="l"/>
                <a:tab pos="6540500" algn="l"/>
                <a:tab pos="6933565" algn="l"/>
                <a:tab pos="7673340" algn="l"/>
                <a:tab pos="9812655" algn="l"/>
                <a:tab pos="10550525" algn="l"/>
              </a:tabLst>
            </a:pPr>
            <a:r>
              <a:rPr sz="2800" b="1" spc="-155" dirty="0">
                <a:solidFill>
                  <a:srgbClr val="641BEB"/>
                </a:solidFill>
                <a:latin typeface="Tahoma"/>
                <a:cs typeface="Tahoma"/>
              </a:rPr>
              <a:t>Les</a:t>
            </a:r>
            <a:r>
              <a:rPr sz="2800" b="1" dirty="0">
                <a:solidFill>
                  <a:srgbClr val="641BEB"/>
                </a:solidFill>
                <a:latin typeface="Tahoma"/>
                <a:cs typeface="Tahoma"/>
              </a:rPr>
              <a:t>	</a:t>
            </a:r>
            <a:r>
              <a:rPr sz="2800" b="1" spc="5" dirty="0">
                <a:solidFill>
                  <a:srgbClr val="641BEB"/>
                </a:solidFill>
                <a:latin typeface="Tahoma"/>
                <a:cs typeface="Tahoma"/>
              </a:rPr>
              <a:t>do</a:t>
            </a:r>
            <a:r>
              <a:rPr sz="2800" b="1" spc="20" dirty="0">
                <a:solidFill>
                  <a:srgbClr val="641BEB"/>
                </a:solidFill>
                <a:latin typeface="Tahoma"/>
                <a:cs typeface="Tahoma"/>
              </a:rPr>
              <a:t>n</a:t>
            </a:r>
            <a:r>
              <a:rPr sz="2800" b="1" spc="-25" dirty="0">
                <a:solidFill>
                  <a:srgbClr val="641BEB"/>
                </a:solidFill>
                <a:latin typeface="Tahoma"/>
                <a:cs typeface="Tahoma"/>
              </a:rPr>
              <a:t>née</a:t>
            </a:r>
            <a:r>
              <a:rPr sz="2800" b="1" spc="-20" dirty="0">
                <a:solidFill>
                  <a:srgbClr val="641BEB"/>
                </a:solidFill>
                <a:latin typeface="Tahoma"/>
                <a:cs typeface="Tahoma"/>
              </a:rPr>
              <a:t>s</a:t>
            </a:r>
            <a:r>
              <a:rPr sz="2800" b="1" dirty="0">
                <a:solidFill>
                  <a:srgbClr val="641BEB"/>
                </a:solidFill>
                <a:latin typeface="Tahoma"/>
                <a:cs typeface="Tahoma"/>
              </a:rPr>
              <a:t>	</a:t>
            </a:r>
            <a:r>
              <a:rPr sz="2800" b="1" spc="85" dirty="0">
                <a:solidFill>
                  <a:srgbClr val="641BEB"/>
                </a:solidFill>
                <a:latin typeface="Tahoma"/>
                <a:cs typeface="Tahoma"/>
              </a:rPr>
              <a:t>d</a:t>
            </a:r>
            <a:r>
              <a:rPr sz="2800" b="1" spc="-145" dirty="0">
                <a:solidFill>
                  <a:srgbClr val="641BEB"/>
                </a:solidFill>
                <a:latin typeface="Verdana"/>
                <a:cs typeface="Verdana"/>
              </a:rPr>
              <a:t>’</a:t>
            </a:r>
            <a:r>
              <a:rPr sz="2800" b="1" spc="-35" dirty="0">
                <a:solidFill>
                  <a:srgbClr val="641BEB"/>
                </a:solidFill>
                <a:latin typeface="Tahoma"/>
                <a:cs typeface="Tahoma"/>
              </a:rPr>
              <a:t>une</a:t>
            </a:r>
            <a:r>
              <a:rPr sz="2800" b="1" dirty="0">
                <a:solidFill>
                  <a:srgbClr val="641BEB"/>
                </a:solidFill>
                <a:latin typeface="Tahoma"/>
                <a:cs typeface="Tahoma"/>
              </a:rPr>
              <a:t>	</a:t>
            </a:r>
            <a:r>
              <a:rPr sz="2800" b="1" spc="40" dirty="0">
                <a:solidFill>
                  <a:srgbClr val="641BEB"/>
                </a:solidFill>
                <a:latin typeface="Tahoma"/>
                <a:cs typeface="Tahoma"/>
              </a:rPr>
              <a:t>app</a:t>
            </a:r>
            <a:r>
              <a:rPr sz="2800" b="1" spc="25" dirty="0">
                <a:solidFill>
                  <a:srgbClr val="641BEB"/>
                </a:solidFill>
                <a:latin typeface="Tahoma"/>
                <a:cs typeface="Tahoma"/>
              </a:rPr>
              <a:t>l</a:t>
            </a:r>
            <a:r>
              <a:rPr sz="2800" b="1" spc="-35" dirty="0">
                <a:solidFill>
                  <a:srgbClr val="641BEB"/>
                </a:solidFill>
                <a:latin typeface="Tahoma"/>
                <a:cs typeface="Tahoma"/>
              </a:rPr>
              <a:t>ication</a:t>
            </a:r>
            <a:r>
              <a:rPr sz="2800" b="1" dirty="0">
                <a:solidFill>
                  <a:srgbClr val="641BEB"/>
                </a:solidFill>
                <a:latin typeface="Tahoma"/>
                <a:cs typeface="Tahoma"/>
              </a:rPr>
              <a:t>	</a:t>
            </a:r>
            <a:r>
              <a:rPr sz="2800" spc="-500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800" spc="-200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800" spc="-114" dirty="0">
                <a:solidFill>
                  <a:srgbClr val="404040"/>
                </a:solidFill>
                <a:latin typeface="Verdana"/>
                <a:cs typeface="Verdana"/>
              </a:rPr>
              <a:t>es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800" spc="-175" dirty="0">
                <a:solidFill>
                  <a:srgbClr val="404040"/>
                </a:solidFill>
                <a:latin typeface="Verdana"/>
                <a:cs typeface="Verdana"/>
              </a:rPr>
              <a:t>ut</a:t>
            </a:r>
            <a:r>
              <a:rPr sz="2800" spc="-8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21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800" spc="-204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45" dirty="0">
                <a:solidFill>
                  <a:srgbClr val="404040"/>
                </a:solidFill>
                <a:latin typeface="Verdana"/>
                <a:cs typeface="Verdana"/>
              </a:rPr>
              <a:t>sat</a:t>
            </a:r>
            <a:r>
              <a:rPr sz="2800" spc="-6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2800" spc="-265" dirty="0">
                <a:solidFill>
                  <a:srgbClr val="404040"/>
                </a:solidFill>
                <a:latin typeface="Verdana"/>
                <a:cs typeface="Verdana"/>
              </a:rPr>
              <a:t>urs,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800" spc="-14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800" spc="-165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pro</a:t>
            </a:r>
            <a:r>
              <a:rPr sz="2800" spc="3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2800" spc="-200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800" spc="-8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240" dirty="0">
                <a:solidFill>
                  <a:srgbClr val="404040"/>
                </a:solidFill>
                <a:latin typeface="Verdana"/>
                <a:cs typeface="Verdana"/>
              </a:rPr>
              <a:t>ts,  </a:t>
            </a:r>
            <a:r>
              <a:rPr sz="2800" spc="-130" dirty="0">
                <a:solidFill>
                  <a:srgbClr val="404040"/>
                </a:solidFill>
                <a:latin typeface="Verdana"/>
                <a:cs typeface="Verdana"/>
              </a:rPr>
              <a:t>historiques</a:t>
            </a:r>
            <a:r>
              <a:rPr sz="2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d’opérations	</a:t>
            </a:r>
            <a:r>
              <a:rPr sz="2800" spc="-600" dirty="0">
                <a:solidFill>
                  <a:srgbClr val="404040"/>
                </a:solidFill>
                <a:latin typeface="Verdana"/>
                <a:cs typeface="Verdana"/>
              </a:rPr>
              <a:t>=&gt;</a:t>
            </a:r>
            <a:r>
              <a:rPr sz="2800" spc="-5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5" dirty="0">
                <a:solidFill>
                  <a:srgbClr val="404040"/>
                </a:solidFill>
                <a:latin typeface="Verdana"/>
                <a:cs typeface="Verdana"/>
              </a:rPr>
              <a:t>stockées</a:t>
            </a:r>
            <a:r>
              <a:rPr sz="28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généralement</a:t>
            </a:r>
            <a:r>
              <a:rPr sz="2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Verdana"/>
                <a:cs typeface="Verdana"/>
              </a:rPr>
              <a:t>dans</a:t>
            </a:r>
            <a:r>
              <a:rPr sz="28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8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404040"/>
                </a:solidFill>
                <a:latin typeface="Verdana"/>
                <a:cs typeface="Verdana"/>
              </a:rPr>
              <a:t>BD.</a:t>
            </a:r>
            <a:endParaRPr sz="2800">
              <a:latin typeface="Verdana"/>
              <a:cs typeface="Verdana"/>
            </a:endParaRPr>
          </a:p>
          <a:p>
            <a:pPr marL="355600" marR="5080" indent="-342900">
              <a:lnSpc>
                <a:spcPct val="150000"/>
              </a:lnSpc>
              <a:spcBef>
                <a:spcPts val="100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  <a:tab pos="1412875" algn="l"/>
                <a:tab pos="3871595" algn="l"/>
                <a:tab pos="6724650" algn="l"/>
                <a:tab pos="7341870" algn="l"/>
                <a:tab pos="9849485" algn="l"/>
              </a:tabLst>
            </a:pPr>
            <a:r>
              <a:rPr sz="2800" b="1" spc="-155" dirty="0">
                <a:solidFill>
                  <a:srgbClr val="641BEB"/>
                </a:solidFill>
                <a:latin typeface="Tahoma"/>
                <a:cs typeface="Tahoma"/>
              </a:rPr>
              <a:t>Les</a:t>
            </a:r>
            <a:r>
              <a:rPr sz="2800" b="1" dirty="0">
                <a:solidFill>
                  <a:srgbClr val="641BEB"/>
                </a:solidFill>
                <a:latin typeface="Tahoma"/>
                <a:cs typeface="Tahoma"/>
              </a:rPr>
              <a:t>	</a:t>
            </a:r>
            <a:r>
              <a:rPr sz="2800" b="1" spc="65" dirty="0">
                <a:solidFill>
                  <a:srgbClr val="641BEB"/>
                </a:solidFill>
                <a:latin typeface="Tahoma"/>
                <a:cs typeface="Tahoma"/>
              </a:rPr>
              <a:t>d</a:t>
            </a:r>
            <a:r>
              <a:rPr sz="2800" b="1" spc="80" dirty="0">
                <a:solidFill>
                  <a:srgbClr val="641BEB"/>
                </a:solidFill>
                <a:latin typeface="Tahoma"/>
                <a:cs typeface="Tahoma"/>
              </a:rPr>
              <a:t>o</a:t>
            </a:r>
            <a:r>
              <a:rPr sz="2800" b="1" spc="-60" dirty="0">
                <a:solidFill>
                  <a:srgbClr val="641BEB"/>
                </a:solidFill>
                <a:latin typeface="Tahoma"/>
                <a:cs typeface="Tahoma"/>
              </a:rPr>
              <a:t>cument</a:t>
            </a:r>
            <a:r>
              <a:rPr sz="2800" b="1" spc="-45" dirty="0">
                <a:solidFill>
                  <a:srgbClr val="641BEB"/>
                </a:solidFill>
                <a:latin typeface="Tahoma"/>
                <a:cs typeface="Tahoma"/>
              </a:rPr>
              <a:t>s</a:t>
            </a:r>
            <a:r>
              <a:rPr sz="2800" b="1" dirty="0">
                <a:solidFill>
                  <a:srgbClr val="641BEB"/>
                </a:solidFill>
                <a:latin typeface="Tahoma"/>
                <a:cs typeface="Tahoma"/>
              </a:rPr>
              <a:t>	</a:t>
            </a:r>
            <a:r>
              <a:rPr sz="2800" b="1" spc="-175" dirty="0">
                <a:solidFill>
                  <a:srgbClr val="641BEB"/>
                </a:solidFill>
                <a:latin typeface="Tahoma"/>
                <a:cs typeface="Tahoma"/>
              </a:rPr>
              <a:t>info</a:t>
            </a:r>
            <a:r>
              <a:rPr sz="2800" b="1" spc="-145" dirty="0">
                <a:solidFill>
                  <a:srgbClr val="641BEB"/>
                </a:solidFill>
                <a:latin typeface="Tahoma"/>
                <a:cs typeface="Tahoma"/>
              </a:rPr>
              <a:t>r</a:t>
            </a:r>
            <a:r>
              <a:rPr sz="2800" b="1" spc="-70" dirty="0">
                <a:solidFill>
                  <a:srgbClr val="641BEB"/>
                </a:solidFill>
                <a:latin typeface="Tahoma"/>
                <a:cs typeface="Tahoma"/>
              </a:rPr>
              <a:t>matiqu</a:t>
            </a:r>
            <a:r>
              <a:rPr sz="2800" b="1" spc="130" dirty="0">
                <a:solidFill>
                  <a:srgbClr val="641BEB"/>
                </a:solidFill>
                <a:latin typeface="Tahoma"/>
                <a:cs typeface="Tahoma"/>
              </a:rPr>
              <a:t>e</a:t>
            </a:r>
            <a:r>
              <a:rPr sz="2800" b="1" spc="-215" dirty="0">
                <a:solidFill>
                  <a:srgbClr val="641BEB"/>
                </a:solidFill>
                <a:latin typeface="Tahoma"/>
                <a:cs typeface="Tahoma"/>
              </a:rPr>
              <a:t>s</a:t>
            </a:r>
            <a:r>
              <a:rPr sz="2800" b="1" dirty="0">
                <a:solidFill>
                  <a:srgbClr val="641BEB"/>
                </a:solidFill>
                <a:latin typeface="Tahoma"/>
                <a:cs typeface="Tahoma"/>
              </a:rPr>
              <a:t>	</a:t>
            </a:r>
            <a:r>
              <a:rPr sz="2800" b="1" spc="-235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r>
              <a:rPr sz="2800" b="1" dirty="0">
                <a:solidFill>
                  <a:srgbClr val="404040"/>
                </a:solidFill>
                <a:latin typeface="Tahoma"/>
                <a:cs typeface="Tahoma"/>
              </a:rPr>
              <a:t>	</a:t>
            </a:r>
            <a:r>
              <a:rPr sz="2800" b="1" spc="-80" dirty="0">
                <a:solidFill>
                  <a:srgbClr val="404040"/>
                </a:solidFill>
                <a:latin typeface="Tahoma"/>
                <a:cs typeface="Tahoma"/>
              </a:rPr>
              <a:t>Hype</a:t>
            </a:r>
            <a:r>
              <a:rPr sz="2800" b="1" spc="-45" dirty="0">
                <a:solidFill>
                  <a:srgbClr val="404040"/>
                </a:solidFill>
                <a:latin typeface="Tahoma"/>
                <a:cs typeface="Tahoma"/>
              </a:rPr>
              <a:t>r</a:t>
            </a:r>
            <a:r>
              <a:rPr sz="2800" b="1" spc="-105" dirty="0">
                <a:solidFill>
                  <a:srgbClr val="404040"/>
                </a:solidFill>
                <a:latin typeface="Tahoma"/>
                <a:cs typeface="Tahoma"/>
              </a:rPr>
              <a:t>text</a:t>
            </a:r>
            <a:r>
              <a:rPr sz="2800" b="1" spc="-12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800" spc="-245" dirty="0">
                <a:solidFill>
                  <a:srgbClr val="404040"/>
                </a:solidFill>
                <a:latin typeface="Verdana"/>
                <a:cs typeface="Verdana"/>
              </a:rPr>
              <a:t>,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800" spc="-105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800" spc="-60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800" spc="-210" dirty="0">
                <a:solidFill>
                  <a:srgbClr val="404040"/>
                </a:solidFill>
                <a:latin typeface="Verdana"/>
                <a:cs typeface="Verdana"/>
              </a:rPr>
              <a:t>lt</a:t>
            </a:r>
            <a:r>
              <a:rPr sz="2800" spc="-16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méd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120" dirty="0">
                <a:solidFill>
                  <a:srgbClr val="404040"/>
                </a:solidFill>
                <a:latin typeface="Verdana"/>
                <a:cs typeface="Verdana"/>
              </a:rPr>
              <a:t>as,  </a:t>
            </a:r>
            <a:r>
              <a:rPr sz="2800" spc="40" dirty="0">
                <a:solidFill>
                  <a:srgbClr val="404040"/>
                </a:solidFill>
                <a:latin typeface="Verdana"/>
                <a:cs typeface="Verdana"/>
              </a:rPr>
              <a:t>hypermédia…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69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1" spc="-155" dirty="0">
                <a:solidFill>
                  <a:srgbClr val="641BEB"/>
                </a:solidFill>
                <a:latin typeface="Tahoma"/>
                <a:cs typeface="Tahoma"/>
              </a:rPr>
              <a:t>Les</a:t>
            </a:r>
            <a:r>
              <a:rPr sz="2800" b="1" spc="-25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800" b="1" spc="-135" dirty="0">
                <a:solidFill>
                  <a:srgbClr val="641BEB"/>
                </a:solidFill>
                <a:latin typeface="Tahoma"/>
                <a:cs typeface="Tahoma"/>
              </a:rPr>
              <a:t>ré</a:t>
            </a:r>
            <a:r>
              <a:rPr sz="2800" b="1" spc="-130" dirty="0">
                <a:solidFill>
                  <a:srgbClr val="641BEB"/>
                </a:solidFill>
                <a:latin typeface="Tahoma"/>
                <a:cs typeface="Tahoma"/>
              </a:rPr>
              <a:t>s</a:t>
            </a:r>
            <a:r>
              <a:rPr sz="2800" b="1" spc="5" dirty="0">
                <a:solidFill>
                  <a:srgbClr val="641BEB"/>
                </a:solidFill>
                <a:latin typeface="Tahoma"/>
                <a:cs typeface="Tahoma"/>
              </a:rPr>
              <a:t>eau</a:t>
            </a:r>
            <a:r>
              <a:rPr sz="2800" b="1" spc="10" dirty="0">
                <a:solidFill>
                  <a:srgbClr val="641BEB"/>
                </a:solidFill>
                <a:latin typeface="Tahoma"/>
                <a:cs typeface="Tahoma"/>
              </a:rPr>
              <a:t>x</a:t>
            </a:r>
            <a:r>
              <a:rPr sz="2800" b="1" spc="-40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800" b="1" spc="-15" dirty="0">
                <a:solidFill>
                  <a:srgbClr val="641BEB"/>
                </a:solidFill>
                <a:latin typeface="Tahoma"/>
                <a:cs typeface="Tahoma"/>
              </a:rPr>
              <a:t>sociaux</a:t>
            </a:r>
            <a:r>
              <a:rPr sz="2800" b="1" spc="-40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800" b="1" spc="-235" dirty="0">
                <a:solidFill>
                  <a:srgbClr val="641BEB"/>
                </a:solidFill>
                <a:latin typeface="Tahoma"/>
                <a:cs typeface="Tahoma"/>
              </a:rPr>
              <a:t>:</a:t>
            </a:r>
            <a:r>
              <a:rPr sz="2800" b="1" spc="-5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800" b="1" spc="305" dirty="0">
                <a:solidFill>
                  <a:srgbClr val="404040"/>
                </a:solidFill>
                <a:latin typeface="Tahoma"/>
                <a:cs typeface="Tahoma"/>
              </a:rPr>
              <a:t>c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800" spc="-30" dirty="0">
                <a:solidFill>
                  <a:srgbClr val="404040"/>
                </a:solidFill>
                <a:latin typeface="Verdana"/>
                <a:cs typeface="Verdana"/>
              </a:rPr>
              <a:t>menta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195" dirty="0">
                <a:solidFill>
                  <a:srgbClr val="404040"/>
                </a:solidFill>
                <a:latin typeface="Verdana"/>
                <a:cs typeface="Verdana"/>
              </a:rPr>
              <a:t>re</a:t>
            </a:r>
            <a:r>
              <a:rPr sz="2800" spc="-215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2800" spc="-245" dirty="0">
                <a:solidFill>
                  <a:srgbClr val="404040"/>
                </a:solidFill>
                <a:latin typeface="Verdana"/>
                <a:cs typeface="Verdana"/>
              </a:rPr>
              <a:t>,</a:t>
            </a:r>
            <a:r>
              <a:rPr sz="28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404040"/>
                </a:solidFill>
                <a:latin typeface="Verdana"/>
                <a:cs typeface="Verdana"/>
              </a:rPr>
              <a:t>op</a:t>
            </a:r>
            <a:r>
              <a:rPr sz="2800" spc="3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195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2800" spc="-7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140" dirty="0">
                <a:solidFill>
                  <a:srgbClr val="404040"/>
                </a:solidFill>
                <a:latin typeface="Verdana"/>
                <a:cs typeface="Verdana"/>
              </a:rPr>
              <a:t>ons,</a:t>
            </a:r>
            <a:r>
              <a:rPr sz="28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500" dirty="0">
                <a:solidFill>
                  <a:srgbClr val="404040"/>
                </a:solidFill>
                <a:latin typeface="Verdana"/>
                <a:cs typeface="Verdana"/>
              </a:rPr>
              <a:t>…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67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1" spc="-155" dirty="0">
                <a:solidFill>
                  <a:srgbClr val="641BEB"/>
                </a:solidFill>
                <a:latin typeface="Tahoma"/>
                <a:cs typeface="Tahoma"/>
              </a:rPr>
              <a:t>Les</a:t>
            </a:r>
            <a:r>
              <a:rPr sz="2800" b="1" spc="-30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641BEB"/>
                </a:solidFill>
                <a:latin typeface="Tahoma"/>
                <a:cs typeface="Tahoma"/>
              </a:rPr>
              <a:t>donnée</a:t>
            </a:r>
            <a:r>
              <a:rPr sz="2800" b="1" spc="-5" dirty="0">
                <a:solidFill>
                  <a:srgbClr val="641BEB"/>
                </a:solidFill>
                <a:latin typeface="Tahoma"/>
                <a:cs typeface="Tahoma"/>
              </a:rPr>
              <a:t>s</a:t>
            </a:r>
            <a:r>
              <a:rPr sz="2800" b="1" spc="-40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800" b="1" spc="85" dirty="0">
                <a:solidFill>
                  <a:srgbClr val="641BEB"/>
                </a:solidFill>
                <a:latin typeface="Tahoma"/>
                <a:cs typeface="Tahoma"/>
              </a:rPr>
              <a:t>gé</a:t>
            </a:r>
            <a:r>
              <a:rPr sz="2800" b="1" spc="80" dirty="0">
                <a:solidFill>
                  <a:srgbClr val="641BEB"/>
                </a:solidFill>
                <a:latin typeface="Tahoma"/>
                <a:cs typeface="Tahoma"/>
              </a:rPr>
              <a:t>o</a:t>
            </a:r>
            <a:r>
              <a:rPr sz="2800" b="1" spc="-50" dirty="0">
                <a:solidFill>
                  <a:srgbClr val="641BEB"/>
                </a:solidFill>
                <a:latin typeface="Tahoma"/>
                <a:cs typeface="Tahoma"/>
              </a:rPr>
              <a:t>spatia</a:t>
            </a:r>
            <a:r>
              <a:rPr sz="2800" b="1" spc="-85" dirty="0">
                <a:solidFill>
                  <a:srgbClr val="641BEB"/>
                </a:solidFill>
                <a:latin typeface="Tahoma"/>
                <a:cs typeface="Tahoma"/>
              </a:rPr>
              <a:t>les</a:t>
            </a:r>
            <a:r>
              <a:rPr sz="2800" b="1" spc="-5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800" b="1" spc="-235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r>
              <a:rPr sz="2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800" b="1" spc="85" dirty="0">
                <a:solidFill>
                  <a:srgbClr val="404040"/>
                </a:solidFill>
                <a:latin typeface="Tahoma"/>
                <a:cs typeface="Tahoma"/>
              </a:rPr>
              <a:t>g</a:t>
            </a:r>
            <a:r>
              <a:rPr sz="2800" spc="130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2800" spc="135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2800" spc="-50" dirty="0">
                <a:solidFill>
                  <a:srgbClr val="404040"/>
                </a:solidFill>
                <a:latin typeface="Verdana"/>
                <a:cs typeface="Verdana"/>
              </a:rPr>
              <a:t>g</a:t>
            </a:r>
            <a:r>
              <a:rPr sz="2800" spc="-20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800" spc="15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28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60" dirty="0">
                <a:solidFill>
                  <a:srgbClr val="404040"/>
                </a:solidFill>
                <a:latin typeface="Verdana"/>
                <a:cs typeface="Verdana"/>
              </a:rPr>
              <a:t>Map</a:t>
            </a:r>
            <a:r>
              <a:rPr sz="2800" spc="30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2800" spc="-245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968" y="643127"/>
              <a:ext cx="854202" cy="10096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0" y="643127"/>
              <a:ext cx="7075170" cy="1009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0" y="643127"/>
              <a:ext cx="1512570" cy="10096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6731" y="769111"/>
            <a:ext cx="7673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200" dirty="0"/>
              <a:t>1.</a:t>
            </a:r>
            <a:r>
              <a:rPr u="none" spc="-65" dirty="0"/>
              <a:t> </a:t>
            </a:r>
            <a:r>
              <a:rPr u="none" spc="-195" dirty="0"/>
              <a:t>Les</a:t>
            </a:r>
            <a:r>
              <a:rPr u="none" spc="-55" dirty="0"/>
              <a:t> </a:t>
            </a:r>
            <a:r>
              <a:rPr u="none" spc="-10" dirty="0"/>
              <a:t>données</a:t>
            </a:r>
            <a:r>
              <a:rPr u="none" spc="-60" dirty="0"/>
              <a:t> </a:t>
            </a:r>
            <a:r>
              <a:rPr u="none" spc="-50" dirty="0"/>
              <a:t>spécifiques</a:t>
            </a:r>
            <a:r>
              <a:rPr u="none" spc="-65" dirty="0"/>
              <a:t> </a:t>
            </a:r>
            <a:r>
              <a:rPr u="none" spc="-20" dirty="0"/>
              <a:t>du</a:t>
            </a:r>
            <a:r>
              <a:rPr u="none" spc="-35" dirty="0"/>
              <a:t> </a:t>
            </a:r>
            <a:r>
              <a:rPr spc="-395" dirty="0"/>
              <a:t>WEB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3319" y="1272578"/>
            <a:ext cx="963929" cy="9063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8066" y="2127885"/>
            <a:ext cx="11577320" cy="284099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250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400" spc="-150" dirty="0">
                <a:solidFill>
                  <a:srgbClr val="444444"/>
                </a:solidFill>
                <a:latin typeface="Verdana"/>
                <a:cs typeface="Verdana"/>
              </a:rPr>
              <a:t>En</a:t>
            </a:r>
            <a:r>
              <a:rPr sz="2400" spc="-1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444444"/>
                </a:solidFill>
                <a:latin typeface="Verdana"/>
                <a:cs typeface="Verdana"/>
              </a:rPr>
              <a:t>plus</a:t>
            </a:r>
            <a:r>
              <a:rPr sz="2400" spc="-1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44444"/>
                </a:solidFill>
                <a:latin typeface="Verdana"/>
                <a:cs typeface="Verdana"/>
              </a:rPr>
              <a:t>les</a:t>
            </a:r>
            <a:r>
              <a:rPr sz="2400" spc="-1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444444"/>
                </a:solidFill>
                <a:latin typeface="Verdana"/>
                <a:cs typeface="Verdana"/>
              </a:rPr>
              <a:t>données</a:t>
            </a:r>
            <a:r>
              <a:rPr sz="2400" spc="-10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44444"/>
                </a:solidFill>
                <a:latin typeface="Verdana"/>
                <a:cs typeface="Verdana"/>
              </a:rPr>
              <a:t>habituelles</a:t>
            </a:r>
            <a:r>
              <a:rPr sz="2400" spc="-114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444444"/>
                </a:solidFill>
                <a:latin typeface="Verdana"/>
                <a:cs typeface="Verdana"/>
              </a:rPr>
              <a:t>(multimédias,</a:t>
            </a:r>
            <a:r>
              <a:rPr sz="240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444444"/>
                </a:solidFill>
                <a:latin typeface="Verdana"/>
                <a:cs typeface="Verdana"/>
              </a:rPr>
              <a:t>clients,….),stockées</a:t>
            </a:r>
            <a:r>
              <a:rPr sz="2400" spc="-114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44444"/>
                </a:solidFill>
                <a:latin typeface="Verdana"/>
                <a:cs typeface="Verdana"/>
              </a:rPr>
              <a:t>au</a:t>
            </a:r>
            <a:r>
              <a:rPr sz="2400" spc="-1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444444"/>
                </a:solidFill>
                <a:latin typeface="Verdana"/>
                <a:cs typeface="Verdana"/>
              </a:rPr>
              <a:t>serveur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155"/>
              </a:spcBef>
            </a:pPr>
            <a:r>
              <a:rPr sz="2400" spc="-60" dirty="0">
                <a:solidFill>
                  <a:srgbClr val="444444"/>
                </a:solidFill>
                <a:latin typeface="Verdana"/>
                <a:cs typeface="Verdana"/>
              </a:rPr>
              <a:t>,on</a:t>
            </a:r>
            <a:r>
              <a:rPr sz="2400" spc="-1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444444"/>
                </a:solidFill>
                <a:latin typeface="Verdana"/>
                <a:cs typeface="Verdana"/>
              </a:rPr>
              <a:t>a</a:t>
            </a:r>
            <a:r>
              <a:rPr sz="2400" spc="-19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444444"/>
                </a:solidFill>
                <a:latin typeface="Verdana"/>
                <a:cs typeface="Verdana"/>
              </a:rPr>
              <a:t>besoins</a:t>
            </a:r>
            <a:r>
              <a:rPr sz="2400" spc="-18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444444"/>
                </a:solidFill>
                <a:latin typeface="Verdana"/>
                <a:cs typeface="Verdana"/>
              </a:rPr>
              <a:t>de</a:t>
            </a:r>
            <a:r>
              <a:rPr sz="2400" spc="-16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44444"/>
                </a:solidFill>
                <a:latin typeface="Verdana"/>
                <a:cs typeface="Verdana"/>
              </a:rPr>
              <a:t>stocker</a:t>
            </a:r>
            <a:r>
              <a:rPr sz="2400" spc="-17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44444"/>
                </a:solidFill>
                <a:latin typeface="Verdana"/>
                <a:cs typeface="Verdana"/>
              </a:rPr>
              <a:t>et</a:t>
            </a:r>
            <a:r>
              <a:rPr sz="2400" spc="-18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444444"/>
                </a:solidFill>
                <a:latin typeface="Verdana"/>
                <a:cs typeface="Verdana"/>
              </a:rPr>
              <a:t>manipuler</a:t>
            </a:r>
            <a:r>
              <a:rPr sz="2400" spc="-2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44444"/>
                </a:solidFill>
                <a:latin typeface="Verdana"/>
                <a:cs typeface="Verdana"/>
              </a:rPr>
              <a:t>les</a:t>
            </a:r>
            <a:r>
              <a:rPr sz="2400" spc="-17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444444"/>
                </a:solidFill>
                <a:latin typeface="Verdana"/>
                <a:cs typeface="Verdana"/>
              </a:rPr>
              <a:t>données</a:t>
            </a:r>
            <a:r>
              <a:rPr sz="2400" spc="-1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444444"/>
                </a:solidFill>
                <a:latin typeface="Tahoma"/>
                <a:cs typeface="Tahoma"/>
              </a:rPr>
              <a:t>concernant</a:t>
            </a:r>
            <a:r>
              <a:rPr sz="2400" b="1" spc="-25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641BEB"/>
                </a:solidFill>
                <a:latin typeface="Tahoma"/>
                <a:cs typeface="Tahoma"/>
              </a:rPr>
              <a:t>le</a:t>
            </a:r>
            <a:r>
              <a:rPr sz="2400" b="1" spc="-30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rgbClr val="641BEB"/>
                </a:solidFill>
                <a:latin typeface="Tahoma"/>
                <a:cs typeface="Tahoma"/>
              </a:rPr>
              <a:t>client</a:t>
            </a:r>
            <a:r>
              <a:rPr sz="2400" b="1" spc="-15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400" spc="-430" dirty="0">
                <a:solidFill>
                  <a:srgbClr val="444444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263525">
              <a:lnSpc>
                <a:spcPct val="100000"/>
              </a:lnSpc>
              <a:spcBef>
                <a:spcPts val="2150"/>
              </a:spcBef>
            </a:pPr>
            <a:r>
              <a:rPr sz="2400" b="1" spc="-254" dirty="0">
                <a:solidFill>
                  <a:srgbClr val="641BEB"/>
                </a:solidFill>
                <a:latin typeface="Tahoma"/>
                <a:cs typeface="Tahoma"/>
              </a:rPr>
              <a:t>Ex</a:t>
            </a:r>
            <a:r>
              <a:rPr sz="2400" spc="-254" dirty="0">
                <a:solidFill>
                  <a:srgbClr val="444444"/>
                </a:solidFill>
                <a:latin typeface="Verdana"/>
                <a:cs typeface="Verdana"/>
              </a:rPr>
              <a:t>:</a:t>
            </a:r>
            <a:r>
              <a:rPr sz="2400" spc="-7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444444"/>
                </a:solidFill>
                <a:latin typeface="Verdana"/>
                <a:cs typeface="Verdana"/>
              </a:rPr>
              <a:t>Les</a:t>
            </a:r>
            <a:r>
              <a:rPr sz="2400" spc="-6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444444"/>
                </a:solidFill>
                <a:latin typeface="Verdana"/>
                <a:cs typeface="Verdana"/>
              </a:rPr>
              <a:t>données</a:t>
            </a:r>
            <a:r>
              <a:rPr sz="2400" spc="-7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444444"/>
                </a:solidFill>
                <a:latin typeface="Verdana"/>
                <a:cs typeface="Verdana"/>
              </a:rPr>
              <a:t>de</a:t>
            </a:r>
            <a:r>
              <a:rPr sz="2400" spc="-8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b="1" spc="-110" dirty="0">
                <a:solidFill>
                  <a:srgbClr val="444444"/>
                </a:solidFill>
                <a:latin typeface="Tahoma"/>
                <a:cs typeface="Tahoma"/>
              </a:rPr>
              <a:t>l</a:t>
            </a:r>
            <a:r>
              <a:rPr sz="2400" b="1" spc="-110" dirty="0">
                <a:solidFill>
                  <a:srgbClr val="444444"/>
                </a:solidFill>
                <a:latin typeface="Verdana"/>
                <a:cs typeface="Verdana"/>
              </a:rPr>
              <a:t>’</a:t>
            </a:r>
            <a:r>
              <a:rPr sz="2400" b="1" spc="-110" dirty="0">
                <a:solidFill>
                  <a:srgbClr val="444444"/>
                </a:solidFill>
                <a:latin typeface="Tahoma"/>
                <a:cs typeface="Tahoma"/>
              </a:rPr>
              <a:t>historique</a:t>
            </a:r>
            <a:r>
              <a:rPr sz="2400" b="1" spc="65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444444"/>
                </a:solidFill>
                <a:latin typeface="Tahoma"/>
                <a:cs typeface="Tahoma"/>
              </a:rPr>
              <a:t>de</a:t>
            </a:r>
            <a:r>
              <a:rPr sz="2400" b="1" spc="55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-40" dirty="0">
                <a:solidFill>
                  <a:srgbClr val="444444"/>
                </a:solidFill>
                <a:latin typeface="Tahoma"/>
                <a:cs typeface="Tahoma"/>
              </a:rPr>
              <a:t>navigation</a:t>
            </a:r>
            <a:r>
              <a:rPr sz="2400" b="1" spc="75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444444"/>
                </a:solidFill>
                <a:latin typeface="Verdana"/>
                <a:cs typeface="Verdana"/>
              </a:rPr>
              <a:t>des</a:t>
            </a:r>
            <a:r>
              <a:rPr sz="2400" spc="-7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444444"/>
                </a:solidFill>
                <a:latin typeface="Verdana"/>
                <a:cs typeface="Verdana"/>
              </a:rPr>
              <a:t>utilisateurs</a:t>
            </a:r>
            <a:r>
              <a:rPr sz="2400" spc="-7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444444"/>
                </a:solidFill>
                <a:latin typeface="Verdana"/>
                <a:cs typeface="Verdana"/>
              </a:rPr>
              <a:t>(les</a:t>
            </a:r>
            <a:r>
              <a:rPr sz="2400" spc="-7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444444"/>
                </a:solidFill>
                <a:latin typeface="Verdana"/>
                <a:cs typeface="Verdana"/>
              </a:rPr>
              <a:t>cookies,</a:t>
            </a:r>
            <a:r>
              <a:rPr sz="2400" spc="-9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44444"/>
                </a:solidFill>
                <a:latin typeface="Verdana"/>
                <a:cs typeface="Verdana"/>
              </a:rPr>
              <a:t>les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b="1" spc="-114" dirty="0">
                <a:solidFill>
                  <a:srgbClr val="444444"/>
                </a:solidFill>
                <a:latin typeface="Tahoma"/>
                <a:cs typeface="Tahoma"/>
              </a:rPr>
              <a:t>sessions</a:t>
            </a:r>
            <a:r>
              <a:rPr sz="2400" spc="-114" dirty="0">
                <a:solidFill>
                  <a:srgbClr val="444444"/>
                </a:solidFill>
                <a:latin typeface="Verdana"/>
                <a:cs typeface="Verdana"/>
              </a:rPr>
              <a:t>,</a:t>
            </a:r>
            <a:r>
              <a:rPr sz="2400" spc="-2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b="1" spc="-75" dirty="0">
                <a:solidFill>
                  <a:srgbClr val="444444"/>
                </a:solidFill>
                <a:latin typeface="Tahoma"/>
                <a:cs typeface="Tahoma"/>
              </a:rPr>
              <a:t>les</a:t>
            </a:r>
            <a:r>
              <a:rPr sz="2400" b="1" spc="-30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25" dirty="0">
                <a:solidFill>
                  <a:srgbClr val="444444"/>
                </a:solidFill>
                <a:latin typeface="Tahoma"/>
                <a:cs typeface="Tahoma"/>
              </a:rPr>
              <a:t>champs</a:t>
            </a:r>
            <a:r>
              <a:rPr sz="2400" b="1" spc="-20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444444"/>
                </a:solidFill>
                <a:latin typeface="Tahoma"/>
                <a:cs typeface="Tahoma"/>
              </a:rPr>
              <a:t>de</a:t>
            </a:r>
            <a:r>
              <a:rPr sz="2400" b="1" spc="-15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-95" dirty="0">
                <a:solidFill>
                  <a:srgbClr val="444444"/>
                </a:solidFill>
                <a:latin typeface="Tahoma"/>
                <a:cs typeface="Tahoma"/>
              </a:rPr>
              <a:t>formulaire</a:t>
            </a:r>
            <a:r>
              <a:rPr sz="2400" b="1" spc="-35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444444"/>
                </a:solidFill>
                <a:latin typeface="Tahoma"/>
                <a:cs typeface="Tahoma"/>
              </a:rPr>
              <a:t>de</a:t>
            </a:r>
            <a:r>
              <a:rPr sz="2400" b="1" spc="-15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400" b="1" spc="-30" dirty="0">
                <a:solidFill>
                  <a:srgbClr val="444444"/>
                </a:solidFill>
                <a:latin typeface="Tahoma"/>
                <a:cs typeface="Tahoma"/>
              </a:rPr>
              <a:t>connexion</a:t>
            </a:r>
            <a:r>
              <a:rPr sz="2400" spc="-30" dirty="0">
                <a:solidFill>
                  <a:srgbClr val="444444"/>
                </a:solidFill>
                <a:latin typeface="Verdana"/>
                <a:cs typeface="Verdana"/>
              </a:rPr>
              <a:t>,…).</a:t>
            </a:r>
            <a:endParaRPr sz="240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2165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400" b="1" u="heavy" spc="-140" dirty="0">
                <a:solidFill>
                  <a:srgbClr val="641BEB"/>
                </a:solidFill>
                <a:uFill>
                  <a:solidFill>
                    <a:srgbClr val="641BEB"/>
                  </a:solidFill>
                </a:uFill>
                <a:latin typeface="Tahoma"/>
                <a:cs typeface="Tahoma"/>
              </a:rPr>
              <a:t>Utilisation</a:t>
            </a:r>
            <a:r>
              <a:rPr sz="2400" b="1" spc="80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400" b="1" spc="-204" dirty="0">
                <a:solidFill>
                  <a:srgbClr val="641BEB"/>
                </a:solidFill>
                <a:latin typeface="Tahoma"/>
                <a:cs typeface="Tahoma"/>
              </a:rPr>
              <a:t>:</a:t>
            </a:r>
            <a:r>
              <a:rPr sz="2400" b="1" spc="80" dirty="0">
                <a:solidFill>
                  <a:srgbClr val="641BEB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444444"/>
                </a:solidFill>
                <a:latin typeface="Verdana"/>
                <a:cs typeface="Verdana"/>
              </a:rPr>
              <a:t>enregistrer</a:t>
            </a:r>
            <a:r>
              <a:rPr sz="2400" spc="-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444444"/>
                </a:solidFill>
                <a:latin typeface="Verdana"/>
                <a:cs typeface="Verdana"/>
              </a:rPr>
              <a:t>les</a:t>
            </a:r>
            <a:r>
              <a:rPr sz="2400" spc="-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44444"/>
                </a:solidFill>
                <a:latin typeface="Verdana"/>
                <a:cs typeface="Verdana"/>
              </a:rPr>
              <a:t>activités </a:t>
            </a:r>
            <a:r>
              <a:rPr sz="2400" spc="-20" dirty="0">
                <a:solidFill>
                  <a:srgbClr val="444444"/>
                </a:solidFill>
                <a:latin typeface="Verdana"/>
                <a:cs typeface="Verdana"/>
              </a:rPr>
              <a:t>des</a:t>
            </a:r>
            <a:r>
              <a:rPr sz="2400" spc="-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444444"/>
                </a:solidFill>
                <a:latin typeface="Verdana"/>
                <a:cs typeface="Verdana"/>
              </a:rPr>
              <a:t>user</a:t>
            </a:r>
            <a:r>
              <a:rPr sz="2400" spc="-6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444444"/>
                </a:solidFill>
                <a:latin typeface="Verdana"/>
                <a:cs typeface="Verdana"/>
              </a:rPr>
              <a:t>(comme</a:t>
            </a:r>
            <a:r>
              <a:rPr sz="2400" spc="-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444444"/>
                </a:solidFill>
                <a:latin typeface="Verdana"/>
                <a:cs typeface="Verdana"/>
              </a:rPr>
              <a:t>le</a:t>
            </a:r>
            <a:r>
              <a:rPr sz="2400" spc="-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444444"/>
                </a:solidFill>
                <a:latin typeface="Verdana"/>
                <a:cs typeface="Verdana"/>
              </a:rPr>
              <a:t>contenu</a:t>
            </a:r>
            <a:r>
              <a:rPr sz="2400" spc="-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44444"/>
                </a:solidFill>
                <a:latin typeface="Verdana"/>
                <a:cs typeface="Verdana"/>
              </a:rPr>
              <a:t>d'un</a:t>
            </a:r>
            <a:r>
              <a:rPr sz="2400" spc="-7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444444"/>
                </a:solidFill>
                <a:latin typeface="Verdana"/>
                <a:cs typeface="Verdana"/>
              </a:rPr>
              <a:t>panier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92210" y="5098796"/>
            <a:ext cx="3615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6595" algn="l"/>
                <a:tab pos="3178175" algn="l"/>
              </a:tabLst>
            </a:pPr>
            <a:r>
              <a:rPr sz="2400" spc="135" dirty="0">
                <a:solidFill>
                  <a:srgbClr val="444444"/>
                </a:solidFill>
                <a:latin typeface="Verdana"/>
                <a:cs typeface="Verdana"/>
              </a:rPr>
              <a:t>de</a:t>
            </a:r>
            <a:r>
              <a:rPr sz="24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400" b="1" spc="65" dirty="0">
                <a:solidFill>
                  <a:srgbClr val="444444"/>
                </a:solidFill>
                <a:latin typeface="Tahoma"/>
                <a:cs typeface="Tahoma"/>
              </a:rPr>
              <a:t>p</a:t>
            </a:r>
            <a:r>
              <a:rPr sz="2700" b="1" spc="-80" dirty="0">
                <a:solidFill>
                  <a:srgbClr val="444444"/>
                </a:solidFill>
                <a:latin typeface="Tahoma"/>
                <a:cs typeface="Tahoma"/>
              </a:rPr>
              <a:t>ersonnalis</a:t>
            </a:r>
            <a:r>
              <a:rPr sz="2700" b="1" spc="-70" dirty="0">
                <a:solidFill>
                  <a:srgbClr val="444444"/>
                </a:solidFill>
                <a:latin typeface="Tahoma"/>
                <a:cs typeface="Tahoma"/>
              </a:rPr>
              <a:t>e</a:t>
            </a:r>
            <a:r>
              <a:rPr sz="2700" b="1" spc="-310" dirty="0">
                <a:solidFill>
                  <a:srgbClr val="444444"/>
                </a:solidFill>
                <a:latin typeface="Tahoma"/>
                <a:cs typeface="Tahoma"/>
              </a:rPr>
              <a:t>r</a:t>
            </a:r>
            <a:r>
              <a:rPr sz="2700" b="1" dirty="0">
                <a:solidFill>
                  <a:srgbClr val="444444"/>
                </a:solidFill>
                <a:latin typeface="Tahoma"/>
                <a:cs typeface="Tahoma"/>
              </a:rPr>
              <a:t>	</a:t>
            </a:r>
            <a:r>
              <a:rPr sz="2700" spc="-145" dirty="0">
                <a:solidFill>
                  <a:srgbClr val="444444"/>
                </a:solidFill>
                <a:latin typeface="Verdana"/>
                <a:cs typeface="Verdana"/>
              </a:rPr>
              <a:t>les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271" y="4984225"/>
            <a:ext cx="7369175" cy="112776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1461770" algn="l"/>
                <a:tab pos="2578735" algn="l"/>
                <a:tab pos="3858895" algn="l"/>
                <a:tab pos="6120765" algn="l"/>
                <a:tab pos="6948805" algn="l"/>
              </a:tabLst>
            </a:pPr>
            <a:r>
              <a:rPr sz="2400" spc="45" dirty="0">
                <a:solidFill>
                  <a:srgbClr val="444444"/>
                </a:solidFill>
                <a:latin typeface="Verdana"/>
                <a:cs typeface="Verdana"/>
              </a:rPr>
              <a:t>d'</a:t>
            </a:r>
            <a:r>
              <a:rPr sz="2400" spc="75" dirty="0">
                <a:solidFill>
                  <a:srgbClr val="444444"/>
                </a:solidFill>
                <a:latin typeface="Verdana"/>
                <a:cs typeface="Verdana"/>
              </a:rPr>
              <a:t>achat</a:t>
            </a:r>
            <a:r>
              <a:rPr sz="24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400" spc="-30" dirty="0">
                <a:solidFill>
                  <a:srgbClr val="444444"/>
                </a:solidFill>
                <a:latin typeface="Verdana"/>
                <a:cs typeface="Verdana"/>
              </a:rPr>
              <a:t>d'u</a:t>
            </a:r>
            <a:r>
              <a:rPr sz="2400" spc="35" dirty="0">
                <a:solidFill>
                  <a:srgbClr val="444444"/>
                </a:solidFill>
                <a:latin typeface="Verdana"/>
                <a:cs typeface="Verdana"/>
              </a:rPr>
              <a:t>ne</a:t>
            </a:r>
            <a:r>
              <a:rPr sz="24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400" spc="-180" dirty="0">
                <a:solidFill>
                  <a:srgbClr val="444444"/>
                </a:solidFill>
                <a:latin typeface="Verdana"/>
                <a:cs typeface="Verdana"/>
              </a:rPr>
              <a:t>se</a:t>
            </a:r>
            <a:r>
              <a:rPr sz="2400" spc="-160" dirty="0">
                <a:solidFill>
                  <a:srgbClr val="444444"/>
                </a:solidFill>
                <a:latin typeface="Verdana"/>
                <a:cs typeface="Verdana"/>
              </a:rPr>
              <a:t>s</a:t>
            </a:r>
            <a:r>
              <a:rPr sz="2400" spc="-330" dirty="0">
                <a:solidFill>
                  <a:srgbClr val="444444"/>
                </a:solidFill>
                <a:latin typeface="Verdana"/>
                <a:cs typeface="Verdana"/>
              </a:rPr>
              <a:t>s</a:t>
            </a:r>
            <a:r>
              <a:rPr sz="2400" spc="-160" dirty="0">
                <a:solidFill>
                  <a:srgbClr val="444444"/>
                </a:solidFill>
                <a:latin typeface="Verdana"/>
                <a:cs typeface="Verdana"/>
              </a:rPr>
              <a:t>i</a:t>
            </a:r>
            <a:r>
              <a:rPr sz="2400" spc="25" dirty="0">
                <a:solidFill>
                  <a:srgbClr val="444444"/>
                </a:solidFill>
                <a:latin typeface="Verdana"/>
                <a:cs typeface="Verdana"/>
              </a:rPr>
              <a:t>on</a:t>
            </a:r>
            <a:r>
              <a:rPr sz="24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400" spc="60" dirty="0">
                <a:solidFill>
                  <a:srgbClr val="444444"/>
                </a:solidFill>
                <a:latin typeface="Verdana"/>
                <a:cs typeface="Verdana"/>
              </a:rPr>
              <a:t>pré</a:t>
            </a:r>
            <a:r>
              <a:rPr sz="2400" spc="50" dirty="0">
                <a:solidFill>
                  <a:srgbClr val="444444"/>
                </a:solidFill>
                <a:latin typeface="Verdana"/>
                <a:cs typeface="Verdana"/>
              </a:rPr>
              <a:t>c</a:t>
            </a:r>
            <a:r>
              <a:rPr sz="2400" spc="55" dirty="0">
                <a:solidFill>
                  <a:srgbClr val="444444"/>
                </a:solidFill>
                <a:latin typeface="Verdana"/>
                <a:cs typeface="Verdana"/>
              </a:rPr>
              <a:t>édent</a:t>
            </a:r>
            <a:r>
              <a:rPr sz="2400" spc="80" dirty="0">
                <a:solidFill>
                  <a:srgbClr val="444444"/>
                </a:solidFill>
                <a:latin typeface="Verdana"/>
                <a:cs typeface="Verdana"/>
              </a:rPr>
              <a:t>e</a:t>
            </a:r>
            <a:r>
              <a:rPr sz="2400" spc="-215" dirty="0">
                <a:solidFill>
                  <a:srgbClr val="444444"/>
                </a:solidFill>
                <a:latin typeface="Verdana"/>
                <a:cs typeface="Verdana"/>
              </a:rPr>
              <a:t>)</a:t>
            </a:r>
            <a:r>
              <a:rPr sz="2400" spc="-210" dirty="0">
                <a:solidFill>
                  <a:srgbClr val="444444"/>
                </a:solidFill>
                <a:latin typeface="Verdana"/>
                <a:cs typeface="Verdana"/>
              </a:rPr>
              <a:t>,</a:t>
            </a:r>
            <a:r>
              <a:rPr sz="24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400" spc="60" dirty="0">
                <a:solidFill>
                  <a:srgbClr val="444444"/>
                </a:solidFill>
                <a:latin typeface="Verdana"/>
                <a:cs typeface="Verdana"/>
              </a:rPr>
              <a:t>a</a:t>
            </a:r>
            <a:r>
              <a:rPr sz="2400" spc="15" dirty="0">
                <a:solidFill>
                  <a:srgbClr val="444444"/>
                </a:solidFill>
                <a:latin typeface="Verdana"/>
                <a:cs typeface="Verdana"/>
              </a:rPr>
              <a:t>f</a:t>
            </a:r>
            <a:r>
              <a:rPr sz="2400" spc="-175" dirty="0">
                <a:solidFill>
                  <a:srgbClr val="444444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444444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400" spc="130" dirty="0">
                <a:solidFill>
                  <a:srgbClr val="444444"/>
                </a:solidFill>
                <a:latin typeface="Verdana"/>
                <a:cs typeface="Verdana"/>
              </a:rPr>
              <a:t>de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700" b="1" spc="-35" dirty="0">
                <a:solidFill>
                  <a:srgbClr val="444444"/>
                </a:solidFill>
                <a:latin typeface="Tahoma"/>
                <a:cs typeface="Tahoma"/>
              </a:rPr>
              <a:t>préférences</a:t>
            </a:r>
            <a:r>
              <a:rPr sz="2700" b="1" spc="-60" dirty="0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sz="2700" spc="45" dirty="0">
                <a:solidFill>
                  <a:srgbClr val="444444"/>
                </a:solidFill>
                <a:latin typeface="Verdana"/>
                <a:cs typeface="Verdana"/>
              </a:rPr>
              <a:t>du</a:t>
            </a:r>
            <a:r>
              <a:rPr sz="2700" spc="-20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444444"/>
                </a:solidFill>
                <a:latin typeface="Verdana"/>
                <a:cs typeface="Verdana"/>
              </a:rPr>
              <a:t>site,</a:t>
            </a:r>
            <a:r>
              <a:rPr sz="2700" spc="-19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700" b="1" spc="-40" dirty="0">
                <a:solidFill>
                  <a:srgbClr val="444444"/>
                </a:solidFill>
                <a:latin typeface="Tahoma"/>
                <a:cs typeface="Tahoma"/>
              </a:rPr>
              <a:t>recommandations</a:t>
            </a:r>
            <a:r>
              <a:rPr sz="2700" spc="-40" dirty="0">
                <a:solidFill>
                  <a:srgbClr val="444444"/>
                </a:solidFill>
                <a:latin typeface="Verdana"/>
                <a:cs typeface="Verdana"/>
              </a:rPr>
              <a:t>,</a:t>
            </a:r>
            <a:r>
              <a:rPr sz="2700" spc="-18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444444"/>
                </a:solidFill>
                <a:latin typeface="Verdana"/>
                <a:cs typeface="Verdana"/>
              </a:rPr>
              <a:t>…..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521" y="742315"/>
            <a:ext cx="6682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285" dirty="0"/>
              <a:t>2</a:t>
            </a:r>
            <a:r>
              <a:rPr u="none" spc="-120" dirty="0"/>
              <a:t>.</a:t>
            </a:r>
            <a:r>
              <a:rPr u="none" spc="-50" dirty="0"/>
              <a:t> </a:t>
            </a:r>
            <a:r>
              <a:rPr u="none" spc="-195" dirty="0"/>
              <a:t>Les</a:t>
            </a:r>
            <a:r>
              <a:rPr u="none" spc="-40" dirty="0"/>
              <a:t> </a:t>
            </a:r>
            <a:r>
              <a:rPr u="none" spc="-35" dirty="0"/>
              <a:t>document</a:t>
            </a:r>
            <a:r>
              <a:rPr u="none" spc="-25" dirty="0"/>
              <a:t>s</a:t>
            </a:r>
            <a:r>
              <a:rPr u="none" spc="-50" dirty="0"/>
              <a:t> </a:t>
            </a:r>
            <a:r>
              <a:rPr u="none" spc="-100" dirty="0"/>
              <a:t>multimédias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89888"/>
            <a:ext cx="12191999" cy="53019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754" y="634949"/>
            <a:ext cx="36023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95" dirty="0"/>
              <a:t>Les</a:t>
            </a:r>
            <a:r>
              <a:rPr u="none" spc="-50" dirty="0"/>
              <a:t> </a:t>
            </a:r>
            <a:r>
              <a:rPr u="none" spc="-35" dirty="0"/>
              <a:t>document</a:t>
            </a:r>
            <a:r>
              <a:rPr u="none" spc="-25" dirty="0"/>
              <a:t>s</a:t>
            </a:r>
            <a:r>
              <a:rPr u="none" spc="-50" dirty="0"/>
              <a:t> </a:t>
            </a:r>
            <a:r>
              <a:rPr u="none" spc="-30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192" y="1184275"/>
            <a:ext cx="11872595" cy="5297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66775" algn="ctr">
              <a:lnSpc>
                <a:spcPct val="100000"/>
              </a:lnSpc>
              <a:spcBef>
                <a:spcPts val="100"/>
              </a:spcBef>
            </a:pPr>
            <a:r>
              <a:rPr sz="3600" b="1" spc="-100" dirty="0">
                <a:solidFill>
                  <a:srgbClr val="FFC000"/>
                </a:solidFill>
                <a:latin typeface="Tahoma"/>
                <a:cs typeface="Tahoma"/>
              </a:rPr>
              <a:t>hypertexte,</a:t>
            </a:r>
            <a:r>
              <a:rPr sz="3600" b="1" spc="-85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sz="3600" b="1" spc="-130" dirty="0">
                <a:solidFill>
                  <a:srgbClr val="FFC000"/>
                </a:solidFill>
                <a:latin typeface="Tahoma"/>
                <a:cs typeface="Tahoma"/>
              </a:rPr>
              <a:t>et</a:t>
            </a:r>
            <a:r>
              <a:rPr sz="3600" b="1" spc="-80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sz="3600" b="1" spc="-10" dirty="0">
                <a:solidFill>
                  <a:srgbClr val="FFC000"/>
                </a:solidFill>
                <a:latin typeface="Tahoma"/>
                <a:cs typeface="Tahoma"/>
              </a:rPr>
              <a:t>hypermédia</a:t>
            </a:r>
            <a:endParaRPr sz="3600">
              <a:latin typeface="Tahoma"/>
              <a:cs typeface="Tahoma"/>
            </a:endParaRPr>
          </a:p>
          <a:p>
            <a:pPr marL="355600" marR="5080" indent="-343535" algn="just">
              <a:lnSpc>
                <a:spcPct val="150000"/>
              </a:lnSpc>
              <a:spcBef>
                <a:spcPts val="3429"/>
              </a:spcBef>
              <a:buClr>
                <a:srgbClr val="B31166"/>
              </a:buClr>
              <a:buSzPct val="78846"/>
              <a:buFont typeface="Wingdings"/>
              <a:buChar char=""/>
              <a:tabLst>
                <a:tab pos="356235" algn="l"/>
              </a:tabLst>
            </a:pPr>
            <a:r>
              <a:rPr sz="2600" b="1" spc="-85" dirty="0">
                <a:solidFill>
                  <a:srgbClr val="006FC0"/>
                </a:solidFill>
                <a:latin typeface="Tahoma"/>
                <a:cs typeface="Tahoma"/>
              </a:rPr>
              <a:t>Hypertexte</a:t>
            </a:r>
            <a:r>
              <a:rPr sz="2600" b="1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b="1" spc="-220" dirty="0">
                <a:solidFill>
                  <a:srgbClr val="006FC0"/>
                </a:solidFill>
                <a:latin typeface="Tahoma"/>
                <a:cs typeface="Tahoma"/>
              </a:rPr>
              <a:t>:</a:t>
            </a:r>
            <a:r>
              <a:rPr sz="2600" b="1" spc="-2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35" dirty="0">
                <a:solidFill>
                  <a:srgbClr val="404040"/>
                </a:solidFill>
                <a:latin typeface="Verdana"/>
                <a:cs typeface="Verdana"/>
              </a:rPr>
              <a:t>Système </a:t>
            </a:r>
            <a:r>
              <a:rPr sz="2600" spc="145" dirty="0">
                <a:solidFill>
                  <a:srgbClr val="404040"/>
                </a:solidFill>
                <a:latin typeface="Verdana"/>
                <a:cs typeface="Verdana"/>
              </a:rPr>
              <a:t>de </a:t>
            </a:r>
            <a:r>
              <a:rPr sz="2600" spc="-110" dirty="0">
                <a:solidFill>
                  <a:srgbClr val="404040"/>
                </a:solidFill>
                <a:latin typeface="Verdana"/>
                <a:cs typeface="Verdana"/>
              </a:rPr>
              <a:t>renvois </a:t>
            </a:r>
            <a:r>
              <a:rPr sz="2600" spc="-30" dirty="0">
                <a:solidFill>
                  <a:srgbClr val="404040"/>
                </a:solidFill>
                <a:latin typeface="Verdana"/>
                <a:cs typeface="Verdana"/>
              </a:rPr>
              <a:t>permettant </a:t>
            </a:r>
            <a:r>
              <a:rPr sz="2600" spc="150" dirty="0">
                <a:solidFill>
                  <a:srgbClr val="404040"/>
                </a:solidFill>
                <a:latin typeface="Verdana"/>
                <a:cs typeface="Verdana"/>
              </a:rPr>
              <a:t>de </a:t>
            </a:r>
            <a:r>
              <a:rPr sz="2600" spc="-90" dirty="0">
                <a:solidFill>
                  <a:srgbClr val="404040"/>
                </a:solidFill>
                <a:latin typeface="Verdana"/>
                <a:cs typeface="Verdana"/>
              </a:rPr>
              <a:t>passer </a:t>
            </a:r>
            <a:r>
              <a:rPr sz="2600" spc="-10" dirty="0">
                <a:solidFill>
                  <a:srgbClr val="404040"/>
                </a:solidFill>
                <a:latin typeface="Verdana"/>
                <a:cs typeface="Verdana"/>
              </a:rPr>
              <a:t>directement </a:t>
            </a:r>
            <a:r>
              <a:rPr sz="26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Verdana"/>
                <a:cs typeface="Verdana"/>
              </a:rPr>
              <a:t>d'une </a:t>
            </a:r>
            <a:r>
              <a:rPr sz="2600" spc="-30" dirty="0">
                <a:solidFill>
                  <a:srgbClr val="404040"/>
                </a:solidFill>
                <a:latin typeface="Verdana"/>
                <a:cs typeface="Verdana"/>
              </a:rPr>
              <a:t>partie </a:t>
            </a:r>
            <a:r>
              <a:rPr sz="2600" spc="-40" dirty="0">
                <a:solidFill>
                  <a:srgbClr val="404040"/>
                </a:solidFill>
                <a:latin typeface="Verdana"/>
                <a:cs typeface="Verdana"/>
              </a:rPr>
              <a:t>d'un </a:t>
            </a:r>
            <a:r>
              <a:rPr sz="2600" spc="45" dirty="0">
                <a:solidFill>
                  <a:srgbClr val="404040"/>
                </a:solidFill>
                <a:latin typeface="Verdana"/>
                <a:cs typeface="Verdana"/>
              </a:rPr>
              <a:t>document </a:t>
            </a:r>
            <a:r>
              <a:rPr sz="2600" spc="215" dirty="0">
                <a:solidFill>
                  <a:srgbClr val="404040"/>
                </a:solidFill>
                <a:latin typeface="Verdana"/>
                <a:cs typeface="Verdana"/>
              </a:rPr>
              <a:t>à </a:t>
            </a:r>
            <a:r>
              <a:rPr sz="2600" spc="5" dirty="0">
                <a:solidFill>
                  <a:srgbClr val="404040"/>
                </a:solidFill>
                <a:latin typeface="Verdana"/>
                <a:cs typeface="Verdana"/>
              </a:rPr>
              <a:t>une </a:t>
            </a:r>
            <a:r>
              <a:rPr sz="2600" spc="-40" dirty="0">
                <a:solidFill>
                  <a:srgbClr val="404040"/>
                </a:solidFill>
                <a:latin typeface="Verdana"/>
                <a:cs typeface="Verdana"/>
              </a:rPr>
              <a:t>autre </a:t>
            </a:r>
            <a:r>
              <a:rPr sz="2600" spc="-220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2600" b="1" spc="-220" dirty="0">
                <a:solidFill>
                  <a:srgbClr val="641BEB"/>
                </a:solidFill>
                <a:latin typeface="Verdana"/>
                <a:cs typeface="Verdana"/>
              </a:rPr>
              <a:t>nœuds </a:t>
            </a:r>
            <a:r>
              <a:rPr sz="2600" b="1" spc="-90" dirty="0">
                <a:solidFill>
                  <a:srgbClr val="641BEB"/>
                </a:solidFill>
                <a:latin typeface="Tahoma"/>
                <a:cs typeface="Tahoma"/>
              </a:rPr>
              <a:t>et </a:t>
            </a:r>
            <a:r>
              <a:rPr sz="2600" b="1" spc="100" dirty="0">
                <a:solidFill>
                  <a:srgbClr val="641BEB"/>
                </a:solidFill>
                <a:latin typeface="Tahoma"/>
                <a:cs typeface="Tahoma"/>
              </a:rPr>
              <a:t>de </a:t>
            </a:r>
            <a:r>
              <a:rPr sz="2600" b="1" spc="-140" dirty="0">
                <a:solidFill>
                  <a:srgbClr val="641BEB"/>
                </a:solidFill>
                <a:latin typeface="Tahoma"/>
                <a:cs typeface="Tahoma"/>
              </a:rPr>
              <a:t>liens</a:t>
            </a:r>
            <a:r>
              <a:rPr sz="2600" spc="-140" dirty="0">
                <a:solidFill>
                  <a:srgbClr val="404040"/>
                </a:solidFill>
                <a:latin typeface="Verdana"/>
                <a:cs typeface="Verdana"/>
              </a:rPr>
              <a:t>), </a:t>
            </a:r>
            <a:r>
              <a:rPr sz="2600" spc="25" dirty="0">
                <a:solidFill>
                  <a:srgbClr val="404040"/>
                </a:solidFill>
                <a:latin typeface="Verdana"/>
                <a:cs typeface="Verdana"/>
              </a:rPr>
              <a:t>ou </a:t>
            </a:r>
            <a:r>
              <a:rPr sz="2600" spc="-40" dirty="0">
                <a:solidFill>
                  <a:srgbClr val="404040"/>
                </a:solidFill>
                <a:latin typeface="Verdana"/>
                <a:cs typeface="Verdana"/>
              </a:rPr>
              <a:t>d'un </a:t>
            </a:r>
            <a:r>
              <a:rPr sz="26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45" dirty="0">
                <a:solidFill>
                  <a:srgbClr val="404040"/>
                </a:solidFill>
                <a:latin typeface="Verdana"/>
                <a:cs typeface="Verdana"/>
              </a:rPr>
              <a:t>document </a:t>
            </a:r>
            <a:r>
              <a:rPr sz="2600" spc="215" dirty="0">
                <a:solidFill>
                  <a:srgbClr val="404040"/>
                </a:solidFill>
                <a:latin typeface="Verdana"/>
                <a:cs typeface="Verdana"/>
              </a:rPr>
              <a:t>à </a:t>
            </a:r>
            <a:r>
              <a:rPr sz="2600" spc="-75" dirty="0">
                <a:solidFill>
                  <a:srgbClr val="404040"/>
                </a:solidFill>
                <a:latin typeface="Verdana"/>
                <a:cs typeface="Verdana"/>
              </a:rPr>
              <a:t>d'autres</a:t>
            </a:r>
            <a:r>
              <a:rPr sz="26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45" dirty="0">
                <a:solidFill>
                  <a:srgbClr val="404040"/>
                </a:solidFill>
                <a:latin typeface="Verdana"/>
                <a:cs typeface="Verdana"/>
              </a:rPr>
              <a:t>document </a:t>
            </a:r>
            <a:r>
              <a:rPr sz="2600" spc="-45" dirty="0">
                <a:solidFill>
                  <a:srgbClr val="404040"/>
                </a:solidFill>
                <a:latin typeface="Verdana"/>
                <a:cs typeface="Verdana"/>
              </a:rPr>
              <a:t>(lecture</a:t>
            </a:r>
            <a:r>
              <a:rPr sz="26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404040"/>
                </a:solidFill>
                <a:latin typeface="Verdana"/>
                <a:cs typeface="Verdana"/>
              </a:rPr>
              <a:t>non</a:t>
            </a:r>
            <a:r>
              <a:rPr sz="26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65" dirty="0">
                <a:solidFill>
                  <a:srgbClr val="404040"/>
                </a:solidFill>
                <a:latin typeface="Verdana"/>
                <a:cs typeface="Verdana"/>
              </a:rPr>
              <a:t>linéaire</a:t>
            </a:r>
            <a:r>
              <a:rPr sz="26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95" dirty="0">
                <a:solidFill>
                  <a:srgbClr val="404040"/>
                </a:solidFill>
                <a:latin typeface="Verdana"/>
                <a:cs typeface="Verdana"/>
              </a:rPr>
              <a:t>grâce </a:t>
            </a:r>
            <a:r>
              <a:rPr sz="2600" spc="215" dirty="0">
                <a:solidFill>
                  <a:srgbClr val="404040"/>
                </a:solidFill>
                <a:latin typeface="Verdana"/>
                <a:cs typeface="Verdana"/>
              </a:rPr>
              <a:t>à </a:t>
            </a:r>
            <a:r>
              <a:rPr sz="2600" dirty="0">
                <a:solidFill>
                  <a:srgbClr val="404040"/>
                </a:solidFill>
                <a:latin typeface="Verdana"/>
                <a:cs typeface="Verdana"/>
              </a:rPr>
              <a:t>la </a:t>
            </a:r>
            <a:r>
              <a:rPr sz="26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15" dirty="0">
                <a:solidFill>
                  <a:srgbClr val="404040"/>
                </a:solidFill>
                <a:latin typeface="Verdana"/>
                <a:cs typeface="Verdana"/>
              </a:rPr>
              <a:t>présence</a:t>
            </a:r>
            <a:r>
              <a:rPr sz="26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15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6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135" dirty="0">
                <a:solidFill>
                  <a:srgbClr val="404040"/>
                </a:solidFill>
                <a:latin typeface="Verdana"/>
                <a:cs typeface="Verdana"/>
              </a:rPr>
              <a:t>liens</a:t>
            </a:r>
            <a:r>
              <a:rPr sz="26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50" dirty="0">
                <a:solidFill>
                  <a:srgbClr val="404040"/>
                </a:solidFill>
                <a:latin typeface="Verdana"/>
                <a:cs typeface="Verdana"/>
              </a:rPr>
              <a:t>entre</a:t>
            </a:r>
            <a:r>
              <a:rPr sz="26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13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6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45" dirty="0">
                <a:solidFill>
                  <a:srgbClr val="404040"/>
                </a:solidFill>
                <a:latin typeface="Verdana"/>
                <a:cs typeface="Verdana"/>
              </a:rPr>
              <a:t>documents).</a:t>
            </a:r>
            <a:endParaRPr sz="2600">
              <a:latin typeface="Verdana"/>
              <a:cs typeface="Verdana"/>
            </a:endParaRPr>
          </a:p>
          <a:p>
            <a:pPr marL="355600" marR="5080" indent="-343535" algn="just">
              <a:lnSpc>
                <a:spcPct val="150000"/>
              </a:lnSpc>
              <a:spcBef>
                <a:spcPts val="1000"/>
              </a:spcBef>
              <a:buClr>
                <a:srgbClr val="B31166"/>
              </a:buClr>
              <a:buSzPct val="78846"/>
              <a:buFont typeface="Wingdings"/>
              <a:buChar char=""/>
              <a:tabLst>
                <a:tab pos="356235" algn="l"/>
              </a:tabLst>
            </a:pPr>
            <a:r>
              <a:rPr sz="2600" b="1" spc="-15" dirty="0">
                <a:solidFill>
                  <a:srgbClr val="006FC0"/>
                </a:solidFill>
                <a:latin typeface="Tahoma"/>
                <a:cs typeface="Tahoma"/>
              </a:rPr>
              <a:t>Hypermédia</a:t>
            </a:r>
            <a:r>
              <a:rPr sz="2600" b="1" spc="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9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2600" spc="-4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125" dirty="0">
                <a:solidFill>
                  <a:srgbClr val="404040"/>
                </a:solidFill>
                <a:latin typeface="Verdana"/>
                <a:cs typeface="Verdana"/>
              </a:rPr>
              <a:t>Extension </a:t>
            </a:r>
            <a:r>
              <a:rPr sz="2600" spc="155" dirty="0">
                <a:solidFill>
                  <a:srgbClr val="404040"/>
                </a:solidFill>
                <a:latin typeface="Verdana"/>
                <a:cs typeface="Verdana"/>
              </a:rPr>
              <a:t>de </a:t>
            </a:r>
            <a:r>
              <a:rPr sz="2600" spc="-80" dirty="0">
                <a:solidFill>
                  <a:srgbClr val="404040"/>
                </a:solidFill>
                <a:latin typeface="Verdana"/>
                <a:cs typeface="Verdana"/>
              </a:rPr>
              <a:t>l'hypertexte </a:t>
            </a:r>
            <a:r>
              <a:rPr sz="2600" spc="215" dirty="0">
                <a:solidFill>
                  <a:srgbClr val="404040"/>
                </a:solidFill>
                <a:latin typeface="Verdana"/>
                <a:cs typeface="Verdana"/>
              </a:rPr>
              <a:t>à </a:t>
            </a:r>
            <a:r>
              <a:rPr sz="2600" spc="-20" dirty="0">
                <a:solidFill>
                  <a:srgbClr val="404040"/>
                </a:solidFill>
                <a:latin typeface="Verdana"/>
                <a:cs typeface="Verdana"/>
              </a:rPr>
              <a:t>des </a:t>
            </a:r>
            <a:r>
              <a:rPr sz="2600" spc="10" dirty="0">
                <a:solidFill>
                  <a:srgbClr val="404040"/>
                </a:solidFill>
                <a:latin typeface="Verdana"/>
                <a:cs typeface="Verdana"/>
              </a:rPr>
              <a:t>données </a:t>
            </a:r>
            <a:r>
              <a:rPr sz="2600" spc="-90" dirty="0">
                <a:solidFill>
                  <a:srgbClr val="404040"/>
                </a:solidFill>
                <a:latin typeface="Verdana"/>
                <a:cs typeface="Verdana"/>
              </a:rPr>
              <a:t>multimédias, </a:t>
            </a:r>
            <a:r>
              <a:rPr sz="26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404040"/>
                </a:solidFill>
                <a:latin typeface="Verdana"/>
                <a:cs typeface="Verdana"/>
              </a:rPr>
              <a:t>permettant </a:t>
            </a:r>
            <a:r>
              <a:rPr sz="2600" spc="-50" dirty="0">
                <a:solidFill>
                  <a:srgbClr val="404040"/>
                </a:solidFill>
                <a:latin typeface="Verdana"/>
                <a:cs typeface="Verdana"/>
              </a:rPr>
              <a:t>d'inclure </a:t>
            </a:r>
            <a:r>
              <a:rPr sz="2600" spc="-20" dirty="0">
                <a:solidFill>
                  <a:srgbClr val="404040"/>
                </a:solidFill>
                <a:latin typeface="Verdana"/>
                <a:cs typeface="Verdana"/>
              </a:rPr>
              <a:t>des </a:t>
            </a:r>
            <a:r>
              <a:rPr sz="2600" spc="-135" dirty="0">
                <a:solidFill>
                  <a:srgbClr val="404040"/>
                </a:solidFill>
                <a:latin typeface="Verdana"/>
                <a:cs typeface="Verdana"/>
              </a:rPr>
              <a:t>liens </a:t>
            </a:r>
            <a:r>
              <a:rPr sz="2600" spc="-50" dirty="0">
                <a:solidFill>
                  <a:srgbClr val="404040"/>
                </a:solidFill>
                <a:latin typeface="Verdana"/>
                <a:cs typeface="Verdana"/>
              </a:rPr>
              <a:t>entre </a:t>
            </a:r>
            <a:r>
              <a:rPr sz="2600" spc="-20" dirty="0">
                <a:solidFill>
                  <a:srgbClr val="404040"/>
                </a:solidFill>
                <a:latin typeface="Verdana"/>
                <a:cs typeface="Verdana"/>
              </a:rPr>
              <a:t>des </a:t>
            </a:r>
            <a:r>
              <a:rPr sz="2600" spc="-50" dirty="0">
                <a:solidFill>
                  <a:srgbClr val="404040"/>
                </a:solidFill>
                <a:latin typeface="Verdana"/>
                <a:cs typeface="Verdana"/>
              </a:rPr>
              <a:t>éléments </a:t>
            </a:r>
            <a:r>
              <a:rPr sz="2600" spc="-125" dirty="0">
                <a:solidFill>
                  <a:srgbClr val="404040"/>
                </a:solidFill>
                <a:latin typeface="Verdana"/>
                <a:cs typeface="Verdana"/>
              </a:rPr>
              <a:t>textuels, </a:t>
            </a:r>
            <a:r>
              <a:rPr sz="2600" spc="-160" dirty="0">
                <a:solidFill>
                  <a:srgbClr val="404040"/>
                </a:solidFill>
                <a:latin typeface="Verdana"/>
                <a:cs typeface="Verdana"/>
              </a:rPr>
              <a:t>visuels </a:t>
            </a:r>
            <a:r>
              <a:rPr sz="2600" spc="-5" dirty="0">
                <a:solidFill>
                  <a:srgbClr val="404040"/>
                </a:solidFill>
                <a:latin typeface="Verdana"/>
                <a:cs typeface="Verdana"/>
              </a:rPr>
              <a:t>et </a:t>
            </a:r>
            <a:r>
              <a:rPr sz="26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600" spc="-120" dirty="0">
                <a:solidFill>
                  <a:srgbClr val="404040"/>
                </a:solidFill>
                <a:latin typeface="Verdana"/>
                <a:cs typeface="Verdana"/>
              </a:rPr>
              <a:t>sonores.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121" y="543814"/>
            <a:ext cx="7341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55" dirty="0"/>
              <a:t>Exemple</a:t>
            </a:r>
            <a:r>
              <a:rPr u="none" spc="-40" dirty="0"/>
              <a:t> </a:t>
            </a:r>
            <a:r>
              <a:rPr u="none" spc="-305" dirty="0"/>
              <a:t>:</a:t>
            </a:r>
            <a:r>
              <a:rPr u="none" spc="-25" dirty="0"/>
              <a:t> </a:t>
            </a:r>
            <a:r>
              <a:rPr sz="2400" b="0" u="none" spc="-5" dirty="0">
                <a:latin typeface="Calibri"/>
                <a:cs typeface="Calibri"/>
              </a:rPr>
              <a:t>Encyclopédie</a:t>
            </a:r>
            <a:r>
              <a:rPr sz="2400" b="0" u="none" dirty="0">
                <a:latin typeface="Calibri"/>
                <a:cs typeface="Calibri"/>
              </a:rPr>
              <a:t> </a:t>
            </a:r>
            <a:r>
              <a:rPr sz="2400" b="0" u="none" spc="-10" dirty="0">
                <a:latin typeface="Calibri"/>
                <a:cs typeface="Calibri"/>
              </a:rPr>
              <a:t>Médico-Chirurgicale</a:t>
            </a:r>
            <a:r>
              <a:rPr sz="2400" b="0" u="none" spc="-20" dirty="0">
                <a:latin typeface="Calibri"/>
                <a:cs typeface="Calibri"/>
              </a:rPr>
              <a:t> </a:t>
            </a:r>
            <a:r>
              <a:rPr sz="2400" b="0" u="none" dirty="0">
                <a:latin typeface="Calibri"/>
                <a:cs typeface="Calibri"/>
              </a:rPr>
              <a:t>(EMC)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647" y="1191765"/>
            <a:ext cx="11728704" cy="5666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0448" y="769111"/>
            <a:ext cx="71920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450" dirty="0">
                <a:latin typeface="Verdana"/>
                <a:cs typeface="Verdana"/>
              </a:rPr>
              <a:t>Les</a:t>
            </a:r>
            <a:r>
              <a:rPr u="none" spc="-215" dirty="0">
                <a:latin typeface="Verdana"/>
                <a:cs typeface="Verdana"/>
              </a:rPr>
              <a:t> </a:t>
            </a:r>
            <a:r>
              <a:rPr u="none" spc="-300" dirty="0">
                <a:latin typeface="Verdana"/>
                <a:cs typeface="Verdana"/>
              </a:rPr>
              <a:t>problème</a:t>
            </a:r>
            <a:r>
              <a:rPr u="none" spc="-265" dirty="0">
                <a:latin typeface="Verdana"/>
                <a:cs typeface="Verdana"/>
              </a:rPr>
              <a:t>s</a:t>
            </a:r>
            <a:r>
              <a:rPr u="none" spc="-235" dirty="0">
                <a:latin typeface="Verdana"/>
                <a:cs typeface="Verdana"/>
              </a:rPr>
              <a:t> </a:t>
            </a:r>
            <a:r>
              <a:rPr u="none" spc="-245" dirty="0">
                <a:latin typeface="Verdana"/>
                <a:cs typeface="Verdana"/>
              </a:rPr>
              <a:t>commencent</a:t>
            </a:r>
            <a:r>
              <a:rPr u="none" spc="-120" dirty="0">
                <a:latin typeface="Verdana"/>
                <a:cs typeface="Verdana"/>
              </a:rPr>
              <a:t>,</a:t>
            </a:r>
            <a:r>
              <a:rPr u="none" spc="-225" dirty="0">
                <a:latin typeface="Verdana"/>
                <a:cs typeface="Verdana"/>
              </a:rPr>
              <a:t> </a:t>
            </a:r>
            <a:r>
              <a:rPr u="none" spc="-235" dirty="0">
                <a:latin typeface="Verdana"/>
                <a:cs typeface="Verdana"/>
              </a:rPr>
              <a:t>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605" y="2322855"/>
            <a:ext cx="11728450" cy="1221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40100"/>
              </a:lnSpc>
              <a:spcBef>
                <a:spcPts val="10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  <a:tab pos="1167765" algn="l"/>
                <a:tab pos="1789430" algn="l"/>
                <a:tab pos="3446145" algn="l"/>
                <a:tab pos="4196080" algn="l"/>
                <a:tab pos="4973320" algn="l"/>
                <a:tab pos="6404610" algn="l"/>
              </a:tabLst>
            </a:pPr>
            <a:r>
              <a:rPr sz="2800" b="1" spc="-200" dirty="0">
                <a:solidFill>
                  <a:srgbClr val="A924A4"/>
                </a:solidFill>
                <a:latin typeface="Tahoma"/>
                <a:cs typeface="Tahoma"/>
              </a:rPr>
              <a:t>Plus	</a:t>
            </a:r>
            <a:r>
              <a:rPr sz="2800" b="1" spc="105" dirty="0">
                <a:solidFill>
                  <a:srgbClr val="A924A4"/>
                </a:solidFill>
                <a:latin typeface="Tahoma"/>
                <a:cs typeface="Tahoma"/>
              </a:rPr>
              <a:t>de	</a:t>
            </a:r>
            <a:r>
              <a:rPr sz="2800" b="1" spc="-10" dirty="0">
                <a:solidFill>
                  <a:srgbClr val="A924A4"/>
                </a:solidFill>
                <a:latin typeface="Tahoma"/>
                <a:cs typeface="Tahoma"/>
              </a:rPr>
              <a:t>données	</a:t>
            </a:r>
            <a:r>
              <a:rPr sz="2800" spc="-600" dirty="0">
                <a:solidFill>
                  <a:srgbClr val="444444"/>
                </a:solidFill>
                <a:latin typeface="Verdana"/>
                <a:cs typeface="Verdana"/>
              </a:rPr>
              <a:t>=&gt;	</a:t>
            </a:r>
            <a:r>
              <a:rPr sz="2800" b="1" spc="-5" dirty="0">
                <a:solidFill>
                  <a:srgbClr val="420D9F"/>
                </a:solidFill>
                <a:latin typeface="Tahoma"/>
                <a:cs typeface="Tahoma"/>
              </a:rPr>
              <a:t>des	</a:t>
            </a:r>
            <a:r>
              <a:rPr sz="2800" b="1" spc="-35" dirty="0">
                <a:solidFill>
                  <a:srgbClr val="420D9F"/>
                </a:solidFill>
                <a:latin typeface="Tahoma"/>
                <a:cs typeface="Tahoma"/>
              </a:rPr>
              <a:t>bonnes	</a:t>
            </a:r>
            <a:r>
              <a:rPr sz="2800" b="1" spc="-40" dirty="0">
                <a:solidFill>
                  <a:srgbClr val="420D9F"/>
                </a:solidFill>
                <a:latin typeface="Tahoma"/>
                <a:cs typeface="Tahoma"/>
              </a:rPr>
              <a:t>décision</a:t>
            </a:r>
            <a:r>
              <a:rPr sz="2800" spc="-40" dirty="0">
                <a:solidFill>
                  <a:srgbClr val="444444"/>
                </a:solidFill>
                <a:latin typeface="Verdana"/>
                <a:cs typeface="Verdana"/>
              </a:rPr>
              <a:t>,</a:t>
            </a:r>
            <a:r>
              <a:rPr sz="2800" spc="26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-140" dirty="0">
                <a:solidFill>
                  <a:srgbClr val="444444"/>
                </a:solidFill>
                <a:latin typeface="Verdana"/>
                <a:cs typeface="Verdana"/>
              </a:rPr>
              <a:t>meilleurs</a:t>
            </a:r>
            <a:r>
              <a:rPr sz="2800" spc="27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20D9F"/>
                </a:solidFill>
                <a:latin typeface="Verdana"/>
                <a:cs typeface="Verdana"/>
              </a:rPr>
              <a:t>expérience </a:t>
            </a:r>
            <a:r>
              <a:rPr sz="2800" spc="-969" dirty="0">
                <a:solidFill>
                  <a:srgbClr val="420D9F"/>
                </a:solidFill>
                <a:latin typeface="Verdana"/>
                <a:cs typeface="Verdana"/>
              </a:rPr>
              <a:t> </a:t>
            </a:r>
            <a:r>
              <a:rPr sz="2800" spc="-135" dirty="0">
                <a:solidFill>
                  <a:srgbClr val="420D9F"/>
                </a:solidFill>
                <a:latin typeface="Verdana"/>
                <a:cs typeface="Verdana"/>
              </a:rPr>
              <a:t>utilisateur</a:t>
            </a:r>
            <a:r>
              <a:rPr sz="2800" spc="-210" dirty="0">
                <a:solidFill>
                  <a:srgbClr val="420D9F"/>
                </a:solidFill>
                <a:latin typeface="Verdana"/>
                <a:cs typeface="Verdana"/>
              </a:rPr>
              <a:t> </a:t>
            </a:r>
            <a:r>
              <a:rPr sz="2800" spc="-180" dirty="0">
                <a:solidFill>
                  <a:srgbClr val="420D9F"/>
                </a:solidFill>
                <a:latin typeface="Verdana"/>
                <a:cs typeface="Verdana"/>
              </a:rPr>
              <a:t>(</a:t>
            </a:r>
            <a:r>
              <a:rPr sz="2800" i="1" spc="-180" dirty="0">
                <a:solidFill>
                  <a:srgbClr val="420D9F"/>
                </a:solidFill>
                <a:latin typeface="Verdana"/>
                <a:cs typeface="Verdana"/>
              </a:rPr>
              <a:t>user</a:t>
            </a:r>
            <a:r>
              <a:rPr sz="2800" i="1" spc="-215" dirty="0">
                <a:solidFill>
                  <a:srgbClr val="420D9F"/>
                </a:solidFill>
                <a:latin typeface="Verdana"/>
                <a:cs typeface="Verdana"/>
              </a:rPr>
              <a:t> </a:t>
            </a:r>
            <a:r>
              <a:rPr sz="2800" i="1" spc="-30" dirty="0">
                <a:solidFill>
                  <a:srgbClr val="420D9F"/>
                </a:solidFill>
                <a:latin typeface="Verdana"/>
                <a:cs typeface="Verdana"/>
              </a:rPr>
              <a:t>experience</a:t>
            </a:r>
            <a:r>
              <a:rPr sz="2800" spc="-30" dirty="0">
                <a:solidFill>
                  <a:srgbClr val="420D9F"/>
                </a:solidFill>
                <a:latin typeface="Verdana"/>
                <a:cs typeface="Verdana"/>
              </a:rPr>
              <a:t>)</a:t>
            </a:r>
            <a:r>
              <a:rPr sz="2800" spc="-30" dirty="0">
                <a:solidFill>
                  <a:srgbClr val="444444"/>
                </a:solidFill>
                <a:latin typeface="Verdana"/>
                <a:cs typeface="Verdana"/>
              </a:rPr>
              <a:t>,</a:t>
            </a:r>
            <a:r>
              <a:rPr sz="280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444444"/>
                </a:solidFill>
                <a:latin typeface="Verdana"/>
                <a:cs typeface="Verdana"/>
              </a:rPr>
              <a:t>compétitivité,……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2476" y="4541901"/>
            <a:ext cx="40786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2710" algn="l"/>
                <a:tab pos="2252980" algn="l"/>
              </a:tabLst>
            </a:pPr>
            <a:r>
              <a:rPr sz="2800" spc="55" dirty="0">
                <a:solidFill>
                  <a:srgbClr val="444444"/>
                </a:solidFill>
                <a:latin typeface="Verdana"/>
                <a:cs typeface="Verdana"/>
              </a:rPr>
              <a:t>a</a:t>
            </a:r>
            <a:r>
              <a:rPr sz="2800" spc="65" dirty="0">
                <a:solidFill>
                  <a:srgbClr val="444444"/>
                </a:solidFill>
                <a:latin typeface="Verdana"/>
                <a:cs typeface="Verdana"/>
              </a:rPr>
              <a:t>v</a:t>
            </a:r>
            <a:r>
              <a:rPr sz="2800" spc="245" dirty="0">
                <a:solidFill>
                  <a:srgbClr val="444444"/>
                </a:solidFill>
                <a:latin typeface="Verdana"/>
                <a:cs typeface="Verdana"/>
              </a:rPr>
              <a:t>ec</a:t>
            </a:r>
            <a:r>
              <a:rPr sz="28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800" spc="-25" dirty="0">
                <a:solidFill>
                  <a:srgbClr val="444444"/>
                </a:solidFill>
                <a:latin typeface="Verdana"/>
                <a:cs typeface="Verdana"/>
              </a:rPr>
              <a:t>l</a:t>
            </a:r>
            <a:r>
              <a:rPr sz="2800" spc="-40" dirty="0">
                <a:solidFill>
                  <a:srgbClr val="444444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444444"/>
                </a:solidFill>
                <a:latin typeface="Verdana"/>
                <a:cs typeface="Verdana"/>
              </a:rPr>
              <a:t>s</a:t>
            </a:r>
            <a:r>
              <a:rPr sz="28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800" spc="-35" dirty="0">
                <a:solidFill>
                  <a:srgbClr val="444444"/>
                </a:solidFill>
                <a:latin typeface="Verdana"/>
                <a:cs typeface="Verdana"/>
              </a:rPr>
              <a:t>d</a:t>
            </a:r>
            <a:r>
              <a:rPr sz="2800" spc="-10" dirty="0">
                <a:solidFill>
                  <a:srgbClr val="444444"/>
                </a:solidFill>
                <a:latin typeface="Verdana"/>
                <a:cs typeface="Verdana"/>
              </a:rPr>
              <a:t>i</a:t>
            </a:r>
            <a:r>
              <a:rPr sz="2800" spc="-110" dirty="0">
                <a:solidFill>
                  <a:srgbClr val="444444"/>
                </a:solidFill>
                <a:latin typeface="Verdana"/>
                <a:cs typeface="Verdana"/>
              </a:rPr>
              <a:t>f</a:t>
            </a:r>
            <a:r>
              <a:rPr sz="2800" spc="-130" dirty="0">
                <a:solidFill>
                  <a:srgbClr val="444444"/>
                </a:solidFill>
                <a:latin typeface="Verdana"/>
                <a:cs typeface="Verdana"/>
              </a:rPr>
              <a:t>f</a:t>
            </a:r>
            <a:r>
              <a:rPr sz="2800" spc="-20" dirty="0">
                <a:solidFill>
                  <a:srgbClr val="444444"/>
                </a:solidFill>
                <a:latin typeface="Verdana"/>
                <a:cs typeface="Verdana"/>
              </a:rPr>
              <a:t>ére</a:t>
            </a:r>
            <a:r>
              <a:rPr sz="2800" spc="-140" dirty="0">
                <a:solidFill>
                  <a:srgbClr val="444444"/>
                </a:solidFill>
                <a:latin typeface="Verdana"/>
                <a:cs typeface="Verdana"/>
              </a:rPr>
              <a:t>n</a:t>
            </a:r>
            <a:r>
              <a:rPr sz="2800" spc="-85" dirty="0">
                <a:solidFill>
                  <a:srgbClr val="444444"/>
                </a:solidFill>
                <a:latin typeface="Verdana"/>
                <a:cs typeface="Verdana"/>
              </a:rPr>
              <a:t>t</a:t>
            </a:r>
            <a:r>
              <a:rPr sz="2800" spc="-114" dirty="0">
                <a:solidFill>
                  <a:srgbClr val="444444"/>
                </a:solidFill>
                <a:latin typeface="Verdana"/>
                <a:cs typeface="Verdana"/>
              </a:rPr>
              <a:t>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605" y="3816222"/>
            <a:ext cx="7223759" cy="177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25" dirty="0">
                <a:solidFill>
                  <a:srgbClr val="444444"/>
                </a:solidFill>
                <a:latin typeface="Verdana"/>
                <a:cs typeface="Verdana"/>
              </a:rPr>
              <a:t>Comment</a:t>
            </a:r>
            <a:r>
              <a:rPr sz="2800" spc="-20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b="1" spc="-60" dirty="0">
                <a:solidFill>
                  <a:srgbClr val="420D9F"/>
                </a:solidFill>
                <a:latin typeface="Tahoma"/>
                <a:cs typeface="Tahoma"/>
              </a:rPr>
              <a:t>stocker</a:t>
            </a:r>
            <a:r>
              <a:rPr sz="2800" b="1" spc="-50" dirty="0">
                <a:solidFill>
                  <a:srgbClr val="420D9F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444444"/>
                </a:solidFill>
                <a:latin typeface="Verdana"/>
                <a:cs typeface="Verdana"/>
              </a:rPr>
              <a:t>ces</a:t>
            </a:r>
            <a:r>
              <a:rPr sz="2800" spc="-2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44444"/>
                </a:solidFill>
                <a:latin typeface="Verdana"/>
                <a:cs typeface="Verdana"/>
              </a:rPr>
              <a:t>données</a:t>
            </a:r>
            <a:r>
              <a:rPr sz="2800" spc="-20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120" dirty="0">
                <a:solidFill>
                  <a:srgbClr val="444444"/>
                </a:solidFill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355"/>
              </a:spcBef>
              <a:tabLst>
                <a:tab pos="2553335" algn="l"/>
                <a:tab pos="4650740" algn="l"/>
                <a:tab pos="5699125" algn="l"/>
              </a:tabLst>
            </a:pPr>
            <a:r>
              <a:rPr sz="2250" spc="-15" dirty="0">
                <a:solidFill>
                  <a:srgbClr val="B31166"/>
                </a:solidFill>
                <a:latin typeface="Wingdings"/>
                <a:cs typeface="Wingdings"/>
              </a:rPr>
              <a:t></a:t>
            </a:r>
            <a:r>
              <a:rPr sz="2800" spc="55" dirty="0">
                <a:solidFill>
                  <a:srgbClr val="444444"/>
                </a:solidFill>
                <a:latin typeface="Verdana"/>
                <a:cs typeface="Verdana"/>
              </a:rPr>
              <a:t>Com</a:t>
            </a:r>
            <a:r>
              <a:rPr sz="2800" spc="75" dirty="0">
                <a:solidFill>
                  <a:srgbClr val="444444"/>
                </a:solidFill>
                <a:latin typeface="Verdana"/>
                <a:cs typeface="Verdana"/>
              </a:rPr>
              <a:t>m</a:t>
            </a:r>
            <a:r>
              <a:rPr sz="2800" spc="-25" dirty="0">
                <a:solidFill>
                  <a:srgbClr val="444444"/>
                </a:solidFill>
                <a:latin typeface="Verdana"/>
                <a:cs typeface="Verdana"/>
              </a:rPr>
              <a:t>ent</a:t>
            </a:r>
            <a:r>
              <a:rPr sz="28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420D9F"/>
                </a:solidFill>
                <a:latin typeface="Tahoma"/>
                <a:cs typeface="Tahoma"/>
              </a:rPr>
              <a:t>Échange</a:t>
            </a:r>
            <a:r>
              <a:rPr sz="2800" b="1" spc="-15" dirty="0">
                <a:solidFill>
                  <a:srgbClr val="420D9F"/>
                </a:solidFill>
                <a:latin typeface="Tahoma"/>
                <a:cs typeface="Tahoma"/>
              </a:rPr>
              <a:t>r</a:t>
            </a:r>
            <a:r>
              <a:rPr sz="2800" b="1" dirty="0">
                <a:solidFill>
                  <a:srgbClr val="420D9F"/>
                </a:solidFill>
                <a:latin typeface="Tahoma"/>
                <a:cs typeface="Tahoma"/>
              </a:rPr>
              <a:t>	</a:t>
            </a:r>
            <a:r>
              <a:rPr sz="2800" spc="229" dirty="0">
                <a:solidFill>
                  <a:srgbClr val="444444"/>
                </a:solidFill>
                <a:latin typeface="Verdana"/>
                <a:cs typeface="Verdana"/>
              </a:rPr>
              <a:t>c</a:t>
            </a:r>
            <a:r>
              <a:rPr sz="2800" spc="270" dirty="0">
                <a:solidFill>
                  <a:srgbClr val="444444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444444"/>
                </a:solidFill>
                <a:latin typeface="Verdana"/>
                <a:cs typeface="Verdana"/>
              </a:rPr>
              <a:t>s</a:t>
            </a:r>
            <a:r>
              <a:rPr sz="2800" dirty="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sz="2800" spc="145" dirty="0">
                <a:solidFill>
                  <a:srgbClr val="444444"/>
                </a:solidFill>
                <a:latin typeface="Verdana"/>
                <a:cs typeface="Verdana"/>
              </a:rPr>
              <a:t>d</a:t>
            </a:r>
            <a:r>
              <a:rPr sz="2800" spc="150" dirty="0">
                <a:solidFill>
                  <a:srgbClr val="444444"/>
                </a:solidFill>
                <a:latin typeface="Verdana"/>
                <a:cs typeface="Verdana"/>
              </a:rPr>
              <a:t>o</a:t>
            </a:r>
            <a:r>
              <a:rPr sz="2800" spc="-70" dirty="0">
                <a:solidFill>
                  <a:srgbClr val="444444"/>
                </a:solidFill>
                <a:latin typeface="Verdana"/>
                <a:cs typeface="Verdana"/>
              </a:rPr>
              <a:t>n</a:t>
            </a:r>
            <a:r>
              <a:rPr sz="2800" spc="-65" dirty="0">
                <a:solidFill>
                  <a:srgbClr val="444444"/>
                </a:solidFill>
                <a:latin typeface="Verdana"/>
                <a:cs typeface="Verdana"/>
              </a:rPr>
              <a:t>n</a:t>
            </a:r>
            <a:r>
              <a:rPr sz="2800" spc="145" dirty="0">
                <a:solidFill>
                  <a:srgbClr val="444444"/>
                </a:solidFill>
                <a:latin typeface="Verdana"/>
                <a:cs typeface="Verdana"/>
              </a:rPr>
              <a:t>é</a:t>
            </a:r>
            <a:r>
              <a:rPr sz="2800" spc="155" dirty="0">
                <a:solidFill>
                  <a:srgbClr val="444444"/>
                </a:solidFill>
                <a:latin typeface="Verdana"/>
                <a:cs typeface="Verdana"/>
              </a:rPr>
              <a:t>e</a:t>
            </a:r>
            <a:r>
              <a:rPr sz="2800" spc="-375" dirty="0">
                <a:solidFill>
                  <a:srgbClr val="444444"/>
                </a:solidFill>
                <a:latin typeface="Verdana"/>
                <a:cs typeface="Verdana"/>
              </a:rPr>
              <a:t>s</a:t>
            </a:r>
            <a:endParaRPr sz="2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1345"/>
              </a:spcBef>
            </a:pPr>
            <a:r>
              <a:rPr sz="2800" b="1" spc="40" dirty="0">
                <a:solidFill>
                  <a:srgbClr val="420D9F"/>
                </a:solidFill>
                <a:latin typeface="Tahoma"/>
                <a:cs typeface="Tahoma"/>
              </a:rPr>
              <a:t>app</a:t>
            </a:r>
            <a:r>
              <a:rPr sz="2800" b="1" spc="25" dirty="0">
                <a:solidFill>
                  <a:srgbClr val="420D9F"/>
                </a:solidFill>
                <a:latin typeface="Tahoma"/>
                <a:cs typeface="Tahoma"/>
              </a:rPr>
              <a:t>l</a:t>
            </a:r>
            <a:r>
              <a:rPr sz="2800" b="1" spc="-60" dirty="0">
                <a:solidFill>
                  <a:srgbClr val="420D9F"/>
                </a:solidFill>
                <a:latin typeface="Tahoma"/>
                <a:cs typeface="Tahoma"/>
              </a:rPr>
              <a:t>ications</a:t>
            </a:r>
            <a:r>
              <a:rPr sz="2800" b="1" spc="-30" dirty="0">
                <a:solidFill>
                  <a:srgbClr val="420D9F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444444"/>
                </a:solidFill>
                <a:latin typeface="Verdana"/>
                <a:cs typeface="Verdana"/>
              </a:rPr>
              <a:t>du</a:t>
            </a:r>
            <a:r>
              <a:rPr sz="2800" spc="-2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-670" dirty="0">
                <a:solidFill>
                  <a:srgbClr val="444444"/>
                </a:solidFill>
                <a:latin typeface="Verdana"/>
                <a:cs typeface="Verdana"/>
              </a:rPr>
              <a:t>S</a:t>
            </a:r>
            <a:r>
              <a:rPr sz="2800" spc="-409" dirty="0">
                <a:solidFill>
                  <a:srgbClr val="444444"/>
                </a:solidFill>
                <a:latin typeface="Verdana"/>
                <a:cs typeface="Verdana"/>
              </a:rPr>
              <a:t>I</a:t>
            </a:r>
            <a:r>
              <a:rPr sz="2800" spc="-204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120" dirty="0">
                <a:solidFill>
                  <a:srgbClr val="444444"/>
                </a:solidFill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605" y="5863538"/>
            <a:ext cx="6309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20" dirty="0">
                <a:solidFill>
                  <a:srgbClr val="B31166"/>
                </a:solidFill>
                <a:latin typeface="Wingdings"/>
                <a:cs typeface="Wingdings"/>
              </a:rPr>
              <a:t></a:t>
            </a:r>
            <a:r>
              <a:rPr sz="2800" spc="20" dirty="0">
                <a:solidFill>
                  <a:srgbClr val="444444"/>
                </a:solidFill>
                <a:latin typeface="Verdana"/>
                <a:cs typeface="Verdana"/>
              </a:rPr>
              <a:t>Comment</a:t>
            </a:r>
            <a:r>
              <a:rPr sz="2800" spc="-19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b="1" spc="-50" dirty="0">
                <a:solidFill>
                  <a:srgbClr val="A924A4"/>
                </a:solidFill>
                <a:latin typeface="Tahoma"/>
                <a:cs typeface="Tahoma"/>
              </a:rPr>
              <a:t>analyser</a:t>
            </a:r>
            <a:r>
              <a:rPr sz="2800" b="1" spc="-40" dirty="0">
                <a:solidFill>
                  <a:srgbClr val="A924A4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444444"/>
                </a:solidFill>
                <a:latin typeface="Verdana"/>
                <a:cs typeface="Verdana"/>
              </a:rPr>
              <a:t>ces</a:t>
            </a:r>
            <a:r>
              <a:rPr sz="2800" spc="-2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44444"/>
                </a:solidFill>
                <a:latin typeface="Verdana"/>
                <a:cs typeface="Verdana"/>
              </a:rPr>
              <a:t>données</a:t>
            </a:r>
            <a:r>
              <a:rPr sz="2800" spc="-17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2800" spc="120" dirty="0">
                <a:solidFill>
                  <a:srgbClr val="444444"/>
                </a:solidFill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947" y="1032459"/>
            <a:ext cx="49250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5" dirty="0"/>
              <a:t>Stockage</a:t>
            </a:r>
            <a:r>
              <a:rPr u="none" spc="-90" dirty="0"/>
              <a:t> </a:t>
            </a:r>
            <a:r>
              <a:rPr u="none" spc="135" dirty="0"/>
              <a:t>de</a:t>
            </a:r>
            <a:r>
              <a:rPr u="none" spc="-80" dirty="0"/>
              <a:t> </a:t>
            </a:r>
            <a:r>
              <a:rPr u="none" spc="-10" dirty="0"/>
              <a:t>données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876" y="2224921"/>
            <a:ext cx="10998200" cy="3954779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3600" spc="-160" dirty="0">
                <a:solidFill>
                  <a:srgbClr val="404040"/>
                </a:solidFill>
                <a:latin typeface="Verdana"/>
                <a:cs typeface="Verdana"/>
              </a:rPr>
              <a:t>Diffé</a:t>
            </a:r>
            <a:r>
              <a:rPr sz="3600" spc="-15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3600" spc="-75" dirty="0">
                <a:solidFill>
                  <a:srgbClr val="404040"/>
                </a:solidFill>
                <a:latin typeface="Verdana"/>
                <a:cs typeface="Verdana"/>
              </a:rPr>
              <a:t>entes</a:t>
            </a:r>
            <a:r>
              <a:rPr sz="3600" spc="-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175" dirty="0">
                <a:solidFill>
                  <a:srgbClr val="404040"/>
                </a:solidFill>
                <a:latin typeface="Verdana"/>
                <a:cs typeface="Verdana"/>
              </a:rPr>
              <a:t>solution</a:t>
            </a:r>
            <a:r>
              <a:rPr sz="3600" spc="-180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3600" spc="-22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640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endParaRPr sz="3600">
              <a:latin typeface="Verdana"/>
              <a:cs typeface="Verdana"/>
            </a:endParaRPr>
          </a:p>
          <a:p>
            <a:pPr marL="927100" lvl="1" indent="-407034">
              <a:lnSpc>
                <a:spcPct val="100000"/>
              </a:lnSpc>
              <a:spcBef>
                <a:spcPts val="1005"/>
              </a:spcBef>
              <a:buChar char="-"/>
              <a:tabLst>
                <a:tab pos="926465" algn="l"/>
                <a:tab pos="927100" algn="l"/>
              </a:tabLst>
            </a:pPr>
            <a:r>
              <a:rPr sz="3600" spc="-21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3600" spc="-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185" dirty="0">
                <a:solidFill>
                  <a:srgbClr val="404040"/>
                </a:solidFill>
                <a:latin typeface="Verdana"/>
                <a:cs typeface="Verdana"/>
              </a:rPr>
              <a:t>structures</a:t>
            </a:r>
            <a:r>
              <a:rPr sz="3600" spc="-22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65" dirty="0">
                <a:solidFill>
                  <a:srgbClr val="404040"/>
                </a:solidFill>
                <a:latin typeface="Verdana"/>
                <a:cs typeface="Verdana"/>
              </a:rPr>
              <a:t>volatil</a:t>
            </a:r>
            <a:r>
              <a:rPr sz="3600" spc="-8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600" spc="-22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65" dirty="0">
                <a:solidFill>
                  <a:srgbClr val="404040"/>
                </a:solidFill>
                <a:latin typeface="Verdana"/>
                <a:cs typeface="Verdana"/>
              </a:rPr>
              <a:t>(t</a:t>
            </a:r>
            <a:r>
              <a:rPr sz="3600" spc="-8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600" spc="-60" dirty="0">
                <a:solidFill>
                  <a:srgbClr val="404040"/>
                </a:solidFill>
                <a:latin typeface="Verdana"/>
                <a:cs typeface="Verdana"/>
              </a:rPr>
              <a:t>bleaux</a:t>
            </a:r>
            <a:r>
              <a:rPr sz="3600" spc="-40" dirty="0">
                <a:solidFill>
                  <a:srgbClr val="404040"/>
                </a:solidFill>
                <a:latin typeface="Verdana"/>
                <a:cs typeface="Verdana"/>
              </a:rPr>
              <a:t>,</a:t>
            </a:r>
            <a:r>
              <a:rPr sz="3600" spc="-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Verdana"/>
                <a:cs typeface="Verdana"/>
              </a:rPr>
              <a:t>ma</a:t>
            </a:r>
            <a:r>
              <a:rPr sz="360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3600" spc="-145" dirty="0">
                <a:solidFill>
                  <a:srgbClr val="404040"/>
                </a:solidFill>
                <a:latin typeface="Verdana"/>
                <a:cs typeface="Verdana"/>
              </a:rPr>
              <a:t>rices,</a:t>
            </a:r>
            <a:r>
              <a:rPr sz="3600" spc="-3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650" dirty="0">
                <a:solidFill>
                  <a:srgbClr val="404040"/>
                </a:solidFill>
                <a:latin typeface="Verdana"/>
                <a:cs typeface="Verdana"/>
              </a:rPr>
              <a:t>…</a:t>
            </a:r>
            <a:r>
              <a:rPr sz="3600" spc="-315" dirty="0">
                <a:solidFill>
                  <a:srgbClr val="404040"/>
                </a:solidFill>
                <a:latin typeface="Verdana"/>
                <a:cs typeface="Verdana"/>
              </a:rPr>
              <a:t>.)</a:t>
            </a:r>
            <a:endParaRPr sz="3600">
              <a:latin typeface="Verdana"/>
              <a:cs typeface="Verdana"/>
            </a:endParaRPr>
          </a:p>
          <a:p>
            <a:pPr marL="927100" lvl="1" indent="-407034">
              <a:lnSpc>
                <a:spcPct val="100000"/>
              </a:lnSpc>
              <a:spcBef>
                <a:spcPts val="1000"/>
              </a:spcBef>
              <a:buChar char="-"/>
              <a:tabLst>
                <a:tab pos="926465" algn="l"/>
                <a:tab pos="927100" algn="l"/>
              </a:tabLst>
            </a:pPr>
            <a:r>
              <a:rPr sz="3600" spc="-21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3600" spc="-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404040"/>
                </a:solidFill>
                <a:latin typeface="Verdana"/>
                <a:cs typeface="Verdana"/>
              </a:rPr>
              <a:t>fi</a:t>
            </a:r>
            <a:r>
              <a:rPr sz="3600" spc="2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600" spc="-220" dirty="0">
                <a:solidFill>
                  <a:srgbClr val="404040"/>
                </a:solidFill>
                <a:latin typeface="Verdana"/>
                <a:cs typeface="Verdana"/>
              </a:rPr>
              <a:t>hiers</a:t>
            </a:r>
            <a:r>
              <a:rPr sz="3600" spc="-2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280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3600" spc="-229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3600" spc="-155" dirty="0">
                <a:solidFill>
                  <a:srgbClr val="404040"/>
                </a:solidFill>
                <a:latin typeface="Verdana"/>
                <a:cs typeface="Verdana"/>
              </a:rPr>
              <a:t>ex</a:t>
            </a:r>
            <a:r>
              <a:rPr sz="3600" spc="-10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3600" spc="-200" dirty="0">
                <a:solidFill>
                  <a:srgbClr val="404040"/>
                </a:solidFill>
                <a:latin typeface="Verdana"/>
                <a:cs typeface="Verdana"/>
              </a:rPr>
              <a:t>es,</a:t>
            </a:r>
            <a:r>
              <a:rPr sz="3600" spc="-2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85" dirty="0">
                <a:solidFill>
                  <a:srgbClr val="404040"/>
                </a:solidFill>
                <a:latin typeface="Verdana"/>
                <a:cs typeface="Verdana"/>
              </a:rPr>
              <a:t>multimé</a:t>
            </a:r>
            <a:r>
              <a:rPr sz="3600" spc="-80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600" spc="-210" dirty="0">
                <a:solidFill>
                  <a:srgbClr val="404040"/>
                </a:solidFill>
                <a:latin typeface="Verdana"/>
                <a:cs typeface="Verdana"/>
              </a:rPr>
              <a:t>ias</a:t>
            </a:r>
            <a:r>
              <a:rPr sz="3600" spc="-160" dirty="0">
                <a:solidFill>
                  <a:srgbClr val="404040"/>
                </a:solidFill>
                <a:latin typeface="Verdana"/>
                <a:cs typeface="Verdana"/>
              </a:rPr>
              <a:t>,</a:t>
            </a:r>
            <a:r>
              <a:rPr sz="3600" spc="-2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650" dirty="0">
                <a:solidFill>
                  <a:srgbClr val="404040"/>
                </a:solidFill>
                <a:latin typeface="Verdana"/>
                <a:cs typeface="Verdana"/>
              </a:rPr>
              <a:t>…</a:t>
            </a:r>
            <a:r>
              <a:rPr sz="3600" spc="-310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endParaRPr sz="3600">
              <a:latin typeface="Verdana"/>
              <a:cs typeface="Verdana"/>
            </a:endParaRPr>
          </a:p>
          <a:p>
            <a:pPr marL="525780">
              <a:lnSpc>
                <a:spcPct val="100000"/>
              </a:lnSpc>
              <a:spcBef>
                <a:spcPts val="1019"/>
              </a:spcBef>
              <a:tabLst>
                <a:tab pos="975360" algn="l"/>
              </a:tabLst>
            </a:pPr>
            <a:r>
              <a:rPr sz="3600" b="1" spc="-40" dirty="0">
                <a:solidFill>
                  <a:srgbClr val="FF0000"/>
                </a:solidFill>
                <a:latin typeface="Tahoma"/>
                <a:cs typeface="Tahoma"/>
              </a:rPr>
              <a:t>-	</a:t>
            </a:r>
            <a:r>
              <a:rPr sz="3600" b="1" spc="-195" dirty="0">
                <a:solidFill>
                  <a:srgbClr val="FF0000"/>
                </a:solidFill>
                <a:latin typeface="Tahoma"/>
                <a:cs typeface="Tahoma"/>
              </a:rPr>
              <a:t>Les</a:t>
            </a:r>
            <a:r>
              <a:rPr sz="3600" b="1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600" b="1" spc="-15" dirty="0">
                <a:solidFill>
                  <a:srgbClr val="FF0000"/>
                </a:solidFill>
                <a:latin typeface="Tahoma"/>
                <a:cs typeface="Tahoma"/>
              </a:rPr>
              <a:t>bases</a:t>
            </a:r>
            <a:r>
              <a:rPr sz="3600" b="1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600" b="1" spc="135" dirty="0">
                <a:solidFill>
                  <a:srgbClr val="FF0000"/>
                </a:solidFill>
                <a:latin typeface="Tahoma"/>
                <a:cs typeface="Tahoma"/>
              </a:rPr>
              <a:t>de</a:t>
            </a:r>
            <a:r>
              <a:rPr sz="3600" b="1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Tahoma"/>
                <a:cs typeface="Tahoma"/>
              </a:rPr>
              <a:t>données</a:t>
            </a:r>
            <a:endParaRPr sz="3600">
              <a:latin typeface="Tahoma"/>
              <a:cs typeface="Tahoma"/>
            </a:endParaRPr>
          </a:p>
          <a:p>
            <a:pPr marL="12700" marR="1924685" indent="507365">
              <a:lnSpc>
                <a:spcPct val="100000"/>
              </a:lnSpc>
              <a:spcBef>
                <a:spcPts val="985"/>
              </a:spcBef>
              <a:tabLst>
                <a:tab pos="926465" algn="l"/>
              </a:tabLst>
            </a:pPr>
            <a:r>
              <a:rPr sz="3600" spc="-440" dirty="0">
                <a:solidFill>
                  <a:srgbClr val="404040"/>
                </a:solidFill>
                <a:latin typeface="Verdana"/>
                <a:cs typeface="Verdana"/>
              </a:rPr>
              <a:t>-	</a:t>
            </a:r>
            <a:r>
              <a:rPr sz="3600" spc="-210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3600" spc="-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55" dirty="0">
                <a:solidFill>
                  <a:srgbClr val="404040"/>
                </a:solidFill>
                <a:latin typeface="Verdana"/>
                <a:cs typeface="Verdana"/>
              </a:rPr>
              <a:t>DataWerhou</a:t>
            </a:r>
            <a:r>
              <a:rPr sz="3600" spc="-60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3600" spc="195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600" spc="-22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45" dirty="0">
                <a:solidFill>
                  <a:srgbClr val="404040"/>
                </a:solidFill>
                <a:latin typeface="Verdana"/>
                <a:cs typeface="Verdana"/>
              </a:rPr>
              <a:t>(</a:t>
            </a:r>
            <a:r>
              <a:rPr sz="3600" spc="-5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600" spc="-125" dirty="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sz="3600" spc="-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204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3600" spc="-480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3600" spc="-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105" dirty="0">
                <a:solidFill>
                  <a:srgbClr val="404040"/>
                </a:solidFill>
                <a:latin typeface="Verdana"/>
                <a:cs typeface="Verdana"/>
              </a:rPr>
              <a:t>besoins  </a:t>
            </a:r>
            <a:r>
              <a:rPr sz="3600" spc="5" dirty="0">
                <a:solidFill>
                  <a:srgbClr val="404040"/>
                </a:solidFill>
                <a:latin typeface="Verdana"/>
                <a:cs typeface="Verdana"/>
              </a:rPr>
              <a:t>d’analytique)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10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362" y="588009"/>
            <a:ext cx="10088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9657080" algn="l"/>
              </a:tabLst>
            </a:pPr>
            <a:r>
              <a:rPr sz="3200" b="0" u="none" spc="-130" dirty="0">
                <a:latin typeface="Verdana"/>
                <a:cs typeface="Verdana"/>
              </a:rPr>
              <a:t>Historique</a:t>
            </a:r>
            <a:r>
              <a:rPr sz="3200" b="0" u="none" spc="-229" dirty="0">
                <a:latin typeface="Verdana"/>
                <a:cs typeface="Verdana"/>
              </a:rPr>
              <a:t> </a:t>
            </a:r>
            <a:r>
              <a:rPr sz="3200" b="0" u="none" spc="-20" dirty="0">
                <a:latin typeface="Verdana"/>
                <a:cs typeface="Verdana"/>
              </a:rPr>
              <a:t>des</a:t>
            </a:r>
            <a:r>
              <a:rPr sz="3200" b="0" u="none" spc="-270" dirty="0">
                <a:latin typeface="Verdana"/>
                <a:cs typeface="Verdana"/>
              </a:rPr>
              <a:t> </a:t>
            </a:r>
            <a:r>
              <a:rPr sz="3200" b="0" u="none" spc="-225" dirty="0">
                <a:latin typeface="Verdana"/>
                <a:cs typeface="Verdana"/>
              </a:rPr>
              <a:t>BD</a:t>
            </a:r>
            <a:r>
              <a:rPr sz="3200" b="0" u="none" spc="-215" dirty="0">
                <a:latin typeface="Verdana"/>
                <a:cs typeface="Verdana"/>
              </a:rPr>
              <a:t> </a:t>
            </a:r>
            <a:r>
              <a:rPr sz="3200" b="0" u="none" spc="-114" dirty="0">
                <a:latin typeface="Verdana"/>
                <a:cs typeface="Verdana"/>
              </a:rPr>
              <a:t>(selon</a:t>
            </a:r>
            <a:r>
              <a:rPr sz="3200" b="0" u="none" spc="-265" dirty="0">
                <a:latin typeface="Verdana"/>
                <a:cs typeface="Verdana"/>
              </a:rPr>
              <a:t> </a:t>
            </a:r>
            <a:r>
              <a:rPr sz="3200" b="0" u="none" spc="-35" dirty="0">
                <a:latin typeface="Verdana"/>
                <a:cs typeface="Verdana"/>
              </a:rPr>
              <a:t>le</a:t>
            </a:r>
            <a:r>
              <a:rPr sz="3200" b="0" u="none" spc="-240" dirty="0">
                <a:latin typeface="Verdana"/>
                <a:cs typeface="Verdana"/>
              </a:rPr>
              <a:t> </a:t>
            </a:r>
            <a:r>
              <a:rPr sz="3200" b="0" u="none" spc="60" dirty="0">
                <a:latin typeface="Verdana"/>
                <a:cs typeface="Verdana"/>
              </a:rPr>
              <a:t>modèle</a:t>
            </a:r>
            <a:r>
              <a:rPr sz="3200" b="0" u="none" spc="-260" dirty="0">
                <a:latin typeface="Verdana"/>
                <a:cs typeface="Verdana"/>
              </a:rPr>
              <a:t> </a:t>
            </a:r>
            <a:r>
              <a:rPr sz="3200" b="0" u="none" spc="185" dirty="0">
                <a:latin typeface="Verdana"/>
                <a:cs typeface="Verdana"/>
              </a:rPr>
              <a:t>de</a:t>
            </a:r>
            <a:r>
              <a:rPr sz="3200" b="0" u="none" spc="-245" dirty="0">
                <a:latin typeface="Verdana"/>
                <a:cs typeface="Verdana"/>
              </a:rPr>
              <a:t> </a:t>
            </a:r>
            <a:r>
              <a:rPr sz="3200" b="0" u="none" spc="-20" dirty="0">
                <a:latin typeface="Verdana"/>
                <a:cs typeface="Verdana"/>
              </a:rPr>
              <a:t>données)	</a:t>
            </a:r>
            <a:r>
              <a:rPr sz="4200" b="0" u="none" spc="-359" baseline="10912" dirty="0">
                <a:solidFill>
                  <a:srgbClr val="FFFFFF"/>
                </a:solidFill>
                <a:latin typeface="Verdana"/>
                <a:cs typeface="Verdana"/>
              </a:rPr>
              <a:t>11</a:t>
            </a:r>
            <a:endParaRPr sz="4200" baseline="10912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316732"/>
            <a:ext cx="11887200" cy="55412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715" y="475487"/>
            <a:ext cx="10161270" cy="10096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5784" y="601802"/>
            <a:ext cx="9587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5" dirty="0"/>
              <a:t>Stockage</a:t>
            </a:r>
            <a:r>
              <a:rPr u="none" spc="-65" dirty="0"/>
              <a:t> </a:t>
            </a:r>
            <a:r>
              <a:rPr u="none" spc="-130" dirty="0"/>
              <a:t>et</a:t>
            </a:r>
            <a:r>
              <a:rPr u="none" spc="-50" dirty="0"/>
              <a:t> </a:t>
            </a:r>
            <a:r>
              <a:rPr u="none" spc="105" dirty="0"/>
              <a:t>échange</a:t>
            </a:r>
            <a:r>
              <a:rPr u="none" spc="-70" dirty="0"/>
              <a:t> </a:t>
            </a:r>
            <a:r>
              <a:rPr u="none" dirty="0"/>
              <a:t>des</a:t>
            </a:r>
            <a:r>
              <a:rPr u="none" spc="-45" dirty="0"/>
              <a:t> </a:t>
            </a:r>
            <a:r>
              <a:rPr u="none" spc="-10" dirty="0"/>
              <a:t>données</a:t>
            </a:r>
            <a:r>
              <a:rPr u="none" spc="-50" dirty="0"/>
              <a:t> </a:t>
            </a:r>
            <a:r>
              <a:rPr u="none" spc="-20" dirty="0"/>
              <a:t>du</a:t>
            </a:r>
            <a:r>
              <a:rPr u="none" spc="-55" dirty="0"/>
              <a:t> </a:t>
            </a:r>
            <a:r>
              <a:rPr u="none" spc="-400" dirty="0"/>
              <a:t>WEB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6115" y="1386836"/>
            <a:ext cx="11527790" cy="5471160"/>
            <a:chOff x="166115" y="1386836"/>
            <a:chExt cx="11527790" cy="54711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115" y="1386836"/>
              <a:ext cx="11527536" cy="54711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464551" y="5247131"/>
              <a:ext cx="975360" cy="449580"/>
            </a:xfrm>
            <a:custGeom>
              <a:avLst/>
              <a:gdLst/>
              <a:ahLst/>
              <a:cxnLst/>
              <a:rect l="l" t="t" r="r" b="b"/>
              <a:pathLst>
                <a:path w="975359" h="449579">
                  <a:moveTo>
                    <a:pt x="900429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13"/>
                  </a:lnTo>
                  <a:lnTo>
                    <a:pt x="21939" y="427631"/>
                  </a:lnTo>
                  <a:lnTo>
                    <a:pt x="45755" y="443690"/>
                  </a:lnTo>
                  <a:lnTo>
                    <a:pt x="74929" y="449580"/>
                  </a:lnTo>
                  <a:lnTo>
                    <a:pt x="900429" y="449580"/>
                  </a:lnTo>
                  <a:lnTo>
                    <a:pt x="929604" y="443690"/>
                  </a:lnTo>
                  <a:lnTo>
                    <a:pt x="953420" y="427631"/>
                  </a:lnTo>
                  <a:lnTo>
                    <a:pt x="969474" y="403813"/>
                  </a:lnTo>
                  <a:lnTo>
                    <a:pt x="975359" y="374650"/>
                  </a:lnTo>
                  <a:lnTo>
                    <a:pt x="975359" y="74930"/>
                  </a:lnTo>
                  <a:lnTo>
                    <a:pt x="969474" y="45755"/>
                  </a:lnTo>
                  <a:lnTo>
                    <a:pt x="953420" y="21939"/>
                  </a:lnTo>
                  <a:lnTo>
                    <a:pt x="929604" y="5885"/>
                  </a:lnTo>
                  <a:lnTo>
                    <a:pt x="900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7100" y="611123"/>
            <a:ext cx="4904994" cy="10096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7101" y="608075"/>
            <a:ext cx="447598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Nouveaux</a:t>
            </a:r>
            <a:r>
              <a:rPr spc="-125" dirty="0"/>
              <a:t> </a:t>
            </a:r>
            <a:r>
              <a:rPr spc="-175" dirty="0"/>
              <a:t>Besoins: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889504" y="1164336"/>
            <a:ext cx="5932170" cy="1012825"/>
            <a:chOff x="2889504" y="1164336"/>
            <a:chExt cx="5932170" cy="10128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1420" y="1240574"/>
              <a:ext cx="4226814" cy="906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9504" y="1164336"/>
              <a:ext cx="854202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63824" y="1793786"/>
              <a:ext cx="561581" cy="906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5536" y="1164336"/>
              <a:ext cx="854201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1568" y="1167384"/>
              <a:ext cx="2742438" cy="10096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45836" y="1167384"/>
              <a:ext cx="3275838" cy="10096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75666" y="1290904"/>
            <a:ext cx="11667490" cy="432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7025" algn="ctr">
              <a:lnSpc>
                <a:spcPct val="100000"/>
              </a:lnSpc>
              <a:spcBef>
                <a:spcPts val="100"/>
              </a:spcBef>
            </a:pPr>
            <a:r>
              <a:rPr sz="3600" b="1" u="heavy" spc="-28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Tahoma"/>
                <a:cs typeface="Tahoma"/>
              </a:rPr>
              <a:t>1</a:t>
            </a:r>
            <a:r>
              <a:rPr sz="3600" b="1" u="heavy" spc="-12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Tahoma"/>
                <a:cs typeface="Tahoma"/>
              </a:rPr>
              <a:t>.</a:t>
            </a:r>
            <a:r>
              <a:rPr sz="3600" b="1" u="heavy" spc="-5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Tahoma"/>
                <a:cs typeface="Tahoma"/>
              </a:rPr>
              <a:t> </a:t>
            </a:r>
            <a:r>
              <a:rPr sz="3600" spc="80" dirty="0">
                <a:solidFill>
                  <a:srgbClr val="FFC000"/>
                </a:solidFill>
                <a:latin typeface="Verdana"/>
                <a:cs typeface="Verdana"/>
              </a:rPr>
              <a:t>Échang</a:t>
            </a:r>
            <a:r>
              <a:rPr sz="3600" spc="85" dirty="0">
                <a:solidFill>
                  <a:srgbClr val="FFC000"/>
                </a:solidFill>
                <a:latin typeface="Verdana"/>
                <a:cs typeface="Verdana"/>
              </a:rPr>
              <a:t>e</a:t>
            </a:r>
            <a:r>
              <a:rPr sz="3600" spc="-254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210" dirty="0">
                <a:solidFill>
                  <a:srgbClr val="FFC000"/>
                </a:solidFill>
                <a:latin typeface="Verdana"/>
                <a:cs typeface="Verdana"/>
              </a:rPr>
              <a:t>d</a:t>
            </a:r>
            <a:r>
              <a:rPr sz="3600" spc="204" dirty="0">
                <a:solidFill>
                  <a:srgbClr val="FFC000"/>
                </a:solidFill>
                <a:latin typeface="Verdana"/>
                <a:cs typeface="Verdana"/>
              </a:rPr>
              <a:t>e</a:t>
            </a:r>
            <a:r>
              <a:rPr sz="3600" spc="-28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rgbClr val="FFC000"/>
                </a:solidFill>
                <a:latin typeface="Verdana"/>
                <a:cs typeface="Verdana"/>
              </a:rPr>
              <a:t>données</a:t>
            </a:r>
            <a:endParaRPr sz="3600">
              <a:latin typeface="Verdana"/>
              <a:cs typeface="Verdana"/>
            </a:endParaRPr>
          </a:p>
          <a:p>
            <a:pPr marL="457200" indent="-445134">
              <a:lnSpc>
                <a:spcPct val="100000"/>
              </a:lnSpc>
              <a:spcBef>
                <a:spcPts val="3504"/>
              </a:spcBef>
              <a:buClr>
                <a:srgbClr val="B31166"/>
              </a:buClr>
              <a:buSzPct val="79687"/>
              <a:buFont typeface="Wingdings"/>
              <a:buChar char=""/>
              <a:tabLst>
                <a:tab pos="457200" algn="l"/>
                <a:tab pos="457834" algn="l"/>
                <a:tab pos="2757170" algn="l"/>
              </a:tabLst>
            </a:pPr>
            <a:r>
              <a:rPr sz="3200" b="1" spc="15" dirty="0">
                <a:solidFill>
                  <a:srgbClr val="806DB0"/>
                </a:solidFill>
                <a:latin typeface="Roboto"/>
                <a:cs typeface="Roboto"/>
              </a:rPr>
              <a:t>Exemple</a:t>
            </a:r>
            <a:r>
              <a:rPr sz="3200" b="1" spc="-30" dirty="0">
                <a:solidFill>
                  <a:srgbClr val="806DB0"/>
                </a:solidFill>
                <a:latin typeface="Roboto"/>
                <a:cs typeface="Roboto"/>
              </a:rPr>
              <a:t> </a:t>
            </a:r>
            <a:r>
              <a:rPr sz="3200" b="1" dirty="0">
                <a:solidFill>
                  <a:srgbClr val="806DB0"/>
                </a:solidFill>
                <a:latin typeface="Roboto"/>
                <a:cs typeface="Roboto"/>
              </a:rPr>
              <a:t>1</a:t>
            </a:r>
            <a:r>
              <a:rPr sz="3200" b="1" spc="15" dirty="0">
                <a:solidFill>
                  <a:srgbClr val="806DB0"/>
                </a:solidFill>
                <a:latin typeface="Roboto"/>
                <a:cs typeface="Roboto"/>
              </a:rPr>
              <a:t> </a:t>
            </a:r>
            <a:r>
              <a:rPr sz="3200" spc="-35" dirty="0">
                <a:solidFill>
                  <a:srgbClr val="333333"/>
                </a:solidFill>
                <a:latin typeface="Roboto"/>
                <a:cs typeface="Roboto"/>
              </a:rPr>
              <a:t>:	</a:t>
            </a:r>
            <a:r>
              <a:rPr sz="3200" spc="5" dirty="0">
                <a:solidFill>
                  <a:srgbClr val="333333"/>
                </a:solidFill>
                <a:latin typeface="Roboto"/>
                <a:cs typeface="Roboto"/>
              </a:rPr>
              <a:t>Expoítation</a:t>
            </a:r>
            <a:r>
              <a:rPr sz="3200" spc="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5" dirty="0">
                <a:solidFill>
                  <a:srgbClr val="333333"/>
                </a:solidFill>
                <a:latin typeface="Roboto"/>
                <a:cs typeface="Roboto"/>
              </a:rPr>
              <a:t>de</a:t>
            </a:r>
            <a:r>
              <a:rPr sz="3200" spc="-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-15" dirty="0">
                <a:solidFill>
                  <a:srgbClr val="333333"/>
                </a:solidFill>
                <a:latin typeface="Roboto"/>
                <a:cs typeface="Roboto"/>
              </a:rPr>
              <a:t>données</a:t>
            </a:r>
            <a:r>
              <a:rPr sz="3200" spc="-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-25" dirty="0">
                <a:solidFill>
                  <a:srgbClr val="333333"/>
                </a:solidFill>
                <a:latin typeface="Roboto"/>
                <a:cs typeface="Roboto"/>
              </a:rPr>
              <a:t>dans</a:t>
            </a:r>
            <a:r>
              <a:rPr sz="3200" spc="-1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dirty="0">
                <a:solidFill>
                  <a:srgbClr val="333333"/>
                </a:solidFill>
                <a:latin typeface="Roboto"/>
                <a:cs typeface="Roboto"/>
              </a:rPr>
              <a:t>Excel.</a:t>
            </a:r>
            <a:endParaRPr sz="3200">
              <a:latin typeface="Roboto"/>
              <a:cs typeface="Roboto"/>
            </a:endParaRPr>
          </a:p>
          <a:p>
            <a:pPr marL="12700" marR="5080" indent="202565">
              <a:lnSpc>
                <a:spcPct val="100299"/>
              </a:lnSpc>
              <a:spcBef>
                <a:spcPts val="1000"/>
              </a:spcBef>
            </a:pPr>
            <a:r>
              <a:rPr sz="3200" spc="-560" dirty="0">
                <a:solidFill>
                  <a:srgbClr val="333333"/>
                </a:solidFill>
                <a:latin typeface="Roboto"/>
                <a:cs typeface="Roboto"/>
              </a:rPr>
              <a:t>-</a:t>
            </a:r>
            <a:r>
              <a:rPr sz="3200" spc="-55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40" dirty="0">
                <a:solidFill>
                  <a:srgbClr val="333333"/>
                </a:solidFill>
                <a:latin typeface="Roboto"/>
                <a:cs typeface="Roboto"/>
              </a:rPr>
              <a:t>Ce </a:t>
            </a:r>
            <a:r>
              <a:rPr sz="3200" spc="-35" dirty="0">
                <a:solidFill>
                  <a:srgbClr val="333333"/>
                </a:solidFill>
                <a:latin typeface="Roboto"/>
                <a:cs typeface="Roboto"/>
              </a:rPr>
              <a:t>type </a:t>
            </a:r>
            <a:r>
              <a:rPr sz="3200" dirty="0">
                <a:solidFill>
                  <a:srgbClr val="333333"/>
                </a:solidFill>
                <a:latin typeface="Roboto"/>
                <a:cs typeface="Roboto"/>
              </a:rPr>
              <a:t>d’expoít </a:t>
            </a:r>
            <a:r>
              <a:rPr sz="3200" spc="5" dirty="0">
                <a:solidFill>
                  <a:srgbClr val="333333"/>
                </a:solidFill>
                <a:latin typeface="Roboto"/>
                <a:cs typeface="Roboto"/>
              </a:rPr>
              <a:t>de </a:t>
            </a:r>
            <a:r>
              <a:rPr sz="3200" spc="-15" dirty="0">
                <a:solidFill>
                  <a:srgbClr val="333333"/>
                </a:solidFill>
                <a:latin typeface="Roboto"/>
                <a:cs typeface="Roboto"/>
              </a:rPr>
              <a:t>données est </a:t>
            </a:r>
            <a:r>
              <a:rPr sz="3200" spc="-5" dirty="0">
                <a:solidFill>
                  <a:srgbClr val="333333"/>
                </a:solidFill>
                <a:latin typeface="Roboto"/>
                <a:cs typeface="Roboto"/>
              </a:rPr>
              <a:t>se fait </a:t>
            </a:r>
            <a:r>
              <a:rPr sz="3200" spc="-15" dirty="0">
                <a:solidFill>
                  <a:srgbClr val="FF0000"/>
                </a:solidFill>
                <a:latin typeface="Roboto"/>
                <a:cs typeface="Roboto"/>
              </a:rPr>
              <a:t>manuellement </a:t>
            </a:r>
            <a:r>
              <a:rPr sz="3200" spc="-40" dirty="0">
                <a:solidFill>
                  <a:srgbClr val="333333"/>
                </a:solidFill>
                <a:latin typeface="Roboto"/>
                <a:cs typeface="Roboto"/>
              </a:rPr>
              <a:t>utilisant </a:t>
            </a:r>
            <a:r>
              <a:rPr sz="3200" spc="-78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-5" dirty="0">
                <a:solidFill>
                  <a:srgbClr val="333333"/>
                </a:solidFill>
                <a:latin typeface="Roboto"/>
                <a:cs typeface="Roboto"/>
              </a:rPr>
              <a:t>des</a:t>
            </a:r>
            <a:r>
              <a:rPr sz="3200" spc="-1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-30" dirty="0">
                <a:solidFill>
                  <a:srgbClr val="333333"/>
                </a:solidFill>
                <a:latin typeface="Roboto"/>
                <a:cs typeface="Roboto"/>
              </a:rPr>
              <a:t>outils.</a:t>
            </a:r>
            <a:endParaRPr sz="32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4850">
              <a:latin typeface="Roboto"/>
              <a:cs typeface="Roboto"/>
            </a:endParaRPr>
          </a:p>
          <a:p>
            <a:pPr marL="355600" marR="878840" indent="-342900">
              <a:lnSpc>
                <a:spcPct val="100000"/>
              </a:lnSpc>
            </a:pPr>
            <a:r>
              <a:rPr sz="2550" spc="60" dirty="0">
                <a:solidFill>
                  <a:srgbClr val="B31166"/>
                </a:solidFill>
                <a:latin typeface="Symbol"/>
                <a:cs typeface="Symbol"/>
              </a:rPr>
              <a:t></a:t>
            </a:r>
            <a:r>
              <a:rPr sz="3200" b="1" spc="60" dirty="0">
                <a:solidFill>
                  <a:srgbClr val="C00000"/>
                </a:solidFill>
                <a:latin typeface="Roboto"/>
                <a:cs typeface="Roboto"/>
              </a:rPr>
              <a:t>MAIS </a:t>
            </a:r>
            <a:r>
              <a:rPr sz="3200" spc="-10" dirty="0">
                <a:solidFill>
                  <a:srgbClr val="333333"/>
                </a:solidFill>
                <a:latin typeface="Roboto"/>
                <a:cs typeface="Roboto"/>
              </a:rPr>
              <a:t>comment </a:t>
            </a:r>
            <a:r>
              <a:rPr sz="3200" spc="-5" dirty="0">
                <a:solidFill>
                  <a:srgbClr val="333333"/>
                </a:solidFill>
                <a:latin typeface="Roboto"/>
                <a:cs typeface="Roboto"/>
              </a:rPr>
              <a:t>le </a:t>
            </a:r>
            <a:r>
              <a:rPr sz="3200" spc="65" dirty="0">
                <a:solidFill>
                  <a:srgbClr val="333333"/>
                </a:solidFill>
                <a:latin typeface="Roboto"/>
                <a:cs typeface="Roboto"/>
              </a:rPr>
              <a:t>píogíammeuí </a:t>
            </a:r>
            <a:r>
              <a:rPr sz="3200" spc="-20" dirty="0">
                <a:solidFill>
                  <a:srgbClr val="333333"/>
                </a:solidFill>
                <a:latin typeface="Roboto"/>
                <a:cs typeface="Roboto"/>
              </a:rPr>
              <a:t>peut </a:t>
            </a:r>
            <a:r>
              <a:rPr sz="3200" spc="55" dirty="0">
                <a:solidFill>
                  <a:srgbClr val="333333"/>
                </a:solidFill>
                <a:latin typeface="Roboto"/>
                <a:cs typeface="Roboto"/>
              </a:rPr>
              <a:t>íéaliseí </a:t>
            </a:r>
            <a:r>
              <a:rPr sz="3200" spc="-10" dirty="0">
                <a:solidFill>
                  <a:srgbClr val="333333"/>
                </a:solidFill>
                <a:latin typeface="Roboto"/>
                <a:cs typeface="Roboto"/>
              </a:rPr>
              <a:t>ça </a:t>
            </a:r>
            <a:r>
              <a:rPr sz="3200" spc="-30" dirty="0">
                <a:solidFill>
                  <a:srgbClr val="333333"/>
                </a:solidFill>
                <a:latin typeface="Roboto"/>
                <a:cs typeface="Roboto"/>
              </a:rPr>
              <a:t>dans </a:t>
            </a:r>
            <a:r>
              <a:rPr sz="3200" spc="-5" dirty="0">
                <a:solidFill>
                  <a:srgbClr val="333333"/>
                </a:solidFill>
                <a:latin typeface="Roboto"/>
                <a:cs typeface="Roboto"/>
              </a:rPr>
              <a:t>ces </a:t>
            </a:r>
            <a:r>
              <a:rPr sz="3200" spc="-78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50" dirty="0">
                <a:solidFill>
                  <a:srgbClr val="333333"/>
                </a:solidFill>
                <a:latin typeface="Roboto"/>
                <a:cs typeface="Roboto"/>
              </a:rPr>
              <a:t>píogíammes</a:t>
            </a:r>
            <a:r>
              <a:rPr sz="3200" spc="-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Roboto"/>
                <a:cs typeface="Roboto"/>
              </a:rPr>
              <a:t>automatiquement</a:t>
            </a:r>
            <a:r>
              <a:rPr sz="3200" spc="-5" dirty="0">
                <a:solidFill>
                  <a:srgbClr val="FF0000"/>
                </a:solidFill>
                <a:latin typeface="Roboto"/>
                <a:cs typeface="Roboto"/>
              </a:rPr>
              <a:t> </a:t>
            </a:r>
            <a:r>
              <a:rPr sz="3200" spc="-10" dirty="0">
                <a:solidFill>
                  <a:srgbClr val="333333"/>
                </a:solidFill>
                <a:latin typeface="Roboto"/>
                <a:cs typeface="Roboto"/>
              </a:rPr>
              <a:t>?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13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14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73708" y="246888"/>
            <a:ext cx="9119235" cy="1560195"/>
            <a:chOff x="1473708" y="246888"/>
            <a:chExt cx="9119235" cy="1560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7391" y="246888"/>
              <a:ext cx="4775454" cy="1009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1712" y="876338"/>
              <a:ext cx="4226814" cy="906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0012" y="1424940"/>
              <a:ext cx="433565" cy="754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3708" y="794004"/>
              <a:ext cx="854202" cy="10096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0552" y="1424940"/>
              <a:ext cx="8061198" cy="754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4248" y="797052"/>
              <a:ext cx="8608314" cy="100965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17344" y="374141"/>
            <a:ext cx="854519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ts val="4315"/>
              </a:lnSpc>
              <a:spcBef>
                <a:spcPts val="100"/>
              </a:spcBef>
            </a:pPr>
            <a:r>
              <a:rPr spc="-20" dirty="0"/>
              <a:t>Nouveaux</a:t>
            </a:r>
            <a:r>
              <a:rPr spc="-95" dirty="0"/>
              <a:t> </a:t>
            </a:r>
            <a:r>
              <a:rPr spc="-175" dirty="0"/>
              <a:t>Besoins:</a:t>
            </a:r>
          </a:p>
          <a:p>
            <a:pPr algn="ctr">
              <a:lnSpc>
                <a:spcPts val="4315"/>
              </a:lnSpc>
            </a:pPr>
            <a:r>
              <a:rPr spc="-50" dirty="0"/>
              <a:t> </a:t>
            </a:r>
            <a:r>
              <a:rPr spc="-285" dirty="0"/>
              <a:t>2</a:t>
            </a:r>
            <a:r>
              <a:rPr b="0" spc="-315" dirty="0">
                <a:latin typeface="Verdana"/>
                <a:cs typeface="Verdana"/>
              </a:rPr>
              <a:t>.</a:t>
            </a:r>
            <a:r>
              <a:rPr b="0" spc="-260" dirty="0">
                <a:latin typeface="Verdana"/>
                <a:cs typeface="Verdana"/>
              </a:rPr>
              <a:t> </a:t>
            </a:r>
            <a:r>
              <a:rPr b="0" spc="-90" dirty="0">
                <a:latin typeface="Verdana"/>
                <a:cs typeface="Verdana"/>
              </a:rPr>
              <a:t>Desc</a:t>
            </a:r>
            <a:r>
              <a:rPr b="0" spc="-75" dirty="0">
                <a:latin typeface="Verdana"/>
                <a:cs typeface="Verdana"/>
              </a:rPr>
              <a:t>riptio</a:t>
            </a:r>
            <a:r>
              <a:rPr b="0" spc="-85" dirty="0">
                <a:latin typeface="Verdana"/>
                <a:cs typeface="Verdana"/>
              </a:rPr>
              <a:t>n</a:t>
            </a:r>
            <a:r>
              <a:rPr b="0" spc="-250" dirty="0">
                <a:latin typeface="Verdana"/>
                <a:cs typeface="Verdana"/>
              </a:rPr>
              <a:t> </a:t>
            </a:r>
            <a:r>
              <a:rPr b="0" spc="215" dirty="0">
                <a:latin typeface="Verdana"/>
                <a:cs typeface="Verdana"/>
              </a:rPr>
              <a:t>d</a:t>
            </a:r>
            <a:r>
              <a:rPr b="0" spc="195" dirty="0">
                <a:latin typeface="Verdana"/>
                <a:cs typeface="Verdana"/>
              </a:rPr>
              <a:t>e</a:t>
            </a:r>
            <a:r>
              <a:rPr b="0" spc="-270" dirty="0">
                <a:latin typeface="Verdana"/>
                <a:cs typeface="Verdana"/>
              </a:rPr>
              <a:t> </a:t>
            </a:r>
            <a:r>
              <a:rPr b="0" spc="95" dirty="0">
                <a:latin typeface="Verdana"/>
                <a:cs typeface="Verdana"/>
              </a:rPr>
              <a:t>donnée</a:t>
            </a:r>
            <a:r>
              <a:rPr b="0" spc="-480" dirty="0">
                <a:latin typeface="Verdana"/>
                <a:cs typeface="Verdana"/>
              </a:rPr>
              <a:t>s</a:t>
            </a:r>
            <a:r>
              <a:rPr b="0" spc="-265" dirty="0">
                <a:latin typeface="Verdana"/>
                <a:cs typeface="Verdana"/>
              </a:rPr>
              <a:t> </a:t>
            </a:r>
            <a:r>
              <a:rPr b="0" spc="-50" dirty="0">
                <a:latin typeface="Verdana"/>
                <a:cs typeface="Verdana"/>
              </a:rPr>
              <a:t>spécifiques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540763" y="1344167"/>
            <a:ext cx="8730615" cy="1009650"/>
            <a:chOff x="1540763" y="1344167"/>
            <a:chExt cx="8730615" cy="100965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5084" y="1972055"/>
              <a:ext cx="8181594" cy="754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0763" y="1344167"/>
              <a:ext cx="7847838" cy="10096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19971" y="1344167"/>
              <a:ext cx="1055370" cy="10096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77171" y="1344167"/>
              <a:ext cx="893826" cy="10096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33932" y="1468628"/>
            <a:ext cx="8737600" cy="382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1185">
              <a:lnSpc>
                <a:spcPct val="100000"/>
              </a:lnSpc>
              <a:spcBef>
                <a:spcPts val="100"/>
              </a:spcBef>
            </a:pPr>
            <a:r>
              <a:rPr sz="3600" u="heavy" spc="-2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(mathématique</a:t>
            </a:r>
            <a:r>
              <a:rPr sz="3600" u="heavy" spc="-31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,</a:t>
            </a:r>
            <a:r>
              <a:rPr sz="3600" u="heavy" spc="-26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-2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chimie</a:t>
            </a:r>
            <a:r>
              <a:rPr sz="3600" u="heavy" spc="-31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,</a:t>
            </a:r>
            <a:r>
              <a:rPr sz="3600" u="heavy" spc="-26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-4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images</a:t>
            </a:r>
            <a:r>
              <a:rPr sz="3600" u="heavy" spc="-31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,</a:t>
            </a:r>
            <a:r>
              <a:rPr sz="3600" u="heavy" spc="-22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65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…</a:t>
            </a:r>
            <a:r>
              <a:rPr sz="3600" u="heavy" spc="-31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.)</a:t>
            </a:r>
            <a:endParaRPr sz="3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-40" dirty="0">
                <a:solidFill>
                  <a:srgbClr val="404040"/>
                </a:solidFill>
                <a:latin typeface="Verdana"/>
                <a:cs typeface="Verdana"/>
              </a:rPr>
              <a:t>Multimédia,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Mathématique,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-90" dirty="0">
                <a:solidFill>
                  <a:srgbClr val="404040"/>
                </a:solidFill>
                <a:latin typeface="Verdana"/>
                <a:cs typeface="Verdana"/>
              </a:rPr>
              <a:t>Imagerie,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WEB,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130" dirty="0">
                <a:solidFill>
                  <a:srgbClr val="404040"/>
                </a:solidFill>
                <a:latin typeface="Verdana"/>
                <a:cs typeface="Verdana"/>
              </a:rPr>
              <a:t>….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15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87552" y="233172"/>
            <a:ext cx="9821545" cy="1560195"/>
            <a:chOff x="987552" y="233172"/>
            <a:chExt cx="9821545" cy="1560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80" y="233172"/>
              <a:ext cx="4775454" cy="1009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862622"/>
              <a:ext cx="4226813" cy="906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856" y="1411224"/>
              <a:ext cx="433565" cy="754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552" y="780288"/>
              <a:ext cx="854202" cy="10096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4396" y="1411224"/>
              <a:ext cx="8765286" cy="754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8092" y="783336"/>
              <a:ext cx="9310878" cy="100965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30719" y="359790"/>
            <a:ext cx="924941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ts val="4315"/>
              </a:lnSpc>
              <a:spcBef>
                <a:spcPts val="100"/>
              </a:spcBef>
            </a:pPr>
            <a:r>
              <a:rPr spc="-20" dirty="0"/>
              <a:t>Nouveaux</a:t>
            </a:r>
            <a:r>
              <a:rPr spc="-95" dirty="0"/>
              <a:t> </a:t>
            </a:r>
            <a:r>
              <a:rPr spc="-175" dirty="0"/>
              <a:t>Besoins:</a:t>
            </a:r>
          </a:p>
          <a:p>
            <a:pPr algn="ctr">
              <a:lnSpc>
                <a:spcPts val="4315"/>
              </a:lnSpc>
            </a:pPr>
            <a:r>
              <a:rPr spc="-50" dirty="0"/>
              <a:t> </a:t>
            </a:r>
            <a:r>
              <a:rPr spc="-285" dirty="0"/>
              <a:t>3</a:t>
            </a:r>
            <a:r>
              <a:rPr b="0" spc="-315" dirty="0">
                <a:latin typeface="Verdana"/>
                <a:cs typeface="Verdana"/>
              </a:rPr>
              <a:t>.</a:t>
            </a:r>
            <a:r>
              <a:rPr b="0" spc="-260" dirty="0">
                <a:latin typeface="Verdana"/>
                <a:cs typeface="Verdana"/>
              </a:rPr>
              <a:t> </a:t>
            </a:r>
            <a:r>
              <a:rPr b="0" spc="-55" dirty="0">
                <a:latin typeface="Verdana"/>
                <a:cs typeface="Verdana"/>
              </a:rPr>
              <a:t>Sauvega</a:t>
            </a:r>
            <a:r>
              <a:rPr b="0" spc="-50" dirty="0">
                <a:latin typeface="Verdana"/>
                <a:cs typeface="Verdana"/>
              </a:rPr>
              <a:t>r</a:t>
            </a:r>
            <a:r>
              <a:rPr b="0" spc="215" dirty="0">
                <a:latin typeface="Verdana"/>
                <a:cs typeface="Verdana"/>
              </a:rPr>
              <a:t>d</a:t>
            </a:r>
            <a:r>
              <a:rPr b="0" spc="195" dirty="0">
                <a:latin typeface="Verdana"/>
                <a:cs typeface="Verdana"/>
              </a:rPr>
              <a:t>e</a:t>
            </a:r>
            <a:r>
              <a:rPr b="0" spc="-254" dirty="0">
                <a:latin typeface="Verdana"/>
                <a:cs typeface="Verdana"/>
              </a:rPr>
              <a:t> </a:t>
            </a:r>
            <a:r>
              <a:rPr b="0" spc="-30" dirty="0">
                <a:latin typeface="Verdana"/>
                <a:cs typeface="Verdana"/>
              </a:rPr>
              <a:t>standard</a:t>
            </a:r>
            <a:r>
              <a:rPr b="0" spc="-480" dirty="0">
                <a:latin typeface="Verdana"/>
                <a:cs typeface="Verdana"/>
              </a:rPr>
              <a:t>s</a:t>
            </a:r>
            <a:r>
              <a:rPr b="0" spc="-260" dirty="0">
                <a:latin typeface="Verdana"/>
                <a:cs typeface="Verdana"/>
              </a:rPr>
              <a:t> </a:t>
            </a:r>
            <a:r>
              <a:rPr b="0" spc="215" dirty="0">
                <a:latin typeface="Verdana"/>
                <a:cs typeface="Verdana"/>
              </a:rPr>
              <a:t>d</a:t>
            </a:r>
            <a:r>
              <a:rPr b="0" spc="195" dirty="0">
                <a:latin typeface="Verdana"/>
                <a:cs typeface="Verdana"/>
              </a:rPr>
              <a:t>e</a:t>
            </a:r>
            <a:r>
              <a:rPr b="0" spc="-270" dirty="0">
                <a:latin typeface="Verdana"/>
                <a:cs typeface="Verdana"/>
              </a:rPr>
              <a:t> </a:t>
            </a:r>
            <a:r>
              <a:rPr b="0" spc="225" dirty="0">
                <a:latin typeface="Verdana"/>
                <a:cs typeface="Verdana"/>
              </a:rPr>
              <a:t>d</a:t>
            </a:r>
            <a:r>
              <a:rPr b="0" spc="75" dirty="0">
                <a:latin typeface="Verdana"/>
                <a:cs typeface="Verdana"/>
              </a:rPr>
              <a:t>onnée</a:t>
            </a:r>
            <a:r>
              <a:rPr b="0" spc="-480" dirty="0">
                <a:latin typeface="Verdana"/>
                <a:cs typeface="Verdana"/>
              </a:rPr>
              <a:t>s</a:t>
            </a:r>
            <a:r>
              <a:rPr b="0" spc="-280" dirty="0">
                <a:latin typeface="Verdana"/>
                <a:cs typeface="Verdana"/>
              </a:rPr>
              <a:t> </a:t>
            </a:r>
            <a:r>
              <a:rPr b="0" spc="229" dirty="0">
                <a:latin typeface="Verdana"/>
                <a:cs typeface="Verdana"/>
              </a:rPr>
              <a:t>d</a:t>
            </a:r>
            <a:r>
              <a:rPr b="0" spc="195" dirty="0">
                <a:latin typeface="Verdana"/>
                <a:cs typeface="Verdana"/>
              </a:rPr>
              <a:t>e</a:t>
            </a: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055" y="1330452"/>
            <a:ext cx="9883902" cy="10096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29157" y="1453718"/>
            <a:ext cx="9582150" cy="137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100"/>
              </a:spcBef>
            </a:pPr>
            <a:r>
              <a:rPr sz="3600" u="heavy" spc="-1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petite</a:t>
            </a:r>
            <a:r>
              <a:rPr sz="3600" u="heavy" spc="-27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-8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taille</a:t>
            </a:r>
            <a:r>
              <a:rPr sz="3600" u="heavy" spc="-26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-10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(pour</a:t>
            </a:r>
            <a:r>
              <a:rPr sz="3600" u="heavy" spc="-28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1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la</a:t>
            </a:r>
            <a:r>
              <a:rPr sz="3600" u="heavy" spc="-25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-3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rapidité</a:t>
            </a:r>
            <a:r>
              <a:rPr sz="3600" u="heavy" spc="-27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204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de</a:t>
            </a:r>
            <a:r>
              <a:rPr sz="3600" u="heavy" spc="-27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1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la</a:t>
            </a:r>
            <a:r>
              <a:rPr sz="3600" u="heavy" spc="-26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 </a:t>
            </a:r>
            <a:r>
              <a:rPr sz="3600" u="heavy" spc="-65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Verdana"/>
                <a:cs typeface="Verdana"/>
              </a:rPr>
              <a:t>lecture)</a:t>
            </a:r>
            <a:endParaRPr sz="36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92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-16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8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100" dirty="0">
                <a:solidFill>
                  <a:srgbClr val="404040"/>
                </a:solidFill>
                <a:latin typeface="Verdana"/>
                <a:cs typeface="Verdana"/>
              </a:rPr>
              <a:t>fichiers</a:t>
            </a:r>
            <a:r>
              <a:rPr sz="2800" spc="-2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5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8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Verdana"/>
                <a:cs typeface="Verdana"/>
              </a:rPr>
              <a:t>configuration</a:t>
            </a:r>
            <a:r>
              <a:rPr sz="28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8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applications</a:t>
            </a:r>
            <a:r>
              <a:rPr sz="2800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45" dirty="0">
                <a:solidFill>
                  <a:srgbClr val="404040"/>
                </a:solidFill>
                <a:latin typeface="Verdana"/>
                <a:cs typeface="Verdana"/>
              </a:rPr>
              <a:t>,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3375" y="1958339"/>
            <a:ext cx="9335262" cy="754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0440"/>
            <a:ext cx="1954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90" dirty="0"/>
              <a:t>Solutions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11" y="1107947"/>
            <a:ext cx="12085320" cy="5710555"/>
            <a:chOff x="19811" y="1107947"/>
            <a:chExt cx="12085320" cy="5710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688" y="5750050"/>
              <a:ext cx="11934444" cy="10683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1" y="1107947"/>
              <a:ext cx="11914631" cy="41818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76721" y="5625845"/>
              <a:ext cx="402590" cy="498475"/>
            </a:xfrm>
            <a:custGeom>
              <a:avLst/>
              <a:gdLst/>
              <a:ahLst/>
              <a:cxnLst/>
              <a:rect l="l" t="t" r="r" b="b"/>
              <a:pathLst>
                <a:path w="402589" h="498475">
                  <a:moveTo>
                    <a:pt x="301751" y="0"/>
                  </a:moveTo>
                  <a:lnTo>
                    <a:pt x="100583" y="0"/>
                  </a:lnTo>
                  <a:lnTo>
                    <a:pt x="100583" y="297179"/>
                  </a:lnTo>
                  <a:lnTo>
                    <a:pt x="0" y="297179"/>
                  </a:lnTo>
                  <a:lnTo>
                    <a:pt x="201167" y="498347"/>
                  </a:lnTo>
                  <a:lnTo>
                    <a:pt x="402336" y="297179"/>
                  </a:lnTo>
                  <a:lnTo>
                    <a:pt x="301751" y="297179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6721" y="5625845"/>
              <a:ext cx="402590" cy="498475"/>
            </a:xfrm>
            <a:custGeom>
              <a:avLst/>
              <a:gdLst/>
              <a:ahLst/>
              <a:cxnLst/>
              <a:rect l="l" t="t" r="r" b="b"/>
              <a:pathLst>
                <a:path w="402589" h="498475">
                  <a:moveTo>
                    <a:pt x="0" y="297179"/>
                  </a:moveTo>
                  <a:lnTo>
                    <a:pt x="100583" y="297179"/>
                  </a:lnTo>
                  <a:lnTo>
                    <a:pt x="100583" y="0"/>
                  </a:lnTo>
                  <a:lnTo>
                    <a:pt x="301751" y="0"/>
                  </a:lnTo>
                  <a:lnTo>
                    <a:pt x="301751" y="297179"/>
                  </a:lnTo>
                  <a:lnTo>
                    <a:pt x="402336" y="297179"/>
                  </a:lnTo>
                  <a:lnTo>
                    <a:pt x="201167" y="498347"/>
                  </a:lnTo>
                  <a:lnTo>
                    <a:pt x="0" y="297179"/>
                  </a:lnTo>
                  <a:close/>
                </a:path>
              </a:pathLst>
            </a:custGeom>
            <a:ln w="19050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16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7622" y="5276494"/>
            <a:ext cx="8969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95" dirty="0">
                <a:solidFill>
                  <a:srgbClr val="641BEB"/>
                </a:solidFill>
                <a:latin typeface="Verdana"/>
                <a:cs typeface="Verdana"/>
              </a:rPr>
              <a:t>-</a:t>
            </a:r>
            <a:r>
              <a:rPr sz="2400" spc="-17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641BEB"/>
                </a:solidFill>
                <a:latin typeface="Verdana"/>
                <a:cs typeface="Verdana"/>
              </a:rPr>
              <a:t>La</a:t>
            </a:r>
            <a:r>
              <a:rPr sz="2400" spc="-17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641BEB"/>
                </a:solidFill>
                <a:latin typeface="Verdana"/>
                <a:cs typeface="Verdana"/>
              </a:rPr>
              <a:t>majorité</a:t>
            </a:r>
            <a:r>
              <a:rPr sz="2400" spc="-21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641BEB"/>
                </a:solidFill>
                <a:latin typeface="Verdana"/>
                <a:cs typeface="Verdana"/>
              </a:rPr>
              <a:t>de</a:t>
            </a:r>
            <a:r>
              <a:rPr sz="2400" spc="-16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641BEB"/>
                </a:solidFill>
                <a:latin typeface="Verdana"/>
                <a:cs typeface="Verdana"/>
              </a:rPr>
              <a:t>données</a:t>
            </a:r>
            <a:r>
              <a:rPr sz="2400" spc="-16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641BEB"/>
                </a:solidFill>
                <a:latin typeface="Verdana"/>
                <a:cs typeface="Verdana"/>
              </a:rPr>
              <a:t>échangées</a:t>
            </a:r>
            <a:r>
              <a:rPr sz="2400" spc="-17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641BEB"/>
                </a:solidFill>
                <a:latin typeface="Verdana"/>
                <a:cs typeface="Verdana"/>
              </a:rPr>
              <a:t>ne</a:t>
            </a:r>
            <a:r>
              <a:rPr sz="2400" spc="-180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641BEB"/>
                </a:solidFill>
                <a:latin typeface="Verdana"/>
                <a:cs typeface="Verdana"/>
              </a:rPr>
              <a:t>sont</a:t>
            </a:r>
            <a:r>
              <a:rPr sz="2400" spc="-165" dirty="0">
                <a:solidFill>
                  <a:srgbClr val="641BEB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641BEB"/>
                </a:solidFill>
                <a:latin typeface="Verdana"/>
                <a:cs typeface="Verdana"/>
              </a:rPr>
              <a:t>pas</a:t>
            </a:r>
            <a:r>
              <a:rPr sz="24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b="1" u="heavy" spc="-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structurées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368" y="371856"/>
              <a:ext cx="6358889" cy="10096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9088" y="371856"/>
              <a:ext cx="790193" cy="1009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1111" y="371856"/>
              <a:ext cx="4091178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04119" y="371856"/>
              <a:ext cx="826770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97679" y="918972"/>
              <a:ext cx="3120389" cy="10096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6495" y="2930651"/>
              <a:ext cx="1844802" cy="8435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06028" y="2930651"/>
              <a:ext cx="947166" cy="84353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97923" y="2930651"/>
              <a:ext cx="2041398" cy="84353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84052" y="2930651"/>
              <a:ext cx="1107948" cy="8435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1563" y="3525011"/>
              <a:ext cx="1504950" cy="84353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03403" y="1045590"/>
            <a:ext cx="11911965" cy="436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49300" algn="ctr">
              <a:lnSpc>
                <a:spcPts val="4315"/>
              </a:lnSpc>
              <a:spcBef>
                <a:spcPts val="100"/>
              </a:spcBef>
            </a:pPr>
            <a:r>
              <a:rPr sz="3600" b="1" spc="-160" dirty="0">
                <a:solidFill>
                  <a:srgbClr val="C3A6F7"/>
                </a:solidFill>
                <a:latin typeface="Tahoma"/>
                <a:cs typeface="Tahoma"/>
              </a:rPr>
              <a:t>structurées</a:t>
            </a:r>
            <a:endParaRPr sz="3600">
              <a:latin typeface="Tahoma"/>
              <a:cs typeface="Tahoma"/>
            </a:endParaRPr>
          </a:p>
          <a:p>
            <a:pPr marL="3081655">
              <a:lnSpc>
                <a:spcPts val="4315"/>
              </a:lnSpc>
            </a:pPr>
            <a:r>
              <a:rPr sz="3600" spc="-395" dirty="0">
                <a:solidFill>
                  <a:srgbClr val="FFC000"/>
                </a:solidFill>
                <a:latin typeface="Verdana"/>
                <a:cs typeface="Verdana"/>
              </a:rPr>
              <a:t>1</a:t>
            </a:r>
            <a:r>
              <a:rPr sz="3600" spc="-225" dirty="0">
                <a:solidFill>
                  <a:srgbClr val="FFC000"/>
                </a:solidFill>
                <a:latin typeface="Verdana"/>
                <a:cs typeface="Verdana"/>
              </a:rPr>
              <a:t>.</a:t>
            </a:r>
            <a:r>
              <a:rPr sz="3600" spc="-27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-35" dirty="0">
                <a:solidFill>
                  <a:srgbClr val="FFC000"/>
                </a:solidFill>
                <a:latin typeface="Verdana"/>
                <a:cs typeface="Verdana"/>
              </a:rPr>
              <a:t>Donnée</a:t>
            </a:r>
            <a:r>
              <a:rPr sz="3600" spc="-25" dirty="0">
                <a:solidFill>
                  <a:srgbClr val="FFC000"/>
                </a:solidFill>
                <a:latin typeface="Verdana"/>
                <a:cs typeface="Verdana"/>
              </a:rPr>
              <a:t>s</a:t>
            </a:r>
            <a:r>
              <a:rPr sz="3600" spc="-254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-160" dirty="0">
                <a:solidFill>
                  <a:srgbClr val="FFC000"/>
                </a:solidFill>
                <a:latin typeface="Verdana"/>
                <a:cs typeface="Verdana"/>
              </a:rPr>
              <a:t>stru</a:t>
            </a:r>
            <a:r>
              <a:rPr sz="3600" spc="-175" dirty="0">
                <a:solidFill>
                  <a:srgbClr val="FFC000"/>
                </a:solidFill>
                <a:latin typeface="Verdana"/>
                <a:cs typeface="Verdana"/>
              </a:rPr>
              <a:t>c</a:t>
            </a:r>
            <a:r>
              <a:rPr sz="3600" spc="-140" dirty="0">
                <a:solidFill>
                  <a:srgbClr val="FFC000"/>
                </a:solidFill>
                <a:latin typeface="Verdana"/>
                <a:cs typeface="Verdana"/>
              </a:rPr>
              <a:t>turées</a:t>
            </a:r>
            <a:endParaRPr sz="360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30000"/>
              </a:lnSpc>
              <a:spcBef>
                <a:spcPts val="1155"/>
              </a:spcBef>
              <a:buClr>
                <a:srgbClr val="B31166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30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Les</a:t>
            </a:r>
            <a:r>
              <a:rPr sz="3000" spc="-5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données</a:t>
            </a:r>
            <a:r>
              <a:rPr sz="30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structurées</a:t>
            </a:r>
            <a:r>
              <a:rPr sz="30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sont</a:t>
            </a:r>
            <a:r>
              <a:rPr sz="30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des</a:t>
            </a:r>
            <a:r>
              <a:rPr sz="30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130" dirty="0">
                <a:solidFill>
                  <a:srgbClr val="464646"/>
                </a:solidFill>
                <a:latin typeface="Microsoft Sans Serif"/>
                <a:cs typeface="Microsoft Sans Serif"/>
              </a:rPr>
              <a:t>informations</a:t>
            </a:r>
            <a:r>
              <a:rPr sz="3000" spc="135" dirty="0">
                <a:solidFill>
                  <a:srgbClr val="464646"/>
                </a:solidFill>
                <a:latin typeface="Microsoft Sans Serif"/>
                <a:cs typeface="Microsoft Sans Serif"/>
              </a:rPr>
              <a:t> qui</a:t>
            </a:r>
            <a:r>
              <a:rPr sz="3000" spc="14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180" dirty="0">
                <a:solidFill>
                  <a:srgbClr val="464646"/>
                </a:solidFill>
                <a:latin typeface="Microsoft Sans Serif"/>
                <a:cs typeface="Microsoft Sans Serif"/>
              </a:rPr>
              <a:t>ont</a:t>
            </a:r>
            <a:r>
              <a:rPr sz="3000" spc="18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été </a:t>
            </a:r>
            <a:r>
              <a:rPr sz="30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formatées</a:t>
            </a:r>
            <a:r>
              <a:rPr sz="30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 et</a:t>
            </a:r>
            <a:r>
              <a:rPr sz="3000" spc="1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transformées</a:t>
            </a:r>
            <a:r>
              <a:rPr sz="30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en</a:t>
            </a:r>
            <a:r>
              <a:rPr sz="30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165" dirty="0">
                <a:solidFill>
                  <a:srgbClr val="464646"/>
                </a:solidFill>
                <a:latin typeface="Microsoft Sans Serif"/>
                <a:cs typeface="Microsoft Sans Serif"/>
              </a:rPr>
              <a:t>un</a:t>
            </a:r>
            <a:r>
              <a:rPr sz="3000" spc="17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b="1" spc="10" dirty="0">
                <a:solidFill>
                  <a:srgbClr val="006FC0"/>
                </a:solidFill>
                <a:latin typeface="Arial"/>
                <a:cs typeface="Arial"/>
              </a:rPr>
              <a:t>modèle</a:t>
            </a:r>
            <a:r>
              <a:rPr sz="30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000" b="1" spc="5" dirty="0">
                <a:solidFill>
                  <a:srgbClr val="006FC0"/>
                </a:solidFill>
                <a:latin typeface="Arial"/>
                <a:cs typeface="Arial"/>
              </a:rPr>
              <a:t>de</a:t>
            </a:r>
            <a:r>
              <a:rPr sz="30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000" b="1" spc="-30" dirty="0">
                <a:solidFill>
                  <a:srgbClr val="006FC0"/>
                </a:solidFill>
                <a:latin typeface="Arial"/>
                <a:cs typeface="Arial"/>
              </a:rPr>
              <a:t>données</a:t>
            </a:r>
            <a:r>
              <a:rPr sz="30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000" b="1" spc="-15" dirty="0">
                <a:solidFill>
                  <a:srgbClr val="006FC0"/>
                </a:solidFill>
                <a:latin typeface="Arial"/>
                <a:cs typeface="Arial"/>
              </a:rPr>
              <a:t>bien </a:t>
            </a:r>
            <a:r>
              <a:rPr sz="30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000" b="1" spc="-25" dirty="0">
                <a:solidFill>
                  <a:srgbClr val="006FC0"/>
                </a:solidFill>
                <a:latin typeface="Arial"/>
                <a:cs typeface="Arial"/>
              </a:rPr>
              <a:t>défini</a:t>
            </a:r>
            <a:r>
              <a:rPr sz="3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=</a:t>
            </a:r>
            <a:r>
              <a:rPr sz="30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-40" dirty="0">
                <a:solidFill>
                  <a:srgbClr val="464646"/>
                </a:solidFill>
                <a:latin typeface="Microsoft Sans Serif"/>
                <a:cs typeface="Microsoft Sans Serif"/>
              </a:rPr>
              <a:t>&gt;</a:t>
            </a:r>
            <a:r>
              <a:rPr sz="30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Les</a:t>
            </a:r>
            <a:r>
              <a:rPr sz="30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tables</a:t>
            </a:r>
            <a:r>
              <a:rPr sz="30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de</a:t>
            </a:r>
            <a:r>
              <a:rPr sz="30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bases</a:t>
            </a:r>
            <a:r>
              <a:rPr sz="30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de</a:t>
            </a:r>
            <a:r>
              <a:rPr sz="30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données</a:t>
            </a:r>
            <a:r>
              <a:rPr sz="30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70" dirty="0">
                <a:solidFill>
                  <a:srgbClr val="464646"/>
                </a:solidFill>
                <a:latin typeface="Microsoft Sans Serif"/>
                <a:cs typeface="Microsoft Sans Serif"/>
              </a:rPr>
              <a:t>constituées</a:t>
            </a:r>
            <a:r>
              <a:rPr sz="30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de</a:t>
            </a:r>
            <a:r>
              <a:rPr sz="30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lignes</a:t>
            </a:r>
            <a:r>
              <a:rPr sz="30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130" dirty="0">
                <a:solidFill>
                  <a:srgbClr val="464646"/>
                </a:solidFill>
                <a:latin typeface="Microsoft Sans Serif"/>
                <a:cs typeface="Microsoft Sans Serif"/>
              </a:rPr>
              <a:t>et </a:t>
            </a:r>
            <a:r>
              <a:rPr sz="3000" spc="-78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des</a:t>
            </a:r>
            <a:r>
              <a:rPr sz="3000" spc="-2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0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colonnes,</a:t>
            </a:r>
            <a:endParaRPr sz="3000">
              <a:latin typeface="Microsoft Sans Serif"/>
              <a:cs typeface="Microsoft Sans Serif"/>
            </a:endParaRPr>
          </a:p>
          <a:p>
            <a:pPr marL="355600" indent="-342900" algn="just">
              <a:lnSpc>
                <a:spcPct val="100000"/>
              </a:lnSpc>
              <a:spcBef>
                <a:spcPts val="2080"/>
              </a:spcBef>
              <a:buClr>
                <a:srgbClr val="B31166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3000" spc="35" dirty="0">
                <a:solidFill>
                  <a:srgbClr val="001F5F"/>
                </a:solidFill>
                <a:latin typeface="Microsoft Sans Serif"/>
                <a:cs typeface="Microsoft Sans Serif"/>
              </a:rPr>
              <a:t>Il</a:t>
            </a:r>
            <a:r>
              <a:rPr sz="3000" spc="-15" dirty="0">
                <a:solidFill>
                  <a:srgbClr val="001F5F"/>
                </a:solidFill>
                <a:latin typeface="Microsoft Sans Serif"/>
                <a:cs typeface="Microsoft Sans Serif"/>
              </a:rPr>
              <a:t> </a:t>
            </a:r>
            <a:r>
              <a:rPr sz="3000" spc="90" dirty="0">
                <a:solidFill>
                  <a:srgbClr val="001F5F"/>
                </a:solidFill>
                <a:latin typeface="Microsoft Sans Serif"/>
                <a:cs typeface="Microsoft Sans Serif"/>
              </a:rPr>
              <a:t>constitue</a:t>
            </a:r>
            <a:r>
              <a:rPr sz="3000" spc="10" dirty="0">
                <a:solidFill>
                  <a:srgbClr val="001F5F"/>
                </a:solidFill>
                <a:latin typeface="Microsoft Sans Serif"/>
                <a:cs typeface="Microsoft Sans Serif"/>
              </a:rPr>
              <a:t> </a:t>
            </a:r>
            <a:r>
              <a:rPr sz="3000" b="1" spc="-30" dirty="0">
                <a:solidFill>
                  <a:srgbClr val="006FC0"/>
                </a:solidFill>
                <a:latin typeface="Arial"/>
                <a:cs typeface="Arial"/>
              </a:rPr>
              <a:t>20%</a:t>
            </a:r>
            <a:r>
              <a:rPr sz="3000" b="1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000" spc="165" dirty="0">
                <a:solidFill>
                  <a:srgbClr val="001F5F"/>
                </a:solidFill>
                <a:latin typeface="Microsoft Sans Serif"/>
                <a:cs typeface="Microsoft Sans Serif"/>
              </a:rPr>
              <a:t>du</a:t>
            </a:r>
            <a:r>
              <a:rPr sz="3000" spc="-20" dirty="0">
                <a:solidFill>
                  <a:srgbClr val="001F5F"/>
                </a:solidFill>
                <a:latin typeface="Microsoft Sans Serif"/>
                <a:cs typeface="Microsoft Sans Serif"/>
              </a:rPr>
              <a:t> </a:t>
            </a:r>
            <a:r>
              <a:rPr sz="3000" spc="125" dirty="0">
                <a:solidFill>
                  <a:srgbClr val="001F5F"/>
                </a:solidFill>
                <a:latin typeface="Microsoft Sans Serif"/>
                <a:cs typeface="Microsoft Sans Serif"/>
              </a:rPr>
              <a:t>total</a:t>
            </a:r>
            <a:r>
              <a:rPr sz="3000" spc="-20" dirty="0">
                <a:solidFill>
                  <a:srgbClr val="001F5F"/>
                </a:solidFill>
                <a:latin typeface="Microsoft Sans Serif"/>
                <a:cs typeface="Microsoft Sans Serif"/>
              </a:rPr>
              <a:t> </a:t>
            </a:r>
            <a:r>
              <a:rPr sz="3000" spc="35" dirty="0">
                <a:solidFill>
                  <a:srgbClr val="001F5F"/>
                </a:solidFill>
                <a:latin typeface="Microsoft Sans Serif"/>
                <a:cs typeface="Microsoft Sans Serif"/>
              </a:rPr>
              <a:t>des</a:t>
            </a:r>
            <a:r>
              <a:rPr sz="3000" spc="-5" dirty="0">
                <a:solidFill>
                  <a:srgbClr val="001F5F"/>
                </a:solidFill>
                <a:latin typeface="Microsoft Sans Serif"/>
                <a:cs typeface="Microsoft Sans Serif"/>
              </a:rPr>
              <a:t> </a:t>
            </a:r>
            <a:r>
              <a:rPr sz="3000" spc="80" dirty="0">
                <a:solidFill>
                  <a:srgbClr val="001F5F"/>
                </a:solidFill>
                <a:latin typeface="Microsoft Sans Serif"/>
                <a:cs typeface="Microsoft Sans Serif"/>
              </a:rPr>
              <a:t>données</a:t>
            </a:r>
            <a:r>
              <a:rPr sz="3000" spc="-5" dirty="0">
                <a:solidFill>
                  <a:srgbClr val="001F5F"/>
                </a:solidFill>
                <a:latin typeface="Microsoft Sans Serif"/>
                <a:cs typeface="Microsoft Sans Serif"/>
              </a:rPr>
              <a:t> </a:t>
            </a:r>
            <a:r>
              <a:rPr sz="3000" spc="35" dirty="0">
                <a:solidFill>
                  <a:srgbClr val="001F5F"/>
                </a:solidFill>
                <a:latin typeface="Microsoft Sans Serif"/>
                <a:cs typeface="Microsoft Sans Serif"/>
              </a:rPr>
              <a:t>des</a:t>
            </a:r>
            <a:r>
              <a:rPr sz="3000" spc="-20" dirty="0">
                <a:solidFill>
                  <a:srgbClr val="001F5F"/>
                </a:solidFill>
                <a:latin typeface="Microsoft Sans Serif"/>
                <a:cs typeface="Microsoft Sans Serif"/>
              </a:rPr>
              <a:t> </a:t>
            </a:r>
            <a:r>
              <a:rPr sz="3000" spc="65" dirty="0">
                <a:solidFill>
                  <a:srgbClr val="001F5F"/>
                </a:solidFill>
                <a:latin typeface="Microsoft Sans Serif"/>
                <a:cs typeface="Microsoft Sans Serif"/>
              </a:rPr>
              <a:t>entreprises.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29741" y="498475"/>
            <a:ext cx="10052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55" dirty="0">
                <a:solidFill>
                  <a:srgbClr val="C3A6F7"/>
                </a:solidFill>
              </a:rPr>
              <a:t>Données</a:t>
            </a:r>
            <a:r>
              <a:rPr u="none" spc="-60" dirty="0">
                <a:solidFill>
                  <a:srgbClr val="C3A6F7"/>
                </a:solidFill>
              </a:rPr>
              <a:t> </a:t>
            </a:r>
            <a:r>
              <a:rPr u="none" spc="-155" dirty="0">
                <a:solidFill>
                  <a:srgbClr val="C3A6F7"/>
                </a:solidFill>
              </a:rPr>
              <a:t>structurées,</a:t>
            </a:r>
            <a:r>
              <a:rPr u="none" spc="-75" dirty="0">
                <a:solidFill>
                  <a:srgbClr val="C3A6F7"/>
                </a:solidFill>
              </a:rPr>
              <a:t> </a:t>
            </a:r>
            <a:r>
              <a:rPr u="none" spc="-135" dirty="0">
                <a:solidFill>
                  <a:srgbClr val="C3A6F7"/>
                </a:solidFill>
              </a:rPr>
              <a:t>semi-structurées,</a:t>
            </a:r>
            <a:r>
              <a:rPr u="none" spc="-60" dirty="0">
                <a:solidFill>
                  <a:srgbClr val="C3A6F7"/>
                </a:solidFill>
              </a:rPr>
              <a:t> </a:t>
            </a:r>
            <a:r>
              <a:rPr u="none" spc="-300" dirty="0">
                <a:solidFill>
                  <a:srgbClr val="C3A6F7"/>
                </a:solidFill>
              </a:rPr>
              <a:t>non</a:t>
            </a:r>
            <a:r>
              <a:rPr u="none" spc="-300" dirty="0">
                <a:solidFill>
                  <a:srgbClr val="C3A6F7"/>
                </a:solidFill>
                <a:latin typeface="Verdana"/>
                <a:cs typeface="Verdana"/>
              </a:rPr>
              <a:t>–</a:t>
            </a:r>
            <a:r>
              <a:rPr sz="4200" b="0" u="none" spc="-450" baseline="4960" dirty="0">
                <a:solidFill>
                  <a:srgbClr val="FFFFFF"/>
                </a:solidFill>
                <a:latin typeface="Verdana"/>
                <a:cs typeface="Verdana"/>
              </a:rPr>
              <a:t>17</a:t>
            </a:r>
            <a:endParaRPr sz="4200" baseline="496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67088" y="2119883"/>
              <a:ext cx="1233677" cy="7871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1676" y="2119883"/>
              <a:ext cx="1050798" cy="7871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73383" y="2119883"/>
              <a:ext cx="1118615" cy="7871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359" y="2546604"/>
              <a:ext cx="902969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663" y="2546604"/>
              <a:ext cx="1600962" cy="787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65960" y="2546604"/>
              <a:ext cx="2158745" cy="78714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59988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u="none" spc="-300" dirty="0">
                <a:latin typeface="Verdana"/>
                <a:cs typeface="Verdana"/>
              </a:rPr>
              <a:t>2</a:t>
            </a:r>
            <a:r>
              <a:rPr b="0" u="none" spc="-315" dirty="0">
                <a:latin typeface="Verdana"/>
                <a:cs typeface="Verdana"/>
              </a:rPr>
              <a:t>.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-30" dirty="0">
                <a:latin typeface="Verdana"/>
                <a:cs typeface="Verdana"/>
              </a:rPr>
              <a:t>Donnée</a:t>
            </a:r>
            <a:r>
              <a:rPr b="0" u="none" spc="-20" dirty="0">
                <a:latin typeface="Verdana"/>
                <a:cs typeface="Verdana"/>
              </a:rPr>
              <a:t>s</a:t>
            </a:r>
            <a:r>
              <a:rPr b="0" u="none" spc="-265" dirty="0">
                <a:latin typeface="Verdana"/>
                <a:cs typeface="Verdana"/>
              </a:rPr>
              <a:t> </a:t>
            </a:r>
            <a:r>
              <a:rPr b="0" u="none" dirty="0">
                <a:latin typeface="Verdana"/>
                <a:cs typeface="Verdana"/>
              </a:rPr>
              <a:t>non</a:t>
            </a:r>
            <a:r>
              <a:rPr b="0" u="none" spc="-260" dirty="0">
                <a:latin typeface="Verdana"/>
                <a:cs typeface="Verdana"/>
              </a:rPr>
              <a:t> </a:t>
            </a:r>
            <a:r>
              <a:rPr b="0" u="none" spc="-285" dirty="0">
                <a:latin typeface="Verdana"/>
                <a:cs typeface="Verdana"/>
              </a:rPr>
              <a:t>str</a:t>
            </a:r>
            <a:r>
              <a:rPr b="0" u="none" spc="-409" dirty="0">
                <a:latin typeface="Verdana"/>
                <a:cs typeface="Verdana"/>
              </a:rPr>
              <a:t>u</a:t>
            </a:r>
            <a:r>
              <a:rPr b="0" u="none" spc="-20" dirty="0">
                <a:latin typeface="Verdana"/>
                <a:cs typeface="Verdana"/>
              </a:rPr>
              <a:t>ctur</a:t>
            </a:r>
            <a:r>
              <a:rPr b="0" u="none" spc="-40" dirty="0">
                <a:latin typeface="Verdana"/>
                <a:cs typeface="Verdana"/>
              </a:rPr>
              <a:t>é</a:t>
            </a:r>
            <a:r>
              <a:rPr b="0" u="none" spc="-145" dirty="0">
                <a:latin typeface="Verdana"/>
                <a:cs typeface="Verdana"/>
              </a:rPr>
              <a:t>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8739" y="2201672"/>
            <a:ext cx="12033885" cy="284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-60" dirty="0">
                <a:solidFill>
                  <a:srgbClr val="464646"/>
                </a:solidFill>
                <a:latin typeface="Microsoft Sans Serif"/>
                <a:cs typeface="Microsoft Sans Serif"/>
              </a:rPr>
              <a:t>Les </a:t>
            </a:r>
            <a:r>
              <a:rPr sz="28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données </a:t>
            </a:r>
            <a:r>
              <a:rPr sz="2800" spc="145" dirty="0">
                <a:solidFill>
                  <a:srgbClr val="464646"/>
                </a:solidFill>
                <a:latin typeface="Microsoft Sans Serif"/>
                <a:cs typeface="Microsoft Sans Serif"/>
              </a:rPr>
              <a:t>non </a:t>
            </a:r>
            <a:r>
              <a:rPr sz="28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structurées </a:t>
            </a:r>
            <a:r>
              <a:rPr sz="28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peuvent </a:t>
            </a:r>
            <a:r>
              <a:rPr sz="28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être </a:t>
            </a:r>
            <a:r>
              <a:rPr sz="2800" spc="170" dirty="0">
                <a:solidFill>
                  <a:srgbClr val="464646"/>
                </a:solidFill>
                <a:latin typeface="Microsoft Sans Serif"/>
                <a:cs typeface="Microsoft Sans Serif"/>
              </a:rPr>
              <a:t>tout </a:t>
            </a:r>
            <a:r>
              <a:rPr sz="28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ce </a:t>
            </a:r>
            <a:r>
              <a:rPr sz="2800" spc="120" dirty="0">
                <a:solidFill>
                  <a:srgbClr val="464646"/>
                </a:solidFill>
                <a:latin typeface="Microsoft Sans Serif"/>
                <a:cs typeface="Microsoft Sans Serif"/>
              </a:rPr>
              <a:t>qui </a:t>
            </a:r>
            <a:r>
              <a:rPr sz="2800" spc="35" dirty="0">
                <a:solidFill>
                  <a:srgbClr val="FF0000"/>
                </a:solidFill>
                <a:latin typeface="Microsoft Sans Serif"/>
                <a:cs typeface="Microsoft Sans Serif"/>
              </a:rPr>
              <a:t>n'est </a:t>
            </a:r>
            <a:r>
              <a:rPr sz="2800" spc="20" dirty="0">
                <a:solidFill>
                  <a:srgbClr val="FF0000"/>
                </a:solidFill>
                <a:latin typeface="Microsoft Sans Serif"/>
                <a:cs typeface="Microsoft Sans Serif"/>
              </a:rPr>
              <a:t>pas </a:t>
            </a:r>
            <a:r>
              <a:rPr sz="2800" spc="60" dirty="0">
                <a:solidFill>
                  <a:srgbClr val="FF0000"/>
                </a:solidFill>
                <a:latin typeface="Microsoft Sans Serif"/>
                <a:cs typeface="Microsoft Sans Serif"/>
              </a:rPr>
              <a:t>dans </a:t>
            </a:r>
            <a:r>
              <a:rPr sz="2800" spc="6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spc="155" dirty="0">
                <a:solidFill>
                  <a:srgbClr val="FF0000"/>
                </a:solidFill>
                <a:latin typeface="Microsoft Sans Serif"/>
                <a:cs typeface="Microsoft Sans Serif"/>
              </a:rPr>
              <a:t>un</a:t>
            </a:r>
            <a:r>
              <a:rPr sz="2800" spc="-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spc="165" dirty="0">
                <a:solidFill>
                  <a:srgbClr val="FF0000"/>
                </a:solidFill>
                <a:latin typeface="Microsoft Sans Serif"/>
                <a:cs typeface="Microsoft Sans Serif"/>
              </a:rPr>
              <a:t>format</a:t>
            </a:r>
            <a:r>
              <a:rPr sz="2800" spc="-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800" spc="50" dirty="0">
                <a:solidFill>
                  <a:srgbClr val="FF0000"/>
                </a:solidFill>
                <a:latin typeface="Microsoft Sans Serif"/>
                <a:cs typeface="Microsoft Sans Serif"/>
              </a:rPr>
              <a:t>spécifique</a:t>
            </a:r>
            <a:r>
              <a:rPr sz="2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1" spc="-70" dirty="0">
                <a:solidFill>
                  <a:srgbClr val="006FC0"/>
                </a:solidFill>
                <a:latin typeface="Arial"/>
                <a:cs typeface="Arial"/>
              </a:rPr>
              <a:t>Exemple</a:t>
            </a:r>
            <a:r>
              <a:rPr sz="2800" b="1" spc="-70" dirty="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sz="2800" b="1" spc="-8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800" spc="45" dirty="0">
                <a:solidFill>
                  <a:srgbClr val="444444"/>
                </a:solidFill>
                <a:latin typeface="Microsoft Sans Serif"/>
                <a:cs typeface="Microsoft Sans Serif"/>
              </a:rPr>
              <a:t>Word,</a:t>
            </a:r>
            <a:r>
              <a:rPr sz="28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444444"/>
                </a:solidFill>
                <a:latin typeface="Microsoft Sans Serif"/>
                <a:cs typeface="Microsoft Sans Serif"/>
              </a:rPr>
              <a:t>PDF,</a:t>
            </a:r>
            <a:r>
              <a:rPr sz="2800" spc="-5" dirty="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sz="2800" spc="55" dirty="0">
                <a:solidFill>
                  <a:srgbClr val="444444"/>
                </a:solidFill>
                <a:latin typeface="Microsoft Sans Serif"/>
                <a:cs typeface="Microsoft Sans Serif"/>
              </a:rPr>
              <a:t>texte,</a:t>
            </a:r>
            <a:r>
              <a:rPr sz="2800" dirty="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sz="2800" spc="25" dirty="0">
                <a:solidFill>
                  <a:srgbClr val="444444"/>
                </a:solidFill>
                <a:latin typeface="Microsoft Sans Serif"/>
                <a:cs typeface="Microsoft Sans Serif"/>
              </a:rPr>
              <a:t>logs</a:t>
            </a:r>
            <a:r>
              <a:rPr sz="2800" dirty="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sz="2800" spc="60" dirty="0">
                <a:solidFill>
                  <a:srgbClr val="444444"/>
                </a:solidFill>
                <a:latin typeface="Microsoft Sans Serif"/>
                <a:cs typeface="Microsoft Sans Serif"/>
              </a:rPr>
              <a:t>(fichier</a:t>
            </a:r>
            <a:r>
              <a:rPr sz="28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sz="2800" spc="70" dirty="0">
                <a:solidFill>
                  <a:srgbClr val="444444"/>
                </a:solidFill>
                <a:latin typeface="Microsoft Sans Serif"/>
                <a:cs typeface="Microsoft Sans Serif"/>
              </a:rPr>
              <a:t>journal).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2900" algn="just">
              <a:lnSpc>
                <a:spcPct val="100400"/>
              </a:lnSpc>
              <a:spcBef>
                <a:spcPts val="98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Un </a:t>
            </a:r>
            <a:r>
              <a:rPr sz="2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exemple </a:t>
            </a:r>
            <a:r>
              <a:rPr sz="2800" spc="80" dirty="0">
                <a:solidFill>
                  <a:srgbClr val="464646"/>
                </a:solidFill>
                <a:latin typeface="Microsoft Sans Serif"/>
                <a:cs typeface="Microsoft Sans Serif"/>
              </a:rPr>
              <a:t>de données </a:t>
            </a:r>
            <a:r>
              <a:rPr sz="2800" spc="145" dirty="0">
                <a:solidFill>
                  <a:srgbClr val="464646"/>
                </a:solidFill>
                <a:latin typeface="Microsoft Sans Serif"/>
                <a:cs typeface="Microsoft Sans Serif"/>
              </a:rPr>
              <a:t>non </a:t>
            </a:r>
            <a:r>
              <a:rPr sz="2800" spc="80" dirty="0">
                <a:solidFill>
                  <a:srgbClr val="464646"/>
                </a:solidFill>
                <a:latin typeface="Microsoft Sans Serif"/>
                <a:cs typeface="Microsoft Sans Serif"/>
              </a:rPr>
              <a:t>structurées </a:t>
            </a:r>
            <a:r>
              <a:rPr sz="2800" spc="130" dirty="0">
                <a:solidFill>
                  <a:srgbClr val="464646"/>
                </a:solidFill>
                <a:latin typeface="Microsoft Sans Serif"/>
                <a:cs typeface="Microsoft Sans Serif"/>
              </a:rPr>
              <a:t>pourrait </a:t>
            </a:r>
            <a:r>
              <a:rPr sz="28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être </a:t>
            </a:r>
            <a:r>
              <a:rPr sz="2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les</a:t>
            </a:r>
            <a:r>
              <a:rPr sz="28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fichiers </a:t>
            </a:r>
            <a:r>
              <a:rPr sz="2800" spc="7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journaux</a:t>
            </a:r>
            <a:r>
              <a:rPr sz="2800" spc="1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qui</a:t>
            </a:r>
            <a:r>
              <a:rPr sz="2800" spc="1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ne</a:t>
            </a:r>
            <a:r>
              <a:rPr sz="28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105" dirty="0">
                <a:solidFill>
                  <a:srgbClr val="464646"/>
                </a:solidFill>
                <a:latin typeface="Microsoft Sans Serif"/>
                <a:cs typeface="Microsoft Sans Serif"/>
              </a:rPr>
              <a:t>sont</a:t>
            </a:r>
            <a:r>
              <a:rPr sz="2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20" dirty="0">
                <a:solidFill>
                  <a:srgbClr val="464646"/>
                </a:solidFill>
                <a:latin typeface="Microsoft Sans Serif"/>
                <a:cs typeface="Microsoft Sans Serif"/>
              </a:rPr>
              <a:t>pas</a:t>
            </a:r>
            <a:r>
              <a:rPr sz="2800" spc="25" dirty="0">
                <a:solidFill>
                  <a:srgbClr val="464646"/>
                </a:solidFill>
                <a:latin typeface="Microsoft Sans Serif"/>
                <a:cs typeface="Microsoft Sans Serif"/>
              </a:rPr>
              <a:t> faciles</a:t>
            </a:r>
            <a:r>
              <a:rPr sz="2800" spc="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à</a:t>
            </a:r>
            <a:r>
              <a:rPr sz="2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50" dirty="0">
                <a:solidFill>
                  <a:srgbClr val="464646"/>
                </a:solidFill>
                <a:latin typeface="Microsoft Sans Serif"/>
                <a:cs typeface="Microsoft Sans Serif"/>
              </a:rPr>
              <a:t>séparer.</a:t>
            </a:r>
            <a:r>
              <a:rPr sz="28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80" dirty="0">
                <a:solidFill>
                  <a:srgbClr val="464646"/>
                </a:solidFill>
                <a:latin typeface="Microsoft Sans Serif"/>
                <a:cs typeface="Microsoft Sans Serif"/>
              </a:rPr>
              <a:t>Commentaires</a:t>
            </a:r>
            <a:r>
              <a:rPr sz="2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et </a:t>
            </a:r>
            <a:r>
              <a:rPr sz="28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85" dirty="0">
                <a:solidFill>
                  <a:srgbClr val="464646"/>
                </a:solidFill>
                <a:latin typeface="Microsoft Sans Serif"/>
                <a:cs typeface="Microsoft Sans Serif"/>
              </a:rPr>
              <a:t>publications</a:t>
            </a:r>
            <a:r>
              <a:rPr sz="2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sur</a:t>
            </a:r>
            <a:r>
              <a:rPr sz="28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les</a:t>
            </a:r>
            <a:r>
              <a:rPr sz="2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40" dirty="0">
                <a:solidFill>
                  <a:srgbClr val="464646"/>
                </a:solidFill>
                <a:latin typeface="Microsoft Sans Serif"/>
                <a:cs typeface="Microsoft Sans Serif"/>
              </a:rPr>
              <a:t>réseaux</a:t>
            </a:r>
            <a:r>
              <a:rPr sz="280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sociaux</a:t>
            </a:r>
            <a:r>
              <a:rPr sz="2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qui</a:t>
            </a:r>
            <a:r>
              <a:rPr sz="2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doivent</a:t>
            </a:r>
            <a:r>
              <a:rPr sz="28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être</a:t>
            </a:r>
            <a:r>
              <a:rPr sz="2800" spc="-1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28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analysés.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18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4276" y="5056630"/>
            <a:ext cx="11306556" cy="18013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0008" y="407619"/>
            <a:ext cx="8352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0" u="none" spc="-300" dirty="0">
                <a:latin typeface="Verdana"/>
                <a:cs typeface="Verdana"/>
              </a:rPr>
              <a:t>2</a:t>
            </a:r>
            <a:r>
              <a:rPr b="0" u="none" spc="-315" dirty="0">
                <a:latin typeface="Verdana"/>
                <a:cs typeface="Verdana"/>
              </a:rPr>
              <a:t>.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-30" dirty="0">
                <a:latin typeface="Verdana"/>
                <a:cs typeface="Verdana"/>
              </a:rPr>
              <a:t>Donnée</a:t>
            </a:r>
            <a:r>
              <a:rPr b="0" u="none" spc="-20" dirty="0">
                <a:latin typeface="Verdana"/>
                <a:cs typeface="Verdana"/>
              </a:rPr>
              <a:t>s</a:t>
            </a:r>
            <a:r>
              <a:rPr b="0" u="none" spc="-265" dirty="0">
                <a:latin typeface="Verdana"/>
                <a:cs typeface="Verdana"/>
              </a:rPr>
              <a:t> </a:t>
            </a:r>
            <a:r>
              <a:rPr b="0" u="none" dirty="0">
                <a:latin typeface="Verdana"/>
                <a:cs typeface="Verdana"/>
              </a:rPr>
              <a:t>non</a:t>
            </a:r>
            <a:r>
              <a:rPr b="0" u="none" spc="-260" dirty="0">
                <a:latin typeface="Verdana"/>
                <a:cs typeface="Verdana"/>
              </a:rPr>
              <a:t> </a:t>
            </a:r>
            <a:r>
              <a:rPr b="0" u="none" spc="-285" dirty="0">
                <a:latin typeface="Verdana"/>
                <a:cs typeface="Verdana"/>
              </a:rPr>
              <a:t>str</a:t>
            </a:r>
            <a:r>
              <a:rPr b="0" u="none" spc="-409" dirty="0">
                <a:latin typeface="Verdana"/>
                <a:cs typeface="Verdana"/>
              </a:rPr>
              <a:t>u</a:t>
            </a:r>
            <a:r>
              <a:rPr b="0" u="none" spc="-20" dirty="0">
                <a:latin typeface="Verdana"/>
                <a:cs typeface="Verdana"/>
              </a:rPr>
              <a:t>ctur</a:t>
            </a:r>
            <a:r>
              <a:rPr b="0" u="none" spc="-40" dirty="0">
                <a:latin typeface="Verdana"/>
                <a:cs typeface="Verdana"/>
              </a:rPr>
              <a:t>é</a:t>
            </a:r>
            <a:r>
              <a:rPr b="0" u="none" spc="-145" dirty="0">
                <a:latin typeface="Verdana"/>
                <a:cs typeface="Verdana"/>
              </a:rPr>
              <a:t>es</a:t>
            </a:r>
            <a:r>
              <a:rPr b="0" u="none" spc="-250" dirty="0">
                <a:latin typeface="Verdana"/>
                <a:cs typeface="Verdana"/>
              </a:rPr>
              <a:t> </a:t>
            </a:r>
            <a:r>
              <a:rPr b="0" u="none" spc="-640" dirty="0">
                <a:latin typeface="Verdana"/>
                <a:cs typeface="Verdana"/>
              </a:rPr>
              <a:t>: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-240" dirty="0">
                <a:latin typeface="Verdana"/>
                <a:cs typeface="Verdana"/>
              </a:rPr>
              <a:t>l</a:t>
            </a:r>
            <a:r>
              <a:rPr b="0" u="none" spc="290" dirty="0">
                <a:latin typeface="Verdana"/>
                <a:cs typeface="Verdana"/>
              </a:rPr>
              <a:t>’</a:t>
            </a:r>
            <a:r>
              <a:rPr b="0" u="none" spc="-40" dirty="0">
                <a:latin typeface="Verdana"/>
                <a:cs typeface="Verdana"/>
              </a:rPr>
              <a:t>analyse  </a:t>
            </a:r>
            <a:r>
              <a:rPr b="0" u="none" spc="-55" dirty="0">
                <a:latin typeface="Verdana"/>
                <a:cs typeface="Verdana"/>
              </a:rPr>
              <a:t>nécessite</a:t>
            </a:r>
            <a:r>
              <a:rPr b="0" u="none" spc="-250" dirty="0">
                <a:latin typeface="Verdana"/>
                <a:cs typeface="Verdana"/>
              </a:rPr>
              <a:t> </a:t>
            </a:r>
            <a:r>
              <a:rPr b="0" u="none" spc="-20" dirty="0">
                <a:latin typeface="Verdana"/>
                <a:cs typeface="Verdana"/>
              </a:rPr>
              <a:t>des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-15" dirty="0">
                <a:latin typeface="Verdana"/>
                <a:cs typeface="Verdana"/>
              </a:rPr>
              <a:t>techniques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200" dirty="0">
                <a:latin typeface="Verdana"/>
                <a:cs typeface="Verdana"/>
              </a:rPr>
              <a:t>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720" y="1508201"/>
            <a:ext cx="11620500" cy="216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2480">
              <a:lnSpc>
                <a:spcPct val="100000"/>
              </a:lnSpc>
              <a:spcBef>
                <a:spcPts val="100"/>
              </a:spcBef>
            </a:pPr>
            <a:r>
              <a:rPr sz="3600" b="1" spc="-75" dirty="0">
                <a:solidFill>
                  <a:srgbClr val="FFC000"/>
                </a:solidFill>
                <a:latin typeface="Tahoma"/>
                <a:cs typeface="Tahoma"/>
              </a:rPr>
              <a:t>l</a:t>
            </a:r>
            <a:r>
              <a:rPr sz="3600" b="1" spc="-75" dirty="0">
                <a:solidFill>
                  <a:srgbClr val="FFC000"/>
                </a:solidFill>
                <a:latin typeface="Verdana"/>
                <a:cs typeface="Verdana"/>
              </a:rPr>
              <a:t>’</a:t>
            </a:r>
            <a:r>
              <a:rPr sz="3600" b="1" spc="-75" dirty="0">
                <a:solidFill>
                  <a:srgbClr val="FFC000"/>
                </a:solidFill>
                <a:latin typeface="Tahoma"/>
                <a:cs typeface="Tahoma"/>
              </a:rPr>
              <a:t>analytique</a:t>
            </a:r>
            <a:r>
              <a:rPr sz="3600" b="1" spc="-70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sz="3600" b="1" spc="-155" dirty="0">
                <a:solidFill>
                  <a:srgbClr val="FFC000"/>
                </a:solidFill>
                <a:latin typeface="Tahoma"/>
                <a:cs typeface="Tahoma"/>
              </a:rPr>
              <a:t>(DATA</a:t>
            </a:r>
            <a:r>
              <a:rPr sz="3600" b="1" spc="-65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sz="3600" b="1" spc="-185" dirty="0">
                <a:solidFill>
                  <a:srgbClr val="FFC000"/>
                </a:solidFill>
                <a:latin typeface="Tahoma"/>
                <a:cs typeface="Tahoma"/>
              </a:rPr>
              <a:t>ANALYTIC)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lr>
                <a:srgbClr val="B31166"/>
              </a:buClr>
              <a:buSzPct val="79687"/>
              <a:buFont typeface="Wingdings"/>
              <a:buChar char=""/>
              <a:tabLst>
                <a:tab pos="355600" algn="l"/>
                <a:tab pos="1130935" algn="l"/>
                <a:tab pos="2974975" algn="l"/>
                <a:tab pos="4959985" algn="l"/>
                <a:tab pos="5668645" algn="l"/>
                <a:tab pos="7546340" algn="l"/>
                <a:tab pos="8522335" algn="l"/>
                <a:tab pos="10480675" algn="l"/>
                <a:tab pos="11276330" algn="l"/>
              </a:tabLst>
            </a:pPr>
            <a:r>
              <a:rPr sz="3200" spc="110" dirty="0">
                <a:solidFill>
                  <a:srgbClr val="464646"/>
                </a:solidFill>
                <a:latin typeface="Microsoft Sans Serif"/>
                <a:cs typeface="Microsoft Sans Serif"/>
              </a:rPr>
              <a:t>U</a:t>
            </a:r>
            <a:r>
              <a:rPr sz="32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n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-4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32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x</a:t>
            </a:r>
            <a:r>
              <a:rPr sz="3200" spc="12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3200" spc="185" dirty="0">
                <a:solidFill>
                  <a:srgbClr val="464646"/>
                </a:solidFill>
                <a:latin typeface="Microsoft Sans Serif"/>
                <a:cs typeface="Microsoft Sans Serif"/>
              </a:rPr>
              <a:t>m</a:t>
            </a:r>
            <a:r>
              <a:rPr sz="3200" spc="90" dirty="0">
                <a:solidFill>
                  <a:srgbClr val="464646"/>
                </a:solidFill>
                <a:latin typeface="Microsoft Sans Serif"/>
                <a:cs typeface="Microsoft Sans Serif"/>
              </a:rPr>
              <a:t>ple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180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32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'</a:t>
            </a:r>
            <a:r>
              <a:rPr sz="32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an</a:t>
            </a:r>
            <a:r>
              <a:rPr sz="3200" spc="45" dirty="0">
                <a:solidFill>
                  <a:srgbClr val="464646"/>
                </a:solidFill>
                <a:latin typeface="Microsoft Sans Serif"/>
                <a:cs typeface="Microsoft Sans Serif"/>
              </a:rPr>
              <a:t>a</a:t>
            </a:r>
            <a:r>
              <a:rPr sz="3200" spc="10" dirty="0">
                <a:solidFill>
                  <a:srgbClr val="464646"/>
                </a:solidFill>
                <a:latin typeface="Microsoft Sans Serif"/>
                <a:cs typeface="Microsoft Sans Serif"/>
              </a:rPr>
              <a:t>lyse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de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165" dirty="0">
                <a:solidFill>
                  <a:srgbClr val="464646"/>
                </a:solidFill>
                <a:latin typeface="Microsoft Sans Serif"/>
                <a:cs typeface="Microsoft Sans Serif"/>
              </a:rPr>
              <a:t>d</a:t>
            </a:r>
            <a:r>
              <a:rPr sz="3200" spc="175" dirty="0">
                <a:solidFill>
                  <a:srgbClr val="464646"/>
                </a:solidFill>
                <a:latin typeface="Microsoft Sans Serif"/>
                <a:cs typeface="Microsoft Sans Serif"/>
              </a:rPr>
              <a:t>o</a:t>
            </a:r>
            <a:r>
              <a:rPr sz="3200" spc="130" dirty="0">
                <a:solidFill>
                  <a:srgbClr val="464646"/>
                </a:solidFill>
                <a:latin typeface="Microsoft Sans Serif"/>
                <a:cs typeface="Microsoft Sans Serif"/>
              </a:rPr>
              <a:t>nn</a:t>
            </a:r>
            <a:r>
              <a:rPr sz="3200" spc="140" dirty="0">
                <a:solidFill>
                  <a:srgbClr val="464646"/>
                </a:solidFill>
                <a:latin typeface="Microsoft Sans Serif"/>
                <a:cs typeface="Microsoft Sans Serif"/>
              </a:rPr>
              <a:t>é</a:t>
            </a:r>
            <a:r>
              <a:rPr sz="3200" spc="-35" dirty="0">
                <a:solidFill>
                  <a:srgbClr val="464646"/>
                </a:solidFill>
                <a:latin typeface="Microsoft Sans Serif"/>
                <a:cs typeface="Microsoft Sans Serif"/>
              </a:rPr>
              <a:t>e</a:t>
            </a:r>
            <a:r>
              <a:rPr sz="32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s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175" dirty="0">
                <a:solidFill>
                  <a:srgbClr val="464646"/>
                </a:solidFill>
                <a:latin typeface="Microsoft Sans Serif"/>
                <a:cs typeface="Microsoft Sans Serif"/>
              </a:rPr>
              <a:t>non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145" dirty="0">
                <a:solidFill>
                  <a:srgbClr val="464646"/>
                </a:solidFill>
                <a:latin typeface="Microsoft Sans Serif"/>
                <a:cs typeface="Microsoft Sans Serif"/>
              </a:rPr>
              <a:t>structu</a:t>
            </a:r>
            <a:r>
              <a:rPr sz="3200" spc="55" dirty="0">
                <a:solidFill>
                  <a:srgbClr val="464646"/>
                </a:solidFill>
                <a:latin typeface="Microsoft Sans Serif"/>
                <a:cs typeface="Microsoft Sans Serif"/>
              </a:rPr>
              <a:t>r</a:t>
            </a:r>
            <a:r>
              <a:rPr sz="3200" spc="15" dirty="0">
                <a:solidFill>
                  <a:srgbClr val="464646"/>
                </a:solidFill>
                <a:latin typeface="Microsoft Sans Serif"/>
                <a:cs typeface="Microsoft Sans Serif"/>
              </a:rPr>
              <a:t>é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65" dirty="0">
                <a:solidFill>
                  <a:srgbClr val="464646"/>
                </a:solidFill>
                <a:latin typeface="Microsoft Sans Serif"/>
                <a:cs typeface="Microsoft Sans Serif"/>
              </a:rPr>
              <a:t>es</a:t>
            </a:r>
            <a:r>
              <a:rPr sz="32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t</a:t>
            </a:r>
            <a:r>
              <a:rPr sz="3200" dirty="0">
                <a:solidFill>
                  <a:srgbClr val="464646"/>
                </a:solidFill>
                <a:latin typeface="Microsoft Sans Serif"/>
                <a:cs typeface="Microsoft Sans Serif"/>
              </a:rPr>
              <a:t>	</a:t>
            </a:r>
            <a:r>
              <a:rPr sz="3200" spc="35" dirty="0">
                <a:solidFill>
                  <a:srgbClr val="464646"/>
                </a:solidFill>
                <a:latin typeface="Microsoft Sans Serif"/>
                <a:cs typeface="Microsoft Sans Serif"/>
              </a:rPr>
              <a:t>la  </a:t>
            </a:r>
            <a:r>
              <a:rPr sz="3200" spc="114" dirty="0">
                <a:solidFill>
                  <a:srgbClr val="464646"/>
                </a:solidFill>
                <a:latin typeface="Microsoft Sans Serif"/>
                <a:cs typeface="Microsoft Sans Serif"/>
              </a:rPr>
              <a:t>détection</a:t>
            </a:r>
            <a:r>
              <a:rPr sz="32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200" spc="100" dirty="0">
                <a:solidFill>
                  <a:srgbClr val="464646"/>
                </a:solidFill>
                <a:latin typeface="Microsoft Sans Serif"/>
                <a:cs typeface="Microsoft Sans Serif"/>
              </a:rPr>
              <a:t>de</a:t>
            </a:r>
            <a:r>
              <a:rPr sz="3200" spc="-2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200" spc="95" dirty="0">
                <a:solidFill>
                  <a:srgbClr val="464646"/>
                </a:solidFill>
                <a:latin typeface="Microsoft Sans Serif"/>
                <a:cs typeface="Microsoft Sans Serif"/>
              </a:rPr>
              <a:t>modèles</a:t>
            </a:r>
            <a:r>
              <a:rPr sz="32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200" spc="75" dirty="0">
                <a:solidFill>
                  <a:srgbClr val="464646"/>
                </a:solidFill>
                <a:latin typeface="Microsoft Sans Serif"/>
                <a:cs typeface="Microsoft Sans Serif"/>
              </a:rPr>
              <a:t>dans</a:t>
            </a:r>
            <a:r>
              <a:rPr sz="3200" spc="-30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200" spc="5" dirty="0">
                <a:solidFill>
                  <a:srgbClr val="464646"/>
                </a:solidFill>
                <a:latin typeface="Microsoft Sans Serif"/>
                <a:cs typeface="Microsoft Sans Serif"/>
              </a:rPr>
              <a:t>les</a:t>
            </a:r>
            <a:r>
              <a:rPr sz="3200" spc="-5" dirty="0">
                <a:solidFill>
                  <a:srgbClr val="464646"/>
                </a:solidFill>
                <a:latin typeface="Microsoft Sans Serif"/>
                <a:cs typeface="Microsoft Sans Serif"/>
              </a:rPr>
              <a:t> 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e-mails</a:t>
            </a:r>
            <a:r>
              <a:rPr sz="32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Arial"/>
                <a:cs typeface="Arial"/>
              </a:rPr>
              <a:t>frauduleux</a:t>
            </a:r>
            <a:r>
              <a:rPr sz="3200" spc="-15" dirty="0">
                <a:solidFill>
                  <a:srgbClr val="464646"/>
                </a:solidFill>
                <a:latin typeface="Microsoft Sans Serif"/>
                <a:cs typeface="Microsoft Sans Serif"/>
              </a:rPr>
              <a:t>.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19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20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948" y="628650"/>
            <a:ext cx="6161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0" dirty="0">
                <a:solidFill>
                  <a:srgbClr val="FFC000"/>
                </a:solidFill>
                <a:latin typeface="Verdana"/>
                <a:cs typeface="Verdana"/>
              </a:rPr>
              <a:t>2</a:t>
            </a:r>
            <a:r>
              <a:rPr sz="3600" spc="-315" dirty="0">
                <a:solidFill>
                  <a:srgbClr val="FFC000"/>
                </a:solidFill>
                <a:latin typeface="Verdana"/>
                <a:cs typeface="Verdana"/>
              </a:rPr>
              <a:t>.</a:t>
            </a:r>
            <a:r>
              <a:rPr sz="3600" spc="-27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-35" dirty="0">
                <a:solidFill>
                  <a:srgbClr val="FFC000"/>
                </a:solidFill>
                <a:latin typeface="Verdana"/>
                <a:cs typeface="Verdana"/>
              </a:rPr>
              <a:t>Donnée</a:t>
            </a:r>
            <a:r>
              <a:rPr sz="3600" spc="-25" dirty="0">
                <a:solidFill>
                  <a:srgbClr val="FFC000"/>
                </a:solidFill>
                <a:latin typeface="Verdana"/>
                <a:cs typeface="Verdana"/>
              </a:rPr>
              <a:t>s</a:t>
            </a:r>
            <a:r>
              <a:rPr sz="3600" spc="-254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-204" dirty="0">
                <a:solidFill>
                  <a:srgbClr val="FFC000"/>
                </a:solidFill>
                <a:latin typeface="Verdana"/>
                <a:cs typeface="Verdana"/>
              </a:rPr>
              <a:t>sem</a:t>
            </a:r>
            <a:r>
              <a:rPr sz="3600" spc="-75" dirty="0">
                <a:solidFill>
                  <a:srgbClr val="FFC000"/>
                </a:solidFill>
                <a:latin typeface="Verdana"/>
                <a:cs typeface="Verdana"/>
              </a:rPr>
              <a:t>i</a:t>
            </a:r>
            <a:r>
              <a:rPr sz="3600" spc="-440" dirty="0">
                <a:solidFill>
                  <a:srgbClr val="FFC000"/>
                </a:solidFill>
                <a:latin typeface="Verdana"/>
                <a:cs typeface="Verdana"/>
              </a:rPr>
              <a:t>-</a:t>
            </a:r>
            <a:r>
              <a:rPr sz="3600" spc="-160" dirty="0">
                <a:solidFill>
                  <a:srgbClr val="FFC000"/>
                </a:solidFill>
                <a:latin typeface="Verdana"/>
                <a:cs typeface="Verdana"/>
              </a:rPr>
              <a:t>stru</a:t>
            </a:r>
            <a:r>
              <a:rPr sz="3600" spc="-175" dirty="0">
                <a:solidFill>
                  <a:srgbClr val="FFC000"/>
                </a:solidFill>
                <a:latin typeface="Verdana"/>
                <a:cs typeface="Verdana"/>
              </a:rPr>
              <a:t>c</a:t>
            </a:r>
            <a:r>
              <a:rPr sz="3600" spc="-140" dirty="0">
                <a:solidFill>
                  <a:srgbClr val="FFC000"/>
                </a:solidFill>
                <a:latin typeface="Verdana"/>
                <a:cs typeface="Verdana"/>
              </a:rPr>
              <a:t>turées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344" y="1581908"/>
            <a:ext cx="11129772" cy="52760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05829" y="3572967"/>
            <a:ext cx="36728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85" dirty="0">
                <a:solidFill>
                  <a:srgbClr val="FFC000"/>
                </a:solidFill>
                <a:latin typeface="Verdana"/>
                <a:cs typeface="Verdana"/>
              </a:rPr>
              <a:t>Exempl</a:t>
            </a:r>
            <a:r>
              <a:rPr sz="3600" spc="-75" dirty="0">
                <a:solidFill>
                  <a:srgbClr val="FFC000"/>
                </a:solidFill>
                <a:latin typeface="Verdana"/>
                <a:cs typeface="Verdana"/>
              </a:rPr>
              <a:t>e</a:t>
            </a:r>
            <a:r>
              <a:rPr sz="3600" spc="-29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-640" dirty="0">
                <a:solidFill>
                  <a:srgbClr val="FFC000"/>
                </a:solidFill>
                <a:latin typeface="Verdana"/>
                <a:cs typeface="Verdana"/>
              </a:rPr>
              <a:t>:</a:t>
            </a:r>
            <a:r>
              <a:rPr sz="3600" spc="-27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dirty="0">
                <a:solidFill>
                  <a:srgbClr val="FFC000"/>
                </a:solidFill>
                <a:latin typeface="Verdana"/>
                <a:cs typeface="Verdana"/>
              </a:rPr>
              <a:t>X</a:t>
            </a:r>
            <a:r>
              <a:rPr sz="3600" spc="5" dirty="0">
                <a:solidFill>
                  <a:srgbClr val="FFC000"/>
                </a:solidFill>
                <a:latin typeface="Verdana"/>
                <a:cs typeface="Verdana"/>
              </a:rPr>
              <a:t>M</a:t>
            </a:r>
            <a:r>
              <a:rPr sz="3600" spc="-290" dirty="0">
                <a:solidFill>
                  <a:srgbClr val="FFC000"/>
                </a:solidFill>
                <a:latin typeface="Verdana"/>
                <a:cs typeface="Verdana"/>
              </a:rPr>
              <a:t>L,  </a:t>
            </a:r>
            <a:r>
              <a:rPr sz="3600" spc="-125" dirty="0">
                <a:solidFill>
                  <a:srgbClr val="FFC000"/>
                </a:solidFill>
                <a:latin typeface="Verdana"/>
                <a:cs typeface="Verdana"/>
              </a:rPr>
              <a:t>JSON,</a:t>
            </a:r>
            <a:r>
              <a:rPr sz="3600" spc="-27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-55" dirty="0">
                <a:solidFill>
                  <a:srgbClr val="FFC000"/>
                </a:solidFill>
                <a:latin typeface="Verdana"/>
                <a:cs typeface="Verdana"/>
              </a:rPr>
              <a:t>Avr</a:t>
            </a:r>
            <a:r>
              <a:rPr sz="3600" spc="-70" dirty="0">
                <a:solidFill>
                  <a:srgbClr val="FFC000"/>
                </a:solidFill>
                <a:latin typeface="Verdana"/>
                <a:cs typeface="Verdana"/>
              </a:rPr>
              <a:t>o</a:t>
            </a:r>
            <a:r>
              <a:rPr sz="3600" spc="-310" dirty="0">
                <a:solidFill>
                  <a:srgbClr val="FFC000"/>
                </a:solidFill>
                <a:latin typeface="Verdana"/>
                <a:cs typeface="Verdana"/>
              </a:rPr>
              <a:t>,  </a:t>
            </a:r>
            <a:r>
              <a:rPr sz="3600" spc="-50" dirty="0">
                <a:solidFill>
                  <a:srgbClr val="FFC000"/>
                </a:solidFill>
                <a:latin typeface="Verdana"/>
                <a:cs typeface="Verdana"/>
              </a:rPr>
              <a:t>Parquet,</a:t>
            </a:r>
            <a:r>
              <a:rPr sz="3600" spc="-27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rgbClr val="FFC000"/>
                </a:solidFill>
                <a:latin typeface="Verdana"/>
                <a:cs typeface="Verdana"/>
              </a:rPr>
              <a:t>ORC</a:t>
            </a:r>
            <a:r>
              <a:rPr sz="3600" spc="10" dirty="0">
                <a:solidFill>
                  <a:srgbClr val="FFC000"/>
                </a:solidFill>
                <a:latin typeface="Verdana"/>
                <a:cs typeface="Verdana"/>
              </a:rPr>
              <a:t>,</a:t>
            </a:r>
            <a:r>
              <a:rPr sz="3600" spc="650" dirty="0">
                <a:solidFill>
                  <a:srgbClr val="FFC000"/>
                </a:solidFill>
                <a:latin typeface="Verdana"/>
                <a:cs typeface="Verdana"/>
              </a:rPr>
              <a:t>…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4224" y="503046"/>
            <a:ext cx="84740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u="none" spc="-160" dirty="0">
                <a:latin typeface="Verdana"/>
                <a:cs typeface="Verdana"/>
              </a:rPr>
              <a:t>Diffé</a:t>
            </a:r>
            <a:r>
              <a:rPr b="0" u="none" spc="-155" dirty="0">
                <a:latin typeface="Verdana"/>
                <a:cs typeface="Verdana"/>
              </a:rPr>
              <a:t>r</a:t>
            </a:r>
            <a:r>
              <a:rPr b="0" u="none" spc="190" dirty="0">
                <a:latin typeface="Verdana"/>
                <a:cs typeface="Verdana"/>
              </a:rPr>
              <a:t>ence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-70" dirty="0">
                <a:latin typeface="Verdana"/>
                <a:cs typeface="Verdana"/>
              </a:rPr>
              <a:t>entre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-640" dirty="0">
                <a:latin typeface="Verdana"/>
                <a:cs typeface="Verdana"/>
              </a:rPr>
              <a:t>:</a:t>
            </a:r>
            <a:r>
              <a:rPr b="0" u="none" spc="-254" dirty="0">
                <a:latin typeface="Verdana"/>
                <a:cs typeface="Verdana"/>
              </a:rPr>
              <a:t> </a:t>
            </a:r>
            <a:r>
              <a:rPr b="0" u="none" spc="15" dirty="0">
                <a:latin typeface="Verdana"/>
                <a:cs typeface="Verdana"/>
              </a:rPr>
              <a:t>données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spc="-155" dirty="0">
                <a:latin typeface="Verdana"/>
                <a:cs typeface="Verdana"/>
              </a:rPr>
              <a:t>structurées</a:t>
            </a:r>
          </a:p>
          <a:p>
            <a:pPr marL="635" algn="ctr">
              <a:lnSpc>
                <a:spcPct val="100000"/>
              </a:lnSpc>
            </a:pPr>
            <a:r>
              <a:rPr b="0" u="none" spc="-30" dirty="0">
                <a:latin typeface="Verdana"/>
                <a:cs typeface="Verdana"/>
              </a:rPr>
              <a:t>/Données</a:t>
            </a:r>
            <a:r>
              <a:rPr b="0" u="none" spc="-265" dirty="0">
                <a:latin typeface="Verdana"/>
                <a:cs typeface="Verdana"/>
              </a:rPr>
              <a:t> </a:t>
            </a:r>
            <a:r>
              <a:rPr b="0" u="none" spc="-204" dirty="0">
                <a:latin typeface="Verdana"/>
                <a:cs typeface="Verdana"/>
              </a:rPr>
              <a:t>sem</a:t>
            </a:r>
            <a:r>
              <a:rPr b="0" u="none" spc="-80" dirty="0">
                <a:latin typeface="Verdana"/>
                <a:cs typeface="Verdana"/>
              </a:rPr>
              <a:t>i</a:t>
            </a:r>
            <a:r>
              <a:rPr b="0" u="none" spc="-440" dirty="0">
                <a:latin typeface="Verdana"/>
                <a:cs typeface="Verdana"/>
              </a:rPr>
              <a:t>-</a:t>
            </a:r>
            <a:r>
              <a:rPr b="0" u="none" spc="-160" dirty="0">
                <a:latin typeface="Verdana"/>
                <a:cs typeface="Verdana"/>
              </a:rPr>
              <a:t>stru</a:t>
            </a:r>
            <a:r>
              <a:rPr b="0" u="none" spc="-175" dirty="0">
                <a:latin typeface="Verdana"/>
                <a:cs typeface="Verdana"/>
              </a:rPr>
              <a:t>c</a:t>
            </a:r>
            <a:r>
              <a:rPr b="0" u="none" spc="-140" dirty="0">
                <a:latin typeface="Verdana"/>
                <a:cs typeface="Verdana"/>
              </a:rPr>
              <a:t>turées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21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1693164"/>
            <a:ext cx="11361420" cy="4901565"/>
            <a:chOff x="457200" y="1693164"/>
            <a:chExt cx="11361420" cy="49015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" y="4779264"/>
              <a:ext cx="11277600" cy="18150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693164"/>
              <a:ext cx="11277600" cy="3086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22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306" y="662432"/>
            <a:ext cx="4443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65" dirty="0"/>
              <a:t>Introduction</a:t>
            </a:r>
            <a:r>
              <a:rPr u="none" spc="-90" dirty="0"/>
              <a:t> </a:t>
            </a:r>
            <a:r>
              <a:rPr u="none" spc="35" dirty="0"/>
              <a:t>au</a:t>
            </a:r>
            <a:r>
              <a:rPr u="none" spc="-70" dirty="0"/>
              <a:t> </a:t>
            </a:r>
            <a:r>
              <a:rPr u="none" spc="-165" dirty="0"/>
              <a:t>XML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23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3913"/>
            <a:ext cx="12044171" cy="51267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24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788" y="1671825"/>
            <a:ext cx="11704320" cy="50810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4306" y="662432"/>
            <a:ext cx="4443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65" dirty="0"/>
              <a:t>Introduction</a:t>
            </a:r>
            <a:r>
              <a:rPr u="none" spc="-90" dirty="0"/>
              <a:t> </a:t>
            </a:r>
            <a:r>
              <a:rPr u="none" spc="35" dirty="0"/>
              <a:t>au</a:t>
            </a:r>
            <a:r>
              <a:rPr u="none" spc="-70" dirty="0"/>
              <a:t> </a:t>
            </a:r>
            <a:r>
              <a:rPr u="none" spc="-165" dirty="0"/>
              <a:t>XML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8" y="295653"/>
            <a:ext cx="12115798" cy="64861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25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26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6234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27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3568"/>
            <a:ext cx="12191998" cy="51983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28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84732" y="565404"/>
            <a:ext cx="9239250" cy="1009650"/>
            <a:chOff x="1284732" y="565404"/>
            <a:chExt cx="9239250" cy="1009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052" y="1194854"/>
              <a:ext cx="8433054" cy="906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4732" y="565404"/>
              <a:ext cx="9239250" cy="10096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XML</a:t>
            </a:r>
            <a:r>
              <a:rPr spc="-50" dirty="0"/>
              <a:t> </a:t>
            </a:r>
            <a:r>
              <a:rPr spc="105" dirty="0"/>
              <a:t>comme</a:t>
            </a:r>
            <a:r>
              <a:rPr spc="-50" dirty="0"/>
              <a:t> </a:t>
            </a:r>
            <a:r>
              <a:rPr spc="-160" dirty="0"/>
              <a:t>format</a:t>
            </a:r>
            <a:r>
              <a:rPr spc="-55" dirty="0"/>
              <a:t> </a:t>
            </a:r>
            <a:r>
              <a:rPr spc="135" dirty="0"/>
              <a:t>de</a:t>
            </a:r>
            <a:r>
              <a:rPr spc="-50" dirty="0"/>
              <a:t> </a:t>
            </a:r>
            <a:r>
              <a:rPr spc="-80" dirty="0"/>
              <a:t>description</a:t>
            </a:r>
            <a:r>
              <a:rPr spc="-75" dirty="0"/>
              <a:t> </a:t>
            </a:r>
            <a:r>
              <a:rPr spc="135" dirty="0"/>
              <a:t>de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2564" y="1112519"/>
            <a:ext cx="2655569" cy="10096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données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4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0" u="none" spc="-165" dirty="0">
                <a:solidFill>
                  <a:srgbClr val="404040"/>
                </a:solidFill>
                <a:latin typeface="Verdana"/>
                <a:cs typeface="Verdana"/>
              </a:rPr>
              <a:t>Les</a:t>
            </a:r>
            <a:r>
              <a:rPr sz="2800" b="0" u="none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b="0" u="none" spc="75" dirty="0">
                <a:solidFill>
                  <a:srgbClr val="404040"/>
                </a:solidFill>
                <a:latin typeface="Verdana"/>
                <a:cs typeface="Verdana"/>
              </a:rPr>
              <a:t>Langage</a:t>
            </a:r>
            <a:r>
              <a:rPr sz="2800" b="0" u="none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b="0" u="none" spc="-500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endParaRPr sz="2800">
              <a:latin typeface="Verdana"/>
              <a:cs typeface="Verdana"/>
            </a:endParaRPr>
          </a:p>
          <a:p>
            <a:pPr marL="454659" indent="-441959">
              <a:lnSpc>
                <a:spcPct val="100000"/>
              </a:lnSpc>
              <a:spcBef>
                <a:spcPts val="100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454025" algn="l"/>
                <a:tab pos="454659" algn="l"/>
                <a:tab pos="1398905" algn="l"/>
              </a:tabLst>
            </a:pPr>
            <a:r>
              <a:rPr sz="2800" b="0" u="none" spc="-285" dirty="0">
                <a:solidFill>
                  <a:srgbClr val="404040"/>
                </a:solidFill>
                <a:latin typeface="Verdana"/>
                <a:cs typeface="Verdana"/>
              </a:rPr>
              <a:t>SMIL	</a:t>
            </a:r>
            <a:r>
              <a:rPr sz="2800" b="0" u="none" spc="-95" dirty="0">
                <a:solidFill>
                  <a:srgbClr val="404040"/>
                </a:solidFill>
                <a:latin typeface="Verdana"/>
                <a:cs typeface="Verdana"/>
              </a:rPr>
              <a:t>(multimédia),</a:t>
            </a:r>
            <a:endParaRPr sz="2800">
              <a:latin typeface="Verdana"/>
              <a:cs typeface="Verdana"/>
            </a:endParaRPr>
          </a:p>
          <a:p>
            <a:pPr marL="454659" indent="-441959">
              <a:lnSpc>
                <a:spcPct val="100000"/>
              </a:lnSpc>
              <a:spcBef>
                <a:spcPts val="100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454025" algn="l"/>
                <a:tab pos="454659" algn="l"/>
              </a:tabLst>
            </a:pPr>
            <a:r>
              <a:rPr sz="2800" b="0" u="none" spc="25" dirty="0">
                <a:solidFill>
                  <a:srgbClr val="404040"/>
                </a:solidFill>
                <a:latin typeface="Verdana"/>
                <a:cs typeface="Verdana"/>
              </a:rPr>
              <a:t>MathML</a:t>
            </a:r>
            <a:r>
              <a:rPr sz="2800" b="0" u="none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b="0" u="none" spc="-50" dirty="0">
                <a:solidFill>
                  <a:srgbClr val="404040"/>
                </a:solidFill>
                <a:latin typeface="Verdana"/>
                <a:cs typeface="Verdana"/>
              </a:rPr>
              <a:t>(mathématique),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0" u="none" spc="-75" dirty="0">
                <a:solidFill>
                  <a:srgbClr val="404040"/>
                </a:solidFill>
                <a:latin typeface="Verdana"/>
                <a:cs typeface="Verdana"/>
              </a:rPr>
              <a:t>SVG</a:t>
            </a:r>
            <a:r>
              <a:rPr sz="2800" b="0" u="none" spc="-2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b="0" u="none" spc="-70" dirty="0">
                <a:solidFill>
                  <a:srgbClr val="404040"/>
                </a:solidFill>
                <a:latin typeface="Verdana"/>
                <a:cs typeface="Verdana"/>
              </a:rPr>
              <a:t>(imagerie,</a:t>
            </a:r>
            <a:r>
              <a:rPr sz="2800" b="0" u="none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b="0" u="none" spc="-40" dirty="0">
                <a:solidFill>
                  <a:srgbClr val="404040"/>
                </a:solidFill>
                <a:latin typeface="Verdana"/>
                <a:cs typeface="Verdana"/>
              </a:rPr>
              <a:t>animation,…),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0" u="none" spc="-10" dirty="0">
                <a:solidFill>
                  <a:srgbClr val="333333"/>
                </a:solidFill>
                <a:latin typeface="Calibri"/>
                <a:cs typeface="Calibri"/>
              </a:rPr>
              <a:t>XHTML</a:t>
            </a:r>
            <a:r>
              <a:rPr sz="2800" b="0" u="none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0" u="none" spc="-5" dirty="0">
                <a:solidFill>
                  <a:srgbClr val="333333"/>
                </a:solidFill>
                <a:latin typeface="Calibri"/>
                <a:cs typeface="Calibri"/>
              </a:rPr>
              <a:t>(WEB),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9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b="0" u="none" spc="130" dirty="0">
                <a:solidFill>
                  <a:srgbClr val="404040"/>
                </a:solidFill>
                <a:latin typeface="Verdana"/>
                <a:cs typeface="Verdana"/>
              </a:rPr>
              <a:t>….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6884" y="1741970"/>
            <a:ext cx="1978914" cy="906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29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051" y="295653"/>
            <a:ext cx="12157075" cy="6562725"/>
            <a:chOff x="35051" y="295653"/>
            <a:chExt cx="12157075" cy="656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1" y="295653"/>
              <a:ext cx="12156946" cy="65623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61031" y="402336"/>
              <a:ext cx="1801495" cy="767080"/>
            </a:xfrm>
            <a:custGeom>
              <a:avLst/>
              <a:gdLst/>
              <a:ahLst/>
              <a:cxnLst/>
              <a:rect l="l" t="t" r="r" b="b"/>
              <a:pathLst>
                <a:path w="1801495" h="767080">
                  <a:moveTo>
                    <a:pt x="0" y="127762"/>
                  </a:moveTo>
                  <a:lnTo>
                    <a:pt x="10032" y="78009"/>
                  </a:lnTo>
                  <a:lnTo>
                    <a:pt x="37401" y="37401"/>
                  </a:lnTo>
                  <a:lnTo>
                    <a:pt x="78009" y="10033"/>
                  </a:lnTo>
                  <a:lnTo>
                    <a:pt x="127762" y="0"/>
                  </a:lnTo>
                  <a:lnTo>
                    <a:pt x="1673606" y="0"/>
                  </a:lnTo>
                  <a:lnTo>
                    <a:pt x="1723358" y="10033"/>
                  </a:lnTo>
                  <a:lnTo>
                    <a:pt x="1763966" y="37401"/>
                  </a:lnTo>
                  <a:lnTo>
                    <a:pt x="1791334" y="78009"/>
                  </a:lnTo>
                  <a:lnTo>
                    <a:pt x="1801368" y="127762"/>
                  </a:lnTo>
                  <a:lnTo>
                    <a:pt x="1801368" y="638810"/>
                  </a:lnTo>
                  <a:lnTo>
                    <a:pt x="1791334" y="688562"/>
                  </a:lnTo>
                  <a:lnTo>
                    <a:pt x="1763966" y="729170"/>
                  </a:lnTo>
                  <a:lnTo>
                    <a:pt x="1723358" y="756538"/>
                  </a:lnTo>
                  <a:lnTo>
                    <a:pt x="1673606" y="766572"/>
                  </a:lnTo>
                  <a:lnTo>
                    <a:pt x="127762" y="766572"/>
                  </a:lnTo>
                  <a:lnTo>
                    <a:pt x="78009" y="756538"/>
                  </a:lnTo>
                  <a:lnTo>
                    <a:pt x="37401" y="729170"/>
                  </a:lnTo>
                  <a:lnTo>
                    <a:pt x="10033" y="688562"/>
                  </a:lnTo>
                  <a:lnTo>
                    <a:pt x="0" y="638810"/>
                  </a:lnTo>
                  <a:lnTo>
                    <a:pt x="0" y="12776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30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31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3108" y="454151"/>
            <a:ext cx="11709400" cy="6403975"/>
            <a:chOff x="483108" y="454151"/>
            <a:chExt cx="11709400" cy="6403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6316" y="454151"/>
              <a:ext cx="8037576" cy="7680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108" y="1222244"/>
              <a:ext cx="11708892" cy="5635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89019" y="3532631"/>
              <a:ext cx="6215380" cy="304800"/>
            </a:xfrm>
            <a:custGeom>
              <a:avLst/>
              <a:gdLst/>
              <a:ahLst/>
              <a:cxnLst/>
              <a:rect l="l" t="t" r="r" b="b"/>
              <a:pathLst>
                <a:path w="6215380" h="304800">
                  <a:moveTo>
                    <a:pt x="6164072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253999"/>
                  </a:lnTo>
                  <a:lnTo>
                    <a:pt x="3990" y="273778"/>
                  </a:lnTo>
                  <a:lnTo>
                    <a:pt x="14874" y="289925"/>
                  </a:lnTo>
                  <a:lnTo>
                    <a:pt x="31021" y="300809"/>
                  </a:lnTo>
                  <a:lnTo>
                    <a:pt x="50800" y="304799"/>
                  </a:lnTo>
                  <a:lnTo>
                    <a:pt x="6164072" y="304799"/>
                  </a:lnTo>
                  <a:lnTo>
                    <a:pt x="6183850" y="300809"/>
                  </a:lnTo>
                  <a:lnTo>
                    <a:pt x="6199997" y="289925"/>
                  </a:lnTo>
                  <a:lnTo>
                    <a:pt x="6210881" y="273778"/>
                  </a:lnTo>
                  <a:lnTo>
                    <a:pt x="6214872" y="253999"/>
                  </a:lnTo>
                  <a:lnTo>
                    <a:pt x="6214872" y="50800"/>
                  </a:lnTo>
                  <a:lnTo>
                    <a:pt x="6210881" y="31021"/>
                  </a:lnTo>
                  <a:lnTo>
                    <a:pt x="6199997" y="14874"/>
                  </a:lnTo>
                  <a:lnTo>
                    <a:pt x="6183850" y="3990"/>
                  </a:lnTo>
                  <a:lnTo>
                    <a:pt x="61640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32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6"/>
            <a:ext cx="12191997" cy="65623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33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7" cy="68579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34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623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7876" y="471169"/>
            <a:ext cx="685800" cy="6718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8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35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5653"/>
            <a:ext cx="12191998" cy="656234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" y="2491739"/>
              <a:ext cx="581406" cy="5920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475" y="2371344"/>
              <a:ext cx="1782318" cy="7871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4895" y="2371344"/>
              <a:ext cx="899921" cy="7871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7920" y="2371344"/>
              <a:ext cx="1978913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59935" y="2371344"/>
              <a:ext cx="710946" cy="787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3776" y="2371344"/>
              <a:ext cx="592074" cy="787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28744" y="2371344"/>
              <a:ext cx="2042922" cy="7871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44767" y="2371344"/>
              <a:ext cx="1078230" cy="787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96100" y="2371344"/>
              <a:ext cx="1978913" cy="7871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48116" y="2371344"/>
              <a:ext cx="1399794" cy="7871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21011" y="2371344"/>
              <a:ext cx="1078229" cy="7871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72343" y="2371344"/>
              <a:ext cx="1806702" cy="7871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9475" y="3011423"/>
              <a:ext cx="1770126" cy="7871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90700" y="3011423"/>
              <a:ext cx="1265682" cy="7871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99004" y="3011423"/>
              <a:ext cx="1130045" cy="78714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71671" y="3011423"/>
              <a:ext cx="2454402" cy="78714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68696" y="3011423"/>
              <a:ext cx="941070" cy="7871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52388" y="3011423"/>
              <a:ext cx="1716786" cy="7871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11795" y="3011423"/>
              <a:ext cx="925829" cy="7871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80247" y="3011423"/>
              <a:ext cx="1994153" cy="78714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717023" y="3011423"/>
              <a:ext cx="1564385" cy="78714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924031" y="3011423"/>
              <a:ext cx="1255014" cy="78714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9475" y="3651503"/>
              <a:ext cx="822197" cy="78714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4568" y="3651503"/>
              <a:ext cx="595122" cy="78714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4691" y="3651503"/>
              <a:ext cx="677418" cy="78714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" y="4538471"/>
              <a:ext cx="581406" cy="5920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9475" y="4418076"/>
              <a:ext cx="2055114" cy="78714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66544" y="4418076"/>
              <a:ext cx="906018" cy="78714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06039" y="4418076"/>
              <a:ext cx="2106930" cy="78714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49496" y="4418076"/>
              <a:ext cx="1806702" cy="78714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89676" y="4418076"/>
              <a:ext cx="563118" cy="7871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9768" y="5186171"/>
              <a:ext cx="1276350" cy="78714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44167" y="5186171"/>
              <a:ext cx="1710689" cy="78714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86811" y="5186171"/>
              <a:ext cx="1573530" cy="78714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89247" y="5186171"/>
              <a:ext cx="1504950" cy="78714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029200" y="5186171"/>
              <a:ext cx="1421129" cy="78714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085332" y="5186171"/>
              <a:ext cx="1677162" cy="78714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395971" y="5186171"/>
              <a:ext cx="1744218" cy="78714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775192" y="5186171"/>
              <a:ext cx="1325118" cy="78714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633204" y="5186171"/>
              <a:ext cx="663701" cy="78714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829800" y="5186171"/>
              <a:ext cx="767333" cy="78714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130028" y="5186171"/>
              <a:ext cx="564642" cy="78714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45160" y="2252624"/>
            <a:ext cx="11703685" cy="3481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-35" dirty="0">
                <a:solidFill>
                  <a:srgbClr val="404040"/>
                </a:solidFill>
                <a:latin typeface="Verdana"/>
                <a:cs typeface="Verdana"/>
              </a:rPr>
              <a:t>Donnez</a:t>
            </a:r>
            <a:r>
              <a:rPr sz="2800" spc="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404040"/>
                </a:solidFill>
                <a:latin typeface="Verdana"/>
                <a:cs typeface="Verdana"/>
              </a:rPr>
              <a:t>un</a:t>
            </a:r>
            <a:r>
              <a:rPr sz="2800" spc="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exemple</a:t>
            </a:r>
            <a:r>
              <a:rPr sz="2800" spc="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404040"/>
                </a:solidFill>
                <a:latin typeface="Verdana"/>
                <a:cs typeface="Verdana"/>
              </a:rPr>
              <a:t>d’utilisation</a:t>
            </a:r>
            <a:r>
              <a:rPr sz="2800" spc="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800" spc="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données</a:t>
            </a:r>
            <a:r>
              <a:rPr sz="2800" spc="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10" dirty="0">
                <a:solidFill>
                  <a:srgbClr val="404040"/>
                </a:solidFill>
                <a:latin typeface="Verdana"/>
                <a:cs typeface="Verdana"/>
              </a:rPr>
              <a:t>issues</a:t>
            </a:r>
            <a:r>
              <a:rPr sz="2800" spc="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2800" spc="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85" dirty="0">
                <a:solidFill>
                  <a:srgbClr val="404040"/>
                </a:solidFill>
                <a:latin typeface="Verdana"/>
                <a:cs typeface="Verdana"/>
              </a:rPr>
              <a:t>réseaux </a:t>
            </a:r>
            <a:r>
              <a:rPr sz="2800" spc="-96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40" dirty="0">
                <a:solidFill>
                  <a:srgbClr val="404040"/>
                </a:solidFill>
                <a:latin typeface="Verdana"/>
                <a:cs typeface="Verdana"/>
              </a:rPr>
              <a:t>sociaux</a:t>
            </a:r>
            <a:r>
              <a:rPr sz="2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404040"/>
                </a:solidFill>
                <a:latin typeface="Verdana"/>
                <a:cs typeface="Verdana"/>
              </a:rPr>
              <a:t>pour</a:t>
            </a:r>
            <a:r>
              <a:rPr sz="2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une</a:t>
            </a:r>
            <a:r>
              <a:rPr sz="2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35" dirty="0">
                <a:solidFill>
                  <a:srgbClr val="404040"/>
                </a:solidFill>
                <a:latin typeface="Verdana"/>
                <a:cs typeface="Verdana"/>
              </a:rPr>
              <a:t>application</a:t>
            </a:r>
            <a:r>
              <a:rPr sz="2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60" dirty="0">
                <a:solidFill>
                  <a:srgbClr val="404040"/>
                </a:solidFill>
                <a:latin typeface="Verdana"/>
                <a:cs typeface="Verdana"/>
              </a:rPr>
              <a:t>de</a:t>
            </a:r>
            <a:r>
              <a:rPr sz="2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5" dirty="0">
                <a:solidFill>
                  <a:srgbClr val="404040"/>
                </a:solidFill>
                <a:latin typeface="Verdana"/>
                <a:cs typeface="Verdana"/>
              </a:rPr>
              <a:t>gestion</a:t>
            </a:r>
            <a:r>
              <a:rPr sz="2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45" dirty="0">
                <a:solidFill>
                  <a:srgbClr val="404040"/>
                </a:solidFill>
                <a:latin typeface="Verdana"/>
                <a:cs typeface="Verdana"/>
              </a:rPr>
              <a:t>du</a:t>
            </a:r>
            <a:r>
              <a:rPr sz="2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105" dirty="0">
                <a:solidFill>
                  <a:srgbClr val="404040"/>
                </a:solidFill>
                <a:latin typeface="Verdana"/>
                <a:cs typeface="Verdana"/>
              </a:rPr>
              <a:t>transport</a:t>
            </a:r>
            <a:r>
              <a:rPr sz="2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0" dirty="0">
                <a:solidFill>
                  <a:srgbClr val="404040"/>
                </a:solidFill>
                <a:latin typeface="Verdana"/>
                <a:cs typeface="Verdana"/>
              </a:rPr>
              <a:t>urbain</a:t>
            </a:r>
            <a:r>
              <a:rPr sz="2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50" dirty="0">
                <a:solidFill>
                  <a:srgbClr val="404040"/>
                </a:solidFill>
                <a:latin typeface="Verdana"/>
                <a:cs typeface="Verdana"/>
              </a:rPr>
              <a:t>(Bus,</a:t>
            </a:r>
            <a:endParaRPr sz="2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680"/>
              </a:spcBef>
            </a:pPr>
            <a:r>
              <a:rPr sz="2800" spc="130" dirty="0">
                <a:solidFill>
                  <a:srgbClr val="404040"/>
                </a:solidFill>
                <a:latin typeface="Verdana"/>
                <a:cs typeface="Verdana"/>
              </a:rPr>
              <a:t>…)</a:t>
            </a:r>
            <a:r>
              <a:rPr sz="2800" spc="-2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20" dirty="0">
                <a:solidFill>
                  <a:srgbClr val="404040"/>
                </a:solidFill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675"/>
              </a:spcBef>
              <a:buClr>
                <a:srgbClr val="B31166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spc="-190" dirty="0">
                <a:solidFill>
                  <a:srgbClr val="404040"/>
                </a:solidFill>
                <a:latin typeface="Verdana"/>
                <a:cs typeface="Verdana"/>
              </a:rPr>
              <a:t>Exp</a:t>
            </a:r>
            <a:r>
              <a:rPr sz="2800" spc="-80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2800" spc="-20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20" dirty="0">
                <a:solidFill>
                  <a:srgbClr val="404040"/>
                </a:solidFill>
                <a:latin typeface="Verdana"/>
                <a:cs typeface="Verdana"/>
              </a:rPr>
              <a:t>que</a:t>
            </a:r>
            <a:r>
              <a:rPr sz="2800" spc="-10" dirty="0">
                <a:solidFill>
                  <a:srgbClr val="404040"/>
                </a:solidFill>
                <a:latin typeface="Verdana"/>
                <a:cs typeface="Verdana"/>
              </a:rPr>
              <a:t>z</a:t>
            </a:r>
            <a:r>
              <a:rPr sz="28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145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2800" spc="-165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28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95" dirty="0">
                <a:solidFill>
                  <a:srgbClr val="404040"/>
                </a:solidFill>
                <a:latin typeface="Verdana"/>
                <a:cs typeface="Verdana"/>
              </a:rPr>
              <a:t>con</a:t>
            </a:r>
            <a:r>
              <a:rPr sz="2800" spc="17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2800" spc="-55" dirty="0">
                <a:solidFill>
                  <a:srgbClr val="404040"/>
                </a:solidFill>
                <a:latin typeface="Verdana"/>
                <a:cs typeface="Verdana"/>
              </a:rPr>
              <a:t>epts</a:t>
            </a:r>
            <a:r>
              <a:rPr sz="28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270" dirty="0">
                <a:solidFill>
                  <a:srgbClr val="404040"/>
                </a:solidFill>
                <a:latin typeface="Verdana"/>
                <a:cs typeface="Verdana"/>
              </a:rPr>
              <a:t>su</a:t>
            </a:r>
            <a:r>
              <a:rPr sz="2800" spc="-12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800" spc="-105" dirty="0">
                <a:solidFill>
                  <a:srgbClr val="404040"/>
                </a:solidFill>
                <a:latin typeface="Verdana"/>
                <a:cs typeface="Verdana"/>
              </a:rPr>
              <a:t>vant</a:t>
            </a:r>
            <a:r>
              <a:rPr sz="2800" spc="-95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28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00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endParaRPr sz="2800">
              <a:latin typeface="Verdana"/>
              <a:cs typeface="Verdana"/>
            </a:endParaRPr>
          </a:p>
          <a:p>
            <a:pPr marL="405765">
              <a:lnSpc>
                <a:spcPct val="100000"/>
              </a:lnSpc>
              <a:spcBef>
                <a:spcPts val="2695"/>
              </a:spcBef>
            </a:pPr>
            <a:r>
              <a:rPr sz="2800" spc="60" dirty="0">
                <a:solidFill>
                  <a:srgbClr val="404040"/>
                </a:solidFill>
                <a:latin typeface="Verdana"/>
                <a:cs typeface="Verdana"/>
              </a:rPr>
              <a:t>Web</a:t>
            </a:r>
            <a:r>
              <a:rPr sz="2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65" dirty="0">
                <a:solidFill>
                  <a:srgbClr val="404040"/>
                </a:solidFill>
                <a:latin typeface="Verdana"/>
                <a:cs typeface="Verdana"/>
              </a:rPr>
              <a:t>Mining,</a:t>
            </a:r>
            <a:r>
              <a:rPr sz="28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80" dirty="0">
                <a:solidFill>
                  <a:srgbClr val="404040"/>
                </a:solidFill>
                <a:latin typeface="Verdana"/>
                <a:cs typeface="Verdana"/>
              </a:rPr>
              <a:t>Linked</a:t>
            </a:r>
            <a:r>
              <a:rPr sz="2800" spc="-22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114" dirty="0">
                <a:solidFill>
                  <a:srgbClr val="404040"/>
                </a:solidFill>
                <a:latin typeface="Verdana"/>
                <a:cs typeface="Verdana"/>
              </a:rPr>
              <a:t>DATA,</a:t>
            </a:r>
            <a:r>
              <a:rPr sz="28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165" dirty="0">
                <a:solidFill>
                  <a:srgbClr val="404040"/>
                </a:solidFill>
                <a:latin typeface="Verdana"/>
                <a:cs typeface="Verdana"/>
              </a:rPr>
              <a:t>SGBD</a:t>
            </a:r>
            <a:r>
              <a:rPr sz="28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0" dirty="0">
                <a:solidFill>
                  <a:srgbClr val="404040"/>
                </a:solidFill>
                <a:latin typeface="Verdana"/>
                <a:cs typeface="Verdana"/>
              </a:rPr>
              <a:t>orienté</a:t>
            </a:r>
            <a:r>
              <a:rPr sz="28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40" dirty="0">
                <a:solidFill>
                  <a:srgbClr val="404040"/>
                </a:solidFill>
                <a:latin typeface="Verdana"/>
                <a:cs typeface="Verdana"/>
              </a:rPr>
              <a:t>graphe</a:t>
            </a:r>
            <a:r>
              <a:rPr sz="28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85" dirty="0">
                <a:solidFill>
                  <a:srgbClr val="404040"/>
                </a:solidFill>
                <a:latin typeface="Verdana"/>
                <a:cs typeface="Verdana"/>
              </a:rPr>
              <a:t>(Neo4J).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36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296411" y="906780"/>
            <a:ext cx="4638294" cy="1009650"/>
          </a:xfrm>
          <a:prstGeom prst="rect">
            <a:avLst/>
          </a:prstGeom>
        </p:spPr>
      </p:pic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3567176" y="1032459"/>
            <a:ext cx="39439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70" dirty="0">
                <a:solidFill>
                  <a:srgbClr val="FFFF00"/>
                </a:solidFill>
              </a:rPr>
              <a:t>Travail</a:t>
            </a:r>
            <a:r>
              <a:rPr u="none" spc="-75" dirty="0">
                <a:solidFill>
                  <a:srgbClr val="FFFF00"/>
                </a:solidFill>
              </a:rPr>
              <a:t> </a:t>
            </a:r>
            <a:r>
              <a:rPr u="none" spc="220" dirty="0">
                <a:solidFill>
                  <a:srgbClr val="FFFF00"/>
                </a:solidFill>
              </a:rPr>
              <a:t>à</a:t>
            </a:r>
            <a:r>
              <a:rPr u="none" spc="-70" dirty="0">
                <a:solidFill>
                  <a:srgbClr val="FFFF00"/>
                </a:solidFill>
              </a:rPr>
              <a:t> </a:t>
            </a:r>
            <a:r>
              <a:rPr u="none" spc="5" dirty="0">
                <a:solidFill>
                  <a:srgbClr val="FFFF00"/>
                </a:solidFill>
              </a:rPr>
              <a:t>domicile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B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968</Words>
  <Application>Microsoft Office PowerPoint</Application>
  <PresentationFormat>Grand écran</PresentationFormat>
  <Paragraphs>154</Paragraphs>
  <Slides>37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6" baseType="lpstr">
      <vt:lpstr>Arial</vt:lpstr>
      <vt:lpstr>Calibri</vt:lpstr>
      <vt:lpstr>Microsoft Sans Serif</vt:lpstr>
      <vt:lpstr>Roboto</vt:lpstr>
      <vt:lpstr>Symbol</vt:lpstr>
      <vt:lpstr>Tahoma</vt:lpstr>
      <vt:lpstr>Verdana</vt:lpstr>
      <vt:lpstr>Wingdings</vt:lpstr>
      <vt:lpstr>Office Theme</vt:lpstr>
      <vt:lpstr>Présentation PowerPoint</vt:lpstr>
      <vt:lpstr>Le contenu</vt:lpstr>
      <vt:lpstr>Objectifs</vt:lpstr>
      <vt:lpstr>Chapitre 1</vt:lpstr>
      <vt:lpstr>Explosion de données manipulées par  les SI : type, volume, ….</vt:lpstr>
      <vt:lpstr>1. Les données spécifiques du WEB</vt:lpstr>
      <vt:lpstr>2. Les documents multimédias</vt:lpstr>
      <vt:lpstr>Les documents :</vt:lpstr>
      <vt:lpstr>Exemple : Encyclopédie Médico-Chirurgicale (EMC)</vt:lpstr>
      <vt:lpstr>Les problèmes commencent, ….</vt:lpstr>
      <vt:lpstr>Stockage de données</vt:lpstr>
      <vt:lpstr>Historique des BD (selon le modèle de données) 11</vt:lpstr>
      <vt:lpstr>Stockage et échange des données du WEB</vt:lpstr>
      <vt:lpstr>Nouveaux Besoins:</vt:lpstr>
      <vt:lpstr>Nouveaux Besoins:  2. Description de données spécifiques</vt:lpstr>
      <vt:lpstr>Nouveaux Besoins:  3. Sauvegarde standards de données de</vt:lpstr>
      <vt:lpstr>Solutions</vt:lpstr>
      <vt:lpstr>Données structurées, semi-structurées, non–17</vt:lpstr>
      <vt:lpstr>2. Données non structurées</vt:lpstr>
      <vt:lpstr>2. Données non structurées : l’analyse  nécessite des techniques de</vt:lpstr>
      <vt:lpstr>Présentation PowerPoint</vt:lpstr>
      <vt:lpstr>Différence entre : données structurées /Données semi-structurées</vt:lpstr>
      <vt:lpstr>Présentation PowerPoint</vt:lpstr>
      <vt:lpstr>Introduction au XML</vt:lpstr>
      <vt:lpstr>Introduction au XML</vt:lpstr>
      <vt:lpstr>Présentation PowerPoint</vt:lpstr>
      <vt:lpstr>Présentation PowerPoint</vt:lpstr>
      <vt:lpstr>Présentation PowerPoint</vt:lpstr>
      <vt:lpstr>XML comme format de description 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Travail à domicile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W8VPC</dc:creator>
  <cp:lastModifiedBy>Docteur KANGA</cp:lastModifiedBy>
  <cp:revision>4</cp:revision>
  <dcterms:created xsi:type="dcterms:W3CDTF">2023-06-12T01:17:25Z</dcterms:created>
  <dcterms:modified xsi:type="dcterms:W3CDTF">2024-04-16T14:21:40Z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2023-06-12T00:00:00Z</vt:filetime>
  </property>
</Properties>
</file>