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112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667000"/>
            <a:ext cx="4191000" cy="4191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9076" y="5867400"/>
            <a:ext cx="990600" cy="990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99476" y="9144"/>
            <a:ext cx="1600200" cy="16002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8502142" y="1519047"/>
            <a:ext cx="3288029" cy="768350"/>
          </a:xfrm>
          <a:custGeom>
            <a:avLst/>
            <a:gdLst/>
            <a:ahLst/>
            <a:cxnLst/>
            <a:rect l="l" t="t" r="r" b="b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1269"/>
            <a:ext cx="12192000" cy="6856730"/>
          </a:xfrm>
          <a:custGeom>
            <a:avLst/>
            <a:gdLst/>
            <a:ahLst/>
            <a:cxnLst/>
            <a:rect l="l" t="t" r="r" b="b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1871421"/>
                </a:lnTo>
                <a:lnTo>
                  <a:pt x="10971022" y="1981454"/>
                </a:lnTo>
                <a:lnTo>
                  <a:pt x="10201148" y="2075180"/>
                </a:lnTo>
                <a:lnTo>
                  <a:pt x="9947148" y="2100580"/>
                </a:lnTo>
                <a:lnTo>
                  <a:pt x="9434322" y="2146554"/>
                </a:lnTo>
                <a:lnTo>
                  <a:pt x="8927973" y="2184654"/>
                </a:lnTo>
                <a:lnTo>
                  <a:pt x="8675497" y="2200529"/>
                </a:lnTo>
                <a:lnTo>
                  <a:pt x="7926197" y="2237105"/>
                </a:lnTo>
                <a:lnTo>
                  <a:pt x="7191248" y="2257679"/>
                </a:lnTo>
                <a:lnTo>
                  <a:pt x="6473698" y="2265680"/>
                </a:lnTo>
                <a:lnTo>
                  <a:pt x="6006973" y="2264029"/>
                </a:lnTo>
                <a:lnTo>
                  <a:pt x="5108448" y="2246630"/>
                </a:lnTo>
                <a:lnTo>
                  <a:pt x="4467098" y="2222754"/>
                </a:lnTo>
                <a:lnTo>
                  <a:pt x="3665347" y="2179955"/>
                </a:lnTo>
                <a:lnTo>
                  <a:pt x="2931922" y="2130679"/>
                </a:lnTo>
                <a:lnTo>
                  <a:pt x="2592197" y="2103755"/>
                </a:lnTo>
                <a:lnTo>
                  <a:pt x="1979422" y="2046605"/>
                </a:lnTo>
                <a:lnTo>
                  <a:pt x="1233360" y="1965579"/>
                </a:lnTo>
                <a:lnTo>
                  <a:pt x="863473" y="1921129"/>
                </a:lnTo>
                <a:lnTo>
                  <a:pt x="476377" y="1867852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5175" y="443483"/>
            <a:ext cx="8981694" cy="1009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569163"/>
            <a:ext cx="828040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C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C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E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C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FC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667000"/>
            <a:ext cx="4191000" cy="4191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9076" y="5867400"/>
            <a:ext cx="990600" cy="990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99476" y="9144"/>
            <a:ext cx="1600200" cy="16002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8502142" y="1519047"/>
            <a:ext cx="3288029" cy="768350"/>
          </a:xfrm>
          <a:custGeom>
            <a:avLst/>
            <a:gdLst/>
            <a:ahLst/>
            <a:cxnLst/>
            <a:rect l="l" t="t" r="r" b="b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1269"/>
            <a:ext cx="12192000" cy="6856730"/>
          </a:xfrm>
          <a:custGeom>
            <a:avLst/>
            <a:gdLst/>
            <a:ahLst/>
            <a:cxnLst/>
            <a:rect l="l" t="t" r="r" b="b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1871421"/>
                </a:lnTo>
                <a:lnTo>
                  <a:pt x="10971022" y="1981454"/>
                </a:lnTo>
                <a:lnTo>
                  <a:pt x="10201148" y="2075180"/>
                </a:lnTo>
                <a:lnTo>
                  <a:pt x="9947148" y="2100580"/>
                </a:lnTo>
                <a:lnTo>
                  <a:pt x="9434322" y="2146554"/>
                </a:lnTo>
                <a:lnTo>
                  <a:pt x="8927973" y="2184654"/>
                </a:lnTo>
                <a:lnTo>
                  <a:pt x="8675497" y="2200529"/>
                </a:lnTo>
                <a:lnTo>
                  <a:pt x="7926197" y="2237105"/>
                </a:lnTo>
                <a:lnTo>
                  <a:pt x="7191248" y="2257679"/>
                </a:lnTo>
                <a:lnTo>
                  <a:pt x="6473698" y="2265680"/>
                </a:lnTo>
                <a:lnTo>
                  <a:pt x="6006973" y="2264029"/>
                </a:lnTo>
                <a:lnTo>
                  <a:pt x="5108448" y="2246630"/>
                </a:lnTo>
                <a:lnTo>
                  <a:pt x="4467098" y="2222754"/>
                </a:lnTo>
                <a:lnTo>
                  <a:pt x="3665347" y="2179955"/>
                </a:lnTo>
                <a:lnTo>
                  <a:pt x="2931922" y="2130679"/>
                </a:lnTo>
                <a:lnTo>
                  <a:pt x="2592197" y="2103755"/>
                </a:lnTo>
                <a:lnTo>
                  <a:pt x="1979422" y="2046605"/>
                </a:lnTo>
                <a:lnTo>
                  <a:pt x="1233360" y="1965579"/>
                </a:lnTo>
                <a:lnTo>
                  <a:pt x="863473" y="1921129"/>
                </a:lnTo>
                <a:lnTo>
                  <a:pt x="476377" y="1867852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67000"/>
            <a:ext cx="4191000" cy="4191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609076" y="5867400"/>
            <a:ext cx="990600" cy="990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09076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9476" y="9144"/>
            <a:ext cx="1600200" cy="16002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8502142" y="1519047"/>
            <a:ext cx="3288029" cy="768350"/>
          </a:xfrm>
          <a:custGeom>
            <a:avLst/>
            <a:gdLst/>
            <a:ahLst/>
            <a:cxnLst/>
            <a:rect l="l" t="t" r="r" b="b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1269"/>
            <a:ext cx="12192000" cy="6856730"/>
          </a:xfrm>
          <a:custGeom>
            <a:avLst/>
            <a:gdLst/>
            <a:ahLst/>
            <a:cxnLst/>
            <a:rect l="l" t="t" r="r" b="b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1871421"/>
                </a:lnTo>
                <a:lnTo>
                  <a:pt x="10971022" y="1981454"/>
                </a:lnTo>
                <a:lnTo>
                  <a:pt x="10201148" y="2075180"/>
                </a:lnTo>
                <a:lnTo>
                  <a:pt x="9947148" y="2100580"/>
                </a:lnTo>
                <a:lnTo>
                  <a:pt x="9434322" y="2146554"/>
                </a:lnTo>
                <a:lnTo>
                  <a:pt x="8927973" y="2184654"/>
                </a:lnTo>
                <a:lnTo>
                  <a:pt x="8675497" y="2200529"/>
                </a:lnTo>
                <a:lnTo>
                  <a:pt x="7926197" y="2237105"/>
                </a:lnTo>
                <a:lnTo>
                  <a:pt x="7191248" y="2257679"/>
                </a:lnTo>
                <a:lnTo>
                  <a:pt x="6473698" y="2265680"/>
                </a:lnTo>
                <a:lnTo>
                  <a:pt x="6006973" y="2264029"/>
                </a:lnTo>
                <a:lnTo>
                  <a:pt x="5108448" y="2246630"/>
                </a:lnTo>
                <a:lnTo>
                  <a:pt x="4467098" y="2222754"/>
                </a:lnTo>
                <a:lnTo>
                  <a:pt x="3665347" y="2179955"/>
                </a:lnTo>
                <a:lnTo>
                  <a:pt x="2931922" y="2130679"/>
                </a:lnTo>
                <a:lnTo>
                  <a:pt x="2592197" y="2103755"/>
                </a:lnTo>
                <a:lnTo>
                  <a:pt x="1979422" y="2046605"/>
                </a:lnTo>
                <a:lnTo>
                  <a:pt x="1233360" y="1965579"/>
                </a:lnTo>
                <a:lnTo>
                  <a:pt x="863473" y="1921129"/>
                </a:lnTo>
                <a:lnTo>
                  <a:pt x="476377" y="1867852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30755" y="468884"/>
            <a:ext cx="9153525" cy="1119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FC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8479" y="2846654"/>
            <a:ext cx="8909685" cy="198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E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sp>
          <p:nvSpPr>
            <p:cNvPr id="4" name="object 4"/>
            <p:cNvSpPr/>
            <p:nvPr/>
          </p:nvSpPr>
          <p:spPr>
            <a:xfrm>
              <a:off x="0" y="1269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12192000" y="470154"/>
                  </a:lnTo>
                  <a:lnTo>
                    <a:pt x="11709273" y="470154"/>
                  </a:lnTo>
                  <a:lnTo>
                    <a:pt x="11709273" y="6380480"/>
                  </a:lnTo>
                  <a:lnTo>
                    <a:pt x="476377" y="6380480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8252" y="0"/>
              <a:ext cx="760488" cy="12039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437876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33932" y="4780635"/>
            <a:ext cx="2734945" cy="6614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800"/>
              </a:lnSpc>
              <a:spcBef>
                <a:spcPts val="100"/>
              </a:spcBef>
            </a:pPr>
            <a:r>
              <a:rPr lang="fr-FR" sz="1700" b="1" spc="-180" dirty="0">
                <a:solidFill>
                  <a:srgbClr val="FFFFB3"/>
                </a:solidFill>
                <a:latin typeface="Verdana"/>
                <a:cs typeface="Verdana"/>
              </a:rPr>
              <a:t>Dr KANGA Koffi</a:t>
            </a:r>
          </a:p>
          <a:p>
            <a:pPr marL="12700" marR="5080">
              <a:lnSpc>
                <a:spcPct val="128800"/>
              </a:lnSpc>
              <a:spcBef>
                <a:spcPts val="100"/>
              </a:spcBef>
            </a:pPr>
            <a:r>
              <a:rPr lang="fr-FR" sz="1700" b="1" spc="-180" dirty="0" err="1">
                <a:solidFill>
                  <a:srgbClr val="FFFFB3"/>
                </a:solidFill>
                <a:latin typeface="Verdana"/>
                <a:cs typeface="Verdana"/>
              </a:rPr>
              <a:t>kangamiage@gmail,com</a:t>
            </a:r>
            <a:endParaRPr sz="17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xfrm>
            <a:off x="1339532" y="1348503"/>
            <a:ext cx="8909685" cy="28520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5120" algn="ctr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Les</a:t>
            </a:r>
            <a:r>
              <a:rPr spc="-360" dirty="0"/>
              <a:t> </a:t>
            </a:r>
            <a:r>
              <a:rPr spc="280" dirty="0"/>
              <a:t>d</a:t>
            </a:r>
            <a:r>
              <a:rPr spc="-20" dirty="0"/>
              <a:t>onnées</a:t>
            </a:r>
            <a:r>
              <a:rPr spc="-360" dirty="0"/>
              <a:t> </a:t>
            </a:r>
            <a:r>
              <a:rPr spc="-150" dirty="0"/>
              <a:t>se</a:t>
            </a:r>
            <a:r>
              <a:rPr spc="-280" dirty="0"/>
              <a:t>m</a:t>
            </a:r>
            <a:r>
              <a:rPr spc="-370" dirty="0"/>
              <a:t>i</a:t>
            </a:r>
            <a:r>
              <a:rPr spc="-590" dirty="0"/>
              <a:t>-</a:t>
            </a:r>
            <a:r>
              <a:rPr spc="-200" dirty="0"/>
              <a:t>structurées</a:t>
            </a:r>
          </a:p>
          <a:p>
            <a:pPr marR="227329" algn="ctr">
              <a:lnSpc>
                <a:spcPct val="100000"/>
              </a:lnSpc>
              <a:spcBef>
                <a:spcPts val="45"/>
              </a:spcBef>
            </a:pPr>
            <a:endParaRPr lang="fr-FR" sz="2800" i="1" spc="-250" dirty="0">
              <a:latin typeface="Verdana"/>
              <a:cs typeface="Verdana"/>
            </a:endParaRPr>
          </a:p>
          <a:p>
            <a:pPr marR="227329" algn="ctr">
              <a:lnSpc>
                <a:spcPct val="100000"/>
              </a:lnSpc>
              <a:spcBef>
                <a:spcPts val="45"/>
              </a:spcBef>
            </a:pPr>
            <a:endParaRPr lang="fr-FR" sz="2800" i="1" spc="-250" dirty="0"/>
          </a:p>
          <a:p>
            <a:pPr marR="227329" algn="ctr">
              <a:lnSpc>
                <a:spcPct val="100000"/>
              </a:lnSpc>
              <a:spcBef>
                <a:spcPts val="45"/>
              </a:spcBef>
            </a:pPr>
            <a:r>
              <a:rPr lang="fr-FR" sz="2800" i="1" spc="-250" dirty="0">
                <a:latin typeface="Verdana"/>
                <a:cs typeface="Verdana"/>
              </a:rPr>
              <a:t>Licen</a:t>
            </a:r>
            <a:r>
              <a:rPr lang="fr-FR" sz="2800" i="1" spc="-250" dirty="0"/>
              <a:t>ce 2 MIAGE</a:t>
            </a:r>
            <a:endParaRPr sz="2800" dirty="0">
              <a:latin typeface="Verdana"/>
              <a:cs typeface="Verdana"/>
            </a:endParaRPr>
          </a:p>
          <a:p>
            <a:pPr marL="6509384" marR="5080" indent="-554990">
              <a:lnSpc>
                <a:spcPts val="2700"/>
              </a:lnSpc>
              <a:spcBef>
                <a:spcPts val="875"/>
              </a:spcBef>
            </a:pP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«</a:t>
            </a:r>
            <a:r>
              <a:rPr sz="2500" i="1" spc="-1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Les</a:t>
            </a:r>
            <a:r>
              <a:rPr sz="2500" i="1" spc="-2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données</a:t>
            </a:r>
            <a:r>
              <a:rPr sz="2500" i="1" spc="-4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semi- </a:t>
            </a:r>
            <a:r>
              <a:rPr sz="2500" i="1" spc="-68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structurées</a:t>
            </a:r>
            <a:r>
              <a:rPr sz="2500" i="1" spc="2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»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14309" y="4765040"/>
            <a:ext cx="2835910" cy="7493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51484" marR="5080" indent="-439420">
              <a:lnSpc>
                <a:spcPts val="2700"/>
              </a:lnSpc>
              <a:spcBef>
                <a:spcPts val="434"/>
              </a:spcBef>
            </a:pP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Chapitre</a:t>
            </a:r>
            <a:r>
              <a:rPr sz="2500" i="1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2</a:t>
            </a:r>
            <a:r>
              <a:rPr sz="2500" i="1" spc="-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:</a:t>
            </a:r>
            <a:r>
              <a:rPr sz="2500" i="1" spc="-1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60" dirty="0">
                <a:solidFill>
                  <a:srgbClr val="FFFF00"/>
                </a:solidFill>
                <a:latin typeface="Arial"/>
                <a:cs typeface="Arial"/>
              </a:rPr>
              <a:t>PART</a:t>
            </a:r>
            <a:r>
              <a:rPr sz="2500" i="1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II </a:t>
            </a:r>
            <a:r>
              <a:rPr sz="2500" i="1" spc="-68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00AFEF"/>
                </a:solidFill>
                <a:latin typeface="Arial"/>
                <a:cs typeface="Arial"/>
              </a:rPr>
              <a:t>‘</a:t>
            </a:r>
            <a:r>
              <a:rPr sz="2500" i="1" spc="-2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XML</a:t>
            </a:r>
            <a:r>
              <a:rPr sz="2500" i="1" spc="-5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avancé</a:t>
            </a:r>
            <a:r>
              <a:rPr sz="2500" i="1" spc="-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500" i="1" spc="-5" dirty="0">
                <a:solidFill>
                  <a:srgbClr val="FFFF00"/>
                </a:solidFill>
                <a:latin typeface="Arial"/>
                <a:cs typeface="Arial"/>
              </a:rPr>
              <a:t>‘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9472" y="865632"/>
            <a:ext cx="8701278" cy="10096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2446" y="439877"/>
            <a:ext cx="859917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Les</a:t>
            </a:r>
            <a:r>
              <a:rPr spc="-270" dirty="0"/>
              <a:t> </a:t>
            </a:r>
            <a:r>
              <a:rPr spc="-150" dirty="0"/>
              <a:t>es</a:t>
            </a:r>
            <a:r>
              <a:rPr spc="135" dirty="0"/>
              <a:t>pace</a:t>
            </a:r>
            <a:r>
              <a:rPr spc="125" dirty="0"/>
              <a:t>s</a:t>
            </a:r>
            <a:r>
              <a:rPr spc="-270" dirty="0"/>
              <a:t> </a:t>
            </a:r>
            <a:r>
              <a:rPr spc="210" dirty="0"/>
              <a:t>d</a:t>
            </a:r>
            <a:r>
              <a:rPr spc="204" dirty="0"/>
              <a:t>e</a:t>
            </a:r>
            <a:r>
              <a:rPr spc="-270" dirty="0"/>
              <a:t> </a:t>
            </a:r>
            <a:r>
              <a:rPr spc="45" dirty="0"/>
              <a:t>n</a:t>
            </a:r>
            <a:r>
              <a:rPr spc="25" dirty="0"/>
              <a:t>o</a:t>
            </a:r>
            <a:r>
              <a:rPr spc="-300" dirty="0"/>
              <a:t>ms</a:t>
            </a:r>
            <a:r>
              <a:rPr spc="-254" dirty="0"/>
              <a:t> </a:t>
            </a:r>
            <a:r>
              <a:rPr dirty="0"/>
              <a:t>(Nam</a:t>
            </a:r>
            <a:r>
              <a:rPr spc="5" dirty="0"/>
              <a:t>e</a:t>
            </a:r>
            <a:r>
              <a:rPr spc="-270" dirty="0"/>
              <a:t> </a:t>
            </a:r>
            <a:r>
              <a:rPr spc="-5" dirty="0"/>
              <a:t>Space</a:t>
            </a:r>
            <a:r>
              <a:rPr spc="-15" dirty="0"/>
              <a:t>s</a:t>
            </a:r>
            <a:r>
              <a:rPr spc="-305" dirty="0"/>
              <a:t>)</a:t>
            </a:r>
            <a:r>
              <a:rPr spc="-270" dirty="0"/>
              <a:t> </a:t>
            </a:r>
            <a:r>
              <a:rPr spc="-640" dirty="0"/>
              <a:t>: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i="1" spc="-75" dirty="0">
                <a:solidFill>
                  <a:srgbClr val="F1BE88"/>
                </a:solidFill>
                <a:latin typeface="Verdana"/>
                <a:cs typeface="Verdana"/>
              </a:rPr>
              <a:t>Résoudre</a:t>
            </a:r>
            <a:r>
              <a:rPr i="1" spc="-245" dirty="0">
                <a:solidFill>
                  <a:srgbClr val="F1BE88"/>
                </a:solidFill>
                <a:latin typeface="Verdana"/>
                <a:cs typeface="Verdana"/>
              </a:rPr>
              <a:t> </a:t>
            </a:r>
            <a:r>
              <a:rPr i="1" spc="-190" dirty="0">
                <a:solidFill>
                  <a:srgbClr val="F1BE88"/>
                </a:solidFill>
                <a:latin typeface="Verdana"/>
                <a:cs typeface="Verdana"/>
              </a:rPr>
              <a:t>les</a:t>
            </a:r>
            <a:r>
              <a:rPr i="1" spc="-265" dirty="0">
                <a:solidFill>
                  <a:srgbClr val="F1BE88"/>
                </a:solidFill>
                <a:latin typeface="Verdana"/>
                <a:cs typeface="Verdana"/>
              </a:rPr>
              <a:t> </a:t>
            </a:r>
            <a:r>
              <a:rPr i="1" spc="-105" dirty="0">
                <a:solidFill>
                  <a:srgbClr val="F1BE88"/>
                </a:solidFill>
                <a:latin typeface="Verdana"/>
                <a:cs typeface="Verdana"/>
              </a:rPr>
              <a:t>conflits</a:t>
            </a:r>
            <a:r>
              <a:rPr i="1" spc="-240" dirty="0">
                <a:solidFill>
                  <a:srgbClr val="F1BE88"/>
                </a:solidFill>
                <a:latin typeface="Verdana"/>
                <a:cs typeface="Verdana"/>
              </a:rPr>
              <a:t> </a:t>
            </a:r>
            <a:r>
              <a:rPr i="1" spc="-95" dirty="0">
                <a:solidFill>
                  <a:srgbClr val="F1BE88"/>
                </a:solidFill>
                <a:latin typeface="Verdana"/>
                <a:cs typeface="Verdana"/>
              </a:rPr>
              <a:t>d’utilisation</a:t>
            </a:r>
            <a:r>
              <a:rPr i="1" spc="-225" dirty="0">
                <a:solidFill>
                  <a:srgbClr val="F1BE88"/>
                </a:solidFill>
                <a:latin typeface="Verdana"/>
                <a:cs typeface="Verdana"/>
              </a:rPr>
              <a:t> </a:t>
            </a:r>
            <a:r>
              <a:rPr i="1" spc="-25" dirty="0">
                <a:solidFill>
                  <a:srgbClr val="F1BE88"/>
                </a:solidFill>
                <a:latin typeface="Verdana"/>
                <a:cs typeface="Verdana"/>
              </a:rPr>
              <a:t>des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7784" y="1414272"/>
            <a:ext cx="2186177" cy="10096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39817" y="1537842"/>
            <a:ext cx="14839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120" dirty="0">
                <a:solidFill>
                  <a:srgbClr val="F1BE88"/>
                </a:solidFill>
                <a:latin typeface="Verdana"/>
                <a:cs typeface="Verdana"/>
              </a:rPr>
              <a:t>balises</a:t>
            </a:r>
            <a:endParaRPr sz="36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9447" y="2848356"/>
            <a:ext cx="6702552" cy="358597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60" y="2136139"/>
            <a:ext cx="549592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-</a:t>
            </a:r>
            <a:r>
              <a:rPr sz="2300" spc="390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La</a:t>
            </a:r>
            <a:r>
              <a:rPr sz="2300" spc="190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société</a:t>
            </a:r>
            <a:r>
              <a:rPr sz="2300" spc="190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4</a:t>
            </a:r>
            <a:r>
              <a:rPr sz="2300" spc="195" dirty="0">
                <a:solidFill>
                  <a:srgbClr val="00AFEF"/>
                </a:solidFill>
                <a:latin typeface="Verdana"/>
                <a:cs typeface="Verdana"/>
              </a:rPr>
              <a:t> </a:t>
            </a:r>
            <a:r>
              <a:rPr sz="2300" b="1" u="heavy" spc="-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Verdana"/>
                <a:cs typeface="Verdana"/>
              </a:rPr>
              <a:t>intègre</a:t>
            </a:r>
            <a:r>
              <a:rPr sz="2300" b="1" spc="225" dirty="0">
                <a:solidFill>
                  <a:srgbClr val="00AFEF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02429"/>
                </a:solidFill>
                <a:latin typeface="Verdana"/>
                <a:cs typeface="Verdana"/>
              </a:rPr>
              <a:t>au</a:t>
            </a:r>
            <a:r>
              <a:rPr sz="2300" spc="200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document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9272" y="2486660"/>
            <a:ext cx="520890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60705" algn="l"/>
                <a:tab pos="1324610" algn="l"/>
                <a:tab pos="3441700" algn="l"/>
              </a:tabLst>
            </a:pP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4,	des	documents	proviennent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9272" y="2836875"/>
            <a:ext cx="329184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des</a:t>
            </a:r>
            <a:r>
              <a:rPr sz="2300" spc="-20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sociétés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1,</a:t>
            </a:r>
            <a:r>
              <a:rPr sz="2300" spc="-20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2</a:t>
            </a:r>
            <a:r>
              <a:rPr sz="2300" spc="-10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et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3.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760" y="3187954"/>
            <a:ext cx="46431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2590" algn="l"/>
                <a:tab pos="1880870" algn="l"/>
                <a:tab pos="3711575" algn="l"/>
              </a:tabLst>
            </a:pP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-	</a:t>
            </a:r>
            <a:r>
              <a:rPr sz="2300" spc="-15" dirty="0">
                <a:solidFill>
                  <a:srgbClr val="202429"/>
                </a:solidFill>
                <a:latin typeface="Verdana"/>
                <a:cs typeface="Verdana"/>
              </a:rPr>
              <a:t>C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haque	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d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o</a:t>
            </a:r>
            <a:r>
              <a:rPr sz="2300" spc="-15" dirty="0">
                <a:solidFill>
                  <a:srgbClr val="202429"/>
                </a:solidFill>
                <a:latin typeface="Verdana"/>
                <a:cs typeface="Verdana"/>
              </a:rPr>
              <a:t>c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u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m</a:t>
            </a:r>
            <a:r>
              <a:rPr sz="2300" spc="-20" dirty="0">
                <a:solidFill>
                  <a:srgbClr val="202429"/>
                </a:solidFill>
                <a:latin typeface="Verdana"/>
                <a:cs typeface="Verdana"/>
              </a:rPr>
              <a:t>e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nt	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déf</a:t>
            </a:r>
            <a:r>
              <a:rPr sz="2300" spc="-10" dirty="0">
                <a:solidFill>
                  <a:srgbClr val="202429"/>
                </a:solidFill>
                <a:latin typeface="Verdana"/>
                <a:cs typeface="Verdana"/>
              </a:rPr>
              <a:t>i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n</a:t>
            </a:r>
            <a:r>
              <a:rPr sz="2300" spc="-10" dirty="0">
                <a:solidFill>
                  <a:srgbClr val="202429"/>
                </a:solidFill>
                <a:latin typeface="Verdana"/>
                <a:cs typeface="Verdana"/>
              </a:rPr>
              <a:t>i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t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82921" y="3187954"/>
            <a:ext cx="50482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ces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5204459"/>
            <a:ext cx="1954530" cy="659130"/>
            <a:chOff x="0" y="5204459"/>
            <a:chExt cx="1954530" cy="65913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204459"/>
              <a:ext cx="445770" cy="65912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788" y="5209031"/>
              <a:ext cx="1745742" cy="65151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2760" y="3538473"/>
            <a:ext cx="5496560" cy="3181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algn="just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00AFEF"/>
                </a:solidFill>
                <a:latin typeface="Verdana"/>
                <a:cs typeface="Verdana"/>
              </a:rPr>
              <a:t>propres</a:t>
            </a:r>
            <a:r>
              <a:rPr sz="2300" b="1" spc="-20" dirty="0">
                <a:solidFill>
                  <a:srgbClr val="00AFEF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balises et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attributs.</a:t>
            </a:r>
            <a:endParaRPr sz="2300">
              <a:latin typeface="Verdana"/>
              <a:cs typeface="Verdana"/>
            </a:endParaRPr>
          </a:p>
          <a:p>
            <a:pPr marL="299085" marR="6985" indent="-287020" algn="just">
              <a:lnSpc>
                <a:spcPct val="100000"/>
              </a:lnSpc>
              <a:buFont typeface="Verdana"/>
              <a:buChar char="-"/>
              <a:tabLst>
                <a:tab pos="299720" algn="l"/>
              </a:tabLst>
            </a:pPr>
            <a:r>
              <a:rPr sz="2300" b="1" spc="-5" dirty="0">
                <a:solidFill>
                  <a:srgbClr val="FF0000"/>
                </a:solidFill>
                <a:latin typeface="Verdana"/>
                <a:cs typeface="Verdana"/>
              </a:rPr>
              <a:t>Problème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: La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balise température </a:t>
            </a:r>
            <a:r>
              <a:rPr sz="2300" spc="-79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dans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l’objet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analyse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 =&gt; 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température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de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la salle, 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du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corp 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humain,</a:t>
            </a:r>
            <a:r>
              <a:rPr sz="2300" spc="-5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ou</a:t>
            </a:r>
            <a:r>
              <a:rPr sz="2300" spc="-20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du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processeur ?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)</a:t>
            </a:r>
            <a:endParaRPr sz="2300">
              <a:latin typeface="Verdana"/>
              <a:cs typeface="Verdana"/>
            </a:endParaRPr>
          </a:p>
          <a:p>
            <a:pPr marL="299085" marR="5080" indent="-287020" algn="just">
              <a:lnSpc>
                <a:spcPct val="100000"/>
              </a:lnSpc>
              <a:buFont typeface="Verdana"/>
              <a:buChar char="-"/>
              <a:tabLst>
                <a:tab pos="299720" algn="l"/>
              </a:tabLst>
            </a:pPr>
            <a:r>
              <a:rPr sz="2300" b="1" spc="-5" dirty="0">
                <a:solidFill>
                  <a:srgbClr val="00AF50"/>
                </a:solidFill>
                <a:latin typeface="Verdana"/>
                <a:cs typeface="Verdana"/>
              </a:rPr>
              <a:t>Solution</a:t>
            </a:r>
            <a:r>
              <a:rPr sz="2300" b="1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=&gt;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classer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chaque </a:t>
            </a:r>
            <a:r>
              <a:rPr sz="2300" spc="-79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concept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(la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porté)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dans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une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classe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 (espace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des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noms),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 pour</a:t>
            </a:r>
            <a:r>
              <a:rPr sz="2300" spc="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02429"/>
                </a:solidFill>
                <a:latin typeface="Verdana"/>
                <a:cs typeface="Verdana"/>
              </a:rPr>
              <a:t>savoir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comment</a:t>
            </a:r>
            <a:r>
              <a:rPr sz="2300" spc="-15" dirty="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02429"/>
                </a:solidFill>
                <a:latin typeface="Verdana"/>
                <a:cs typeface="Verdana"/>
              </a:rPr>
              <a:t>il doit</a:t>
            </a:r>
            <a:r>
              <a:rPr sz="2300" dirty="0">
                <a:solidFill>
                  <a:srgbClr val="202429"/>
                </a:solidFill>
                <a:latin typeface="Verdana"/>
                <a:cs typeface="Verdana"/>
              </a:rPr>
              <a:t> être</a:t>
            </a:r>
            <a:r>
              <a:rPr sz="2300" spc="1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300" u="heavy" spc="-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Verdana"/>
                <a:cs typeface="Verdana"/>
              </a:rPr>
              <a:t>interprété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743056" y="2550032"/>
            <a:ext cx="1459230" cy="596900"/>
            <a:chOff x="10743056" y="2550032"/>
            <a:chExt cx="1459230" cy="596900"/>
          </a:xfrm>
        </p:grpSpPr>
        <p:sp>
          <p:nvSpPr>
            <p:cNvPr id="18" name="object 18"/>
            <p:cNvSpPr/>
            <p:nvPr/>
          </p:nvSpPr>
          <p:spPr>
            <a:xfrm>
              <a:off x="10752581" y="2559557"/>
              <a:ext cx="1440180" cy="577850"/>
            </a:xfrm>
            <a:custGeom>
              <a:avLst/>
              <a:gdLst/>
              <a:ahLst/>
              <a:cxnLst/>
              <a:rect l="l" t="t" r="r" b="b"/>
              <a:pathLst>
                <a:path w="1440179" h="577850">
                  <a:moveTo>
                    <a:pt x="1343914" y="0"/>
                  </a:moveTo>
                  <a:lnTo>
                    <a:pt x="96266" y="0"/>
                  </a:lnTo>
                  <a:lnTo>
                    <a:pt x="58775" y="7558"/>
                  </a:lnTo>
                  <a:lnTo>
                    <a:pt x="28178" y="28178"/>
                  </a:lnTo>
                  <a:lnTo>
                    <a:pt x="7558" y="58775"/>
                  </a:lnTo>
                  <a:lnTo>
                    <a:pt x="0" y="96265"/>
                  </a:lnTo>
                  <a:lnTo>
                    <a:pt x="0" y="481329"/>
                  </a:lnTo>
                  <a:lnTo>
                    <a:pt x="7558" y="518820"/>
                  </a:lnTo>
                  <a:lnTo>
                    <a:pt x="28178" y="549417"/>
                  </a:lnTo>
                  <a:lnTo>
                    <a:pt x="58775" y="570037"/>
                  </a:lnTo>
                  <a:lnTo>
                    <a:pt x="96266" y="577595"/>
                  </a:lnTo>
                  <a:lnTo>
                    <a:pt x="1343914" y="577595"/>
                  </a:lnTo>
                  <a:lnTo>
                    <a:pt x="1381404" y="570037"/>
                  </a:lnTo>
                  <a:lnTo>
                    <a:pt x="1412001" y="549417"/>
                  </a:lnTo>
                  <a:lnTo>
                    <a:pt x="1432621" y="518820"/>
                  </a:lnTo>
                  <a:lnTo>
                    <a:pt x="1440179" y="481329"/>
                  </a:lnTo>
                  <a:lnTo>
                    <a:pt x="1440179" y="96265"/>
                  </a:lnTo>
                  <a:lnTo>
                    <a:pt x="1432621" y="58775"/>
                  </a:lnTo>
                  <a:lnTo>
                    <a:pt x="1412001" y="28178"/>
                  </a:lnTo>
                  <a:lnTo>
                    <a:pt x="1381404" y="7558"/>
                  </a:lnTo>
                  <a:lnTo>
                    <a:pt x="1343914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752581" y="2559557"/>
              <a:ext cx="1440180" cy="577850"/>
            </a:xfrm>
            <a:custGeom>
              <a:avLst/>
              <a:gdLst/>
              <a:ahLst/>
              <a:cxnLst/>
              <a:rect l="l" t="t" r="r" b="b"/>
              <a:pathLst>
                <a:path w="1440179" h="577850">
                  <a:moveTo>
                    <a:pt x="0" y="96265"/>
                  </a:moveTo>
                  <a:lnTo>
                    <a:pt x="7558" y="58775"/>
                  </a:lnTo>
                  <a:lnTo>
                    <a:pt x="28178" y="28178"/>
                  </a:lnTo>
                  <a:lnTo>
                    <a:pt x="58775" y="7558"/>
                  </a:lnTo>
                  <a:lnTo>
                    <a:pt x="96266" y="0"/>
                  </a:lnTo>
                  <a:lnTo>
                    <a:pt x="1343914" y="0"/>
                  </a:lnTo>
                  <a:lnTo>
                    <a:pt x="1381404" y="7558"/>
                  </a:lnTo>
                  <a:lnTo>
                    <a:pt x="1412001" y="28178"/>
                  </a:lnTo>
                  <a:lnTo>
                    <a:pt x="1432621" y="58775"/>
                  </a:lnTo>
                  <a:lnTo>
                    <a:pt x="1440179" y="96265"/>
                  </a:lnTo>
                  <a:lnTo>
                    <a:pt x="1440179" y="481329"/>
                  </a:lnTo>
                  <a:lnTo>
                    <a:pt x="1432621" y="518820"/>
                  </a:lnTo>
                  <a:lnTo>
                    <a:pt x="1412001" y="549417"/>
                  </a:lnTo>
                  <a:lnTo>
                    <a:pt x="1381404" y="570037"/>
                  </a:lnTo>
                  <a:lnTo>
                    <a:pt x="1343914" y="577595"/>
                  </a:lnTo>
                  <a:lnTo>
                    <a:pt x="96266" y="577595"/>
                  </a:lnTo>
                  <a:lnTo>
                    <a:pt x="58775" y="570037"/>
                  </a:lnTo>
                  <a:lnTo>
                    <a:pt x="28178" y="549417"/>
                  </a:lnTo>
                  <a:lnTo>
                    <a:pt x="7558" y="518820"/>
                  </a:lnTo>
                  <a:lnTo>
                    <a:pt x="0" y="481329"/>
                  </a:lnTo>
                  <a:lnTo>
                    <a:pt x="0" y="96265"/>
                  </a:lnTo>
                  <a:close/>
                </a:path>
              </a:pathLst>
            </a:custGeom>
            <a:ln w="19049">
              <a:solidFill>
                <a:srgbClr val="8309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168253" y="2617724"/>
            <a:ext cx="6115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400" spc="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je</a:t>
            </a:r>
            <a:r>
              <a:rPr sz="1400" spc="-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25581" y="2831083"/>
            <a:ext cx="6959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25" dirty="0">
                <a:solidFill>
                  <a:srgbClr val="FFFFFF"/>
                </a:solidFill>
                <a:latin typeface="Verdana"/>
                <a:cs typeface="Verdana"/>
              </a:rPr>
              <a:t>anal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yse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867013" y="2557652"/>
            <a:ext cx="1461135" cy="596900"/>
            <a:chOff x="8867013" y="2557652"/>
            <a:chExt cx="1461135" cy="596900"/>
          </a:xfrm>
        </p:grpSpPr>
        <p:sp>
          <p:nvSpPr>
            <p:cNvPr id="23" name="object 23"/>
            <p:cNvSpPr/>
            <p:nvPr/>
          </p:nvSpPr>
          <p:spPr>
            <a:xfrm>
              <a:off x="8876538" y="2567177"/>
              <a:ext cx="1442085" cy="577850"/>
            </a:xfrm>
            <a:custGeom>
              <a:avLst/>
              <a:gdLst/>
              <a:ahLst/>
              <a:cxnLst/>
              <a:rect l="l" t="t" r="r" b="b"/>
              <a:pathLst>
                <a:path w="1442084" h="577850">
                  <a:moveTo>
                    <a:pt x="1345437" y="0"/>
                  </a:moveTo>
                  <a:lnTo>
                    <a:pt x="96265" y="0"/>
                  </a:lnTo>
                  <a:lnTo>
                    <a:pt x="58775" y="7558"/>
                  </a:lnTo>
                  <a:lnTo>
                    <a:pt x="28178" y="28178"/>
                  </a:lnTo>
                  <a:lnTo>
                    <a:pt x="7558" y="58775"/>
                  </a:lnTo>
                  <a:lnTo>
                    <a:pt x="0" y="96266"/>
                  </a:lnTo>
                  <a:lnTo>
                    <a:pt x="0" y="481330"/>
                  </a:lnTo>
                  <a:lnTo>
                    <a:pt x="7558" y="518820"/>
                  </a:lnTo>
                  <a:lnTo>
                    <a:pt x="28178" y="549417"/>
                  </a:lnTo>
                  <a:lnTo>
                    <a:pt x="58775" y="570037"/>
                  </a:lnTo>
                  <a:lnTo>
                    <a:pt x="96265" y="577596"/>
                  </a:lnTo>
                  <a:lnTo>
                    <a:pt x="1345437" y="577596"/>
                  </a:lnTo>
                  <a:lnTo>
                    <a:pt x="1382928" y="570037"/>
                  </a:lnTo>
                  <a:lnTo>
                    <a:pt x="1413525" y="549417"/>
                  </a:lnTo>
                  <a:lnTo>
                    <a:pt x="1434145" y="518820"/>
                  </a:lnTo>
                  <a:lnTo>
                    <a:pt x="1441703" y="481330"/>
                  </a:lnTo>
                  <a:lnTo>
                    <a:pt x="1441703" y="96266"/>
                  </a:lnTo>
                  <a:lnTo>
                    <a:pt x="1434145" y="58775"/>
                  </a:lnTo>
                  <a:lnTo>
                    <a:pt x="1413525" y="28178"/>
                  </a:lnTo>
                  <a:lnTo>
                    <a:pt x="1382928" y="7558"/>
                  </a:lnTo>
                  <a:lnTo>
                    <a:pt x="1345437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76538" y="2567177"/>
              <a:ext cx="1442085" cy="577850"/>
            </a:xfrm>
            <a:custGeom>
              <a:avLst/>
              <a:gdLst/>
              <a:ahLst/>
              <a:cxnLst/>
              <a:rect l="l" t="t" r="r" b="b"/>
              <a:pathLst>
                <a:path w="1442084" h="577850">
                  <a:moveTo>
                    <a:pt x="0" y="96266"/>
                  </a:moveTo>
                  <a:lnTo>
                    <a:pt x="7558" y="58775"/>
                  </a:lnTo>
                  <a:lnTo>
                    <a:pt x="28178" y="28178"/>
                  </a:lnTo>
                  <a:lnTo>
                    <a:pt x="58775" y="7558"/>
                  </a:lnTo>
                  <a:lnTo>
                    <a:pt x="96265" y="0"/>
                  </a:lnTo>
                  <a:lnTo>
                    <a:pt x="1345437" y="0"/>
                  </a:lnTo>
                  <a:lnTo>
                    <a:pt x="1382928" y="7558"/>
                  </a:lnTo>
                  <a:lnTo>
                    <a:pt x="1413525" y="28178"/>
                  </a:lnTo>
                  <a:lnTo>
                    <a:pt x="1434145" y="58775"/>
                  </a:lnTo>
                  <a:lnTo>
                    <a:pt x="1441703" y="96266"/>
                  </a:lnTo>
                  <a:lnTo>
                    <a:pt x="1441703" y="481330"/>
                  </a:lnTo>
                  <a:lnTo>
                    <a:pt x="1434145" y="518820"/>
                  </a:lnTo>
                  <a:lnTo>
                    <a:pt x="1413525" y="549417"/>
                  </a:lnTo>
                  <a:lnTo>
                    <a:pt x="1382928" y="570037"/>
                  </a:lnTo>
                  <a:lnTo>
                    <a:pt x="1345437" y="577596"/>
                  </a:lnTo>
                  <a:lnTo>
                    <a:pt x="96265" y="577596"/>
                  </a:lnTo>
                  <a:lnTo>
                    <a:pt x="58775" y="570037"/>
                  </a:lnTo>
                  <a:lnTo>
                    <a:pt x="28178" y="549417"/>
                  </a:lnTo>
                  <a:lnTo>
                    <a:pt x="7558" y="518820"/>
                  </a:lnTo>
                  <a:lnTo>
                    <a:pt x="0" y="481330"/>
                  </a:lnTo>
                  <a:lnTo>
                    <a:pt x="0" y="96266"/>
                  </a:lnTo>
                  <a:close/>
                </a:path>
              </a:pathLst>
            </a:custGeom>
            <a:ln w="19050">
              <a:solidFill>
                <a:srgbClr val="8309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250171" y="2625344"/>
            <a:ext cx="6959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2545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400" spc="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je</a:t>
            </a:r>
            <a:r>
              <a:rPr sz="1400" spc="-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10" dirty="0">
                <a:solidFill>
                  <a:srgbClr val="FFFFFF"/>
                </a:solidFill>
                <a:latin typeface="Verdana"/>
                <a:cs typeface="Verdana"/>
              </a:rPr>
              <a:t>:  </a:t>
            </a:r>
            <a:r>
              <a:rPr sz="1400" spc="25" dirty="0">
                <a:solidFill>
                  <a:srgbClr val="FFFFFF"/>
                </a:solidFill>
                <a:latin typeface="Verdana"/>
                <a:cs typeface="Verdana"/>
              </a:rPr>
              <a:t>anal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yse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846189" y="2557652"/>
            <a:ext cx="1660525" cy="596900"/>
            <a:chOff x="6846189" y="2557652"/>
            <a:chExt cx="1660525" cy="596900"/>
          </a:xfrm>
        </p:grpSpPr>
        <p:sp>
          <p:nvSpPr>
            <p:cNvPr id="27" name="object 27"/>
            <p:cNvSpPr/>
            <p:nvPr/>
          </p:nvSpPr>
          <p:spPr>
            <a:xfrm>
              <a:off x="6855714" y="2567177"/>
              <a:ext cx="1641475" cy="577850"/>
            </a:xfrm>
            <a:custGeom>
              <a:avLst/>
              <a:gdLst/>
              <a:ahLst/>
              <a:cxnLst/>
              <a:rect l="l" t="t" r="r" b="b"/>
              <a:pathLst>
                <a:path w="1641475" h="577850">
                  <a:moveTo>
                    <a:pt x="1545081" y="0"/>
                  </a:moveTo>
                  <a:lnTo>
                    <a:pt x="96265" y="0"/>
                  </a:lnTo>
                  <a:lnTo>
                    <a:pt x="58775" y="7558"/>
                  </a:lnTo>
                  <a:lnTo>
                    <a:pt x="28178" y="28178"/>
                  </a:lnTo>
                  <a:lnTo>
                    <a:pt x="7558" y="58775"/>
                  </a:lnTo>
                  <a:lnTo>
                    <a:pt x="0" y="96266"/>
                  </a:lnTo>
                  <a:lnTo>
                    <a:pt x="0" y="481330"/>
                  </a:lnTo>
                  <a:lnTo>
                    <a:pt x="7558" y="518820"/>
                  </a:lnTo>
                  <a:lnTo>
                    <a:pt x="28178" y="549417"/>
                  </a:lnTo>
                  <a:lnTo>
                    <a:pt x="58775" y="570037"/>
                  </a:lnTo>
                  <a:lnTo>
                    <a:pt x="96265" y="577596"/>
                  </a:lnTo>
                  <a:lnTo>
                    <a:pt x="1545081" y="577596"/>
                  </a:lnTo>
                  <a:lnTo>
                    <a:pt x="1582572" y="570037"/>
                  </a:lnTo>
                  <a:lnTo>
                    <a:pt x="1613169" y="549417"/>
                  </a:lnTo>
                  <a:lnTo>
                    <a:pt x="1633789" y="518820"/>
                  </a:lnTo>
                  <a:lnTo>
                    <a:pt x="1641347" y="481330"/>
                  </a:lnTo>
                  <a:lnTo>
                    <a:pt x="1641347" y="96266"/>
                  </a:lnTo>
                  <a:lnTo>
                    <a:pt x="1633789" y="58775"/>
                  </a:lnTo>
                  <a:lnTo>
                    <a:pt x="1613169" y="28178"/>
                  </a:lnTo>
                  <a:lnTo>
                    <a:pt x="1582572" y="7558"/>
                  </a:lnTo>
                  <a:lnTo>
                    <a:pt x="1545081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55714" y="2567177"/>
              <a:ext cx="1641475" cy="577850"/>
            </a:xfrm>
            <a:custGeom>
              <a:avLst/>
              <a:gdLst/>
              <a:ahLst/>
              <a:cxnLst/>
              <a:rect l="l" t="t" r="r" b="b"/>
              <a:pathLst>
                <a:path w="1641475" h="577850">
                  <a:moveTo>
                    <a:pt x="0" y="96266"/>
                  </a:moveTo>
                  <a:lnTo>
                    <a:pt x="7558" y="58775"/>
                  </a:lnTo>
                  <a:lnTo>
                    <a:pt x="28178" y="28178"/>
                  </a:lnTo>
                  <a:lnTo>
                    <a:pt x="58775" y="7558"/>
                  </a:lnTo>
                  <a:lnTo>
                    <a:pt x="96265" y="0"/>
                  </a:lnTo>
                  <a:lnTo>
                    <a:pt x="1545081" y="0"/>
                  </a:lnTo>
                  <a:lnTo>
                    <a:pt x="1582572" y="7558"/>
                  </a:lnTo>
                  <a:lnTo>
                    <a:pt x="1613169" y="28178"/>
                  </a:lnTo>
                  <a:lnTo>
                    <a:pt x="1633789" y="58775"/>
                  </a:lnTo>
                  <a:lnTo>
                    <a:pt x="1641347" y="96266"/>
                  </a:lnTo>
                  <a:lnTo>
                    <a:pt x="1641347" y="481330"/>
                  </a:lnTo>
                  <a:lnTo>
                    <a:pt x="1633789" y="518820"/>
                  </a:lnTo>
                  <a:lnTo>
                    <a:pt x="1613169" y="549417"/>
                  </a:lnTo>
                  <a:lnTo>
                    <a:pt x="1582572" y="570037"/>
                  </a:lnTo>
                  <a:lnTo>
                    <a:pt x="1545081" y="577596"/>
                  </a:lnTo>
                  <a:lnTo>
                    <a:pt x="96265" y="577596"/>
                  </a:lnTo>
                  <a:lnTo>
                    <a:pt x="58775" y="570037"/>
                  </a:lnTo>
                  <a:lnTo>
                    <a:pt x="28178" y="549417"/>
                  </a:lnTo>
                  <a:lnTo>
                    <a:pt x="7558" y="518820"/>
                  </a:lnTo>
                  <a:lnTo>
                    <a:pt x="0" y="481330"/>
                  </a:lnTo>
                  <a:lnTo>
                    <a:pt x="0" y="96266"/>
                  </a:lnTo>
                  <a:close/>
                </a:path>
              </a:pathLst>
            </a:custGeom>
            <a:ln w="19050">
              <a:solidFill>
                <a:srgbClr val="8309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010527" y="2732024"/>
            <a:ext cx="13315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400" spc="9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400" spc="-75" dirty="0">
                <a:solidFill>
                  <a:srgbClr val="FFFFFF"/>
                </a:solidFill>
                <a:latin typeface="Verdana"/>
                <a:cs typeface="Verdana"/>
              </a:rPr>
              <a:t>je</a:t>
            </a:r>
            <a:r>
              <a:rPr sz="1400" spc="-6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4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250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Verdana"/>
                <a:cs typeface="Verdana"/>
              </a:rPr>
              <a:t>anal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yse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12" y="612648"/>
            <a:ext cx="5456682" cy="10096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8995" y="735279"/>
            <a:ext cx="47542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Les</a:t>
            </a:r>
            <a:r>
              <a:rPr spc="-270" dirty="0"/>
              <a:t> </a:t>
            </a:r>
            <a:r>
              <a:rPr spc="-150" dirty="0"/>
              <a:t>es</a:t>
            </a:r>
            <a:r>
              <a:rPr spc="135" dirty="0"/>
              <a:t>pace</a:t>
            </a:r>
            <a:r>
              <a:rPr spc="125" dirty="0"/>
              <a:t>s</a:t>
            </a:r>
            <a:r>
              <a:rPr spc="-270" dirty="0"/>
              <a:t> </a:t>
            </a:r>
            <a:r>
              <a:rPr spc="210" dirty="0"/>
              <a:t>d</a:t>
            </a:r>
            <a:r>
              <a:rPr spc="204" dirty="0"/>
              <a:t>e</a:t>
            </a:r>
            <a:r>
              <a:rPr spc="-270" dirty="0"/>
              <a:t> </a:t>
            </a:r>
            <a:r>
              <a:rPr spc="45" dirty="0"/>
              <a:t>n</a:t>
            </a:r>
            <a:r>
              <a:rPr spc="25" dirty="0"/>
              <a:t>o</a:t>
            </a:r>
            <a:r>
              <a:rPr spc="-300" dirty="0"/>
              <a:t>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559" y="2337816"/>
            <a:ext cx="10634472" cy="4354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71596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Le</a:t>
            </a:r>
            <a:r>
              <a:rPr spc="-270" dirty="0"/>
              <a:t> </a:t>
            </a:r>
            <a:r>
              <a:rPr spc="-45" dirty="0"/>
              <a:t>design</a:t>
            </a:r>
            <a:r>
              <a:rPr spc="-270" dirty="0"/>
              <a:t> </a:t>
            </a:r>
            <a:r>
              <a:rPr spc="210" dirty="0"/>
              <a:t>d</a:t>
            </a:r>
            <a:r>
              <a:rPr spc="204" dirty="0"/>
              <a:t>e</a:t>
            </a:r>
            <a:r>
              <a:rPr spc="-270" dirty="0"/>
              <a:t> </a:t>
            </a:r>
            <a:r>
              <a:rPr spc="10" dirty="0"/>
              <a:t>l</a:t>
            </a:r>
            <a:r>
              <a:rPr dirty="0"/>
              <a:t>’</a:t>
            </a:r>
            <a:r>
              <a:rPr spc="145" dirty="0"/>
              <a:t>espace</a:t>
            </a:r>
            <a:r>
              <a:rPr spc="-270" dirty="0"/>
              <a:t> </a:t>
            </a:r>
            <a:r>
              <a:rPr spc="-25" dirty="0"/>
              <a:t>de</a:t>
            </a:r>
            <a:r>
              <a:rPr spc="-20" dirty="0"/>
              <a:t>s</a:t>
            </a:r>
            <a:r>
              <a:rPr spc="-285" dirty="0"/>
              <a:t> </a:t>
            </a:r>
            <a:r>
              <a:rPr spc="45" dirty="0"/>
              <a:t>n</a:t>
            </a:r>
            <a:r>
              <a:rPr spc="30" dirty="0"/>
              <a:t>o</a:t>
            </a:r>
            <a:r>
              <a:rPr spc="-300" dirty="0"/>
              <a:t>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407107"/>
            <a:ext cx="12032615" cy="3208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B31166"/>
              </a:buClr>
              <a:buSzPct val="79687"/>
              <a:buFont typeface="Wingdings"/>
              <a:buChar char=""/>
              <a:tabLst>
                <a:tab pos="355600" algn="l"/>
              </a:tabLst>
            </a:pPr>
            <a:r>
              <a:rPr sz="3200" spc="-25" dirty="0">
                <a:latin typeface="Verdana"/>
                <a:cs typeface="Verdana"/>
              </a:rPr>
              <a:t>La</a:t>
            </a:r>
            <a:r>
              <a:rPr sz="3200" spc="-55" dirty="0">
                <a:latin typeface="Verdana"/>
                <a:cs typeface="Verdana"/>
              </a:rPr>
              <a:t> </a:t>
            </a:r>
            <a:r>
              <a:rPr sz="3200" spc="-40" dirty="0">
                <a:latin typeface="Verdana"/>
                <a:cs typeface="Verdana"/>
              </a:rPr>
              <a:t>notion</a:t>
            </a:r>
            <a:r>
              <a:rPr sz="3200" spc="-70" dirty="0">
                <a:latin typeface="Verdana"/>
                <a:cs typeface="Verdana"/>
              </a:rPr>
              <a:t> </a:t>
            </a:r>
            <a:r>
              <a:rPr sz="3200" spc="150" dirty="0">
                <a:latin typeface="Verdana"/>
                <a:cs typeface="Verdana"/>
              </a:rPr>
              <a:t>d’espace</a:t>
            </a:r>
            <a:r>
              <a:rPr sz="3200" spc="-55" dirty="0">
                <a:latin typeface="Verdana"/>
                <a:cs typeface="Verdana"/>
              </a:rPr>
              <a:t> </a:t>
            </a:r>
            <a:r>
              <a:rPr sz="3200" spc="180" dirty="0">
                <a:latin typeface="Verdana"/>
                <a:cs typeface="Verdana"/>
              </a:rPr>
              <a:t>de</a:t>
            </a:r>
            <a:r>
              <a:rPr sz="3200" spc="-55" dirty="0">
                <a:latin typeface="Verdana"/>
                <a:cs typeface="Verdana"/>
              </a:rPr>
              <a:t> </a:t>
            </a:r>
            <a:r>
              <a:rPr sz="3200" spc="-114" dirty="0">
                <a:latin typeface="Verdana"/>
                <a:cs typeface="Verdana"/>
              </a:rPr>
              <a:t>noms</a:t>
            </a:r>
            <a:r>
              <a:rPr sz="3200" spc="-55" dirty="0">
                <a:latin typeface="Verdana"/>
                <a:cs typeface="Verdana"/>
              </a:rPr>
              <a:t> </a:t>
            </a:r>
            <a:r>
              <a:rPr sz="3200" spc="25" dirty="0">
                <a:latin typeface="Verdana"/>
                <a:cs typeface="Verdana"/>
              </a:rPr>
              <a:t>peut</a:t>
            </a:r>
            <a:r>
              <a:rPr sz="3200" spc="-55" dirty="0">
                <a:latin typeface="Verdana"/>
                <a:cs typeface="Verdana"/>
              </a:rPr>
              <a:t> </a:t>
            </a:r>
            <a:r>
              <a:rPr sz="3200" spc="-65" dirty="0">
                <a:latin typeface="Verdana"/>
                <a:cs typeface="Verdana"/>
              </a:rPr>
              <a:t>être</a:t>
            </a:r>
            <a:r>
              <a:rPr sz="3200" spc="-40" dirty="0">
                <a:latin typeface="Verdana"/>
                <a:cs typeface="Verdana"/>
              </a:rPr>
              <a:t> </a:t>
            </a:r>
            <a:r>
              <a:rPr sz="3200" spc="70" dirty="0">
                <a:latin typeface="Verdana"/>
                <a:cs typeface="Verdana"/>
              </a:rPr>
              <a:t>perçue</a:t>
            </a:r>
            <a:r>
              <a:rPr sz="3200" spc="-45" dirty="0">
                <a:latin typeface="Verdana"/>
                <a:cs typeface="Verdana"/>
              </a:rPr>
              <a:t> </a:t>
            </a:r>
            <a:r>
              <a:rPr sz="3200" spc="100" dirty="0">
                <a:latin typeface="Verdana"/>
                <a:cs typeface="Verdana"/>
              </a:rPr>
              <a:t>comme</a:t>
            </a:r>
            <a:r>
              <a:rPr sz="3200" spc="-50" dirty="0">
                <a:latin typeface="Verdana"/>
                <a:cs typeface="Verdana"/>
              </a:rPr>
              <a:t> </a:t>
            </a:r>
            <a:r>
              <a:rPr sz="3200" spc="-95" dirty="0">
                <a:latin typeface="Verdana"/>
                <a:cs typeface="Verdana"/>
              </a:rPr>
              <a:t>un </a:t>
            </a:r>
            <a:r>
              <a:rPr sz="3200" spc="-1110" dirty="0">
                <a:latin typeface="Verdana"/>
                <a:cs typeface="Verdana"/>
              </a:rPr>
              <a:t> </a:t>
            </a:r>
            <a:r>
              <a:rPr sz="3200" spc="30" dirty="0">
                <a:latin typeface="Verdana"/>
                <a:cs typeface="Verdana"/>
              </a:rPr>
              <a:t>groupe</a:t>
            </a:r>
            <a:r>
              <a:rPr sz="3200" spc="-250" dirty="0">
                <a:latin typeface="Verdana"/>
                <a:cs typeface="Verdana"/>
              </a:rPr>
              <a:t> </a:t>
            </a:r>
            <a:r>
              <a:rPr sz="3200" spc="114" dirty="0">
                <a:latin typeface="Verdana"/>
                <a:cs typeface="Verdana"/>
              </a:rPr>
              <a:t>d’appartenance</a:t>
            </a:r>
            <a:r>
              <a:rPr sz="3200" spc="-254" dirty="0">
                <a:latin typeface="Verdana"/>
                <a:cs typeface="Verdana"/>
              </a:rPr>
              <a:t> </a:t>
            </a:r>
            <a:r>
              <a:rPr sz="3200" spc="35" dirty="0">
                <a:latin typeface="Verdana"/>
                <a:cs typeface="Verdana"/>
              </a:rPr>
              <a:t>ou</a:t>
            </a:r>
            <a:r>
              <a:rPr sz="3200" spc="-229" dirty="0">
                <a:latin typeface="Verdana"/>
                <a:cs typeface="Verdana"/>
              </a:rPr>
              <a:t> </a:t>
            </a:r>
            <a:r>
              <a:rPr sz="3200" spc="5" dirty="0">
                <a:latin typeface="Verdana"/>
                <a:cs typeface="Verdana"/>
              </a:rPr>
              <a:t>une</a:t>
            </a:r>
            <a:r>
              <a:rPr sz="3200" spc="-260" dirty="0">
                <a:latin typeface="Verdana"/>
                <a:cs typeface="Verdana"/>
              </a:rPr>
              <a:t> </a:t>
            </a:r>
            <a:r>
              <a:rPr sz="3200" b="1" spc="-275" dirty="0">
                <a:solidFill>
                  <a:srgbClr val="006FC0"/>
                </a:solidFill>
                <a:latin typeface="Verdana"/>
                <a:cs typeface="Verdana"/>
              </a:rPr>
              <a:t>famille</a:t>
            </a:r>
            <a:r>
              <a:rPr sz="3200" spc="-275" dirty="0">
                <a:latin typeface="Verdana"/>
                <a:cs typeface="Verdana"/>
              </a:rPr>
              <a:t>.</a:t>
            </a:r>
            <a:endParaRPr sz="32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B31166"/>
              </a:buClr>
              <a:buSzPct val="79687"/>
              <a:buFont typeface="Wingdings"/>
              <a:buChar char=""/>
              <a:tabLst>
                <a:tab pos="355600" algn="l"/>
              </a:tabLst>
            </a:pPr>
            <a:r>
              <a:rPr sz="3200" spc="-120" dirty="0">
                <a:latin typeface="Verdana"/>
                <a:cs typeface="Verdana"/>
              </a:rPr>
              <a:t>L’utilisation</a:t>
            </a:r>
            <a:r>
              <a:rPr sz="3200" spc="425" dirty="0">
                <a:latin typeface="Verdana"/>
                <a:cs typeface="Verdana"/>
              </a:rPr>
              <a:t> </a:t>
            </a:r>
            <a:r>
              <a:rPr sz="3200" spc="-20" dirty="0">
                <a:latin typeface="Verdana"/>
                <a:cs typeface="Verdana"/>
              </a:rPr>
              <a:t>des</a:t>
            </a:r>
            <a:r>
              <a:rPr sz="3200" spc="409" dirty="0">
                <a:latin typeface="Verdana"/>
                <a:cs typeface="Verdana"/>
              </a:rPr>
              <a:t> </a:t>
            </a:r>
            <a:r>
              <a:rPr sz="3200" spc="45" dirty="0">
                <a:latin typeface="Verdana"/>
                <a:cs typeface="Verdana"/>
              </a:rPr>
              <a:t>espaces</a:t>
            </a:r>
            <a:r>
              <a:rPr sz="3200" spc="405" dirty="0">
                <a:latin typeface="Verdana"/>
                <a:cs typeface="Verdana"/>
              </a:rPr>
              <a:t> </a:t>
            </a:r>
            <a:r>
              <a:rPr sz="3200" spc="180" dirty="0">
                <a:latin typeface="Verdana"/>
                <a:cs typeface="Verdana"/>
              </a:rPr>
              <a:t>de</a:t>
            </a:r>
            <a:r>
              <a:rPr sz="3200" spc="400" dirty="0">
                <a:latin typeface="Verdana"/>
                <a:cs typeface="Verdana"/>
              </a:rPr>
              <a:t> </a:t>
            </a:r>
            <a:r>
              <a:rPr sz="3200" spc="-114" dirty="0">
                <a:latin typeface="Verdana"/>
                <a:cs typeface="Verdana"/>
              </a:rPr>
              <a:t>noms</a:t>
            </a:r>
            <a:r>
              <a:rPr sz="3200" spc="400" dirty="0">
                <a:latin typeface="Verdana"/>
                <a:cs typeface="Verdana"/>
              </a:rPr>
              <a:t> </a:t>
            </a:r>
            <a:r>
              <a:rPr sz="3200" spc="-50" dirty="0">
                <a:latin typeface="Verdana"/>
                <a:cs typeface="Verdana"/>
              </a:rPr>
              <a:t>garantit</a:t>
            </a:r>
            <a:r>
              <a:rPr sz="3200" spc="415" dirty="0">
                <a:latin typeface="Verdana"/>
                <a:cs typeface="Verdana"/>
              </a:rPr>
              <a:t> </a:t>
            </a:r>
            <a:r>
              <a:rPr sz="3200" spc="5" dirty="0">
                <a:latin typeface="Verdana"/>
                <a:cs typeface="Verdana"/>
              </a:rPr>
              <a:t>une</a:t>
            </a:r>
            <a:r>
              <a:rPr sz="3200" spc="420" dirty="0">
                <a:latin typeface="Verdana"/>
                <a:cs typeface="Verdana"/>
              </a:rPr>
              <a:t> </a:t>
            </a:r>
            <a:r>
              <a:rPr sz="3200" spc="-65" dirty="0">
                <a:latin typeface="Verdana"/>
                <a:cs typeface="Verdana"/>
              </a:rPr>
              <a:t>forme</a:t>
            </a:r>
            <a:r>
              <a:rPr sz="3200" spc="409" dirty="0">
                <a:latin typeface="Verdana"/>
                <a:cs typeface="Verdana"/>
              </a:rPr>
              <a:t> </a:t>
            </a:r>
            <a:r>
              <a:rPr sz="3200" spc="170" dirty="0">
                <a:latin typeface="Verdana"/>
                <a:cs typeface="Verdana"/>
              </a:rPr>
              <a:t>de</a:t>
            </a:r>
            <a:endParaRPr sz="3200">
              <a:latin typeface="Verdana"/>
              <a:cs typeface="Verdana"/>
            </a:endParaRPr>
          </a:p>
          <a:p>
            <a:pPr marR="570865" algn="ctr">
              <a:lnSpc>
                <a:spcPct val="100000"/>
              </a:lnSpc>
            </a:pPr>
            <a:r>
              <a:rPr sz="3200" b="1" spc="-245" dirty="0">
                <a:solidFill>
                  <a:srgbClr val="006FC0"/>
                </a:solidFill>
                <a:latin typeface="Verdana"/>
                <a:cs typeface="Verdana"/>
              </a:rPr>
              <a:t>traçabilité</a:t>
            </a:r>
            <a:r>
              <a:rPr sz="3200" b="1" spc="-22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3200" spc="185" dirty="0">
                <a:latin typeface="Verdana"/>
                <a:cs typeface="Verdana"/>
              </a:rPr>
              <a:t>de</a:t>
            </a:r>
            <a:r>
              <a:rPr sz="3200" spc="-254" dirty="0">
                <a:latin typeface="Verdana"/>
                <a:cs typeface="Verdana"/>
              </a:rPr>
              <a:t> </a:t>
            </a:r>
            <a:r>
              <a:rPr sz="3200" spc="10" dirty="0">
                <a:latin typeface="Verdana"/>
                <a:cs typeface="Verdana"/>
              </a:rPr>
              <a:t>la</a:t>
            </a:r>
            <a:r>
              <a:rPr sz="3200" spc="-229" dirty="0">
                <a:latin typeface="Verdana"/>
                <a:cs typeface="Verdana"/>
              </a:rPr>
              <a:t> </a:t>
            </a:r>
            <a:r>
              <a:rPr sz="3200" spc="-50" dirty="0">
                <a:latin typeface="Verdana"/>
                <a:cs typeface="Verdana"/>
              </a:rPr>
              <a:t>balise</a:t>
            </a:r>
            <a:r>
              <a:rPr sz="3200" spc="-24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et</a:t>
            </a:r>
            <a:r>
              <a:rPr sz="3200" spc="-254" dirty="0">
                <a:latin typeface="Verdana"/>
                <a:cs typeface="Verdana"/>
              </a:rPr>
              <a:t> </a:t>
            </a:r>
            <a:r>
              <a:rPr sz="3200" spc="-35" dirty="0">
                <a:latin typeface="Verdana"/>
                <a:cs typeface="Verdana"/>
              </a:rPr>
              <a:t>évite</a:t>
            </a:r>
            <a:r>
              <a:rPr sz="3200" spc="-250" dirty="0">
                <a:latin typeface="Verdana"/>
                <a:cs typeface="Verdana"/>
              </a:rPr>
              <a:t> </a:t>
            </a:r>
            <a:r>
              <a:rPr sz="3200" spc="-165" dirty="0">
                <a:latin typeface="Verdana"/>
                <a:cs typeface="Verdana"/>
              </a:rPr>
              <a:t>les</a:t>
            </a:r>
            <a:r>
              <a:rPr sz="3200" spc="-254" dirty="0">
                <a:latin typeface="Verdana"/>
                <a:cs typeface="Verdana"/>
              </a:rPr>
              <a:t> </a:t>
            </a:r>
            <a:r>
              <a:rPr sz="3200" spc="-55" dirty="0">
                <a:latin typeface="Verdana"/>
                <a:cs typeface="Verdana"/>
              </a:rPr>
              <a:t>ambiguïtés</a:t>
            </a:r>
            <a:r>
              <a:rPr sz="3200" spc="-229" dirty="0">
                <a:latin typeface="Verdana"/>
                <a:cs typeface="Verdana"/>
              </a:rPr>
              <a:t> </a:t>
            </a:r>
            <a:r>
              <a:rPr sz="3200" spc="30" dirty="0">
                <a:latin typeface="Verdana"/>
                <a:cs typeface="Verdana"/>
              </a:rPr>
              <a:t>d’usage.</a:t>
            </a:r>
            <a:endParaRPr sz="3200">
              <a:latin typeface="Verdana"/>
              <a:cs typeface="Verdana"/>
            </a:endParaRPr>
          </a:p>
          <a:p>
            <a:pPr marL="355600" marR="688340" indent="-355600">
              <a:lnSpc>
                <a:spcPct val="100000"/>
              </a:lnSpc>
              <a:spcBef>
                <a:spcPts val="1010"/>
              </a:spcBef>
              <a:buClr>
                <a:srgbClr val="B31166"/>
              </a:buClr>
              <a:buSzPct val="79687"/>
              <a:buFont typeface="Wingdings"/>
              <a:buChar char=""/>
              <a:tabLst>
                <a:tab pos="355600" algn="l"/>
              </a:tabLst>
            </a:pPr>
            <a:r>
              <a:rPr sz="3200" spc="-90" dirty="0">
                <a:latin typeface="Verdana"/>
                <a:cs typeface="Verdana"/>
              </a:rPr>
              <a:t>Pour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spc="90" dirty="0">
                <a:latin typeface="Verdana"/>
                <a:cs typeface="Verdana"/>
              </a:rPr>
              <a:t>que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spc="-160" dirty="0">
                <a:latin typeface="Verdana"/>
                <a:cs typeface="Verdana"/>
              </a:rPr>
              <a:t>le</a:t>
            </a:r>
            <a:r>
              <a:rPr sz="3200" spc="-185" dirty="0">
                <a:latin typeface="Verdana"/>
                <a:cs typeface="Verdana"/>
              </a:rPr>
              <a:t>s</a:t>
            </a:r>
            <a:r>
              <a:rPr sz="3200" spc="-254" dirty="0">
                <a:latin typeface="Verdana"/>
                <a:cs typeface="Verdana"/>
              </a:rPr>
              <a:t> </a:t>
            </a:r>
            <a:r>
              <a:rPr sz="3200" spc="-135" dirty="0">
                <a:latin typeface="Verdana"/>
                <a:cs typeface="Verdana"/>
              </a:rPr>
              <a:t>e</a:t>
            </a:r>
            <a:r>
              <a:rPr sz="3200" spc="-114" dirty="0">
                <a:latin typeface="Verdana"/>
                <a:cs typeface="Verdana"/>
              </a:rPr>
              <a:t>s</a:t>
            </a:r>
            <a:r>
              <a:rPr sz="3200" spc="120" dirty="0">
                <a:latin typeface="Verdana"/>
                <a:cs typeface="Verdana"/>
              </a:rPr>
              <a:t>pace</a:t>
            </a:r>
            <a:r>
              <a:rPr sz="3200" spc="110" dirty="0">
                <a:latin typeface="Verdana"/>
                <a:cs typeface="Verdana"/>
              </a:rPr>
              <a:t>s</a:t>
            </a:r>
            <a:r>
              <a:rPr sz="3200" spc="-280" dirty="0">
                <a:latin typeface="Verdana"/>
                <a:cs typeface="Verdana"/>
              </a:rPr>
              <a:t> </a:t>
            </a:r>
            <a:r>
              <a:rPr sz="3200" spc="185" dirty="0">
                <a:latin typeface="Verdana"/>
                <a:cs typeface="Verdana"/>
              </a:rPr>
              <a:t>d</a:t>
            </a:r>
            <a:r>
              <a:rPr sz="3200" spc="180" dirty="0">
                <a:latin typeface="Verdana"/>
                <a:cs typeface="Verdana"/>
              </a:rPr>
              <a:t>e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spc="-114" dirty="0">
                <a:latin typeface="Verdana"/>
                <a:cs typeface="Verdana"/>
              </a:rPr>
              <a:t>noms</a:t>
            </a:r>
            <a:r>
              <a:rPr sz="3200" spc="-265" dirty="0">
                <a:latin typeface="Verdana"/>
                <a:cs typeface="Verdana"/>
              </a:rPr>
              <a:t> </a:t>
            </a:r>
            <a:r>
              <a:rPr sz="3200" spc="-15" dirty="0">
                <a:latin typeface="Verdana"/>
                <a:cs typeface="Verdana"/>
              </a:rPr>
              <a:t>aien</a:t>
            </a:r>
            <a:r>
              <a:rPr sz="3200" spc="-10" dirty="0">
                <a:latin typeface="Verdana"/>
                <a:cs typeface="Verdana"/>
              </a:rPr>
              <a:t>t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spc="-95" dirty="0">
                <a:latin typeface="Verdana"/>
                <a:cs typeface="Verdana"/>
              </a:rPr>
              <a:t>u</a:t>
            </a:r>
            <a:r>
              <a:rPr sz="3200" spc="-75" dirty="0">
                <a:latin typeface="Verdana"/>
                <a:cs typeface="Verdana"/>
              </a:rPr>
              <a:t>n</a:t>
            </a:r>
            <a:r>
              <a:rPr sz="3200" spc="-250" dirty="0">
                <a:latin typeface="Verdana"/>
                <a:cs typeface="Verdana"/>
              </a:rPr>
              <a:t> </a:t>
            </a:r>
            <a:r>
              <a:rPr sz="3200" spc="-125" dirty="0">
                <a:latin typeface="Verdana"/>
                <a:cs typeface="Verdana"/>
              </a:rPr>
              <a:t>s</a:t>
            </a:r>
            <a:r>
              <a:rPr sz="3200" spc="-130" dirty="0">
                <a:latin typeface="Verdana"/>
                <a:cs typeface="Verdana"/>
              </a:rPr>
              <a:t>e</a:t>
            </a:r>
            <a:r>
              <a:rPr sz="3200" spc="-260" dirty="0">
                <a:latin typeface="Verdana"/>
                <a:cs typeface="Verdana"/>
              </a:rPr>
              <a:t>ns,</a:t>
            </a:r>
            <a:r>
              <a:rPr sz="3200" spc="-270" dirty="0">
                <a:latin typeface="Verdana"/>
                <a:cs typeface="Verdana"/>
              </a:rPr>
              <a:t> </a:t>
            </a:r>
            <a:r>
              <a:rPr sz="3200" spc="-245" dirty="0">
                <a:latin typeface="Verdana"/>
                <a:cs typeface="Verdana"/>
              </a:rPr>
              <a:t>i</a:t>
            </a:r>
            <a:r>
              <a:rPr sz="3200" spc="-240" dirty="0">
                <a:latin typeface="Verdana"/>
                <a:cs typeface="Verdana"/>
              </a:rPr>
              <a:t>l </a:t>
            </a:r>
            <a:r>
              <a:rPr sz="3200" spc="50" dirty="0">
                <a:latin typeface="Verdana"/>
                <a:cs typeface="Verdana"/>
              </a:rPr>
              <a:t>f</a:t>
            </a:r>
            <a:r>
              <a:rPr sz="3200" spc="75" dirty="0">
                <a:latin typeface="Verdana"/>
                <a:cs typeface="Verdana"/>
              </a:rPr>
              <a:t>a</a:t>
            </a:r>
            <a:r>
              <a:rPr sz="3200" spc="-130" dirty="0">
                <a:latin typeface="Verdana"/>
                <a:cs typeface="Verdana"/>
              </a:rPr>
              <a:t>ut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spc="-40" dirty="0">
                <a:latin typeface="Verdana"/>
                <a:cs typeface="Verdana"/>
              </a:rPr>
              <a:t>pour</a:t>
            </a:r>
            <a:endParaRPr sz="3200">
              <a:latin typeface="Verdana"/>
              <a:cs typeface="Verdana"/>
            </a:endParaRPr>
          </a:p>
          <a:p>
            <a:pPr marR="3248660" algn="ctr">
              <a:lnSpc>
                <a:spcPct val="100000"/>
              </a:lnSpc>
            </a:pPr>
            <a:r>
              <a:rPr sz="3200" spc="140" dirty="0">
                <a:latin typeface="Verdana"/>
                <a:cs typeface="Verdana"/>
              </a:rPr>
              <a:t>chacun</a:t>
            </a:r>
            <a:r>
              <a:rPr sz="3200" spc="-240" dirty="0">
                <a:latin typeface="Verdana"/>
                <a:cs typeface="Verdana"/>
              </a:rPr>
              <a:t> </a:t>
            </a:r>
            <a:r>
              <a:rPr sz="3200" spc="35" dirty="0">
                <a:latin typeface="Verdana"/>
                <a:cs typeface="Verdana"/>
              </a:rPr>
              <a:t>d’eux</a:t>
            </a:r>
            <a:r>
              <a:rPr sz="3200" spc="-270" dirty="0">
                <a:latin typeface="Verdana"/>
                <a:cs typeface="Verdana"/>
              </a:rPr>
              <a:t> </a:t>
            </a:r>
            <a:r>
              <a:rPr sz="3200" spc="-75" dirty="0">
                <a:latin typeface="Verdana"/>
                <a:cs typeface="Verdana"/>
              </a:rPr>
              <a:t>un</a:t>
            </a:r>
            <a:r>
              <a:rPr sz="3200" spc="-235" dirty="0">
                <a:latin typeface="Verdana"/>
                <a:cs typeface="Verdana"/>
              </a:rPr>
              <a:t> </a:t>
            </a:r>
            <a:r>
              <a:rPr sz="3200" b="1" spc="-310" dirty="0">
                <a:solidFill>
                  <a:srgbClr val="006FC0"/>
                </a:solidFill>
                <a:latin typeface="Verdana"/>
                <a:cs typeface="Verdana"/>
              </a:rPr>
              <a:t>identifiant</a:t>
            </a:r>
            <a:r>
              <a:rPr sz="3200" b="1" spc="-19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3200" b="1" spc="-270" dirty="0">
                <a:solidFill>
                  <a:srgbClr val="006FC0"/>
                </a:solidFill>
                <a:latin typeface="Verdana"/>
                <a:cs typeface="Verdana"/>
              </a:rPr>
              <a:t>unique</a:t>
            </a:r>
            <a:r>
              <a:rPr sz="3200" b="1" spc="-19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3200" b="1" spc="-565" dirty="0">
                <a:solidFill>
                  <a:srgbClr val="006FC0"/>
                </a:solidFill>
                <a:latin typeface="Verdana"/>
                <a:cs typeface="Verdana"/>
              </a:rPr>
              <a:t>(URI)</a:t>
            </a:r>
            <a:r>
              <a:rPr sz="3200" spc="-565" dirty="0">
                <a:latin typeface="Verdana"/>
                <a:cs typeface="Verdana"/>
              </a:rPr>
              <a:t>.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" y="295656"/>
            <a:ext cx="11140440" cy="6275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94533" y="1562861"/>
            <a:ext cx="66522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0" dirty="0">
                <a:solidFill>
                  <a:srgbClr val="FFC000"/>
                </a:solidFill>
                <a:latin typeface="Verdana"/>
                <a:cs typeface="Verdana"/>
              </a:rPr>
              <a:t>L’espace</a:t>
            </a:r>
            <a:r>
              <a:rPr sz="3600" spc="-280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204" dirty="0">
                <a:solidFill>
                  <a:srgbClr val="FFC000"/>
                </a:solidFill>
                <a:latin typeface="Verdana"/>
                <a:cs typeface="Verdana"/>
              </a:rPr>
              <a:t>d</a:t>
            </a:r>
            <a:r>
              <a:rPr sz="3600" spc="200" dirty="0">
                <a:solidFill>
                  <a:srgbClr val="FFC000"/>
                </a:solidFill>
                <a:latin typeface="Verdana"/>
                <a:cs typeface="Verdana"/>
              </a:rPr>
              <a:t>e</a:t>
            </a:r>
            <a:r>
              <a:rPr sz="3600" spc="-270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-130" dirty="0">
                <a:solidFill>
                  <a:srgbClr val="FFC000"/>
                </a:solidFill>
                <a:latin typeface="Verdana"/>
                <a:cs typeface="Verdana"/>
              </a:rPr>
              <a:t>noms</a:t>
            </a:r>
            <a:r>
              <a:rPr sz="3600" spc="-265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15" dirty="0">
                <a:solidFill>
                  <a:srgbClr val="FFC000"/>
                </a:solidFill>
                <a:latin typeface="Verdana"/>
                <a:cs typeface="Verdana"/>
              </a:rPr>
              <a:t>pa</a:t>
            </a:r>
            <a:r>
              <a:rPr sz="3600" spc="10" dirty="0">
                <a:solidFill>
                  <a:srgbClr val="FFC000"/>
                </a:solidFill>
                <a:latin typeface="Verdana"/>
                <a:cs typeface="Verdana"/>
              </a:rPr>
              <a:t>r</a:t>
            </a:r>
            <a:r>
              <a:rPr sz="3600" spc="-260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spc="40" dirty="0">
                <a:solidFill>
                  <a:srgbClr val="FFC000"/>
                </a:solidFill>
                <a:latin typeface="Verdana"/>
                <a:cs typeface="Verdana"/>
              </a:rPr>
              <a:t>défaut</a:t>
            </a:r>
            <a:endParaRPr sz="36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728" y="2118378"/>
            <a:ext cx="11760835" cy="4662170"/>
            <a:chOff x="109728" y="2118378"/>
            <a:chExt cx="11760835" cy="46621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28" y="4120896"/>
              <a:ext cx="11423904" cy="8793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368" y="5020065"/>
              <a:ext cx="11211979" cy="17602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380" y="2118378"/>
              <a:ext cx="8759538" cy="191083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314700" y="2577084"/>
              <a:ext cx="3279775" cy="381000"/>
            </a:xfrm>
            <a:custGeom>
              <a:avLst/>
              <a:gdLst/>
              <a:ahLst/>
              <a:cxnLst/>
              <a:rect l="l" t="t" r="r" b="b"/>
              <a:pathLst>
                <a:path w="3279775" h="381000">
                  <a:moveTo>
                    <a:pt x="3279648" y="0"/>
                  </a:moveTo>
                  <a:lnTo>
                    <a:pt x="3277151" y="74128"/>
                  </a:lnTo>
                  <a:lnTo>
                    <a:pt x="3270345" y="134683"/>
                  </a:lnTo>
                  <a:lnTo>
                    <a:pt x="3260252" y="175521"/>
                  </a:lnTo>
                  <a:lnTo>
                    <a:pt x="3247898" y="190500"/>
                  </a:lnTo>
                  <a:lnTo>
                    <a:pt x="1671574" y="190500"/>
                  </a:lnTo>
                  <a:lnTo>
                    <a:pt x="1659219" y="205478"/>
                  </a:lnTo>
                  <a:lnTo>
                    <a:pt x="1649126" y="246316"/>
                  </a:lnTo>
                  <a:lnTo>
                    <a:pt x="1642320" y="306871"/>
                  </a:lnTo>
                  <a:lnTo>
                    <a:pt x="1639824" y="381000"/>
                  </a:lnTo>
                  <a:lnTo>
                    <a:pt x="1637327" y="306871"/>
                  </a:lnTo>
                  <a:lnTo>
                    <a:pt x="1630521" y="246316"/>
                  </a:lnTo>
                  <a:lnTo>
                    <a:pt x="1620428" y="205478"/>
                  </a:lnTo>
                  <a:lnTo>
                    <a:pt x="1608074" y="190500"/>
                  </a:lnTo>
                  <a:lnTo>
                    <a:pt x="31750" y="190500"/>
                  </a:lnTo>
                  <a:lnTo>
                    <a:pt x="19395" y="175521"/>
                  </a:lnTo>
                  <a:lnTo>
                    <a:pt x="9302" y="134683"/>
                  </a:lnTo>
                  <a:lnTo>
                    <a:pt x="2496" y="74128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B311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305"/>
              </a:lnSpc>
              <a:spcBef>
                <a:spcPts val="100"/>
              </a:spcBef>
              <a:tabLst>
                <a:tab pos="8930640" algn="l"/>
              </a:tabLst>
            </a:pPr>
            <a:r>
              <a:rPr sz="3600" spc="-170" dirty="0"/>
              <a:t>Utilisation</a:t>
            </a:r>
            <a:r>
              <a:rPr sz="3600" spc="-725" dirty="0"/>
              <a:t> </a:t>
            </a:r>
            <a:r>
              <a:rPr sz="3600" spc="-25" dirty="0"/>
              <a:t>des</a:t>
            </a:r>
            <a:r>
              <a:rPr sz="3600" spc="-260" dirty="0"/>
              <a:t> </a:t>
            </a:r>
            <a:r>
              <a:rPr sz="3600" spc="55" dirty="0"/>
              <a:t>espaces</a:t>
            </a:r>
            <a:r>
              <a:rPr sz="3600" spc="-260" dirty="0"/>
              <a:t> </a:t>
            </a:r>
            <a:r>
              <a:rPr sz="3600" spc="210" dirty="0"/>
              <a:t>de</a:t>
            </a:r>
            <a:r>
              <a:rPr sz="3600" spc="-275" dirty="0"/>
              <a:t> </a:t>
            </a:r>
            <a:r>
              <a:rPr sz="3600" spc="-135" dirty="0"/>
              <a:t>noms</a:t>
            </a:r>
            <a:r>
              <a:rPr sz="3600" spc="-235" dirty="0"/>
              <a:t> </a:t>
            </a:r>
            <a:r>
              <a:rPr sz="3600" spc="-15" dirty="0"/>
              <a:t>dans	</a:t>
            </a:r>
            <a:r>
              <a:rPr sz="2800" spc="-235" dirty="0">
                <a:solidFill>
                  <a:srgbClr val="FFFFFF"/>
                </a:solidFill>
              </a:rPr>
              <a:t>5</a:t>
            </a:r>
            <a:endParaRPr sz="2800"/>
          </a:p>
          <a:p>
            <a:pPr marR="965200" algn="ctr">
              <a:lnSpc>
                <a:spcPts val="4305"/>
              </a:lnSpc>
            </a:pPr>
            <a:r>
              <a:rPr spc="-90" dirty="0"/>
              <a:t>un</a:t>
            </a:r>
            <a:r>
              <a:rPr spc="-270" dirty="0"/>
              <a:t> </a:t>
            </a:r>
            <a:r>
              <a:rPr spc="225" dirty="0"/>
              <a:t>d</a:t>
            </a:r>
            <a:r>
              <a:rPr spc="170" dirty="0"/>
              <a:t>oc</a:t>
            </a:r>
            <a:r>
              <a:rPr spc="180" dirty="0"/>
              <a:t>u</a:t>
            </a:r>
            <a:r>
              <a:rPr spc="-55" dirty="0"/>
              <a:t>ment</a:t>
            </a:r>
            <a:r>
              <a:rPr spc="-270" dirty="0"/>
              <a:t> </a:t>
            </a:r>
            <a:r>
              <a:rPr spc="-265" dirty="0"/>
              <a:t>X</a:t>
            </a:r>
            <a:r>
              <a:rPr spc="-35" dirty="0"/>
              <a:t>ML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35629" y="2847594"/>
            <a:ext cx="4875530" cy="646430"/>
          </a:xfrm>
          <a:prstGeom prst="rect">
            <a:avLst/>
          </a:prstGeom>
          <a:solidFill>
            <a:srgbClr val="EBEBEB"/>
          </a:solidFill>
          <a:ln w="19050">
            <a:solidFill>
              <a:srgbClr val="E23C6E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b="1" spc="-434" dirty="0">
                <a:latin typeface="Verdana"/>
                <a:cs typeface="Verdana"/>
              </a:rPr>
              <a:t>UR</a:t>
            </a:r>
            <a:r>
              <a:rPr sz="1800" b="1" spc="-295" dirty="0">
                <a:latin typeface="Verdana"/>
                <a:cs typeface="Verdana"/>
              </a:rPr>
              <a:t>I</a:t>
            </a:r>
            <a:r>
              <a:rPr sz="1800" b="1" spc="-114" dirty="0">
                <a:latin typeface="Verdana"/>
                <a:cs typeface="Verdana"/>
              </a:rPr>
              <a:t> </a:t>
            </a:r>
            <a:r>
              <a:rPr sz="1800" spc="-155" dirty="0">
                <a:latin typeface="Verdana"/>
                <a:cs typeface="Verdana"/>
              </a:rPr>
              <a:t>(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u</a:t>
            </a:r>
            <a:r>
              <a:rPr sz="1800" spc="-55" dirty="0">
                <a:latin typeface="Verdana"/>
                <a:cs typeface="Verdana"/>
              </a:rPr>
              <a:t>n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135" dirty="0">
                <a:latin typeface="Verdana"/>
                <a:cs typeface="Verdana"/>
              </a:rPr>
              <a:t>a</a:t>
            </a:r>
            <a:r>
              <a:rPr sz="1800" spc="-70" dirty="0">
                <a:latin typeface="Verdana"/>
                <a:cs typeface="Verdana"/>
              </a:rPr>
              <a:t>dre</a:t>
            </a:r>
            <a:r>
              <a:rPr sz="1800" spc="-75" dirty="0">
                <a:latin typeface="Verdana"/>
                <a:cs typeface="Verdana"/>
              </a:rPr>
              <a:t>ss</a:t>
            </a:r>
            <a:r>
              <a:rPr sz="1800" spc="-80" dirty="0">
                <a:latin typeface="Verdana"/>
                <a:cs typeface="Verdana"/>
              </a:rPr>
              <a:t>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f</a:t>
            </a:r>
            <a:r>
              <a:rPr sz="1800" spc="-70" dirty="0">
                <a:latin typeface="Verdana"/>
                <a:cs typeface="Verdana"/>
              </a:rPr>
              <a:t>i</a:t>
            </a:r>
            <a:r>
              <a:rPr sz="1800" spc="70" dirty="0">
                <a:latin typeface="Verdana"/>
                <a:cs typeface="Verdana"/>
              </a:rPr>
              <a:t>c</a:t>
            </a:r>
            <a:r>
              <a:rPr sz="1800" spc="35" dirty="0">
                <a:latin typeface="Verdana"/>
                <a:cs typeface="Verdana"/>
              </a:rPr>
              <a:t>t</a:t>
            </a:r>
            <a:r>
              <a:rPr sz="1800" spc="-125" dirty="0">
                <a:latin typeface="Verdana"/>
                <a:cs typeface="Verdana"/>
              </a:rPr>
              <a:t>i</a:t>
            </a:r>
            <a:r>
              <a:rPr sz="1800" spc="-65" dirty="0">
                <a:latin typeface="Verdana"/>
                <a:cs typeface="Verdana"/>
              </a:rPr>
              <a:t>v</a:t>
            </a:r>
            <a:r>
              <a:rPr sz="1800" spc="95" dirty="0">
                <a:latin typeface="Verdana"/>
                <a:cs typeface="Verdana"/>
              </a:rPr>
              <a:t>e</a:t>
            </a:r>
            <a:r>
              <a:rPr sz="1800" spc="-160" dirty="0">
                <a:latin typeface="Verdana"/>
                <a:cs typeface="Verdana"/>
              </a:rPr>
              <a:t> </a:t>
            </a:r>
            <a:r>
              <a:rPr sz="1800" spc="25" dirty="0">
                <a:latin typeface="Verdana"/>
                <a:cs typeface="Verdana"/>
              </a:rPr>
              <a:t>q</a:t>
            </a:r>
            <a:r>
              <a:rPr sz="1800" spc="20" dirty="0">
                <a:latin typeface="Verdana"/>
                <a:cs typeface="Verdana"/>
              </a:rPr>
              <a:t>u</a:t>
            </a:r>
            <a:r>
              <a:rPr sz="1800" spc="-135" dirty="0">
                <a:latin typeface="Verdana"/>
                <a:cs typeface="Verdana"/>
              </a:rPr>
              <a:t>i </a:t>
            </a:r>
            <a:r>
              <a:rPr sz="1800" spc="-55" dirty="0">
                <a:latin typeface="Verdana"/>
                <a:cs typeface="Verdana"/>
              </a:rPr>
              <a:t>n</a:t>
            </a:r>
            <a:r>
              <a:rPr sz="1800" spc="10" dirty="0">
                <a:latin typeface="Verdana"/>
                <a:cs typeface="Verdana"/>
              </a:rPr>
              <a:t>’a</a:t>
            </a:r>
            <a:r>
              <a:rPr sz="1800" spc="20" dirty="0">
                <a:latin typeface="Verdana"/>
                <a:cs typeface="Verdana"/>
              </a:rPr>
              <a:t>s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135" dirty="0">
                <a:latin typeface="Verdana"/>
                <a:cs typeface="Verdana"/>
              </a:rPr>
              <a:t>a</a:t>
            </a:r>
            <a:r>
              <a:rPr sz="1800" spc="20" dirty="0">
                <a:latin typeface="Verdana"/>
                <a:cs typeface="Verdana"/>
              </a:rPr>
              <a:t>ucun</a:t>
            </a:r>
            <a:endParaRPr sz="1800">
              <a:latin typeface="Verdana"/>
              <a:cs typeface="Verdana"/>
            </a:endParaRPr>
          </a:p>
          <a:p>
            <a:pPr marL="90805">
              <a:lnSpc>
                <a:spcPct val="100000"/>
              </a:lnSpc>
            </a:pPr>
            <a:r>
              <a:rPr sz="1800" spc="-40" dirty="0">
                <a:latin typeface="Verdana"/>
                <a:cs typeface="Verdana"/>
              </a:rPr>
              <a:t>existence)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5078" y="735279"/>
            <a:ext cx="59645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Espac</a:t>
            </a:r>
            <a:r>
              <a:rPr spc="55" dirty="0"/>
              <a:t>e</a:t>
            </a:r>
            <a:r>
              <a:rPr spc="-295" dirty="0"/>
              <a:t> </a:t>
            </a:r>
            <a:r>
              <a:rPr spc="210" dirty="0"/>
              <a:t>d</a:t>
            </a:r>
            <a:r>
              <a:rPr spc="204" dirty="0"/>
              <a:t>e</a:t>
            </a:r>
            <a:r>
              <a:rPr spc="-270" dirty="0"/>
              <a:t> </a:t>
            </a:r>
            <a:r>
              <a:rPr spc="-10" dirty="0"/>
              <a:t>no</a:t>
            </a:r>
            <a:r>
              <a:rPr spc="-30" dirty="0"/>
              <a:t>m</a:t>
            </a:r>
            <a:r>
              <a:rPr spc="-480" dirty="0"/>
              <a:t>s</a:t>
            </a:r>
            <a:r>
              <a:rPr spc="-254" dirty="0"/>
              <a:t> </a:t>
            </a:r>
            <a:r>
              <a:rPr spc="-80" dirty="0"/>
              <a:t>imbriqu</a:t>
            </a:r>
            <a:r>
              <a:rPr spc="-95" dirty="0"/>
              <a:t>é</a:t>
            </a:r>
            <a:r>
              <a:rPr spc="-4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6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4300" y="1386938"/>
            <a:ext cx="12064365" cy="5314315"/>
            <a:chOff x="114300" y="1386938"/>
            <a:chExt cx="12064365" cy="5314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84" y="1386938"/>
              <a:ext cx="11221159" cy="380075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5242559"/>
              <a:ext cx="12063976" cy="14584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5952" y="2630423"/>
            <a:ext cx="1287018" cy="6774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1588" y="737108"/>
            <a:ext cx="5939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L’espace</a:t>
            </a:r>
            <a:r>
              <a:rPr spc="-295" dirty="0"/>
              <a:t> </a:t>
            </a:r>
            <a:r>
              <a:rPr spc="204" dirty="0"/>
              <a:t>de</a:t>
            </a:r>
            <a:r>
              <a:rPr spc="-285" dirty="0"/>
              <a:t> </a:t>
            </a:r>
            <a:r>
              <a:rPr spc="-15" dirty="0"/>
              <a:t>nom</a:t>
            </a:r>
            <a:r>
              <a:rPr spc="-265" dirty="0"/>
              <a:t> </a:t>
            </a:r>
            <a:r>
              <a:rPr spc="-40" dirty="0"/>
              <a:t>explicite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739" y="2089530"/>
            <a:ext cx="11216640" cy="187134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553720" indent="-541020">
              <a:lnSpc>
                <a:spcPct val="100000"/>
              </a:lnSpc>
              <a:spcBef>
                <a:spcPts val="1105"/>
              </a:spcBef>
              <a:buClr>
                <a:srgbClr val="B31166"/>
              </a:buClr>
              <a:buSzPct val="79166"/>
              <a:buFont typeface="Arial MT"/>
              <a:buAutoNum type="arabicPeriod"/>
              <a:tabLst>
                <a:tab pos="553085" algn="l"/>
                <a:tab pos="553720" algn="l"/>
              </a:tabLst>
            </a:pPr>
            <a:r>
              <a:rPr sz="2400" spc="65" dirty="0">
                <a:solidFill>
                  <a:srgbClr val="0D0D0D"/>
                </a:solidFill>
                <a:latin typeface="Verdana"/>
                <a:cs typeface="Verdana"/>
              </a:rPr>
              <a:t>On</a:t>
            </a:r>
            <a:r>
              <a:rPr sz="2400" spc="-17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0D0D0D"/>
                </a:solidFill>
                <a:latin typeface="Verdana"/>
                <a:cs typeface="Verdana"/>
              </a:rPr>
              <a:t>défini</a:t>
            </a:r>
            <a:r>
              <a:rPr sz="2400" spc="-16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0D0D0D"/>
                </a:solidFill>
                <a:latin typeface="Verdana"/>
                <a:cs typeface="Verdana"/>
              </a:rPr>
              <a:t>un</a:t>
            </a:r>
            <a:r>
              <a:rPr sz="2400" spc="-19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b="1" spc="-220" dirty="0">
                <a:solidFill>
                  <a:srgbClr val="00AFEF"/>
                </a:solidFill>
                <a:latin typeface="Verdana"/>
                <a:cs typeface="Verdana"/>
              </a:rPr>
              <a:t>préfixe</a:t>
            </a:r>
            <a:r>
              <a:rPr sz="2400" b="1" spc="-140" dirty="0">
                <a:solidFill>
                  <a:srgbClr val="00AFEF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D0D0D"/>
                </a:solidFill>
                <a:latin typeface="Verdana"/>
                <a:cs typeface="Verdana"/>
              </a:rPr>
              <a:t>(EspaceDeNom),</a:t>
            </a:r>
            <a:r>
              <a:rPr sz="2400" spc="-13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135" dirty="0">
                <a:solidFill>
                  <a:srgbClr val="0D0D0D"/>
                </a:solidFill>
                <a:latin typeface="Verdana"/>
                <a:cs typeface="Verdana"/>
              </a:rPr>
              <a:t>avec</a:t>
            </a:r>
            <a:r>
              <a:rPr sz="2400" spc="-21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0D0D0D"/>
                </a:solidFill>
                <a:latin typeface="Verdana"/>
                <a:cs typeface="Verdana"/>
              </a:rPr>
              <a:t>l'attribut</a:t>
            </a:r>
            <a:r>
              <a:rPr sz="2400" spc="-19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b="1" spc="-280" dirty="0">
                <a:solidFill>
                  <a:srgbClr val="00AFEF"/>
                </a:solidFill>
                <a:latin typeface="Verdana"/>
                <a:cs typeface="Verdana"/>
              </a:rPr>
              <a:t>xmlns</a:t>
            </a:r>
            <a:r>
              <a:rPr sz="2400" spc="-280" dirty="0">
                <a:solidFill>
                  <a:srgbClr val="0D0D0D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469900" marR="5080" indent="-457200">
              <a:lnSpc>
                <a:spcPct val="100000"/>
              </a:lnSpc>
              <a:spcBef>
                <a:spcPts val="1010"/>
              </a:spcBef>
              <a:buClr>
                <a:srgbClr val="B31166"/>
              </a:buClr>
              <a:buSzPct val="79166"/>
              <a:buAutoNum type="arabicPeriod"/>
              <a:tabLst>
                <a:tab pos="469265" algn="l"/>
                <a:tab pos="469900" algn="l"/>
              </a:tabLst>
            </a:pPr>
            <a:r>
              <a:rPr sz="2400" spc="65" dirty="0">
                <a:solidFill>
                  <a:srgbClr val="0D0D0D"/>
                </a:solidFill>
                <a:latin typeface="Verdana"/>
                <a:cs typeface="Verdana"/>
              </a:rPr>
              <a:t>On</a:t>
            </a:r>
            <a:r>
              <a:rPr sz="2400" spc="-18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D0D0D"/>
                </a:solidFill>
                <a:latin typeface="Verdana"/>
                <a:cs typeface="Verdana"/>
              </a:rPr>
              <a:t>associe</a:t>
            </a:r>
            <a:r>
              <a:rPr sz="2400" spc="-204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215" dirty="0">
                <a:solidFill>
                  <a:srgbClr val="0D0D0D"/>
                </a:solidFill>
                <a:latin typeface="Verdana"/>
                <a:cs typeface="Verdana"/>
              </a:rPr>
              <a:t>ce</a:t>
            </a:r>
            <a:r>
              <a:rPr sz="2400" spc="-18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0D0D0D"/>
                </a:solidFill>
                <a:latin typeface="Verdana"/>
                <a:cs typeface="Verdana"/>
              </a:rPr>
              <a:t>préfixe</a:t>
            </a:r>
            <a:r>
              <a:rPr sz="2400" spc="-204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195" dirty="0">
                <a:solidFill>
                  <a:srgbClr val="0D0D0D"/>
                </a:solidFill>
                <a:latin typeface="Verdana"/>
                <a:cs typeface="Verdana"/>
              </a:rPr>
              <a:t>à</a:t>
            </a:r>
            <a:r>
              <a:rPr sz="2400" spc="-18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0D0D0D"/>
                </a:solidFill>
                <a:latin typeface="Verdana"/>
                <a:cs typeface="Verdana"/>
              </a:rPr>
              <a:t>une</a:t>
            </a:r>
            <a:r>
              <a:rPr sz="2400" spc="-16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b="1" spc="-520" dirty="0">
                <a:solidFill>
                  <a:srgbClr val="00AFEF"/>
                </a:solidFill>
                <a:latin typeface="Verdana"/>
                <a:cs typeface="Verdana"/>
              </a:rPr>
              <a:t>URI</a:t>
            </a:r>
            <a:r>
              <a:rPr sz="2400" b="1" spc="-450" dirty="0">
                <a:solidFill>
                  <a:srgbClr val="00AFEF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0D0D0D"/>
                </a:solidFill>
                <a:latin typeface="Verdana"/>
                <a:cs typeface="Verdana"/>
              </a:rPr>
              <a:t>(qui</a:t>
            </a:r>
            <a:r>
              <a:rPr sz="2400" spc="-18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0D0D0D"/>
                </a:solidFill>
                <a:latin typeface="Verdana"/>
                <a:cs typeface="Verdana"/>
              </a:rPr>
              <a:t>peut</a:t>
            </a:r>
            <a:r>
              <a:rPr sz="2400" spc="-17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0D0D0D"/>
                </a:solidFill>
                <a:latin typeface="Verdana"/>
                <a:cs typeface="Verdana"/>
              </a:rPr>
              <a:t>être</a:t>
            </a:r>
            <a:r>
              <a:rPr sz="2400" spc="-16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b="1" spc="-195" dirty="0">
                <a:solidFill>
                  <a:srgbClr val="850D4D"/>
                </a:solidFill>
                <a:latin typeface="Verdana"/>
                <a:cs typeface="Verdana"/>
              </a:rPr>
              <a:t>fictive</a:t>
            </a:r>
            <a:r>
              <a:rPr sz="2400" b="1" spc="-150" dirty="0">
                <a:solidFill>
                  <a:srgbClr val="850D4D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0D0D0D"/>
                </a:solidFill>
                <a:latin typeface="Verdana"/>
                <a:cs typeface="Verdana"/>
              </a:rPr>
              <a:t>mais</a:t>
            </a:r>
            <a:r>
              <a:rPr sz="2400" spc="-21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0D0D0D"/>
                </a:solidFill>
                <a:latin typeface="Verdana"/>
                <a:cs typeface="Verdana"/>
              </a:rPr>
              <a:t>qui</a:t>
            </a:r>
            <a:r>
              <a:rPr sz="2400" spc="-19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0D0D0D"/>
                </a:solidFill>
                <a:latin typeface="Verdana"/>
                <a:cs typeface="Verdana"/>
              </a:rPr>
              <a:t>représente </a:t>
            </a:r>
            <a:r>
              <a:rPr sz="2400" spc="-83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0D0D0D"/>
                </a:solidFill>
                <a:latin typeface="Verdana"/>
                <a:cs typeface="Verdana"/>
              </a:rPr>
              <a:t>sou</a:t>
            </a:r>
            <a:r>
              <a:rPr sz="2400" spc="-75" dirty="0">
                <a:solidFill>
                  <a:srgbClr val="0D0D0D"/>
                </a:solidFill>
                <a:latin typeface="Verdana"/>
                <a:cs typeface="Verdana"/>
              </a:rPr>
              <a:t>v</a:t>
            </a:r>
            <a:r>
              <a:rPr sz="2400" spc="-20" dirty="0">
                <a:solidFill>
                  <a:srgbClr val="0D0D0D"/>
                </a:solidFill>
                <a:latin typeface="Verdana"/>
                <a:cs typeface="Verdana"/>
              </a:rPr>
              <a:t>ent</a:t>
            </a:r>
            <a:r>
              <a:rPr sz="2400" spc="-204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0D0D0D"/>
                </a:solidFill>
                <a:latin typeface="Verdana"/>
                <a:cs typeface="Verdana"/>
              </a:rPr>
              <a:t>l'or</a:t>
            </a:r>
            <a:r>
              <a:rPr sz="2400" spc="-120" dirty="0">
                <a:solidFill>
                  <a:srgbClr val="0D0D0D"/>
                </a:solidFill>
                <a:latin typeface="Verdana"/>
                <a:cs typeface="Verdana"/>
              </a:rPr>
              <a:t>g</a:t>
            </a:r>
            <a:r>
              <a:rPr sz="2400" spc="-20" dirty="0">
                <a:solidFill>
                  <a:srgbClr val="0D0D0D"/>
                </a:solidFill>
                <a:latin typeface="Verdana"/>
                <a:cs typeface="Verdana"/>
              </a:rPr>
              <a:t>an</a:t>
            </a:r>
            <a:r>
              <a:rPr sz="2400" dirty="0">
                <a:solidFill>
                  <a:srgbClr val="0D0D0D"/>
                </a:solidFill>
                <a:latin typeface="Verdana"/>
                <a:cs typeface="Verdana"/>
              </a:rPr>
              <a:t>i</a:t>
            </a:r>
            <a:r>
              <a:rPr sz="2400" spc="-105" dirty="0">
                <a:solidFill>
                  <a:srgbClr val="0D0D0D"/>
                </a:solidFill>
                <a:latin typeface="Verdana"/>
                <a:cs typeface="Verdana"/>
              </a:rPr>
              <a:t>sm</a:t>
            </a:r>
            <a:r>
              <a:rPr sz="2400" spc="-80" dirty="0">
                <a:solidFill>
                  <a:srgbClr val="0D0D0D"/>
                </a:solidFill>
                <a:latin typeface="Verdana"/>
                <a:cs typeface="Verdana"/>
              </a:rPr>
              <a:t>e</a:t>
            </a:r>
            <a:r>
              <a:rPr sz="2400" spc="-21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0D0D0D"/>
                </a:solidFill>
                <a:latin typeface="Verdana"/>
                <a:cs typeface="Verdana"/>
              </a:rPr>
              <a:t>a</a:t>
            </a:r>
            <a:r>
              <a:rPr sz="2400" spc="75" dirty="0">
                <a:solidFill>
                  <a:srgbClr val="0D0D0D"/>
                </a:solidFill>
                <a:latin typeface="Verdana"/>
                <a:cs typeface="Verdana"/>
              </a:rPr>
              <a:t>u</a:t>
            </a:r>
            <a:r>
              <a:rPr sz="2400" spc="-20" dirty="0">
                <a:solidFill>
                  <a:srgbClr val="0D0D0D"/>
                </a:solidFill>
                <a:latin typeface="Verdana"/>
                <a:cs typeface="Verdana"/>
              </a:rPr>
              <a:t>teu</a:t>
            </a:r>
            <a:r>
              <a:rPr sz="2400" spc="-305" dirty="0">
                <a:solidFill>
                  <a:srgbClr val="0D0D0D"/>
                </a:solidFill>
                <a:latin typeface="Verdana"/>
                <a:cs typeface="Verdana"/>
              </a:rPr>
              <a:t>r</a:t>
            </a:r>
            <a:r>
              <a:rPr sz="2400" spc="-18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135" dirty="0">
                <a:solidFill>
                  <a:srgbClr val="0D0D0D"/>
                </a:solidFill>
                <a:latin typeface="Verdana"/>
                <a:cs typeface="Verdana"/>
              </a:rPr>
              <a:t>d</a:t>
            </a:r>
            <a:r>
              <a:rPr sz="2400" spc="130" dirty="0">
                <a:solidFill>
                  <a:srgbClr val="0D0D0D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0D0D0D"/>
                </a:solidFill>
                <a:latin typeface="Verdana"/>
                <a:cs typeface="Verdana"/>
              </a:rPr>
              <a:t>l'e</a:t>
            </a:r>
            <a:r>
              <a:rPr sz="2400" spc="-165" dirty="0">
                <a:solidFill>
                  <a:srgbClr val="0D0D0D"/>
                </a:solidFill>
                <a:latin typeface="Verdana"/>
                <a:cs typeface="Verdana"/>
              </a:rPr>
              <a:t>s</a:t>
            </a:r>
            <a:r>
              <a:rPr sz="2400" spc="185" dirty="0">
                <a:solidFill>
                  <a:srgbClr val="0D0D0D"/>
                </a:solidFill>
                <a:latin typeface="Verdana"/>
                <a:cs typeface="Verdana"/>
              </a:rPr>
              <a:t>pac</a:t>
            </a:r>
            <a:r>
              <a:rPr sz="2400" spc="195" dirty="0">
                <a:solidFill>
                  <a:srgbClr val="0D0D0D"/>
                </a:solidFill>
                <a:latin typeface="Verdana"/>
                <a:cs typeface="Verdana"/>
              </a:rPr>
              <a:t>e</a:t>
            </a:r>
            <a:r>
              <a:rPr sz="2400" spc="-19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135" dirty="0">
                <a:solidFill>
                  <a:srgbClr val="0D0D0D"/>
                </a:solidFill>
                <a:latin typeface="Verdana"/>
                <a:cs typeface="Verdana"/>
              </a:rPr>
              <a:t>de</a:t>
            </a:r>
            <a:r>
              <a:rPr sz="2400" spc="-18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0D0D0D"/>
                </a:solidFill>
                <a:latin typeface="Verdana"/>
                <a:cs typeface="Verdana"/>
              </a:rPr>
              <a:t>nom</a:t>
            </a:r>
            <a:r>
              <a:rPr sz="2400" spc="-75" dirty="0">
                <a:solidFill>
                  <a:srgbClr val="0D0D0D"/>
                </a:solidFill>
                <a:latin typeface="Verdana"/>
                <a:cs typeface="Verdana"/>
              </a:rPr>
              <a:t>)</a:t>
            </a:r>
            <a:r>
              <a:rPr sz="2400" spc="-210" dirty="0">
                <a:solidFill>
                  <a:srgbClr val="0D0D0D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00"/>
              </a:spcBef>
              <a:buClr>
                <a:srgbClr val="B31166"/>
              </a:buClr>
              <a:buSzPct val="79166"/>
              <a:buAutoNum type="arabicPeriod"/>
              <a:tabLst>
                <a:tab pos="469265" algn="l"/>
                <a:tab pos="469900" algn="l"/>
              </a:tabLst>
            </a:pPr>
            <a:r>
              <a:rPr sz="2400" spc="65" dirty="0">
                <a:solidFill>
                  <a:srgbClr val="0D0D0D"/>
                </a:solidFill>
                <a:latin typeface="Verdana"/>
                <a:cs typeface="Verdana"/>
              </a:rPr>
              <a:t>On</a:t>
            </a:r>
            <a:r>
              <a:rPr sz="2400" spc="-17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0D0D0D"/>
                </a:solidFill>
                <a:latin typeface="Verdana"/>
                <a:cs typeface="Verdana"/>
              </a:rPr>
              <a:t>fait</a:t>
            </a:r>
            <a:r>
              <a:rPr sz="2400" spc="-22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0D0D0D"/>
                </a:solidFill>
                <a:latin typeface="Verdana"/>
                <a:cs typeface="Verdana"/>
              </a:rPr>
              <a:t>ensuite</a:t>
            </a:r>
            <a:r>
              <a:rPr sz="2400" spc="-20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90" dirty="0">
                <a:solidFill>
                  <a:srgbClr val="0D0D0D"/>
                </a:solidFill>
                <a:latin typeface="Verdana"/>
                <a:cs typeface="Verdana"/>
              </a:rPr>
              <a:t>précédé</a:t>
            </a:r>
            <a:r>
              <a:rPr sz="2400" spc="-14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105" dirty="0">
                <a:solidFill>
                  <a:srgbClr val="0D0D0D"/>
                </a:solidFill>
                <a:latin typeface="Verdana"/>
                <a:cs typeface="Verdana"/>
              </a:rPr>
              <a:t>chaque</a:t>
            </a:r>
            <a:r>
              <a:rPr sz="2400" spc="-17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D0D0D"/>
                </a:solidFill>
                <a:latin typeface="Verdana"/>
                <a:cs typeface="Verdana"/>
              </a:rPr>
              <a:t>élément</a:t>
            </a:r>
            <a:r>
              <a:rPr sz="2400" spc="-18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0D0D0D"/>
                </a:solidFill>
                <a:latin typeface="Verdana"/>
                <a:cs typeface="Verdana"/>
              </a:rPr>
              <a:t>concerné,</a:t>
            </a:r>
            <a:r>
              <a:rPr sz="2400" spc="-165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135" dirty="0">
                <a:solidFill>
                  <a:srgbClr val="0D0D0D"/>
                </a:solidFill>
                <a:latin typeface="Verdana"/>
                <a:cs typeface="Verdana"/>
              </a:rPr>
              <a:t>de</a:t>
            </a:r>
            <a:r>
              <a:rPr sz="2400" spc="-17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215" dirty="0">
                <a:solidFill>
                  <a:srgbClr val="0D0D0D"/>
                </a:solidFill>
                <a:latin typeface="Verdana"/>
                <a:cs typeface="Verdana"/>
              </a:rPr>
              <a:t>ce</a:t>
            </a:r>
            <a:r>
              <a:rPr sz="2400" spc="-170" dirty="0">
                <a:solidFill>
                  <a:srgbClr val="0D0D0D"/>
                </a:solidFill>
                <a:latin typeface="Verdana"/>
                <a:cs typeface="Verdana"/>
              </a:rPr>
              <a:t> </a:t>
            </a:r>
            <a:r>
              <a:rPr sz="2400" spc="-85" dirty="0">
                <a:solidFill>
                  <a:srgbClr val="0D0D0D"/>
                </a:solidFill>
                <a:latin typeface="Verdana"/>
                <a:cs typeface="Verdana"/>
              </a:rPr>
              <a:t>préfixe.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966" y="4335779"/>
            <a:ext cx="11942064" cy="23286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595" y="540765"/>
            <a:ext cx="2093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Exemples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8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95044"/>
            <a:ext cx="11971018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58572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Combination</a:t>
            </a:r>
            <a:r>
              <a:rPr spc="-260" dirty="0"/>
              <a:t> </a:t>
            </a:r>
            <a:r>
              <a:rPr spc="-25" dirty="0"/>
              <a:t>des</a:t>
            </a:r>
            <a:r>
              <a:rPr spc="-285" dirty="0"/>
              <a:t> </a:t>
            </a:r>
            <a:r>
              <a:rPr spc="50" dirty="0"/>
              <a:t>espaces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2031" y="570992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68" y="2272355"/>
            <a:ext cx="11308149" cy="44468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37876" y="0"/>
            <a:ext cx="685800" cy="878840"/>
          </a:xfrm>
          <a:custGeom>
            <a:avLst/>
            <a:gdLst/>
            <a:ahLst/>
            <a:cxnLst/>
            <a:rect l="l" t="t" r="r" b="b"/>
            <a:pathLst>
              <a:path w="685800" h="878840">
                <a:moveTo>
                  <a:pt x="0" y="878586"/>
                </a:moveTo>
                <a:lnTo>
                  <a:pt x="685800" y="878586"/>
                </a:lnTo>
                <a:lnTo>
                  <a:pt x="685800" y="0"/>
                </a:lnTo>
                <a:lnTo>
                  <a:pt x="0" y="0"/>
                </a:lnTo>
                <a:lnTo>
                  <a:pt x="0" y="878586"/>
                </a:lnTo>
                <a:close/>
              </a:path>
            </a:pathLst>
          </a:custGeom>
          <a:solidFill>
            <a:srgbClr val="B31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575670" y="581611"/>
            <a:ext cx="393700" cy="435609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10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0"/>
            <a:ext cx="12178284" cy="68579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22414" y="878586"/>
            <a:ext cx="4554220" cy="647700"/>
          </a:xfrm>
          <a:prstGeom prst="rect">
            <a:avLst/>
          </a:prstGeom>
          <a:solidFill>
            <a:srgbClr val="D2D2D2"/>
          </a:solidFill>
          <a:ln w="19050">
            <a:solidFill>
              <a:srgbClr val="E23C6E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25"/>
              </a:spcBef>
            </a:pPr>
            <a:r>
              <a:rPr sz="1800" b="1" spc="-130" dirty="0">
                <a:solidFill>
                  <a:srgbClr val="BC1B4B"/>
                </a:solidFill>
                <a:latin typeface="Verdana"/>
                <a:cs typeface="Verdana"/>
              </a:rPr>
              <a:t>Combinaison</a:t>
            </a:r>
            <a:r>
              <a:rPr sz="1800" b="1" spc="-135" dirty="0">
                <a:solidFill>
                  <a:srgbClr val="BC1B4B"/>
                </a:solidFill>
                <a:latin typeface="Verdana"/>
                <a:cs typeface="Verdana"/>
              </a:rPr>
              <a:t> </a:t>
            </a:r>
            <a:r>
              <a:rPr sz="1800" b="1" spc="-180" dirty="0">
                <a:solidFill>
                  <a:srgbClr val="BC1B4B"/>
                </a:solidFill>
                <a:latin typeface="Verdana"/>
                <a:cs typeface="Verdana"/>
              </a:rPr>
              <a:t>entr</a:t>
            </a:r>
            <a:r>
              <a:rPr sz="1800" b="1" spc="-200" dirty="0">
                <a:solidFill>
                  <a:srgbClr val="BC1B4B"/>
                </a:solidFill>
                <a:latin typeface="Verdana"/>
                <a:cs typeface="Verdana"/>
              </a:rPr>
              <a:t>e</a:t>
            </a:r>
            <a:r>
              <a:rPr sz="1800" b="1" spc="-125" dirty="0">
                <a:solidFill>
                  <a:srgbClr val="BC1B4B"/>
                </a:solidFill>
                <a:latin typeface="Verdana"/>
                <a:cs typeface="Verdana"/>
              </a:rPr>
              <a:t> </a:t>
            </a:r>
            <a:r>
              <a:rPr sz="1800" b="1" spc="-65" dirty="0">
                <a:solidFill>
                  <a:srgbClr val="BC1B4B"/>
                </a:solidFill>
                <a:latin typeface="Verdana"/>
                <a:cs typeface="Verdana"/>
              </a:rPr>
              <a:t>espace</a:t>
            </a:r>
            <a:r>
              <a:rPr sz="1800" b="1" spc="-125" dirty="0">
                <a:solidFill>
                  <a:srgbClr val="BC1B4B"/>
                </a:solidFill>
                <a:latin typeface="Verdana"/>
                <a:cs typeface="Verdana"/>
              </a:rPr>
              <a:t> </a:t>
            </a:r>
            <a:r>
              <a:rPr sz="1800" b="1" spc="-65" dirty="0">
                <a:solidFill>
                  <a:srgbClr val="BC1B4B"/>
                </a:solidFill>
                <a:latin typeface="Verdana"/>
                <a:cs typeface="Verdana"/>
              </a:rPr>
              <a:t>d</a:t>
            </a:r>
            <a:r>
              <a:rPr sz="1800" b="1" spc="-60" dirty="0">
                <a:solidFill>
                  <a:srgbClr val="BC1B4B"/>
                </a:solidFill>
                <a:latin typeface="Verdana"/>
                <a:cs typeface="Verdana"/>
              </a:rPr>
              <a:t>e</a:t>
            </a:r>
            <a:r>
              <a:rPr sz="1800" b="1" spc="-125" dirty="0">
                <a:solidFill>
                  <a:srgbClr val="BC1B4B"/>
                </a:solidFill>
                <a:latin typeface="Verdana"/>
                <a:cs typeface="Verdana"/>
              </a:rPr>
              <a:t> </a:t>
            </a:r>
            <a:r>
              <a:rPr sz="1800" b="1" spc="-200" dirty="0">
                <a:solidFill>
                  <a:srgbClr val="BC1B4B"/>
                </a:solidFill>
                <a:latin typeface="Verdana"/>
                <a:cs typeface="Verdana"/>
              </a:rPr>
              <a:t>noms</a:t>
            </a:r>
            <a:endParaRPr sz="1800">
              <a:latin typeface="Verdana"/>
              <a:cs typeface="Verdana"/>
            </a:endParaRPr>
          </a:p>
          <a:p>
            <a:pPr marL="635" algn="ctr">
              <a:lnSpc>
                <a:spcPct val="100000"/>
              </a:lnSpc>
            </a:pPr>
            <a:r>
              <a:rPr sz="1800" b="1" spc="-185" dirty="0">
                <a:solidFill>
                  <a:srgbClr val="BC1B4B"/>
                </a:solidFill>
                <a:latin typeface="Verdana"/>
                <a:cs typeface="Verdana"/>
              </a:rPr>
              <a:t>impl</a:t>
            </a:r>
            <a:r>
              <a:rPr sz="1800" b="1" spc="-110" dirty="0">
                <a:solidFill>
                  <a:srgbClr val="BC1B4B"/>
                </a:solidFill>
                <a:latin typeface="Verdana"/>
                <a:cs typeface="Verdana"/>
              </a:rPr>
              <a:t>i</a:t>
            </a:r>
            <a:r>
              <a:rPr sz="1800" b="1" spc="-100" dirty="0">
                <a:solidFill>
                  <a:srgbClr val="BC1B4B"/>
                </a:solidFill>
                <a:latin typeface="Verdana"/>
                <a:cs typeface="Verdana"/>
              </a:rPr>
              <a:t>cit</a:t>
            </a:r>
            <a:r>
              <a:rPr sz="1800" b="1" spc="-135" dirty="0">
                <a:solidFill>
                  <a:srgbClr val="BC1B4B"/>
                </a:solidFill>
                <a:latin typeface="Verdana"/>
                <a:cs typeface="Verdana"/>
              </a:rPr>
              <a:t>e</a:t>
            </a:r>
            <a:r>
              <a:rPr sz="1800" b="1" spc="-110" dirty="0">
                <a:solidFill>
                  <a:srgbClr val="BC1B4B"/>
                </a:solidFill>
                <a:latin typeface="Verdana"/>
                <a:cs typeface="Verdana"/>
              </a:rPr>
              <a:t> </a:t>
            </a:r>
            <a:r>
              <a:rPr sz="1800" b="1" spc="-200" dirty="0">
                <a:solidFill>
                  <a:srgbClr val="BC1B4B"/>
                </a:solidFill>
                <a:latin typeface="Verdana"/>
                <a:cs typeface="Verdana"/>
              </a:rPr>
              <a:t>e</a:t>
            </a:r>
            <a:r>
              <a:rPr sz="1800" b="1" spc="-135" dirty="0">
                <a:solidFill>
                  <a:srgbClr val="BC1B4B"/>
                </a:solidFill>
                <a:latin typeface="Verdana"/>
                <a:cs typeface="Verdana"/>
              </a:rPr>
              <a:t>t</a:t>
            </a:r>
            <a:r>
              <a:rPr sz="1800" b="1" spc="-130" dirty="0">
                <a:solidFill>
                  <a:srgbClr val="BC1B4B"/>
                </a:solidFill>
                <a:latin typeface="Verdana"/>
                <a:cs typeface="Verdana"/>
              </a:rPr>
              <a:t> </a:t>
            </a:r>
            <a:r>
              <a:rPr sz="1800" b="1" spc="-155" dirty="0">
                <a:solidFill>
                  <a:srgbClr val="BC1B4B"/>
                </a:solidFill>
                <a:latin typeface="Verdana"/>
                <a:cs typeface="Verdana"/>
              </a:rPr>
              <a:t>expl</a:t>
            </a:r>
            <a:r>
              <a:rPr sz="1800" b="1" spc="-95" dirty="0">
                <a:solidFill>
                  <a:srgbClr val="BC1B4B"/>
                </a:solidFill>
                <a:latin typeface="Verdana"/>
                <a:cs typeface="Verdana"/>
              </a:rPr>
              <a:t>i</a:t>
            </a:r>
            <a:r>
              <a:rPr sz="1800" b="1" spc="-110" dirty="0">
                <a:solidFill>
                  <a:srgbClr val="BC1B4B"/>
                </a:solidFill>
                <a:latin typeface="Verdana"/>
                <a:cs typeface="Verdana"/>
              </a:rPr>
              <a:t>cite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75670" y="581611"/>
            <a:ext cx="393700" cy="435609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11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7" cy="68579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59500" y="653872"/>
            <a:ext cx="3503929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85" dirty="0">
                <a:solidFill>
                  <a:srgbClr val="FF0000"/>
                </a:solidFill>
              </a:rPr>
              <a:t>Exempl</a:t>
            </a:r>
            <a:r>
              <a:rPr spc="-75" dirty="0">
                <a:solidFill>
                  <a:srgbClr val="FF0000"/>
                </a:solidFill>
              </a:rPr>
              <a:t>e</a:t>
            </a:r>
            <a:r>
              <a:rPr spc="-270" dirty="0">
                <a:solidFill>
                  <a:srgbClr val="FF0000"/>
                </a:solidFill>
              </a:rPr>
              <a:t> </a:t>
            </a:r>
            <a:r>
              <a:rPr spc="-640" dirty="0">
                <a:solidFill>
                  <a:srgbClr val="FF0000"/>
                </a:solidFill>
              </a:rPr>
              <a:t>:</a:t>
            </a:r>
            <a:r>
              <a:rPr spc="-270" dirty="0">
                <a:solidFill>
                  <a:srgbClr val="FF0000"/>
                </a:solidFill>
              </a:rPr>
              <a:t> </a:t>
            </a:r>
            <a:r>
              <a:rPr spc="225" dirty="0">
                <a:solidFill>
                  <a:srgbClr val="FF0000"/>
                </a:solidFill>
              </a:rPr>
              <a:t>code  </a:t>
            </a:r>
            <a:r>
              <a:rPr dirty="0">
                <a:solidFill>
                  <a:srgbClr val="FF0000"/>
                </a:solidFill>
              </a:rPr>
              <a:t>Android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837" y="412496"/>
            <a:ext cx="6619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De</a:t>
            </a:r>
            <a:r>
              <a:rPr spc="-105" dirty="0"/>
              <a:t>s</a:t>
            </a:r>
            <a:r>
              <a:rPr spc="-270" dirty="0"/>
              <a:t> </a:t>
            </a:r>
            <a:r>
              <a:rPr spc="55" dirty="0"/>
              <a:t>espaces</a:t>
            </a:r>
            <a:r>
              <a:rPr spc="-270" dirty="0"/>
              <a:t> </a:t>
            </a:r>
            <a:r>
              <a:rPr spc="204" dirty="0"/>
              <a:t>d</a:t>
            </a:r>
            <a:r>
              <a:rPr spc="200" dirty="0"/>
              <a:t>e</a:t>
            </a:r>
            <a:r>
              <a:rPr spc="-270" dirty="0"/>
              <a:t> </a:t>
            </a:r>
            <a:r>
              <a:rPr spc="45" dirty="0"/>
              <a:t>n</a:t>
            </a:r>
            <a:r>
              <a:rPr spc="25" dirty="0"/>
              <a:t>o</a:t>
            </a:r>
            <a:r>
              <a:rPr spc="-305" dirty="0"/>
              <a:t>ms</a:t>
            </a:r>
            <a:r>
              <a:rPr spc="-250" dirty="0"/>
              <a:t> </a:t>
            </a:r>
            <a:r>
              <a:rPr spc="70" dirty="0"/>
              <a:t>conn</a:t>
            </a:r>
            <a:r>
              <a:rPr spc="60" dirty="0"/>
              <a:t>u</a:t>
            </a:r>
            <a:r>
              <a:rPr spc="-48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12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91182"/>
            <a:ext cx="12191999" cy="57668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15" dirty="0"/>
              <a:t>Travai</a:t>
            </a:r>
            <a:r>
              <a:rPr spc="-240" dirty="0"/>
              <a:t>l</a:t>
            </a:r>
            <a:r>
              <a:rPr spc="-225" dirty="0"/>
              <a:t> </a:t>
            </a:r>
            <a:r>
              <a:rPr spc="-30" dirty="0"/>
              <a:t>à</a:t>
            </a:r>
            <a:r>
              <a:rPr spc="-225" dirty="0"/>
              <a:t> </a:t>
            </a:r>
            <a:r>
              <a:rPr spc="-220" dirty="0"/>
              <a:t>domicil</a:t>
            </a:r>
            <a:r>
              <a:rPr spc="-245" dirty="0"/>
              <a:t>e</a:t>
            </a:r>
            <a:r>
              <a:rPr spc="-240" dirty="0"/>
              <a:t> </a:t>
            </a:r>
            <a:r>
              <a:rPr spc="-445" dirty="0"/>
              <a:t>:</a:t>
            </a:r>
            <a:r>
              <a:rPr spc="-215" dirty="0"/>
              <a:t> </a:t>
            </a:r>
            <a:r>
              <a:rPr spc="-340" dirty="0"/>
              <a:t>Fair</a:t>
            </a:r>
            <a:r>
              <a:rPr spc="-409" dirty="0"/>
              <a:t>e</a:t>
            </a:r>
            <a:r>
              <a:rPr spc="-235" dirty="0"/>
              <a:t> </a:t>
            </a:r>
            <a:r>
              <a:rPr spc="-409" dirty="0"/>
              <a:t>u</a:t>
            </a:r>
            <a:r>
              <a:rPr spc="-405" dirty="0"/>
              <a:t>n</a:t>
            </a:r>
            <a:r>
              <a:rPr spc="-220" dirty="0"/>
              <a:t> </a:t>
            </a:r>
            <a:r>
              <a:rPr spc="-330" dirty="0"/>
              <a:t>travail</a:t>
            </a:r>
            <a:r>
              <a:rPr spc="-235" dirty="0"/>
              <a:t> </a:t>
            </a:r>
            <a:r>
              <a:rPr spc="-120" dirty="0"/>
              <a:t>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992124"/>
            <a:ext cx="4036314" cy="10096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1118361"/>
            <a:ext cx="3465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3590" algn="l"/>
              </a:tabLst>
            </a:pPr>
            <a:r>
              <a:rPr sz="3600" b="1" spc="-220" dirty="0">
                <a:solidFill>
                  <a:srgbClr val="FFC000"/>
                </a:solidFill>
                <a:latin typeface="Verdana"/>
                <a:cs typeface="Verdana"/>
              </a:rPr>
              <a:t>recherche</a:t>
            </a:r>
            <a:r>
              <a:rPr sz="3600" b="1" spc="-235" dirty="0">
                <a:solidFill>
                  <a:srgbClr val="FFC000"/>
                </a:solidFill>
                <a:latin typeface="Verdana"/>
                <a:cs typeface="Verdana"/>
              </a:rPr>
              <a:t> </a:t>
            </a:r>
            <a:r>
              <a:rPr sz="3600" b="1" spc="-535" dirty="0">
                <a:solidFill>
                  <a:srgbClr val="FFC000"/>
                </a:solidFill>
                <a:latin typeface="Verdana"/>
                <a:cs typeface="Verdana"/>
              </a:rPr>
              <a:t>sur</a:t>
            </a:r>
            <a:r>
              <a:rPr sz="3600" b="1" dirty="0">
                <a:solidFill>
                  <a:srgbClr val="FFC000"/>
                </a:solidFill>
                <a:latin typeface="Verdana"/>
                <a:cs typeface="Verdana"/>
              </a:rPr>
              <a:t>	</a:t>
            </a:r>
            <a:r>
              <a:rPr sz="3600" b="1" spc="-445" dirty="0">
                <a:solidFill>
                  <a:srgbClr val="FFC000"/>
                </a:solidFill>
                <a:latin typeface="Verdana"/>
                <a:cs typeface="Verdana"/>
              </a:rPr>
              <a:t>: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13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4172" y="5067300"/>
            <a:ext cx="11003280" cy="1623060"/>
          </a:xfrm>
          <a:custGeom>
            <a:avLst/>
            <a:gdLst/>
            <a:ahLst/>
            <a:cxnLst/>
            <a:rect l="l" t="t" r="r" b="b"/>
            <a:pathLst>
              <a:path w="11003280" h="1623059">
                <a:moveTo>
                  <a:pt x="10732770" y="0"/>
                </a:moveTo>
                <a:lnTo>
                  <a:pt x="270509" y="0"/>
                </a:lnTo>
                <a:lnTo>
                  <a:pt x="221884" y="4359"/>
                </a:lnTo>
                <a:lnTo>
                  <a:pt x="176118" y="16929"/>
                </a:lnTo>
                <a:lnTo>
                  <a:pt x="133976" y="36942"/>
                </a:lnTo>
                <a:lnTo>
                  <a:pt x="96222" y="63635"/>
                </a:lnTo>
                <a:lnTo>
                  <a:pt x="63619" y="96243"/>
                </a:lnTo>
                <a:lnTo>
                  <a:pt x="36931" y="133999"/>
                </a:lnTo>
                <a:lnTo>
                  <a:pt x="16923" y="176139"/>
                </a:lnTo>
                <a:lnTo>
                  <a:pt x="4358" y="221897"/>
                </a:lnTo>
                <a:lnTo>
                  <a:pt x="0" y="270509"/>
                </a:lnTo>
                <a:lnTo>
                  <a:pt x="0" y="1352550"/>
                </a:lnTo>
                <a:lnTo>
                  <a:pt x="4358" y="1401175"/>
                </a:lnTo>
                <a:lnTo>
                  <a:pt x="16923" y="1446941"/>
                </a:lnTo>
                <a:lnTo>
                  <a:pt x="36931" y="1489083"/>
                </a:lnTo>
                <a:lnTo>
                  <a:pt x="63619" y="1526837"/>
                </a:lnTo>
                <a:lnTo>
                  <a:pt x="96222" y="1559440"/>
                </a:lnTo>
                <a:lnTo>
                  <a:pt x="133976" y="1586128"/>
                </a:lnTo>
                <a:lnTo>
                  <a:pt x="176118" y="1606136"/>
                </a:lnTo>
                <a:lnTo>
                  <a:pt x="221884" y="1618701"/>
                </a:lnTo>
                <a:lnTo>
                  <a:pt x="270509" y="1623060"/>
                </a:lnTo>
                <a:lnTo>
                  <a:pt x="10732770" y="1623060"/>
                </a:lnTo>
                <a:lnTo>
                  <a:pt x="10781382" y="1618701"/>
                </a:lnTo>
                <a:lnTo>
                  <a:pt x="10827140" y="1606136"/>
                </a:lnTo>
                <a:lnTo>
                  <a:pt x="10869280" y="1586128"/>
                </a:lnTo>
                <a:lnTo>
                  <a:pt x="10907036" y="1559440"/>
                </a:lnTo>
                <a:lnTo>
                  <a:pt x="10939644" y="1526837"/>
                </a:lnTo>
                <a:lnTo>
                  <a:pt x="10966337" y="1489083"/>
                </a:lnTo>
                <a:lnTo>
                  <a:pt x="10986350" y="1446941"/>
                </a:lnTo>
                <a:lnTo>
                  <a:pt x="10998920" y="1401175"/>
                </a:lnTo>
                <a:lnTo>
                  <a:pt x="11003280" y="1352550"/>
                </a:lnTo>
                <a:lnTo>
                  <a:pt x="11003280" y="270509"/>
                </a:lnTo>
                <a:lnTo>
                  <a:pt x="10998920" y="221897"/>
                </a:lnTo>
                <a:lnTo>
                  <a:pt x="10986350" y="176139"/>
                </a:lnTo>
                <a:lnTo>
                  <a:pt x="10966337" y="133999"/>
                </a:lnTo>
                <a:lnTo>
                  <a:pt x="10939644" y="96243"/>
                </a:lnTo>
                <a:lnTo>
                  <a:pt x="10907036" y="63635"/>
                </a:lnTo>
                <a:lnTo>
                  <a:pt x="10869280" y="36942"/>
                </a:lnTo>
                <a:lnTo>
                  <a:pt x="10827140" y="16929"/>
                </a:lnTo>
                <a:lnTo>
                  <a:pt x="10781382" y="4359"/>
                </a:lnTo>
                <a:lnTo>
                  <a:pt x="107327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940" y="2389454"/>
            <a:ext cx="1032446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30" dirty="0">
                <a:latin typeface="Verdana"/>
                <a:cs typeface="Verdana"/>
              </a:rPr>
              <a:t>Comment </a:t>
            </a:r>
            <a:r>
              <a:rPr sz="3200" spc="-210" dirty="0">
                <a:latin typeface="Verdana"/>
                <a:cs typeface="Verdana"/>
              </a:rPr>
              <a:t>utiliser </a:t>
            </a:r>
            <a:r>
              <a:rPr sz="3200" b="1" spc="-300" dirty="0">
                <a:latin typeface="Verdana"/>
                <a:cs typeface="Verdana"/>
              </a:rPr>
              <a:t>les </a:t>
            </a:r>
            <a:r>
              <a:rPr sz="3200" b="1" spc="-165" dirty="0">
                <a:latin typeface="Verdana"/>
                <a:cs typeface="Verdana"/>
              </a:rPr>
              <a:t>espaces </a:t>
            </a:r>
            <a:r>
              <a:rPr sz="3200" b="1" spc="-100" dirty="0">
                <a:latin typeface="Verdana"/>
                <a:cs typeface="Verdana"/>
              </a:rPr>
              <a:t>de </a:t>
            </a:r>
            <a:r>
              <a:rPr sz="3200" b="1" spc="-345" dirty="0">
                <a:latin typeface="Verdana"/>
                <a:cs typeface="Verdana"/>
              </a:rPr>
              <a:t>noms </a:t>
            </a:r>
            <a:r>
              <a:rPr sz="3200" b="1" spc="-305" dirty="0">
                <a:latin typeface="Verdana"/>
                <a:cs typeface="Verdana"/>
              </a:rPr>
              <a:t>pour </a:t>
            </a:r>
            <a:r>
              <a:rPr sz="3200" b="1" spc="-254" dirty="0">
                <a:latin typeface="Verdana"/>
                <a:cs typeface="Verdana"/>
              </a:rPr>
              <a:t>dans </a:t>
            </a:r>
            <a:r>
              <a:rPr sz="3200" b="1" spc="-300" dirty="0">
                <a:latin typeface="Verdana"/>
                <a:cs typeface="Verdana"/>
              </a:rPr>
              <a:t>les </a:t>
            </a:r>
            <a:r>
              <a:rPr sz="3200" b="1" spc="-1080" dirty="0">
                <a:latin typeface="Verdana"/>
                <a:cs typeface="Verdana"/>
              </a:rPr>
              <a:t> </a:t>
            </a:r>
            <a:r>
              <a:rPr sz="3200" b="1" spc="-409" dirty="0">
                <a:latin typeface="Verdana"/>
                <a:cs typeface="Verdana"/>
              </a:rPr>
              <a:t>att</a:t>
            </a:r>
            <a:r>
              <a:rPr sz="3200" b="1" spc="-395" dirty="0">
                <a:latin typeface="Verdana"/>
                <a:cs typeface="Verdana"/>
              </a:rPr>
              <a:t>r</a:t>
            </a:r>
            <a:r>
              <a:rPr sz="3200" b="1" spc="-360" dirty="0">
                <a:latin typeface="Verdana"/>
                <a:cs typeface="Verdana"/>
              </a:rPr>
              <a:t>ibuts</a:t>
            </a:r>
            <a:r>
              <a:rPr sz="3200" b="1" spc="-190" dirty="0">
                <a:latin typeface="Verdana"/>
                <a:cs typeface="Verdana"/>
              </a:rPr>
              <a:t> </a:t>
            </a:r>
            <a:r>
              <a:rPr sz="3200" b="1" spc="-180" dirty="0">
                <a:latin typeface="Verdana"/>
                <a:cs typeface="Verdana"/>
              </a:rPr>
              <a:t>?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14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763" y="1063752"/>
            <a:ext cx="11337036" cy="37734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37876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8203" y="1029411"/>
            <a:ext cx="11510645" cy="3634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FFC000"/>
                </a:solidFill>
                <a:latin typeface="Verdana"/>
                <a:cs typeface="Verdana"/>
              </a:rPr>
              <a:t>Conclusion</a:t>
            </a:r>
            <a:endParaRPr sz="3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4400">
              <a:latin typeface="Verdana"/>
              <a:cs typeface="Verdana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2900"/>
              </a:spcBef>
              <a:buClr>
                <a:srgbClr val="B31166"/>
              </a:buClr>
              <a:buSzPct val="77272"/>
              <a:buFont typeface="Wingdings"/>
              <a:buChar char=""/>
              <a:tabLst>
                <a:tab pos="368300" algn="l"/>
              </a:tabLst>
            </a:pPr>
            <a:r>
              <a:rPr sz="4400" spc="-114" dirty="0">
                <a:solidFill>
                  <a:srgbClr val="404040"/>
                </a:solidFill>
                <a:latin typeface="Verdana"/>
                <a:cs typeface="Verdana"/>
              </a:rPr>
              <a:t>Pensez</a:t>
            </a:r>
            <a:r>
              <a:rPr sz="4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400" spc="-229" dirty="0">
                <a:solidFill>
                  <a:srgbClr val="404040"/>
                </a:solidFill>
                <a:latin typeface="Verdana"/>
                <a:cs typeface="Verdana"/>
              </a:rPr>
              <a:t>toujours</a:t>
            </a:r>
            <a:r>
              <a:rPr sz="4400" spc="-2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400" spc="365" dirty="0">
                <a:solidFill>
                  <a:srgbClr val="404040"/>
                </a:solidFill>
                <a:latin typeface="Verdana"/>
                <a:cs typeface="Verdana"/>
              </a:rPr>
              <a:t>à</a:t>
            </a:r>
            <a:r>
              <a:rPr sz="4400" spc="3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400" spc="45" dirty="0">
                <a:solidFill>
                  <a:srgbClr val="404040"/>
                </a:solidFill>
                <a:latin typeface="Verdana"/>
                <a:cs typeface="Verdana"/>
              </a:rPr>
              <a:t>attacher</a:t>
            </a:r>
            <a:r>
              <a:rPr sz="4400" spc="163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400" spc="-110" dirty="0">
                <a:solidFill>
                  <a:srgbClr val="404040"/>
                </a:solidFill>
                <a:latin typeface="Verdana"/>
                <a:cs typeface="Verdana"/>
              </a:rPr>
              <a:t>votre </a:t>
            </a:r>
            <a:r>
              <a:rPr sz="4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400" spc="80" dirty="0">
                <a:solidFill>
                  <a:srgbClr val="404040"/>
                </a:solidFill>
                <a:latin typeface="Verdana"/>
                <a:cs typeface="Verdana"/>
              </a:rPr>
              <a:t>document </a:t>
            </a:r>
            <a:r>
              <a:rPr sz="4400" spc="-145" dirty="0">
                <a:solidFill>
                  <a:srgbClr val="404040"/>
                </a:solidFill>
                <a:latin typeface="Verdana"/>
                <a:cs typeface="Verdana"/>
              </a:rPr>
              <a:t>XML </a:t>
            </a:r>
            <a:r>
              <a:rPr sz="4400" spc="365" dirty="0">
                <a:solidFill>
                  <a:srgbClr val="404040"/>
                </a:solidFill>
                <a:latin typeface="Verdana"/>
                <a:cs typeface="Verdana"/>
              </a:rPr>
              <a:t>à </a:t>
            </a:r>
            <a:r>
              <a:rPr sz="4400" spc="-114" dirty="0">
                <a:solidFill>
                  <a:srgbClr val="404040"/>
                </a:solidFill>
                <a:latin typeface="Verdana"/>
                <a:cs typeface="Verdana"/>
              </a:rPr>
              <a:t>un </a:t>
            </a:r>
            <a:r>
              <a:rPr sz="4400" spc="180" dirty="0">
                <a:solidFill>
                  <a:srgbClr val="404040"/>
                </a:solidFill>
                <a:latin typeface="Verdana"/>
                <a:cs typeface="Verdana"/>
              </a:rPr>
              <a:t>espace </a:t>
            </a:r>
            <a:r>
              <a:rPr sz="4400" spc="250" dirty="0">
                <a:solidFill>
                  <a:srgbClr val="404040"/>
                </a:solidFill>
                <a:latin typeface="Verdana"/>
                <a:cs typeface="Verdana"/>
              </a:rPr>
              <a:t>de </a:t>
            </a:r>
            <a:r>
              <a:rPr sz="4400" spc="-155" dirty="0">
                <a:solidFill>
                  <a:srgbClr val="404040"/>
                </a:solidFill>
                <a:latin typeface="Verdana"/>
                <a:cs typeface="Verdana"/>
              </a:rPr>
              <a:t>noms </a:t>
            </a:r>
            <a:r>
              <a:rPr sz="4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400" spc="114" dirty="0">
                <a:solidFill>
                  <a:srgbClr val="404040"/>
                </a:solidFill>
                <a:latin typeface="Verdana"/>
                <a:cs typeface="Verdana"/>
              </a:rPr>
              <a:t>po</a:t>
            </a:r>
            <a:r>
              <a:rPr sz="4400" spc="110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4400" spc="-555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4400" spc="-3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400" spc="-165" dirty="0">
                <a:solidFill>
                  <a:srgbClr val="00AF50"/>
                </a:solidFill>
                <a:latin typeface="Verdana"/>
                <a:cs typeface="Verdana"/>
              </a:rPr>
              <a:t>rés</a:t>
            </a:r>
            <a:r>
              <a:rPr sz="4400" spc="-210" dirty="0">
                <a:solidFill>
                  <a:srgbClr val="00AF50"/>
                </a:solidFill>
                <a:latin typeface="Verdana"/>
                <a:cs typeface="Verdana"/>
              </a:rPr>
              <a:t>o</a:t>
            </a:r>
            <a:r>
              <a:rPr sz="4400" spc="-145" dirty="0">
                <a:solidFill>
                  <a:srgbClr val="00AF50"/>
                </a:solidFill>
                <a:latin typeface="Verdana"/>
                <a:cs typeface="Verdana"/>
              </a:rPr>
              <a:t>ud</a:t>
            </a:r>
            <a:r>
              <a:rPr sz="4400" spc="-120" dirty="0">
                <a:solidFill>
                  <a:srgbClr val="00AF50"/>
                </a:solidFill>
                <a:latin typeface="Verdana"/>
                <a:cs typeface="Verdana"/>
              </a:rPr>
              <a:t>r</a:t>
            </a:r>
            <a:r>
              <a:rPr sz="4400" spc="240" dirty="0">
                <a:solidFill>
                  <a:srgbClr val="00AF50"/>
                </a:solidFill>
                <a:latin typeface="Verdana"/>
                <a:cs typeface="Verdana"/>
              </a:rPr>
              <a:t>e</a:t>
            </a:r>
            <a:r>
              <a:rPr sz="4400" spc="-33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4400" spc="30" dirty="0">
                <a:solidFill>
                  <a:srgbClr val="BC1B4B"/>
                </a:solidFill>
                <a:latin typeface="Verdana"/>
                <a:cs typeface="Verdana"/>
              </a:rPr>
              <a:t>l’amb</a:t>
            </a:r>
            <a:r>
              <a:rPr sz="4400" dirty="0">
                <a:solidFill>
                  <a:srgbClr val="BC1B4B"/>
                </a:solidFill>
                <a:latin typeface="Verdana"/>
                <a:cs typeface="Verdana"/>
              </a:rPr>
              <a:t>i</a:t>
            </a:r>
            <a:r>
              <a:rPr sz="4400" spc="-120" dirty="0">
                <a:solidFill>
                  <a:srgbClr val="BC1B4B"/>
                </a:solidFill>
                <a:latin typeface="Verdana"/>
                <a:cs typeface="Verdana"/>
              </a:rPr>
              <a:t>guï</a:t>
            </a:r>
            <a:r>
              <a:rPr sz="4400" spc="-114" dirty="0">
                <a:solidFill>
                  <a:srgbClr val="BC1B4B"/>
                </a:solidFill>
                <a:latin typeface="Verdana"/>
                <a:cs typeface="Verdana"/>
              </a:rPr>
              <a:t>t</a:t>
            </a:r>
            <a:r>
              <a:rPr sz="4400" spc="245" dirty="0">
                <a:solidFill>
                  <a:srgbClr val="BC1B4B"/>
                </a:solidFill>
                <a:latin typeface="Verdana"/>
                <a:cs typeface="Verdana"/>
              </a:rPr>
              <a:t>é</a:t>
            </a:r>
            <a:r>
              <a:rPr sz="4400" spc="-385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2970" y="57099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FFFFFF"/>
                </a:solidFill>
                <a:latin typeface="Verdana"/>
                <a:cs typeface="Verdana"/>
              </a:rPr>
              <a:t>15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B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357</Words>
  <Application>Microsoft Office PowerPoint</Application>
  <PresentationFormat>Grand écran</PresentationFormat>
  <Paragraphs>66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Arial MT</vt:lpstr>
      <vt:lpstr>Calibri</vt:lpstr>
      <vt:lpstr>Verdana</vt:lpstr>
      <vt:lpstr>Wingdings</vt:lpstr>
      <vt:lpstr>Office Theme</vt:lpstr>
      <vt:lpstr>Présentation PowerPoint</vt:lpstr>
      <vt:lpstr>Les espaces de noms (Name Spaces) : Résoudre les conflits d’utilisation des</vt:lpstr>
      <vt:lpstr>Les espaces de noms</vt:lpstr>
      <vt:lpstr>Le design de l’espace des noms</vt:lpstr>
      <vt:lpstr>Présentation PowerPoint</vt:lpstr>
      <vt:lpstr>Utilisation des espaces de noms dans 5 un document XML</vt:lpstr>
      <vt:lpstr>Espace de noms imbriqués</vt:lpstr>
      <vt:lpstr>L’espace de nom explicite</vt:lpstr>
      <vt:lpstr>Exemples</vt:lpstr>
      <vt:lpstr>Combination des espaces</vt:lpstr>
      <vt:lpstr>Présentation PowerPoint</vt:lpstr>
      <vt:lpstr>Exemple : code  Android</vt:lpstr>
      <vt:lpstr>Des espaces de noms connus</vt:lpstr>
      <vt:lpstr>Travail à domicile : Faire un travail de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W8VPC</dc:creator>
  <cp:lastModifiedBy>KANGA Koffi</cp:lastModifiedBy>
  <cp:revision>1</cp:revision>
  <dcterms:created xsi:type="dcterms:W3CDTF">2023-06-12T01:18:27Z</dcterms:created>
  <dcterms:modified xsi:type="dcterms:W3CDTF">2023-06-12T01:35:23Z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2023-06-12T00:00:00Z</vt:filetime>
  </property>
</Properties>
</file>